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23" r:id="rId4"/>
  </p:sldMasterIdLst>
  <p:notesMasterIdLst>
    <p:notesMasterId r:id="rId19"/>
  </p:notesMasterIdLst>
  <p:handoutMasterIdLst>
    <p:handoutMasterId r:id="rId20"/>
  </p:handoutMasterIdLst>
  <p:sldIdLst>
    <p:sldId id="2561" r:id="rId5"/>
    <p:sldId id="2563" r:id="rId6"/>
    <p:sldId id="2564" r:id="rId7"/>
    <p:sldId id="2565" r:id="rId8"/>
    <p:sldId id="2566" r:id="rId9"/>
    <p:sldId id="2575" r:id="rId10"/>
    <p:sldId id="2567" r:id="rId11"/>
    <p:sldId id="2568" r:id="rId12"/>
    <p:sldId id="2569" r:id="rId13"/>
    <p:sldId id="2570" r:id="rId14"/>
    <p:sldId id="2571" r:id="rId15"/>
    <p:sldId id="2572" r:id="rId16"/>
    <p:sldId id="2573" r:id="rId17"/>
    <p:sldId id="257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XML Structure Overview" id="{D1B9EF82-0E69-40AC-926E-BF7945850599}">
          <p14:sldIdLst>
            <p14:sldId id="2561"/>
          </p14:sldIdLst>
        </p14:section>
        <p14:section name="XML Core Concepts" id="{3563CF98-1E77-46A6-B76B-A6FE110E9197}">
          <p14:sldIdLst>
            <p14:sldId id="2563"/>
            <p14:sldId id="2564"/>
            <p14:sldId id="2565"/>
            <p14:sldId id="2566"/>
            <p14:sldId id="2575"/>
            <p14:sldId id="2567"/>
          </p14:sldIdLst>
        </p14:section>
        <p14:section name="Advanced XML Features" id="{87212937-A60A-429A-8378-7E7BC761CFF3}">
          <p14:sldIdLst>
            <p14:sldId id="2568"/>
            <p14:sldId id="2569"/>
            <p14:sldId id="2570"/>
          </p14:sldIdLst>
        </p14:section>
        <p14:section name="Special Content Forms" id="{8DC1A4AF-656B-4B72-B1A6-51EBD1A7ADF7}">
          <p14:sldIdLst>
            <p14:sldId id="2571"/>
            <p14:sldId id="2572"/>
          </p14:sldIdLst>
        </p14:section>
        <p14:section name="Haskell-Oriented XML Interpretation" id="{51C4997A-0B17-4EA5-8230-09A7D034936A}">
          <p14:sldIdLst>
            <p14:sldId id="2573"/>
            <p14:sldId id="25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0E4221-6F06-64E5-5214-772388C857B5}" name="Elizabeth Feldbruegge (ALLEGIS GROUP HOLDINGS INC)" initials="EF(GHI" userId="S::v-felizabeth@microsoft.com::ba5aea11-28e4-484d-8e49-c15efb1bd2e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DACFC"/>
    <a:srgbClr val="000000"/>
    <a:srgbClr val="FFFFFF"/>
    <a:srgbClr val="37FFF1"/>
    <a:srgbClr val="0B0C12"/>
    <a:srgbClr val="0E0F17"/>
    <a:srgbClr val="020621"/>
    <a:srgbClr val="1313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3ECD9B-BC83-4F2C-90EA-A5EC01074F07}" v="15" dt="2026-03-04T22:20:18.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67"/>
    <p:restoredTop sz="94635"/>
  </p:normalViewPr>
  <p:slideViewPr>
    <p:cSldViewPr snapToGrid="0">
      <p:cViewPr varScale="1">
        <p:scale>
          <a:sx n="92" d="100"/>
          <a:sy n="92" d="100"/>
        </p:scale>
        <p:origin x="208" y="6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92E33C-8E56-15D7-91D9-0C9D51898F3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84E5C4-3075-2128-3C95-66CDB0C1F39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2C14BC-9E0B-417D-A4B6-D3A52302FEC1}" type="datetimeFigureOut">
              <a:rPr lang="en-US" smtClean="0"/>
              <a:t>3/4/26</a:t>
            </a:fld>
            <a:endParaRPr lang="en-US"/>
          </a:p>
        </p:txBody>
      </p:sp>
      <p:sp>
        <p:nvSpPr>
          <p:cNvPr id="4" name="Footer Placeholder 3">
            <a:extLst>
              <a:ext uri="{FF2B5EF4-FFF2-40B4-BE49-F238E27FC236}">
                <a16:creationId xmlns:a16="http://schemas.microsoft.com/office/drawing/2014/main" id="{10EDE216-B0E2-6179-F0CB-DA746C5A105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E76486-0E2A-27D1-56AC-57AF786911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D3A4AD-A02B-4727-AB32-0630F343D8AA}" type="slidenum">
              <a:rPr lang="en-US" smtClean="0"/>
              <a:t>‹#›</a:t>
            </a:fld>
            <a:endParaRPr lang="en-US"/>
          </a:p>
        </p:txBody>
      </p:sp>
    </p:spTree>
    <p:extLst>
      <p:ext uri="{BB962C8B-B14F-4D97-AF65-F5344CB8AC3E}">
        <p14:creationId xmlns:p14="http://schemas.microsoft.com/office/powerpoint/2010/main" val="270832485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7FB986-3F20-4AE6-9D44-118BB6C2AE02}" type="datetimeFigureOut">
              <a:rPr lang="en-US" smtClean="0"/>
              <a:t>3/4/26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59575-30D1-4661-8D21-5CF1396340F1}" type="slidenum">
              <a:rPr lang="en-US" smtClean="0"/>
              <a:t>‹#›</a:t>
            </a:fld>
            <a:endParaRPr lang="en-US"/>
          </a:p>
        </p:txBody>
      </p:sp>
    </p:spTree>
    <p:extLst>
      <p:ext uri="{BB962C8B-B14F-4D97-AF65-F5344CB8AC3E}">
        <p14:creationId xmlns:p14="http://schemas.microsoft.com/office/powerpoint/2010/main" val="2691956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17E59575-30D1-4661-8D21-5CF1396340F1}" type="slidenum">
              <a:rPr lang="en-US" smtClean="0"/>
              <a:t>1</a:t>
            </a:fld>
            <a:endParaRPr lang="en-US"/>
          </a:p>
        </p:txBody>
      </p:sp>
    </p:spTree>
    <p:extLst>
      <p:ext uri="{BB962C8B-B14F-4D97-AF65-F5344CB8AC3E}">
        <p14:creationId xmlns:p14="http://schemas.microsoft.com/office/powerpoint/2010/main" val="2266350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XML, or Extensible Markup Language, is a structured text format designed for storing and transporting data in a human-readable and machine-interpretable way. At its core, XML provides a simple, flexible syntax that uses custom tags to define data, making it distinct from fixed-schema formats like JSON or CSV. One of XML’s main characteristics is its ability to represent deeply structured or hierarchical information using nested tags, where each element can contain other elements, attributes, and text. This structure makes XML ideal for scenarios where relationships between pieces of information matter, such as configuration files, document formats like DOCX, and data interchange standards such as SOAP. Because XML is platform-agnostic and self-describing, systems of different types can exchange XML-based data reliably. Another key feature is its strictness about well-formedness rules, such as requiring one root element, properly nested tags, and closing tags, all of which help avoid parsing ambiguity. In addition, XML supports comments, processing instructions, and declarations, which can control how parsers read the document. While XML is more verbose than many modern formats, its combination of structure, extensibility, and cross-system compatibility ensures it remains widely used in enterprise systems, document standards, and academic domains. For beginners transitioning from using XML without understanding its structure, recognizing that it is fundamentally a tree of elements is the key to making sense of parsing behavior, tooling, and how programs navigate or transform XML documents by walking this tree. Because this structured approach resembles algebraic data types in Haskell, understanding XML becomes much easier when it is visualized as a recursive data structure that defines nested relationships in a predictable manner.</a:t>
            </a:r>
          </a:p>
        </p:txBody>
      </p:sp>
      <p:sp>
        <p:nvSpPr>
          <p:cNvPr id="4" name="Slide Number Placeholder 3"/>
          <p:cNvSpPr>
            <a:spLocks noGrp="1"/>
          </p:cNvSpPr>
          <p:nvPr>
            <p:ph type="sldNum" sz="quarter" idx="5"/>
          </p:nvPr>
        </p:nvSpPr>
        <p:spPr/>
        <p:txBody>
          <a:bodyPr/>
          <a:lstStyle/>
          <a:p>
            <a:fld id="{17E59575-30D1-4661-8D21-5CF1396340F1}" type="slidenum">
              <a:rPr lang="en-US" smtClean="0"/>
              <a:t>2</a:t>
            </a:fld>
            <a:endParaRPr lang="en-US"/>
          </a:p>
        </p:txBody>
      </p:sp>
    </p:spTree>
    <p:extLst>
      <p:ext uri="{BB962C8B-B14F-4D97-AF65-F5344CB8AC3E}">
        <p14:creationId xmlns:p14="http://schemas.microsoft.com/office/powerpoint/2010/main" val="3866953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XML documents form a hierarchical tree structure, which means every document begins with exactly one root element that encloses all other content. This design emphasizes parent–child relationships, making it similar to data structures that Haskell programmers already know, such as recursive ADTs. Each node in this tree can represent an element, which may contain attributes, text, or additional nested elements. These nested elements create the branching structure that defines the data. Viewing XML as a tree helps clarify why parsing involves navigating nodes, and why certain operations, such as extracting a title or finding repeated sections, resemble walking through a recursive structure. The tree also reveals why whitespace often appears as text nodes—each indentation or newline is treated as content unless a parser is configured to trim it. This concept becomes especially important when dealing with pretty-printed XML, where extra whitespace may create unexpected child nodes. Understanding XML as a tree also helps explain the behavior of XPaths and DOM navigation, where each step refers explicitly to parent, child, or sibling relationships. Moreover, representing XML in memory as a tree allows transformations such as filtering, reshaping, or mapping nodes structurally, akin to manipulating deeply nested lists or custom recursive types. For Haskell programmers, this representation naturally aligns with pattern matching and recursion, making XML processing intuitive once the underlying structure is clear. The tree model also sets the stage for converting XML into strongly typed Haskell ADTs, where the programmer selects which portions of the structure are meaningful and enforces constraints such as the number or type of required subelements.</a:t>
            </a:r>
          </a:p>
        </p:txBody>
      </p:sp>
      <p:sp>
        <p:nvSpPr>
          <p:cNvPr id="4" name="Slide Number Placeholder 3"/>
          <p:cNvSpPr>
            <a:spLocks noGrp="1"/>
          </p:cNvSpPr>
          <p:nvPr>
            <p:ph type="sldNum" sz="quarter" idx="5"/>
          </p:nvPr>
        </p:nvSpPr>
        <p:spPr/>
        <p:txBody>
          <a:bodyPr/>
          <a:lstStyle/>
          <a:p>
            <a:fld id="{17E59575-30D1-4661-8D21-5CF1396340F1}" type="slidenum">
              <a:rPr lang="en-US" smtClean="0"/>
              <a:t>3</a:t>
            </a:fld>
            <a:endParaRPr lang="en-US"/>
          </a:p>
        </p:txBody>
      </p:sp>
    </p:spTree>
    <p:extLst>
      <p:ext uri="{BB962C8B-B14F-4D97-AF65-F5344CB8AC3E}">
        <p14:creationId xmlns:p14="http://schemas.microsoft.com/office/powerpoint/2010/main" val="2595532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Elements—commonly known as tags—form the fundamental building blocks of XML documents. Each element begins with an opening tag and ends with a closing tag, creating a clearly delimited region that contains either text, nested elements, or both. For example, a &lt;book&gt; element may include child elements like &lt;title&gt; or &lt;author&gt;, illustrating how XML captures structured information. Tags can be deeply nested, allowing XML to represent highly detailed and hierarchical datasets. Some elements contain no child content, and these can be written in a concise self-closing form, such as &lt;br/&gt;, which reduces verbosity while maintaining well-formedness. Element names are case-sensitive and must follow naming rules that permit letters, digits, underscores, hyphens, and periods, though they may not begin with a digit or contain spaces. The use of elements to model structure aligns well with Haskell's conceptualization of data types, where tags act like constructors that can contain fields or additional value structures. Because XML does not prescribe meaning to element names, their semantics come entirely from the application domain, allowing developers to define schemas that match their requirements. This flexibility is central to XML’s extensibility, enabling different systems to produce or consume XML documents while preserving structure and meaning. Understanding elements is key to parsing and transformation, as most tools operate by locating elements by name, exploring their children, and working with associated attributes, which serve as additional metadata attached to the element’s opening tag.</a:t>
            </a:r>
          </a:p>
        </p:txBody>
      </p:sp>
      <p:sp>
        <p:nvSpPr>
          <p:cNvPr id="4" name="Slide Number Placeholder 3"/>
          <p:cNvSpPr>
            <a:spLocks noGrp="1"/>
          </p:cNvSpPr>
          <p:nvPr>
            <p:ph type="sldNum" sz="quarter" idx="5"/>
          </p:nvPr>
        </p:nvSpPr>
        <p:spPr/>
        <p:txBody>
          <a:bodyPr/>
          <a:lstStyle/>
          <a:p>
            <a:fld id="{17E59575-30D1-4661-8D21-5CF1396340F1}" type="slidenum">
              <a:rPr lang="en-US" smtClean="0"/>
              <a:t>4</a:t>
            </a:fld>
            <a:endParaRPr lang="en-US"/>
          </a:p>
        </p:txBody>
      </p:sp>
    </p:spTree>
    <p:extLst>
      <p:ext uri="{BB962C8B-B14F-4D97-AF65-F5344CB8AC3E}">
        <p14:creationId xmlns:p14="http://schemas.microsoft.com/office/powerpoint/2010/main" val="1801489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Attributes in XML provide metadata about an element and appear only within the element’s opening tag. Structured as key="value" pairs, attributes store information that is relevant to the element but not part of its hierarchical content. For instance, in &lt;book id="b1" year="2011"&gt;, the id and year attributes describe properties of the book rather than forming part of the nested structure. This distinction allows attributes to be used for identifiers, format markers, or small scalar values, while elements capture more complex content or sequences. Attributes never contain nested elements and cannot themselves have attributes, which enforces a clear boundary between metadata and hierarchical structure. The choice between using attributes and child elements often depends on semantic relevance: attributes are suitable for simple, atomic values, whereas child elements are better for meaningful structured content. In many XML-processing libraries including Haskell-based ones, attributes are represented as maps or lists of key–value pairs attached directly to element nodes. They play a crucial role in identification and classification tasks, such as locating nodes with a specific id or determining rendering rules. While attributes make XML more expressive, their presence must align with the document’s schema or conventions to maintain clarity. Beginners should understand attributes not as subnodes but as supplemental information that travels with an element, ensuring that the primary structure remains represented by the nested element tree.</a:t>
            </a:r>
          </a:p>
        </p:txBody>
      </p:sp>
      <p:sp>
        <p:nvSpPr>
          <p:cNvPr id="4" name="Slide Number Placeholder 3"/>
          <p:cNvSpPr>
            <a:spLocks noGrp="1"/>
          </p:cNvSpPr>
          <p:nvPr>
            <p:ph type="sldNum" sz="quarter" idx="5"/>
          </p:nvPr>
        </p:nvSpPr>
        <p:spPr/>
        <p:txBody>
          <a:bodyPr/>
          <a:lstStyle/>
          <a:p>
            <a:fld id="{17E59575-30D1-4661-8D21-5CF1396340F1}" type="slidenum">
              <a:rPr lang="en-US" smtClean="0"/>
              <a:t>5</a:t>
            </a:fld>
            <a:endParaRPr lang="en-US"/>
          </a:p>
        </p:txBody>
      </p:sp>
    </p:spTree>
    <p:extLst>
      <p:ext uri="{BB962C8B-B14F-4D97-AF65-F5344CB8AC3E}">
        <p14:creationId xmlns:p14="http://schemas.microsoft.com/office/powerpoint/2010/main" val="1345100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Text nodes represent actual textual content within XML elements and are treated as distinct nodes in the XML tree structure. For example, in &lt;title&gt;Learn You a Haskell&lt;/title&gt;, the text Learn You a Haskell is stored in a text node that is a child of the &lt;title&gt; element. One important nuance is that whitespace—such as indentation, newlines, and spaces between elements—often becomes its own text node, which can surprise beginners. Pretty-printed XML frequently includes such whitespace nodes, making it appear as though there is unexpected text in the document. Different libraries handle whitespace differently; some preserve it strictly, while others can normalize or ignore it. Understanding text nodes is essential for extraction tasks, because tools may return a mixture of text and element nodes, requiring programmers to filter or combine content. In Haskell, text nodes are commonly represented as constructors distinct from element constructors in XML libraries, reinforcing the fact that text is not merely a property of an element but a real node with its own identity. This model allows accurate representation of mixed content documents where text and elements interleave, such as XHTML or richly formatted content. Learning to handle text nodes effectively helps clarify how parsing libraries behave when retrieving or navigating content and makes it easier to avoid issues such as treating whitespace as meaningful data.</a:t>
            </a:r>
          </a:p>
        </p:txBody>
      </p:sp>
      <p:sp>
        <p:nvSpPr>
          <p:cNvPr id="4" name="Slide Number Placeholder 3"/>
          <p:cNvSpPr>
            <a:spLocks noGrp="1"/>
          </p:cNvSpPr>
          <p:nvPr>
            <p:ph type="sldNum" sz="quarter" idx="5"/>
          </p:nvPr>
        </p:nvSpPr>
        <p:spPr/>
        <p:txBody>
          <a:bodyPr/>
          <a:lstStyle/>
          <a:p>
            <a:fld id="{17E59575-30D1-4661-8D21-5CF1396340F1}" type="slidenum">
              <a:rPr lang="en-US" smtClean="0"/>
              <a:t>7</a:t>
            </a:fld>
            <a:endParaRPr lang="en-US"/>
          </a:p>
        </p:txBody>
      </p:sp>
    </p:spTree>
    <p:extLst>
      <p:ext uri="{BB962C8B-B14F-4D97-AF65-F5344CB8AC3E}">
        <p14:creationId xmlns:p14="http://schemas.microsoft.com/office/powerpoint/2010/main" val="3364533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Namespaces, XML Declaration</a:t>
            </a:r>
          </a:p>
        </p:txBody>
      </p:sp>
      <p:sp>
        <p:nvSpPr>
          <p:cNvPr id="4" name="Slide Number Placeholder 3"/>
          <p:cNvSpPr>
            <a:spLocks noGrp="1"/>
          </p:cNvSpPr>
          <p:nvPr>
            <p:ph type="sldNum" sz="quarter" idx="5"/>
          </p:nvPr>
        </p:nvSpPr>
        <p:spPr/>
        <p:txBody>
          <a:bodyPr/>
          <a:lstStyle/>
          <a:p>
            <a:fld id="{17E59575-30D1-4661-8D21-5CF1396340F1}" type="slidenum">
              <a:rPr lang="en-US" smtClean="0"/>
              <a:t>8</a:t>
            </a:fld>
            <a:endParaRPr lang="en-US"/>
          </a:p>
        </p:txBody>
      </p:sp>
    </p:spTree>
    <p:extLst>
      <p:ext uri="{BB962C8B-B14F-4D97-AF65-F5344CB8AC3E}">
        <p14:creationId xmlns:p14="http://schemas.microsoft.com/office/powerpoint/2010/main" val="1920134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Namespaces in XML address the problem of name collisions by qualifying element and attribute names with a prefix tied to a unique URI. This becomes particularly important when combining XML vocabularies from different domains, such as embedding SVG within XHTML or parsing Moodle quiz XML that uses prefixes like m:. A namespace declaration uses the xmlns attribute, either with a prefix (e.g., xmlns:m="http://moodle.org/question") or as a default namespace for unprefixed tags. Once declared, the prefix acts as a shorthand within the XML document, but the true identity of each element derives from the URI rather than the prefix spelling. Beginners often find namespaces confusing because XML parsers typically expose elements using expanded names that pair the local tag name with its namespace URI, making it necessary to match both when navigating nodes. While namespaces increase interoperability and correctness, they add a layer of complexity during parsing, particularly in strongly typed languages like Haskell. Many beginners benefit from initially ignoring namespaces—treating documents without prefixes to focus on core structure—before learning the expanded-name model required for correct matching. Namespaces ensure robust extensibility, avoid name collisions, and allow different XML-based standards to coexist cleanly within the same document, making them a critical but advanced feature of XML.</a:t>
            </a:r>
          </a:p>
        </p:txBody>
      </p:sp>
      <p:sp>
        <p:nvSpPr>
          <p:cNvPr id="4" name="Slide Number Placeholder 3"/>
          <p:cNvSpPr>
            <a:spLocks noGrp="1"/>
          </p:cNvSpPr>
          <p:nvPr>
            <p:ph type="sldNum" sz="quarter" idx="5"/>
          </p:nvPr>
        </p:nvSpPr>
        <p:spPr/>
        <p:txBody>
          <a:bodyPr/>
          <a:lstStyle/>
          <a:p>
            <a:fld id="{17E59575-30D1-4661-8D21-5CF1396340F1}" type="slidenum">
              <a:rPr lang="en-US" smtClean="0"/>
              <a:t>9</a:t>
            </a:fld>
            <a:endParaRPr lang="en-US"/>
          </a:p>
        </p:txBody>
      </p:sp>
    </p:spTree>
    <p:extLst>
      <p:ext uri="{BB962C8B-B14F-4D97-AF65-F5344CB8AC3E}">
        <p14:creationId xmlns:p14="http://schemas.microsoft.com/office/powerpoint/2010/main" val="22357977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XML declaration appears at the top of an XML document and typically looks like &lt;?xml version="1.0" encoding="utf-8"?&gt;. Although it resembles a tag, it is not part of the document’s element tree but instead serves as metadata that instructs the XML parser how to read the document. The version attribute identifies the XML specification being followed, while the encoding attribute specifies how bytes in the file are interpreted as characters. Many XML parsers automatically process this declaration when loading the file, using it to configure internal decoding logic. In languages like Haskell, high-level XML libraries often do not expose the declaration through the parsed structure, because once the document is decoded, the declaration has served its purpose. Programmers rarely need to access the declaration directly unless performing low-level byte handling, building XML serializers, or validating documents against strict standards. Understanding that the declaration is not part of the tree helps clarify why it cannot be found by searching for elements and why typical workflows begin with the documentRoot rather than including any representation of the declaration itself. Overall, the XML declaration provides essential file-level metadata but does not participate in the document’s structural content.</a:t>
            </a:r>
          </a:p>
        </p:txBody>
      </p:sp>
      <p:sp>
        <p:nvSpPr>
          <p:cNvPr id="4" name="Slide Number Placeholder 3"/>
          <p:cNvSpPr>
            <a:spLocks noGrp="1"/>
          </p:cNvSpPr>
          <p:nvPr>
            <p:ph type="sldNum" sz="quarter" idx="5"/>
          </p:nvPr>
        </p:nvSpPr>
        <p:spPr/>
        <p:txBody>
          <a:bodyPr/>
          <a:lstStyle/>
          <a:p>
            <a:fld id="{17E59575-30D1-4661-8D21-5CF1396340F1}" type="slidenum">
              <a:rPr lang="en-US" smtClean="0"/>
              <a:t>10</a:t>
            </a:fld>
            <a:endParaRPr lang="en-US"/>
          </a:p>
        </p:txBody>
      </p:sp>
    </p:spTree>
    <p:extLst>
      <p:ext uri="{BB962C8B-B14F-4D97-AF65-F5344CB8AC3E}">
        <p14:creationId xmlns:p14="http://schemas.microsoft.com/office/powerpoint/2010/main" val="25087624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CDATA Sections</a:t>
            </a:r>
          </a:p>
        </p:txBody>
      </p:sp>
      <p:sp>
        <p:nvSpPr>
          <p:cNvPr id="4" name="Slide Number Placeholder 3"/>
          <p:cNvSpPr>
            <a:spLocks noGrp="1"/>
          </p:cNvSpPr>
          <p:nvPr>
            <p:ph type="sldNum" sz="quarter" idx="5"/>
          </p:nvPr>
        </p:nvSpPr>
        <p:spPr/>
        <p:txBody>
          <a:bodyPr/>
          <a:lstStyle/>
          <a:p>
            <a:fld id="{17E59575-30D1-4661-8D21-5CF1396340F1}" type="slidenum">
              <a:rPr lang="en-US" smtClean="0"/>
              <a:t>11</a:t>
            </a:fld>
            <a:endParaRPr lang="en-US"/>
          </a:p>
        </p:txBody>
      </p:sp>
    </p:spTree>
    <p:extLst>
      <p:ext uri="{BB962C8B-B14F-4D97-AF65-F5344CB8AC3E}">
        <p14:creationId xmlns:p14="http://schemas.microsoft.com/office/powerpoint/2010/main" val="2688324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CDATA sections in XML allow raw text to appear without being treated as markup, providing a way to include reserved characters such as &lt; and &amp; without escaping them. CDATA is introduced with &lt;![CDATA[ and closed with ]]&gt;, and everything inside is treated as literal text except for the forbidden end sequence. This mechanism is especially useful when embedding HTML, code samples, or other markup-heavy content within XML documents, as seen in Moodle quiz files where question text often contains HTML wrapped in CDATA. Although CDATA affects how XML is written, most XML parsers—including those in Haskell—return CDATA content as plain text, making it functionally equivalent to normal text nodes from the consumer’s perspective. This simplifies parsing but can obscure the distinction between escaped and unescaped content in the original document. CDATA cannot itself contain the sequence ]]&gt;, requiring workarounds such as splitting CDATA blocks when necessary. Its purpose is convenience rather than structural complexity, allowing authors to avoid excessive escaping of characters that would otherwise be misinterpreted as markup. For beginners, understanding CDATA clarifies why some XML text sections appear differently formatted and why certain documents embed HTML or special symbols without escape sequences. Recognizing CDATA helps ensure correct handling of these text-heavy regions when writing transformations or serializers.</a:t>
            </a:r>
          </a:p>
        </p:txBody>
      </p:sp>
      <p:sp>
        <p:nvSpPr>
          <p:cNvPr id="4" name="Slide Number Placeholder 3"/>
          <p:cNvSpPr>
            <a:spLocks noGrp="1"/>
          </p:cNvSpPr>
          <p:nvPr>
            <p:ph type="sldNum" sz="quarter" idx="5"/>
          </p:nvPr>
        </p:nvSpPr>
        <p:spPr/>
        <p:txBody>
          <a:bodyPr/>
          <a:lstStyle/>
          <a:p>
            <a:fld id="{17E59575-30D1-4661-8D21-5CF1396340F1}" type="slidenum">
              <a:rPr lang="en-US" smtClean="0"/>
              <a:t>12</a:t>
            </a:fld>
            <a:endParaRPr lang="en-US"/>
          </a:p>
        </p:txBody>
      </p:sp>
    </p:spTree>
    <p:extLst>
      <p:ext uri="{BB962C8B-B14F-4D97-AF65-F5344CB8AC3E}">
        <p14:creationId xmlns:p14="http://schemas.microsoft.com/office/powerpoint/2010/main" val="3361946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Haskell Perspective on Parsing XML</a:t>
            </a:r>
          </a:p>
        </p:txBody>
      </p:sp>
      <p:sp>
        <p:nvSpPr>
          <p:cNvPr id="4" name="Slide Number Placeholder 3"/>
          <p:cNvSpPr>
            <a:spLocks noGrp="1"/>
          </p:cNvSpPr>
          <p:nvPr>
            <p:ph type="sldNum" sz="quarter" idx="5"/>
          </p:nvPr>
        </p:nvSpPr>
        <p:spPr/>
        <p:txBody>
          <a:bodyPr/>
          <a:lstStyle/>
          <a:p>
            <a:fld id="{17E59575-30D1-4661-8D21-5CF1396340F1}" type="slidenum">
              <a:rPr lang="en-US" smtClean="0"/>
              <a:t>13</a:t>
            </a:fld>
            <a:endParaRPr lang="en-US"/>
          </a:p>
        </p:txBody>
      </p:sp>
    </p:spTree>
    <p:extLst>
      <p:ext uri="{BB962C8B-B14F-4D97-AF65-F5344CB8AC3E}">
        <p14:creationId xmlns:p14="http://schemas.microsoft.com/office/powerpoint/2010/main" val="540906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From a Haskell programmer’s perspective, XML parsing typically involves two conceptual stages: reading the document into a generic tree structure and transforming that structure into strongly typed Haskell ADTs. XML libraries in Haskell, such as xml-conduit or HXT, provide parsers that automatically process the XML declaration, construct element nodes, preserve attributes, and represent text nodes explicitly. Once parsed, developers navigate the tree by selecting children with specific tag names, retrieving attribute values, and extracting text content. This process resembles traversing custom recursive data types, making XML manipulation intuitive once the programmer internalizes XML’s tree-based model. A common pattern is to parse XML into a Document and then walk from the root using helper functions like filtering children or folding through nodes. The second stage—mapping XML into ADTs—enforces domain-specific constraints, such as requiring a &lt;title&gt; element or interpreting an attribute as a specific type. This separation of parsing and decoding helps maintain clarity, correctness, and composability. Because XML is flexible and often allows missing or repeated fields, Haskell’s strong typing provides a way to assert expectations explicitly, turning loosely structured XML into predictable, well-formed data structures. Understanding these two stages empowers Haskell developers to build reliable, maintainable XML-processing pipelines.</a:t>
            </a:r>
          </a:p>
        </p:txBody>
      </p:sp>
      <p:sp>
        <p:nvSpPr>
          <p:cNvPr id="4" name="Slide Number Placeholder 3"/>
          <p:cNvSpPr>
            <a:spLocks noGrp="1"/>
          </p:cNvSpPr>
          <p:nvPr>
            <p:ph type="sldNum" sz="quarter" idx="5"/>
          </p:nvPr>
        </p:nvSpPr>
        <p:spPr/>
        <p:txBody>
          <a:bodyPr/>
          <a:lstStyle/>
          <a:p>
            <a:fld id="{17E59575-30D1-4661-8D21-5CF1396340F1}" type="slidenum">
              <a:rPr lang="en-US" smtClean="0"/>
              <a:t>14</a:t>
            </a:fld>
            <a:endParaRPr lang="en-US"/>
          </a:p>
        </p:txBody>
      </p:sp>
    </p:spTree>
    <p:extLst>
      <p:ext uri="{BB962C8B-B14F-4D97-AF65-F5344CB8AC3E}">
        <p14:creationId xmlns:p14="http://schemas.microsoft.com/office/powerpoint/2010/main" val="33419102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7"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6"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5" cy="1373070"/>
          </a:xfrm>
        </p:spPr>
        <p:txBody>
          <a:bodyPr anchor="b">
            <a:noAutofit/>
          </a:bodyPr>
          <a:lstStyle>
            <a:lvl1pPr algn="r">
              <a:defRPr sz="4050"/>
            </a:lvl1pPr>
          </a:lstStyle>
          <a:p>
            <a:r>
              <a:rPr lang="en-GB"/>
              <a:t>Click to edit Master title style</a:t>
            </a:r>
            <a:endParaRPr lang="en-US" dirty="0"/>
          </a:p>
        </p:txBody>
      </p:sp>
      <p:sp>
        <p:nvSpPr>
          <p:cNvPr id="3" name="Subtitle 2"/>
          <p:cNvSpPr>
            <a:spLocks noGrp="1"/>
          </p:cNvSpPr>
          <p:nvPr>
            <p:ph type="subTitle" idx="1"/>
          </p:nvPr>
        </p:nvSpPr>
        <p:spPr>
          <a:xfrm>
            <a:off x="680322" y="4394041"/>
            <a:ext cx="8144135" cy="1117687"/>
          </a:xfrm>
        </p:spPr>
        <p:txBody>
          <a:bodyPr>
            <a:normAutofit/>
          </a:bodyPr>
          <a:lstStyle>
            <a:lvl1pPr marL="0" indent="0" algn="r">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47C47A4-C546-724C-AE75-E415E88471BC}" type="datetime1">
              <a:rPr lang="en-IE" smtClean="0"/>
              <a:t>04/03/2026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a:xfrm>
            <a:off x="9255347" y="2750337"/>
            <a:ext cx="1171888" cy="1356442"/>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925512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7" name="Rectangle 16"/>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B359DC6-C7FF-3F4B-9D5B-0E1417135150}" type="datetime1">
              <a:rPr lang="en-IE" smtClean="0"/>
              <a:t>04/03/2026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906915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6"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2700"/>
            </a:lvl1pPr>
          </a:lstStyle>
          <a:p>
            <a:r>
              <a:rPr lang="en-GB"/>
              <a:t>Click to edit Master title style</a:t>
            </a:r>
            <a:endParaRPr lang="en-US" dirty="0"/>
          </a:p>
        </p:txBody>
      </p:sp>
      <p:sp>
        <p:nvSpPr>
          <p:cNvPr id="3" name="Text Placeholder 2"/>
          <p:cNvSpPr>
            <a:spLocks noGrp="1"/>
          </p:cNvSpPr>
          <p:nvPr>
            <p:ph type="body" idx="1"/>
          </p:nvPr>
        </p:nvSpPr>
        <p:spPr>
          <a:xfrm>
            <a:off x="680322" y="4232173"/>
            <a:ext cx="9613860" cy="1704017"/>
          </a:xfrm>
        </p:spPr>
        <p:txBody>
          <a:bodyPr>
            <a:normAutofit/>
          </a:bodyPr>
          <a:lstStyle>
            <a:lvl1pPr marL="0" indent="0" algn="r">
              <a:buNone/>
              <a:defRPr sz="15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138CA54-FAC4-D746-9E19-2E74EF6CE3DA}" type="datetime1">
              <a:rPr lang="en-IE" smtClean="0"/>
              <a:t>04/03/2026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a:xfrm>
            <a:off x="10729457" y="2869897"/>
            <a:ext cx="1154151" cy="1090789"/>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960880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0" name="Rectangle 9"/>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0321" y="2336873"/>
            <a:ext cx="4698359" cy="35993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594123" y="2336873"/>
            <a:ext cx="4700059" cy="35993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50C363F-D528-E04C-85F7-486D83B0C32B}" type="datetime1">
              <a:rPr lang="en-IE" smtClean="0"/>
              <a:t>04/03/2026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403264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2" name="Rectangle 11"/>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0" y="753231"/>
            <a:ext cx="9613863" cy="1080937"/>
          </a:xfrm>
        </p:spPr>
        <p:txBody>
          <a:bodyPr/>
          <a:lstStyle/>
          <a:p>
            <a:r>
              <a:rPr lang="en-GB"/>
              <a:t>Click to edit Master title style</a:t>
            </a:r>
            <a:endParaRPr lang="en-US" dirty="0"/>
          </a:p>
        </p:txBody>
      </p:sp>
      <p:sp>
        <p:nvSpPr>
          <p:cNvPr id="3" name="Text Placeholder 2"/>
          <p:cNvSpPr>
            <a:spLocks noGrp="1"/>
          </p:cNvSpPr>
          <p:nvPr>
            <p:ph type="body" idx="1"/>
          </p:nvPr>
        </p:nvSpPr>
        <p:spPr>
          <a:xfrm>
            <a:off x="906351" y="2336875"/>
            <a:ext cx="4472327" cy="69313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80323" y="3030010"/>
            <a:ext cx="4698355" cy="29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820155" y="2336873"/>
            <a:ext cx="4474028" cy="69207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5594124" y="3030010"/>
            <a:ext cx="4700059" cy="29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B50B575-9D95-E747-B158-15D83332B16B}" type="datetime1">
              <a:rPr lang="en-IE" smtClean="0"/>
              <a:t>04/03/2026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158678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8" name="Rectangle 7"/>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CB1A7D4-EBB6-964D-BFA2-0BD4BDCD8DE6}" type="datetime1">
              <a:rPr lang="en-IE" smtClean="0"/>
              <a:t>04/03/2026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717694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6" name="Rectangle 5"/>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3447AB18-7394-5448-94E2-D4C188CEC3A1}" type="datetime1">
              <a:rPr lang="en-IE" smtClean="0"/>
              <a:t>04/03/2026</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115793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0" name="Rectangle 9"/>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2700"/>
            </a:lvl1pPr>
          </a:lstStyle>
          <a:p>
            <a:r>
              <a:rPr lang="en-GB"/>
              <a:t>Click to edit Master title style</a:t>
            </a:r>
            <a:endParaRPr lang="en-US" dirty="0"/>
          </a:p>
        </p:txBody>
      </p:sp>
      <p:sp>
        <p:nvSpPr>
          <p:cNvPr id="3" name="Content Placeholder 2"/>
          <p:cNvSpPr>
            <a:spLocks noGrp="1"/>
          </p:cNvSpPr>
          <p:nvPr>
            <p:ph idx="1"/>
          </p:nvPr>
        </p:nvSpPr>
        <p:spPr>
          <a:xfrm>
            <a:off x="4685847" y="2336875"/>
            <a:ext cx="5608336" cy="35993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0322" y="2336874"/>
            <a:ext cx="3790079" cy="359931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872B04B8-0A73-A04F-9000-81BF6F69236A}" type="datetime1">
              <a:rPr lang="en-IE" smtClean="0"/>
              <a:t>04/03/2026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1836651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0" name="Rectangle 9"/>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2700"/>
            </a:lvl1pPr>
          </a:lstStyle>
          <a:p>
            <a:r>
              <a:rPr lang="en-GB"/>
              <a:t>Click to edit Master title style</a:t>
            </a:r>
            <a:endParaRPr lang="en-US" dirty="0"/>
          </a:p>
        </p:txBody>
      </p:sp>
      <p:sp>
        <p:nvSpPr>
          <p:cNvPr id="3" name="Picture Placeholder 2"/>
          <p:cNvSpPr>
            <a:spLocks noGrp="1" noChangeAspect="1"/>
          </p:cNvSpPr>
          <p:nvPr>
            <p:ph type="pic" idx="1"/>
          </p:nvPr>
        </p:nvSpPr>
        <p:spPr>
          <a:xfrm>
            <a:off x="4868334"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80323" y="2336875"/>
            <a:ext cx="3876256" cy="3599315"/>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38259204-05AF-0141-BD8B-41B656FD70B9}" type="datetime1">
              <a:rPr lang="en-IE" smtClean="0"/>
              <a:t>04/03/2026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566225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0" name="Rectangle 9"/>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8"/>
            <a:ext cx="9613859" cy="453051"/>
          </a:xfrm>
        </p:spPr>
        <p:txBody>
          <a:bodyPr anchor="b">
            <a:normAutofit/>
          </a:bodyPr>
          <a:lstStyle>
            <a:lvl1pPr>
              <a:defRPr sz="18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0322" y="609599"/>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80319" y="5169585"/>
            <a:ext cx="9613863" cy="62297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DEB62AC2-7FA8-2344-A706-8F1622F4B358}" type="datetime1">
              <a:rPr lang="en-IE" smtClean="0"/>
              <a:t>04/03/2026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a:xfrm>
            <a:off x="10729457" y="4711311"/>
            <a:ext cx="1154151" cy="1090789"/>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623709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0" name="Rectangle 9"/>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609597"/>
            <a:ext cx="9613859" cy="3592750"/>
          </a:xfrm>
        </p:spPr>
        <p:txBody>
          <a:bodyPr anchor="ctr"/>
          <a:lstStyle>
            <a:lvl1pPr>
              <a:defRPr sz="2400"/>
            </a:lvl1pPr>
          </a:lstStyle>
          <a:p>
            <a:r>
              <a:rPr lang="en-GB"/>
              <a:t>Click to edit Master title style</a:t>
            </a:r>
            <a:endParaRPr lang="en-US" dirty="0"/>
          </a:p>
        </p:txBody>
      </p:sp>
      <p:sp>
        <p:nvSpPr>
          <p:cNvPr id="4" name="Text Placeholder 3"/>
          <p:cNvSpPr>
            <a:spLocks noGrp="1"/>
          </p:cNvSpPr>
          <p:nvPr>
            <p:ph type="body" sz="half" idx="2"/>
          </p:nvPr>
        </p:nvSpPr>
        <p:spPr>
          <a:xfrm>
            <a:off x="680322" y="4711617"/>
            <a:ext cx="9613859" cy="1090789"/>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CAA7874-153C-0547-906F-A356F32C1712}" type="datetime1">
              <a:rPr lang="en-IE" smtClean="0"/>
              <a:t>04/03/2026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a:xfrm>
            <a:off x="10729457" y="4711617"/>
            <a:ext cx="1154151" cy="1090789"/>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575649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4" name="Rectangle 13"/>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2400"/>
            </a:lvl1pPr>
          </a:lstStyle>
          <a:p>
            <a:r>
              <a:rPr lang="en-GB"/>
              <a:t>Click to edit Master title style</a:t>
            </a:r>
            <a:endParaRPr lang="en-US" dirty="0"/>
          </a:p>
        </p:txBody>
      </p:sp>
      <p:sp>
        <p:nvSpPr>
          <p:cNvPr id="12" name="Text Placeholder 3"/>
          <p:cNvSpPr>
            <a:spLocks noGrp="1"/>
          </p:cNvSpPr>
          <p:nvPr>
            <p:ph type="body" sz="half" idx="13"/>
          </p:nvPr>
        </p:nvSpPr>
        <p:spPr>
          <a:xfrm>
            <a:off x="1402289" y="3653379"/>
            <a:ext cx="8156579"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4" name="Text Placeholder 3"/>
          <p:cNvSpPr>
            <a:spLocks noGrp="1"/>
          </p:cNvSpPr>
          <p:nvPr>
            <p:ph type="body" sz="half" idx="2"/>
          </p:nvPr>
        </p:nvSpPr>
        <p:spPr>
          <a:xfrm>
            <a:off x="680322" y="4711617"/>
            <a:ext cx="9613859" cy="1090789"/>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F84A0841-ADA8-D943-92F4-ED9D75754F90}" type="datetime1">
              <a:rPr lang="en-IE" smtClean="0"/>
              <a:t>04/03/2026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a:xfrm>
            <a:off x="10729457" y="4709927"/>
            <a:ext cx="1154151" cy="1090789"/>
          </a:xfrm>
        </p:spPr>
        <p:txBody>
          <a:bodyPr/>
          <a:lstStyle/>
          <a:p>
            <a:fld id="{5E0677F5-4A8A-4BF1-96BE-3BAE8FBAFE2E}" type="slidenum">
              <a:rPr lang="en-US" smtClean="0"/>
              <a:pPr/>
              <a:t>‹#›</a:t>
            </a:fld>
            <a:endParaRPr lang="en-US" dirty="0"/>
          </a:p>
        </p:txBody>
      </p:sp>
      <p:sp>
        <p:nvSpPr>
          <p:cNvPr id="16" name="TextBox 15"/>
          <p:cNvSpPr txBox="1"/>
          <p:nvPr/>
        </p:nvSpPr>
        <p:spPr>
          <a:xfrm>
            <a:off x="583572" y="748116"/>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54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5400" dirty="0">
                <a:solidFill>
                  <a:schemeClr val="tx1"/>
                </a:solidFill>
                <a:effectLst/>
              </a:rPr>
              <a:t>”</a:t>
            </a:r>
          </a:p>
        </p:txBody>
      </p:sp>
    </p:spTree>
    <p:extLst>
      <p:ext uri="{BB962C8B-B14F-4D97-AF65-F5344CB8AC3E}">
        <p14:creationId xmlns:p14="http://schemas.microsoft.com/office/powerpoint/2010/main" val="16490892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1" name="Rectangle 10"/>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7"/>
            <a:ext cx="9613863" cy="588535"/>
          </a:xfrm>
        </p:spPr>
        <p:txBody>
          <a:bodyPr anchor="b"/>
          <a:lstStyle>
            <a:lvl1pPr>
              <a:defRPr sz="2400"/>
            </a:lvl1pPr>
          </a:lstStyle>
          <a:p>
            <a:r>
              <a:rPr lang="en-GB"/>
              <a:t>Click to edit Master title style</a:t>
            </a:r>
            <a:endParaRPr lang="en-US" dirty="0"/>
          </a:p>
        </p:txBody>
      </p:sp>
      <p:sp>
        <p:nvSpPr>
          <p:cNvPr id="4" name="Text Placeholder 3"/>
          <p:cNvSpPr>
            <a:spLocks noGrp="1"/>
          </p:cNvSpPr>
          <p:nvPr>
            <p:ph type="body" sz="half" idx="2"/>
          </p:nvPr>
        </p:nvSpPr>
        <p:spPr>
          <a:xfrm>
            <a:off x="680320" y="5300151"/>
            <a:ext cx="9613863" cy="502255"/>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8342900B-CD1A-7842-AB91-FB086208E268}" type="datetime1">
              <a:rPr lang="en-IE" smtClean="0"/>
              <a:t>04/03/2026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a:xfrm>
            <a:off x="10729457" y="4709927"/>
            <a:ext cx="1154151" cy="1090789"/>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788284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6" name="Rectangle 15"/>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1" y="753228"/>
            <a:ext cx="9624960" cy="1080938"/>
          </a:xfrm>
        </p:spPr>
        <p:txBody>
          <a:bodyPr/>
          <a:lstStyle/>
          <a:p>
            <a:r>
              <a:rPr lang="en-GB"/>
              <a:t>Click to edit Master title style</a:t>
            </a:r>
            <a:endParaRPr lang="en-US" dirty="0"/>
          </a:p>
        </p:txBody>
      </p:sp>
      <p:sp>
        <p:nvSpPr>
          <p:cNvPr id="7" name="Text Placeholder 2"/>
          <p:cNvSpPr>
            <a:spLocks noGrp="1"/>
          </p:cNvSpPr>
          <p:nvPr>
            <p:ph type="body" idx="1"/>
          </p:nvPr>
        </p:nvSpPr>
        <p:spPr>
          <a:xfrm>
            <a:off x="660945" y="2336873"/>
            <a:ext cx="307003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8" name="Text Placeholder 3"/>
          <p:cNvSpPr>
            <a:spLocks noGrp="1"/>
          </p:cNvSpPr>
          <p:nvPr>
            <p:ph type="body" sz="half" idx="15"/>
          </p:nvPr>
        </p:nvSpPr>
        <p:spPr>
          <a:xfrm>
            <a:off x="680322" y="3022674"/>
            <a:ext cx="3049703"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0" name="Text Placeholder 3"/>
          <p:cNvSpPr>
            <a:spLocks noGrp="1"/>
          </p:cNvSpPr>
          <p:nvPr>
            <p:ph type="body" sz="half" idx="16"/>
          </p:nvPr>
        </p:nvSpPr>
        <p:spPr>
          <a:xfrm>
            <a:off x="3945471" y="3022674"/>
            <a:ext cx="3063240"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1" name="Text Placeholder 4"/>
          <p:cNvSpPr>
            <a:spLocks noGrp="1"/>
          </p:cNvSpPr>
          <p:nvPr>
            <p:ph type="body" sz="quarter" idx="13"/>
          </p:nvPr>
        </p:nvSpPr>
        <p:spPr>
          <a:xfrm>
            <a:off x="7224157" y="2336873"/>
            <a:ext cx="307002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2" name="Text Placeholder 3"/>
          <p:cNvSpPr>
            <a:spLocks noGrp="1"/>
          </p:cNvSpPr>
          <p:nvPr>
            <p:ph type="body" sz="half" idx="17"/>
          </p:nvPr>
        </p:nvSpPr>
        <p:spPr>
          <a:xfrm>
            <a:off x="7224157" y="3022674"/>
            <a:ext cx="3070025"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3" name="Date Placeholder 2"/>
          <p:cNvSpPr>
            <a:spLocks noGrp="1"/>
          </p:cNvSpPr>
          <p:nvPr>
            <p:ph type="dt" sz="half" idx="10"/>
          </p:nvPr>
        </p:nvSpPr>
        <p:spPr/>
        <p:txBody>
          <a:bodyPr/>
          <a:lstStyle/>
          <a:p>
            <a:fld id="{EB167D5F-47E0-5C4F-B378-1E78D2A20798}" type="datetime1">
              <a:rPr lang="en-IE" smtClean="0"/>
              <a:t>04/03/2026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7735403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7" name="Rectangle 16"/>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0320" y="4297503"/>
            <a:ext cx="304970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0" name="Picture Placeholder 2"/>
          <p:cNvSpPr>
            <a:spLocks noGrp="1" noChangeAspect="1"/>
          </p:cNvSpPr>
          <p:nvPr>
            <p:ph type="pic" idx="15"/>
          </p:nvPr>
        </p:nvSpPr>
        <p:spPr>
          <a:xfrm>
            <a:off x="680320"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1" name="Text Placeholder 3"/>
          <p:cNvSpPr>
            <a:spLocks noGrp="1"/>
          </p:cNvSpPr>
          <p:nvPr>
            <p:ph type="body" sz="half" idx="18"/>
          </p:nvPr>
        </p:nvSpPr>
        <p:spPr>
          <a:xfrm>
            <a:off x="680320" y="4873765"/>
            <a:ext cx="3049705"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3" name="Picture Placeholder 2"/>
          <p:cNvSpPr>
            <a:spLocks noGrp="1" noChangeAspect="1"/>
          </p:cNvSpPr>
          <p:nvPr>
            <p:ph type="pic" idx="21"/>
          </p:nvPr>
        </p:nvSpPr>
        <p:spPr>
          <a:xfrm>
            <a:off x="3945471"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4" name="Text Placeholder 3"/>
          <p:cNvSpPr>
            <a:spLocks noGrp="1"/>
          </p:cNvSpPr>
          <p:nvPr>
            <p:ph type="body" sz="half" idx="19"/>
          </p:nvPr>
        </p:nvSpPr>
        <p:spPr>
          <a:xfrm>
            <a:off x="3944118" y="4873764"/>
            <a:ext cx="3067297"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25" name="Text Placeholder 4"/>
          <p:cNvSpPr>
            <a:spLocks noGrp="1"/>
          </p:cNvSpPr>
          <p:nvPr>
            <p:ph type="body" sz="quarter" idx="13"/>
          </p:nvPr>
        </p:nvSpPr>
        <p:spPr>
          <a:xfrm>
            <a:off x="7230680" y="4297503"/>
            <a:ext cx="306350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6" name="Picture Placeholder 2"/>
          <p:cNvSpPr>
            <a:spLocks noGrp="1" noChangeAspect="1"/>
          </p:cNvSpPr>
          <p:nvPr>
            <p:ph type="pic" idx="22"/>
          </p:nvPr>
        </p:nvSpPr>
        <p:spPr>
          <a:xfrm>
            <a:off x="7230678"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3" name="Date Placeholder 2"/>
          <p:cNvSpPr>
            <a:spLocks noGrp="1"/>
          </p:cNvSpPr>
          <p:nvPr>
            <p:ph type="dt" sz="half" idx="10"/>
          </p:nvPr>
        </p:nvSpPr>
        <p:spPr/>
        <p:txBody>
          <a:bodyPr/>
          <a:lstStyle/>
          <a:p>
            <a:fld id="{7244C4BD-D109-EC4A-AD86-AFA701654059}" type="datetime1">
              <a:rPr lang="en-IE" smtClean="0"/>
              <a:t>04/03/2026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086643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9" name="Rectangle 8"/>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0BB487E-4F58-6848-ADAC-6A5ECB58F77D}" type="datetime1">
              <a:rPr lang="en-IE" smtClean="0"/>
              <a:t>04/03/2026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175162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3" y="5372404"/>
            <a:ext cx="1602997" cy="1368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3" cy="435376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0322" y="609599"/>
            <a:ext cx="8870004" cy="53265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6807125" y="5936189"/>
            <a:ext cx="2743200" cy="365125"/>
          </a:xfrm>
        </p:spPr>
        <p:txBody>
          <a:bodyPr/>
          <a:lstStyle/>
          <a:p>
            <a:fld id="{F6E440BF-557C-A54C-86C1-0018883397C6}" type="datetime1">
              <a:rPr lang="en-IE" smtClean="0"/>
              <a:t>04/03/2026</a:t>
            </a:fld>
            <a:endParaRPr lang="en-US" dirty="0"/>
          </a:p>
        </p:txBody>
      </p:sp>
      <p:sp>
        <p:nvSpPr>
          <p:cNvPr id="5" name="Footer Placeholder 4"/>
          <p:cNvSpPr>
            <a:spLocks noGrp="1"/>
          </p:cNvSpPr>
          <p:nvPr>
            <p:ph type="ftr" sz="quarter" idx="11"/>
          </p:nvPr>
        </p:nvSpPr>
        <p:spPr>
          <a:xfrm>
            <a:off x="680321" y="5936190"/>
            <a:ext cx="6126805" cy="365125"/>
          </a:xfrm>
        </p:spPr>
        <p:txBody>
          <a:bodyPr/>
          <a:lstStyle/>
          <a:p>
            <a:r>
              <a:rPr lang="en-US"/>
              <a:t>Sample Footer Text</a:t>
            </a:r>
            <a:endParaRPr lang="en-US" dirty="0"/>
          </a:p>
        </p:txBody>
      </p:sp>
      <p:sp>
        <p:nvSpPr>
          <p:cNvPr id="6" name="Slide Number Placeholder 5"/>
          <p:cNvSpPr>
            <a:spLocks noGrp="1"/>
          </p:cNvSpPr>
          <p:nvPr>
            <p:ph type="sldNum" sz="quarter" idx="12"/>
          </p:nvPr>
        </p:nvSpPr>
        <p:spPr>
          <a:xfrm>
            <a:off x="10097551" y="5398635"/>
            <a:ext cx="1154151" cy="1090789"/>
          </a:xfrm>
        </p:spPr>
        <p:txBody>
          <a:bodyPr anchor="t"/>
          <a:lstStyle>
            <a:lvl1pPr algn="ctr">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0885931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Title with Pictur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anchor="t">
            <a:normAutofit/>
          </a:bodyPr>
          <a:lstStyle>
            <a:lvl1pPr>
              <a:defRPr sz="3600"/>
            </a:lvl1pPr>
          </a:lstStyle>
          <a:p>
            <a:r>
              <a:rPr lang="en-US" dirty="0"/>
              <a:t>Click to edit Master title style</a:t>
            </a:r>
          </a:p>
        </p:txBody>
      </p:sp>
      <p:sp>
        <p:nvSpPr>
          <p:cNvPr id="10" name="Subtitle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a:lstStyle/>
          <a:p>
            <a:r>
              <a:rPr lang="en-US"/>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a:lstStyle/>
          <a:p>
            <a:fld id="{73599C4C-59CB-4548-87E3-88BCD6C28257}" type="datetime1">
              <a:rPr lang="en-IE" smtClean="0"/>
              <a:t>04/03/2026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22331563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dirty="0"/>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9FE56B1A-6628-6940-B05C-9AEC90A6A211}" type="datetime1">
              <a:rPr lang="en-IE" smtClean="0"/>
              <a:t>04/03/2026</a:t>
            </a:fld>
            <a:endParaRPr lang="en-US" dirty="0"/>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3127488414"/>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a:lstStyle>
            <a:lvl1pPr>
              <a:defRPr/>
            </a:lvl1pPr>
          </a:lstStyle>
          <a:p>
            <a:r>
              <a:rPr lang="en-US" dirty="0"/>
              <a:t>   </a:t>
            </a:r>
          </a:p>
        </p:txBody>
      </p:sp>
      <p:sp>
        <p:nvSpPr>
          <p:cNvPr id="5" name="Title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a:lstStyle>
            <a:lvl1pPr>
              <a:defRPr sz="5000"/>
            </a:lvl1pPr>
          </a:lstStyle>
          <a:p>
            <a:r>
              <a:rPr lang="en-US" dirty="0"/>
              <a:t>Click to edit Master title style</a:t>
            </a:r>
          </a:p>
        </p:txBody>
      </p:sp>
      <p:sp>
        <p:nvSpPr>
          <p:cNvPr id="14" name="Subtitle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a:r>
              <a:rPr lang="en-US" dirty="0"/>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a:lstStyle/>
          <a:p>
            <a:fld id="{9AFD445B-344F-D340-9FE5-7B60737EBDFC}" type="datetime1">
              <a:rPr lang="en-IE" smtClean="0"/>
              <a:t>04/03/2026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4882044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dirty="0"/>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DBC7EDB-27F9-F047-8F2B-1B6B4D47B753}" type="datetime1">
              <a:rPr lang="en-IE" smtClean="0"/>
              <a:t>04/03/2026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4232864187"/>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itle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a:lstStyle/>
          <a:p>
            <a:r>
              <a:rPr lang="en-US"/>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a:lstStyle/>
          <a:p>
            <a:fld id="{C5CF2EEB-5441-1349-9109-0F8CC01E1178}" type="datetime1">
              <a:rPr lang="en-IE" smtClean="0"/>
              <a:t>04/03/2026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a:lstStyle/>
          <a:p>
            <a:fld id="{5E0677F5-4A8A-4BF1-96BE-3BAE8FBAFE2E}"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a:lstStyle>
            <a:lvl1pPr>
              <a:defRPr/>
            </a:lvl1pPr>
          </a:lstStyle>
          <a:p>
            <a:r>
              <a:rPr lang="en-US" dirty="0"/>
              <a:t>   </a:t>
            </a:r>
          </a:p>
        </p:txBody>
      </p:sp>
      <p:cxnSp>
        <p:nvCxnSpPr>
          <p:cNvPr id="7" name="Straight Connector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4798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a:normAutofit/>
          </a:bodyPr>
          <a:lstStyle>
            <a:lvl1pPr>
              <a:defRPr sz="3600"/>
            </a:lvl1pPr>
          </a:lstStyle>
          <a:p>
            <a:r>
              <a:rPr lang="en-US"/>
              <a:t>Click to edit Master title style</a:t>
            </a:r>
          </a:p>
        </p:txBody>
      </p:sp>
      <p:sp>
        <p:nvSpPr>
          <p:cNvPr id="12" name="Subtitle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a:lstStyle>
            <a:lvl1pPr>
              <a:defRPr/>
            </a:lvl1pPr>
          </a:lstStyle>
          <a:p>
            <a:r>
              <a:rPr lang="en-US" dirty="0"/>
              <a:t>   </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a:lstStyle/>
          <a:p>
            <a:fld id="{3D2BEDA5-EF08-9245-AB06-DF11D7DCD07A}" type="datetime1">
              <a:rPr lang="en-IE" smtClean="0"/>
              <a:t>04/03/2026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a:lstStyle/>
          <a:p>
            <a:fld id="{5E0677F5-4A8A-4BF1-96BE-3BAE8FBAFE2E}" type="slidenum">
              <a:rPr lang="en-US" smtClean="0"/>
              <a:t>‹#›</a:t>
            </a:fld>
            <a:endParaRPr lang="en-US"/>
          </a:p>
        </p:txBody>
      </p:sp>
    </p:spTree>
    <p:extLst>
      <p:ext uri="{BB962C8B-B14F-4D97-AF65-F5344CB8AC3E}">
        <p14:creationId xmlns:p14="http://schemas.microsoft.com/office/powerpoint/2010/main" val="909206682"/>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cxnSp>
        <p:nvCxnSpPr>
          <p:cNvPr id="14" name="Straight Connector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anchor="t"/>
          <a:lstStyle>
            <a:lvl1pPr>
              <a:defRPr sz="6000"/>
            </a:lvl1pPr>
          </a:lstStyle>
          <a:p>
            <a:r>
              <a:rPr lang="en-US"/>
              <a:t>Click to edit Master title style</a:t>
            </a:r>
          </a:p>
        </p:txBody>
      </p:sp>
      <p:sp>
        <p:nvSpPr>
          <p:cNvPr id="17" name="Subtitle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a:lstStyle>
            <a:lvl1pPr>
              <a:defRPr>
                <a:solidFill>
                  <a:schemeClr val="tx1"/>
                </a:solidFill>
              </a:defRPr>
            </a:lvl1pPr>
          </a:lstStyle>
          <a:p>
            <a:fld id="{3CEE14AA-4C3C-5F46-A8E0-1A1FD2D53B3A}" type="datetime1">
              <a:rPr lang="en-IE" smtClean="0"/>
              <a:t>04/03/2026</a:t>
            </a:fld>
            <a:endParaRPr lang="en-US"/>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6585528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20F6418C-D565-1140-B45B-26B851A7AED1}" type="datetime1">
              <a:rPr lang="en-IE" smtClean="0"/>
              <a:t>04/03/2026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23302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Neue Haas Grotesk Text Pro"/>
              <a:ea typeface="+mn-ea"/>
              <a:cs typeface="+mn-cs"/>
            </a:endParaRPr>
          </a:p>
        </p:txBody>
      </p:sp>
      <p:sp>
        <p:nvSpPr>
          <p:cNvPr id="5" name="Rectangle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itle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anchor="t"/>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a:r>
              <a:rPr lang="en-US" dirty="0"/>
              <a:t>Click to edit Master subtitle style</a:t>
            </a:r>
          </a:p>
        </p:txBody>
      </p:sp>
      <p:sp>
        <p:nvSpPr>
          <p:cNvPr id="7" name="Date Placeholder 6">
            <a:extLst>
              <a:ext uri="{FF2B5EF4-FFF2-40B4-BE49-F238E27FC236}">
                <a16:creationId xmlns:a16="http://schemas.microsoft.com/office/drawing/2014/main" id="{5EAFA23F-C567-5858-AF7D-C37EC8657A25}"/>
              </a:ext>
            </a:extLst>
          </p:cNvPr>
          <p:cNvSpPr>
            <a:spLocks noGrp="1"/>
          </p:cNvSpPr>
          <p:nvPr>
            <p:ph type="dt" sz="half" idx="10"/>
          </p:nvPr>
        </p:nvSpPr>
        <p:spPr/>
        <p:txBody>
          <a:bodyPr/>
          <a:lstStyle/>
          <a:p>
            <a:fld id="{610C45F5-F278-C547-BA42-CE2C95F46F68}" type="datetime1">
              <a:rPr lang="en-IE" smtClean="0"/>
              <a:t>04/03/2026</a:t>
            </a:fld>
            <a:endParaRPr lang="en-US"/>
          </a:p>
        </p:txBody>
      </p:sp>
      <p:sp>
        <p:nvSpPr>
          <p:cNvPr id="8" name="Footer Placeholder 7">
            <a:extLst>
              <a:ext uri="{FF2B5EF4-FFF2-40B4-BE49-F238E27FC236}">
                <a16:creationId xmlns:a16="http://schemas.microsoft.com/office/drawing/2014/main" id="{8EFB4A31-4D88-6836-9F3A-5E23FC9DE7F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a:lstStyle/>
          <a:p>
            <a:fld id="{5E0677F5-4A8A-4BF1-96BE-3BAE8FBAFE2E}" type="slidenum">
              <a:rPr lang="en-US" smtClean="0"/>
              <a:pPr/>
              <a:t>‹#›</a:t>
            </a:fld>
            <a:endParaRPr lang="en-US"/>
          </a:p>
        </p:txBody>
      </p:sp>
      <p:cxnSp>
        <p:nvCxnSpPr>
          <p:cNvPr id="6" name="Straight Connector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89207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dirty="0"/>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3B12CEB2-3859-6540-BFF3-7F525BE161EE}" type="datetime1">
              <a:rPr lang="en-IE" smtClean="0"/>
              <a:t>04/03/2026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15569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anchor="t"/>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a:lstStyle/>
          <a:p>
            <a:fld id="{B02E727C-8EFC-B349-BF50-A494BF542809}" type="datetime1">
              <a:rPr lang="en-IE" smtClean="0"/>
              <a:t>04/03/2026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53263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dirty="0"/>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A32CAD9A-04E6-184D-8AEC-ADB897B71B25}" type="datetime1">
              <a:rPr lang="en-IE" smtClean="0"/>
              <a:t>04/03/2026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4280861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9AAF2DF-8445-BB4C-A0E7-6860D5531A6C}" type="datetime1">
              <a:rPr lang="en-IE" smtClean="0"/>
              <a:t>04/03/2026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3875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anchor="t">
            <a:normAutofit/>
          </a:bodyPr>
          <a:lstStyle>
            <a:lvl1pPr>
              <a:lnSpc>
                <a:spcPct val="100000"/>
              </a:lnSpc>
              <a:defRPr sz="2000">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E69B8565-911B-B748-BEF4-7CA1EFE4E339}" type="datetime1">
              <a:rPr lang="en-IE" smtClean="0"/>
              <a:t>04/03/2026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9" name="Content Placeholder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8" name="Straight Connector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1160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Rectangle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itle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anchor="t"/>
          <a:lstStyle>
            <a:lvl1pPr algn="r">
              <a:lnSpc>
                <a:spcPct val="120000"/>
              </a:lnSpc>
              <a:spcBef>
                <a:spcPts val="1000"/>
              </a:spcBef>
              <a:defRPr sz="2000">
                <a:latin typeface="+mn-lt"/>
              </a:defRPr>
            </a:lvl1pPr>
          </a:lstStyle>
          <a:p>
            <a:r>
              <a:rPr lang="en-US" dirty="0"/>
              <a:t>Click to edit Master title style</a:t>
            </a:r>
          </a:p>
        </p:txBody>
      </p:sp>
      <p:sp>
        <p:nvSpPr>
          <p:cNvPr id="14" name="Date Placeholder 13">
            <a:extLst>
              <a:ext uri="{FF2B5EF4-FFF2-40B4-BE49-F238E27FC236}">
                <a16:creationId xmlns:a16="http://schemas.microsoft.com/office/drawing/2014/main" id="{459F1889-15CA-49B5-957D-AFEE32125C96}"/>
              </a:ext>
            </a:extLst>
          </p:cNvPr>
          <p:cNvSpPr>
            <a:spLocks noGrp="1"/>
          </p:cNvSpPr>
          <p:nvPr>
            <p:ph type="dt" sz="half" idx="14"/>
          </p:nvPr>
        </p:nvSpPr>
        <p:spPr/>
        <p:txBody>
          <a:bodyPr/>
          <a:lstStyle/>
          <a:p>
            <a:fld id="{080D88FB-DAE2-3B4F-B911-8DCF53020453}" type="datetime1">
              <a:rPr lang="en-IE" smtClean="0"/>
              <a:t>04/03/2026</a:t>
            </a:fld>
            <a:endParaRPr lang="en-US"/>
          </a:p>
        </p:txBody>
      </p:sp>
      <p:sp>
        <p:nvSpPr>
          <p:cNvPr id="15" name="Footer Placeholder 14">
            <a:extLst>
              <a:ext uri="{FF2B5EF4-FFF2-40B4-BE49-F238E27FC236}">
                <a16:creationId xmlns:a16="http://schemas.microsoft.com/office/drawing/2014/main" id="{08B8EC79-A8CC-7A55-D80D-9F557250E751}"/>
              </a:ext>
            </a:extLst>
          </p:cNvPr>
          <p:cNvSpPr>
            <a:spLocks noGrp="1"/>
          </p:cNvSpPr>
          <p:nvPr>
            <p:ph type="ftr" sz="quarter" idx="15"/>
          </p:nvPr>
        </p:nvSpPr>
        <p:spPr/>
        <p:txBody>
          <a:bodyPr/>
          <a:lstStyle/>
          <a:p>
            <a:r>
              <a:rPr lang="en-US"/>
              <a:t>Sample Footer Text</a:t>
            </a:r>
          </a:p>
        </p:txBody>
      </p:sp>
      <p:sp>
        <p:nvSpPr>
          <p:cNvPr id="16" name="Slide Number Placeholder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a:lstStyle/>
          <a:p>
            <a:fld id="{5E0677F5-4A8A-4BF1-96BE-3BAE8FBAFE2E}" type="slidenum">
              <a:rPr lang="en-US" smtClean="0"/>
              <a:pPr/>
              <a:t>‹#›</a:t>
            </a:fld>
            <a:endParaRPr lang="en-US"/>
          </a:p>
        </p:txBody>
      </p:sp>
      <p:sp>
        <p:nvSpPr>
          <p:cNvPr id="8" name="Content Placeholder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anchor="t"/>
          <a:lstStyle>
            <a:lvl1pPr>
              <a:lnSpc>
                <a:spcPct val="85000"/>
              </a:lnSpc>
              <a:defRPr sz="24400">
                <a:solidFill>
                  <a:schemeClr val="tx1"/>
                </a:solidFill>
                <a:latin typeface="+mj-lt"/>
              </a:defRPr>
            </a:lvl1pPr>
          </a:lstStyle>
          <a:p>
            <a:pPr lvl="0"/>
            <a:r>
              <a:rPr lang="en-US" dirty="0"/>
              <a:t>##%</a:t>
            </a:r>
          </a:p>
        </p:txBody>
      </p:sp>
    </p:spTree>
    <p:extLst>
      <p:ext uri="{BB962C8B-B14F-4D97-AF65-F5344CB8AC3E}">
        <p14:creationId xmlns:p14="http://schemas.microsoft.com/office/powerpoint/2010/main" val="18409913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itle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anchor="ctr"/>
          <a:lstStyle>
            <a:lvl1pPr algn="ctr">
              <a:lnSpc>
                <a:spcPct val="120000"/>
              </a:lnSpc>
              <a:spcBef>
                <a:spcPts val="1000"/>
              </a:spcBef>
              <a:defRPr sz="2000">
                <a:latin typeface="+mn-lt"/>
              </a:defRPr>
            </a:lvl1pPr>
          </a:lstStyle>
          <a:p>
            <a:r>
              <a:rPr lang="en-US" dirty="0"/>
              <a:t>Click to edit Master title style</a:t>
            </a:r>
          </a:p>
        </p:txBody>
      </p:sp>
      <p:sp>
        <p:nvSpPr>
          <p:cNvPr id="6" name="Content Placeholder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anchor="b"/>
          <a:lstStyle>
            <a:lvl1pPr algn="ctr">
              <a:lnSpc>
                <a:spcPct val="85000"/>
              </a:lnSpc>
              <a:defRPr sz="25500">
                <a:solidFill>
                  <a:schemeClr val="tx1"/>
                </a:solidFill>
                <a:latin typeface="+mj-lt"/>
              </a:defRPr>
            </a:lvl1pPr>
          </a:lstStyle>
          <a:p>
            <a:pPr lvl="0"/>
            <a:r>
              <a:rPr lang="en-US" dirty="0"/>
              <a:t>##%</a:t>
            </a:r>
          </a:p>
        </p:txBody>
      </p:sp>
      <p:cxnSp>
        <p:nvCxnSpPr>
          <p:cNvPr id="14" name="Straight Connector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a:lstStyle/>
          <a:p>
            <a:fld id="{AB9016A3-EA54-2040-AD8F-20D72CE49BCA}" type="datetime1">
              <a:rPr lang="en-IE" smtClean="0"/>
              <a:t>04/03/2026</a:t>
            </a:fld>
            <a:endParaRPr lang="en-US"/>
          </a:p>
        </p:txBody>
      </p:sp>
      <p:sp>
        <p:nvSpPr>
          <p:cNvPr id="16" name="Footer Placeholder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a:lstStyle/>
          <a:p>
            <a:r>
              <a:rPr lang="en-US"/>
              <a:t>Sample Footer Text</a:t>
            </a:r>
          </a:p>
        </p:txBody>
      </p:sp>
      <p:sp>
        <p:nvSpPr>
          <p:cNvPr id="17" name="Slide Number Placeholder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a:lstStyle/>
          <a:p>
            <a:fld id="{5E0677F5-4A8A-4BF1-96BE-3BAE8FBAFE2E}" type="slidenum">
              <a:rPr lang="en-US" smtClean="0"/>
              <a:pPr/>
              <a:t>‹#›</a:t>
            </a:fld>
            <a:endParaRPr lang="en-US"/>
          </a:p>
        </p:txBody>
      </p:sp>
    </p:spTree>
    <p:extLst>
      <p:ext uri="{BB962C8B-B14F-4D97-AF65-F5344CB8AC3E}">
        <p14:creationId xmlns:p14="http://schemas.microsoft.com/office/powerpoint/2010/main" val="23676798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663CDA4B-8776-7944-B669-8EE08F30A767}" type="datetime1">
              <a:rPr lang="en-IE" smtClean="0"/>
              <a:t>04/03/2026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549426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2BDFDC0E-6DA1-5246-A713-93F6F50CC40D}" type="datetime1">
              <a:rPr lang="en-IE" smtClean="0"/>
              <a:t>04/03/2026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a:t>
            </a:fld>
            <a:endParaRPr lang="en-US"/>
          </a:p>
        </p:txBody>
      </p:sp>
      <p:sp>
        <p:nvSpPr>
          <p:cNvPr id="3" name="Rectangle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Content Placeholder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2671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9B8281CD-C100-044B-AE8F-AE22C9DA7D04}" type="datetime1">
              <a:rPr lang="en-IE" smtClean="0"/>
              <a:t>04/03/2026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93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8FCBC516-C49E-B84E-94C8-9DB1B7D7D2B5}" type="datetime1">
              <a:rPr lang="en-IE" smtClean="0"/>
              <a:t>04/03/2026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528553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3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0981" y="5936189"/>
            <a:ext cx="2743200" cy="365125"/>
          </a:xfrm>
          <a:prstGeom prst="rect">
            <a:avLst/>
          </a:prstGeom>
        </p:spPr>
        <p:txBody>
          <a:bodyPr vert="horz" lIns="91440" tIns="45720" rIns="91440" bIns="45720" rtlCol="0" anchor="ctr"/>
          <a:lstStyle>
            <a:lvl1pPr algn="r">
              <a:defRPr sz="788">
                <a:solidFill>
                  <a:schemeClr val="tx1">
                    <a:tint val="75000"/>
                  </a:schemeClr>
                </a:solidFill>
              </a:defRPr>
            </a:lvl1pPr>
          </a:lstStyle>
          <a:p>
            <a:fld id="{30005241-A7B0-E046-8774-81F2F42FEE39}" type="datetime1">
              <a:rPr lang="en-IE" smtClean="0"/>
              <a:t>04/03/2026</a:t>
            </a:fld>
            <a:endParaRPr lang="en-US" dirty="0"/>
          </a:p>
        </p:txBody>
      </p:sp>
      <p:sp>
        <p:nvSpPr>
          <p:cNvPr id="5" name="Footer Placeholder 4"/>
          <p:cNvSpPr>
            <a:spLocks noGrp="1"/>
          </p:cNvSpPr>
          <p:nvPr>
            <p:ph type="ftr" sz="quarter" idx="3"/>
          </p:nvPr>
        </p:nvSpPr>
        <p:spPr>
          <a:xfrm>
            <a:off x="680322" y="5936190"/>
            <a:ext cx="6870660" cy="365125"/>
          </a:xfrm>
          <a:prstGeom prst="rect">
            <a:avLst/>
          </a:prstGeom>
        </p:spPr>
        <p:txBody>
          <a:bodyPr vert="horz" lIns="91440" tIns="45720" rIns="91440" bIns="45720" rtlCol="0" anchor="ctr"/>
          <a:lstStyle>
            <a:lvl1pPr algn="l">
              <a:defRPr sz="788">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10729457" y="753228"/>
            <a:ext cx="1154151" cy="1090789"/>
          </a:xfrm>
          <a:prstGeom prst="rect">
            <a:avLst/>
          </a:prstGeom>
        </p:spPr>
        <p:txBody>
          <a:bodyPr vert="horz" lIns="91440" tIns="45720" rIns="91440" bIns="45720" rtlCol="0" anchor="ctr"/>
          <a:lstStyle>
            <a:lvl1pPr algn="l">
              <a:defRPr sz="2700">
                <a:solidFill>
                  <a:schemeClr val="tx1">
                    <a:tint val="75000"/>
                  </a:schemeClr>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961562812"/>
      </p:ext>
    </p:extLst>
  </p:cSld>
  <p:clrMap bg1="dk1" tx1="lt1" bg2="dk2" tx2="lt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 id="2147483935" r:id="rId12"/>
    <p:sldLayoutId id="2147483936" r:id="rId13"/>
    <p:sldLayoutId id="2147483937" r:id="rId14"/>
    <p:sldLayoutId id="2147483938" r:id="rId15"/>
    <p:sldLayoutId id="2147483939" r:id="rId16"/>
    <p:sldLayoutId id="2147483940" r:id="rId17"/>
    <p:sldLayoutId id="2147483954" r:id="rId18"/>
    <p:sldLayoutId id="2147483814" r:id="rId19"/>
    <p:sldLayoutId id="2147483816" r:id="rId20"/>
    <p:sldLayoutId id="2147483817" r:id="rId21"/>
    <p:sldLayoutId id="2147483819" r:id="rId22"/>
    <p:sldLayoutId id="2147483820" r:id="rId23"/>
    <p:sldLayoutId id="2147483821" r:id="rId24"/>
    <p:sldLayoutId id="2147483822" r:id="rId25"/>
    <p:sldLayoutId id="2147483823" r:id="rId26"/>
    <p:sldLayoutId id="2147483827" r:id="rId27"/>
    <p:sldLayoutId id="2147483828" r:id="rId28"/>
    <p:sldLayoutId id="2147483829" r:id="rId29"/>
    <p:sldLayoutId id="2147483862" r:id="rId30"/>
    <p:sldLayoutId id="2147483863" r:id="rId31"/>
    <p:sldLayoutId id="2147483864" r:id="rId32"/>
    <p:sldLayoutId id="2147483865" r:id="rId33"/>
    <p:sldLayoutId id="2147483866" r:id="rId34"/>
    <p:sldLayoutId id="2147483870" r:id="rId35"/>
    <p:sldLayoutId id="2147483877" r:id="rId36"/>
    <p:sldLayoutId id="2147483878" r:id="rId37"/>
  </p:sldLayoutIdLst>
  <p:hf hdr="0"/>
  <p:txStyles>
    <p:titleStyle>
      <a:lvl1pPr algn="l" defTabSz="685800" rtl="0" eaLnBrk="1" latinLnBrk="0" hangingPunct="1">
        <a:lnSpc>
          <a:spcPct val="90000"/>
        </a:lnSpc>
        <a:spcBef>
          <a:spcPct val="0"/>
        </a:spcBef>
        <a:buNone/>
        <a:defRPr sz="27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8" userDrawn="1">
          <p15:clr>
            <a:srgbClr val="F26B43"/>
          </p15:clr>
        </p15:guide>
        <p15:guide id="2" orient="horz" pos="2160" userDrawn="1">
          <p15:clr>
            <a:srgbClr val="F26B43"/>
          </p15:clr>
        </p15:guide>
        <p15:guide id="3" pos="4800" userDrawn="1">
          <p15:clr>
            <a:srgbClr val="F26B43"/>
          </p15:clr>
        </p15:guide>
        <p15:guide id="4" orient="horz" pos="480" userDrawn="1">
          <p15:clr>
            <a:srgbClr val="F26B43"/>
          </p15:clr>
        </p15:guide>
        <p15:guide id="5" orient="horz" pos="864" userDrawn="1">
          <p15:clr>
            <a:srgbClr val="F26B43"/>
          </p15:clr>
        </p15:guide>
        <p15:guide id="6" pos="7392" userDrawn="1">
          <p15:clr>
            <a:srgbClr val="F26B43"/>
          </p15:clr>
        </p15:guide>
        <p15:guide id="7" orient="horz" pos="3840" userDrawn="1">
          <p15:clr>
            <a:srgbClr val="F26B43"/>
          </p15:clr>
        </p15:guide>
        <p15:guide id="8" pos="240" userDrawn="1">
          <p15:clr>
            <a:srgbClr val="F26B43"/>
          </p15:clr>
        </p15:guide>
        <p15:guide id="9" pos="74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themeOverride" Target="../theme/themeOverride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C3E6C53-102E-4ACA-BCBB-3CC973B9948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Picture 10">
            <a:extLst>
              <a:ext uri="{FF2B5EF4-FFF2-40B4-BE49-F238E27FC236}">
                <a16:creationId xmlns:a16="http://schemas.microsoft.com/office/drawing/2014/main" id="{17B2B42C-0777-4D6E-9432-535281803A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13" name="Picture 12">
            <a:extLst>
              <a:ext uri="{FF2B5EF4-FFF2-40B4-BE49-F238E27FC236}">
                <a16:creationId xmlns:a16="http://schemas.microsoft.com/office/drawing/2014/main" id="{EFEAAB60-93E2-4DC6-99AC-939637BCE86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15" name="Rectangle 14">
            <a:extLst>
              <a:ext uri="{FF2B5EF4-FFF2-40B4-BE49-F238E27FC236}">
                <a16:creationId xmlns:a16="http://schemas.microsoft.com/office/drawing/2014/main" id="{7EF5ECB8-D49C-48FB-A93E-88EB2FFDFD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411B77A2-BD5C-432D-B52E-C12612C74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9" name="Rectangle 18">
            <a:extLst>
              <a:ext uri="{FF2B5EF4-FFF2-40B4-BE49-F238E27FC236}">
                <a16:creationId xmlns:a16="http://schemas.microsoft.com/office/drawing/2014/main" id="{B5C18694-F55B-41C0-ABF3-C1D971F99A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E3E46CA8-7278-4BA3-AACE-235B5B3B53E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itle 2">
            <a:extLst>
              <a:ext uri="{FF2B5EF4-FFF2-40B4-BE49-F238E27FC236}">
                <a16:creationId xmlns:a16="http://schemas.microsoft.com/office/drawing/2014/main" id="{65D3562B-8C29-0508-6053-9C0E5DF4B70A}"/>
              </a:ext>
            </a:extLst>
          </p:cNvPr>
          <p:cNvSpPr>
            <a:spLocks noGrp="1"/>
          </p:cNvSpPr>
          <p:nvPr>
            <p:ph type="title"/>
          </p:nvPr>
        </p:nvSpPr>
        <p:spPr>
          <a:xfrm>
            <a:off x="643467" y="643467"/>
            <a:ext cx="10905066" cy="3251878"/>
          </a:xfrm>
          <a:effectLst>
            <a:outerShdw blurRad="88900" dist="38100" dir="2700000" algn="tl" rotWithShape="0">
              <a:prstClr val="black">
                <a:alpha val="30000"/>
              </a:prstClr>
            </a:outerShdw>
          </a:effectLst>
        </p:spPr>
        <p:txBody>
          <a:bodyPr vert="horz" lIns="91440" tIns="45720" rIns="91440" bIns="45720" rtlCol="0" anchor="b">
            <a:normAutofit/>
          </a:bodyPr>
          <a:lstStyle/>
          <a:p>
            <a:pPr algn="ctr" defTabSz="914400"/>
            <a:r>
              <a:rPr lang="en-US" sz="7200"/>
              <a:t>XML Structure Overview</a:t>
            </a:r>
          </a:p>
        </p:txBody>
      </p:sp>
      <p:sp>
        <p:nvSpPr>
          <p:cNvPr id="4" name="Subtitle 3">
            <a:extLst>
              <a:ext uri="{FF2B5EF4-FFF2-40B4-BE49-F238E27FC236}">
                <a16:creationId xmlns:a16="http://schemas.microsoft.com/office/drawing/2014/main" id="{E83E2EE7-B261-5799-69AE-F8798384242B}"/>
              </a:ext>
            </a:extLst>
          </p:cNvPr>
          <p:cNvSpPr>
            <a:spLocks noGrp="1"/>
          </p:cNvSpPr>
          <p:nvPr>
            <p:ph type="subTitle" idx="1"/>
          </p:nvPr>
        </p:nvSpPr>
        <p:spPr>
          <a:xfrm>
            <a:off x="2023933" y="4233672"/>
            <a:ext cx="8144134" cy="1145829"/>
          </a:xfrm>
          <a:effectLst>
            <a:outerShdw blurRad="88900" dist="38100" dir="2700000" algn="tl" rotWithShape="0">
              <a:prstClr val="black">
                <a:alpha val="30000"/>
              </a:prstClr>
            </a:outerShdw>
          </a:effectLst>
        </p:spPr>
        <p:txBody>
          <a:bodyPr vert="horz" lIns="91440" tIns="45720" rIns="91440" bIns="45720" rtlCol="0">
            <a:normAutofit/>
          </a:bodyPr>
          <a:lstStyle/>
          <a:p>
            <a:pPr algn="ctr" defTabSz="914400">
              <a:spcBef>
                <a:spcPts val="1000"/>
              </a:spcBef>
            </a:pPr>
            <a:r>
              <a:rPr lang="en-US"/>
              <a:t>Understanding the fundamentals of XML formatting</a:t>
            </a:r>
          </a:p>
        </p:txBody>
      </p:sp>
    </p:spTree>
    <p:extLst>
      <p:ext uri="{BB962C8B-B14F-4D97-AF65-F5344CB8AC3E}">
        <p14:creationId xmlns:p14="http://schemas.microsoft.com/office/powerpoint/2010/main" val="334056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BB1B4-689D-59C7-832B-B1760A04A100}"/>
              </a:ext>
            </a:extLst>
          </p:cNvPr>
          <p:cNvSpPr>
            <a:spLocks noGrp="1"/>
          </p:cNvSpPr>
          <p:nvPr>
            <p:ph type="title"/>
          </p:nvPr>
        </p:nvSpPr>
        <p:spPr/>
        <p:txBody>
          <a:bodyPr anchor="b">
            <a:normAutofit/>
          </a:bodyPr>
          <a:lstStyle/>
          <a:p>
            <a:r>
              <a:rPr lang="en-US"/>
              <a:t>XML Overview</a:t>
            </a:r>
          </a:p>
        </p:txBody>
      </p:sp>
      <p:sp>
        <p:nvSpPr>
          <p:cNvPr id="7" name="Content Placeholder 6">
            <a:extLst>
              <a:ext uri="{FF2B5EF4-FFF2-40B4-BE49-F238E27FC236}">
                <a16:creationId xmlns:a16="http://schemas.microsoft.com/office/drawing/2014/main" id="{4B8A858D-8BFF-14D1-46EB-F6D94471E93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XML Structure and Syntax</a:t>
            </a:r>
          </a:p>
          <a:p>
            <a:pPr marL="0" lvl="1" indent="0">
              <a:buFont typeface="Arial" panose="020B0604020202020204" pitchFamily="34" charset="0"/>
              <a:buNone/>
            </a:pPr>
            <a:r>
              <a:t>XML uses custom tags and nested elements to represent hierarchical data in a flexible, human-readable format.</a:t>
            </a:r>
            <a:endParaRPr lang="en-US"/>
          </a:p>
          <a:p>
            <a:pPr marL="0" indent="0">
              <a:spcBef>
                <a:spcPts val="2500"/>
              </a:spcBef>
              <a:buFont typeface="Arial" panose="020B0604020202020204" pitchFamily="34" charset="0"/>
              <a:buNone/>
            </a:pPr>
            <a:r>
              <a:rPr lang="en-US" b="1"/>
              <a:t>Key Features of XML</a:t>
            </a:r>
          </a:p>
          <a:p>
            <a:pPr marL="0" lvl="1" indent="0">
              <a:buFont typeface="Arial" panose="020B0604020202020204" pitchFamily="34" charset="0"/>
              <a:buNone/>
            </a:pPr>
            <a:r>
              <a:t>XML is platform-agnostic, self-describing, supports comments, and enforces strict well-formedness rules.</a:t>
            </a:r>
            <a:endParaRPr lang="en-US"/>
          </a:p>
          <a:p>
            <a:pPr marL="0" indent="0">
              <a:spcBef>
                <a:spcPts val="2500"/>
              </a:spcBef>
              <a:buFont typeface="Arial" panose="020B0604020202020204" pitchFamily="34" charset="0"/>
              <a:buNone/>
            </a:pPr>
            <a:r>
              <a:rPr lang="en-US" b="1"/>
              <a:t>Applications of XML</a:t>
            </a:r>
          </a:p>
          <a:p>
            <a:pPr marL="0" lvl="1" indent="0">
              <a:buFont typeface="Arial" panose="020B0604020202020204" pitchFamily="34" charset="0"/>
              <a:buNone/>
            </a:pPr>
            <a:r>
              <a:t>XML is widely used in configuration files, document formats, and data interchange standards like SOAP.</a:t>
            </a:r>
            <a:endParaRPr lang="en-US"/>
          </a:p>
          <a:p>
            <a:pPr marL="0" indent="0">
              <a:spcBef>
                <a:spcPts val="2500"/>
              </a:spcBef>
              <a:buFont typeface="Arial" panose="020B0604020202020204" pitchFamily="34" charset="0"/>
              <a:buNone/>
            </a:pPr>
            <a:r>
              <a:rPr lang="en-US" b="1"/>
              <a:t>Understanding XML as a Tree</a:t>
            </a:r>
          </a:p>
          <a:p>
            <a:pPr marL="0" lvl="1" indent="0">
              <a:buFont typeface="Arial" panose="020B0604020202020204" pitchFamily="34" charset="0"/>
              <a:buNone/>
            </a:pPr>
            <a:r>
              <a:t>Visualizing XML as a recursive tree structure helps beginners grasp parsing, navigation, and transformation concepts.</a:t>
            </a:r>
            <a:endParaRPr lang="en-US"/>
          </a:p>
        </p:txBody>
      </p:sp>
      <p:sp>
        <p:nvSpPr>
          <p:cNvPr id="3" name="Date Placeholder 2">
            <a:extLst>
              <a:ext uri="{FF2B5EF4-FFF2-40B4-BE49-F238E27FC236}">
                <a16:creationId xmlns:a16="http://schemas.microsoft.com/office/drawing/2014/main" id="{49EE1C05-64A7-395D-4BCB-0DDA1795B1EB}"/>
              </a:ext>
            </a:extLst>
          </p:cNvPr>
          <p:cNvSpPr>
            <a:spLocks noGrp="1"/>
          </p:cNvSpPr>
          <p:nvPr>
            <p:ph type="dt" sz="half" idx="10"/>
          </p:nvPr>
        </p:nvSpPr>
        <p:spPr/>
        <p:txBody>
          <a:bodyPr anchor="ctr">
            <a:normAutofit/>
          </a:bodyPr>
          <a:lstStyle/>
          <a:p>
            <a:pPr>
              <a:spcAft>
                <a:spcPts val="600"/>
              </a:spcAft>
            </a:pPr>
            <a:fld id="{9444E7A3-E4C9-5B46-8DD3-21C9C6FA77E4}" type="datetime1">
              <a:rPr lang="en-IE" smtClean="0"/>
              <a:t>04/03/2026</a:t>
            </a:fld>
            <a:endParaRPr lang="en-US"/>
          </a:p>
        </p:txBody>
      </p:sp>
      <p:sp>
        <p:nvSpPr>
          <p:cNvPr id="4" name="Footer Placeholder 3">
            <a:extLst>
              <a:ext uri="{FF2B5EF4-FFF2-40B4-BE49-F238E27FC236}">
                <a16:creationId xmlns:a16="http://schemas.microsoft.com/office/drawing/2014/main" id="{04AC36B2-E57C-0777-99EA-A92A54680645}"/>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DC01E076-33B3-BFCD-8FE2-9EC5AE9094C3}"/>
              </a:ext>
            </a:extLst>
          </p:cNvPr>
          <p:cNvSpPr>
            <a:spLocks noGrp="1"/>
          </p:cNvSpPr>
          <p:nvPr>
            <p:ph type="sldNum" sz="quarter" idx="12"/>
          </p:nvPr>
        </p:nvSpPr>
        <p:spPr/>
        <p:txBody>
          <a:bodyPr anchor="ctr">
            <a:normAutofit/>
          </a:bodyPr>
          <a:lstStyle/>
          <a:p>
            <a:pPr>
              <a:spcAft>
                <a:spcPts val="600"/>
              </a:spcAft>
            </a:pPr>
            <a:fld id="{5E0677F5-4A8A-4BF1-96BE-3BAE8FBAFE2E}" type="slidenum">
              <a:rPr lang="en-US" smtClean="0"/>
              <a:pPr>
                <a:spcAft>
                  <a:spcPts val="600"/>
                </a:spcAft>
              </a:pPr>
              <a:t>2</a:t>
            </a:fld>
            <a:endParaRPr lang="en-US"/>
          </a:p>
        </p:txBody>
      </p:sp>
    </p:spTree>
    <p:extLst>
      <p:ext uri="{BB962C8B-B14F-4D97-AF65-F5344CB8AC3E}">
        <p14:creationId xmlns:p14="http://schemas.microsoft.com/office/powerpoint/2010/main" val="3809602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D252EB36-EB2C-4AFE-B09B-0DF8AC871E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35" name="Rectangle 34">
              <a:extLst>
                <a:ext uri="{FF2B5EF4-FFF2-40B4-BE49-F238E27FC236}">
                  <a16:creationId xmlns:a16="http://schemas.microsoft.com/office/drawing/2014/main" id="{7CE68524-856D-453B-9349-8E8CBC8BFC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899688E6-8880-4976-A59B-AB148C7C998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pic>
        <p:nvPicPr>
          <p:cNvPr id="9" name="Picture 8" descr="A diagram of a book&#10;&#10;AI-generated content may be incorrect.">
            <a:extLst>
              <a:ext uri="{FF2B5EF4-FFF2-40B4-BE49-F238E27FC236}">
                <a16:creationId xmlns:a16="http://schemas.microsoft.com/office/drawing/2014/main" id="{18435FE9-78B7-575D-FDFE-CE79085BA256}"/>
              </a:ext>
            </a:extLst>
          </p:cNvPr>
          <p:cNvPicPr>
            <a:picLocks noChangeAspect="1"/>
          </p:cNvPicPr>
          <p:nvPr/>
        </p:nvPicPr>
        <p:blipFill>
          <a:blip r:embed="rId4">
            <a:extLst>
              <a:ext uri="{28A0092B-C50C-407E-A947-70E740481C1C}">
                <a14:useLocalDpi xmlns:a14="http://schemas.microsoft.com/office/drawing/2010/main" val="0"/>
              </a:ext>
            </a:extLst>
          </a:blip>
          <a:srcRect l="14856" r="11613"/>
          <a:stretch>
            <a:fillRect/>
          </a:stretch>
        </p:blipFill>
        <p:spPr>
          <a:xfrm>
            <a:off x="5709522" y="1690"/>
            <a:ext cx="6882963" cy="6856310"/>
          </a:xfrm>
          <a:prstGeom prst="rect">
            <a:avLst/>
          </a:prstGeom>
          <a:ln>
            <a:noFill/>
          </a:ln>
          <a:effectLst/>
        </p:spPr>
      </p:pic>
      <p:sp>
        <p:nvSpPr>
          <p:cNvPr id="38" name="Rectangle 37">
            <a:extLst>
              <a:ext uri="{FF2B5EF4-FFF2-40B4-BE49-F238E27FC236}">
                <a16:creationId xmlns:a16="http://schemas.microsoft.com/office/drawing/2014/main" id="{B8D0330D-F534-4131-9807-B71B9EF12B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501856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391EBB7-2EDA-4E67-584D-0412A918D46F}"/>
              </a:ext>
            </a:extLst>
          </p:cNvPr>
          <p:cNvSpPr>
            <a:spLocks noGrp="1"/>
          </p:cNvSpPr>
          <p:nvPr>
            <p:ph type="title"/>
          </p:nvPr>
        </p:nvSpPr>
        <p:spPr>
          <a:xfrm>
            <a:off x="680322" y="753228"/>
            <a:ext cx="3679028" cy="1080938"/>
          </a:xfrm>
        </p:spPr>
        <p:txBody>
          <a:bodyPr>
            <a:normAutofit/>
          </a:bodyPr>
          <a:lstStyle/>
          <a:p>
            <a:r>
              <a:rPr lang="en-US" sz="3200"/>
              <a:t>XML as a Tree</a:t>
            </a:r>
          </a:p>
        </p:txBody>
      </p:sp>
      <p:pic>
        <p:nvPicPr>
          <p:cNvPr id="40" name="Picture 39">
            <a:extLst>
              <a:ext uri="{FF2B5EF4-FFF2-40B4-BE49-F238E27FC236}">
                <a16:creationId xmlns:a16="http://schemas.microsoft.com/office/drawing/2014/main" id="{18B7ED37-7ABB-42DD-AB26-3F9028261B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2" y="1970240"/>
            <a:ext cx="5029200" cy="202738"/>
          </a:xfrm>
          <a:prstGeom prst="rect">
            <a:avLst/>
          </a:prstGeom>
        </p:spPr>
      </p:pic>
      <p:sp>
        <p:nvSpPr>
          <p:cNvPr id="7" name="Content Placeholder 6">
            <a:extLst>
              <a:ext uri="{FF2B5EF4-FFF2-40B4-BE49-F238E27FC236}">
                <a16:creationId xmlns:a16="http://schemas.microsoft.com/office/drawing/2014/main" id="{F164DB32-3879-E036-C8CD-FC77E0FACFD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0322" y="2336873"/>
            <a:ext cx="3581635" cy="3599316"/>
          </a:xfrm>
        </p:spPr>
        <p:txBody>
          <a:bodyPr>
            <a:normAutofit/>
          </a:bodyPr>
          <a:lstStyle/>
          <a:p>
            <a:pPr marL="0" indent="0">
              <a:spcBef>
                <a:spcPts val="2500"/>
              </a:spcBef>
              <a:buFont typeface="Arial" panose="020B0604020202020204" pitchFamily="34" charset="0"/>
              <a:buNone/>
            </a:pPr>
            <a:r>
              <a:rPr lang="en-US" sz="1000" b="1"/>
              <a:t>Hierarchical Structure</a:t>
            </a:r>
          </a:p>
          <a:p>
            <a:pPr marL="0" lvl="1" indent="0">
              <a:buFont typeface="Arial" panose="020B0604020202020204" pitchFamily="34" charset="0"/>
              <a:buNone/>
            </a:pPr>
            <a:r>
              <a:rPr lang="en-US" sz="1000"/>
              <a:t>XML documents start with a single root element enclosing all nested child elements, forming a hierarchical tree.</a:t>
            </a:r>
          </a:p>
          <a:p>
            <a:pPr marL="0" indent="0">
              <a:spcBef>
                <a:spcPts val="2500"/>
              </a:spcBef>
              <a:buFont typeface="Arial" panose="020B0604020202020204" pitchFamily="34" charset="0"/>
              <a:buNone/>
            </a:pPr>
            <a:r>
              <a:rPr lang="en-US" sz="1000" b="1"/>
              <a:t>Parent-Child Relationships</a:t>
            </a:r>
          </a:p>
          <a:p>
            <a:pPr marL="0" lvl="1" indent="0">
              <a:buFont typeface="Arial" panose="020B0604020202020204" pitchFamily="34" charset="0"/>
              <a:buNone/>
            </a:pPr>
            <a:r>
              <a:rPr lang="en-US" sz="1000"/>
              <a:t>Each node represents an element with attributes, text, or nested elements, emphasizing parent-child tree relationships.</a:t>
            </a:r>
          </a:p>
          <a:p>
            <a:pPr marL="0" indent="0">
              <a:spcBef>
                <a:spcPts val="2500"/>
              </a:spcBef>
              <a:buFont typeface="Arial" panose="020B0604020202020204" pitchFamily="34" charset="0"/>
              <a:buNone/>
            </a:pPr>
            <a:r>
              <a:rPr lang="en-US" sz="1000" b="1"/>
              <a:t>Parsing and Navigation</a:t>
            </a:r>
          </a:p>
          <a:p>
            <a:pPr marL="0" lvl="1" indent="0">
              <a:buFont typeface="Arial" panose="020B0604020202020204" pitchFamily="34" charset="0"/>
              <a:buNone/>
            </a:pPr>
            <a:r>
              <a:rPr lang="en-US" sz="1000"/>
              <a:t>Parsing XML involves navigating nodes, similar to recursive structures, enabling extraction and traversal operations.</a:t>
            </a:r>
          </a:p>
          <a:p>
            <a:pPr marL="0" indent="0">
              <a:spcBef>
                <a:spcPts val="2500"/>
              </a:spcBef>
              <a:buFont typeface="Arial" panose="020B0604020202020204" pitchFamily="34" charset="0"/>
              <a:buNone/>
            </a:pPr>
            <a:r>
              <a:rPr lang="en-US" sz="1000" b="1"/>
              <a:t>Tree in Memory and Transformations</a:t>
            </a:r>
          </a:p>
          <a:p>
            <a:pPr marL="0" lvl="1" indent="0">
              <a:buFont typeface="Arial" panose="020B0604020202020204" pitchFamily="34" charset="0"/>
              <a:buNone/>
            </a:pPr>
            <a:r>
              <a:rPr lang="en-US" sz="1000"/>
              <a:t>Representing XML as a tree enables structural transformations and aligns with recursive programming concepts in Haskell.</a:t>
            </a:r>
          </a:p>
        </p:txBody>
      </p:sp>
      <p:sp>
        <p:nvSpPr>
          <p:cNvPr id="3" name="Date Placeholder 2">
            <a:extLst>
              <a:ext uri="{FF2B5EF4-FFF2-40B4-BE49-F238E27FC236}">
                <a16:creationId xmlns:a16="http://schemas.microsoft.com/office/drawing/2014/main" id="{662260E7-FC77-43E2-4FA8-26E457C66210}"/>
              </a:ext>
            </a:extLst>
          </p:cNvPr>
          <p:cNvSpPr>
            <a:spLocks noGrp="1"/>
          </p:cNvSpPr>
          <p:nvPr>
            <p:ph type="dt" sz="half" idx="10"/>
          </p:nvPr>
        </p:nvSpPr>
        <p:spPr>
          <a:xfrm>
            <a:off x="7767873" y="5936188"/>
            <a:ext cx="2526308" cy="365125"/>
          </a:xfrm>
        </p:spPr>
        <p:txBody>
          <a:bodyPr>
            <a:normAutofit/>
          </a:bodyPr>
          <a:lstStyle/>
          <a:p>
            <a:pPr>
              <a:spcAft>
                <a:spcPts val="600"/>
              </a:spcAft>
            </a:pPr>
            <a:fld id="{22700E30-E7DC-2A4C-A520-464553389370}" type="datetime1">
              <a:rPr lang="en-IE" sz="1050">
                <a:solidFill>
                  <a:prstClr val="white">
                    <a:tint val="75000"/>
                  </a:prstClr>
                </a:solidFill>
              </a:rPr>
              <a:pPr>
                <a:spcAft>
                  <a:spcPts val="600"/>
                </a:spcAft>
              </a:pPr>
              <a:t>04/03/2026</a:t>
            </a:fld>
            <a:endParaRPr lang="en-US" sz="1050">
              <a:solidFill>
                <a:prstClr val="white">
                  <a:tint val="75000"/>
                </a:prstClr>
              </a:solidFill>
            </a:endParaRPr>
          </a:p>
        </p:txBody>
      </p:sp>
      <p:sp>
        <p:nvSpPr>
          <p:cNvPr id="5" name="Slide Number Placeholder 4">
            <a:extLst>
              <a:ext uri="{FF2B5EF4-FFF2-40B4-BE49-F238E27FC236}">
                <a16:creationId xmlns:a16="http://schemas.microsoft.com/office/drawing/2014/main" id="{07E83106-5910-73F4-C75C-82DB38462D53}"/>
              </a:ext>
            </a:extLst>
          </p:cNvPr>
          <p:cNvSpPr>
            <a:spLocks noGrp="1"/>
          </p:cNvSpPr>
          <p:nvPr>
            <p:ph type="sldNum" sz="quarter" idx="12"/>
          </p:nvPr>
        </p:nvSpPr>
        <p:spPr>
          <a:xfrm>
            <a:off x="10900372" y="5936189"/>
            <a:ext cx="914400" cy="365122"/>
          </a:xfrm>
        </p:spPr>
        <p:txBody>
          <a:bodyPr>
            <a:normAutofit/>
          </a:bodyPr>
          <a:lstStyle/>
          <a:p>
            <a:pPr>
              <a:spcAft>
                <a:spcPts val="600"/>
              </a:spcAft>
            </a:pPr>
            <a:fld id="{5E0677F5-4A8A-4BF1-96BE-3BAE8FBAFE2E}" type="slidenum">
              <a:rPr lang="en-US" sz="1050">
                <a:solidFill>
                  <a:prstClr val="white">
                    <a:tint val="75000"/>
                  </a:prstClr>
                </a:solidFill>
              </a:rPr>
              <a:pPr>
                <a:spcAft>
                  <a:spcPts val="600"/>
                </a:spcAft>
              </a:pPr>
              <a:t>3</a:t>
            </a:fld>
            <a:endParaRPr lang="en-US" sz="1050">
              <a:solidFill>
                <a:prstClr val="white">
                  <a:tint val="75000"/>
                </a:prstClr>
              </a:solidFill>
            </a:endParaRPr>
          </a:p>
        </p:txBody>
      </p:sp>
    </p:spTree>
    <p:extLst>
      <p:ext uri="{BB962C8B-B14F-4D97-AF65-F5344CB8AC3E}">
        <p14:creationId xmlns:p14="http://schemas.microsoft.com/office/powerpoint/2010/main" val="3430778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F6BCB397-4790-4766-82B8-F6ED3BAAB0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76" y="0"/>
            <a:ext cx="12192000" cy="6858001"/>
            <a:chOff x="-3176" y="0"/>
            <a:chExt cx="12192000" cy="6858001"/>
          </a:xfrm>
        </p:grpSpPr>
        <p:sp useBgFill="1">
          <p:nvSpPr>
            <p:cNvPr id="14" name="Rectangle 13">
              <a:extLst>
                <a:ext uri="{FF2B5EF4-FFF2-40B4-BE49-F238E27FC236}">
                  <a16:creationId xmlns:a16="http://schemas.microsoft.com/office/drawing/2014/main" id="{BDB66795-F5BA-4B6C-951C-11DBE9D24A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8882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12C790B8-181F-443B-9B01-D67B4B94ABA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3176" y="0"/>
              <a:ext cx="12192000" cy="6858000"/>
            </a:xfrm>
            <a:prstGeom prst="rect">
              <a:avLst/>
            </a:prstGeom>
          </p:spPr>
        </p:pic>
      </p:grpSp>
      <p:sp>
        <p:nvSpPr>
          <p:cNvPr id="17" name="Rectangle 16">
            <a:extLst>
              <a:ext uri="{FF2B5EF4-FFF2-40B4-BE49-F238E27FC236}">
                <a16:creationId xmlns:a16="http://schemas.microsoft.com/office/drawing/2014/main" id="{0917D5C4-7346-4128-A893-88F9031A3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2" y="609600"/>
            <a:ext cx="796704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D2474B0-67BC-6B74-D68A-9C516137AB17}"/>
              </a:ext>
            </a:extLst>
          </p:cNvPr>
          <p:cNvSpPr>
            <a:spLocks noGrp="1"/>
          </p:cNvSpPr>
          <p:nvPr>
            <p:ph type="title"/>
          </p:nvPr>
        </p:nvSpPr>
        <p:spPr>
          <a:xfrm>
            <a:off x="680321" y="753228"/>
            <a:ext cx="7087552" cy="1080938"/>
          </a:xfrm>
        </p:spPr>
        <p:txBody>
          <a:bodyPr>
            <a:normAutofit/>
          </a:bodyPr>
          <a:lstStyle/>
          <a:p>
            <a:r>
              <a:rPr lang="en-US"/>
              <a:t>Elements (Tags)</a:t>
            </a:r>
          </a:p>
        </p:txBody>
      </p:sp>
      <p:pic>
        <p:nvPicPr>
          <p:cNvPr id="19" name="Picture 18">
            <a:extLst>
              <a:ext uri="{FF2B5EF4-FFF2-40B4-BE49-F238E27FC236}">
                <a16:creationId xmlns:a16="http://schemas.microsoft.com/office/drawing/2014/main" id="{4EC06EAC-4D4E-4BEC-A580-543F5E0EDE9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2" y="1970240"/>
            <a:ext cx="7967048" cy="321164"/>
          </a:xfrm>
          <a:prstGeom prst="rect">
            <a:avLst/>
          </a:prstGeom>
        </p:spPr>
      </p:pic>
      <p:sp>
        <p:nvSpPr>
          <p:cNvPr id="7" name="Content Placeholder 6">
            <a:extLst>
              <a:ext uri="{FF2B5EF4-FFF2-40B4-BE49-F238E27FC236}">
                <a16:creationId xmlns:a16="http://schemas.microsoft.com/office/drawing/2014/main" id="{EDA828FF-1B40-AF74-9C8B-0EB940E05BF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0321" y="2336873"/>
            <a:ext cx="6423211" cy="3599316"/>
          </a:xfrm>
        </p:spPr>
        <p:txBody>
          <a:bodyPr>
            <a:normAutofit/>
          </a:bodyPr>
          <a:lstStyle/>
          <a:p>
            <a:pPr marL="0" indent="0">
              <a:spcBef>
                <a:spcPts val="2500"/>
              </a:spcBef>
              <a:buFont typeface="Arial" panose="020B0604020202020204" pitchFamily="34" charset="0"/>
              <a:buNone/>
            </a:pPr>
            <a:r>
              <a:rPr lang="en-US" sz="1400" b="1"/>
              <a:t>Fundamental XML Structure</a:t>
            </a:r>
          </a:p>
          <a:p>
            <a:pPr marL="0" lvl="1" indent="0">
              <a:buFont typeface="Arial" panose="020B0604020202020204" pitchFamily="34" charset="0"/>
              <a:buNone/>
            </a:pPr>
            <a:r>
              <a:rPr lang="en-US" sz="1400"/>
              <a:t>Elements are the basic building blocks of XML, defined by opening and closing tags enclosing text or nested elements.</a:t>
            </a:r>
          </a:p>
          <a:p>
            <a:pPr marL="0" indent="0">
              <a:spcBef>
                <a:spcPts val="2500"/>
              </a:spcBef>
              <a:buFont typeface="Arial" panose="020B0604020202020204" pitchFamily="34" charset="0"/>
              <a:buNone/>
            </a:pPr>
            <a:r>
              <a:rPr lang="en-US" sz="1400" b="1"/>
              <a:t>Self-closing Elements</a:t>
            </a:r>
          </a:p>
          <a:p>
            <a:pPr marL="0" lvl="1" indent="0">
              <a:buFont typeface="Arial" panose="020B0604020202020204" pitchFamily="34" charset="0"/>
              <a:buNone/>
            </a:pPr>
            <a:r>
              <a:rPr lang="en-US" sz="1400"/>
              <a:t>Some elements contain no child content and use a concise self-closing tag format for brevity and clarity.</a:t>
            </a:r>
          </a:p>
          <a:p>
            <a:pPr marL="0" indent="0">
              <a:spcBef>
                <a:spcPts val="2500"/>
              </a:spcBef>
              <a:buFont typeface="Arial" panose="020B0604020202020204" pitchFamily="34" charset="0"/>
              <a:buNone/>
            </a:pPr>
            <a:r>
              <a:rPr lang="en-US" sz="1400" b="1"/>
              <a:t>Element Naming Rules</a:t>
            </a:r>
          </a:p>
          <a:p>
            <a:pPr marL="0" lvl="1" indent="0">
              <a:buFont typeface="Arial" panose="020B0604020202020204" pitchFamily="34" charset="0"/>
              <a:buNone/>
            </a:pPr>
            <a:r>
              <a:rPr lang="en-US" sz="1400"/>
              <a:t>Element names are case-sensitive and must follow rules allowing letters, digits, and certain symbols but not start with digits or spaces.</a:t>
            </a:r>
          </a:p>
          <a:p>
            <a:pPr marL="0" indent="0">
              <a:spcBef>
                <a:spcPts val="2500"/>
              </a:spcBef>
              <a:buFont typeface="Arial" panose="020B0604020202020204" pitchFamily="34" charset="0"/>
              <a:buNone/>
            </a:pPr>
            <a:r>
              <a:rPr lang="en-US" sz="1400" b="1"/>
              <a:t>Extensibility and Semantics</a:t>
            </a:r>
          </a:p>
          <a:p>
            <a:pPr marL="0" lvl="1" indent="0">
              <a:buFont typeface="Arial" panose="020B0604020202020204" pitchFamily="34" charset="0"/>
              <a:buNone/>
            </a:pPr>
            <a:r>
              <a:rPr lang="en-US" sz="1400"/>
              <a:t>XML elements have flexible semantics defined by application domains, supporting schema-driven extensibility and interoperability.</a:t>
            </a:r>
          </a:p>
        </p:txBody>
      </p:sp>
      <p:sp>
        <p:nvSpPr>
          <p:cNvPr id="4" name="Footer Placeholder 3">
            <a:extLst>
              <a:ext uri="{FF2B5EF4-FFF2-40B4-BE49-F238E27FC236}">
                <a16:creationId xmlns:a16="http://schemas.microsoft.com/office/drawing/2014/main" id="{6ED3D0BB-7548-F68A-58A5-1D838B7E23BB}"/>
              </a:ext>
            </a:extLst>
          </p:cNvPr>
          <p:cNvSpPr>
            <a:spLocks noGrp="1"/>
          </p:cNvSpPr>
          <p:nvPr>
            <p:ph type="ftr" sz="quarter" idx="11"/>
          </p:nvPr>
        </p:nvSpPr>
        <p:spPr>
          <a:xfrm>
            <a:off x="680321" y="5936188"/>
            <a:ext cx="6423211" cy="365125"/>
          </a:xfrm>
        </p:spPr>
        <p:txBody>
          <a:bodyPr>
            <a:normAutofit/>
          </a:bodyPr>
          <a:lstStyle/>
          <a:p>
            <a:pPr>
              <a:spcAft>
                <a:spcPts val="600"/>
              </a:spcAft>
            </a:pPr>
            <a:r>
              <a:rPr lang="en-US" sz="1050">
                <a:solidFill>
                  <a:prstClr val="white">
                    <a:tint val="75000"/>
                  </a:prstClr>
                </a:solidFill>
              </a:rPr>
              <a:t>Sample Footer Text</a:t>
            </a:r>
          </a:p>
        </p:txBody>
      </p:sp>
      <p:sp>
        <p:nvSpPr>
          <p:cNvPr id="3" name="Date Placeholder 2">
            <a:extLst>
              <a:ext uri="{FF2B5EF4-FFF2-40B4-BE49-F238E27FC236}">
                <a16:creationId xmlns:a16="http://schemas.microsoft.com/office/drawing/2014/main" id="{FA48CBC3-5EDB-F71F-D117-D1A1E3A2ED40}"/>
              </a:ext>
            </a:extLst>
          </p:cNvPr>
          <p:cNvSpPr>
            <a:spLocks noGrp="1"/>
          </p:cNvSpPr>
          <p:nvPr>
            <p:ph type="dt" sz="half" idx="10"/>
          </p:nvPr>
        </p:nvSpPr>
        <p:spPr>
          <a:xfrm>
            <a:off x="7767873" y="5936188"/>
            <a:ext cx="2526308" cy="365125"/>
          </a:xfrm>
        </p:spPr>
        <p:txBody>
          <a:bodyPr>
            <a:normAutofit/>
          </a:bodyPr>
          <a:lstStyle/>
          <a:p>
            <a:pPr>
              <a:spcAft>
                <a:spcPts val="600"/>
              </a:spcAft>
            </a:pPr>
            <a:fld id="{3AF9C338-B223-C745-81A7-2855DCEF60DC}" type="datetime1">
              <a:rPr lang="en-IE" sz="1050">
                <a:solidFill>
                  <a:prstClr val="white">
                    <a:tint val="75000"/>
                  </a:prstClr>
                </a:solidFill>
              </a:rPr>
              <a:pPr>
                <a:spcAft>
                  <a:spcPts val="600"/>
                </a:spcAft>
              </a:pPr>
              <a:t>04/03/2026</a:t>
            </a:fld>
            <a:endParaRPr lang="en-US" sz="1050">
              <a:solidFill>
                <a:prstClr val="white">
                  <a:tint val="75000"/>
                </a:prstClr>
              </a:solidFill>
            </a:endParaRPr>
          </a:p>
        </p:txBody>
      </p:sp>
      <p:sp>
        <p:nvSpPr>
          <p:cNvPr id="5" name="Slide Number Placeholder 4">
            <a:extLst>
              <a:ext uri="{FF2B5EF4-FFF2-40B4-BE49-F238E27FC236}">
                <a16:creationId xmlns:a16="http://schemas.microsoft.com/office/drawing/2014/main" id="{2B502E54-3437-D774-A7AF-39BD066A84D3}"/>
              </a:ext>
            </a:extLst>
          </p:cNvPr>
          <p:cNvSpPr>
            <a:spLocks noGrp="1"/>
          </p:cNvSpPr>
          <p:nvPr>
            <p:ph type="sldNum" sz="quarter" idx="12"/>
          </p:nvPr>
        </p:nvSpPr>
        <p:spPr>
          <a:xfrm>
            <a:off x="10900372" y="5936189"/>
            <a:ext cx="914400" cy="365122"/>
          </a:xfrm>
        </p:spPr>
        <p:txBody>
          <a:bodyPr>
            <a:normAutofit/>
          </a:bodyPr>
          <a:lstStyle/>
          <a:p>
            <a:pPr>
              <a:spcAft>
                <a:spcPts val="600"/>
              </a:spcAft>
            </a:pPr>
            <a:fld id="{5E0677F5-4A8A-4BF1-96BE-3BAE8FBAFE2E}" type="slidenum">
              <a:rPr lang="en-US" sz="1050">
                <a:solidFill>
                  <a:prstClr val="white">
                    <a:tint val="75000"/>
                  </a:prstClr>
                </a:solidFill>
              </a:rPr>
              <a:pPr>
                <a:spcAft>
                  <a:spcPts val="600"/>
                </a:spcAft>
              </a:pPr>
              <a:t>4</a:t>
            </a:fld>
            <a:endParaRPr lang="en-US" sz="1050">
              <a:solidFill>
                <a:prstClr val="white">
                  <a:tint val="75000"/>
                </a:prstClr>
              </a:solidFill>
            </a:endParaRPr>
          </a:p>
        </p:txBody>
      </p:sp>
      <p:pic>
        <p:nvPicPr>
          <p:cNvPr id="10" name="Picture 9" descr="A diagram of a website&#10;&#10;AI-generated content may be incorrect.">
            <a:extLst>
              <a:ext uri="{FF2B5EF4-FFF2-40B4-BE49-F238E27FC236}">
                <a16:creationId xmlns:a16="http://schemas.microsoft.com/office/drawing/2014/main" id="{C8807032-E544-60AA-D7F7-E65310E561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75753" y="2310044"/>
            <a:ext cx="4940849" cy="3293899"/>
          </a:xfrm>
          <a:prstGeom prst="rect">
            <a:avLst/>
          </a:prstGeom>
        </p:spPr>
      </p:pic>
    </p:spTree>
    <p:extLst>
      <p:ext uri="{BB962C8B-B14F-4D97-AF65-F5344CB8AC3E}">
        <p14:creationId xmlns:p14="http://schemas.microsoft.com/office/powerpoint/2010/main" val="8882545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92000"/>
                <a:satMod val="200000"/>
                <a:lumMod val="128000"/>
              </a:schemeClr>
            </a:gs>
            <a:gs pos="50000">
              <a:schemeClr val="bg2">
                <a:shade val="100000"/>
                <a:hueMod val="100000"/>
                <a:satMod val="110000"/>
                <a:lumMod val="130000"/>
              </a:schemeClr>
            </a:gs>
            <a:gs pos="100000">
              <a:schemeClr val="bg2">
                <a:shade val="78000"/>
                <a:hueMod val="118000"/>
                <a:satMod val="120000"/>
                <a:lumMod val="69000"/>
              </a:schemeClr>
            </a:gs>
          </a:gsLst>
          <a:lin ang="252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E2440-9666-D571-B49A-31AE1501502E}"/>
              </a:ext>
            </a:extLst>
          </p:cNvPr>
          <p:cNvSpPr>
            <a:spLocks noGrp="1"/>
          </p:cNvSpPr>
          <p:nvPr>
            <p:ph type="title"/>
          </p:nvPr>
        </p:nvSpPr>
        <p:spPr>
          <a:xfrm>
            <a:off x="680321" y="753228"/>
            <a:ext cx="9613861" cy="1080938"/>
          </a:xfrm>
        </p:spPr>
        <p:txBody>
          <a:bodyPr vert="horz" lIns="91440" tIns="45720" rIns="91440" bIns="45720" rtlCol="0">
            <a:normAutofit/>
          </a:bodyPr>
          <a:lstStyle/>
          <a:p>
            <a:r>
              <a:rPr lang="en-US"/>
              <a:t>Attributes</a:t>
            </a:r>
          </a:p>
        </p:txBody>
      </p:sp>
      <p:sp>
        <p:nvSpPr>
          <p:cNvPr id="5" name="Slide Number Placeholder 4">
            <a:extLst>
              <a:ext uri="{FF2B5EF4-FFF2-40B4-BE49-F238E27FC236}">
                <a16:creationId xmlns:a16="http://schemas.microsoft.com/office/drawing/2014/main" id="{4A7E408E-941D-04FF-1AB9-E8C90C0ADEA1}"/>
              </a:ext>
            </a:extLst>
          </p:cNvPr>
          <p:cNvSpPr>
            <a:spLocks noGrp="1"/>
          </p:cNvSpPr>
          <p:nvPr>
            <p:ph type="sldNum" sz="quarter" idx="12"/>
          </p:nvPr>
        </p:nvSpPr>
        <p:spPr>
          <a:xfrm>
            <a:off x="10729455" y="753227"/>
            <a:ext cx="1154151" cy="1090789"/>
          </a:xfrm>
        </p:spPr>
        <p:txBody>
          <a:bodyPr vert="horz" lIns="91440" tIns="45720" rIns="91440" bIns="45720" rtlCol="0">
            <a:normAutofit/>
          </a:bodyPr>
          <a:lstStyle/>
          <a:p>
            <a:pPr>
              <a:spcAft>
                <a:spcPts val="600"/>
              </a:spcAft>
            </a:pPr>
            <a:fld id="{5E0677F5-4A8A-4BF1-96BE-3BAE8FBAFE2E}" type="slidenum">
              <a:rPr lang="en-US" smtClean="0"/>
              <a:pPr>
                <a:spcAft>
                  <a:spcPts val="600"/>
                </a:spcAft>
              </a:pPr>
              <a:t>5</a:t>
            </a:fld>
            <a:endParaRPr lang="en-US"/>
          </a:p>
        </p:txBody>
      </p:sp>
      <p:sp>
        <p:nvSpPr>
          <p:cNvPr id="7" name="Content Placeholder 6">
            <a:extLst>
              <a:ext uri="{FF2B5EF4-FFF2-40B4-BE49-F238E27FC236}">
                <a16:creationId xmlns:a16="http://schemas.microsoft.com/office/drawing/2014/main" id="{FE787E9F-4B8A-D4C4-8473-02097FB1706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80321" y="2336873"/>
            <a:ext cx="6423211" cy="3599316"/>
          </a:xfrm>
        </p:spPr>
        <p:txBody>
          <a:bodyPr>
            <a:normAutofit/>
          </a:bodyPr>
          <a:lstStyle/>
          <a:p>
            <a:pPr marL="0" indent="0">
              <a:spcBef>
                <a:spcPts val="2500"/>
              </a:spcBef>
              <a:buFont typeface="Arial" panose="020B0604020202020204" pitchFamily="34" charset="0"/>
              <a:buNone/>
            </a:pPr>
            <a:r>
              <a:rPr lang="en-US" sz="1400" b="1"/>
              <a:t>Definition and Structure</a:t>
            </a:r>
          </a:p>
          <a:p>
            <a:pPr marL="0" lvl="1" indent="0">
              <a:buFont typeface="Arial" panose="020B0604020202020204" pitchFamily="34" charset="0"/>
              <a:buNone/>
            </a:pPr>
            <a:r>
              <a:rPr lang="en-US" sz="1400"/>
              <a:t>Attributes appear in an element’s opening tag as key="value" pairs providing metadata about the element.</a:t>
            </a:r>
          </a:p>
          <a:p>
            <a:pPr marL="0" indent="0">
              <a:spcBef>
                <a:spcPts val="2500"/>
              </a:spcBef>
              <a:buFont typeface="Arial" panose="020B0604020202020204" pitchFamily="34" charset="0"/>
              <a:buNone/>
            </a:pPr>
            <a:r>
              <a:rPr lang="en-US" sz="1400" b="1"/>
              <a:t>Attributes vs Elements</a:t>
            </a:r>
          </a:p>
          <a:p>
            <a:pPr marL="0" lvl="1" indent="0">
              <a:buFont typeface="Arial" panose="020B0604020202020204" pitchFamily="34" charset="0"/>
              <a:buNone/>
            </a:pPr>
            <a:r>
              <a:rPr lang="en-US" sz="1400"/>
              <a:t>Attributes store simple scalar values while child elements represent complex hierarchical content and sequences.</a:t>
            </a:r>
          </a:p>
          <a:p>
            <a:pPr marL="0" indent="0">
              <a:spcBef>
                <a:spcPts val="2500"/>
              </a:spcBef>
              <a:buFont typeface="Arial" panose="020B0604020202020204" pitchFamily="34" charset="0"/>
              <a:buNone/>
            </a:pPr>
            <a:r>
              <a:rPr lang="en-US" sz="1400" b="1"/>
              <a:t>Usage and Limitations</a:t>
            </a:r>
          </a:p>
          <a:p>
            <a:pPr marL="0" lvl="1" indent="0">
              <a:buFont typeface="Arial" panose="020B0604020202020204" pitchFamily="34" charset="0"/>
              <a:buNone/>
            </a:pPr>
            <a:r>
              <a:rPr lang="en-US" sz="1400"/>
              <a:t>Attributes cannot contain nested elements or other attributes, enforcing clear metadata boundaries.</a:t>
            </a:r>
          </a:p>
          <a:p>
            <a:pPr marL="0" indent="0">
              <a:spcBef>
                <a:spcPts val="2500"/>
              </a:spcBef>
              <a:buFont typeface="Arial" panose="020B0604020202020204" pitchFamily="34" charset="0"/>
              <a:buNone/>
            </a:pPr>
            <a:r>
              <a:rPr lang="en-US" sz="1400" b="1"/>
              <a:t>Role in XML Processing</a:t>
            </a:r>
          </a:p>
          <a:p>
            <a:pPr marL="0" lvl="1" indent="0">
              <a:buFont typeface="Arial" panose="020B0604020202020204" pitchFamily="34" charset="0"/>
              <a:buNone/>
            </a:pPr>
            <a:r>
              <a:rPr lang="en-US" sz="1400"/>
              <a:t>Attributes are vital for identification, classification, and rendering rules in XML-processing libraries.</a:t>
            </a:r>
          </a:p>
        </p:txBody>
      </p:sp>
      <p:sp>
        <p:nvSpPr>
          <p:cNvPr id="3" name="Date Placeholder 2">
            <a:extLst>
              <a:ext uri="{FF2B5EF4-FFF2-40B4-BE49-F238E27FC236}">
                <a16:creationId xmlns:a16="http://schemas.microsoft.com/office/drawing/2014/main" id="{ACB9141E-9D03-22B3-0328-C01748281F0B}"/>
              </a:ext>
            </a:extLst>
          </p:cNvPr>
          <p:cNvSpPr>
            <a:spLocks noGrp="1"/>
          </p:cNvSpPr>
          <p:nvPr>
            <p:ph type="dt" sz="half" idx="10"/>
          </p:nvPr>
        </p:nvSpPr>
        <p:spPr>
          <a:xfrm>
            <a:off x="7550981" y="5936187"/>
            <a:ext cx="2743200" cy="365125"/>
          </a:xfrm>
        </p:spPr>
        <p:txBody>
          <a:bodyPr vert="horz" lIns="91440" tIns="45720" rIns="91440" bIns="45720" rtlCol="0">
            <a:normAutofit/>
          </a:bodyPr>
          <a:lstStyle/>
          <a:p>
            <a:pPr>
              <a:spcAft>
                <a:spcPts val="600"/>
              </a:spcAft>
            </a:pPr>
            <a:endParaRPr lang="en-US" dirty="0"/>
          </a:p>
        </p:txBody>
      </p:sp>
      <p:sp>
        <p:nvSpPr>
          <p:cNvPr id="4" name="Footer Placeholder 3">
            <a:extLst>
              <a:ext uri="{FF2B5EF4-FFF2-40B4-BE49-F238E27FC236}">
                <a16:creationId xmlns:a16="http://schemas.microsoft.com/office/drawing/2014/main" id="{DF653440-1DD3-BF51-C45A-C1D6E5894365}"/>
              </a:ext>
            </a:extLst>
          </p:cNvPr>
          <p:cNvSpPr>
            <a:spLocks noGrp="1"/>
          </p:cNvSpPr>
          <p:nvPr>
            <p:ph type="ftr" sz="quarter" idx="11"/>
          </p:nvPr>
        </p:nvSpPr>
        <p:spPr>
          <a:xfrm>
            <a:off x="680321" y="5936188"/>
            <a:ext cx="6870660" cy="365125"/>
          </a:xfrm>
        </p:spPr>
        <p:txBody>
          <a:bodyPr vert="horz" lIns="91440" tIns="45720" rIns="91440" bIns="45720" rtlCol="0">
            <a:normAutofit/>
          </a:bodyPr>
          <a:lstStyle/>
          <a:p>
            <a:pPr>
              <a:spcAft>
                <a:spcPts val="600"/>
              </a:spcAft>
            </a:pPr>
            <a:endParaRPr lang="en-US" dirty="0"/>
          </a:p>
        </p:txBody>
      </p:sp>
    </p:spTree>
    <p:extLst>
      <p:ext uri="{BB962C8B-B14F-4D97-AF65-F5344CB8AC3E}">
        <p14:creationId xmlns:p14="http://schemas.microsoft.com/office/powerpoint/2010/main" val="836332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E44A-6A1F-D767-D01C-F2FBD9CC93E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8D5A25-FBC8-A019-8590-40F03C2CED80}"/>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1DA8C722-E08E-598E-0DE5-F84267E268DF}"/>
              </a:ext>
            </a:extLst>
          </p:cNvPr>
          <p:cNvSpPr>
            <a:spLocks noGrp="1"/>
          </p:cNvSpPr>
          <p:nvPr>
            <p:ph type="dt" sz="half" idx="10"/>
          </p:nvPr>
        </p:nvSpPr>
        <p:spPr/>
        <p:txBody>
          <a:bodyPr/>
          <a:lstStyle/>
          <a:p>
            <a:fld id="{CB359DC6-C7FF-3F4B-9D5B-0E1417135150}" type="datetime1">
              <a:rPr lang="en-IE" smtClean="0"/>
              <a:t>04/03/2026</a:t>
            </a:fld>
            <a:endParaRPr lang="en-US" dirty="0"/>
          </a:p>
        </p:txBody>
      </p:sp>
      <p:sp>
        <p:nvSpPr>
          <p:cNvPr id="5" name="Footer Placeholder 4">
            <a:extLst>
              <a:ext uri="{FF2B5EF4-FFF2-40B4-BE49-F238E27FC236}">
                <a16:creationId xmlns:a16="http://schemas.microsoft.com/office/drawing/2014/main" id="{51B47BE1-8834-720F-3047-EBA14515F139}"/>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63C28045-2EDA-12D2-9410-0251AEB4DB8E}"/>
              </a:ext>
            </a:extLst>
          </p:cNvPr>
          <p:cNvSpPr>
            <a:spLocks noGrp="1"/>
          </p:cNvSpPr>
          <p:nvPr>
            <p:ph type="sldNum" sz="quarter" idx="12"/>
          </p:nvPr>
        </p:nvSpPr>
        <p:spPr/>
        <p:txBody>
          <a:bodyPr/>
          <a:lstStyle/>
          <a:p>
            <a:fld id="{5E0677F5-4A8A-4BF1-96BE-3BAE8FBAFE2E}" type="slidenum">
              <a:rPr lang="en-US" smtClean="0"/>
              <a:pPr/>
              <a:t>6</a:t>
            </a:fld>
            <a:endParaRPr lang="en-US" dirty="0"/>
          </a:p>
        </p:txBody>
      </p:sp>
    </p:spTree>
    <p:extLst>
      <p:ext uri="{BB962C8B-B14F-4D97-AF65-F5344CB8AC3E}">
        <p14:creationId xmlns:p14="http://schemas.microsoft.com/office/powerpoint/2010/main" val="3863672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E01E1-B96A-6593-2961-B8CAF908236E}"/>
              </a:ext>
            </a:extLst>
          </p:cNvPr>
          <p:cNvSpPr>
            <a:spLocks noGrp="1"/>
          </p:cNvSpPr>
          <p:nvPr>
            <p:ph type="title"/>
          </p:nvPr>
        </p:nvSpPr>
        <p:spPr/>
        <p:txBody>
          <a:bodyPr anchor="b">
            <a:normAutofit/>
          </a:bodyPr>
          <a:lstStyle/>
          <a:p>
            <a:r>
              <a:rPr lang="en-US"/>
              <a:t>Text Nodes</a:t>
            </a:r>
          </a:p>
        </p:txBody>
      </p:sp>
      <p:sp>
        <p:nvSpPr>
          <p:cNvPr id="7" name="Content Placeholder 6">
            <a:extLst>
              <a:ext uri="{FF2B5EF4-FFF2-40B4-BE49-F238E27FC236}">
                <a16:creationId xmlns:a16="http://schemas.microsoft.com/office/drawing/2014/main" id="{EC7EB4A7-8418-72EB-1A31-887A21D6B0B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Definition of Text Nodes</a:t>
            </a:r>
          </a:p>
          <a:p>
            <a:pPr marL="0" lvl="1" indent="0">
              <a:buFont typeface="Arial" panose="020B0604020202020204" pitchFamily="34" charset="0"/>
              <a:buNone/>
            </a:pPr>
            <a:r>
              <a:t>Text nodes store actual textual content inside XML elements as distinct nodes in the XML tree structure.</a:t>
            </a:r>
            <a:endParaRPr lang="en-US"/>
          </a:p>
          <a:p>
            <a:pPr marL="0" indent="0">
              <a:spcBef>
                <a:spcPts val="2500"/>
              </a:spcBef>
              <a:buFont typeface="Arial" panose="020B0604020202020204" pitchFamily="34" charset="0"/>
              <a:buNone/>
            </a:pPr>
            <a:r>
              <a:rPr lang="en-US" b="1"/>
              <a:t>Whitespace as Text Nodes</a:t>
            </a:r>
          </a:p>
          <a:p>
            <a:pPr marL="0" lvl="1" indent="0">
              <a:buFont typeface="Arial" panose="020B0604020202020204" pitchFamily="34" charset="0"/>
              <a:buNone/>
            </a:pPr>
            <a:r>
              <a:t>Whitespace like indentation and newlines often becomes separate text nodes, which can confuse beginners.</a:t>
            </a:r>
            <a:endParaRPr lang="en-US"/>
          </a:p>
          <a:p>
            <a:pPr marL="0" indent="0">
              <a:spcBef>
                <a:spcPts val="2500"/>
              </a:spcBef>
              <a:buFont typeface="Arial" panose="020B0604020202020204" pitchFamily="34" charset="0"/>
              <a:buNone/>
            </a:pPr>
            <a:r>
              <a:rPr lang="en-US" b="1"/>
              <a:t>Handling in XML Libraries</a:t>
            </a:r>
          </a:p>
          <a:p>
            <a:pPr marL="0" lvl="1" indent="0">
              <a:buFont typeface="Arial" panose="020B0604020202020204" pitchFamily="34" charset="0"/>
              <a:buNone/>
            </a:pPr>
            <a:r>
              <a:t>Libraries differ in whitespace handling; some preserve, normalize, or ignore whitespace text nodes.</a:t>
            </a:r>
            <a:endParaRPr lang="en-US"/>
          </a:p>
          <a:p>
            <a:pPr marL="0" indent="0">
              <a:spcBef>
                <a:spcPts val="2500"/>
              </a:spcBef>
              <a:buFont typeface="Arial" panose="020B0604020202020204" pitchFamily="34" charset="0"/>
              <a:buNone/>
            </a:pPr>
            <a:r>
              <a:rPr lang="en-US" b="1"/>
              <a:t>Significance in Parsing</a:t>
            </a:r>
          </a:p>
          <a:p>
            <a:pPr marL="0" lvl="1" indent="0">
              <a:buFont typeface="Arial" panose="020B0604020202020204" pitchFamily="34" charset="0"/>
              <a:buNone/>
            </a:pPr>
            <a:r>
              <a:t>Recognizing text nodes helps manage content extraction and avoid treating whitespace as meaningful data.</a:t>
            </a:r>
            <a:endParaRPr lang="en-US"/>
          </a:p>
        </p:txBody>
      </p:sp>
      <p:sp>
        <p:nvSpPr>
          <p:cNvPr id="3" name="Date Placeholder 2">
            <a:extLst>
              <a:ext uri="{FF2B5EF4-FFF2-40B4-BE49-F238E27FC236}">
                <a16:creationId xmlns:a16="http://schemas.microsoft.com/office/drawing/2014/main" id="{14E7B7FA-78FB-1821-A248-B45E8A74C1A4}"/>
              </a:ext>
            </a:extLst>
          </p:cNvPr>
          <p:cNvSpPr>
            <a:spLocks noGrp="1"/>
          </p:cNvSpPr>
          <p:nvPr>
            <p:ph type="dt" sz="half" idx="10"/>
          </p:nvPr>
        </p:nvSpPr>
        <p:spPr/>
        <p:txBody>
          <a:bodyPr anchor="ctr">
            <a:normAutofit/>
          </a:bodyPr>
          <a:lstStyle/>
          <a:p>
            <a:pPr>
              <a:spcAft>
                <a:spcPts val="600"/>
              </a:spcAft>
            </a:pPr>
            <a:fld id="{8D5F4582-509B-D644-83FE-4EFF49405121}" type="datetime1">
              <a:rPr lang="en-IE" smtClean="0"/>
              <a:t>04/03/2026</a:t>
            </a:fld>
            <a:endParaRPr lang="en-US"/>
          </a:p>
        </p:txBody>
      </p:sp>
      <p:sp>
        <p:nvSpPr>
          <p:cNvPr id="4" name="Footer Placeholder 3">
            <a:extLst>
              <a:ext uri="{FF2B5EF4-FFF2-40B4-BE49-F238E27FC236}">
                <a16:creationId xmlns:a16="http://schemas.microsoft.com/office/drawing/2014/main" id="{E7546CD1-3FF1-1C36-E5FF-C1B4BC8678D2}"/>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7F7E4939-3C60-2979-DB11-102B064C0D2E}"/>
              </a:ext>
            </a:extLst>
          </p:cNvPr>
          <p:cNvSpPr>
            <a:spLocks noGrp="1"/>
          </p:cNvSpPr>
          <p:nvPr>
            <p:ph type="sldNum" sz="quarter" idx="12"/>
          </p:nvPr>
        </p:nvSpPr>
        <p:spPr/>
        <p:txBody>
          <a:bodyPr anchor="ctr">
            <a:normAutofit/>
          </a:bodyPr>
          <a:lstStyle/>
          <a:p>
            <a:pPr>
              <a:spcAft>
                <a:spcPts val="600"/>
              </a:spcAft>
            </a:pPr>
            <a:fld id="{5E0677F5-4A8A-4BF1-96BE-3BAE8FBAFE2E}" type="slidenum">
              <a:rPr lang="en-US" smtClean="0"/>
              <a:pPr>
                <a:spcAft>
                  <a:spcPts val="600"/>
                </a:spcAft>
              </a:pPr>
              <a:t>7</a:t>
            </a:fld>
            <a:endParaRPr lang="en-US"/>
          </a:p>
        </p:txBody>
      </p:sp>
      <p:pic>
        <p:nvPicPr>
          <p:cNvPr id="8" name="Content Placeholder 7" descr="Computer script on a screen">
            <a:extLst>
              <a:ext uri="{FF2B5EF4-FFF2-40B4-BE49-F238E27FC236}">
                <a16:creationId xmlns:a16="http://schemas.microsoft.com/office/drawing/2014/main" id="{A6F3AC43-EA57-4CCB-8EE6-597FC424E677}"/>
              </a:ext>
            </a:extLst>
          </p:cNvPr>
          <p:cNvPicPr>
            <a:picLocks noGrp="1" noChangeAspect="1"/>
          </p:cNvPicPr>
          <p:nvPr>
            <p:ph type="pic" sz="quarter" idx="4294967295"/>
          </p:nvPr>
        </p:nvPicPr>
        <p:blipFill>
          <a:blip r:embed="rId3"/>
          <a:srcRect l="27213" r="27213"/>
          <a:stretch>
            <a:fillRect/>
          </a:stretch>
        </p:blipFill>
        <p:spPr>
          <a:xfrm>
            <a:off x="0" y="0"/>
            <a:ext cx="4697413" cy="6858000"/>
          </a:xfrm>
        </p:spPr>
      </p:pic>
    </p:spTree>
    <p:extLst>
      <p:ext uri="{BB962C8B-B14F-4D97-AF65-F5344CB8AC3E}">
        <p14:creationId xmlns:p14="http://schemas.microsoft.com/office/powerpoint/2010/main" val="14428264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61708D-9F95-2CA7-B514-A4BEDAE35A79}"/>
              </a:ext>
            </a:extLst>
          </p:cNvPr>
          <p:cNvSpPr>
            <a:spLocks noGrp="1"/>
          </p:cNvSpPr>
          <p:nvPr>
            <p:ph type="title"/>
          </p:nvPr>
        </p:nvSpPr>
        <p:spPr/>
        <p:txBody>
          <a:bodyPr anchor="b">
            <a:normAutofit/>
          </a:bodyPr>
          <a:lstStyle/>
          <a:p>
            <a:r>
              <a:rPr lang="en-US"/>
              <a:t>Advanced XML Features</a:t>
            </a:r>
          </a:p>
        </p:txBody>
      </p:sp>
      <p:sp>
        <p:nvSpPr>
          <p:cNvPr id="2" name="Content Placeholder 1">
            <a:extLst>
              <a:ext uri="{FF2B5EF4-FFF2-40B4-BE49-F238E27FC236}">
                <a16:creationId xmlns:a16="http://schemas.microsoft.com/office/drawing/2014/main" id="{FC927356-1E54-2457-C307-A62B20737775}"/>
              </a:ext>
            </a:extLst>
          </p:cNvPr>
          <p:cNvSpPr>
            <a:spLocks noGrp="1"/>
          </p:cNvSpPr>
          <p:nvPr>
            <p:ph idx="1"/>
          </p:nvPr>
        </p:nvSpPr>
        <p:spPr/>
        <p:txBody>
          <a:bodyPr/>
          <a:lstStyle/>
          <a:p>
            <a:endParaRPr lang="en-US"/>
          </a:p>
        </p:txBody>
      </p:sp>
      <p:sp>
        <p:nvSpPr>
          <p:cNvPr id="5" name="Date Placeholder 4">
            <a:extLst>
              <a:ext uri="{FF2B5EF4-FFF2-40B4-BE49-F238E27FC236}">
                <a16:creationId xmlns:a16="http://schemas.microsoft.com/office/drawing/2014/main" id="{07B64E3B-B030-50BC-7C51-84FFFE61D136}"/>
              </a:ext>
            </a:extLst>
          </p:cNvPr>
          <p:cNvSpPr>
            <a:spLocks noGrp="1"/>
          </p:cNvSpPr>
          <p:nvPr>
            <p:ph type="dt" sz="half" idx="10"/>
          </p:nvPr>
        </p:nvSpPr>
        <p:spPr/>
        <p:txBody>
          <a:bodyPr anchor="ctr">
            <a:normAutofit/>
          </a:bodyPr>
          <a:lstStyle/>
          <a:p>
            <a:pPr>
              <a:spcAft>
                <a:spcPts val="600"/>
              </a:spcAft>
            </a:pPr>
            <a:fld id="{308C330F-2DEB-AE43-927C-E244B1A29D67}" type="datetime1">
              <a:rPr lang="en-IE" smtClean="0"/>
              <a:t>04/03/2026</a:t>
            </a:fld>
            <a:endParaRPr lang="en-US"/>
          </a:p>
        </p:txBody>
      </p:sp>
      <p:sp>
        <p:nvSpPr>
          <p:cNvPr id="6" name="Footer Placeholder 5">
            <a:extLst>
              <a:ext uri="{FF2B5EF4-FFF2-40B4-BE49-F238E27FC236}">
                <a16:creationId xmlns:a16="http://schemas.microsoft.com/office/drawing/2014/main" id="{3F977115-D064-F9DD-728E-8EB4B23A71A7}"/>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101BAB5E-B7A3-4ED4-CCDD-212868120B78}"/>
              </a:ext>
            </a:extLst>
          </p:cNvPr>
          <p:cNvSpPr>
            <a:spLocks noGrp="1"/>
          </p:cNvSpPr>
          <p:nvPr>
            <p:ph type="sldNum" sz="quarter" idx="12"/>
          </p:nvPr>
        </p:nvSpPr>
        <p:spPr/>
        <p:txBody>
          <a:bodyPr anchor="ctr">
            <a:normAutofit/>
          </a:bodyPr>
          <a:lstStyle/>
          <a:p>
            <a:pPr>
              <a:spcAft>
                <a:spcPts val="600"/>
              </a:spcAft>
            </a:pPr>
            <a:fld id="{5E0677F5-4A8A-4BF1-96BE-3BAE8FBAFE2E}" type="slidenum">
              <a:rPr lang="en-US" smtClean="0"/>
              <a:pPr>
                <a:spcAft>
                  <a:spcPts val="600"/>
                </a:spcAft>
              </a:pPr>
              <a:t>8</a:t>
            </a:fld>
            <a:endParaRPr lang="en-US"/>
          </a:p>
        </p:txBody>
      </p:sp>
    </p:spTree>
    <p:extLst>
      <p:ext uri="{BB962C8B-B14F-4D97-AF65-F5344CB8AC3E}">
        <p14:creationId xmlns:p14="http://schemas.microsoft.com/office/powerpoint/2010/main" val="23773050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EFEB7-03C4-4809-4C94-80FE1CEC68C2}"/>
              </a:ext>
            </a:extLst>
          </p:cNvPr>
          <p:cNvSpPr>
            <a:spLocks noGrp="1"/>
          </p:cNvSpPr>
          <p:nvPr>
            <p:ph type="title"/>
          </p:nvPr>
        </p:nvSpPr>
        <p:spPr/>
        <p:txBody>
          <a:bodyPr anchor="b">
            <a:normAutofit/>
          </a:bodyPr>
          <a:lstStyle/>
          <a:p>
            <a:r>
              <a:rPr lang="en-US"/>
              <a:t>Namespaces</a:t>
            </a:r>
          </a:p>
        </p:txBody>
      </p:sp>
      <p:sp>
        <p:nvSpPr>
          <p:cNvPr id="7" name="Content Placeholder 6">
            <a:extLst>
              <a:ext uri="{FF2B5EF4-FFF2-40B4-BE49-F238E27FC236}">
                <a16:creationId xmlns:a16="http://schemas.microsoft.com/office/drawing/2014/main" id="{B47CBC0E-2D5C-B683-FB95-A8517E090C6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lnSpcReduction="10000"/>
          </a:bodyPr>
          <a:lstStyle/>
          <a:p>
            <a:pPr marL="0" indent="0">
              <a:spcBef>
                <a:spcPts val="2500"/>
              </a:spcBef>
              <a:buFont typeface="Arial" panose="020B0604020202020204" pitchFamily="34" charset="0"/>
              <a:buNone/>
            </a:pPr>
            <a:r>
              <a:rPr lang="en-US" b="1"/>
              <a:t>Purpose of Namespaces</a:t>
            </a:r>
          </a:p>
          <a:p>
            <a:pPr marL="0" lvl="1" indent="0">
              <a:buFont typeface="Arial" panose="020B0604020202020204" pitchFamily="34" charset="0"/>
              <a:buNone/>
            </a:pPr>
            <a:r>
              <a:t>Namespaces prevent name collisions by qualifying element and attribute names with unique URI prefixes in XML documents.</a:t>
            </a:r>
            <a:endParaRPr lang="en-US"/>
          </a:p>
          <a:p>
            <a:pPr marL="0" indent="0">
              <a:spcBef>
                <a:spcPts val="2500"/>
              </a:spcBef>
              <a:buFont typeface="Arial" panose="020B0604020202020204" pitchFamily="34" charset="0"/>
              <a:buNone/>
            </a:pPr>
            <a:r>
              <a:rPr lang="en-US" b="1"/>
              <a:t>Namespace Declaration</a:t>
            </a:r>
          </a:p>
          <a:p>
            <a:pPr marL="0" lvl="1" indent="0">
              <a:buFont typeface="Arial" panose="020B0604020202020204" pitchFamily="34" charset="0"/>
              <a:buNone/>
            </a:pPr>
            <a:r>
              <a:t>Namespaces are declared using the xmlns attribute with or without prefixes to define element scope in XML.</a:t>
            </a:r>
            <a:endParaRPr lang="en-US"/>
          </a:p>
          <a:p>
            <a:pPr marL="0" indent="0">
              <a:spcBef>
                <a:spcPts val="2500"/>
              </a:spcBef>
              <a:buFont typeface="Arial" panose="020B0604020202020204" pitchFamily="34" charset="0"/>
              <a:buNone/>
            </a:pPr>
            <a:r>
              <a:rPr lang="en-US" b="1"/>
              <a:t>Complexities for Beginners</a:t>
            </a:r>
          </a:p>
          <a:p>
            <a:pPr marL="0" lvl="1" indent="0">
              <a:buFont typeface="Arial" panose="020B0604020202020204" pitchFamily="34" charset="0"/>
              <a:buNone/>
            </a:pPr>
            <a:r>
              <a:t>Beginners find namespaces confusing due to expanded names pairing tags with URIs, complicating XML parsing.</a:t>
            </a:r>
            <a:endParaRPr lang="en-US"/>
          </a:p>
          <a:p>
            <a:pPr marL="0" indent="0">
              <a:spcBef>
                <a:spcPts val="2500"/>
              </a:spcBef>
              <a:buFont typeface="Arial" panose="020B0604020202020204" pitchFamily="34" charset="0"/>
              <a:buNone/>
            </a:pPr>
            <a:r>
              <a:rPr lang="en-US" b="1"/>
              <a:t>Benefits of Namespaces</a:t>
            </a:r>
          </a:p>
          <a:p>
            <a:pPr marL="0" lvl="1" indent="0">
              <a:buFont typeface="Arial" panose="020B0604020202020204" pitchFamily="34" charset="0"/>
              <a:buNone/>
            </a:pPr>
            <a:r>
              <a:t>Namespaces enable extensibility and interoperability, allowing multiple XML standards to coexist without conflicts.</a:t>
            </a:r>
            <a:endParaRPr lang="en-US"/>
          </a:p>
        </p:txBody>
      </p:sp>
      <p:sp>
        <p:nvSpPr>
          <p:cNvPr id="3" name="Date Placeholder 2">
            <a:extLst>
              <a:ext uri="{FF2B5EF4-FFF2-40B4-BE49-F238E27FC236}">
                <a16:creationId xmlns:a16="http://schemas.microsoft.com/office/drawing/2014/main" id="{07BB1F3F-3696-6E9A-1F85-92DB4A9D3C2C}"/>
              </a:ext>
            </a:extLst>
          </p:cNvPr>
          <p:cNvSpPr>
            <a:spLocks noGrp="1"/>
          </p:cNvSpPr>
          <p:nvPr>
            <p:ph type="dt" sz="half" idx="10"/>
          </p:nvPr>
        </p:nvSpPr>
        <p:spPr/>
        <p:txBody>
          <a:bodyPr anchor="ctr">
            <a:normAutofit/>
          </a:bodyPr>
          <a:lstStyle/>
          <a:p>
            <a:pPr>
              <a:spcAft>
                <a:spcPts val="600"/>
              </a:spcAft>
            </a:pPr>
            <a:fld id="{BBF999DE-A867-C849-ADE4-61225A84845A}" type="datetime1">
              <a:rPr lang="en-IE" smtClean="0"/>
              <a:t>04/03/2026</a:t>
            </a:fld>
            <a:endParaRPr lang="en-US"/>
          </a:p>
        </p:txBody>
      </p:sp>
      <p:sp>
        <p:nvSpPr>
          <p:cNvPr id="4" name="Footer Placeholder 3">
            <a:extLst>
              <a:ext uri="{FF2B5EF4-FFF2-40B4-BE49-F238E27FC236}">
                <a16:creationId xmlns:a16="http://schemas.microsoft.com/office/drawing/2014/main" id="{B4D0C655-552B-A69D-6763-98F3E2FD789F}"/>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17ECB3FA-08AA-841D-210C-448E6A938170}"/>
              </a:ext>
            </a:extLst>
          </p:cNvPr>
          <p:cNvSpPr>
            <a:spLocks noGrp="1"/>
          </p:cNvSpPr>
          <p:nvPr>
            <p:ph type="sldNum" sz="quarter" idx="12"/>
          </p:nvPr>
        </p:nvSpPr>
        <p:spPr/>
        <p:txBody>
          <a:bodyPr anchor="ctr">
            <a:normAutofit/>
          </a:bodyPr>
          <a:lstStyle/>
          <a:p>
            <a:pPr>
              <a:spcAft>
                <a:spcPts val="600"/>
              </a:spcAft>
            </a:pPr>
            <a:fld id="{5E0677F5-4A8A-4BF1-96BE-3BAE8FBAFE2E}" type="slidenum">
              <a:rPr lang="en-US" smtClean="0"/>
              <a:pPr>
                <a:spcAft>
                  <a:spcPts val="600"/>
                </a:spcAft>
              </a:pPr>
              <a:t>9</a:t>
            </a:fld>
            <a:endParaRPr lang="en-US"/>
          </a:p>
        </p:txBody>
      </p:sp>
      <p:pic>
        <p:nvPicPr>
          <p:cNvPr id="8" name="Content Placeholder 7" descr="floral arrangement">
            <a:extLst>
              <a:ext uri="{FF2B5EF4-FFF2-40B4-BE49-F238E27FC236}">
                <a16:creationId xmlns:a16="http://schemas.microsoft.com/office/drawing/2014/main" id="{674B2EEB-F4FC-4A21-B81F-A19782B69321}"/>
              </a:ext>
            </a:extLst>
          </p:cNvPr>
          <p:cNvPicPr>
            <a:picLocks noGrp="1" noChangeAspect="1"/>
          </p:cNvPicPr>
          <p:nvPr>
            <p:ph type="pic" sz="quarter" idx="4294967295"/>
          </p:nvPr>
        </p:nvPicPr>
        <p:blipFill>
          <a:blip r:embed="rId3"/>
          <a:srcRect t="1271" b="1271"/>
          <a:stretch>
            <a:fillRect/>
          </a:stretch>
        </p:blipFill>
        <p:spPr>
          <a:xfrm>
            <a:off x="0" y="0"/>
            <a:ext cx="4697413" cy="6858000"/>
          </a:xfrm>
        </p:spPr>
      </p:pic>
    </p:spTree>
    <p:extLst>
      <p:ext uri="{BB962C8B-B14F-4D97-AF65-F5344CB8AC3E}">
        <p14:creationId xmlns:p14="http://schemas.microsoft.com/office/powerpoint/2010/main" val="24318199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AD53B-873E-F963-484C-6CC4C4829C0C}"/>
              </a:ext>
            </a:extLst>
          </p:cNvPr>
          <p:cNvSpPr>
            <a:spLocks noGrp="1"/>
          </p:cNvSpPr>
          <p:nvPr>
            <p:ph type="title"/>
          </p:nvPr>
        </p:nvSpPr>
        <p:spPr/>
        <p:txBody>
          <a:bodyPr anchor="b">
            <a:normAutofit/>
          </a:bodyPr>
          <a:lstStyle/>
          <a:p>
            <a:r>
              <a:rPr lang="en-US"/>
              <a:t>XML Declaration</a:t>
            </a:r>
          </a:p>
        </p:txBody>
      </p:sp>
      <p:sp>
        <p:nvSpPr>
          <p:cNvPr id="7" name="Content Placeholder 6">
            <a:extLst>
              <a:ext uri="{FF2B5EF4-FFF2-40B4-BE49-F238E27FC236}">
                <a16:creationId xmlns:a16="http://schemas.microsoft.com/office/drawing/2014/main" id="{A1FAD4A8-F6B5-3B03-75F7-FB44F9D4520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Purpose of XML Declaration</a:t>
            </a:r>
          </a:p>
          <a:p>
            <a:pPr marL="0" lvl="1" indent="0">
              <a:buFont typeface="Arial" panose="020B0604020202020204" pitchFamily="34" charset="0"/>
              <a:buNone/>
            </a:pPr>
            <a:r>
              <a:t>The XML declaration provides metadata about version and encoding for the XML parser.</a:t>
            </a:r>
            <a:endParaRPr lang="en-US"/>
          </a:p>
          <a:p>
            <a:pPr marL="0" indent="0">
              <a:spcBef>
                <a:spcPts val="2500"/>
              </a:spcBef>
              <a:buFont typeface="Arial" panose="020B0604020202020204" pitchFamily="34" charset="0"/>
              <a:buNone/>
            </a:pPr>
            <a:r>
              <a:rPr lang="en-US" b="1"/>
              <a:t>Not Part of Element Tree</a:t>
            </a:r>
          </a:p>
          <a:p>
            <a:pPr marL="0" lvl="1" indent="0">
              <a:buFont typeface="Arial" panose="020B0604020202020204" pitchFamily="34" charset="0"/>
              <a:buNone/>
            </a:pPr>
            <a:r>
              <a:t>The declaration is not part of the XML element tree and is excluded from document structure searches.</a:t>
            </a:r>
            <a:endParaRPr lang="en-US"/>
          </a:p>
          <a:p>
            <a:pPr marL="0" indent="0">
              <a:spcBef>
                <a:spcPts val="2500"/>
              </a:spcBef>
              <a:buFont typeface="Arial" panose="020B0604020202020204" pitchFamily="34" charset="0"/>
              <a:buNone/>
            </a:pPr>
            <a:r>
              <a:rPr lang="en-US" b="1"/>
              <a:t>Automatic Parsing Usage</a:t>
            </a:r>
          </a:p>
          <a:p>
            <a:pPr marL="0" lvl="1" indent="0">
              <a:buFont typeface="Arial" panose="020B0604020202020204" pitchFamily="34" charset="0"/>
              <a:buNone/>
            </a:pPr>
            <a:r>
              <a:t>XML parsers use the declaration automatically to configure decoding and rarely expose it to programmers.</a:t>
            </a:r>
            <a:endParaRPr lang="en-US"/>
          </a:p>
          <a:p>
            <a:pPr marL="0" indent="0">
              <a:spcBef>
                <a:spcPts val="2500"/>
              </a:spcBef>
              <a:buFont typeface="Arial" panose="020B0604020202020204" pitchFamily="34" charset="0"/>
              <a:buNone/>
            </a:pPr>
            <a:r>
              <a:rPr lang="en-US" b="1"/>
              <a:t>Specialized Programmer Access</a:t>
            </a:r>
          </a:p>
          <a:p>
            <a:pPr marL="0" lvl="1" indent="0">
              <a:buFont typeface="Arial" panose="020B0604020202020204" pitchFamily="34" charset="0"/>
              <a:buNone/>
            </a:pPr>
            <a:r>
              <a:t>Programmers access the declaration mainly for low-level byte handling or strict validation tasks.</a:t>
            </a:r>
            <a:endParaRPr lang="en-US"/>
          </a:p>
        </p:txBody>
      </p:sp>
      <p:sp>
        <p:nvSpPr>
          <p:cNvPr id="3" name="Date Placeholder 2">
            <a:extLst>
              <a:ext uri="{FF2B5EF4-FFF2-40B4-BE49-F238E27FC236}">
                <a16:creationId xmlns:a16="http://schemas.microsoft.com/office/drawing/2014/main" id="{0EAD42E4-E205-3056-1C96-CF695F8CB034}"/>
              </a:ext>
            </a:extLst>
          </p:cNvPr>
          <p:cNvSpPr>
            <a:spLocks noGrp="1"/>
          </p:cNvSpPr>
          <p:nvPr>
            <p:ph type="dt" sz="half" idx="10"/>
          </p:nvPr>
        </p:nvSpPr>
        <p:spPr/>
        <p:txBody>
          <a:bodyPr anchor="ctr">
            <a:normAutofit/>
          </a:bodyPr>
          <a:lstStyle/>
          <a:p>
            <a:pPr>
              <a:spcAft>
                <a:spcPts val="600"/>
              </a:spcAft>
            </a:pPr>
            <a:fld id="{F827186D-9C77-5B46-BC87-EE526F73CA17}" type="datetime1">
              <a:rPr lang="en-IE" smtClean="0"/>
              <a:t>04/03/2026</a:t>
            </a:fld>
            <a:endParaRPr lang="en-US"/>
          </a:p>
        </p:txBody>
      </p:sp>
      <p:sp>
        <p:nvSpPr>
          <p:cNvPr id="4" name="Footer Placeholder 3">
            <a:extLst>
              <a:ext uri="{FF2B5EF4-FFF2-40B4-BE49-F238E27FC236}">
                <a16:creationId xmlns:a16="http://schemas.microsoft.com/office/drawing/2014/main" id="{47C1E955-D089-4BFC-37B2-7C2E8B6E7F1F}"/>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D2306D4A-0B5D-A575-C095-E86920139F68}"/>
              </a:ext>
            </a:extLst>
          </p:cNvPr>
          <p:cNvSpPr>
            <a:spLocks noGrp="1"/>
          </p:cNvSpPr>
          <p:nvPr>
            <p:ph type="sldNum" sz="quarter" idx="12"/>
          </p:nvPr>
        </p:nvSpPr>
        <p:spPr/>
        <p:txBody>
          <a:bodyPr anchor="ctr">
            <a:normAutofit/>
          </a:bodyPr>
          <a:lstStyle/>
          <a:p>
            <a:pPr>
              <a:spcAft>
                <a:spcPts val="600"/>
              </a:spcAft>
            </a:pPr>
            <a:fld id="{5E0677F5-4A8A-4BF1-96BE-3BAE8FBAFE2E}" type="slidenum">
              <a:rPr lang="en-US" smtClean="0"/>
              <a:pPr>
                <a:spcAft>
                  <a:spcPts val="600"/>
                </a:spcAft>
              </a:pPr>
              <a:t>10</a:t>
            </a:fld>
            <a:endParaRPr lang="en-US"/>
          </a:p>
        </p:txBody>
      </p:sp>
      <p:pic>
        <p:nvPicPr>
          <p:cNvPr id="8" name="Content Placeholder 7" descr="Abstract computer security breach concept with programming language code and a glowing word 'hacked'. Close-up defocused composition, with colorful glitched graphical effects.">
            <a:extLst>
              <a:ext uri="{FF2B5EF4-FFF2-40B4-BE49-F238E27FC236}">
                <a16:creationId xmlns:a16="http://schemas.microsoft.com/office/drawing/2014/main" id="{D208747A-C569-469E-ABFA-259EEBA31B45}"/>
              </a:ext>
            </a:extLst>
          </p:cNvPr>
          <p:cNvPicPr>
            <a:picLocks noGrp="1" noChangeAspect="1"/>
          </p:cNvPicPr>
          <p:nvPr>
            <p:ph type="pic" sz="quarter" idx="4294967295"/>
          </p:nvPr>
        </p:nvPicPr>
        <p:blipFill>
          <a:blip r:embed="rId3"/>
          <a:srcRect l="24933" r="24933"/>
          <a:stretch/>
        </p:blipFill>
        <p:spPr>
          <a:xfrm>
            <a:off x="0" y="0"/>
            <a:ext cx="4697413" cy="6858000"/>
          </a:xfrm>
        </p:spPr>
      </p:pic>
    </p:spTree>
    <p:extLst>
      <p:ext uri="{BB962C8B-B14F-4D97-AF65-F5344CB8AC3E}">
        <p14:creationId xmlns:p14="http://schemas.microsoft.com/office/powerpoint/2010/main" val="16820702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7432C9-CA51-0F23-269C-B2C2B05BA610}"/>
              </a:ext>
            </a:extLst>
          </p:cNvPr>
          <p:cNvSpPr>
            <a:spLocks noGrp="1"/>
          </p:cNvSpPr>
          <p:nvPr>
            <p:ph type="title"/>
          </p:nvPr>
        </p:nvSpPr>
        <p:spPr/>
        <p:txBody>
          <a:bodyPr anchor="b">
            <a:normAutofit/>
          </a:bodyPr>
          <a:lstStyle/>
          <a:p>
            <a:r>
              <a:rPr lang="en-US"/>
              <a:t>Special Content Forms</a:t>
            </a:r>
          </a:p>
        </p:txBody>
      </p:sp>
      <p:sp>
        <p:nvSpPr>
          <p:cNvPr id="2" name="Content Placeholder 1">
            <a:extLst>
              <a:ext uri="{FF2B5EF4-FFF2-40B4-BE49-F238E27FC236}">
                <a16:creationId xmlns:a16="http://schemas.microsoft.com/office/drawing/2014/main" id="{CE7D0ABA-B4AE-C7DE-7CC6-951CD7F1673D}"/>
              </a:ext>
            </a:extLst>
          </p:cNvPr>
          <p:cNvSpPr>
            <a:spLocks noGrp="1"/>
          </p:cNvSpPr>
          <p:nvPr>
            <p:ph idx="1"/>
          </p:nvPr>
        </p:nvSpPr>
        <p:spPr/>
        <p:txBody>
          <a:bodyPr/>
          <a:lstStyle/>
          <a:p>
            <a:endParaRPr lang="en-US"/>
          </a:p>
        </p:txBody>
      </p:sp>
      <p:sp>
        <p:nvSpPr>
          <p:cNvPr id="5" name="Date Placeholder 4">
            <a:extLst>
              <a:ext uri="{FF2B5EF4-FFF2-40B4-BE49-F238E27FC236}">
                <a16:creationId xmlns:a16="http://schemas.microsoft.com/office/drawing/2014/main" id="{2DEB144E-EC0F-0DCB-0DA8-9DE1935355CB}"/>
              </a:ext>
            </a:extLst>
          </p:cNvPr>
          <p:cNvSpPr>
            <a:spLocks noGrp="1"/>
          </p:cNvSpPr>
          <p:nvPr>
            <p:ph type="dt" sz="half" idx="10"/>
          </p:nvPr>
        </p:nvSpPr>
        <p:spPr/>
        <p:txBody>
          <a:bodyPr anchor="ctr">
            <a:normAutofit/>
          </a:bodyPr>
          <a:lstStyle/>
          <a:p>
            <a:pPr>
              <a:spcAft>
                <a:spcPts val="600"/>
              </a:spcAft>
            </a:pPr>
            <a:fld id="{5C08DC49-EEC5-2A4E-949B-4324CB193C64}" type="datetime1">
              <a:rPr lang="en-IE" smtClean="0"/>
              <a:t>04/03/2026</a:t>
            </a:fld>
            <a:endParaRPr lang="en-US"/>
          </a:p>
        </p:txBody>
      </p:sp>
      <p:sp>
        <p:nvSpPr>
          <p:cNvPr id="6" name="Footer Placeholder 5">
            <a:extLst>
              <a:ext uri="{FF2B5EF4-FFF2-40B4-BE49-F238E27FC236}">
                <a16:creationId xmlns:a16="http://schemas.microsoft.com/office/drawing/2014/main" id="{D49262E5-8424-453F-EEA7-38B15B0852C5}"/>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5024F571-E4EF-4BBB-8128-4A3F767103D2}"/>
              </a:ext>
            </a:extLst>
          </p:cNvPr>
          <p:cNvSpPr>
            <a:spLocks noGrp="1"/>
          </p:cNvSpPr>
          <p:nvPr>
            <p:ph type="sldNum" sz="quarter" idx="12"/>
          </p:nvPr>
        </p:nvSpPr>
        <p:spPr/>
        <p:txBody>
          <a:bodyPr anchor="ctr">
            <a:normAutofit/>
          </a:bodyPr>
          <a:lstStyle/>
          <a:p>
            <a:pPr>
              <a:spcAft>
                <a:spcPts val="600"/>
              </a:spcAft>
            </a:pPr>
            <a:fld id="{5E0677F5-4A8A-4BF1-96BE-3BAE8FBAFE2E}" type="slidenum">
              <a:rPr lang="en-US" smtClean="0"/>
              <a:pPr>
                <a:spcAft>
                  <a:spcPts val="600"/>
                </a:spcAft>
              </a:pPr>
              <a:t>11</a:t>
            </a:fld>
            <a:endParaRPr lang="en-US"/>
          </a:p>
        </p:txBody>
      </p:sp>
    </p:spTree>
    <p:extLst>
      <p:ext uri="{BB962C8B-B14F-4D97-AF65-F5344CB8AC3E}">
        <p14:creationId xmlns:p14="http://schemas.microsoft.com/office/powerpoint/2010/main" val="14084636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4804F-BC4F-DEDA-692C-E3C9221755E7}"/>
              </a:ext>
            </a:extLst>
          </p:cNvPr>
          <p:cNvSpPr>
            <a:spLocks noGrp="1"/>
          </p:cNvSpPr>
          <p:nvPr>
            <p:ph type="title"/>
          </p:nvPr>
        </p:nvSpPr>
        <p:spPr/>
        <p:txBody>
          <a:bodyPr anchor="b">
            <a:normAutofit/>
          </a:bodyPr>
          <a:lstStyle/>
          <a:p>
            <a:r>
              <a:rPr lang="en-US"/>
              <a:t>CDATA Sections</a:t>
            </a:r>
          </a:p>
        </p:txBody>
      </p:sp>
      <p:sp>
        <p:nvSpPr>
          <p:cNvPr id="7" name="Content Placeholder 6">
            <a:extLst>
              <a:ext uri="{FF2B5EF4-FFF2-40B4-BE49-F238E27FC236}">
                <a16:creationId xmlns:a16="http://schemas.microsoft.com/office/drawing/2014/main" id="{776134F4-71C2-7B20-7BF5-E921F5F0D02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en-US" b="1"/>
              <a:t>Purpose of CDATA</a:t>
            </a:r>
          </a:p>
          <a:p>
            <a:pPr marL="0" lvl="1" indent="0">
              <a:buFont typeface="Arial" panose="020B0604020202020204" pitchFamily="34" charset="0"/>
              <a:buNone/>
            </a:pPr>
            <a:r>
              <a:t>CDATA sections allow inclusion of raw text with reserved characters without escaping in XML documents.</a:t>
            </a:r>
            <a:endParaRPr lang="en-US"/>
          </a:p>
          <a:p>
            <a:pPr marL="0" indent="0">
              <a:spcBef>
                <a:spcPts val="2500"/>
              </a:spcBef>
              <a:buFont typeface="Arial" panose="020B0604020202020204" pitchFamily="34" charset="0"/>
              <a:buNone/>
            </a:pPr>
            <a:r>
              <a:rPr lang="en-US" b="1"/>
              <a:t>Usage in Markup Embedding</a:t>
            </a:r>
          </a:p>
          <a:p>
            <a:pPr marL="0" lvl="1" indent="0">
              <a:buFont typeface="Arial" panose="020B0604020202020204" pitchFamily="34" charset="0"/>
              <a:buNone/>
            </a:pPr>
            <a:r>
              <a:t>CDATA is useful for embedding HTML or code samples within XML, preserving complex markup content.</a:t>
            </a:r>
            <a:endParaRPr lang="en-US"/>
          </a:p>
          <a:p>
            <a:pPr marL="0" indent="0">
              <a:spcBef>
                <a:spcPts val="2500"/>
              </a:spcBef>
              <a:buFont typeface="Arial" panose="020B0604020202020204" pitchFamily="34" charset="0"/>
              <a:buNone/>
            </a:pPr>
            <a:r>
              <a:rPr lang="en-US" b="1"/>
              <a:t>Parsing Behavior</a:t>
            </a:r>
          </a:p>
          <a:p>
            <a:pPr marL="0" lvl="1" indent="0">
              <a:buFont typeface="Arial" panose="020B0604020202020204" pitchFamily="34" charset="0"/>
              <a:buNone/>
            </a:pPr>
            <a:r>
              <a:t>XML parsers treat CDATA content as plain text, simplifying processing but hiding escaped content differences.</a:t>
            </a:r>
            <a:endParaRPr lang="en-US"/>
          </a:p>
          <a:p>
            <a:pPr marL="0" indent="0">
              <a:spcBef>
                <a:spcPts val="2500"/>
              </a:spcBef>
              <a:buFont typeface="Arial" panose="020B0604020202020204" pitchFamily="34" charset="0"/>
              <a:buNone/>
            </a:pPr>
            <a:r>
              <a:rPr lang="en-US" b="1"/>
              <a:t>Limitations and Workarounds</a:t>
            </a:r>
          </a:p>
          <a:p>
            <a:pPr marL="0" lvl="1" indent="0">
              <a:buFont typeface="Arial" panose="020B0604020202020204" pitchFamily="34" charset="0"/>
              <a:buNone/>
            </a:pPr>
            <a:r>
              <a:t>CDATA cannot contain the sequence ]]&gt;, requiring splitting blocks as a workaround to avoid errors.</a:t>
            </a:r>
            <a:endParaRPr lang="en-US"/>
          </a:p>
        </p:txBody>
      </p:sp>
      <p:sp>
        <p:nvSpPr>
          <p:cNvPr id="3" name="Date Placeholder 2">
            <a:extLst>
              <a:ext uri="{FF2B5EF4-FFF2-40B4-BE49-F238E27FC236}">
                <a16:creationId xmlns:a16="http://schemas.microsoft.com/office/drawing/2014/main" id="{E73328C5-1B5F-64BC-A2B9-E4E71C4622C7}"/>
              </a:ext>
            </a:extLst>
          </p:cNvPr>
          <p:cNvSpPr>
            <a:spLocks noGrp="1"/>
          </p:cNvSpPr>
          <p:nvPr>
            <p:ph type="dt" sz="half" idx="10"/>
          </p:nvPr>
        </p:nvSpPr>
        <p:spPr/>
        <p:txBody>
          <a:bodyPr anchor="ctr">
            <a:normAutofit/>
          </a:bodyPr>
          <a:lstStyle/>
          <a:p>
            <a:pPr>
              <a:spcAft>
                <a:spcPts val="600"/>
              </a:spcAft>
            </a:pPr>
            <a:fld id="{5358DA61-0EFB-2E49-8131-0375CCC6630F}" type="datetime1">
              <a:rPr lang="en-IE" smtClean="0"/>
              <a:t>04/03/2026</a:t>
            </a:fld>
            <a:endParaRPr lang="en-US"/>
          </a:p>
        </p:txBody>
      </p:sp>
      <p:sp>
        <p:nvSpPr>
          <p:cNvPr id="4" name="Footer Placeholder 3">
            <a:extLst>
              <a:ext uri="{FF2B5EF4-FFF2-40B4-BE49-F238E27FC236}">
                <a16:creationId xmlns:a16="http://schemas.microsoft.com/office/drawing/2014/main" id="{AE2ABEF0-8DAE-41BE-F8D8-0931CF844DD4}"/>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39F74876-55F1-E955-17DC-6F79737D99CE}"/>
              </a:ext>
            </a:extLst>
          </p:cNvPr>
          <p:cNvSpPr>
            <a:spLocks noGrp="1"/>
          </p:cNvSpPr>
          <p:nvPr>
            <p:ph type="sldNum" sz="quarter" idx="12"/>
          </p:nvPr>
        </p:nvSpPr>
        <p:spPr/>
        <p:txBody>
          <a:bodyPr anchor="ctr">
            <a:normAutofit/>
          </a:bodyPr>
          <a:lstStyle/>
          <a:p>
            <a:pPr>
              <a:spcAft>
                <a:spcPts val="600"/>
              </a:spcAft>
            </a:pPr>
            <a:fld id="{5E0677F5-4A8A-4BF1-96BE-3BAE8FBAFE2E}" type="slidenum">
              <a:rPr lang="en-US" smtClean="0"/>
              <a:pPr>
                <a:spcAft>
                  <a:spcPts val="600"/>
                </a:spcAft>
              </a:pPr>
              <a:t>12</a:t>
            </a:fld>
            <a:endParaRPr lang="en-US"/>
          </a:p>
        </p:txBody>
      </p:sp>
      <p:pic>
        <p:nvPicPr>
          <p:cNvPr id="8" name="Content Placeholder 7" descr="Binary code abstract background with radial lines.">
            <a:extLst>
              <a:ext uri="{FF2B5EF4-FFF2-40B4-BE49-F238E27FC236}">
                <a16:creationId xmlns:a16="http://schemas.microsoft.com/office/drawing/2014/main" id="{77167C92-DAB4-475D-94B2-FC4D9BEB69C7}"/>
              </a:ext>
            </a:extLst>
          </p:cNvPr>
          <p:cNvPicPr>
            <a:picLocks noGrp="1" noChangeAspect="1"/>
          </p:cNvPicPr>
          <p:nvPr>
            <p:ph type="pic" sz="quarter" idx="4294967295"/>
          </p:nvPr>
        </p:nvPicPr>
        <p:blipFill>
          <a:blip r:embed="rId3"/>
          <a:srcRect l="27174" r="27174"/>
          <a:stretch>
            <a:fillRect/>
          </a:stretch>
        </p:blipFill>
        <p:spPr>
          <a:xfrm>
            <a:off x="0" y="0"/>
            <a:ext cx="4697413" cy="6858000"/>
          </a:xfrm>
        </p:spPr>
      </p:pic>
    </p:spTree>
    <p:extLst>
      <p:ext uri="{BB962C8B-B14F-4D97-AF65-F5344CB8AC3E}">
        <p14:creationId xmlns:p14="http://schemas.microsoft.com/office/powerpoint/2010/main" val="10522654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5D9E47-3CDC-65BC-999E-EDB07054DB76}"/>
              </a:ext>
            </a:extLst>
          </p:cNvPr>
          <p:cNvSpPr>
            <a:spLocks noGrp="1"/>
          </p:cNvSpPr>
          <p:nvPr>
            <p:ph type="title"/>
          </p:nvPr>
        </p:nvSpPr>
        <p:spPr/>
        <p:txBody>
          <a:bodyPr anchor="b">
            <a:normAutofit/>
          </a:bodyPr>
          <a:lstStyle/>
          <a:p>
            <a:r>
              <a:rPr lang="en-US"/>
              <a:t>Haskell-Oriented XML Interpretation</a:t>
            </a:r>
          </a:p>
        </p:txBody>
      </p:sp>
      <p:sp>
        <p:nvSpPr>
          <p:cNvPr id="2" name="Content Placeholder 1">
            <a:extLst>
              <a:ext uri="{FF2B5EF4-FFF2-40B4-BE49-F238E27FC236}">
                <a16:creationId xmlns:a16="http://schemas.microsoft.com/office/drawing/2014/main" id="{4B2FA3B0-7B73-F9BC-08AD-DC3C811CB5BC}"/>
              </a:ext>
            </a:extLst>
          </p:cNvPr>
          <p:cNvSpPr>
            <a:spLocks noGrp="1"/>
          </p:cNvSpPr>
          <p:nvPr>
            <p:ph idx="1"/>
          </p:nvPr>
        </p:nvSpPr>
        <p:spPr/>
        <p:txBody>
          <a:bodyPr/>
          <a:lstStyle/>
          <a:p>
            <a:endParaRPr lang="en-US"/>
          </a:p>
        </p:txBody>
      </p:sp>
      <p:sp>
        <p:nvSpPr>
          <p:cNvPr id="5" name="Date Placeholder 4">
            <a:extLst>
              <a:ext uri="{FF2B5EF4-FFF2-40B4-BE49-F238E27FC236}">
                <a16:creationId xmlns:a16="http://schemas.microsoft.com/office/drawing/2014/main" id="{9D528407-6528-8B01-0D5D-BCEA506A2DE1}"/>
              </a:ext>
            </a:extLst>
          </p:cNvPr>
          <p:cNvSpPr>
            <a:spLocks noGrp="1"/>
          </p:cNvSpPr>
          <p:nvPr>
            <p:ph type="dt" sz="half" idx="10"/>
          </p:nvPr>
        </p:nvSpPr>
        <p:spPr/>
        <p:txBody>
          <a:bodyPr anchor="ctr">
            <a:normAutofit/>
          </a:bodyPr>
          <a:lstStyle/>
          <a:p>
            <a:pPr>
              <a:spcAft>
                <a:spcPts val="600"/>
              </a:spcAft>
            </a:pPr>
            <a:fld id="{C568C99E-4BDD-874C-86EF-6085644E2BB2}" type="datetime1">
              <a:rPr lang="en-IE" smtClean="0"/>
              <a:t>04/03/2026</a:t>
            </a:fld>
            <a:endParaRPr lang="en-US"/>
          </a:p>
        </p:txBody>
      </p:sp>
      <p:sp>
        <p:nvSpPr>
          <p:cNvPr id="6" name="Footer Placeholder 5">
            <a:extLst>
              <a:ext uri="{FF2B5EF4-FFF2-40B4-BE49-F238E27FC236}">
                <a16:creationId xmlns:a16="http://schemas.microsoft.com/office/drawing/2014/main" id="{4F2F2057-19E1-51F6-EBB7-CFAA4D6F2324}"/>
              </a:ext>
            </a:extLst>
          </p:cNvPr>
          <p:cNvSpPr>
            <a:spLocks noGrp="1"/>
          </p:cNvSpPr>
          <p:nvPr>
            <p:ph type="ftr" sz="quarter" idx="11"/>
          </p:nvPr>
        </p:nvSpPr>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DCA41663-744B-5A78-8955-0F5809BE3127}"/>
              </a:ext>
            </a:extLst>
          </p:cNvPr>
          <p:cNvSpPr>
            <a:spLocks noGrp="1"/>
          </p:cNvSpPr>
          <p:nvPr>
            <p:ph type="sldNum" sz="quarter" idx="12"/>
          </p:nvPr>
        </p:nvSpPr>
        <p:spPr/>
        <p:txBody>
          <a:bodyPr anchor="ctr">
            <a:normAutofit/>
          </a:bodyPr>
          <a:lstStyle/>
          <a:p>
            <a:pPr>
              <a:spcAft>
                <a:spcPts val="600"/>
              </a:spcAft>
            </a:pPr>
            <a:fld id="{5E0677F5-4A8A-4BF1-96BE-3BAE8FBAFE2E}" type="slidenum">
              <a:rPr lang="en-US" smtClean="0"/>
              <a:pPr>
                <a:spcAft>
                  <a:spcPts val="600"/>
                </a:spcAft>
              </a:pPr>
              <a:t>13</a:t>
            </a:fld>
            <a:endParaRPr lang="en-US"/>
          </a:p>
        </p:txBody>
      </p:sp>
    </p:spTree>
    <p:extLst>
      <p:ext uri="{BB962C8B-B14F-4D97-AF65-F5344CB8AC3E}">
        <p14:creationId xmlns:p14="http://schemas.microsoft.com/office/powerpoint/2010/main" val="1326245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337E6-D54A-C504-12E6-BD768F4CB870}"/>
              </a:ext>
            </a:extLst>
          </p:cNvPr>
          <p:cNvSpPr>
            <a:spLocks noGrp="1"/>
          </p:cNvSpPr>
          <p:nvPr>
            <p:ph type="title"/>
          </p:nvPr>
        </p:nvSpPr>
        <p:spPr/>
        <p:txBody>
          <a:bodyPr vert="horz" lIns="91440" tIns="45720" rIns="91440" bIns="45720" rtlCol="0" anchor="t">
            <a:normAutofit/>
          </a:bodyPr>
          <a:lstStyle/>
          <a:p>
            <a:r>
              <a:rPr lang="en-US" dirty="0">
                <a:solidFill>
                  <a:srgbClr val="FFFFFE"/>
                </a:solidFill>
              </a:rPr>
              <a:t>Haskell Perspective on Parsing XML</a:t>
            </a:r>
          </a:p>
        </p:txBody>
      </p:sp>
      <p:sp>
        <p:nvSpPr>
          <p:cNvPr id="7" name="Content Placeholder 6">
            <a:extLst>
              <a:ext uri="{FF2B5EF4-FFF2-40B4-BE49-F238E27FC236}">
                <a16:creationId xmlns:a16="http://schemas.microsoft.com/office/drawing/2014/main" id="{879799DA-FA30-602A-D68F-BE849D3B353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Clr>
                <a:srgbClr val="FFF683"/>
              </a:buClr>
              <a:buFont typeface="Arial" panose="020B0604020202020204" pitchFamily="34" charset="0"/>
              <a:buNone/>
            </a:pPr>
            <a:r>
              <a:rPr lang="en-US" sz="1400" b="1">
                <a:solidFill>
                  <a:srgbClr val="FFFFFE"/>
                </a:solidFill>
              </a:rPr>
              <a:t>Two-Stage XML Parsing</a:t>
            </a:r>
          </a:p>
          <a:p>
            <a:pPr marL="0" lvl="1" indent="0">
              <a:buClr>
                <a:srgbClr val="FFF683"/>
              </a:buClr>
              <a:buFont typeface="Arial" panose="020B0604020202020204" pitchFamily="34" charset="0"/>
              <a:buNone/>
            </a:pPr>
            <a:r>
              <a:rPr lang="en-US" sz="1400">
                <a:solidFill>
                  <a:srgbClr val="FFFFFE"/>
                </a:solidFill>
              </a:rPr>
              <a:t>Haskell parses XML in two stages: building a generic tree, then converting it into strongly typed ADTs.</a:t>
            </a:r>
          </a:p>
          <a:p>
            <a:pPr marL="0" indent="0">
              <a:spcBef>
                <a:spcPts val="2500"/>
              </a:spcBef>
              <a:buClr>
                <a:srgbClr val="FFF683"/>
              </a:buClr>
              <a:buFont typeface="Arial" panose="020B0604020202020204" pitchFamily="34" charset="0"/>
              <a:buNone/>
            </a:pPr>
            <a:r>
              <a:rPr lang="en-US" sz="1400" b="1">
                <a:solidFill>
                  <a:srgbClr val="FFFFFE"/>
                </a:solidFill>
              </a:rPr>
              <a:t>Library Support and Tree Navigation</a:t>
            </a:r>
          </a:p>
          <a:p>
            <a:pPr marL="0" lvl="1" indent="0">
              <a:buClr>
                <a:srgbClr val="FFF683"/>
              </a:buClr>
              <a:buFont typeface="Arial" panose="020B0604020202020204" pitchFamily="34" charset="0"/>
              <a:buNone/>
            </a:pPr>
            <a:r>
              <a:rPr lang="en-US" sz="1400">
                <a:solidFill>
                  <a:srgbClr val="FFFFFE"/>
                </a:solidFill>
              </a:rPr>
              <a:t>Libraries like xml-conduit facilitate parsing and navigating XML trees via tag filtering and attribute retrieval.</a:t>
            </a:r>
          </a:p>
          <a:p>
            <a:pPr marL="0" indent="0">
              <a:spcBef>
                <a:spcPts val="2500"/>
              </a:spcBef>
              <a:buClr>
                <a:srgbClr val="FFF683"/>
              </a:buClr>
              <a:buFont typeface="Arial" panose="020B0604020202020204" pitchFamily="34" charset="0"/>
              <a:buNone/>
            </a:pPr>
            <a:r>
              <a:rPr lang="en-US" sz="1400" b="1">
                <a:solidFill>
                  <a:srgbClr val="FFFFFE"/>
                </a:solidFill>
              </a:rPr>
              <a:t>Strong Typing and Constraints</a:t>
            </a:r>
          </a:p>
          <a:p>
            <a:pPr marL="0" lvl="1" indent="0">
              <a:buClr>
                <a:srgbClr val="FFF683"/>
              </a:buClr>
              <a:buFont typeface="Arial" panose="020B0604020202020204" pitchFamily="34" charset="0"/>
              <a:buNone/>
            </a:pPr>
            <a:r>
              <a:rPr lang="en-US" sz="1400">
                <a:solidFill>
                  <a:srgbClr val="FFFFFE"/>
                </a:solidFill>
              </a:rPr>
              <a:t>Mapping XML to ADTs enforces domain rules and ensures correctness through Haskell’s strong typing system.</a:t>
            </a:r>
          </a:p>
        </p:txBody>
      </p:sp>
      <p:sp>
        <p:nvSpPr>
          <p:cNvPr id="3" name="Date Placeholder 2">
            <a:extLst>
              <a:ext uri="{FF2B5EF4-FFF2-40B4-BE49-F238E27FC236}">
                <a16:creationId xmlns:a16="http://schemas.microsoft.com/office/drawing/2014/main" id="{3132CD34-5838-EC63-C039-761EFE06ABE8}"/>
              </a:ext>
            </a:extLst>
          </p:cNvPr>
          <p:cNvSpPr>
            <a:spLocks noGrp="1"/>
          </p:cNvSpPr>
          <p:nvPr>
            <p:ph type="dt" sz="half" idx="10"/>
          </p:nvPr>
        </p:nvSpPr>
        <p:spPr/>
        <p:txBody>
          <a:bodyPr vert="horz" lIns="91440" tIns="45720" rIns="91440" bIns="45720" rtlCol="0" anchor="ctr">
            <a:normAutofit/>
          </a:bodyPr>
          <a:lstStyle/>
          <a:p>
            <a:pPr>
              <a:spcAft>
                <a:spcPts val="600"/>
              </a:spcAft>
            </a:pPr>
            <a:fld id="{BC4A991C-762D-6E45-840C-7C32A2094B71}" type="datetime1">
              <a:rPr lang="en-IE" smtClean="0">
                <a:solidFill>
                  <a:srgbClr val="FFFFFE"/>
                </a:solidFill>
              </a:rPr>
              <a:t>04/03/2026</a:t>
            </a:fld>
            <a:endParaRPr lang="en-US">
              <a:solidFill>
                <a:srgbClr val="FFFFFE"/>
              </a:solidFill>
            </a:endParaRPr>
          </a:p>
        </p:txBody>
      </p:sp>
      <p:sp>
        <p:nvSpPr>
          <p:cNvPr id="4" name="Footer Placeholder 3">
            <a:extLst>
              <a:ext uri="{FF2B5EF4-FFF2-40B4-BE49-F238E27FC236}">
                <a16:creationId xmlns:a16="http://schemas.microsoft.com/office/drawing/2014/main" id="{E43078BD-3117-C7FD-60DE-1321D62C2D91}"/>
              </a:ext>
            </a:extLst>
          </p:cNvPr>
          <p:cNvSpPr>
            <a:spLocks noGrp="1"/>
          </p:cNvSpPr>
          <p:nvPr>
            <p:ph type="ftr" sz="quarter" idx="11"/>
          </p:nvPr>
        </p:nvSpPr>
        <p:spPr/>
        <p:txBody>
          <a:bodyPr vert="horz" lIns="91440" tIns="45720" rIns="91440" bIns="45720" rtlCol="0" anchor="ctr">
            <a:normAutofit/>
          </a:bodyPr>
          <a:lstStyle/>
          <a:p>
            <a:pPr>
              <a:spcAft>
                <a:spcPts val="600"/>
              </a:spcAft>
            </a:pPr>
            <a:r>
              <a:rPr lang="en-US">
                <a:solidFill>
                  <a:srgbClr val="FFFFFE"/>
                </a:solidFill>
              </a:rPr>
              <a:t>Sample Footer Text</a:t>
            </a:r>
          </a:p>
        </p:txBody>
      </p:sp>
      <p:sp>
        <p:nvSpPr>
          <p:cNvPr id="5" name="Slide Number Placeholder 4">
            <a:extLst>
              <a:ext uri="{FF2B5EF4-FFF2-40B4-BE49-F238E27FC236}">
                <a16:creationId xmlns:a16="http://schemas.microsoft.com/office/drawing/2014/main" id="{8A258DA0-00F5-7BD2-9295-CA2939EC87F9}"/>
              </a:ext>
            </a:extLst>
          </p:cNvPr>
          <p:cNvSpPr>
            <a:spLocks noGrp="1"/>
          </p:cNvSpPr>
          <p:nvPr>
            <p:ph type="sldNum" sz="quarter" idx="12"/>
          </p:nvPr>
        </p:nvSpPr>
        <p:spPr/>
        <p:txBody>
          <a:bodyPr vert="horz" lIns="91440" tIns="45720" rIns="91440" bIns="45720" rtlCol="0" anchor="t">
            <a:normAutofit/>
          </a:bodyPr>
          <a:lstStyle/>
          <a:p>
            <a:pPr>
              <a:lnSpc>
                <a:spcPct val="90000"/>
              </a:lnSpc>
              <a:spcAft>
                <a:spcPts val="600"/>
              </a:spcAft>
            </a:pPr>
            <a:fld id="{5E0677F5-4A8A-4BF1-96BE-3BAE8FBAFE2E}" type="slidenum">
              <a:rPr lang="en-US" smtClean="0">
                <a:solidFill>
                  <a:srgbClr val="FFF683"/>
                </a:solidFill>
              </a:rPr>
              <a:pPr>
                <a:lnSpc>
                  <a:spcPct val="90000"/>
                </a:lnSpc>
                <a:spcAft>
                  <a:spcPts val="600"/>
                </a:spcAft>
              </a:pPr>
              <a:t>14</a:t>
            </a:fld>
            <a:endParaRPr lang="en-US">
              <a:solidFill>
                <a:srgbClr val="FFF683"/>
              </a:solidFill>
            </a:endParaRPr>
          </a:p>
        </p:txBody>
      </p:sp>
      <p:pic>
        <p:nvPicPr>
          <p:cNvPr id="8" name="Content Placeholder 7" descr="Internet Network of Connected Devices and Apps.">
            <a:extLst>
              <a:ext uri="{FF2B5EF4-FFF2-40B4-BE49-F238E27FC236}">
                <a16:creationId xmlns:a16="http://schemas.microsoft.com/office/drawing/2014/main" id="{327BD863-DCC0-474F-A77B-71E11158C853}"/>
              </a:ext>
            </a:extLst>
          </p:cNvPr>
          <p:cNvPicPr>
            <a:picLocks noGrp="1" noChangeAspect="1"/>
          </p:cNvPicPr>
          <p:nvPr>
            <p:ph type="pic" sz="quarter" idx="4294967295"/>
          </p:nvPr>
        </p:nvPicPr>
        <p:blipFill>
          <a:blip r:embed="rId3"/>
          <a:srcRect t="11283" r="9090" b="12106"/>
          <a:stretch>
            <a:fillRect/>
          </a:stretch>
        </p:blipFill>
        <p:spPr>
          <a:xfrm>
            <a:off x="0" y="0"/>
            <a:ext cx="12192000" cy="6858000"/>
          </a:xfrm>
          <a:prstGeom prst="rect">
            <a:avLst/>
          </a:prstGeom>
        </p:spPr>
      </p:pic>
    </p:spTree>
    <p:extLst>
      <p:ext uri="{BB962C8B-B14F-4D97-AF65-F5344CB8AC3E}">
        <p14:creationId xmlns:p14="http://schemas.microsoft.com/office/powerpoint/2010/main" val="22885528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Image xmlns="71af3243-3dd4-4a8d-8c0d-dd76da1f02a5">
      <Url xsi:nil="true"/>
      <Description xsi:nil="true"/>
    </Image>
    <Status xmlns="71af3243-3dd4-4a8d-8c0d-dd76da1f02a5">Not started</Status>
    <Background xmlns="71af3243-3dd4-4a8d-8c0d-dd76da1f02a5">false</Background>
    <ImageTagsTaxHTField xmlns="71af3243-3dd4-4a8d-8c0d-dd76da1f02a5">
      <Terms xmlns="http://schemas.microsoft.com/office/infopath/2007/PartnerControls"/>
    </ImageTagsTaxHTField>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CDFE19F-3BE8-48B3-9B35-A01B9C3497A7}">
  <ds:schemaRefs>
    <ds:schemaRef ds:uri="http://schemas.microsoft.com/office/2006/metadata/properties"/>
    <ds:schemaRef ds:uri="http://purl.org/dc/elements/1.1/"/>
    <ds:schemaRef ds:uri="http://purl.org/dc/dcmitype/"/>
    <ds:schemaRef ds:uri="http://schemas.microsoft.com/office/infopath/2007/PartnerControls"/>
    <ds:schemaRef ds:uri="http://schemas.openxmlformats.org/package/2006/metadata/core-properties"/>
    <ds:schemaRef ds:uri="http://schemas.microsoft.com/sharepoint/v3"/>
    <ds:schemaRef ds:uri="http://www.w3.org/XML/1998/namespace"/>
    <ds:schemaRef ds:uri="http://schemas.microsoft.com/office/2006/documentManagement/types"/>
    <ds:schemaRef ds:uri="71af3243-3dd4-4a8d-8c0d-dd76da1f02a5"/>
    <ds:schemaRef ds:uri="230e9df3-be65-4c73-a93b-d1236ebd677e"/>
    <ds:schemaRef ds:uri="16c05727-aa75-4e4a-9b5f-8a80a1165891"/>
    <ds:schemaRef ds:uri="http://purl.org/dc/terms/"/>
  </ds:schemaRefs>
</ds:datastoreItem>
</file>

<file path=customXml/itemProps2.xml><?xml version="1.0" encoding="utf-8"?>
<ds:datastoreItem xmlns:ds="http://schemas.openxmlformats.org/officeDocument/2006/customXml" ds:itemID="{5C2D0E46-786A-45D3-8CE5-638765D8BA3B}">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3888480-CF61-459A-B049-2565BF1B6C2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202</TotalTime>
  <Words>3168</Words>
  <Application>Microsoft Macintosh PowerPoint</Application>
  <PresentationFormat>Widescreen</PresentationFormat>
  <Paragraphs>146</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Arial</vt:lpstr>
      <vt:lpstr>Neue Haas Grotesk Text Pro</vt:lpstr>
      <vt:lpstr>Trebuchet MS</vt:lpstr>
      <vt:lpstr>Berlin</vt:lpstr>
      <vt:lpstr>XML Structure Overview</vt:lpstr>
      <vt:lpstr>XML Overview</vt:lpstr>
      <vt:lpstr>XML as a Tree</vt:lpstr>
      <vt:lpstr>Elements (Tags)</vt:lpstr>
      <vt:lpstr>Attributes</vt:lpstr>
      <vt:lpstr>PowerPoint Presentation</vt:lpstr>
      <vt:lpstr>Text Nodes</vt:lpstr>
      <vt:lpstr>Advanced XML Features</vt:lpstr>
      <vt:lpstr>Namespaces</vt:lpstr>
      <vt:lpstr>XML Declaration</vt:lpstr>
      <vt:lpstr>Special Content Forms</vt:lpstr>
      <vt:lpstr>CDATA Sections</vt:lpstr>
      <vt:lpstr>Haskell-Oriented XML Interpretation</vt:lpstr>
      <vt:lpstr>Haskell Perspective on Parsing XML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Mairead Meagher</cp:lastModifiedBy>
  <cp:revision>2</cp:revision>
  <dcterms:created xsi:type="dcterms:W3CDTF">2025-08-11T21:04:54Z</dcterms:created>
  <dcterms:modified xsi:type="dcterms:W3CDTF">2026-03-04T23:44:03Z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