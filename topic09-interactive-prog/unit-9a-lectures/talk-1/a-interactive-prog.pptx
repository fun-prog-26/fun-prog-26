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17" r:id="rId1"/>
  </p:sldMasterIdLst>
  <p:notesMasterIdLst>
    <p:notesMasterId r:id="rId50"/>
  </p:notesMasterIdLst>
  <p:handoutMasterIdLst>
    <p:handoutMasterId r:id="rId51"/>
  </p:handoutMasterIdLst>
  <p:sldIdLst>
    <p:sldId id="354" r:id="rId2"/>
    <p:sldId id="327" r:id="rId3"/>
    <p:sldId id="328" r:id="rId4"/>
    <p:sldId id="311" r:id="rId5"/>
    <p:sldId id="338" r:id="rId6"/>
    <p:sldId id="337" r:id="rId7"/>
    <p:sldId id="333" r:id="rId8"/>
    <p:sldId id="355" r:id="rId9"/>
    <p:sldId id="384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85" r:id="rId18"/>
    <p:sldId id="342" r:id="rId19"/>
    <p:sldId id="343" r:id="rId20"/>
    <p:sldId id="348" r:id="rId21"/>
    <p:sldId id="358" r:id="rId22"/>
    <p:sldId id="379" r:id="rId23"/>
    <p:sldId id="314" r:id="rId24"/>
    <p:sldId id="359" r:id="rId25"/>
    <p:sldId id="360" r:id="rId26"/>
    <p:sldId id="361" r:id="rId27"/>
    <p:sldId id="362" r:id="rId28"/>
    <p:sldId id="363" r:id="rId29"/>
    <p:sldId id="315" r:id="rId30"/>
    <p:sldId id="357" r:id="rId31"/>
    <p:sldId id="382" r:id="rId32"/>
    <p:sldId id="380" r:id="rId33"/>
    <p:sldId id="356" r:id="rId34"/>
    <p:sldId id="316" r:id="rId35"/>
    <p:sldId id="350" r:id="rId36"/>
    <p:sldId id="351" r:id="rId37"/>
    <p:sldId id="352" r:id="rId38"/>
    <p:sldId id="353" r:id="rId39"/>
    <p:sldId id="321" r:id="rId40"/>
    <p:sldId id="322" r:id="rId41"/>
    <p:sldId id="364" r:id="rId42"/>
    <p:sldId id="366" r:id="rId43"/>
    <p:sldId id="365" r:id="rId44"/>
    <p:sldId id="368" r:id="rId45"/>
    <p:sldId id="369" r:id="rId46"/>
    <p:sldId id="367" r:id="rId47"/>
    <p:sldId id="378" r:id="rId48"/>
    <p:sldId id="383" r:id="rId49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7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224" y="6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 smtClean="0"/>
            </a:lvl1pPr>
          </a:lstStyle>
          <a:p>
            <a:pPr>
              <a:defRPr/>
            </a:pPr>
            <a:fld id="{2B96062C-6FD5-BF45-B17E-A7A77D6F18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313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CEFF46E-BE6E-E84D-A0FB-FF6E504D21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557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A3AE60F9-A131-F94E-A98C-7558761703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27722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32D23C-94D8-CF43-9B90-90974AB0299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60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C7EF7847-0AB9-DB41-87E5-37C6A9E25DF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231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F3E62A-5B6C-F94C-82F8-672741789A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97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2EF2ED-381C-D546-AC07-027B99FBCA2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5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8D2931-D0F9-484F-947F-B6390F753E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5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BF29-9BD6-6D4E-B3F8-96E69563A4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9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BFF7A8-4DA3-3646-97AF-7DBAD94450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22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004FD-D8C0-C04A-AC40-020A4358C1C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55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A3AE60F9-A131-F94E-A98C-7558761703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97092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A3AE60F9-A131-F94E-A98C-7558761703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46880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3AE60F9-A131-F94E-A98C-7558761703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790912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3AE60F9-A131-F94E-A98C-7558761703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17501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E60F9-A131-F94E-A98C-7558761703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27848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E60F9-A131-F94E-A98C-7558761703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72054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193D00-20FA-D747-B7C9-651F6E92429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597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E571CDBB-874E-CC4A-974F-C00CBE20FE8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3AE60F9-A131-F94E-A98C-7558761703B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166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7UmUX68KtE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as.upenn.edu/~cis194/fall16/index.html" TargetMode="Externa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ED357BA-8B88-4D40-A6E0-C4C7405B7B93}" type="slidenum">
              <a:rPr lang="en-US" sz="1400"/>
              <a:pPr/>
              <a:t>0</a:t>
            </a:fld>
            <a:endParaRPr lang="en-US" sz="1400" dirty="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3600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1" lang="en-US" sz="3200" dirty="0"/>
              <a:t>Topic 9- Interactive Programming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Introduction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407B516-095F-554E-893F-BCCB72B8AE9A}" type="slidenum">
              <a:rPr lang="en-US" sz="1400"/>
              <a:pPr/>
              <a:t>1</a:t>
            </a:fld>
            <a:endParaRPr lang="en-US" sz="1400" dirty="0"/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72979" y="2296624"/>
            <a:ext cx="1035647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To date, we have seen how Haskell can be used to write </a:t>
            </a:r>
            <a:r>
              <a:rPr lang="en-US" u="sng" dirty="0"/>
              <a:t>batch</a:t>
            </a:r>
            <a:r>
              <a:rPr lang="en-US" dirty="0"/>
              <a:t> programs that take all their inputs at the start and give all their outputs at the end.</a:t>
            </a:r>
          </a:p>
        </p:txBody>
      </p:sp>
      <p:sp>
        <p:nvSpPr>
          <p:cNvPr id="16394" name="Rectangle 29"/>
          <p:cNvSpPr>
            <a:spLocks noChangeArrowheads="1"/>
          </p:cNvSpPr>
          <p:nvPr/>
        </p:nvSpPr>
        <p:spPr bwMode="auto">
          <a:xfrm>
            <a:off x="5091114" y="4329119"/>
            <a:ext cx="1695450" cy="954088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dirty="0"/>
              <a:t>batch program</a:t>
            </a:r>
          </a:p>
        </p:txBody>
      </p:sp>
      <p:sp>
        <p:nvSpPr>
          <p:cNvPr id="16390" name="Text Box 27"/>
          <p:cNvSpPr txBox="1">
            <a:spLocks noChangeArrowheads="1"/>
          </p:cNvSpPr>
          <p:nvPr/>
        </p:nvSpPr>
        <p:spPr bwMode="auto">
          <a:xfrm>
            <a:off x="2655889" y="4230694"/>
            <a:ext cx="1198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i="1" dirty="0"/>
              <a:t>inputs</a:t>
            </a:r>
            <a:endParaRPr lang="en-US" dirty="0"/>
          </a:p>
        </p:txBody>
      </p:sp>
      <p:sp>
        <p:nvSpPr>
          <p:cNvPr id="16391" name="AutoShape 30"/>
          <p:cNvSpPr>
            <a:spLocks noChangeArrowheads="1"/>
          </p:cNvSpPr>
          <p:nvPr/>
        </p:nvSpPr>
        <p:spPr bwMode="auto">
          <a:xfrm>
            <a:off x="2840039" y="4543431"/>
            <a:ext cx="1854200" cy="1095376"/>
          </a:xfrm>
          <a:prstGeom prst="rightArrow">
            <a:avLst>
              <a:gd name="adj1" fmla="val 47370"/>
              <a:gd name="adj2" fmla="val 63055"/>
            </a:avLst>
          </a:prstGeom>
          <a:solidFill>
            <a:srgbClr val="008000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dirty="0"/>
          </a:p>
        </p:txBody>
      </p:sp>
      <p:sp>
        <p:nvSpPr>
          <p:cNvPr id="16392" name="Text Box 45"/>
          <p:cNvSpPr txBox="1">
            <a:spLocks noChangeArrowheads="1"/>
          </p:cNvSpPr>
          <p:nvPr/>
        </p:nvSpPr>
        <p:spPr bwMode="auto">
          <a:xfrm>
            <a:off x="7469189" y="4168781"/>
            <a:ext cx="1443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i="1" dirty="0"/>
              <a:t>outputs</a:t>
            </a:r>
            <a:endParaRPr lang="en-US" dirty="0"/>
          </a:p>
        </p:txBody>
      </p:sp>
      <p:sp>
        <p:nvSpPr>
          <p:cNvPr id="16393" name="AutoShape 46"/>
          <p:cNvSpPr>
            <a:spLocks noChangeArrowheads="1"/>
          </p:cNvSpPr>
          <p:nvPr/>
        </p:nvSpPr>
        <p:spPr bwMode="auto">
          <a:xfrm>
            <a:off x="7185026" y="4543431"/>
            <a:ext cx="1854200" cy="1095376"/>
          </a:xfrm>
          <a:prstGeom prst="rightArrow">
            <a:avLst>
              <a:gd name="adj1" fmla="val 47370"/>
              <a:gd name="adj2" fmla="val 63055"/>
            </a:avLst>
          </a:prstGeom>
          <a:solidFill>
            <a:srgbClr val="008000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" grpId="0" animBg="1"/>
      <p:bldP spid="16390" grpId="0"/>
      <p:bldP spid="16391" grpId="0" animBg="1"/>
      <p:bldP spid="16392" grpId="0"/>
      <p:bldP spid="1639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49ABA13-77B5-DD45-B86F-64192E25535D}" type="slidenum">
              <a:rPr lang="en-US" sz="1400"/>
              <a:pPr/>
              <a:t>2</a:t>
            </a:fld>
            <a:endParaRPr lang="en-US" sz="1400" dirty="0"/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417513" y="2026049"/>
            <a:ext cx="11356974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However, we would also like to use Haskell to write </a:t>
            </a:r>
            <a:r>
              <a:rPr lang="en-US" u="sng" dirty="0"/>
              <a:t>interactive</a:t>
            </a:r>
            <a:r>
              <a:rPr lang="en-US" dirty="0"/>
              <a:t> programs that read from the keyboard and write to the screen, as they are running.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816164-17FE-11FB-9CA7-E466B1D7B17A}"/>
              </a:ext>
            </a:extLst>
          </p:cNvPr>
          <p:cNvGrpSpPr/>
          <p:nvPr/>
        </p:nvGrpSpPr>
        <p:grpSpPr>
          <a:xfrm>
            <a:off x="2500314" y="3287713"/>
            <a:ext cx="6510337" cy="3570287"/>
            <a:chOff x="2500314" y="3287713"/>
            <a:chExt cx="6510337" cy="3570287"/>
          </a:xfrm>
        </p:grpSpPr>
        <p:sp>
          <p:nvSpPr>
            <p:cNvPr id="17418" name="Text Box 65"/>
            <p:cNvSpPr txBox="1">
              <a:spLocks noChangeArrowheads="1"/>
            </p:cNvSpPr>
            <p:nvPr/>
          </p:nvSpPr>
          <p:spPr bwMode="auto">
            <a:xfrm>
              <a:off x="5143501" y="3287713"/>
              <a:ext cx="163036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i="1" dirty="0"/>
                <a:t>keyboard</a:t>
              </a:r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873F08C-B7FF-81DB-FA23-97D81D5D1C4B}"/>
                </a:ext>
              </a:extLst>
            </p:cNvPr>
            <p:cNvGrpSpPr/>
            <p:nvPr/>
          </p:nvGrpSpPr>
          <p:grpSpPr>
            <a:xfrm>
              <a:off x="2500314" y="3898900"/>
              <a:ext cx="6510337" cy="2959100"/>
              <a:chOff x="2500314" y="3898900"/>
              <a:chExt cx="6510337" cy="2959100"/>
            </a:xfrm>
          </p:grpSpPr>
          <p:sp>
            <p:nvSpPr>
              <p:cNvPr id="17412" name="Rectangle 54"/>
              <p:cNvSpPr>
                <a:spLocks noChangeArrowheads="1"/>
              </p:cNvSpPr>
              <p:nvPr/>
            </p:nvSpPr>
            <p:spPr bwMode="auto">
              <a:xfrm>
                <a:off x="4914901" y="4578350"/>
                <a:ext cx="2117725" cy="981075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7417" name="AutoShape 61"/>
              <p:cNvSpPr>
                <a:spLocks noChangeArrowheads="1"/>
              </p:cNvSpPr>
              <p:nvPr/>
            </p:nvSpPr>
            <p:spPr bwMode="auto">
              <a:xfrm>
                <a:off x="7156451" y="4576763"/>
                <a:ext cx="1854200" cy="1095375"/>
              </a:xfrm>
              <a:prstGeom prst="rightArrow">
                <a:avLst>
                  <a:gd name="adj1" fmla="val 47370"/>
                  <a:gd name="adj2" fmla="val 63055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7413" name="Text Box 55"/>
              <p:cNvSpPr txBox="1">
                <a:spLocks noChangeArrowheads="1"/>
              </p:cNvSpPr>
              <p:nvPr/>
            </p:nvSpPr>
            <p:spPr bwMode="auto">
              <a:xfrm>
                <a:off x="5143501" y="4552950"/>
                <a:ext cx="1814512" cy="946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/>
                  <a:t>interactive</a:t>
                </a:r>
              </a:p>
              <a:p>
                <a:pPr algn="ctr"/>
                <a:r>
                  <a:rPr lang="en-US" dirty="0"/>
                  <a:t>program</a:t>
                </a:r>
              </a:p>
            </p:txBody>
          </p:sp>
          <p:sp>
            <p:nvSpPr>
              <p:cNvPr id="17414" name="Text Box 57"/>
              <p:cNvSpPr txBox="1">
                <a:spLocks noChangeArrowheads="1"/>
              </p:cNvSpPr>
              <p:nvPr/>
            </p:nvSpPr>
            <p:spPr bwMode="auto">
              <a:xfrm>
                <a:off x="2500314" y="4295775"/>
                <a:ext cx="113665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i="1" dirty="0"/>
                  <a:t>inputs</a:t>
                </a:r>
                <a:endParaRPr lang="en-US" dirty="0"/>
              </a:p>
            </p:txBody>
          </p:sp>
          <p:sp>
            <p:nvSpPr>
              <p:cNvPr id="17415" name="AutoShape 58"/>
              <p:cNvSpPr>
                <a:spLocks noChangeArrowheads="1"/>
              </p:cNvSpPr>
              <p:nvPr/>
            </p:nvSpPr>
            <p:spPr bwMode="auto">
              <a:xfrm>
                <a:off x="2824164" y="4576763"/>
                <a:ext cx="1854200" cy="1095375"/>
              </a:xfrm>
              <a:prstGeom prst="rightArrow">
                <a:avLst>
                  <a:gd name="adj1" fmla="val 47370"/>
                  <a:gd name="adj2" fmla="val 63055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7416" name="Text Box 60"/>
              <p:cNvSpPr txBox="1">
                <a:spLocks noChangeArrowheads="1"/>
              </p:cNvSpPr>
              <p:nvPr/>
            </p:nvSpPr>
            <p:spPr bwMode="auto">
              <a:xfrm>
                <a:off x="7554914" y="4202113"/>
                <a:ext cx="1368425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i="1" dirty="0"/>
                  <a:t>outputs</a:t>
                </a:r>
                <a:endParaRPr lang="en-US" dirty="0"/>
              </a:p>
            </p:txBody>
          </p:sp>
          <p:sp>
            <p:nvSpPr>
              <p:cNvPr id="17419" name="Text Box 66"/>
              <p:cNvSpPr txBox="1">
                <a:spLocks noChangeArrowheads="1"/>
              </p:cNvSpPr>
              <p:nvPr/>
            </p:nvSpPr>
            <p:spPr bwMode="auto">
              <a:xfrm>
                <a:off x="5307014" y="6338888"/>
                <a:ext cx="1208087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i="1" dirty="0"/>
                  <a:t>screen</a:t>
                </a:r>
                <a:endParaRPr lang="en-US" dirty="0"/>
              </a:p>
            </p:txBody>
          </p:sp>
          <p:sp>
            <p:nvSpPr>
              <p:cNvPr id="17420" name="AutoShape 82"/>
              <p:cNvSpPr>
                <a:spLocks noChangeArrowheads="1"/>
              </p:cNvSpPr>
              <p:nvPr/>
            </p:nvSpPr>
            <p:spPr bwMode="auto">
              <a:xfrm>
                <a:off x="5810251" y="3898900"/>
                <a:ext cx="296862" cy="593725"/>
              </a:xfrm>
              <a:prstGeom prst="downArrow">
                <a:avLst>
                  <a:gd name="adj1" fmla="val 41176"/>
                  <a:gd name="adj2" fmla="val 60966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7421" name="AutoShape 88"/>
              <p:cNvSpPr>
                <a:spLocks noChangeArrowheads="1"/>
              </p:cNvSpPr>
              <p:nvPr/>
            </p:nvSpPr>
            <p:spPr bwMode="auto">
              <a:xfrm>
                <a:off x="5762626" y="5675313"/>
                <a:ext cx="296862" cy="593725"/>
              </a:xfrm>
              <a:prstGeom prst="downArrow">
                <a:avLst>
                  <a:gd name="adj1" fmla="val 41176"/>
                  <a:gd name="adj2" fmla="val 60966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E33EFB64-E8B2-FF39-CD64-2C24D5272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mystery’s in Java ..</a:t>
            </a:r>
          </a:p>
        </p:txBody>
      </p:sp>
      <p:sp>
        <p:nvSpPr>
          <p:cNvPr id="2457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FC55945-77D7-F847-8BFA-ADE012065D1A}" type="slidenum">
              <a:rPr lang="en-US" sz="1400"/>
              <a:pPr/>
              <a:t>3</a:t>
            </a:fld>
            <a:endParaRPr lang="en-US" sz="1400" dirty="0"/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680321" y="2003097"/>
            <a:ext cx="5339923" cy="142590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IE" sz="1400" b="1" dirty="0">
                <a:latin typeface="Lucida Sans Typewriter" panose="020B0509030504030204" pitchFamily="49" charset="77"/>
              </a:rPr>
              <a:t>public static int </a:t>
            </a:r>
            <a:r>
              <a:rPr lang="en-IE" sz="1400" dirty="0">
                <a:latin typeface="Lucida Sans Typewriter" panose="020B0509030504030204" pitchFamily="49" charset="77"/>
              </a:rPr>
              <a:t>mystery1(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val1, 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val2) {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val3 = 3;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return </a:t>
            </a:r>
            <a:r>
              <a:rPr lang="en-IE" sz="1400" dirty="0">
                <a:latin typeface="Lucida Sans Typewriter" panose="020B0509030504030204" pitchFamily="49" charset="77"/>
              </a:rPr>
              <a:t>(val1+val2+val3)^2;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}</a:t>
            </a:r>
            <a:br>
              <a:rPr lang="en-IE" sz="1800" dirty="0">
                <a:latin typeface="Lucida Sans Typewriter" panose="020B0509030504030204" pitchFamily="49" charset="77"/>
              </a:rPr>
            </a:br>
            <a:endParaRPr lang="en-US" sz="1800" dirty="0">
              <a:latin typeface="Lucida Sans Typewriter" panose="020B0509030504030204" pitchFamily="49" charset="77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2DB742E-4350-AA40-AB29-AFFAAFAA3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87" y="3787951"/>
            <a:ext cx="5379613" cy="297658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IE" sz="1400" b="1" dirty="0">
                <a:latin typeface="Lucida Sans Typewriter" panose="020B0509030504030204" pitchFamily="49" charset="77"/>
              </a:rPr>
              <a:t>public static int </a:t>
            </a:r>
            <a:r>
              <a:rPr lang="en-IE" sz="1400" dirty="0">
                <a:latin typeface="Lucida Sans Typewriter" panose="020B0509030504030204" pitchFamily="49" charset="77"/>
              </a:rPr>
              <a:t>mystery2(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val1, 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val2) {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val3 = 3;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Scanner in = </a:t>
            </a:r>
            <a:r>
              <a:rPr lang="en-IE" sz="1400" b="1" dirty="0">
                <a:latin typeface="Lucida Sans Typewriter" panose="020B0509030504030204" pitchFamily="49" charset="77"/>
              </a:rPr>
              <a:t>new </a:t>
            </a:r>
            <a:r>
              <a:rPr lang="en-IE" sz="1400" dirty="0">
                <a:latin typeface="Lucida Sans Typewriter" panose="020B0509030504030204" pitchFamily="49" charset="77"/>
              </a:rPr>
              <a:t>Scanner(System.</a:t>
            </a:r>
            <a:r>
              <a:rPr lang="en-IE" sz="1400" b="1" i="1" dirty="0">
                <a:latin typeface="Lucida Sans Typewriter" panose="020B0509030504030204" pitchFamily="49" charset="77"/>
              </a:rPr>
              <a:t>in</a:t>
            </a:r>
            <a:r>
              <a:rPr lang="en-IE" sz="1400" dirty="0">
                <a:latin typeface="Lucida Sans Typewriter" panose="020B0509030504030204" pitchFamily="49" charset="77"/>
              </a:rPr>
              <a:t>);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System.</a:t>
            </a:r>
            <a:r>
              <a:rPr lang="en-IE" sz="1400" b="1" i="1" dirty="0">
                <a:latin typeface="Lucida Sans Typewriter" panose="020B0509030504030204" pitchFamily="49" charset="77"/>
              </a:rPr>
              <a:t>out</a:t>
            </a:r>
            <a:r>
              <a:rPr lang="en-IE" sz="1400" dirty="0">
                <a:latin typeface="Lucida Sans Typewriter" panose="020B0509030504030204" pitchFamily="49" charset="77"/>
              </a:rPr>
              <a:t>.println(</a:t>
            </a:r>
            <a:r>
              <a:rPr lang="en-IE" sz="1400" b="1" dirty="0">
                <a:latin typeface="Lucida Sans Typewriter" panose="020B0509030504030204" pitchFamily="49" charset="77"/>
              </a:rPr>
              <a:t>"Enter a number: "</a:t>
            </a:r>
            <a:r>
              <a:rPr lang="en-IE" sz="1400" dirty="0">
                <a:latin typeface="Lucida Sans Typewriter" panose="020B0509030504030204" pitchFamily="49" charset="77"/>
              </a:rPr>
              <a:t>);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try </a:t>
            </a:r>
            <a:r>
              <a:rPr lang="en-IE" sz="1400" dirty="0">
                <a:latin typeface="Lucida Sans Typewriter" panose="020B0509030504030204" pitchFamily="49" charset="77"/>
              </a:rPr>
              <a:t>{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    val3 = in.nextInt();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} </a:t>
            </a:r>
            <a:r>
              <a:rPr lang="en-IE" sz="1400" b="1" dirty="0">
                <a:latin typeface="Lucida Sans Typewriter" panose="020B0509030504030204" pitchFamily="49" charset="77"/>
              </a:rPr>
              <a:t>catch </a:t>
            </a:r>
            <a:r>
              <a:rPr lang="en-IE" sz="1400" dirty="0">
                <a:latin typeface="Lucida Sans Typewriter" panose="020B0509030504030204" pitchFamily="49" charset="77"/>
              </a:rPr>
              <a:t>(Exception e) {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    e.printStackTrace();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}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return </a:t>
            </a:r>
            <a:r>
              <a:rPr lang="en-IE" sz="1400" dirty="0">
                <a:latin typeface="Lucida Sans Typewriter" panose="020B0509030504030204" pitchFamily="49" charset="77"/>
              </a:rPr>
              <a:t>(val1+val2+val3)^2;</a:t>
            </a:r>
            <a:br>
              <a:rPr lang="en-IE" sz="1800" dirty="0"/>
            </a:br>
            <a:r>
              <a:rPr lang="en-IE" sz="1800" dirty="0"/>
              <a:t>}</a:t>
            </a:r>
            <a:endParaRPr lang="en-US" sz="1800" dirty="0">
              <a:latin typeface="Lucida Sans Typewriter" panose="020B0509030504030204" pitchFamily="49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4198A-E452-6242-A235-54B3D06F3CAD}"/>
              </a:ext>
            </a:extLst>
          </p:cNvPr>
          <p:cNvSpPr txBox="1"/>
          <p:nvPr/>
        </p:nvSpPr>
        <p:spPr>
          <a:xfrm>
            <a:off x="8339605" y="2205732"/>
            <a:ext cx="2700928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Both have the same signature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0212F3-3FC4-FC4D-9F16-76B0B3CE2D57}"/>
              </a:ext>
            </a:extLst>
          </p:cNvPr>
          <p:cNvCxnSpPr>
            <a:cxnSpLocks/>
            <a:stCxn id="3" idx="1"/>
          </p:cNvCxnSpPr>
          <p:nvPr/>
        </p:nvCxnSpPr>
        <p:spPr bwMode="auto">
          <a:xfrm flipH="1" flipV="1">
            <a:off x="6171758" y="2185184"/>
            <a:ext cx="2167847" cy="436047"/>
          </a:xfrm>
          <a:prstGeom prst="straightConnector1">
            <a:avLst/>
          </a:prstGeom>
          <a:noFill/>
          <a:ln w="41275" cap="sq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511AB4-38AD-6D41-8952-00A015E234FD}"/>
              </a:ext>
            </a:extLst>
          </p:cNvPr>
          <p:cNvCxnSpPr>
            <a:cxnSpLocks/>
          </p:cNvCxnSpPr>
          <p:nvPr/>
        </p:nvCxnSpPr>
        <p:spPr bwMode="auto">
          <a:xfrm flipH="1">
            <a:off x="4893733" y="2553630"/>
            <a:ext cx="2964160" cy="1148889"/>
          </a:xfrm>
          <a:prstGeom prst="straightConnector1">
            <a:avLst/>
          </a:prstGeom>
          <a:noFill/>
          <a:ln w="41275" cap="sq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CA081F-147A-0A41-A8D3-D24106D42A1F}"/>
              </a:ext>
            </a:extLst>
          </p:cNvPr>
          <p:cNvSpPr txBox="1"/>
          <p:nvPr/>
        </p:nvSpPr>
        <p:spPr>
          <a:xfrm>
            <a:off x="7902064" y="3639773"/>
            <a:ext cx="4239833" cy="267765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mystery2</a:t>
            </a:r>
            <a:r>
              <a:rPr lang="en-US" sz="2400" dirty="0"/>
              <a:t> depends on the outside world. </a:t>
            </a:r>
          </a:p>
          <a:p>
            <a:endParaRPr lang="en-US" sz="2400" dirty="0"/>
          </a:p>
          <a:p>
            <a:r>
              <a:rPr lang="en-US" sz="2400" dirty="0"/>
              <a:t>Specifically, if I call mystery2(4,5) today and tomorrow, I may get different results.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F0E284-C1A4-434C-B7B5-04D6F6DAB92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350282" y="3950915"/>
            <a:ext cx="4595736" cy="118072"/>
          </a:xfrm>
          <a:prstGeom prst="straightConnector1">
            <a:avLst/>
          </a:prstGeom>
          <a:noFill/>
          <a:ln w="41275" cap="sq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839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8" grpId="0" animBg="1"/>
      <p:bldP spid="3" grpId="0" animBg="1"/>
      <p:bldP spid="10" grpId="0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Problem</a:t>
            </a:r>
          </a:p>
        </p:txBody>
      </p:sp>
      <p:sp>
        <p:nvSpPr>
          <p:cNvPr id="1843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F65A6C2-99CD-844B-8EFA-262C7BCC8C3E}" type="slidenum">
              <a:rPr lang="en-US" sz="1400"/>
              <a:pPr/>
              <a:t>4</a:t>
            </a:fld>
            <a:endParaRPr lang="en-US" sz="1400" dirty="0"/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680321" y="2266056"/>
            <a:ext cx="103094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Haskell programs are pure mathematical functions: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80321" y="4238095"/>
            <a:ext cx="973367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However, reading from the keyboard and writing to the screen are side effects: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1356100" y="3123425"/>
            <a:ext cx="8938082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Haskell programs </a:t>
            </a:r>
            <a:r>
              <a:rPr kumimoji="1" lang="en-US" sz="2800" u="sng" dirty="0"/>
              <a:t>have no side effects</a:t>
            </a:r>
            <a:r>
              <a:rPr kumimoji="1" lang="en-US" sz="2800" dirty="0"/>
              <a:t>.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1356100" y="5466291"/>
            <a:ext cx="8770033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Interactive programs </a:t>
            </a:r>
            <a:r>
              <a:rPr kumimoji="1" lang="en-US" sz="2800" u="sng" dirty="0"/>
              <a:t>have side effects</a:t>
            </a:r>
            <a:r>
              <a:rPr kumimoji="1" lang="en-US" sz="28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  <p:bldP spid="18436" grpId="0"/>
      <p:bldP spid="18437" grpId="0"/>
      <p:bldP spid="184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Solution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55CA6B1-4C28-784E-A251-3215F91FDBCA}" type="slidenum">
              <a:rPr lang="en-US" sz="1400"/>
              <a:pPr/>
              <a:t>5</a:t>
            </a:fld>
            <a:endParaRPr lang="en-US" sz="1400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486569" y="2150193"/>
            <a:ext cx="10452364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Interactive programs can be written in Haskell by using types to distinguish pure expressions from impure </a:t>
            </a:r>
            <a:r>
              <a:rPr lang="en-US" u="sng" dirty="0"/>
              <a:t>actions</a:t>
            </a:r>
            <a:r>
              <a:rPr lang="en-US" dirty="0"/>
              <a:t> that may involve side effects.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3629025" y="3859504"/>
            <a:ext cx="928688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IO a</a:t>
            </a:r>
          </a:p>
        </p:txBody>
      </p:sp>
      <p:sp>
        <p:nvSpPr>
          <p:cNvPr id="19461" name="AutoShape 5"/>
          <p:cNvSpPr>
            <a:spLocks noChangeArrowheads="1"/>
          </p:cNvSpPr>
          <p:nvPr/>
        </p:nvSpPr>
        <p:spPr bwMode="auto">
          <a:xfrm>
            <a:off x="2795059" y="5337401"/>
            <a:ext cx="4418013" cy="1055608"/>
          </a:xfrm>
          <a:prstGeom prst="wedgeRoundRectCallout">
            <a:avLst>
              <a:gd name="adj1" fmla="val -22333"/>
              <a:gd name="adj2" fmla="val -142789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800" dirty="0"/>
              <a:t>The type of actions that return a value of type 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  <p:bldP spid="1946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3EF2C-4546-CC80-E63A-789FD98AF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IO Types</a:t>
            </a:r>
          </a:p>
        </p:txBody>
      </p:sp>
      <p:sp>
        <p:nvSpPr>
          <p:cNvPr id="2048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E4D554D-D519-594E-9A56-7CDA59068B69}" type="slidenum">
              <a:rPr lang="en-US" sz="1400"/>
              <a:pPr/>
              <a:t>6</a:t>
            </a:fld>
            <a:endParaRPr lang="en-US" sz="1400" dirty="0"/>
          </a:p>
        </p:txBody>
      </p: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51846" y="2042681"/>
            <a:ext cx="2243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924810" y="2902020"/>
            <a:ext cx="1486304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IO Char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041508" y="4051337"/>
            <a:ext cx="1114408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IO ()</a:t>
            </a:r>
          </a:p>
        </p:txBody>
      </p:sp>
      <p:sp>
        <p:nvSpPr>
          <p:cNvPr id="20485" name="AutoShape 5"/>
          <p:cNvSpPr>
            <a:spLocks noChangeArrowheads="1"/>
          </p:cNvSpPr>
          <p:nvPr/>
        </p:nvSpPr>
        <p:spPr bwMode="auto">
          <a:xfrm>
            <a:off x="5648325" y="2619988"/>
            <a:ext cx="4183063" cy="1055608"/>
          </a:xfrm>
          <a:prstGeom prst="wedgeRoundRectCallout">
            <a:avLst>
              <a:gd name="adj1" fmla="val -102260"/>
              <a:gd name="adj2" fmla="val -145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800" dirty="0"/>
              <a:t>The type of actions that return a character.</a:t>
            </a:r>
          </a:p>
        </p:txBody>
      </p:sp>
      <p:sp>
        <p:nvSpPr>
          <p:cNvPr id="20486" name="AutoShape 6"/>
          <p:cNvSpPr>
            <a:spLocks noChangeArrowheads="1"/>
          </p:cNvSpPr>
          <p:nvPr/>
        </p:nvSpPr>
        <p:spPr bwMode="auto">
          <a:xfrm>
            <a:off x="5648325" y="4055640"/>
            <a:ext cx="4144963" cy="1532334"/>
          </a:xfrm>
          <a:prstGeom prst="wedgeRoundRectCallout">
            <a:avLst>
              <a:gd name="adj1" fmla="val -109097"/>
              <a:gd name="adj2" fmla="val -2493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800" dirty="0"/>
              <a:t>The type of purely side effecting actions that return </a:t>
            </a:r>
            <a:r>
              <a:rPr lang="en-US" sz="2800" u="sng" dirty="0"/>
              <a:t>no</a:t>
            </a:r>
            <a:r>
              <a:rPr lang="en-US" sz="2800" dirty="0"/>
              <a:t> result value.</a:t>
            </a:r>
          </a:p>
        </p:txBody>
      </p:sp>
      <p:sp>
        <p:nvSpPr>
          <p:cNvPr id="20487" name="Rectangle 15"/>
          <p:cNvSpPr>
            <a:spLocks noChangeArrowheads="1"/>
          </p:cNvSpPr>
          <p:nvPr/>
        </p:nvSpPr>
        <p:spPr bwMode="auto">
          <a:xfrm>
            <a:off x="1706619" y="5787272"/>
            <a:ext cx="75612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() is the type of tuples with no components.</a:t>
            </a:r>
          </a:p>
        </p:txBody>
      </p:sp>
      <p:sp>
        <p:nvSpPr>
          <p:cNvPr id="20488" name="Text Box 16"/>
          <p:cNvSpPr txBox="1">
            <a:spLocks noChangeArrowheads="1"/>
          </p:cNvSpPr>
          <p:nvPr/>
        </p:nvSpPr>
        <p:spPr bwMode="auto">
          <a:xfrm>
            <a:off x="388912" y="5332943"/>
            <a:ext cx="104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Note: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nimBg="1"/>
      <p:bldP spid="20484" grpId="0" animBg="1"/>
      <p:bldP spid="20485" grpId="0" animBg="1"/>
      <p:bldP spid="20486" grpId="0" animBg="1"/>
      <p:bldP spid="20487" grpId="0"/>
      <p:bldP spid="2048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What is an Action?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7</a:t>
            </a:fld>
            <a:endParaRPr lang="en-US" sz="1400" dirty="0"/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124923" y="2352017"/>
            <a:ext cx="12067077" cy="40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Actions: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Have the type </a:t>
            </a:r>
            <a:r>
              <a:rPr kumimoji="1" lang="en-US" sz="2800" dirty="0">
                <a:solidFill>
                  <a:srgbClr val="FFFF00"/>
                </a:solidFill>
              </a:rPr>
              <a:t>IO t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>
              <a:solidFill>
                <a:srgbClr val="FFFF00"/>
              </a:solidFill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Are first-class values in Haskell – fit in seamlessly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Produce an effect when they are performed, but not when evaluated. i.e. they produce an effect only when called by something  else in an I/O context.</a:t>
            </a:r>
          </a:p>
        </p:txBody>
      </p:sp>
    </p:spTree>
    <p:extLst>
      <p:ext uri="{BB962C8B-B14F-4D97-AF65-F5344CB8AC3E}">
        <p14:creationId xmlns:p14="http://schemas.microsoft.com/office/powerpoint/2010/main" val="346194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8746-BD1F-B16C-72D6-EF01CD35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E07E5D43-DA2D-A745-1434-1FFA99E6B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What is an Action?</a:t>
            </a:r>
          </a:p>
        </p:txBody>
      </p:sp>
      <p:sp>
        <p:nvSpPr>
          <p:cNvPr id="21505" name="Slide Number Placeholder 2">
            <a:extLst>
              <a:ext uri="{FF2B5EF4-FFF2-40B4-BE49-F238E27FC236}">
                <a16:creationId xmlns:a16="http://schemas.microsoft.com/office/drawing/2014/main" id="{18D301AE-89A9-5167-F4EB-8BF14B57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8</a:t>
            </a:fld>
            <a:endParaRPr lang="en-US" sz="1400" dirty="0"/>
          </a:p>
        </p:txBody>
      </p:sp>
      <p:sp>
        <p:nvSpPr>
          <p:cNvPr id="21509" name="Rectangle 6">
            <a:extLst>
              <a:ext uri="{FF2B5EF4-FFF2-40B4-BE49-F238E27FC236}">
                <a16:creationId xmlns:a16="http://schemas.microsoft.com/office/drawing/2014/main" id="{8329B59C-830E-C1F2-51FB-A153C19B7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23" y="2352017"/>
            <a:ext cx="12067077" cy="40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Actions: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Any expression may produce an action as its value, but the action will not perform I/O until it is executed inside another I/O action (or it is main)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Performing (executing) an action of type </a:t>
            </a:r>
          </a:p>
          <a:p>
            <a:pPr marL="1828800" lvl="3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b="1" dirty="0"/>
              <a:t>IO t</a:t>
            </a:r>
            <a:r>
              <a:rPr kumimoji="1" lang="en-US" sz="2800" dirty="0"/>
              <a:t> </a:t>
            </a:r>
          </a:p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      may perform I/O and will ultimately deliver a result of type t. </a:t>
            </a:r>
          </a:p>
        </p:txBody>
      </p:sp>
    </p:spTree>
    <p:extLst>
      <p:ext uri="{BB962C8B-B14F-4D97-AF65-F5344CB8AC3E}">
        <p14:creationId xmlns:p14="http://schemas.microsoft.com/office/powerpoint/2010/main" val="103951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IO Type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9</a:t>
            </a:fld>
            <a:endParaRPr lang="en-US" sz="1400" dirty="0"/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1267883" y="2556932"/>
            <a:ext cx="9789584" cy="409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Actions: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IE" sz="2800" dirty="0"/>
              <a:t>Values of type </a:t>
            </a:r>
          </a:p>
          <a:p>
            <a:pPr lvl="1" algn="ctr">
              <a:spcBef>
                <a:spcPct val="20000"/>
              </a:spcBef>
              <a:buClr>
                <a:schemeClr val="accent2"/>
              </a:buClr>
            </a:pPr>
            <a:r>
              <a:rPr lang="en-IE" sz="2800" b="1" dirty="0"/>
              <a:t>IO a 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</a:pPr>
            <a:r>
              <a:rPr lang="en-IE" sz="2800" dirty="0"/>
              <a:t>are </a:t>
            </a:r>
          </a:p>
          <a:p>
            <a:pPr marL="914400" lvl="1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IE" sz="2800" i="1" dirty="0"/>
              <a:t>descriptions of</a:t>
            </a:r>
            <a:r>
              <a:rPr lang="en-IE" sz="2800" dirty="0"/>
              <a:t> effectful computations, </a:t>
            </a:r>
          </a:p>
          <a:p>
            <a:pPr marL="914400" lvl="1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IE" sz="2800" dirty="0"/>
              <a:t>which, if executed would (possibly) perform some effectful I/O operations and (eventually) produce a value of type a.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376980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IO Type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10</a:t>
            </a:fld>
            <a:endParaRPr lang="en-US" sz="14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9C701AE-AA36-2F44-A73D-F78CD8C97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4357" y="2874174"/>
            <a:ext cx="1858201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c :: Cake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9315BA-C5C5-0D4A-B6E3-F2251502E771}"/>
              </a:ext>
            </a:extLst>
          </p:cNvPr>
          <p:cNvCxnSpPr/>
          <p:nvPr/>
        </p:nvCxnSpPr>
        <p:spPr bwMode="auto">
          <a:xfrm>
            <a:off x="4854779" y="3080959"/>
            <a:ext cx="1795549" cy="0"/>
          </a:xfrm>
          <a:prstGeom prst="straightConnector1">
            <a:avLst/>
          </a:prstGeom>
          <a:noFill/>
          <a:ln w="66675" cap="sq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1F4B146-37B5-1743-AA77-9B844CF5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198" y="2394103"/>
            <a:ext cx="34925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7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IO Type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11</a:t>
            </a:fld>
            <a:endParaRPr lang="en-US" sz="14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A9C701AE-AA36-2F44-A73D-F78CD8C97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773" y="3245360"/>
            <a:ext cx="3159839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c :: Recipe Cake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52615C-B3CC-8947-86BB-545681BCE4ED}"/>
              </a:ext>
            </a:extLst>
          </p:cNvPr>
          <p:cNvSpPr txBox="1"/>
          <p:nvPr/>
        </p:nvSpPr>
        <p:spPr>
          <a:xfrm>
            <a:off x="842416" y="2255109"/>
            <a:ext cx="4985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Alternatively we can have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2FEB1-24F1-AE47-802E-E3046CC0B2B2}"/>
              </a:ext>
            </a:extLst>
          </p:cNvPr>
          <p:cNvSpPr txBox="1"/>
          <p:nvPr/>
        </p:nvSpPr>
        <p:spPr>
          <a:xfrm>
            <a:off x="842416" y="4741087"/>
            <a:ext cx="100626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What do you have? A cake? </a:t>
            </a:r>
          </a:p>
          <a:p>
            <a:r>
              <a:rPr lang="en-IE" sz="2800" dirty="0"/>
              <a:t>No, you have some </a:t>
            </a:r>
            <a:r>
              <a:rPr lang="en-IE" sz="2800" i="1" dirty="0"/>
              <a:t>instructions</a:t>
            </a:r>
            <a:r>
              <a:rPr lang="en-IE" sz="2800" dirty="0"/>
              <a:t> for how to make a cake, just a sheet of paper with some writing on it.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A97E1-6068-E64F-B668-18400DADE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051" y="1110103"/>
            <a:ext cx="2868261" cy="392043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A06B23-9C3F-2048-961C-49DD13CB20FE}"/>
              </a:ext>
            </a:extLst>
          </p:cNvPr>
          <p:cNvCxnSpPr>
            <a:cxnSpLocks/>
          </p:cNvCxnSpPr>
          <p:nvPr/>
        </p:nvCxnSpPr>
        <p:spPr bwMode="auto">
          <a:xfrm>
            <a:off x="5827987" y="2743200"/>
            <a:ext cx="2858813" cy="0"/>
          </a:xfrm>
          <a:prstGeom prst="straightConnector1">
            <a:avLst/>
          </a:prstGeom>
          <a:noFill/>
          <a:ln w="44450" cap="sq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1097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E05C07-906B-8543-A5A6-123AFF474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682" y="305262"/>
            <a:ext cx="2160707" cy="2953328"/>
          </a:xfrm>
          <a:prstGeom prst="rect">
            <a:avLst/>
          </a:prstGeom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IO Type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12</a:t>
            </a:fld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2FEB1-24F1-AE47-802E-E3046CC0B2B2}"/>
              </a:ext>
            </a:extLst>
          </p:cNvPr>
          <p:cNvSpPr txBox="1"/>
          <p:nvPr/>
        </p:nvSpPr>
        <p:spPr>
          <a:xfrm>
            <a:off x="603725" y="2594367"/>
            <a:ext cx="109845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Not only do you not actually have a cake, just having  the recipe has no effect on anything else whatsoever. Simply holding the recipe in your hand does not, for instance: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Cause your oven to get hot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Put all ingredients in the bowl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Mix the ingredients</a:t>
            </a:r>
          </a:p>
          <a:p>
            <a:endParaRPr lang="en-IE" sz="2800" dirty="0"/>
          </a:p>
          <a:p>
            <a:r>
              <a:rPr lang="en-IE" sz="2800" dirty="0"/>
              <a:t>To actually produce a cake, the recipe must be followed (ingredients bought, causing flour to be spilled, ingredients mixed, the oven to get hot, </a:t>
            </a:r>
            <a:r>
              <a:rPr lang="en-IE" sz="2800" i="1" dirty="0"/>
              <a:t>etc.</a:t>
            </a:r>
            <a:r>
              <a:rPr lang="en-IE" sz="2800" dirty="0"/>
              <a:t>).</a:t>
            </a:r>
            <a:endParaRPr lang="en-US" sz="2800" dirty="0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9356FDC8-BB32-9D4E-8ED9-D434B7F4C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9909" y="2098854"/>
            <a:ext cx="3159839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c :: Recipe Cake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7859468-E240-4547-B9CF-CB28ACA53D20}"/>
              </a:ext>
            </a:extLst>
          </p:cNvPr>
          <p:cNvCxnSpPr>
            <a:cxnSpLocks/>
          </p:cNvCxnSpPr>
          <p:nvPr/>
        </p:nvCxnSpPr>
        <p:spPr bwMode="auto">
          <a:xfrm flipV="1">
            <a:off x="5173717" y="1293697"/>
            <a:ext cx="2617965" cy="1015895"/>
          </a:xfrm>
          <a:prstGeom prst="straightConnector1">
            <a:avLst/>
          </a:prstGeom>
          <a:noFill/>
          <a:ln w="44450" cap="sq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8622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IO Type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13</a:t>
            </a:fld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2FEB1-24F1-AE47-802E-E3046CC0B2B2}"/>
              </a:ext>
            </a:extLst>
          </p:cNvPr>
          <p:cNvSpPr txBox="1"/>
          <p:nvPr/>
        </p:nvSpPr>
        <p:spPr>
          <a:xfrm>
            <a:off x="761440" y="2203585"/>
            <a:ext cx="106516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In the same way, a value of type IO a is just a “recipe” for producing a value of type a (and possibly having some effects along the way). Like any other value, it can be passed as an argument, returned as the output of a function, stored in a data structure, or (as we will see shortly) combined with other IO values into more complex recipes.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F9E046-0B8B-6540-B81D-59BC13D5F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843" y="4377266"/>
            <a:ext cx="3810000" cy="2133600"/>
          </a:xfrm>
          <a:prstGeom prst="rect">
            <a:avLst/>
          </a:prstGeom>
        </p:spPr>
      </p:pic>
      <p:pic>
        <p:nvPicPr>
          <p:cNvPr id="12" name="Picture 11">
            <a:hlinkClick r:id="rId3" tooltip="How (not) to cook popcorn, for instance."/>
            <a:extLst>
              <a:ext uri="{FF2B5EF4-FFF2-40B4-BE49-F238E27FC236}">
                <a16:creationId xmlns:a16="http://schemas.microsoft.com/office/drawing/2014/main" id="{291EA2FD-1079-724C-8044-E467793D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843" y="4377266"/>
            <a:ext cx="3810000" cy="2133600"/>
          </a:xfrm>
          <a:prstGeom prst="rect">
            <a:avLst/>
          </a:prstGeom>
        </p:spPr>
      </p:pic>
      <p:sp>
        <p:nvSpPr>
          <p:cNvPr id="2" name="Oval Callout 1">
            <a:extLst>
              <a:ext uri="{FF2B5EF4-FFF2-40B4-BE49-F238E27FC236}">
                <a16:creationId xmlns:a16="http://schemas.microsoft.com/office/drawing/2014/main" id="{DC0AAFB4-92DA-0440-9B05-5B4C4AAEC353}"/>
              </a:ext>
            </a:extLst>
          </p:cNvPr>
          <p:cNvSpPr/>
          <p:nvPr/>
        </p:nvSpPr>
        <p:spPr bwMode="auto">
          <a:xfrm>
            <a:off x="9776028" y="4175319"/>
            <a:ext cx="1906858" cy="1947565"/>
          </a:xfrm>
          <a:prstGeom prst="wedgeEllipseCallout">
            <a:avLst>
              <a:gd name="adj1" fmla="val -199072"/>
              <a:gd name="adj2" fmla="val 7234"/>
            </a:avLst>
          </a:prstGeom>
          <a:solidFill>
            <a:srgbClr val="FFC000"/>
          </a:solidFill>
          <a:ln w="12700" cap="sq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ahoma" pitchFamily="-1" charset="0"/>
              </a:rPr>
              <a:t>Click to see video</a:t>
            </a:r>
          </a:p>
        </p:txBody>
      </p:sp>
    </p:spTree>
    <p:extLst>
      <p:ext uri="{BB962C8B-B14F-4D97-AF65-F5344CB8AC3E}">
        <p14:creationId xmlns:p14="http://schemas.microsoft.com/office/powerpoint/2010/main" val="346732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main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14</a:t>
            </a:fld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2FEB1-24F1-AE47-802E-E3046CC0B2B2}"/>
              </a:ext>
            </a:extLst>
          </p:cNvPr>
          <p:cNvSpPr txBox="1"/>
          <p:nvPr/>
        </p:nvSpPr>
        <p:spPr>
          <a:xfrm>
            <a:off x="186268" y="2077966"/>
            <a:ext cx="116973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So, how do values of type IO a actually ever get executed?  (Apart from when we use the interactive GHCI) </a:t>
            </a:r>
          </a:p>
          <a:p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There is only one way: the Haskell compiler looks for a special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which will actually get handed to the runtime system and executed. That’s it! </a:t>
            </a:r>
            <a:br>
              <a:rPr lang="en-IE" sz="2800" dirty="0"/>
            </a:br>
            <a:endParaRPr lang="en-US" sz="28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C4E6629-BFD3-6A41-9F4E-AE4418E75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980" y="4278568"/>
            <a:ext cx="2997937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>
                <a:latin typeface="Lucida Sans Typewriter" panose="020B0509030504030204" pitchFamily="49" charset="77"/>
              </a:rPr>
              <a:t>main :: IO ()</a:t>
            </a:r>
          </a:p>
        </p:txBody>
      </p:sp>
    </p:spTree>
    <p:extLst>
      <p:ext uri="{BB962C8B-B14F-4D97-AF65-F5344CB8AC3E}">
        <p14:creationId xmlns:p14="http://schemas.microsoft.com/office/powerpoint/2010/main" val="231579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main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15</a:t>
            </a:fld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2FEB1-24F1-AE47-802E-E3046CC0B2B2}"/>
              </a:ext>
            </a:extLst>
          </p:cNvPr>
          <p:cNvSpPr txBox="1"/>
          <p:nvPr/>
        </p:nvSpPr>
        <p:spPr>
          <a:xfrm>
            <a:off x="1436659" y="3130945"/>
            <a:ext cx="45069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Think of the Haskell runtime system as a master chef who is the only one allowed to do any cooking.</a:t>
            </a:r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B3CBE0-3902-084C-A190-EAAC8EA96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173" y="2740908"/>
            <a:ext cx="2176168" cy="30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68BDB-2D0B-2973-0584-B8AF555D0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BCBF1FE-A379-EC89-7392-B541FA613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Basic Actions</a:t>
            </a:r>
          </a:p>
        </p:txBody>
      </p:sp>
      <p:sp>
        <p:nvSpPr>
          <p:cNvPr id="21505" name="Slide Number Placeholder 2">
            <a:extLst>
              <a:ext uri="{FF2B5EF4-FFF2-40B4-BE49-F238E27FC236}">
                <a16:creationId xmlns:a16="http://schemas.microsoft.com/office/drawing/2014/main" id="{FFEDB8A0-7AE1-E593-FE03-61E141FB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16</a:t>
            </a:fld>
            <a:endParaRPr lang="en-US" sz="1400" dirty="0"/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44774AEE-2430-0CD5-2AAE-8107A42E7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8" y="2482850"/>
            <a:ext cx="1069457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standard library provides a number of actions, including the following three primitives: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035B57FE-5105-D550-206A-4E0C03CF8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269" y="5325978"/>
            <a:ext cx="4079963" cy="55810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Lucida Sans Typewriter" charset="0"/>
              </a:rPr>
              <a:t>getChar :: IO Char</a:t>
            </a:r>
          </a:p>
        </p:txBody>
      </p:sp>
      <p:sp>
        <p:nvSpPr>
          <p:cNvPr id="21509" name="Rectangle 6">
            <a:extLst>
              <a:ext uri="{FF2B5EF4-FFF2-40B4-BE49-F238E27FC236}">
                <a16:creationId xmlns:a16="http://schemas.microsoft.com/office/drawing/2014/main" id="{6D18B1CC-7803-6BA8-CC4A-9960B9AF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037" y="3628189"/>
            <a:ext cx="10461096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The action </a:t>
            </a:r>
            <a:r>
              <a:rPr kumimoji="1" lang="en-US" sz="2800" b="1" i="1" u="sng" dirty="0"/>
              <a:t>getChar</a:t>
            </a:r>
            <a:r>
              <a:rPr kumimoji="1" lang="en-US" sz="2800" dirty="0"/>
              <a:t> reads a character from the keyboard, echoes it to the screen, and returns the character as its result value: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D60446B-96BE-4CC4-C97A-5C96516EA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288424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endParaRPr lang="en-US" kern="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Basic Actions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C060E6-B893-5446-A370-7E0EEC8D970F}" type="slidenum">
              <a:rPr lang="en-US" sz="1400"/>
              <a:pPr/>
              <a:t>17</a:t>
            </a:fld>
            <a:endParaRPr lang="en-US" sz="1400" dirty="0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449108" y="2545554"/>
            <a:ext cx="3531736" cy="4915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getChar :: IO Char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62467" y="3547534"/>
            <a:ext cx="11667066" cy="3022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Look at it’s type – it looks like a value rather than a function – actually, getChar stores an I/O action. When it’s performed you get a Char.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The &lt;- operator is used to “pull out” the result from performing the I/O action and store it in the variable.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E4C39AE-4016-BA41-B3F8-53D129CACA83}" type="slidenum">
              <a:rPr lang="en-US" sz="1400"/>
              <a:pPr/>
              <a:t>18</a:t>
            </a:fld>
            <a:endParaRPr lang="en-US" sz="1400" dirty="0"/>
          </a:p>
        </p:txBody>
      </p:sp>
      <p:sp>
        <p:nvSpPr>
          <p:cNvPr id="22530" name="Rectangle 5"/>
          <p:cNvSpPr>
            <a:spLocks noChangeArrowheads="1"/>
          </p:cNvSpPr>
          <p:nvPr/>
        </p:nvSpPr>
        <p:spPr bwMode="auto">
          <a:xfrm>
            <a:off x="680320" y="2317929"/>
            <a:ext cx="10343279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The action </a:t>
            </a:r>
            <a:r>
              <a:rPr kumimoji="1" lang="en-US" sz="2800" b="1" i="1" u="sng" dirty="0"/>
              <a:t>putChar</a:t>
            </a:r>
            <a:r>
              <a:rPr kumimoji="1" lang="en-US" sz="2800" u="sng" dirty="0"/>
              <a:t> c</a:t>
            </a:r>
            <a:r>
              <a:rPr kumimoji="1" lang="en-US" sz="2800" dirty="0"/>
              <a:t> writes the character c to the screen, and returns no result value:</a:t>
            </a:r>
          </a:p>
        </p:txBody>
      </p:sp>
      <p:sp>
        <p:nvSpPr>
          <p:cNvPr id="22531" name="Text Box 7"/>
          <p:cNvSpPr txBox="1">
            <a:spLocks noChangeArrowheads="1"/>
          </p:cNvSpPr>
          <p:nvPr/>
        </p:nvSpPr>
        <p:spPr bwMode="auto">
          <a:xfrm>
            <a:off x="3021013" y="3617754"/>
            <a:ext cx="5299849" cy="55797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Lucida Sans Typewriter" charset="0"/>
              </a:rPr>
              <a:t>putChar :: Char </a:t>
            </a:r>
            <a:r>
              <a:rPr lang="en-US" dirty="0">
                <a:latin typeface="Lucida Sans Typewriter" charset="0"/>
                <a:sym typeface="Symbol" charset="0"/>
              </a:rPr>
              <a:t></a:t>
            </a:r>
            <a:r>
              <a:rPr lang="en-US" dirty="0">
                <a:latin typeface="Lucida Sans Typewriter" charset="0"/>
              </a:rPr>
              <a:t> IO ()</a:t>
            </a:r>
          </a:p>
        </p:txBody>
      </p:sp>
      <p:sp>
        <p:nvSpPr>
          <p:cNvPr id="22532" name="Rectangle 8"/>
          <p:cNvSpPr>
            <a:spLocks noChangeArrowheads="1"/>
          </p:cNvSpPr>
          <p:nvPr/>
        </p:nvSpPr>
        <p:spPr bwMode="auto">
          <a:xfrm>
            <a:off x="873655" y="4492890"/>
            <a:ext cx="10149944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The action </a:t>
            </a:r>
            <a:r>
              <a:rPr kumimoji="1" lang="en-US" sz="2800" b="1" i="1" u="sng" dirty="0"/>
              <a:t>return v</a:t>
            </a:r>
            <a:r>
              <a:rPr kumimoji="1" lang="en-US" sz="2800" b="1" i="1" dirty="0"/>
              <a:t> </a:t>
            </a:r>
            <a:r>
              <a:rPr kumimoji="1" lang="en-US" sz="2800" dirty="0"/>
              <a:t>simply returns the value v, without performing any interaction:</a:t>
            </a: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3021013" y="5825785"/>
            <a:ext cx="4217821" cy="55797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Lucida Sans Typewriter" charset="0"/>
              </a:rPr>
              <a:t>return :: a </a:t>
            </a:r>
            <a:r>
              <a:rPr lang="en-US" dirty="0">
                <a:latin typeface="Lucida Sans Typewriter" charset="0"/>
                <a:sym typeface="Symbol" charset="0"/>
              </a:rPr>
              <a:t></a:t>
            </a:r>
            <a:r>
              <a:rPr lang="en-US" dirty="0">
                <a:latin typeface="Lucida Sans Typewriter" charset="0"/>
              </a:rPr>
              <a:t> IO a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C8CA954-C9C1-3006-CBB9-879FC4CE4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Basic Actions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22532" grpId="0"/>
      <p:bldP spid="225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Sequencing</a:t>
            </a:r>
          </a:p>
        </p:txBody>
      </p:sp>
      <p:sp>
        <p:nvSpPr>
          <p:cNvPr id="2355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87D49D2-0A99-B746-9E04-650A5E5A5605}" type="slidenum">
              <a:rPr lang="en-US" sz="1400"/>
              <a:pPr/>
              <a:t>19</a:t>
            </a:fld>
            <a:endParaRPr lang="en-US" sz="1400" dirty="0"/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170781" y="2055813"/>
            <a:ext cx="84613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sequence of actions can be combined as a single composite action using the keyword </a:t>
            </a:r>
            <a:r>
              <a:rPr lang="en-US" u="sng" dirty="0"/>
              <a:t>do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4378324" y="3598170"/>
            <a:ext cx="4729180" cy="297107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40000"/>
              </a:lnSpc>
            </a:pPr>
            <a:r>
              <a:rPr lang="en-US" dirty="0">
                <a:latin typeface="Lucida Sans Typewriter" charset="0"/>
              </a:rPr>
              <a:t>act :: IO (Char,Char)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Lucida Sans Typewriter" charset="0"/>
              </a:rPr>
              <a:t>act = do x </a:t>
            </a:r>
            <a:r>
              <a:rPr lang="en-US" dirty="0">
                <a:latin typeface="Lucida Sans Typewriter" charset="0"/>
                <a:sym typeface="Symbol" charset="0"/>
              </a:rPr>
              <a:t></a:t>
            </a:r>
            <a:r>
              <a:rPr lang="en-US" dirty="0">
                <a:latin typeface="Lucida Sans Typewriter" charset="0"/>
              </a:rPr>
              <a:t> getChar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Lucida Sans Typewriter" charset="0"/>
              </a:rPr>
              <a:t>         getChar</a:t>
            </a:r>
          </a:p>
          <a:p>
            <a:pPr>
              <a:lnSpc>
                <a:spcPct val="140000"/>
              </a:lnSpc>
            </a:pPr>
            <a:r>
              <a:rPr lang="en-US" dirty="0">
                <a:latin typeface="Lucida Sans Typewriter" charset="0"/>
              </a:rPr>
              <a:t>         y </a:t>
            </a:r>
            <a:r>
              <a:rPr lang="en-US" dirty="0">
                <a:latin typeface="Lucida Sans Typewriter" charset="0"/>
                <a:sym typeface="Symbol" charset="0"/>
              </a:rPr>
              <a:t></a:t>
            </a:r>
            <a:r>
              <a:rPr lang="en-US" dirty="0">
                <a:latin typeface="Lucida Sans Typewriter" charset="0"/>
              </a:rPr>
              <a:t> getChar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Lucida Sans Typewriter" charset="0"/>
              </a:rPr>
              <a:t>         return (x,y)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5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do notation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8D2931-D0F9-484F-947F-B6390F753E3D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0321" y="2565342"/>
            <a:ext cx="114765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The do notation give us a way of building IO programs from the components that we have seen. It does two things :</a:t>
            </a:r>
          </a:p>
          <a:p>
            <a:endParaRPr lang="en-IE" sz="2800" dirty="0"/>
          </a:p>
          <a:p>
            <a:pPr marL="457200" indent="-4572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IE" sz="2800" dirty="0"/>
              <a:t>It is used to sequence I/O programs</a:t>
            </a:r>
          </a:p>
          <a:p>
            <a:pPr>
              <a:buClr>
                <a:srgbClr val="FFC000"/>
              </a:buClr>
            </a:pPr>
            <a:endParaRPr lang="en-IE" sz="2800" dirty="0"/>
          </a:p>
          <a:p>
            <a:pPr marL="457200" indent="-45720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IE" sz="2800" dirty="0"/>
              <a:t>It is used to name the values returned by the IO actions – this means that the later actions can depend on values captured earlier in the program</a:t>
            </a:r>
          </a:p>
        </p:txBody>
      </p:sp>
    </p:spTree>
    <p:extLst>
      <p:ext uri="{BB962C8B-B14F-4D97-AF65-F5344CB8AC3E}">
        <p14:creationId xmlns:p14="http://schemas.microsoft.com/office/powerpoint/2010/main" val="328090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Derived Primitives</a:t>
            </a:r>
          </a:p>
        </p:txBody>
      </p:sp>
      <p:sp>
        <p:nvSpPr>
          <p:cNvPr id="2457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FC55945-77D7-F847-8BFA-ADE012065D1A}" type="slidenum">
              <a:rPr lang="en-US" sz="1400"/>
              <a:pPr/>
              <a:t>21</a:t>
            </a:fld>
            <a:endParaRPr lang="en-US" sz="1400" dirty="0"/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2578100" y="3426195"/>
            <a:ext cx="6261100" cy="3159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getLine :: IO String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getLine = do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getChar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if x == '\n' then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return []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else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do xs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   return (x:xs)</a:t>
            </a:r>
          </a:p>
        </p:txBody>
      </p:sp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576949" y="2238215"/>
            <a:ext cx="79565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Reading a string from the keyboard:</a:t>
            </a:r>
          </a:p>
        </p:txBody>
      </p: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C23254F8-D1D4-F3A8-C9B9-782BC4FD9313}"/>
              </a:ext>
            </a:extLst>
          </p:cNvPr>
          <p:cNvSpPr/>
          <p:nvPr/>
        </p:nvSpPr>
        <p:spPr>
          <a:xfrm>
            <a:off x="9736667" y="2401433"/>
            <a:ext cx="2455333" cy="1024762"/>
          </a:xfrm>
          <a:prstGeom prst="wedgeRectCallout">
            <a:avLst>
              <a:gd name="adj1" fmla="val -150488"/>
              <a:gd name="adj2" fmla="val 14512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if .. then .. else </a:t>
            </a:r>
          </a:p>
        </p:txBody>
      </p:sp>
    </p:spTree>
    <p:extLst>
      <p:ext uri="{BB962C8B-B14F-4D97-AF65-F5344CB8AC3E}">
        <p14:creationId xmlns:p14="http://schemas.microsoft.com/office/powerpoint/2010/main" val="141391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24580" grpId="0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79CAA88-FC16-C34B-A624-F0F041EAAD7A}" type="slidenum">
              <a:rPr lang="en-US" sz="1400"/>
              <a:pPr/>
              <a:t>22</a:t>
            </a:fld>
            <a:endParaRPr lang="en-US" sz="1400" dirty="0"/>
          </a:p>
        </p:txBody>
      </p:sp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2584451" y="2066924"/>
            <a:ext cx="5376863" cy="185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putStr :: String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putStr []     = return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putStr (x:xs) = do putChar x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   putStr xs</a:t>
            </a:r>
          </a:p>
        </p:txBody>
      </p:sp>
      <p:sp>
        <p:nvSpPr>
          <p:cNvPr id="25603" name="Rectangle 5"/>
          <p:cNvSpPr>
            <a:spLocks noChangeArrowheads="1"/>
          </p:cNvSpPr>
          <p:nvPr/>
        </p:nvSpPr>
        <p:spPr bwMode="auto">
          <a:xfrm>
            <a:off x="762000" y="960438"/>
            <a:ext cx="7956550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en-US" sz="2700" dirty="0">
                <a:latin typeface="Arial Black" charset="0"/>
                <a:ea typeface="ＭＳ Ｐゴシック" charset="0"/>
              </a:rPr>
              <a:t>Writing a string to the screen: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890059" y="4330700"/>
            <a:ext cx="79565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Writing a string and moving to a new line:</a:t>
            </a:r>
          </a:p>
        </p:txBody>
      </p:sp>
      <p:sp>
        <p:nvSpPr>
          <p:cNvPr id="25605" name="Text Box 7"/>
          <p:cNvSpPr txBox="1">
            <a:spLocks noChangeArrowheads="1"/>
          </p:cNvSpPr>
          <p:nvPr/>
        </p:nvSpPr>
        <p:spPr bwMode="auto">
          <a:xfrm>
            <a:off x="2770716" y="5360990"/>
            <a:ext cx="5524500" cy="14065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putStrLn :: String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putStrLn xs = do putStr xs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 putChar '\n'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4" grpId="0"/>
      <p:bldP spid="2560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79CAA88-FC16-C34B-A624-F0F041EAAD7A}" type="slidenum">
              <a:rPr lang="en-US" sz="1400"/>
              <a:pPr/>
              <a:t>23</a:t>
            </a:fld>
            <a:endParaRPr lang="en-US" sz="1400" dirty="0"/>
          </a:p>
        </p:txBody>
      </p:sp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3434854" y="3711629"/>
            <a:ext cx="5322291" cy="275152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put4times :: String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put4times str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= do putStr str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 putStr str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 putStr str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 putStr str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305551" y="2346930"/>
            <a:ext cx="79565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Writing a string four times: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89701" y="898165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Other examples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7F0C99-E161-6E41-B69D-9C5093118BFD}"/>
              </a:ext>
            </a:extLst>
          </p:cNvPr>
          <p:cNvCxnSpPr>
            <a:cxnSpLocks/>
          </p:cNvCxnSpPr>
          <p:nvPr/>
        </p:nvCxnSpPr>
        <p:spPr bwMode="auto">
          <a:xfrm flipV="1">
            <a:off x="2418254" y="5350933"/>
            <a:ext cx="1957647" cy="608902"/>
          </a:xfrm>
          <a:prstGeom prst="straightConnector1">
            <a:avLst/>
          </a:prstGeom>
          <a:noFill/>
          <a:ln w="60325" cap="sq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D1CB55-7203-6C47-8BC4-B326DCBE3CE6}"/>
              </a:ext>
            </a:extLst>
          </p:cNvPr>
          <p:cNvSpPr txBox="1"/>
          <p:nvPr/>
        </p:nvSpPr>
        <p:spPr>
          <a:xfrm>
            <a:off x="489701" y="5678208"/>
            <a:ext cx="1928553" cy="83099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Spaces not tabs! </a:t>
            </a:r>
          </a:p>
        </p:txBody>
      </p:sp>
    </p:spTree>
    <p:extLst>
      <p:ext uri="{BB962C8B-B14F-4D97-AF65-F5344CB8AC3E}">
        <p14:creationId xmlns:p14="http://schemas.microsoft.com/office/powerpoint/2010/main" val="318344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79CAA88-FC16-C34B-A624-F0F041EAAD7A}" type="slidenum">
              <a:rPr lang="en-US" sz="1400"/>
              <a:pPr/>
              <a:t>24</a:t>
            </a:fld>
            <a:endParaRPr lang="en-US" sz="1400" dirty="0"/>
          </a:p>
        </p:txBody>
      </p:sp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550333" y="3262096"/>
            <a:ext cx="6865982" cy="230832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read2lines ::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read2lines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= do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 putStrLn “two lines read”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1186391" y="2104094"/>
            <a:ext cx="79565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Reading input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50333" y="881005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Other examples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A29E90B1-6122-43DB-7076-D73BEFDD84A8}"/>
              </a:ext>
            </a:extLst>
          </p:cNvPr>
          <p:cNvSpPr/>
          <p:nvPr/>
        </p:nvSpPr>
        <p:spPr>
          <a:xfrm>
            <a:off x="8585200" y="3429000"/>
            <a:ext cx="3298407" cy="2308324"/>
          </a:xfrm>
          <a:prstGeom prst="wedgeRectCallout">
            <a:avLst>
              <a:gd name="adj1" fmla="val -259483"/>
              <a:gd name="adj2" fmla="val -3598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read2lines</a:t>
            </a:r>
            <a:r>
              <a:rPr lang="en-US" sz="2400" dirty="0"/>
              <a:t> is applied to 2 arguments (the two lines that are typed in) </a:t>
            </a:r>
          </a:p>
        </p:txBody>
      </p:sp>
    </p:spTree>
    <p:extLst>
      <p:ext uri="{BB962C8B-B14F-4D97-AF65-F5344CB8AC3E}">
        <p14:creationId xmlns:p14="http://schemas.microsoft.com/office/powerpoint/2010/main" val="424357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79CAA88-FC16-C34B-A624-F0F041EAAD7A}" type="slidenum">
              <a:rPr lang="en-US" sz="1400"/>
              <a:pPr/>
              <a:t>25</a:t>
            </a:fld>
            <a:endParaRPr lang="en-US" sz="1400" dirty="0"/>
          </a:p>
        </p:txBody>
      </p:sp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3713656" y="2432427"/>
            <a:ext cx="5391219" cy="142192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getNput ::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getNput = do line &lt;-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	   putStrLn line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0" y="2122071"/>
            <a:ext cx="79565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Using the input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08392" y="817634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Other examples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6533" y="3864643"/>
            <a:ext cx="115654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Note that in Haskell, each </a:t>
            </a:r>
          </a:p>
          <a:p>
            <a:r>
              <a:rPr lang="en-IE" sz="2800" dirty="0"/>
              <a:t>		</a:t>
            </a:r>
            <a:r>
              <a:rPr lang="en-IE" sz="2800" dirty="0">
                <a:solidFill>
                  <a:srgbClr val="FFFF00"/>
                </a:solidFill>
              </a:rPr>
              <a:t>var &lt;- </a:t>
            </a:r>
          </a:p>
          <a:p>
            <a:r>
              <a:rPr lang="en-IE" sz="2800" dirty="0"/>
              <a:t>creates  a new variable – so, this ‘single assignment’ is allowed (rather than ‘updatable assignment’) </a:t>
            </a:r>
          </a:p>
          <a:p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>
                <a:solidFill>
                  <a:srgbClr val="FFFF00"/>
                </a:solidFill>
              </a:rPr>
              <a:t>line &lt;- getLine </a:t>
            </a:r>
            <a:r>
              <a:rPr lang="en-IE" sz="2800" dirty="0"/>
              <a:t>acts as a local definition</a:t>
            </a:r>
          </a:p>
        </p:txBody>
      </p:sp>
    </p:spTree>
    <p:extLst>
      <p:ext uri="{BB962C8B-B14F-4D97-AF65-F5344CB8AC3E}">
        <p14:creationId xmlns:p14="http://schemas.microsoft.com/office/powerpoint/2010/main" val="78701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79CAA88-FC16-C34B-A624-F0F041EAAD7A}" type="slidenum">
              <a:rPr lang="en-US" sz="1400"/>
              <a:pPr/>
              <a:t>26</a:t>
            </a:fld>
            <a:endParaRPr lang="en-US" sz="1400" dirty="0"/>
          </a:p>
        </p:txBody>
      </p:sp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2319886" y="3375243"/>
            <a:ext cx="5846472" cy="270753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reverse2lines ::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reverse2lines =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do	line1 &lt;-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	line2 &lt;-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	putStrLn(reverse line1)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	putStrLn(reverse line2)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1427461" y="2176812"/>
            <a:ext cx="9697739" cy="936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We can’t change line but we can use it differently: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31800" y="753228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Other examples</a:t>
            </a:r>
          </a:p>
        </p:txBody>
      </p:sp>
    </p:spTree>
    <p:extLst>
      <p:ext uri="{BB962C8B-B14F-4D97-AF65-F5344CB8AC3E}">
        <p14:creationId xmlns:p14="http://schemas.microsoft.com/office/powerpoint/2010/main" val="20017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79CAA88-FC16-C34B-A624-F0F041EAAD7A}" type="slidenum">
              <a:rPr lang="en-US" sz="1400"/>
              <a:pPr/>
              <a:t>27</a:t>
            </a:fld>
            <a:endParaRPr lang="en-US" sz="1400" dirty="0"/>
          </a:p>
        </p:txBody>
      </p:sp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968042" y="2975380"/>
            <a:ext cx="6032421" cy="359393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reverse2lines2 ::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reverse2lines2 =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do	line1 &lt;-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	line2 &lt;-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	let rev1 = reverse line1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	let rev2 = reverse line2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	putStrLn(rev1)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			putStrLn(rev2)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32890" y="2260477"/>
            <a:ext cx="7802159" cy="936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We can also use local definitions: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08392" y="8853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Other 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12D403-349E-8845-BA69-442A34487666}"/>
              </a:ext>
            </a:extLst>
          </p:cNvPr>
          <p:cNvSpPr txBox="1"/>
          <p:nvPr/>
        </p:nvSpPr>
        <p:spPr>
          <a:xfrm>
            <a:off x="6703084" y="2613322"/>
            <a:ext cx="3591098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Only used to name IO actions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16773C7-335E-D44C-9DB4-E76C5BB97BBF}"/>
              </a:ext>
            </a:extLst>
          </p:cNvPr>
          <p:cNvCxnSpPr>
            <a:cxnSpLocks/>
          </p:cNvCxnSpPr>
          <p:nvPr/>
        </p:nvCxnSpPr>
        <p:spPr bwMode="auto">
          <a:xfrm flipH="1">
            <a:off x="4363339" y="2982654"/>
            <a:ext cx="4044571" cy="1183199"/>
          </a:xfrm>
          <a:prstGeom prst="straightConnector1">
            <a:avLst/>
          </a:prstGeom>
          <a:noFill/>
          <a:ln w="63500" cap="sq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B9EFDDD-4DF7-5240-98E6-C3F81A58E5CC}"/>
              </a:ext>
            </a:extLst>
          </p:cNvPr>
          <p:cNvSpPr txBox="1"/>
          <p:nvPr/>
        </p:nvSpPr>
        <p:spPr>
          <a:xfrm>
            <a:off x="492244" y="5324502"/>
            <a:ext cx="1945180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Local definitions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C4C72C-A352-2448-A3C9-1C90BDF87D08}"/>
              </a:ext>
            </a:extLst>
          </p:cNvPr>
          <p:cNvCxnSpPr>
            <a:cxnSpLocks/>
          </p:cNvCxnSpPr>
          <p:nvPr/>
        </p:nvCxnSpPr>
        <p:spPr bwMode="auto">
          <a:xfrm flipV="1">
            <a:off x="2349343" y="5324502"/>
            <a:ext cx="1845249" cy="477053"/>
          </a:xfrm>
          <a:prstGeom prst="straightConnector1">
            <a:avLst/>
          </a:prstGeom>
          <a:noFill/>
          <a:ln w="53975" cap="sq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1646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Pure Versus I/O </a:t>
            </a:r>
          </a:p>
        </p:txBody>
      </p:sp>
      <p:sp>
        <p:nvSpPr>
          <p:cNvPr id="2662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5F27B0B-DD9F-444B-A645-35ABBCBC0A62}" type="slidenum">
              <a:rPr lang="en-US" sz="1400"/>
              <a:pPr/>
              <a:t>28</a:t>
            </a:fld>
            <a:endParaRPr lang="en-US" sz="1400" dirty="0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680321" y="2084179"/>
            <a:ext cx="1093594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Pure code ensures that Haskell functions return the same result when given the same input and have no side effects. We use the execution of I/O actions to avoid these rules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012748"/>
              </p:ext>
            </p:extLst>
          </p:nvPr>
        </p:nvGraphicFramePr>
        <p:xfrm>
          <a:off x="1644208" y="3925452"/>
          <a:ext cx="8153916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958">
                  <a:extLst>
                    <a:ext uri="{9D8B030D-6E8A-4147-A177-3AD203B41FA5}">
                      <a16:colId xmlns:a16="http://schemas.microsoft.com/office/drawing/2014/main" val="2734290346"/>
                    </a:ext>
                  </a:extLst>
                </a:gridCol>
                <a:gridCol w="4076958">
                  <a:extLst>
                    <a:ext uri="{9D8B030D-6E8A-4147-A177-3AD203B41FA5}">
                      <a16:colId xmlns:a16="http://schemas.microsoft.com/office/drawing/2014/main" val="1099216155"/>
                    </a:ext>
                  </a:extLst>
                </a:gridCol>
              </a:tblGrid>
              <a:tr h="386920">
                <a:tc>
                  <a:txBody>
                    <a:bodyPr/>
                    <a:lstStyle/>
                    <a:p>
                      <a:r>
                        <a:rPr lang="en-IE" dirty="0"/>
                        <a:t>Pure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Impure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219531"/>
                  </a:ext>
                </a:extLst>
              </a:tr>
              <a:tr h="654788">
                <a:tc>
                  <a:txBody>
                    <a:bodyPr/>
                    <a:lstStyle/>
                    <a:p>
                      <a:r>
                        <a:rPr lang="en-IE" dirty="0"/>
                        <a:t>Always produces the same result when given the same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May produce different results for the same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275606"/>
                  </a:ext>
                </a:extLst>
              </a:tr>
              <a:tr h="482824">
                <a:tc>
                  <a:txBody>
                    <a:bodyPr/>
                    <a:lstStyle/>
                    <a:p>
                      <a:r>
                        <a:rPr lang="en-IE" dirty="0"/>
                        <a:t>Never has side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dirty="0"/>
                        <a:t>May have side effects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288692"/>
                  </a:ext>
                </a:extLst>
              </a:tr>
              <a:tr h="654788">
                <a:tc>
                  <a:txBody>
                    <a:bodyPr/>
                    <a:lstStyle/>
                    <a:p>
                      <a:r>
                        <a:rPr lang="en-IE" dirty="0"/>
                        <a:t>Never alters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May alter the global state of the program</a:t>
                      </a:r>
                      <a:r>
                        <a:rPr lang="en-IE" baseline="0" dirty="0"/>
                        <a:t> , system or world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54164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purity matters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8D2931-D0F9-484F-947F-B6390F753E3D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9822" y="2166164"/>
            <a:ext cx="1091378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In other languages (e.g. C, Java) cannot be sure of no side effects (need to read documentation, hope it’s accurate).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Many bugs are caused by unanticipated side effects.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This can cause cascading effects when using multi-threading, other forms of parallelisms.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In Haskell, isolating side effects into I/O actions provides a clear boundary between no side effects and potential side effects.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147316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Back to mystery’s in Java .. recap </a:t>
            </a:r>
          </a:p>
        </p:txBody>
      </p:sp>
      <p:sp>
        <p:nvSpPr>
          <p:cNvPr id="2457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FC55945-77D7-F847-8BFA-ADE012065D1A}" type="slidenum">
              <a:rPr lang="en-US" sz="1400"/>
              <a:pPr/>
              <a:t>30</a:t>
            </a:fld>
            <a:endParaRPr lang="en-US" sz="1400" dirty="0"/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399599" y="3190921"/>
            <a:ext cx="5339923" cy="142590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IE" sz="1400" b="1" dirty="0">
                <a:latin typeface="Lucida Sans Typewriter" panose="020B0509030504030204" pitchFamily="49" charset="77"/>
              </a:rPr>
              <a:t>public static int </a:t>
            </a:r>
            <a:r>
              <a:rPr lang="en-IE" sz="1400" dirty="0">
                <a:latin typeface="Lucida Sans Typewriter" panose="020B0509030504030204" pitchFamily="49" charset="77"/>
              </a:rPr>
              <a:t>mystery1(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val1, 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val2) {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val3 = 3;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return </a:t>
            </a:r>
            <a:r>
              <a:rPr lang="en-IE" sz="1400" dirty="0">
                <a:latin typeface="Lucida Sans Typewriter" panose="020B0509030504030204" pitchFamily="49" charset="77"/>
              </a:rPr>
              <a:t>(val1+val2+val3)^2;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}</a:t>
            </a:r>
            <a:br>
              <a:rPr lang="en-IE" sz="1800" dirty="0">
                <a:latin typeface="Lucida Sans Typewriter" panose="020B0509030504030204" pitchFamily="49" charset="77"/>
              </a:rPr>
            </a:br>
            <a:endParaRPr lang="en-US" sz="1800" dirty="0">
              <a:latin typeface="Lucida Sans Typewriter" panose="020B0509030504030204" pitchFamily="49" charset="77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2DB742E-4350-AA40-AB29-AFFAAFAA3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2788" y="2683151"/>
            <a:ext cx="5379613" cy="297658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IE" sz="1400" b="1" dirty="0">
                <a:latin typeface="Lucida Sans Typewriter" panose="020B0509030504030204" pitchFamily="49" charset="77"/>
              </a:rPr>
              <a:t>public static int </a:t>
            </a:r>
            <a:r>
              <a:rPr lang="en-IE" sz="1400" dirty="0">
                <a:latin typeface="Lucida Sans Typewriter" panose="020B0509030504030204" pitchFamily="49" charset="77"/>
              </a:rPr>
              <a:t>mystery2(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val1, 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val2) {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int </a:t>
            </a:r>
            <a:r>
              <a:rPr lang="en-IE" sz="1400" dirty="0">
                <a:latin typeface="Lucida Sans Typewriter" panose="020B0509030504030204" pitchFamily="49" charset="77"/>
              </a:rPr>
              <a:t>val3 = 3;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Scanner in = </a:t>
            </a:r>
            <a:r>
              <a:rPr lang="en-IE" sz="1400" b="1" dirty="0">
                <a:latin typeface="Lucida Sans Typewriter" panose="020B0509030504030204" pitchFamily="49" charset="77"/>
              </a:rPr>
              <a:t>new </a:t>
            </a:r>
            <a:r>
              <a:rPr lang="en-IE" sz="1400" dirty="0">
                <a:latin typeface="Lucida Sans Typewriter" panose="020B0509030504030204" pitchFamily="49" charset="77"/>
              </a:rPr>
              <a:t>Scanner(System.</a:t>
            </a:r>
            <a:r>
              <a:rPr lang="en-IE" sz="1400" b="1" i="1" dirty="0">
                <a:latin typeface="Lucida Sans Typewriter" panose="020B0509030504030204" pitchFamily="49" charset="77"/>
              </a:rPr>
              <a:t>in</a:t>
            </a:r>
            <a:r>
              <a:rPr lang="en-IE" sz="1400" dirty="0">
                <a:latin typeface="Lucida Sans Typewriter" panose="020B0509030504030204" pitchFamily="49" charset="77"/>
              </a:rPr>
              <a:t>);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System.</a:t>
            </a:r>
            <a:r>
              <a:rPr lang="en-IE" sz="1400" b="1" i="1" dirty="0">
                <a:latin typeface="Lucida Sans Typewriter" panose="020B0509030504030204" pitchFamily="49" charset="77"/>
              </a:rPr>
              <a:t>out</a:t>
            </a:r>
            <a:r>
              <a:rPr lang="en-IE" sz="1400" dirty="0">
                <a:latin typeface="Lucida Sans Typewriter" panose="020B0509030504030204" pitchFamily="49" charset="77"/>
              </a:rPr>
              <a:t>.println(</a:t>
            </a:r>
            <a:r>
              <a:rPr lang="en-IE" sz="1400" b="1" dirty="0">
                <a:latin typeface="Lucida Sans Typewriter" panose="020B0509030504030204" pitchFamily="49" charset="77"/>
              </a:rPr>
              <a:t>"Enter a number: "</a:t>
            </a:r>
            <a:r>
              <a:rPr lang="en-IE" sz="1400" dirty="0">
                <a:latin typeface="Lucida Sans Typewriter" panose="020B0509030504030204" pitchFamily="49" charset="77"/>
              </a:rPr>
              <a:t>);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try </a:t>
            </a:r>
            <a:r>
              <a:rPr lang="en-IE" sz="1400" dirty="0">
                <a:latin typeface="Lucida Sans Typewriter" panose="020B0509030504030204" pitchFamily="49" charset="77"/>
              </a:rPr>
              <a:t>{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    val3 = in.nextInt();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} </a:t>
            </a:r>
            <a:r>
              <a:rPr lang="en-IE" sz="1400" b="1" dirty="0">
                <a:latin typeface="Lucida Sans Typewriter" panose="020B0509030504030204" pitchFamily="49" charset="77"/>
              </a:rPr>
              <a:t>catch </a:t>
            </a:r>
            <a:r>
              <a:rPr lang="en-IE" sz="1400" dirty="0">
                <a:latin typeface="Lucida Sans Typewriter" panose="020B0509030504030204" pitchFamily="49" charset="77"/>
              </a:rPr>
              <a:t>(Exception e) {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    e.printStackTrace();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}</a:t>
            </a:r>
            <a:br>
              <a:rPr lang="en-IE" sz="1400" dirty="0">
                <a:latin typeface="Lucida Sans Typewriter" panose="020B0509030504030204" pitchFamily="49" charset="77"/>
              </a:rPr>
            </a:br>
            <a:r>
              <a:rPr lang="en-IE" sz="1400" dirty="0">
                <a:latin typeface="Lucida Sans Typewriter" panose="020B0509030504030204" pitchFamily="49" charset="77"/>
              </a:rPr>
              <a:t> </a:t>
            </a:r>
            <a:r>
              <a:rPr lang="en-IE" sz="1400" b="1" dirty="0">
                <a:latin typeface="Lucida Sans Typewriter" panose="020B0509030504030204" pitchFamily="49" charset="77"/>
              </a:rPr>
              <a:t>return </a:t>
            </a:r>
            <a:r>
              <a:rPr lang="en-IE" sz="1400" dirty="0">
                <a:latin typeface="Lucida Sans Typewriter" panose="020B0509030504030204" pitchFamily="49" charset="77"/>
              </a:rPr>
              <a:t>(val1+val2+val3)^2;</a:t>
            </a:r>
            <a:br>
              <a:rPr lang="en-IE" sz="1800" dirty="0"/>
            </a:br>
            <a:r>
              <a:rPr lang="en-IE" sz="1800" dirty="0"/>
              <a:t>}</a:t>
            </a:r>
            <a:endParaRPr lang="en-US" sz="1800" dirty="0">
              <a:latin typeface="Lucida Sans Typewriter" panose="020B050903050403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3007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mystery’s in Haskell ..</a:t>
            </a:r>
          </a:p>
        </p:txBody>
      </p:sp>
      <p:sp>
        <p:nvSpPr>
          <p:cNvPr id="2457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FC55945-77D7-F847-8BFA-ADE012065D1A}" type="slidenum">
              <a:rPr lang="en-US" sz="1400"/>
              <a:pPr/>
              <a:t>31</a:t>
            </a:fld>
            <a:endParaRPr lang="en-US" sz="1400" dirty="0"/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1044487" y="2206687"/>
            <a:ext cx="8180445" cy="1832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sz="2400" b="1" dirty="0">
                <a:latin typeface="Lucida Sans Typewriter" panose="020B0509030504030204" pitchFamily="49" charset="77"/>
              </a:rPr>
              <a:t>mystery1</a:t>
            </a:r>
            <a:r>
              <a:rPr lang="en-IE" sz="2400" dirty="0">
                <a:latin typeface="Lucida Sans Typewriter" panose="020B0509030504030204" pitchFamily="49" charset="77"/>
              </a:rPr>
              <a:t>:: Int -&gt; Int -&gt; Int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mystery1 val1 val2 = (val1 + val2 + val3)^2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         where val3 = 3</a:t>
            </a:r>
          </a:p>
          <a:p>
            <a:pPr>
              <a:lnSpc>
                <a:spcPct val="120000"/>
              </a:lnSpc>
            </a:pPr>
            <a:br>
              <a:rPr lang="en-IE" sz="1800" dirty="0">
                <a:latin typeface="Lucida Sans Typewriter" panose="020B0509030504030204" pitchFamily="49" charset="77"/>
              </a:rPr>
            </a:br>
            <a:endParaRPr lang="en-US" sz="1800" dirty="0">
              <a:latin typeface="Lucida Sans Typewriter" panose="020B0509030504030204" pitchFamily="49" charset="77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2DB742E-4350-AA40-AB29-AFFAAFAA3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487" y="4562170"/>
            <a:ext cx="7726980" cy="230832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sz="2400" b="1" dirty="0">
                <a:latin typeface="Lucida Sans Typewriter" panose="020B0509030504030204" pitchFamily="49" charset="77"/>
              </a:rPr>
              <a:t>mystery2</a:t>
            </a:r>
            <a:r>
              <a:rPr lang="en-IE" sz="2400" dirty="0">
                <a:latin typeface="Lucida Sans Typewriter" panose="020B0509030504030204" pitchFamily="49" charset="77"/>
              </a:rPr>
              <a:t> :: Int -&gt; Int-&gt; IO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mystery2 val1 val2 = do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       putStrLn "Enter a number"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       val3Input &lt;- getLine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       let val3 = read val3Input::Int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       return ((val1 + val2 + val3)^2)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BB6545-BB05-9845-A23A-717CEB99E33F}"/>
              </a:ext>
            </a:extLst>
          </p:cNvPr>
          <p:cNvSpPr txBox="1"/>
          <p:nvPr/>
        </p:nvSpPr>
        <p:spPr>
          <a:xfrm>
            <a:off x="-33624" y="3219160"/>
            <a:ext cx="2174487" cy="1384995"/>
          </a:xfrm>
          <a:prstGeom prst="rect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 is clear where IO is involved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1D255-EAD7-7649-B0DE-B0F0761F7DC8}"/>
              </a:ext>
            </a:extLst>
          </p:cNvPr>
          <p:cNvSpPr txBox="1"/>
          <p:nvPr/>
        </p:nvSpPr>
        <p:spPr>
          <a:xfrm>
            <a:off x="10294182" y="2526663"/>
            <a:ext cx="1494264" cy="138499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 IO involved here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C4542-0EA6-7846-865D-50214D6A841D}"/>
              </a:ext>
            </a:extLst>
          </p:cNvPr>
          <p:cNvSpPr txBox="1"/>
          <p:nvPr/>
        </p:nvSpPr>
        <p:spPr>
          <a:xfrm>
            <a:off x="10294182" y="5218606"/>
            <a:ext cx="1672683" cy="138499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IO involved here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89ADD3-F6F8-1046-973D-D5E341007473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 flipV="1">
            <a:off x="6468533" y="2526663"/>
            <a:ext cx="3825649" cy="692498"/>
          </a:xfrm>
          <a:prstGeom prst="straightConnector1">
            <a:avLst/>
          </a:prstGeom>
          <a:noFill/>
          <a:ln w="44450" cap="sq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15F679-0E64-9F4D-B63F-7D47352CE3D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892800" y="5029200"/>
            <a:ext cx="4401382" cy="687132"/>
          </a:xfrm>
          <a:prstGeom prst="straightConnector1">
            <a:avLst/>
          </a:prstGeom>
          <a:noFill/>
          <a:ln w="44450" cap="sq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6055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8" grpId="0" animBg="1"/>
      <p:bldP spid="2" grpId="0" animBg="1"/>
      <p:bldP spid="4" grpId="0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More Examples</a:t>
            </a:r>
          </a:p>
        </p:txBody>
      </p:sp>
      <p:sp>
        <p:nvSpPr>
          <p:cNvPr id="2662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5F27B0B-DD9F-444B-A645-35ABBCBC0A62}" type="slidenum">
              <a:rPr lang="en-US" sz="1400"/>
              <a:pPr/>
              <a:t>32</a:t>
            </a:fld>
            <a:endParaRPr lang="en-US" sz="1400" dirty="0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864659" y="2296244"/>
            <a:ext cx="10175874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We can now define an action that prompts for a string to be entered and displays its length: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505075" y="3704472"/>
            <a:ext cx="7181850" cy="294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strlen :: IO ()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strlen = do putStr "Enter a string: "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         xs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getLine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         putStr "The string has "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         putStr (show (length xs))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         putStrLn " characters"</a:t>
            </a:r>
          </a:p>
        </p:txBody>
      </p:sp>
    </p:spTree>
    <p:extLst>
      <p:ext uri="{BB962C8B-B14F-4D97-AF65-F5344CB8AC3E}">
        <p14:creationId xmlns:p14="http://schemas.microsoft.com/office/powerpoint/2010/main" val="214367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5C578E7-2DC7-AB4D-A57D-6A51E633026B}" type="slidenum">
              <a:rPr lang="en-US" sz="1400"/>
              <a:pPr/>
              <a:t>33</a:t>
            </a:fld>
            <a:endParaRPr lang="en-US" sz="1400" dirty="0"/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2624667" y="2242062"/>
            <a:ext cx="6652558" cy="210929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>
                <a:latin typeface="Lucida Sans Typewriter" charset="0"/>
              </a:rPr>
              <a:t>&gt; strlen</a:t>
            </a:r>
          </a:p>
          <a:p>
            <a:pPr>
              <a:lnSpc>
                <a:spcPct val="120000"/>
              </a:lnSpc>
            </a:pPr>
            <a:endParaRPr lang="en-US" dirty="0">
              <a:latin typeface="Lucida Sans Typewriter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Lucida Sans Typewriter" charset="0"/>
              </a:rPr>
              <a:t>Enter a string: Haskell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Lucida Sans Typewriter" charset="0"/>
              </a:rPr>
              <a:t>The string has 7 characters</a:t>
            </a:r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524933" y="5260976"/>
            <a:ext cx="114808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Evaluating an action </a:t>
            </a:r>
            <a:r>
              <a:rPr kumimoji="1" lang="en-US" sz="2800" u="sng" dirty="0"/>
              <a:t>executes</a:t>
            </a:r>
            <a:r>
              <a:rPr kumimoji="1" lang="en-US" sz="2800" dirty="0"/>
              <a:t> its side effects, with the final result value being discarded.</a:t>
            </a:r>
          </a:p>
        </p:txBody>
      </p:sp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1044576" y="4480456"/>
            <a:ext cx="1079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Note: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6D76C7C-C0AE-9417-ECDE-443168CA4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More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/>
      <p:bldP spid="2765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Hangman</a:t>
            </a:r>
          </a:p>
        </p:txBody>
      </p:sp>
      <p:sp>
        <p:nvSpPr>
          <p:cNvPr id="2867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822E155-3DF9-6549-8ED8-81D6CE58CEC8}" type="slidenum">
              <a:rPr lang="en-US" sz="1400"/>
              <a:pPr/>
              <a:t>34</a:t>
            </a:fld>
            <a:endParaRPr lang="en-US" sz="1400" dirty="0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966258" y="2340277"/>
            <a:ext cx="837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Consider the following version of </a:t>
            </a:r>
            <a:r>
              <a:rPr lang="en-US" u="sng" dirty="0"/>
              <a:t>hangman</a:t>
            </a:r>
            <a:r>
              <a:rPr lang="en-US" dirty="0"/>
              <a:t>: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795992" y="3278379"/>
            <a:ext cx="7956550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One player secretly types in a word.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The other player tries to deduce the word, by entering a sequence of guesses. 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For each guess, the computer indicates which letters in the secret word occur in the guess.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99D6B86-1DA5-8E45-9AF2-3059515D3437}" type="slidenum">
              <a:rPr lang="en-US" sz="1400"/>
              <a:pPr/>
              <a:t>35</a:t>
            </a:fld>
            <a:endParaRPr lang="en-US" sz="1400" dirty="0"/>
          </a:p>
        </p:txBody>
      </p:sp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680321" y="2207153"/>
            <a:ext cx="79565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en-US" sz="2800" dirty="0"/>
              <a:t>The game ends when the guess is correct.</a:t>
            </a:r>
          </a:p>
        </p:txBody>
      </p:sp>
      <p:sp>
        <p:nvSpPr>
          <p:cNvPr id="29699" name="Text Box 6"/>
          <p:cNvSpPr txBox="1">
            <a:spLocks noChangeArrowheads="1"/>
          </p:cNvSpPr>
          <p:nvPr/>
        </p:nvSpPr>
        <p:spPr bwMode="auto">
          <a:xfrm>
            <a:off x="1340380" y="4233335"/>
            <a:ext cx="7885112" cy="22955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hangman ::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hangman = do putStrLn "Think of a word: "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word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sgetLine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putStrLn "Try to guess it:"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play word</a:t>
            </a:r>
          </a:p>
        </p:txBody>
      </p:sp>
      <p:sp>
        <p:nvSpPr>
          <p:cNvPr id="29700" name="Text Box 7"/>
          <p:cNvSpPr txBox="1">
            <a:spLocks noChangeArrowheads="1"/>
          </p:cNvSpPr>
          <p:nvPr/>
        </p:nvSpPr>
        <p:spPr bwMode="auto">
          <a:xfrm>
            <a:off x="1219730" y="2902478"/>
            <a:ext cx="81264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We adopt a </a:t>
            </a:r>
            <a:r>
              <a:rPr lang="en-US" u="sng" dirty="0"/>
              <a:t>top down</a:t>
            </a:r>
            <a:r>
              <a:rPr lang="en-US" dirty="0"/>
              <a:t> approach to implementing hangman in Haskell, starting as follows: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D2D82E-135B-B6E0-CB0E-2697A179F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Hangman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nimBg="1"/>
      <p:bldP spid="2970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23CB76D-4783-8449-A350-582F19C88EC5}" type="slidenum">
              <a:rPr lang="en-US" sz="1400"/>
              <a:pPr/>
              <a:t>36</a:t>
            </a:fld>
            <a:endParaRPr lang="en-US" sz="1400" dirty="0"/>
          </a:p>
        </p:txBody>
      </p:sp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346646" y="1876425"/>
            <a:ext cx="11536961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action </a:t>
            </a:r>
            <a:r>
              <a:rPr lang="en-US" u="sng" dirty="0"/>
              <a:t>sgetLine</a:t>
            </a:r>
            <a:r>
              <a:rPr lang="en-US" dirty="0"/>
              <a:t> reads a line of text from the keyboard, echoing each character as a dash: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725738" y="2822575"/>
            <a:ext cx="6561137" cy="40354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sgetLine :: IO String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sgetLine = do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getCh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if x == '\n' then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 do putChar x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    return []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else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 do putChar '-'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    xs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sgetLine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        return (x:xs)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CF7005-D650-0069-F1FE-E08DCBD4D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Hangman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4CD8AFF-BD4B-C14D-BB1F-E22C4525A439}" type="slidenum">
              <a:rPr lang="en-US" sz="1400"/>
              <a:pPr/>
              <a:t>37</a:t>
            </a:fld>
            <a:endParaRPr lang="en-US" sz="1400" dirty="0"/>
          </a:p>
        </p:txBody>
      </p:sp>
      <p:sp>
        <p:nvSpPr>
          <p:cNvPr id="31746" name="Text Box 3"/>
          <p:cNvSpPr txBox="1">
            <a:spLocks noChangeArrowheads="1"/>
          </p:cNvSpPr>
          <p:nvPr/>
        </p:nvSpPr>
        <p:spPr bwMode="auto">
          <a:xfrm>
            <a:off x="1726855" y="3393334"/>
            <a:ext cx="8738290" cy="346466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Lucida Sans Typewriter" charset="0"/>
              </a:rPr>
              <a:t>import System.IO   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sz="1600" dirty="0">
              <a:latin typeface="Lucida Sans Typewriter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Lucida Sans Typewriter" charset="0"/>
              </a:rPr>
              <a:t>getCh :: IO Char 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Lucida Sans Typewriter" charset="0"/>
              </a:rPr>
              <a:t>getCh = do hSetEcho stdin False              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Lucida Sans Typewriter" charset="0"/>
              </a:rPr>
              <a:t>          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getChar             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Lucida Sans Typewriter" charset="0"/>
              </a:rPr>
              <a:t>           hSetEcho stdin True             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Lucida Sans Typewriter" charset="0"/>
              </a:rPr>
              <a:t>           return x</a:t>
            </a:r>
          </a:p>
        </p:txBody>
      </p:sp>
      <p:sp>
        <p:nvSpPr>
          <p:cNvPr id="31747" name="Rectangle 5"/>
          <p:cNvSpPr>
            <a:spLocks noChangeArrowheads="1"/>
          </p:cNvSpPr>
          <p:nvPr/>
        </p:nvSpPr>
        <p:spPr bwMode="auto">
          <a:xfrm>
            <a:off x="2139950" y="1635126"/>
            <a:ext cx="7786688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</a:pPr>
            <a:endParaRPr kumimoji="1" lang="en-US" dirty="0"/>
          </a:p>
        </p:txBody>
      </p:sp>
      <p:sp>
        <p:nvSpPr>
          <p:cNvPr id="31748" name="Text Box 2"/>
          <p:cNvSpPr txBox="1">
            <a:spLocks noChangeArrowheads="1"/>
          </p:cNvSpPr>
          <p:nvPr/>
        </p:nvSpPr>
        <p:spPr bwMode="auto">
          <a:xfrm>
            <a:off x="1261326" y="2209946"/>
            <a:ext cx="84518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action </a:t>
            </a:r>
            <a:r>
              <a:rPr lang="en-US" b="1" u="sng" dirty="0"/>
              <a:t>getCh</a:t>
            </a:r>
            <a:r>
              <a:rPr lang="en-US" dirty="0"/>
              <a:t> reads a single character from the keyboard, without echoing it to the screen: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EC0BF0-6AF1-7956-AAA1-286C8054E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Hangman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154C78A-9B63-684B-8E0A-B93E9ABA807E}" type="slidenum">
              <a:rPr lang="en-US" sz="1400"/>
              <a:pPr/>
              <a:t>38</a:t>
            </a:fld>
            <a:endParaRPr lang="en-US" sz="1400" dirty="0"/>
          </a:p>
        </p:txBody>
      </p:sp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458086" y="1834166"/>
            <a:ext cx="10848446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function </a:t>
            </a:r>
            <a:r>
              <a:rPr lang="en-US" u="sng" dirty="0"/>
              <a:t>play</a:t>
            </a:r>
            <a:r>
              <a:rPr lang="en-US" dirty="0"/>
              <a:t> is the main loop, which requests and processes guesses until the game ends.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682875" y="2787650"/>
            <a:ext cx="7416800" cy="4070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play :: String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IO ()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play word =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do putStr "? "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guess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getLine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if guess == word then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putStrLn "You got it!"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else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do putStrLn (match word guess)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            play word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7BF854-AE7F-F266-677C-F1D28022B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Hangman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B4906D-6E00-7646-9553-1CCDA587F390}" type="slidenum">
              <a:rPr lang="en-US" sz="1400"/>
              <a:pPr/>
              <a:t>39</a:t>
            </a:fld>
            <a:endParaRPr lang="en-US" sz="1400" dirty="0"/>
          </a:p>
        </p:txBody>
      </p:sp>
      <p:sp>
        <p:nvSpPr>
          <p:cNvPr id="33794" name="Text Box 1026"/>
          <p:cNvSpPr txBox="1">
            <a:spLocks noChangeArrowheads="1"/>
          </p:cNvSpPr>
          <p:nvPr/>
        </p:nvSpPr>
        <p:spPr bwMode="auto">
          <a:xfrm>
            <a:off x="581065" y="2038880"/>
            <a:ext cx="1083200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function </a:t>
            </a:r>
            <a:r>
              <a:rPr lang="en-US" u="sng" dirty="0"/>
              <a:t>match</a:t>
            </a:r>
            <a:r>
              <a:rPr lang="en-US" dirty="0"/>
              <a:t> indicates which characters in one string occur in a second string:</a:t>
            </a:r>
          </a:p>
        </p:txBody>
      </p:sp>
      <p:sp>
        <p:nvSpPr>
          <p:cNvPr id="33795" name="Text Box 1028"/>
          <p:cNvSpPr txBox="1">
            <a:spLocks noChangeArrowheads="1"/>
          </p:cNvSpPr>
          <p:nvPr/>
        </p:nvSpPr>
        <p:spPr bwMode="auto">
          <a:xfrm>
            <a:off x="298451" y="5171280"/>
            <a:ext cx="2279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3796" name="Text Box 1029"/>
          <p:cNvSpPr txBox="1">
            <a:spLocks noChangeArrowheads="1"/>
          </p:cNvSpPr>
          <p:nvPr/>
        </p:nvSpPr>
        <p:spPr bwMode="auto">
          <a:xfrm>
            <a:off x="3502819" y="5430836"/>
            <a:ext cx="5006975" cy="1200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match "haskell" "pascal"</a:t>
            </a:r>
          </a:p>
          <a:p>
            <a:r>
              <a:rPr lang="en-US" sz="2400" dirty="0">
                <a:latin typeface="Lucida Sans Typewriter" charset="0"/>
              </a:rPr>
              <a:t>  </a:t>
            </a:r>
          </a:p>
          <a:p>
            <a:r>
              <a:rPr lang="en-US" sz="2400" dirty="0">
                <a:latin typeface="Lucida Sans Typewriter" charset="0"/>
              </a:rPr>
              <a:t>"-as--ll"</a:t>
            </a:r>
          </a:p>
        </p:txBody>
      </p:sp>
      <p:sp>
        <p:nvSpPr>
          <p:cNvPr id="33797" name="Text Box 1031"/>
          <p:cNvSpPr txBox="1">
            <a:spLocks noChangeArrowheads="1"/>
          </p:cNvSpPr>
          <p:nvPr/>
        </p:nvSpPr>
        <p:spPr bwMode="auto">
          <a:xfrm>
            <a:off x="1584855" y="3114939"/>
            <a:ext cx="8034338" cy="151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match :: String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String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String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match xs ys =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[if elem x ys then x else '-' |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xs]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3CC339-2A8A-556F-3A4C-D4432F48D4DF}"/>
              </a:ext>
            </a:extLst>
          </p:cNvPr>
          <p:cNvSpPr txBox="1">
            <a:spLocks noChangeArrowheads="1"/>
          </p:cNvSpPr>
          <p:nvPr/>
        </p:nvSpPr>
        <p:spPr>
          <a:xfrm>
            <a:off x="581065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Hangman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 animBg="1"/>
      <p:bldP spid="3379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24916-7AAC-D141-B607-875226B6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BF29-9BD6-6D4E-B3F8-96E69563A499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B49225-F41B-3944-8ACC-DBA403783C50}"/>
              </a:ext>
            </a:extLst>
          </p:cNvPr>
          <p:cNvSpPr txBox="1">
            <a:spLocks/>
          </p:cNvSpPr>
          <p:nvPr/>
        </p:nvSpPr>
        <p:spPr>
          <a:xfrm>
            <a:off x="500559" y="9557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pPr defTabSz="685800" eaLnBrk="1" hangingPunct="1">
              <a:lnSpc>
                <a:spcPct val="90000"/>
              </a:lnSpc>
            </a:pPr>
            <a:r>
              <a:rPr lang="en-IE" sz="270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Reading values in general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84997-5E6B-3E4D-9149-C09077A4C388}"/>
              </a:ext>
            </a:extLst>
          </p:cNvPr>
          <p:cNvSpPr txBox="1"/>
          <p:nvPr/>
        </p:nvSpPr>
        <p:spPr>
          <a:xfrm>
            <a:off x="1104133" y="2793735"/>
            <a:ext cx="93098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Haskell contains the class Read with the function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FF00"/>
                </a:solidFill>
              </a:rPr>
              <a:t>read :: Read a =&gt; String -&gt; a</a:t>
            </a:r>
          </a:p>
          <a:p>
            <a:endParaRPr lang="en-US" sz="2800" dirty="0"/>
          </a:p>
          <a:p>
            <a:r>
              <a:rPr lang="en-US" sz="2800" dirty="0"/>
              <a:t>This can be used to parse a string representing a value of a particular type into that value</a:t>
            </a:r>
          </a:p>
        </p:txBody>
      </p:sp>
    </p:spTree>
    <p:extLst>
      <p:ext uri="{BB962C8B-B14F-4D97-AF65-F5344CB8AC3E}">
        <p14:creationId xmlns:p14="http://schemas.microsoft.com/office/powerpoint/2010/main" val="377189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B2427-FB59-934A-84D3-04EBA7D5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BF29-9BD6-6D4E-B3F8-96E69563A499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C28938-7E1D-214B-9BAD-1DCA0EF75918}"/>
              </a:ext>
            </a:extLst>
          </p:cNvPr>
          <p:cNvSpPr txBox="1">
            <a:spLocks/>
          </p:cNvSpPr>
          <p:nvPr/>
        </p:nvSpPr>
        <p:spPr>
          <a:xfrm>
            <a:off x="939799" y="9557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IE" sz="270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Example using read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066EA-3268-CE45-AEFA-3F64AF8C3B59}"/>
              </a:ext>
            </a:extLst>
          </p:cNvPr>
          <p:cNvSpPr txBox="1"/>
          <p:nvPr/>
        </p:nvSpPr>
        <p:spPr>
          <a:xfrm>
            <a:off x="673098" y="2133601"/>
            <a:ext cx="104521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Suppose that we want to read an I/O program to read in an integer  value.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 read an integer from a line of input, we start by </a:t>
            </a:r>
          </a:p>
          <a:p>
            <a:r>
              <a:rPr lang="en-US" sz="2800" dirty="0"/>
              <a:t>		</a:t>
            </a:r>
            <a:r>
              <a:rPr lang="en-US" sz="2800" dirty="0">
                <a:solidFill>
                  <a:srgbClr val="FFFF00"/>
                </a:solidFill>
              </a:rPr>
              <a:t> do line &lt;- getLine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Then we need to sequence this with an I/O action to return the </a:t>
            </a:r>
            <a:r>
              <a:rPr lang="en-US" sz="2800" i="1" dirty="0">
                <a:solidFill>
                  <a:srgbClr val="FFFF00"/>
                </a:solidFill>
              </a:rPr>
              <a:t>line</a:t>
            </a:r>
            <a:r>
              <a:rPr lang="en-US" sz="2800" dirty="0"/>
              <a:t> interpreted as an </a:t>
            </a:r>
            <a:r>
              <a:rPr lang="en-US" sz="2800" i="1" dirty="0"/>
              <a:t>Integer</a:t>
            </a:r>
            <a:r>
              <a:rPr lang="en-US" sz="2800" dirty="0"/>
              <a:t>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can convert the </a:t>
            </a:r>
            <a:r>
              <a:rPr lang="en-US" sz="2800" i="1" dirty="0">
                <a:solidFill>
                  <a:srgbClr val="FFFF00"/>
                </a:solidFill>
              </a:rPr>
              <a:t>line</a:t>
            </a:r>
            <a:r>
              <a:rPr lang="en-US" sz="2800" dirty="0"/>
              <a:t> to an integer by the expression</a:t>
            </a:r>
          </a:p>
          <a:p>
            <a:r>
              <a:rPr lang="en-US" sz="2800" dirty="0"/>
              <a:t>		</a:t>
            </a:r>
            <a:r>
              <a:rPr lang="en-US" sz="2800" dirty="0">
                <a:solidFill>
                  <a:srgbClr val="FFFF00"/>
                </a:solidFill>
              </a:rPr>
              <a:t>   read line</a:t>
            </a:r>
          </a:p>
        </p:txBody>
      </p:sp>
    </p:spTree>
    <p:extLst>
      <p:ext uri="{BB962C8B-B14F-4D97-AF65-F5344CB8AC3E}">
        <p14:creationId xmlns:p14="http://schemas.microsoft.com/office/powerpoint/2010/main" val="306722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B2427-FB59-934A-84D3-04EBA7D5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BF29-9BD6-6D4E-B3F8-96E69563A499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4" name="Text Box 1031">
            <a:extLst>
              <a:ext uri="{FF2B5EF4-FFF2-40B4-BE49-F238E27FC236}">
                <a16:creationId xmlns:a16="http://schemas.microsoft.com/office/drawing/2014/main" id="{F8B091AC-B8DD-8D4E-BE4D-2AD6CCFCF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4462" y="4380017"/>
            <a:ext cx="8339138" cy="243977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getInt :: IO Integer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getInt =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do line &lt;- getLine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   return (read line)</a:t>
            </a:r>
          </a:p>
          <a:p>
            <a:pPr>
              <a:lnSpc>
                <a:spcPct val="130000"/>
              </a:lnSpc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066EA-3268-CE45-AEFA-3F64AF8C3B59}"/>
              </a:ext>
            </a:extLst>
          </p:cNvPr>
          <p:cNvSpPr txBox="1"/>
          <p:nvPr/>
        </p:nvSpPr>
        <p:spPr>
          <a:xfrm>
            <a:off x="464310" y="2010137"/>
            <a:ext cx="1052677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we need is the IO Integer action which returns this value – this is the purpose of return.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Our program to read an integer is </a:t>
            </a:r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612CB07-19B5-631B-C9F1-C93921F3DE31}"/>
              </a:ext>
            </a:extLst>
          </p:cNvPr>
          <p:cNvSpPr txBox="1">
            <a:spLocks/>
          </p:cNvSpPr>
          <p:nvPr/>
        </p:nvSpPr>
        <p:spPr>
          <a:xfrm>
            <a:off x="939799" y="9557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IE" sz="270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Example using read</a:t>
            </a: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7806F880-9791-2659-5F51-D62F59AB9E09}"/>
              </a:ext>
            </a:extLst>
          </p:cNvPr>
          <p:cNvSpPr/>
          <p:nvPr/>
        </p:nvSpPr>
        <p:spPr>
          <a:xfrm>
            <a:off x="8190807" y="2699263"/>
            <a:ext cx="2964873" cy="1521995"/>
          </a:xfrm>
          <a:prstGeom prst="wedgeRectCallout">
            <a:avLst>
              <a:gd name="adj1" fmla="val -152216"/>
              <a:gd name="adj2" fmla="val 76919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compiler can figure out it’s an Integer from this</a:t>
            </a:r>
          </a:p>
        </p:txBody>
      </p:sp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15F23F15-8FB1-D79B-AE32-17157F918D30}"/>
              </a:ext>
            </a:extLst>
          </p:cNvPr>
          <p:cNvSpPr/>
          <p:nvPr/>
        </p:nvSpPr>
        <p:spPr>
          <a:xfrm>
            <a:off x="8251270" y="5343774"/>
            <a:ext cx="3940730" cy="1521995"/>
          </a:xfrm>
          <a:prstGeom prst="wedgeRectCallout">
            <a:avLst>
              <a:gd name="adj1" fmla="val -174028"/>
              <a:gd name="adj2" fmla="val 144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Compiler is expecting an Integer to be returned so needs return </a:t>
            </a:r>
          </a:p>
        </p:txBody>
      </p:sp>
    </p:spTree>
    <p:extLst>
      <p:ext uri="{BB962C8B-B14F-4D97-AF65-F5344CB8AC3E}">
        <p14:creationId xmlns:p14="http://schemas.microsoft.com/office/powerpoint/2010/main" val="222757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B2427-FB59-934A-84D3-04EBA7D5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BF29-9BD6-6D4E-B3F8-96E69563A499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C28938-7E1D-214B-9BAD-1DCA0EF75918}"/>
              </a:ext>
            </a:extLst>
          </p:cNvPr>
          <p:cNvSpPr txBox="1">
            <a:spLocks/>
          </p:cNvSpPr>
          <p:nvPr/>
        </p:nvSpPr>
        <p:spPr>
          <a:xfrm>
            <a:off x="488465" y="947101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IE" sz="270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Being more specific</a:t>
            </a:r>
          </a:p>
        </p:txBody>
      </p:sp>
      <p:sp>
        <p:nvSpPr>
          <p:cNvPr id="4" name="Text Box 1031">
            <a:extLst>
              <a:ext uri="{FF2B5EF4-FFF2-40B4-BE49-F238E27FC236}">
                <a16:creationId xmlns:a16="http://schemas.microsoft.com/office/drawing/2014/main" id="{F8B091AC-B8DD-8D4E-BE4D-2AD6CCFCF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2476" y="2638537"/>
            <a:ext cx="4823576" cy="5192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IE" sz="2400" dirty="0">
                <a:latin typeface="Lucida Sans Typewriter" charset="0"/>
              </a:rPr>
              <a:t>Read a =&gt; String -&gt; a 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066EA-3268-CE45-AEFA-3F64AF8C3B59}"/>
              </a:ext>
            </a:extLst>
          </p:cNvPr>
          <p:cNvSpPr txBox="1"/>
          <p:nvPr/>
        </p:nvSpPr>
        <p:spPr>
          <a:xfrm>
            <a:off x="358140" y="2098375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More generally, remember that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DD92A-1453-8646-94CD-713C34B5E1CA}"/>
              </a:ext>
            </a:extLst>
          </p:cNvPr>
          <p:cNvSpPr txBox="1"/>
          <p:nvPr/>
        </p:nvSpPr>
        <p:spPr>
          <a:xfrm>
            <a:off x="419100" y="3401568"/>
            <a:ext cx="98927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 we can specify directly into which type we wish to cast:</a:t>
            </a:r>
          </a:p>
          <a:p>
            <a:r>
              <a:rPr lang="en-US" sz="2800" dirty="0"/>
              <a:t>  </a:t>
            </a:r>
          </a:p>
        </p:txBody>
      </p:sp>
      <p:sp>
        <p:nvSpPr>
          <p:cNvPr id="11" name="Text Box 1031">
            <a:extLst>
              <a:ext uri="{FF2B5EF4-FFF2-40B4-BE49-F238E27FC236}">
                <a16:creationId xmlns:a16="http://schemas.microsoft.com/office/drawing/2014/main" id="{482B7EB7-353F-9549-B623-EFB1A6040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517" y="4600824"/>
            <a:ext cx="2576369" cy="107939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IE" dirty="0"/>
              <a:t>read "1" :: Int</a:t>
            </a:r>
            <a:r>
              <a:rPr lang="en-US" sz="2400" dirty="0">
                <a:latin typeface="Lucida Sans Typewriter" charset="0"/>
              </a:rPr>
              <a:t>   </a:t>
            </a:r>
          </a:p>
          <a:p>
            <a:pPr>
              <a:lnSpc>
                <a:spcPct val="130000"/>
              </a:lnSpc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12" name="Text Box 1031">
            <a:extLst>
              <a:ext uri="{FF2B5EF4-FFF2-40B4-BE49-F238E27FC236}">
                <a16:creationId xmlns:a16="http://schemas.microsoft.com/office/drawing/2014/main" id="{58B20FF6-1C72-8540-BB65-AC0ED51DC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273" y="4169499"/>
            <a:ext cx="4937184" cy="224676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Or.. E.g. Inside a do block .. </a:t>
            </a:r>
          </a:p>
          <a:p>
            <a:r>
              <a:rPr lang="en-IE" dirty="0"/>
              <a:t>..</a:t>
            </a:r>
          </a:p>
          <a:p>
            <a:r>
              <a:rPr lang="en-IE" dirty="0"/>
              <a:t>st1 &lt;- getLine</a:t>
            </a:r>
          </a:p>
          <a:p>
            <a:r>
              <a:rPr lang="en-IE" dirty="0"/>
              <a:t>let int1 = read st1 :: Int</a:t>
            </a:r>
          </a:p>
          <a:p>
            <a:r>
              <a:rPr lang="en-I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88347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1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B2427-FB59-934A-84D3-04EBA7D5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BF29-9BD6-6D4E-B3F8-96E69563A499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C28938-7E1D-214B-9BAD-1DCA0EF75918}"/>
              </a:ext>
            </a:extLst>
          </p:cNvPr>
          <p:cNvSpPr txBox="1">
            <a:spLocks/>
          </p:cNvSpPr>
          <p:nvPr/>
        </p:nvSpPr>
        <p:spPr>
          <a:xfrm>
            <a:off x="623177" y="853076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IE" sz="270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Add two numbers using show</a:t>
            </a:r>
          </a:p>
        </p:txBody>
      </p:sp>
      <p:sp>
        <p:nvSpPr>
          <p:cNvPr id="4" name="Text Box 1031">
            <a:extLst>
              <a:ext uri="{FF2B5EF4-FFF2-40B4-BE49-F238E27FC236}">
                <a16:creationId xmlns:a16="http://schemas.microsoft.com/office/drawing/2014/main" id="{F8B091AC-B8DD-8D4E-BE4D-2AD6CCFCF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8490" y="3968876"/>
            <a:ext cx="10435118" cy="288912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sz="2200" dirty="0">
                <a:latin typeface="Lucida Sans Typewriter" panose="020B0509030504030204" pitchFamily="49" charset="77"/>
              </a:rPr>
              <a:t>add :: IO ()</a:t>
            </a:r>
            <a:endParaRPr lang="en-US" sz="2200" dirty="0">
              <a:latin typeface="Lucida Sans Typewriter" panose="020B0509030504030204" pitchFamily="49" charset="77"/>
            </a:endParaRPr>
          </a:p>
          <a:p>
            <a:r>
              <a:rPr lang="en-US" sz="2200" dirty="0">
                <a:latin typeface="Lucida Sans Typewriter" panose="020B0509030504030204" pitchFamily="49" charset="77"/>
              </a:rPr>
              <a:t>add = do 	putStrLn "Enter two numbers"         		</a:t>
            </a:r>
          </a:p>
          <a:p>
            <a:r>
              <a:rPr lang="en-US" sz="2200" dirty="0">
                <a:latin typeface="Lucida Sans Typewriter" panose="020B0509030504030204" pitchFamily="49" charset="77"/>
              </a:rPr>
              <a:t>      numstr1 &lt;- getLine         </a:t>
            </a:r>
          </a:p>
          <a:p>
            <a:r>
              <a:rPr lang="en-US" sz="2200" dirty="0">
                <a:latin typeface="Lucida Sans Typewriter" panose="020B0509030504030204" pitchFamily="49" charset="77"/>
              </a:rPr>
              <a:t>      numstr2 &lt;- getLine          </a:t>
            </a:r>
          </a:p>
          <a:p>
            <a:r>
              <a:rPr lang="en-US" sz="2200" dirty="0">
                <a:latin typeface="Lucida Sans Typewriter" panose="020B0509030504030204" pitchFamily="49" charset="77"/>
              </a:rPr>
              <a:t>      let num1 = read numstr1 :: Int         		</a:t>
            </a:r>
          </a:p>
          <a:p>
            <a:r>
              <a:rPr lang="en-US" sz="2200" dirty="0">
                <a:latin typeface="Lucida Sans Typewriter" panose="020B0509030504030204" pitchFamily="49" charset="77"/>
              </a:rPr>
              <a:t>      let num2 = read numstr2 :: Int         		</a:t>
            </a:r>
          </a:p>
          <a:p>
            <a:r>
              <a:rPr lang="en-US" sz="2200" dirty="0">
                <a:latin typeface="Lucida Sans Typewriter" panose="020B0509030504030204" pitchFamily="49" charset="77"/>
              </a:rPr>
              <a:t>      </a:t>
            </a:r>
            <a:r>
              <a:rPr lang="en-US" sz="2200" dirty="0" err="1">
                <a:latin typeface="Lucida Sans Typewriter" panose="020B0509030504030204" pitchFamily="49" charset="77"/>
              </a:rPr>
              <a:t>putStrLn</a:t>
            </a:r>
            <a:r>
              <a:rPr lang="en-US" sz="2200" dirty="0">
                <a:latin typeface="Lucida Sans Typewriter" panose="020B0509030504030204" pitchFamily="49" charset="77"/>
              </a:rPr>
              <a:t> ("Sum is "++ show (num1 + num2))</a:t>
            </a:r>
            <a:endParaRPr lang="en-IE" sz="2200" dirty="0">
              <a:latin typeface="Lucida Sans Typewriter" panose="020B0509030504030204" pitchFamily="49" charset="77"/>
            </a:endParaRPr>
          </a:p>
          <a:p>
            <a:pPr>
              <a:lnSpc>
                <a:spcPct val="130000"/>
              </a:lnSpc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6496E-1867-6E47-ABB8-8A9580EE266F}"/>
              </a:ext>
            </a:extLst>
          </p:cNvPr>
          <p:cNvSpPr txBox="1"/>
          <p:nvPr/>
        </p:nvSpPr>
        <p:spPr>
          <a:xfrm>
            <a:off x="1921625" y="1870188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Recall that to use a non-string type as a string, we use </a:t>
            </a:r>
            <a:r>
              <a:rPr lang="en-US" sz="2800" b="1" dirty="0"/>
              <a:t>show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 two numbers and print result</a:t>
            </a:r>
          </a:p>
        </p:txBody>
      </p:sp>
    </p:spTree>
    <p:extLst>
      <p:ext uri="{BB962C8B-B14F-4D97-AF65-F5344CB8AC3E}">
        <p14:creationId xmlns:p14="http://schemas.microsoft.com/office/powerpoint/2010/main" val="48503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B2427-FB59-934A-84D3-04EBA7D5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BF29-9BD6-6D4E-B3F8-96E69563A499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4" name="Text Box 1031">
            <a:extLst>
              <a:ext uri="{FF2B5EF4-FFF2-40B4-BE49-F238E27FC236}">
                <a16:creationId xmlns:a16="http://schemas.microsoft.com/office/drawing/2014/main" id="{F8B091AC-B8DD-8D4E-BE4D-2AD6CCFCF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897" y="3831483"/>
            <a:ext cx="9144001" cy="242217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sz="2400" dirty="0">
                <a:latin typeface="Lucida Sans Typewriter" charset="0"/>
              </a:rPr>
              <a:t>add :: IO ()</a:t>
            </a:r>
          </a:p>
          <a:p>
            <a:r>
              <a:rPr lang="en-IE" sz="2400" dirty="0">
                <a:latin typeface="Lucida Sans Typewriter" charset="0"/>
              </a:rPr>
              <a:t>add = do 	putStrLn ”Enter two numbers"</a:t>
            </a:r>
          </a:p>
          <a:p>
            <a:r>
              <a:rPr lang="en-IE" sz="2400" dirty="0">
                <a:latin typeface="Lucida Sans Typewriter" charset="0"/>
              </a:rPr>
              <a:t>		num1 &lt;- getInt</a:t>
            </a:r>
          </a:p>
          <a:p>
            <a:r>
              <a:rPr lang="en-IE" sz="2400" dirty="0">
                <a:latin typeface="Lucida Sans Typewriter" charset="0"/>
              </a:rPr>
              <a:t>		num2 &lt;- getInt </a:t>
            </a:r>
          </a:p>
          <a:p>
            <a:r>
              <a:rPr lang="en-IE" sz="2400" dirty="0">
                <a:latin typeface="Lucida Sans Typewriter" charset="0"/>
              </a:rPr>
              <a:t>		putStrLn ("Sum is "++show (num1+num2)) </a:t>
            </a:r>
          </a:p>
          <a:p>
            <a:pPr>
              <a:lnSpc>
                <a:spcPct val="130000"/>
              </a:lnSpc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066EA-3268-CE45-AEFA-3F64AF8C3B59}"/>
              </a:ext>
            </a:extLst>
          </p:cNvPr>
          <p:cNvSpPr txBox="1"/>
          <p:nvPr/>
        </p:nvSpPr>
        <p:spPr>
          <a:xfrm>
            <a:off x="938782" y="2460525"/>
            <a:ext cx="10600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Using getInt (which already uses read to make into Integer) </a:t>
            </a:r>
          </a:p>
          <a:p>
            <a:endParaRPr 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22F88B4-2023-6649-922D-4F47A82618D5}"/>
              </a:ext>
            </a:extLst>
          </p:cNvPr>
          <p:cNvSpPr txBox="1">
            <a:spLocks/>
          </p:cNvSpPr>
          <p:nvPr/>
        </p:nvSpPr>
        <p:spPr>
          <a:xfrm>
            <a:off x="497932" y="9557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IE" sz="270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Alternative using getInt</a:t>
            </a:r>
          </a:p>
        </p:txBody>
      </p:sp>
    </p:spTree>
    <p:extLst>
      <p:ext uri="{BB962C8B-B14F-4D97-AF65-F5344CB8AC3E}">
        <p14:creationId xmlns:p14="http://schemas.microsoft.com/office/powerpoint/2010/main" val="209592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F2B8A0-3DA4-0E4B-97D1-8441C86A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ABF29-9BD6-6D4E-B3F8-96E69563A499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BDACEF-FB5C-614D-A3B2-883C00259019}"/>
              </a:ext>
            </a:extLst>
          </p:cNvPr>
          <p:cNvSpPr txBox="1">
            <a:spLocks/>
          </p:cNvSpPr>
          <p:nvPr/>
        </p:nvSpPr>
        <p:spPr>
          <a:xfrm>
            <a:off x="464259" y="955722"/>
            <a:ext cx="8170025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IE" sz="2700" dirty="0">
                <a:solidFill>
                  <a:schemeClr val="tx1"/>
                </a:solidFill>
                <a:latin typeface="Arial Black" charset="0"/>
                <a:ea typeface="ＭＳ Ｐゴシック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0C959-0812-6D4F-A9CB-962DF4C24099}"/>
              </a:ext>
            </a:extLst>
          </p:cNvPr>
          <p:cNvSpPr txBox="1"/>
          <p:nvPr/>
        </p:nvSpPr>
        <p:spPr>
          <a:xfrm>
            <a:off x="835016" y="3130048"/>
            <a:ext cx="105219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Programming in Haskell, Graham Hutton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>
                <a:hlinkClick r:id="rId2"/>
              </a:rPr>
              <a:t>https://www.seas.upenn.edu/~cis194/fall16/index.html</a:t>
            </a: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Get Programming with Haskell, Will Kurt, </a:t>
            </a:r>
            <a:r>
              <a:rPr lang="en-IE" sz="2800" dirty="0" err="1"/>
              <a:t>Mannning</a:t>
            </a:r>
            <a:r>
              <a:rPr lang="en-IE" sz="2800" dirty="0"/>
              <a:t>, ISBN 9781617293764.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4DDBC-E952-1C49-8B31-6DA47E8976FF}"/>
              </a:ext>
            </a:extLst>
          </p:cNvPr>
          <p:cNvSpPr txBox="1"/>
          <p:nvPr/>
        </p:nvSpPr>
        <p:spPr>
          <a:xfrm>
            <a:off x="-243068" y="233808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823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2141418"/>
            <a:ext cx="6206029" cy="4716582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906000" y="6400800"/>
            <a:ext cx="609600" cy="3048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47</a:t>
            </a:fld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77BE3-9211-E1B0-1C4B-B478DA6C6CD7}"/>
              </a:ext>
            </a:extLst>
          </p:cNvPr>
          <p:cNvSpPr txBox="1"/>
          <p:nvPr/>
        </p:nvSpPr>
        <p:spPr>
          <a:xfrm>
            <a:off x="10914888" y="1133856"/>
            <a:ext cx="606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6BABF29-9BD6-6D4E-B3F8-96E69563A499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c-record-syntax</Template>
  <TotalTime>10860</TotalTime>
  <Words>2716</Words>
  <Application>Microsoft Macintosh PowerPoint</Application>
  <PresentationFormat>Widescreen</PresentationFormat>
  <Paragraphs>397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Arial Black</vt:lpstr>
      <vt:lpstr>Calibri</vt:lpstr>
      <vt:lpstr>Lucida Sans Typewriter</vt:lpstr>
      <vt:lpstr>Tahoma</vt:lpstr>
      <vt:lpstr>Times New Roman</vt:lpstr>
      <vt:lpstr>Trebuchet MS</vt:lpstr>
      <vt:lpstr>Berlin</vt:lpstr>
      <vt:lpstr>PowerPoint Presentation</vt:lpstr>
      <vt:lpstr>Introduction</vt:lpstr>
      <vt:lpstr>Introduction</vt:lpstr>
      <vt:lpstr>mystery’s in Java ..</vt:lpstr>
      <vt:lpstr>The Problem</vt:lpstr>
      <vt:lpstr>The Solution</vt:lpstr>
      <vt:lpstr>IO Types</vt:lpstr>
      <vt:lpstr>What is an Action?</vt:lpstr>
      <vt:lpstr>What is an Action?</vt:lpstr>
      <vt:lpstr>The IO Type</vt:lpstr>
      <vt:lpstr>The IO Type</vt:lpstr>
      <vt:lpstr>The IO Type</vt:lpstr>
      <vt:lpstr>The IO Type</vt:lpstr>
      <vt:lpstr>The IO Type</vt:lpstr>
      <vt:lpstr>main</vt:lpstr>
      <vt:lpstr>main</vt:lpstr>
      <vt:lpstr>Basic Actions</vt:lpstr>
      <vt:lpstr>Basic Actions</vt:lpstr>
      <vt:lpstr>Basic Actions</vt:lpstr>
      <vt:lpstr>Sequencing</vt:lpstr>
      <vt:lpstr>do notation</vt:lpstr>
      <vt:lpstr>Derived Primitives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Pure Versus I/O </vt:lpstr>
      <vt:lpstr>Why purity matters</vt:lpstr>
      <vt:lpstr>Back to mystery’s in Java .. recap </vt:lpstr>
      <vt:lpstr>mystery’s in Haskell ..</vt:lpstr>
      <vt:lpstr>More Examples</vt:lpstr>
      <vt:lpstr>More Examples</vt:lpstr>
      <vt:lpstr>Hangman</vt:lpstr>
      <vt:lpstr>Hangman</vt:lpstr>
      <vt:lpstr>Hangman</vt:lpstr>
      <vt:lpstr>Hangman</vt:lpstr>
      <vt:lpstr>Hangman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707</cp:revision>
  <cp:lastPrinted>2019-03-14T07:03:57Z</cp:lastPrinted>
  <dcterms:created xsi:type="dcterms:W3CDTF">2000-11-20T11:40:19Z</dcterms:created>
  <dcterms:modified xsi:type="dcterms:W3CDTF">2026-03-09T15:02:04Z</dcterms:modified>
</cp:coreProperties>
</file>