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789" r:id="rId1"/>
  </p:sldMasterIdLst>
  <p:notesMasterIdLst>
    <p:notesMasterId r:id="rId12"/>
  </p:notesMasterIdLst>
  <p:handoutMasterIdLst>
    <p:handoutMasterId r:id="rId13"/>
  </p:handoutMasterIdLst>
  <p:sldIdLst>
    <p:sldId id="319" r:id="rId2"/>
    <p:sldId id="278" r:id="rId3"/>
    <p:sldId id="336" r:id="rId4"/>
    <p:sldId id="337" r:id="rId5"/>
    <p:sldId id="338" r:id="rId6"/>
    <p:sldId id="339" r:id="rId7"/>
    <p:sldId id="340" r:id="rId8"/>
    <p:sldId id="341" r:id="rId9"/>
    <p:sldId id="342" r:id="rId10"/>
    <p:sldId id="335" r:id="rId11"/>
  </p:sldIdLst>
  <p:sldSz cx="9144000" cy="6858000" type="screen4x3"/>
  <p:notesSz cx="7089775" cy="102187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8">
          <p15:clr>
            <a:srgbClr val="A4A3A4"/>
          </p15:clr>
        </p15:guide>
        <p15:guide id="2" pos="22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8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10"/>
    <p:restoredTop sz="96327"/>
  </p:normalViewPr>
  <p:slideViewPr>
    <p:cSldViewPr snapToGrid="0">
      <p:cViewPr varScale="1">
        <p:scale>
          <a:sx n="123" d="100"/>
          <a:sy n="123" d="100"/>
        </p:scale>
        <p:origin x="11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66" y="-78"/>
      </p:cViewPr>
      <p:guideLst>
        <p:guide orient="horz" pos="3218"/>
        <p:guide pos="22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7963" y="0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7563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7963" y="9707563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/>
            </a:lvl1pPr>
          </a:lstStyle>
          <a:p>
            <a:pPr>
              <a:defRPr/>
            </a:pPr>
            <a:fld id="{E739CC59-873E-FF43-BEA1-C0C74234B5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926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409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4099"/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100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41400" y="762000"/>
            <a:ext cx="5080000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165" name="Rectangle 4101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410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410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1348EA3-C290-8148-9528-44C1485A20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449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8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108101" cy="1373070"/>
          </a:xfrm>
        </p:spPr>
        <p:txBody>
          <a:bodyPr anchor="b">
            <a:noAutofit/>
          </a:bodyPr>
          <a:lstStyle>
            <a:lvl1pPr algn="r">
              <a:defRPr sz="303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2" y="4394042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1125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750337"/>
            <a:ext cx="878916" cy="1356442"/>
          </a:xfrm>
        </p:spPr>
        <p:txBody>
          <a:bodyPr/>
          <a:lstStyle/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7235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7A2AD6-D65D-AC4E-AA17-D4EE367446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8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7828359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4087901"/>
            <a:ext cx="1202248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0" y="2726267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2869895"/>
            <a:ext cx="7210395" cy="1090788"/>
          </a:xfrm>
        </p:spPr>
        <p:txBody>
          <a:bodyPr anchor="ctr">
            <a:normAutofit/>
          </a:bodyPr>
          <a:lstStyle>
            <a:lvl1pPr algn="r"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4232174"/>
            <a:ext cx="7210395" cy="1704017"/>
          </a:xfrm>
        </p:spPr>
        <p:txBody>
          <a:bodyPr>
            <a:normAutofit/>
          </a:bodyPr>
          <a:lstStyle>
            <a:lvl1pPr marL="0" indent="0" algn="r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3" y="2869898"/>
            <a:ext cx="865613" cy="1090789"/>
          </a:xfrm>
        </p:spPr>
        <p:txBody>
          <a:bodyPr/>
          <a:lstStyle/>
          <a:p>
            <a:pPr>
              <a:defRPr/>
            </a:pPr>
            <a:fld id="{C35C18D2-0C4F-1048-8791-EAC4D231C67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07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1" y="2336873"/>
            <a:ext cx="352376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3" y="2336873"/>
            <a:ext cx="3525044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CA77CA-13E0-A143-9FB5-3BE16FE492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69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32"/>
            <a:ext cx="7210397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4" y="2336876"/>
            <a:ext cx="3354245" cy="69313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3" y="3030011"/>
            <a:ext cx="3523766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2336873"/>
            <a:ext cx="3355521" cy="692076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4" y="3030011"/>
            <a:ext cx="3525044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7D068B-B1E1-A342-A203-AB047747FD7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0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7C639F-D5FD-EE49-99EB-E8AA2038BC3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187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C257-A766-F845-8D87-0C6E24FBB08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20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753227"/>
            <a:ext cx="7210394" cy="1080940"/>
          </a:xfrm>
        </p:spPr>
        <p:txBody>
          <a:bodyPr anchor="ctr">
            <a:normAutofit/>
          </a:bodyPr>
          <a:lstStyle>
            <a:lvl1pPr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6"/>
            <a:ext cx="4206252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2336875"/>
            <a:ext cx="2842559" cy="3599317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2E12D2-2E02-2549-8554-5CB9074C30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68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753228"/>
            <a:ext cx="7210393" cy="1080938"/>
          </a:xfrm>
        </p:spPr>
        <p:txBody>
          <a:bodyPr anchor="ctr">
            <a:normAutofit/>
          </a:bodyPr>
          <a:lstStyle>
            <a:lvl1pPr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1" y="2336874"/>
            <a:ext cx="406938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2336876"/>
            <a:ext cx="2907192" cy="3599315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B131DF-2DA6-134A-8D48-D9596DDC1E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44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5929622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4711619"/>
            <a:ext cx="7210394" cy="453051"/>
          </a:xfrm>
        </p:spPr>
        <p:txBody>
          <a:bodyPr anchor="b">
            <a:normAutofit/>
          </a:bodyPr>
          <a:lstStyle>
            <a:lvl1pPr>
              <a:defRPr sz="13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609600"/>
            <a:ext cx="721039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5169586"/>
            <a:ext cx="7210397" cy="62297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4711312"/>
            <a:ext cx="865613" cy="1090789"/>
          </a:xfrm>
        </p:spPr>
        <p:txBody>
          <a:bodyPr/>
          <a:lstStyle/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3305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5929622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609597"/>
            <a:ext cx="7210394" cy="3592750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4711618"/>
            <a:ext cx="7210394" cy="1090789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4711618"/>
            <a:ext cx="865613" cy="1090789"/>
          </a:xfrm>
        </p:spPr>
        <p:txBody>
          <a:bodyPr/>
          <a:lstStyle/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5862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7828359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5929622"/>
            <a:ext cx="1202248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609598"/>
            <a:ext cx="6539158" cy="3036061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3653379"/>
            <a:ext cx="6117434" cy="548968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4711618"/>
            <a:ext cx="7210394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4709928"/>
            <a:ext cx="865613" cy="1090789"/>
          </a:xfrm>
        </p:spPr>
        <p:txBody>
          <a:bodyPr/>
          <a:lstStyle/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37679" y="748116"/>
            <a:ext cx="457200" cy="584776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405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3033524"/>
            <a:ext cx="457200" cy="584776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405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59433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7828359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5929622"/>
            <a:ext cx="1202248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4711618"/>
            <a:ext cx="7210397" cy="588535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5300152"/>
            <a:ext cx="7210397" cy="502255"/>
          </a:xfrm>
        </p:spPr>
        <p:txBody>
          <a:bodyPr anchor="t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4709928"/>
            <a:ext cx="865613" cy="1090789"/>
          </a:xfrm>
        </p:spPr>
        <p:txBody>
          <a:bodyPr/>
          <a:lstStyle/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834871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6" y="753228"/>
            <a:ext cx="721872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2336873"/>
            <a:ext cx="2302526" cy="576262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2" y="3022674"/>
            <a:ext cx="2287277" cy="2913513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2336873"/>
            <a:ext cx="2297430" cy="576262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3022674"/>
            <a:ext cx="2297430" cy="2913513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8" y="2336873"/>
            <a:ext cx="2302519" cy="576262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8" y="3022674"/>
            <a:ext cx="2302519" cy="2913513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4512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1" y="753228"/>
            <a:ext cx="7210395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40" y="4297503"/>
            <a:ext cx="2287279" cy="576262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40" y="2336873"/>
            <a:ext cx="228727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40" y="4873765"/>
            <a:ext cx="2287279" cy="1062422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4297503"/>
            <a:ext cx="2297430" cy="576262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2336873"/>
            <a:ext cx="229743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9" y="4873764"/>
            <a:ext cx="2300473" cy="1062422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10" y="4297503"/>
            <a:ext cx="2297629" cy="576262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9" y="2336873"/>
            <a:ext cx="229762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4873762"/>
            <a:ext cx="2300672" cy="1062422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51673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828359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971234"/>
            <a:ext cx="1202248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0BBEC0-C82C-5F41-BED6-03FAE84AE0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667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5448782" y="2040420"/>
            <a:ext cx="5106988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200778" y="5543430"/>
            <a:ext cx="1602997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4" y="609597"/>
            <a:ext cx="805352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9"/>
            <a:ext cx="6652503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5936190"/>
            <a:ext cx="2057400" cy="365125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91"/>
            <a:ext cx="459510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4" y="5398636"/>
            <a:ext cx="865613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8EB7279E-AD12-3E4F-89E5-A6CAD29802A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915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753228"/>
            <a:ext cx="7210396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2336873"/>
            <a:ext cx="7210396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59361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2" y="5936191"/>
            <a:ext cx="51529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3" y="753228"/>
            <a:ext cx="865613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37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  <p:sldLayoutId id="2147483806" r:id="rId17"/>
  </p:sldLayoutIdLst>
  <p:hf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0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84A282C-62D1-674F-A99D-F0AF13D7C534}" type="slidenum">
              <a:rPr lang="en-US" sz="1400"/>
              <a:pPr/>
              <a:t>0</a:t>
            </a:fld>
            <a:endParaRPr lang="en-US" sz="1400"/>
          </a:p>
        </p:txBody>
      </p:sp>
      <p:sp>
        <p:nvSpPr>
          <p:cNvPr id="361474" name="Text Box 2"/>
          <p:cNvSpPr txBox="1">
            <a:spLocks noChangeArrowheads="1"/>
          </p:cNvSpPr>
          <p:nvPr/>
        </p:nvSpPr>
        <p:spPr bwMode="auto">
          <a:xfrm>
            <a:off x="115888" y="1001713"/>
            <a:ext cx="8910637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600" b="1">
                <a:solidFill>
                  <a:schemeClr val="tx2"/>
                </a:solidFill>
                <a:latin typeface="Arial Black" charset="0"/>
                <a:cs typeface="+mn-cs"/>
              </a:rPr>
              <a:t>PROGRAMMING IN HASKELL</a:t>
            </a:r>
          </a:p>
        </p:txBody>
      </p:sp>
      <p:sp>
        <p:nvSpPr>
          <p:cNvPr id="361475" name="Rectangle 3"/>
          <p:cNvSpPr>
            <a:spLocks noChangeArrowheads="1"/>
          </p:cNvSpPr>
          <p:nvPr/>
        </p:nvSpPr>
        <p:spPr bwMode="auto">
          <a:xfrm>
            <a:off x="176213" y="5164138"/>
            <a:ext cx="8967787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ctr">
              <a:defRPr/>
            </a:pPr>
            <a:r>
              <a:rPr kumimoji="1" lang="en-US" sz="3200" dirty="0">
                <a:cs typeface="+mn-cs"/>
              </a:rPr>
              <a:t>Topic </a:t>
            </a:r>
            <a:r>
              <a:rPr kumimoji="1" lang="en-US" sz="3200" dirty="0"/>
              <a:t>7</a:t>
            </a:r>
            <a:r>
              <a:rPr kumimoji="1" lang="en-US" sz="3200" dirty="0">
                <a:cs typeface="+mn-cs"/>
              </a:rPr>
              <a:t>.2 – Tail Recursion</a:t>
            </a:r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88" y="2425700"/>
            <a:ext cx="284162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0999"/>
            <a:ext cx="7870634" cy="118339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Recursion – why we need tail recursion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1</a:t>
            </a:fld>
            <a:endParaRPr 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FA1734-B317-8741-A1DA-C100E014BA2E}"/>
              </a:ext>
            </a:extLst>
          </p:cNvPr>
          <p:cNvSpPr txBox="1"/>
          <p:nvPr/>
        </p:nvSpPr>
        <p:spPr>
          <a:xfrm>
            <a:off x="294911" y="5860974"/>
            <a:ext cx="79159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This is expensive and prone to stack overflows..</a:t>
            </a:r>
          </a:p>
        </p:txBody>
      </p:sp>
      <p:sp>
        <p:nvSpPr>
          <p:cNvPr id="7" name="Text Box 20">
            <a:extLst>
              <a:ext uri="{FF2B5EF4-FFF2-40B4-BE49-F238E27FC236}">
                <a16:creationId xmlns:a16="http://schemas.microsoft.com/office/drawing/2014/main" id="{3EC9319B-C594-4448-8C69-6768202E6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775" y="2150593"/>
            <a:ext cx="5205271" cy="120032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r>
              <a:rPr lang="en-IE" sz="2400" b="1" dirty="0" err="1">
                <a:latin typeface="Lucida Sans Typewriter" panose="020B0509030504030204" pitchFamily="49" charset="77"/>
              </a:rPr>
              <a:t>factRec</a:t>
            </a:r>
            <a:r>
              <a:rPr lang="en-IE" sz="2400" dirty="0">
                <a:latin typeface="Lucida Sans Typewriter" panose="020B0509030504030204" pitchFamily="49" charset="77"/>
              </a:rPr>
              <a:t> :: Int -&gt; Int</a:t>
            </a:r>
          </a:p>
          <a:p>
            <a:r>
              <a:rPr lang="en-IE" sz="2400" dirty="0" err="1">
                <a:latin typeface="Lucida Sans Typewriter" panose="020B0509030504030204" pitchFamily="49" charset="77"/>
              </a:rPr>
              <a:t>factRec</a:t>
            </a:r>
            <a:r>
              <a:rPr lang="en-IE" sz="2400" dirty="0">
                <a:latin typeface="Lucida Sans Typewriter" panose="020B0509030504030204" pitchFamily="49" charset="77"/>
              </a:rPr>
              <a:t> 0 = 1</a:t>
            </a:r>
          </a:p>
          <a:p>
            <a:r>
              <a:rPr lang="en-IE" sz="2400" dirty="0" err="1">
                <a:latin typeface="Lucida Sans Typewriter" panose="020B0509030504030204" pitchFamily="49" charset="77"/>
              </a:rPr>
              <a:t>factRec</a:t>
            </a:r>
            <a:r>
              <a:rPr lang="en-IE" sz="2400" dirty="0">
                <a:latin typeface="Lucida Sans Typewriter" panose="020B0509030504030204" pitchFamily="49" charset="77"/>
              </a:rPr>
              <a:t> n = n*</a:t>
            </a:r>
            <a:r>
              <a:rPr lang="en-IE" sz="2400" dirty="0" err="1">
                <a:latin typeface="Lucida Sans Typewriter" panose="020B0509030504030204" pitchFamily="49" charset="77"/>
              </a:rPr>
              <a:t>factRec</a:t>
            </a:r>
            <a:r>
              <a:rPr lang="en-IE" sz="2400" dirty="0">
                <a:latin typeface="Lucida Sans Typewriter" panose="020B0509030504030204" pitchFamily="49" charset="77"/>
              </a:rPr>
              <a:t> (n-1)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12D49542-463A-994D-967C-9E6F38748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678" y="3507078"/>
            <a:ext cx="3568700" cy="2273300"/>
          </a:xfrm>
          <a:prstGeom prst="rect">
            <a:avLst/>
          </a:prstGeom>
        </p:spPr>
      </p:pic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CCB83C1F-5950-8C4D-8409-3AEEF92FCDB1}"/>
              </a:ext>
            </a:extLst>
          </p:cNvPr>
          <p:cNvSpPr/>
          <p:nvPr/>
        </p:nvSpPr>
        <p:spPr bwMode="auto">
          <a:xfrm>
            <a:off x="7161088" y="2942962"/>
            <a:ext cx="1982912" cy="1055608"/>
          </a:xfrm>
          <a:prstGeom prst="wedgeRoundRectCallout">
            <a:avLst>
              <a:gd name="adj1" fmla="val -258317"/>
              <a:gd name="adj2" fmla="val 63705"/>
              <a:gd name="adj3" fmla="val 16667"/>
            </a:avLst>
          </a:prstGeom>
          <a:solidFill>
            <a:srgbClr val="FFFF00"/>
          </a:solidFill>
          <a:ln w="12700" cap="sq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ahoma" charset="0"/>
                <a:ea typeface="ＭＳ Ｐゴシック" charset="0"/>
              </a:rPr>
              <a:t>Pending ‘</a:t>
            </a:r>
            <a:r>
              <a:rPr kumimoji="0" lang="en-US" sz="2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ahoma" charset="0"/>
                <a:ea typeface="ＭＳ Ｐゴシック" charset="0"/>
              </a:rPr>
              <a:t>multiply’s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ahoma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15685" y="660629"/>
            <a:ext cx="7870634" cy="863907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 Black" charset="0"/>
                <a:ea typeface="ＭＳ Ｐゴシック" charset="0"/>
              </a:rPr>
              <a:t>Tail recursion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2</a:t>
            </a:fld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CDCA5-E4B7-7F47-A278-52651D772F5F}"/>
              </a:ext>
            </a:extLst>
          </p:cNvPr>
          <p:cNvSpPr txBox="1"/>
          <p:nvPr/>
        </p:nvSpPr>
        <p:spPr>
          <a:xfrm>
            <a:off x="315685" y="2524445"/>
            <a:ext cx="875694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 tail recursion, the information that needs to be </a:t>
            </a:r>
          </a:p>
          <a:p>
            <a:r>
              <a:rPr lang="en-US" sz="2800" dirty="0"/>
              <a:t>stored on the call stack is much smaller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 use the base case in such a way that once it is </a:t>
            </a:r>
          </a:p>
          <a:p>
            <a:r>
              <a:rPr lang="en-US" sz="2800" dirty="0"/>
              <a:t>called, the work is done (no pending operations)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 use a helper function that in turn uses an </a:t>
            </a:r>
          </a:p>
          <a:p>
            <a:r>
              <a:rPr lang="en-US" sz="2800" dirty="0"/>
              <a:t>accumulator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85890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51032" y="662167"/>
            <a:ext cx="7870634" cy="86390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 Black" charset="0"/>
                <a:ea typeface="ＭＳ Ｐゴシック" charset="0"/>
              </a:rPr>
              <a:t>Example 1 – tail recursion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3</a:t>
            </a:fld>
            <a:endParaRPr lang="en-US" sz="1400"/>
          </a:p>
        </p:txBody>
      </p:sp>
      <p:sp>
        <p:nvSpPr>
          <p:cNvPr id="6" name="Text Box 20">
            <a:extLst>
              <a:ext uri="{FF2B5EF4-FFF2-40B4-BE49-F238E27FC236}">
                <a16:creationId xmlns:a16="http://schemas.microsoft.com/office/drawing/2014/main" id="{CA98A1FE-67A8-F846-BE04-FFE30F91F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919" y="1969963"/>
            <a:ext cx="7436651" cy="15696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r>
              <a:rPr lang="en-IE" sz="2400" b="1" dirty="0">
                <a:latin typeface="Lucida Sans Typewriter" panose="020B0509030504030204" pitchFamily="49" charset="77"/>
              </a:rPr>
              <a:t>factTailRec</a:t>
            </a:r>
            <a:r>
              <a:rPr lang="en-IE" sz="2400" dirty="0">
                <a:latin typeface="Lucida Sans Typewriter" panose="020B0509030504030204" pitchFamily="49" charset="77"/>
              </a:rPr>
              <a:t> ::Int -&gt; Int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factTailRec n = </a:t>
            </a:r>
            <a:r>
              <a:rPr lang="en-IE" sz="2400" dirty="0">
                <a:solidFill>
                  <a:srgbClr val="FFC000"/>
                </a:solidFill>
                <a:latin typeface="Lucida Sans Typewriter" panose="020B0509030504030204" pitchFamily="49" charset="77"/>
              </a:rPr>
              <a:t>helper</a:t>
            </a:r>
            <a:r>
              <a:rPr lang="en-IE" sz="2400" dirty="0">
                <a:latin typeface="Lucida Sans Typewriter" panose="020B0509030504030204" pitchFamily="49" charset="77"/>
              </a:rPr>
              <a:t> n 1 where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    </a:t>
            </a:r>
            <a:r>
              <a:rPr lang="en-IE" sz="2400" dirty="0">
                <a:solidFill>
                  <a:srgbClr val="FFC000"/>
                </a:solidFill>
                <a:latin typeface="Lucida Sans Typewriter" panose="020B0509030504030204" pitchFamily="49" charset="77"/>
              </a:rPr>
              <a:t>helper</a:t>
            </a:r>
            <a:r>
              <a:rPr lang="en-IE" sz="2400" dirty="0">
                <a:latin typeface="Lucida Sans Typewriter" panose="020B0509030504030204" pitchFamily="49" charset="77"/>
              </a:rPr>
              <a:t> 1 acc = acc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    </a:t>
            </a:r>
            <a:r>
              <a:rPr lang="en-IE" sz="2400" dirty="0">
                <a:solidFill>
                  <a:srgbClr val="FFC000"/>
                </a:solidFill>
                <a:latin typeface="Lucida Sans Typewriter" panose="020B0509030504030204" pitchFamily="49" charset="77"/>
              </a:rPr>
              <a:t>helper</a:t>
            </a:r>
            <a:r>
              <a:rPr lang="en-IE" sz="2400" dirty="0">
                <a:latin typeface="Lucida Sans Typewriter" panose="020B0509030504030204" pitchFamily="49" charset="77"/>
              </a:rPr>
              <a:t> x acc = </a:t>
            </a:r>
            <a:r>
              <a:rPr lang="en-IE" sz="2400" dirty="0">
                <a:solidFill>
                  <a:srgbClr val="FFC000"/>
                </a:solidFill>
                <a:latin typeface="Lucida Sans Typewriter" panose="020B0509030504030204" pitchFamily="49" charset="77"/>
              </a:rPr>
              <a:t>helper</a:t>
            </a:r>
            <a:r>
              <a:rPr lang="en-IE" sz="2400" dirty="0">
                <a:latin typeface="Lucida Sans Typewriter" panose="020B0509030504030204" pitchFamily="49" charset="77"/>
              </a:rPr>
              <a:t> (x-1) (acc*x)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BE200C01-2140-F84D-BC85-F0C6FC69E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720" y="3793186"/>
            <a:ext cx="2724600" cy="4247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IE" sz="2400" dirty="0">
                <a:latin typeface="Lucida Sans Typewriter" panose="020B0509030504030204" pitchFamily="49" charset="77"/>
              </a:rPr>
              <a:t>factTailRec</a:t>
            </a:r>
            <a:r>
              <a:rPr lang="en-US" sz="2400" dirty="0">
                <a:latin typeface="Lucida Sans Typewriter" charset="0"/>
                <a:cs typeface="+mn-cs"/>
              </a:rPr>
              <a:t> 4</a:t>
            </a:r>
          </a:p>
        </p:txBody>
      </p:sp>
      <p:grpSp>
        <p:nvGrpSpPr>
          <p:cNvPr id="8" name="Group 13">
            <a:extLst>
              <a:ext uri="{FF2B5EF4-FFF2-40B4-BE49-F238E27FC236}">
                <a16:creationId xmlns:a16="http://schemas.microsoft.com/office/drawing/2014/main" id="{25069843-1880-1042-A487-27F8B88BD2C1}"/>
              </a:ext>
            </a:extLst>
          </p:cNvPr>
          <p:cNvGrpSpPr>
            <a:grpSpLocks/>
          </p:cNvGrpSpPr>
          <p:nvPr/>
        </p:nvGrpSpPr>
        <p:grpSpPr bwMode="auto">
          <a:xfrm>
            <a:off x="1394736" y="4246522"/>
            <a:ext cx="2563754" cy="512365"/>
            <a:chOff x="665" y="1949"/>
            <a:chExt cx="1676" cy="740"/>
          </a:xfrm>
        </p:grpSpPr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3EE4E23E-961B-814C-98F6-61AE0D097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5" y="2076"/>
              <a:ext cx="1336" cy="6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solidFill>
                    <a:srgbClr val="FFC000"/>
                  </a:solidFill>
                  <a:latin typeface="Lucida Sans Typewriter" panose="020B0509030504030204" pitchFamily="49" charset="77"/>
                </a:rPr>
                <a:t>helper</a:t>
              </a:r>
              <a:r>
                <a:rPr lang="en-US" sz="2400" dirty="0">
                  <a:latin typeface="Lucida Sans Typewriter" charset="0"/>
                  <a:cs typeface="+mn-cs"/>
                </a:rPr>
                <a:t> 4 1</a:t>
              </a: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69D34FA6-4B13-EA46-9171-D1991CC2A5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" y="1949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11" name="Group 14">
            <a:extLst>
              <a:ext uri="{FF2B5EF4-FFF2-40B4-BE49-F238E27FC236}">
                <a16:creationId xmlns:a16="http://schemas.microsoft.com/office/drawing/2014/main" id="{3F096310-EF4D-A84F-8101-BD4101E97944}"/>
              </a:ext>
            </a:extLst>
          </p:cNvPr>
          <p:cNvGrpSpPr>
            <a:grpSpLocks/>
          </p:cNvGrpSpPr>
          <p:nvPr/>
        </p:nvGrpSpPr>
        <p:grpSpPr bwMode="auto">
          <a:xfrm>
            <a:off x="1394737" y="4865951"/>
            <a:ext cx="3315124" cy="511672"/>
            <a:chOff x="665" y="2454"/>
            <a:chExt cx="2138" cy="739"/>
          </a:xfrm>
        </p:grpSpPr>
        <p:sp>
          <p:nvSpPr>
            <p:cNvPr id="12" name="Text Box 5">
              <a:extLst>
                <a:ext uri="{FF2B5EF4-FFF2-40B4-BE49-F238E27FC236}">
                  <a16:creationId xmlns:a16="http://schemas.microsoft.com/office/drawing/2014/main" id="{73D3F0D0-B2B1-B942-9463-80D2D5A7CB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5" y="2580"/>
              <a:ext cx="1798" cy="6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solidFill>
                    <a:srgbClr val="FFC000"/>
                  </a:solidFill>
                  <a:latin typeface="Lucida Sans Typewriter" panose="020B0509030504030204" pitchFamily="49" charset="77"/>
                </a:rPr>
                <a:t>helper</a:t>
              </a:r>
              <a:r>
                <a:rPr lang="en-US" sz="2400" dirty="0">
                  <a:latin typeface="Lucida Sans Typewriter" charset="0"/>
                  <a:cs typeface="+mn-cs"/>
                </a:rPr>
                <a:t> 3 (4*1)</a:t>
              </a:r>
            </a:p>
          </p:txBody>
        </p:sp>
        <p:sp>
          <p:nvSpPr>
            <p:cNvPr id="13" name="Text Box 9">
              <a:extLst>
                <a:ext uri="{FF2B5EF4-FFF2-40B4-BE49-F238E27FC236}">
                  <a16:creationId xmlns:a16="http://schemas.microsoft.com/office/drawing/2014/main" id="{DAAA674B-21B9-DE49-A7EC-317A8AA181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" y="2454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14" name="Group 15">
            <a:extLst>
              <a:ext uri="{FF2B5EF4-FFF2-40B4-BE49-F238E27FC236}">
                <a16:creationId xmlns:a16="http://schemas.microsoft.com/office/drawing/2014/main" id="{E3DF193F-DCD0-8749-B5AA-EFE94F4E88D3}"/>
              </a:ext>
            </a:extLst>
          </p:cNvPr>
          <p:cNvGrpSpPr>
            <a:grpSpLocks/>
          </p:cNvGrpSpPr>
          <p:nvPr/>
        </p:nvGrpSpPr>
        <p:grpSpPr bwMode="auto">
          <a:xfrm>
            <a:off x="1394736" y="5512491"/>
            <a:ext cx="3689765" cy="509595"/>
            <a:chOff x="665" y="2960"/>
            <a:chExt cx="2370" cy="736"/>
          </a:xfrm>
        </p:grpSpPr>
        <p:sp>
          <p:nvSpPr>
            <p:cNvPr id="15" name="Text Box 6">
              <a:extLst>
                <a:ext uri="{FF2B5EF4-FFF2-40B4-BE49-F238E27FC236}">
                  <a16:creationId xmlns:a16="http://schemas.microsoft.com/office/drawing/2014/main" id="{6CB68449-21A7-424C-A093-F96277D226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5" y="3083"/>
              <a:ext cx="2030" cy="6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solidFill>
                    <a:srgbClr val="FFC000"/>
                  </a:solidFill>
                  <a:latin typeface="Lucida Sans Typewriter" charset="0"/>
                  <a:cs typeface="+mn-cs"/>
                </a:rPr>
                <a:t>helper</a:t>
              </a:r>
              <a:r>
                <a:rPr lang="en-US" sz="2400" dirty="0">
                  <a:latin typeface="Lucida Sans Typewriter" charset="0"/>
                  <a:cs typeface="+mn-cs"/>
                </a:rPr>
                <a:t> 2 (3 * 4)</a:t>
              </a:r>
            </a:p>
          </p:txBody>
        </p:sp>
        <p:sp>
          <p:nvSpPr>
            <p:cNvPr id="16" name="Text Box 10">
              <a:extLst>
                <a:ext uri="{FF2B5EF4-FFF2-40B4-BE49-F238E27FC236}">
                  <a16:creationId xmlns:a16="http://schemas.microsoft.com/office/drawing/2014/main" id="{2110B153-4277-5740-93BC-EC472CA968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" y="2960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6EF4B0F-9D79-A04F-910E-5ECC38B87567}"/>
              </a:ext>
            </a:extLst>
          </p:cNvPr>
          <p:cNvGrpSpPr>
            <a:grpSpLocks/>
          </p:cNvGrpSpPr>
          <p:nvPr/>
        </p:nvGrpSpPr>
        <p:grpSpPr bwMode="auto">
          <a:xfrm>
            <a:off x="1370537" y="6171867"/>
            <a:ext cx="3675028" cy="508210"/>
            <a:chOff x="665" y="3466"/>
            <a:chExt cx="2423" cy="734"/>
          </a:xfrm>
        </p:grpSpPr>
        <p:sp>
          <p:nvSpPr>
            <p:cNvPr id="18" name="Text Box 7">
              <a:extLst>
                <a:ext uri="{FF2B5EF4-FFF2-40B4-BE49-F238E27FC236}">
                  <a16:creationId xmlns:a16="http://schemas.microsoft.com/office/drawing/2014/main" id="{C68D8DB6-7340-BF40-A7CB-878F36A21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5" y="3587"/>
              <a:ext cx="2083" cy="6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solidFill>
                    <a:srgbClr val="FFC000"/>
                  </a:solidFill>
                  <a:latin typeface="Lucida Sans Typewriter" charset="0"/>
                  <a:cs typeface="+mn-cs"/>
                </a:rPr>
                <a:t>helper</a:t>
              </a:r>
              <a:r>
                <a:rPr lang="en-US" sz="2400" dirty="0">
                  <a:latin typeface="Lucida Sans Typewriter" charset="0"/>
                  <a:cs typeface="+mn-cs"/>
                </a:rPr>
                <a:t> 1 (2 *12)</a:t>
              </a:r>
            </a:p>
          </p:txBody>
        </p:sp>
        <p:sp>
          <p:nvSpPr>
            <p:cNvPr id="19" name="Text Box 11">
              <a:extLst>
                <a:ext uri="{FF2B5EF4-FFF2-40B4-BE49-F238E27FC236}">
                  <a16:creationId xmlns:a16="http://schemas.microsoft.com/office/drawing/2014/main" id="{E76C4756-A39C-264E-913C-0FBD25B77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" y="3466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sp>
        <p:nvSpPr>
          <p:cNvPr id="20" name="Text Box 7">
            <a:extLst>
              <a:ext uri="{FF2B5EF4-FFF2-40B4-BE49-F238E27FC236}">
                <a16:creationId xmlns:a16="http://schemas.microsoft.com/office/drawing/2014/main" id="{E74895FB-85CA-0440-AEE8-D993BDC76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9785" y="6171868"/>
            <a:ext cx="1341499" cy="4247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= 24</a:t>
            </a:r>
          </a:p>
        </p:txBody>
      </p:sp>
    </p:spTree>
    <p:extLst>
      <p:ext uri="{BB962C8B-B14F-4D97-AF65-F5344CB8AC3E}">
        <p14:creationId xmlns:p14="http://schemas.microsoft.com/office/powerpoint/2010/main" val="132677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15685" y="866668"/>
            <a:ext cx="7870634" cy="863907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General template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4</a:t>
            </a:fld>
            <a:endParaRPr lang="en-US" sz="1400"/>
          </a:p>
        </p:txBody>
      </p:sp>
      <p:sp>
        <p:nvSpPr>
          <p:cNvPr id="5" name="Text Box 20">
            <a:extLst>
              <a:ext uri="{FF2B5EF4-FFF2-40B4-BE49-F238E27FC236}">
                <a16:creationId xmlns:a16="http://schemas.microsoft.com/office/drawing/2014/main" id="{BA78A2DA-CD08-3340-B0CC-BE66BAE54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943" y="2943153"/>
            <a:ext cx="7417415" cy="190821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en-US" sz="2000" b="1" dirty="0">
                <a:solidFill>
                  <a:srgbClr val="FFC000"/>
                </a:solidFill>
                <a:latin typeface="Lucida Sans Typewriter" panose="020B0509030504030204" pitchFamily="49" charset="77"/>
              </a:rPr>
              <a:t>foo</a:t>
            </a:r>
            <a:r>
              <a:rPr lang="en-US" altLang="en-US" sz="2000" b="1" dirty="0">
                <a:latin typeface="Courier New" panose="02070309020205020404" pitchFamily="49" charset="0"/>
              </a:rPr>
              <a:t> :: Int -&gt; Int</a:t>
            </a:r>
          </a:p>
          <a:p>
            <a:pPr>
              <a:buFont typeface="Wingdings" pitchFamily="2" charset="2"/>
              <a:buNone/>
            </a:pPr>
            <a:r>
              <a:rPr lang="en-US" altLang="en-US" sz="2000" b="1" dirty="0">
                <a:solidFill>
                  <a:srgbClr val="FFC000"/>
                </a:solidFill>
                <a:latin typeface="Lucida Sans Typewriter" panose="020B0509030504030204" pitchFamily="49" charset="77"/>
              </a:rPr>
              <a:t>foo</a:t>
            </a:r>
            <a:r>
              <a:rPr lang="en-US" altLang="en-US" sz="2000" b="1" dirty="0">
                <a:latin typeface="Courier New" panose="02070309020205020404" pitchFamily="49" charset="0"/>
              </a:rPr>
              <a:t> x =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foohelper</a:t>
            </a:r>
            <a:r>
              <a:rPr lang="en-US" altLang="en-US" sz="2000" b="1" dirty="0">
                <a:latin typeface="Courier New" panose="02070309020205020404" pitchFamily="49" charset="0"/>
              </a:rPr>
              <a:t> x initial solution</a:t>
            </a:r>
          </a:p>
          <a:p>
            <a:pPr>
              <a:buFont typeface="Wingdings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where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foohelper</a:t>
            </a:r>
            <a:r>
              <a:rPr lang="en-US" altLang="en-US" sz="2000" b="1" dirty="0">
                <a:latin typeface="Courier New" panose="02070309020205020404" pitchFamily="49" charset="0"/>
              </a:rPr>
              <a:t>  </a:t>
            </a:r>
          </a:p>
          <a:p>
            <a:pPr>
              <a:buFont typeface="Wingdings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| base case = solution (based on accum)</a:t>
            </a:r>
          </a:p>
          <a:p>
            <a:pPr>
              <a:buFont typeface="Wingdings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| otherwise =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foohelper</a:t>
            </a:r>
            <a:r>
              <a:rPr lang="en-US" altLang="en-US" sz="2000" b="1" dirty="0">
                <a:latin typeface="Courier New" panose="02070309020205020404" pitchFamily="49" charset="0"/>
              </a:rPr>
              <a:t> (n-1)(updated accum)</a:t>
            </a:r>
          </a:p>
          <a:p>
            <a:pPr>
              <a:buFont typeface="Wingdings" pitchFamily="2" charset="2"/>
              <a:buNone/>
            </a:pPr>
            <a:endParaRPr lang="en-US" altLang="en-US" dirty="0"/>
          </a:p>
        </p:txBody>
      </p: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A697F25A-F10C-A445-AB14-AC88DB047902}"/>
              </a:ext>
            </a:extLst>
          </p:cNvPr>
          <p:cNvSpPr/>
          <p:nvPr/>
        </p:nvSpPr>
        <p:spPr bwMode="auto">
          <a:xfrm>
            <a:off x="6900686" y="1554574"/>
            <a:ext cx="1489753" cy="578882"/>
          </a:xfrm>
          <a:prstGeom prst="wedgeRoundRectCallout">
            <a:avLst>
              <a:gd name="adj1" fmla="val -109597"/>
              <a:gd name="adj2" fmla="val 423057"/>
              <a:gd name="adj3" fmla="val 16667"/>
            </a:avLst>
          </a:prstGeom>
          <a:solidFill>
            <a:srgbClr val="FFC000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ahoma" charset="0"/>
                <a:ea typeface="ＭＳ Ｐゴシック" charset="0"/>
              </a:rPr>
              <a:t>Some updated value</a:t>
            </a:r>
          </a:p>
        </p:txBody>
      </p:sp>
    </p:spTree>
    <p:extLst>
      <p:ext uri="{BB962C8B-B14F-4D97-AF65-F5344CB8AC3E}">
        <p14:creationId xmlns:p14="http://schemas.microsoft.com/office/powerpoint/2010/main" val="110105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648AEF94-AA4F-744B-BDE4-5EB4737F87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6719" y="612443"/>
            <a:ext cx="7870634" cy="86390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 Black" charset="0"/>
                <a:ea typeface="ＭＳ Ｐゴシック" charset="0"/>
              </a:rPr>
              <a:t>Example 2 – tail recursion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5</a:t>
            </a:fld>
            <a:endParaRPr lang="en-US" sz="1400"/>
          </a:p>
        </p:txBody>
      </p:sp>
      <p:sp>
        <p:nvSpPr>
          <p:cNvPr id="11" name="Text Box 20">
            <a:extLst>
              <a:ext uri="{FF2B5EF4-FFF2-40B4-BE49-F238E27FC236}">
                <a16:creationId xmlns:a16="http://schemas.microsoft.com/office/drawing/2014/main" id="{E306B4BD-0885-664F-9ADE-B9FF523C2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257" y="2064709"/>
            <a:ext cx="5949064" cy="16312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r>
              <a:rPr lang="en-IE" sz="2400" b="1" dirty="0">
                <a:latin typeface="Lucida Sans Typewriter" panose="020B0509030504030204" pitchFamily="49" charset="77"/>
              </a:rPr>
              <a:t>sumInts</a:t>
            </a:r>
            <a:r>
              <a:rPr lang="en-IE" sz="2400" dirty="0">
                <a:latin typeface="Lucida Sans Typewriter" panose="020B0509030504030204" pitchFamily="49" charset="77"/>
              </a:rPr>
              <a:t> :: [Int] -&gt; Int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sumInts [] = 0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sumInts (n:ns) = n + sumInts ns</a:t>
            </a:r>
          </a:p>
          <a:p>
            <a:pPr>
              <a:buFont typeface="Wingdings" pitchFamily="2" charset="2"/>
              <a:buNone/>
            </a:pPr>
            <a:endParaRPr lang="en-US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F4A04D-3173-0C4F-AA9B-2D8739FDF64E}"/>
              </a:ext>
            </a:extLst>
          </p:cNvPr>
          <p:cNvSpPr txBox="1"/>
          <p:nvPr/>
        </p:nvSpPr>
        <p:spPr>
          <a:xfrm>
            <a:off x="235360" y="4600269"/>
            <a:ext cx="6641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We will rewrite this using tail recursion.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3EEA02-72E3-7C47-B0B0-6ED687896570}"/>
              </a:ext>
            </a:extLst>
          </p:cNvPr>
          <p:cNvSpPr txBox="1"/>
          <p:nvPr/>
        </p:nvSpPr>
        <p:spPr>
          <a:xfrm>
            <a:off x="226032" y="5229546"/>
            <a:ext cx="84882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Exercise</a:t>
            </a:r>
            <a:r>
              <a:rPr lang="en-US" sz="2800" dirty="0"/>
              <a:t>: Convince yourself that it is not currently </a:t>
            </a:r>
          </a:p>
          <a:p>
            <a:r>
              <a:rPr lang="en-US" sz="2800" dirty="0"/>
              <a:t>tail recursive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66FA01-75CE-D840-8DC2-F70C3B98CF50}"/>
              </a:ext>
            </a:extLst>
          </p:cNvPr>
          <p:cNvSpPr txBox="1"/>
          <p:nvPr/>
        </p:nvSpPr>
        <p:spPr>
          <a:xfrm>
            <a:off x="1529625" y="3789934"/>
            <a:ext cx="40525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e.g. sumInts [1,3,5] = 9</a:t>
            </a:r>
          </a:p>
        </p:txBody>
      </p:sp>
    </p:spTree>
    <p:extLst>
      <p:ext uri="{BB962C8B-B14F-4D97-AF65-F5344CB8AC3E}">
        <p14:creationId xmlns:p14="http://schemas.microsoft.com/office/powerpoint/2010/main" val="58875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417D735C-4388-F748-BE55-27FB6E26BD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0340" y="724355"/>
            <a:ext cx="7870634" cy="86390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 Black" charset="0"/>
                <a:ea typeface="ＭＳ Ｐゴシック" charset="0"/>
              </a:rPr>
              <a:t>Example 2 – tail recursion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6</a:t>
            </a:fld>
            <a:endParaRPr lang="en-US" sz="1400"/>
          </a:p>
        </p:txBody>
      </p:sp>
      <p:sp>
        <p:nvSpPr>
          <p:cNvPr id="5" name="Text Box 20">
            <a:extLst>
              <a:ext uri="{FF2B5EF4-FFF2-40B4-BE49-F238E27FC236}">
                <a16:creationId xmlns:a16="http://schemas.microsoft.com/office/drawing/2014/main" id="{EB548FAB-2465-1840-97DE-7AB450E06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40" y="1984229"/>
            <a:ext cx="7418517" cy="16312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b="1" dirty="0">
                <a:latin typeface="Lucida Sans Typewriter" panose="020B0509030504030204" pitchFamily="49" charset="77"/>
              </a:rPr>
              <a:t>sumIntsTail</a:t>
            </a:r>
            <a:r>
              <a:rPr lang="en-IE" sz="2000" dirty="0">
                <a:latin typeface="Lucida Sans Typewriter" panose="020B0509030504030204" pitchFamily="49" charset="77"/>
              </a:rPr>
              <a:t> :: [Int] -&gt; Int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sumIntsTail ns = </a:t>
            </a:r>
            <a:r>
              <a:rPr lang="en-IE" sz="2000" b="1" dirty="0">
                <a:solidFill>
                  <a:srgbClr val="FFC000"/>
                </a:solidFill>
                <a:latin typeface="Lucida Sans Typewriter" panose="020B0509030504030204" pitchFamily="49" charset="77"/>
              </a:rPr>
              <a:t>helper</a:t>
            </a:r>
            <a:r>
              <a:rPr lang="en-IE" sz="2000" dirty="0">
                <a:latin typeface="Lucida Sans Typewriter" panose="020B0509030504030204" pitchFamily="49" charset="77"/>
              </a:rPr>
              <a:t> ns 0 where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	</a:t>
            </a:r>
            <a:r>
              <a:rPr lang="en-IE" sz="2000" b="1" dirty="0">
                <a:solidFill>
                  <a:srgbClr val="FFC000"/>
                </a:solidFill>
                <a:latin typeface="Lucida Sans Typewriter" panose="020B0509030504030204" pitchFamily="49" charset="77"/>
              </a:rPr>
              <a:t>helper</a:t>
            </a:r>
            <a:r>
              <a:rPr lang="en-IE" sz="2000" dirty="0">
                <a:latin typeface="Lucida Sans Typewriter" panose="020B0509030504030204" pitchFamily="49" charset="77"/>
              </a:rPr>
              <a:t> [] acc = acc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	</a:t>
            </a:r>
            <a:r>
              <a:rPr lang="en-IE" sz="2000" b="1" dirty="0">
                <a:solidFill>
                  <a:srgbClr val="FFC000"/>
                </a:solidFill>
                <a:latin typeface="Lucida Sans Typewriter" panose="020B0509030504030204" pitchFamily="49" charset="77"/>
              </a:rPr>
              <a:t>helper</a:t>
            </a:r>
            <a:r>
              <a:rPr lang="en-IE" sz="2000" dirty="0">
                <a:latin typeface="Lucida Sans Typewriter" panose="020B0509030504030204" pitchFamily="49" charset="77"/>
              </a:rPr>
              <a:t> (n:ns) acc = </a:t>
            </a:r>
            <a:r>
              <a:rPr lang="en-IE" sz="2000" b="1" dirty="0">
                <a:solidFill>
                  <a:srgbClr val="FFC000"/>
                </a:solidFill>
                <a:latin typeface="Lucida Sans Typewriter" panose="020B0509030504030204" pitchFamily="49" charset="77"/>
              </a:rPr>
              <a:t>helper</a:t>
            </a:r>
            <a:r>
              <a:rPr lang="en-IE" sz="2000" dirty="0">
                <a:latin typeface="Lucida Sans Typewriter" panose="020B0509030504030204" pitchFamily="49" charset="77"/>
              </a:rPr>
              <a:t> ns (acc + n)</a:t>
            </a:r>
          </a:p>
          <a:p>
            <a:pPr>
              <a:buFont typeface="Wingdings" pitchFamily="2" charset="2"/>
              <a:buNone/>
            </a:pPr>
            <a:endParaRPr lang="en-US" altLang="en-US" sz="2000" dirty="0"/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EA85F020-21B7-574A-8997-C1DC67F8D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992" y="3722536"/>
            <a:ext cx="3717684" cy="4247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IE" sz="2400" dirty="0">
                <a:latin typeface="Lucida Sans Typewriter" panose="020B0509030504030204" pitchFamily="49" charset="77"/>
              </a:rPr>
              <a:t>sumIntsTail</a:t>
            </a:r>
            <a:r>
              <a:rPr lang="en-US" sz="2400" dirty="0">
                <a:latin typeface="Lucida Sans Typewriter" charset="0"/>
                <a:cs typeface="+mn-cs"/>
              </a:rPr>
              <a:t> [1,3,5]</a:t>
            </a:r>
          </a:p>
        </p:txBody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AFD46781-CF51-9441-9B88-7FB225919F89}"/>
              </a:ext>
            </a:extLst>
          </p:cNvPr>
          <p:cNvGrpSpPr>
            <a:grpSpLocks/>
          </p:cNvGrpSpPr>
          <p:nvPr/>
        </p:nvGrpSpPr>
        <p:grpSpPr bwMode="auto">
          <a:xfrm>
            <a:off x="1372119" y="4184737"/>
            <a:ext cx="3712174" cy="515394"/>
            <a:chOff x="650" y="2380"/>
            <a:chExt cx="2462" cy="356"/>
          </a:xfrm>
        </p:grpSpPr>
        <p:sp>
          <p:nvSpPr>
            <p:cNvPr id="11" name="Text Box 4">
              <a:extLst>
                <a:ext uri="{FF2B5EF4-FFF2-40B4-BE49-F238E27FC236}">
                  <a16:creationId xmlns:a16="http://schemas.microsoft.com/office/drawing/2014/main" id="{B108BE99-A1A8-8644-9A0F-35C6C9EB7B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6" y="2443"/>
              <a:ext cx="2096" cy="29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IE" sz="2400" b="1" dirty="0">
                  <a:solidFill>
                    <a:srgbClr val="FFC000"/>
                  </a:solidFill>
                  <a:latin typeface="Lucida Sans Typewriter" panose="020B0509030504030204" pitchFamily="49" charset="77"/>
                </a:rPr>
                <a:t>helper</a:t>
              </a:r>
              <a:r>
                <a:rPr lang="en-US" sz="2400" dirty="0">
                  <a:latin typeface="Lucida Sans Typewriter" charset="0"/>
                  <a:cs typeface="+mn-cs"/>
                </a:rPr>
                <a:t> </a:t>
              </a:r>
              <a:r>
                <a:rPr lang="en-US" sz="2400" dirty="0">
                  <a:latin typeface="Lucida Sans Typewriter" charset="0"/>
                </a:rPr>
                <a:t>[1,3,5]</a:t>
              </a:r>
              <a:r>
                <a:rPr lang="en-US" sz="2400" dirty="0">
                  <a:latin typeface="Lucida Sans Typewriter" charset="0"/>
                  <a:cs typeface="+mn-cs"/>
                </a:rPr>
                <a:t> 0</a:t>
              </a:r>
            </a:p>
          </p:txBody>
        </p:sp>
        <p:sp>
          <p:nvSpPr>
            <p:cNvPr id="12" name="Text Box 8">
              <a:extLst>
                <a:ext uri="{FF2B5EF4-FFF2-40B4-BE49-F238E27FC236}">
                  <a16:creationId xmlns:a16="http://schemas.microsoft.com/office/drawing/2014/main" id="{7A48F25B-44DB-F14F-928F-BF0B130214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" y="2380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 dirty="0">
                  <a:cs typeface="+mn-cs"/>
                </a:rPr>
                <a:t>=</a:t>
              </a:r>
            </a:p>
          </p:txBody>
        </p:sp>
      </p:grpSp>
      <p:grpSp>
        <p:nvGrpSpPr>
          <p:cNvPr id="13" name="Group 14">
            <a:extLst>
              <a:ext uri="{FF2B5EF4-FFF2-40B4-BE49-F238E27FC236}">
                <a16:creationId xmlns:a16="http://schemas.microsoft.com/office/drawing/2014/main" id="{88C9208B-7C7C-154B-BF27-4292FF71A40E}"/>
              </a:ext>
            </a:extLst>
          </p:cNvPr>
          <p:cNvGrpSpPr>
            <a:grpSpLocks/>
          </p:cNvGrpSpPr>
          <p:nvPr/>
        </p:nvGrpSpPr>
        <p:grpSpPr bwMode="auto">
          <a:xfrm>
            <a:off x="1386950" y="5026826"/>
            <a:ext cx="4068429" cy="498250"/>
            <a:chOff x="660" y="2688"/>
            <a:chExt cx="2613" cy="348"/>
          </a:xfrm>
        </p:grpSpPr>
        <p:sp>
          <p:nvSpPr>
            <p:cNvPr id="14" name="Text Box 5">
              <a:extLst>
                <a:ext uri="{FF2B5EF4-FFF2-40B4-BE49-F238E27FC236}">
                  <a16:creationId xmlns:a16="http://schemas.microsoft.com/office/drawing/2014/main" id="{17A7EC04-3AD3-574C-908B-87B9F85CA6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5" y="2739"/>
              <a:ext cx="2268" cy="2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IE" sz="2400" b="1" dirty="0">
                  <a:solidFill>
                    <a:srgbClr val="FFC000"/>
                  </a:solidFill>
                  <a:latin typeface="Lucida Sans Typewriter" panose="020B0509030504030204" pitchFamily="49" charset="77"/>
                </a:rPr>
                <a:t>helper</a:t>
              </a:r>
              <a:r>
                <a:rPr lang="en-US" sz="2400" dirty="0">
                  <a:latin typeface="Lucida Sans Typewriter" charset="0"/>
                  <a:cs typeface="+mn-cs"/>
                </a:rPr>
                <a:t> [3,5] (1+0)</a:t>
              </a:r>
            </a:p>
          </p:txBody>
        </p:sp>
        <p:sp>
          <p:nvSpPr>
            <p:cNvPr id="15" name="Text Box 9">
              <a:extLst>
                <a:ext uri="{FF2B5EF4-FFF2-40B4-BE49-F238E27FC236}">
                  <a16:creationId xmlns:a16="http://schemas.microsoft.com/office/drawing/2014/main" id="{09F8976F-D6BE-764B-9F47-D0A5052494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" y="2688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 dirty="0">
                  <a:cs typeface="+mn-cs"/>
                </a:rPr>
                <a:t>=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D092902-62EB-2547-9224-977B73E73D62}"/>
              </a:ext>
            </a:extLst>
          </p:cNvPr>
          <p:cNvGrpSpPr>
            <a:grpSpLocks/>
          </p:cNvGrpSpPr>
          <p:nvPr/>
        </p:nvGrpSpPr>
        <p:grpSpPr bwMode="auto">
          <a:xfrm>
            <a:off x="1394737" y="5737552"/>
            <a:ext cx="3643532" cy="425094"/>
            <a:chOff x="665" y="3183"/>
            <a:chExt cx="2558" cy="415"/>
          </a:xfrm>
        </p:grpSpPr>
        <p:sp>
          <p:nvSpPr>
            <p:cNvPr id="17" name="Text Box 6">
              <a:extLst>
                <a:ext uri="{FF2B5EF4-FFF2-40B4-BE49-F238E27FC236}">
                  <a16:creationId xmlns:a16="http://schemas.microsoft.com/office/drawing/2014/main" id="{0F2691CC-B17F-804A-86EE-18C8DE6F50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5" y="3183"/>
              <a:ext cx="2218" cy="4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IE" sz="2400" b="1" dirty="0">
                  <a:solidFill>
                    <a:srgbClr val="FFC000"/>
                  </a:solidFill>
                  <a:latin typeface="Lucida Sans Typewriter" panose="020B0509030504030204" pitchFamily="49" charset="77"/>
                </a:rPr>
                <a:t>helper</a:t>
              </a:r>
              <a:r>
                <a:rPr lang="en-US" sz="2400" dirty="0">
                  <a:latin typeface="Lucida Sans Typewriter" charset="0"/>
                  <a:cs typeface="+mn-cs"/>
                </a:rPr>
                <a:t> [5] (3+1)</a:t>
              </a:r>
            </a:p>
          </p:txBody>
        </p:sp>
        <p:sp>
          <p:nvSpPr>
            <p:cNvPr id="18" name="Text Box 10">
              <a:extLst>
                <a:ext uri="{FF2B5EF4-FFF2-40B4-BE49-F238E27FC236}">
                  <a16:creationId xmlns:a16="http://schemas.microsoft.com/office/drawing/2014/main" id="{F956F777-ACD4-734A-A478-2BCE30270D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" y="3195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 dirty="0">
                  <a:cs typeface="+mn-cs"/>
                </a:rPr>
                <a:t>=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B3EA1F7-8AE2-2D42-B64D-762CC3D17133}"/>
              </a:ext>
            </a:extLst>
          </p:cNvPr>
          <p:cNvGrpSpPr>
            <a:grpSpLocks/>
          </p:cNvGrpSpPr>
          <p:nvPr/>
        </p:nvGrpSpPr>
        <p:grpSpPr bwMode="auto">
          <a:xfrm>
            <a:off x="1394736" y="6363585"/>
            <a:ext cx="3483741" cy="424305"/>
            <a:chOff x="665" y="3674"/>
            <a:chExt cx="2323" cy="439"/>
          </a:xfrm>
        </p:grpSpPr>
        <p:sp>
          <p:nvSpPr>
            <p:cNvPr id="20" name="Text Box 7">
              <a:extLst>
                <a:ext uri="{FF2B5EF4-FFF2-40B4-BE49-F238E27FC236}">
                  <a16:creationId xmlns:a16="http://schemas.microsoft.com/office/drawing/2014/main" id="{240A4920-58AF-5B45-8CDA-95650714C5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5" y="3674"/>
              <a:ext cx="1983" cy="4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IE" sz="2400" b="1" dirty="0">
                  <a:solidFill>
                    <a:srgbClr val="FFC000"/>
                  </a:solidFill>
                  <a:latin typeface="Lucida Sans Typewriter" panose="020B0509030504030204" pitchFamily="49" charset="77"/>
                </a:rPr>
                <a:t>helper</a:t>
              </a:r>
              <a:r>
                <a:rPr lang="en-US" sz="2400" dirty="0">
                  <a:latin typeface="Lucida Sans Typewriter" charset="0"/>
                  <a:cs typeface="+mn-cs"/>
                </a:rPr>
                <a:t> [] (5+4)</a:t>
              </a:r>
            </a:p>
          </p:txBody>
        </p:sp>
        <p:sp>
          <p:nvSpPr>
            <p:cNvPr id="21" name="Text Box 11">
              <a:extLst>
                <a:ext uri="{FF2B5EF4-FFF2-40B4-BE49-F238E27FC236}">
                  <a16:creationId xmlns:a16="http://schemas.microsoft.com/office/drawing/2014/main" id="{461508E3-3CBE-E741-878B-0DA28186D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" y="3730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sp>
        <p:nvSpPr>
          <p:cNvPr id="22" name="Text Box 7">
            <a:extLst>
              <a:ext uri="{FF2B5EF4-FFF2-40B4-BE49-F238E27FC236}">
                <a16:creationId xmlns:a16="http://schemas.microsoft.com/office/drawing/2014/main" id="{283B38C2-2825-5B47-91A8-F34F1A78F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4214" y="6087455"/>
            <a:ext cx="742511" cy="4247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= 9</a:t>
            </a:r>
          </a:p>
        </p:txBody>
      </p:sp>
    </p:spTree>
    <p:extLst>
      <p:ext uri="{BB962C8B-B14F-4D97-AF65-F5344CB8AC3E}">
        <p14:creationId xmlns:p14="http://schemas.microsoft.com/office/powerpoint/2010/main" val="709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7</a:t>
            </a:fld>
            <a:endParaRPr lang="en-US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9E130C1-2E67-EC4F-BC90-CCB6F0F04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294" y="739260"/>
            <a:ext cx="7870634" cy="863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sz="2800" kern="0" dirty="0">
                <a:solidFill>
                  <a:schemeClr val="tx1"/>
                </a:solidFill>
                <a:latin typeface="Arial Black" charset="0"/>
                <a:ea typeface="ＭＳ Ｐゴシック" charset="0"/>
              </a:rPr>
              <a:t>Example 3 – tail recursion</a:t>
            </a:r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6EC1169A-CB33-8D44-A88B-CBCCCD25E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9080" y="3144990"/>
            <a:ext cx="5641583" cy="20005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b="1" dirty="0"/>
              <a:t>myAdd</a:t>
            </a:r>
            <a:r>
              <a:rPr lang="en-IE" sz="2400" dirty="0"/>
              <a:t> :: Int -&gt; Int -&gt; Int</a:t>
            </a:r>
          </a:p>
          <a:p>
            <a:r>
              <a:rPr lang="en-IE" sz="2400" dirty="0"/>
              <a:t>myAdd x 0 = x</a:t>
            </a:r>
          </a:p>
          <a:p>
            <a:r>
              <a:rPr lang="en-IE" sz="2400" dirty="0"/>
              <a:t>myAdd 0 y = y</a:t>
            </a:r>
          </a:p>
          <a:p>
            <a:r>
              <a:rPr lang="en-IE" sz="2400" dirty="0"/>
              <a:t>myAdd x y = myAdd (x-1) (y+1)</a:t>
            </a:r>
          </a:p>
          <a:p>
            <a:pPr>
              <a:buFont typeface="Wingdings" pitchFamily="2" charset="2"/>
              <a:buNone/>
            </a:pPr>
            <a:endParaRPr lang="en-US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DE848F-4C75-514C-AEBC-ED3391B8CE93}"/>
              </a:ext>
            </a:extLst>
          </p:cNvPr>
          <p:cNvSpPr txBox="1"/>
          <p:nvPr/>
        </p:nvSpPr>
        <p:spPr>
          <a:xfrm>
            <a:off x="254634" y="2093650"/>
            <a:ext cx="82252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myAdd</a:t>
            </a:r>
            <a:r>
              <a:rPr lang="en-US" sz="2800" dirty="0"/>
              <a:t> takes two integers and returns their sum. </a:t>
            </a:r>
          </a:p>
          <a:p>
            <a:r>
              <a:rPr lang="en-US" sz="2800" dirty="0"/>
              <a:t>Note : we can only use +1 and -1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7AEC05-820B-7047-9FD3-D977B1EDCC2A}"/>
              </a:ext>
            </a:extLst>
          </p:cNvPr>
          <p:cNvSpPr txBox="1"/>
          <p:nvPr/>
        </p:nvSpPr>
        <p:spPr>
          <a:xfrm>
            <a:off x="254634" y="5857130"/>
            <a:ext cx="3586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Is this tail recursive? </a:t>
            </a:r>
          </a:p>
        </p:txBody>
      </p:sp>
    </p:spTree>
    <p:extLst>
      <p:ext uri="{BB962C8B-B14F-4D97-AF65-F5344CB8AC3E}">
        <p14:creationId xmlns:p14="http://schemas.microsoft.com/office/powerpoint/2010/main" val="2974487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8</a:t>
            </a:fld>
            <a:endParaRPr lang="en-US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9E130C1-2E67-EC4F-BC90-CCB6F0F04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425" y="416382"/>
            <a:ext cx="7870634" cy="863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sz="2800" kern="0" dirty="0">
                <a:solidFill>
                  <a:schemeClr val="tx1"/>
                </a:solidFill>
                <a:latin typeface="Arial Black" charset="0"/>
                <a:ea typeface="ＭＳ Ｐゴシック" charset="0"/>
              </a:rPr>
              <a:t>Example 3 – tail recursion</a:t>
            </a:r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6EC1169A-CB33-8D44-A88B-CBCCCD25E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822" y="2074549"/>
            <a:ext cx="5903696" cy="15696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b="1" dirty="0"/>
              <a:t>myAdd</a:t>
            </a:r>
            <a:r>
              <a:rPr lang="en-IE" sz="2400" dirty="0"/>
              <a:t> :: Int -&gt; Int -&gt; Int</a:t>
            </a:r>
          </a:p>
          <a:p>
            <a:r>
              <a:rPr lang="en-IE" sz="2400" dirty="0"/>
              <a:t>myAdd x 0 = x</a:t>
            </a:r>
          </a:p>
          <a:p>
            <a:r>
              <a:rPr lang="en-IE" sz="2400" dirty="0"/>
              <a:t>myAdd 0 y = y</a:t>
            </a:r>
          </a:p>
          <a:p>
            <a:r>
              <a:rPr lang="en-IE" sz="2400" dirty="0"/>
              <a:t>myAdd x y = myAdd (x-1) (y+1)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7AEC05-820B-7047-9FD3-D977B1EDCC2A}"/>
              </a:ext>
            </a:extLst>
          </p:cNvPr>
          <p:cNvSpPr txBox="1"/>
          <p:nvPr/>
        </p:nvSpPr>
        <p:spPr>
          <a:xfrm>
            <a:off x="323392" y="3663251"/>
            <a:ext cx="5065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Is this tail recursive? 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EFE6B16B-BFBB-D74D-8A1C-4E9224D70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024" y="4410095"/>
            <a:ext cx="987535" cy="22601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myAdd 3 4</a:t>
            </a:r>
          </a:p>
        </p:txBody>
      </p:sp>
      <p:grpSp>
        <p:nvGrpSpPr>
          <p:cNvPr id="12" name="Group 14">
            <a:extLst>
              <a:ext uri="{FF2B5EF4-FFF2-40B4-BE49-F238E27FC236}">
                <a16:creationId xmlns:a16="http://schemas.microsoft.com/office/drawing/2014/main" id="{285191DC-A053-844C-84A7-134247B695AC}"/>
              </a:ext>
            </a:extLst>
          </p:cNvPr>
          <p:cNvGrpSpPr>
            <a:grpSpLocks/>
          </p:cNvGrpSpPr>
          <p:nvPr/>
        </p:nvGrpSpPr>
        <p:grpSpPr bwMode="auto">
          <a:xfrm>
            <a:off x="1394736" y="4756282"/>
            <a:ext cx="1274266" cy="478166"/>
            <a:chOff x="665" y="2454"/>
            <a:chExt cx="1511" cy="567"/>
          </a:xfrm>
        </p:grpSpPr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2EC33201-3FF9-E449-8576-93C72F6EBA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5" y="2753"/>
              <a:ext cx="1171" cy="2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latin typeface="Lucida Sans Typewriter" charset="0"/>
                </a:rPr>
                <a:t>myAdd</a:t>
              </a:r>
              <a:r>
                <a:rPr lang="en-US" sz="2400" dirty="0">
                  <a:latin typeface="Lucida Sans Typewriter" charset="0"/>
                  <a:cs typeface="+mn-cs"/>
                </a:rPr>
                <a:t> 2 5</a:t>
              </a:r>
            </a:p>
          </p:txBody>
        </p:sp>
        <p:sp>
          <p:nvSpPr>
            <p:cNvPr id="14" name="Text Box 9">
              <a:extLst>
                <a:ext uri="{FF2B5EF4-FFF2-40B4-BE49-F238E27FC236}">
                  <a16:creationId xmlns:a16="http://schemas.microsoft.com/office/drawing/2014/main" id="{6F13B62A-0C53-C342-9FCD-9287D53808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" y="2454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61936C9-2A7C-054F-A6FB-ABB90B0B0DA5}"/>
              </a:ext>
            </a:extLst>
          </p:cNvPr>
          <p:cNvGrpSpPr>
            <a:grpSpLocks/>
          </p:cNvGrpSpPr>
          <p:nvPr/>
        </p:nvGrpSpPr>
        <p:grpSpPr bwMode="auto">
          <a:xfrm>
            <a:off x="1394736" y="5404673"/>
            <a:ext cx="1274267" cy="475635"/>
            <a:chOff x="665" y="2960"/>
            <a:chExt cx="1511" cy="564"/>
          </a:xfrm>
        </p:grpSpPr>
        <p:sp>
          <p:nvSpPr>
            <p:cNvPr id="16" name="Text Box 6">
              <a:extLst>
                <a:ext uri="{FF2B5EF4-FFF2-40B4-BE49-F238E27FC236}">
                  <a16:creationId xmlns:a16="http://schemas.microsoft.com/office/drawing/2014/main" id="{20137344-B114-AA44-B57D-78E0177354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5" y="3256"/>
              <a:ext cx="1171" cy="2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latin typeface="Lucida Sans Typewriter" charset="0"/>
                </a:rPr>
                <a:t>myAdd</a:t>
              </a:r>
              <a:r>
                <a:rPr lang="en-US" sz="2400" dirty="0">
                  <a:latin typeface="Lucida Sans Typewriter" charset="0"/>
                  <a:cs typeface="+mn-cs"/>
                </a:rPr>
                <a:t> 1 6</a:t>
              </a:r>
            </a:p>
          </p:txBody>
        </p:sp>
        <p:sp>
          <p:nvSpPr>
            <p:cNvPr id="17" name="Text Box 10">
              <a:extLst>
                <a:ext uri="{FF2B5EF4-FFF2-40B4-BE49-F238E27FC236}">
                  <a16:creationId xmlns:a16="http://schemas.microsoft.com/office/drawing/2014/main" id="{5DADFAC8-AFFD-E54D-8446-CE4708C572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" y="2960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46A79A4-D1A7-6F42-8B48-1F1DD7C719EC}"/>
              </a:ext>
            </a:extLst>
          </p:cNvPr>
          <p:cNvGrpSpPr>
            <a:grpSpLocks/>
          </p:cNvGrpSpPr>
          <p:nvPr/>
        </p:nvGrpSpPr>
        <p:grpSpPr bwMode="auto">
          <a:xfrm>
            <a:off x="1394737" y="5969000"/>
            <a:ext cx="1274267" cy="473949"/>
            <a:chOff x="665" y="3466"/>
            <a:chExt cx="1511" cy="562"/>
          </a:xfrm>
        </p:grpSpPr>
        <p:sp>
          <p:nvSpPr>
            <p:cNvPr id="19" name="Text Box 7">
              <a:extLst>
                <a:ext uri="{FF2B5EF4-FFF2-40B4-BE49-F238E27FC236}">
                  <a16:creationId xmlns:a16="http://schemas.microsoft.com/office/drawing/2014/main" id="{42770EC8-BDDD-9940-B903-D68B68254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5" y="3760"/>
              <a:ext cx="1171" cy="2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latin typeface="Lucida Sans Typewriter" charset="0"/>
                </a:rPr>
                <a:t>myAdd</a:t>
              </a:r>
              <a:r>
                <a:rPr lang="en-US" sz="2400" dirty="0">
                  <a:latin typeface="Lucida Sans Typewriter" charset="0"/>
                  <a:cs typeface="+mn-cs"/>
                </a:rPr>
                <a:t> 0 7</a:t>
              </a:r>
            </a:p>
          </p:txBody>
        </p:sp>
        <p:sp>
          <p:nvSpPr>
            <p:cNvPr id="20" name="Text Box 11">
              <a:extLst>
                <a:ext uri="{FF2B5EF4-FFF2-40B4-BE49-F238E27FC236}">
                  <a16:creationId xmlns:a16="http://schemas.microsoft.com/office/drawing/2014/main" id="{CAD9C8ED-AA76-474A-B171-E2B8DD852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" y="3466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sp>
        <p:nvSpPr>
          <p:cNvPr id="21" name="Text Box 7">
            <a:extLst>
              <a:ext uri="{FF2B5EF4-FFF2-40B4-BE49-F238E27FC236}">
                <a16:creationId xmlns:a16="http://schemas.microsoft.com/office/drawing/2014/main" id="{9701B56A-3BC5-F84A-A886-50DF346F5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8005" y="6075754"/>
            <a:ext cx="987536" cy="4247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= 7</a:t>
            </a:r>
          </a:p>
        </p:txBody>
      </p:sp>
      <p:sp>
        <p:nvSpPr>
          <p:cNvPr id="22" name="Rounded Rectangular Callout 21">
            <a:extLst>
              <a:ext uri="{FF2B5EF4-FFF2-40B4-BE49-F238E27FC236}">
                <a16:creationId xmlns:a16="http://schemas.microsoft.com/office/drawing/2014/main" id="{90387891-8FDB-C443-872C-F2E6CC76133F}"/>
              </a:ext>
            </a:extLst>
          </p:cNvPr>
          <p:cNvSpPr/>
          <p:nvPr/>
        </p:nvSpPr>
        <p:spPr bwMode="auto">
          <a:xfrm>
            <a:off x="5702157" y="2199114"/>
            <a:ext cx="1489753" cy="817245"/>
          </a:xfrm>
          <a:prstGeom prst="wedgeRoundRectCallout">
            <a:avLst>
              <a:gd name="adj1" fmla="val -209843"/>
              <a:gd name="adj2" fmla="val 428205"/>
              <a:gd name="adj3" fmla="val 16667"/>
            </a:avLst>
          </a:prstGeom>
          <a:solidFill>
            <a:srgbClr val="FFC000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ahoma" charset="0"/>
                <a:ea typeface="ＭＳ Ｐゴシック" charset="0"/>
              </a:rPr>
              <a:t>No pending ops</a:t>
            </a:r>
            <a:r>
              <a:rPr kumimoji="0" lang="en-US" sz="1400" b="0" i="0" u="none" strike="noStrike" cap="none" normalizeH="0" dirty="0">
                <a:ln>
                  <a:noFill/>
                </a:ln>
                <a:solidFill>
                  <a:schemeClr val="bg2"/>
                </a:solidFill>
                <a:effectLst/>
                <a:latin typeface="Tahoma" charset="0"/>
                <a:ea typeface="ＭＳ Ｐゴシック" charset="0"/>
              </a:rPr>
              <a:t> after base case is called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ahoma" charset="0"/>
              <a:ea typeface="ＭＳ Ｐゴシック" charset="0"/>
            </a:endParaRPr>
          </a:p>
        </p:txBody>
      </p:sp>
      <p:sp>
        <p:nvSpPr>
          <p:cNvPr id="23" name="Rounded Rectangular Callout 22">
            <a:extLst>
              <a:ext uri="{FF2B5EF4-FFF2-40B4-BE49-F238E27FC236}">
                <a16:creationId xmlns:a16="http://schemas.microsoft.com/office/drawing/2014/main" id="{AE3AE289-DA9C-2B4E-9E6F-A023CE8C5E21}"/>
              </a:ext>
            </a:extLst>
          </p:cNvPr>
          <p:cNvSpPr/>
          <p:nvPr/>
        </p:nvSpPr>
        <p:spPr bwMode="auto">
          <a:xfrm>
            <a:off x="7295182" y="5014167"/>
            <a:ext cx="1489753" cy="578882"/>
          </a:xfrm>
          <a:prstGeom prst="wedgeRoundRectCallout">
            <a:avLst>
              <a:gd name="adj1" fmla="val -393489"/>
              <a:gd name="adj2" fmla="val -486331"/>
              <a:gd name="adj3" fmla="val 16667"/>
            </a:avLst>
          </a:prstGeom>
          <a:solidFill>
            <a:srgbClr val="FFC000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ahoma" charset="0"/>
                <a:ea typeface="ＭＳ Ｐゴシック" charset="0"/>
              </a:rPr>
              <a:t>This is tail recursive</a:t>
            </a:r>
          </a:p>
        </p:txBody>
      </p:sp>
    </p:spTree>
    <p:extLst>
      <p:ext uri="{BB962C8B-B14F-4D97-AF65-F5344CB8AC3E}">
        <p14:creationId xmlns:p14="http://schemas.microsoft.com/office/powerpoint/2010/main" val="157053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xt&#10;&#10;Description automatically generated">
            <a:extLst>
              <a:ext uri="{FF2B5EF4-FFF2-40B4-BE49-F238E27FC236}">
                <a16:creationId xmlns:a16="http://schemas.microsoft.com/office/drawing/2014/main" id="{2C6DED11-E24C-1747-9B8B-24AF63DE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96" y="508815"/>
            <a:ext cx="7684697" cy="5840370"/>
          </a:xfrm>
          <a:prstGeom prst="rect">
            <a:avLst/>
          </a:prstGeom>
          <a:noFill/>
        </p:spPr>
      </p:pic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</a:pPr>
            <a:fld id="{CC73A6B6-49ED-C641-8D95-0A84FA800C15}" type="slidenum">
              <a:rPr lang="en-US" sz="1400"/>
              <a:pPr>
                <a:spcAft>
                  <a:spcPts val="600"/>
                </a:spcAft>
              </a:pPr>
              <a:t>9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016967391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a-recursion</Template>
  <TotalTime>149</TotalTime>
  <Words>480</Words>
  <Application>Microsoft Macintosh PowerPoint</Application>
  <PresentationFormat>On-screen Show (4:3)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Arial Black</vt:lpstr>
      <vt:lpstr>Calibri</vt:lpstr>
      <vt:lpstr>Courier New</vt:lpstr>
      <vt:lpstr>Lucida Sans Typewriter</vt:lpstr>
      <vt:lpstr>Tahoma</vt:lpstr>
      <vt:lpstr>Times New Roman</vt:lpstr>
      <vt:lpstr>Trebuchet MS</vt:lpstr>
      <vt:lpstr>Wingdings</vt:lpstr>
      <vt:lpstr>Berlin</vt:lpstr>
      <vt:lpstr>PowerPoint Presentation</vt:lpstr>
      <vt:lpstr>Recursion – why we need tail recursion</vt:lpstr>
      <vt:lpstr>Tail recursion</vt:lpstr>
      <vt:lpstr>Example 1 – tail recursion</vt:lpstr>
      <vt:lpstr>General template</vt:lpstr>
      <vt:lpstr>Example 2 – tail recursion</vt:lpstr>
      <vt:lpstr>Example 2 – tail recursion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Mairead Meagher</dc:creator>
  <cp:lastModifiedBy>Mairead Meagher</cp:lastModifiedBy>
  <cp:revision>16</cp:revision>
  <cp:lastPrinted>2001-01-23T09:38:59Z</cp:lastPrinted>
  <dcterms:created xsi:type="dcterms:W3CDTF">2021-02-26T10:55:27Z</dcterms:created>
  <dcterms:modified xsi:type="dcterms:W3CDTF">2026-02-27T13:16:27Z</dcterms:modified>
</cp:coreProperties>
</file>