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saveSubsetFonts="1" autoCompressPictures="0">
  <p:sldMasterIdLst>
    <p:sldMasterId id="2147483741" r:id="rId1"/>
  </p:sldMasterIdLst>
  <p:notesMasterIdLst>
    <p:notesMasterId r:id="rId23"/>
  </p:notesMasterIdLst>
  <p:handoutMasterIdLst>
    <p:handoutMasterId r:id="rId24"/>
  </p:handoutMasterIdLst>
  <p:sldIdLst>
    <p:sldId id="305" r:id="rId2"/>
    <p:sldId id="278" r:id="rId3"/>
    <p:sldId id="279" r:id="rId4"/>
    <p:sldId id="280" r:id="rId5"/>
    <p:sldId id="283" r:id="rId6"/>
    <p:sldId id="285" r:id="rId7"/>
    <p:sldId id="284" r:id="rId8"/>
    <p:sldId id="300" r:id="rId9"/>
    <p:sldId id="286" r:id="rId10"/>
    <p:sldId id="287" r:id="rId11"/>
    <p:sldId id="288" r:id="rId12"/>
    <p:sldId id="289" r:id="rId13"/>
    <p:sldId id="290" r:id="rId14"/>
    <p:sldId id="292" r:id="rId15"/>
    <p:sldId id="293" r:id="rId16"/>
    <p:sldId id="299" r:id="rId17"/>
    <p:sldId id="306" r:id="rId18"/>
    <p:sldId id="294" r:id="rId19"/>
    <p:sldId id="301" r:id="rId20"/>
    <p:sldId id="302" r:id="rId21"/>
    <p:sldId id="343" r:id="rId22"/>
  </p:sldIdLst>
  <p:sldSz cx="12192000" cy="6858000"/>
  <p:notesSz cx="6781800" cy="99187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4">
          <p15:clr>
            <a:srgbClr val="A4A3A4"/>
          </p15:clr>
        </p15:guide>
        <p15:guide id="2" pos="2136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6" clrMode="bw" frameSlides="1"/>
  <p:showPr showNarration="1">
    <p:browse/>
    <p:sldAll/>
    <p:penClr>
      <a:schemeClr val="tx1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8000"/>
    <a:srgbClr val="FF0000"/>
    <a:srgbClr val="99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637"/>
    <p:restoredTop sz="94733"/>
  </p:normalViewPr>
  <p:slideViewPr>
    <p:cSldViewPr snapToGrid="0">
      <p:cViewPr varScale="1">
        <p:scale>
          <a:sx n="112" d="100"/>
          <a:sy n="112" d="100"/>
        </p:scale>
        <p:origin x="424" y="20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2" d="100"/>
          <a:sy n="52" d="100"/>
        </p:scale>
        <p:origin x="-1866" y="-78"/>
      </p:cViewPr>
      <p:guideLst>
        <p:guide orient="horz" pos="3124"/>
        <p:guide pos="2136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38463" cy="496888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421" tIns="47710" rIns="95421" bIns="47710" numCol="1" anchor="t" anchorCtr="0" compatLnSpc="1">
            <a:prstTxWarp prst="textNoShape">
              <a:avLst/>
            </a:prstTxWarp>
          </a:bodyPr>
          <a:lstStyle>
            <a:lvl1pPr defTabSz="954088">
              <a:defRPr sz="13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43338" y="0"/>
            <a:ext cx="2938462" cy="496888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421" tIns="47710" rIns="95421" bIns="47710" numCol="1" anchor="t" anchorCtr="0" compatLnSpc="1">
            <a:prstTxWarp prst="textNoShape">
              <a:avLst/>
            </a:prstTxWarp>
          </a:bodyPr>
          <a:lstStyle>
            <a:lvl1pPr algn="r" defTabSz="954088">
              <a:defRPr sz="13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21813"/>
            <a:ext cx="2938463" cy="496887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421" tIns="47710" rIns="95421" bIns="47710" numCol="1" anchor="b" anchorCtr="0" compatLnSpc="1">
            <a:prstTxWarp prst="textNoShape">
              <a:avLst/>
            </a:prstTxWarp>
          </a:bodyPr>
          <a:lstStyle>
            <a:lvl1pPr defTabSz="954088">
              <a:defRPr sz="13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43338" y="9421813"/>
            <a:ext cx="2938462" cy="496887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421" tIns="47710" rIns="95421" bIns="47710" numCol="1" anchor="b" anchorCtr="0" compatLnSpc="1">
            <a:prstTxWarp prst="textNoShape">
              <a:avLst/>
            </a:prstTxWarp>
          </a:bodyPr>
          <a:lstStyle>
            <a:lvl1pPr algn="r" defTabSz="954088">
              <a:defRPr sz="1300"/>
            </a:lvl1pPr>
          </a:lstStyle>
          <a:p>
            <a:pPr>
              <a:defRPr/>
            </a:pPr>
            <a:fld id="{9247404D-9D40-CB45-A41E-18DC8C0E456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3182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4098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16238" cy="517525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88221" tIns="44111" rIns="88221" bIns="44111" numCol="1" anchor="t" anchorCtr="0" compatLnSpc="1">
            <a:prstTxWarp prst="textNoShape">
              <a:avLst/>
            </a:prstTxWarp>
          </a:bodyPr>
          <a:lstStyle>
            <a:lvl1pPr defTabSz="882650">
              <a:defRPr sz="12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2163" name="Rectangle 4099"/>
          <p:cNvSpPr>
            <a:spLocks noGrp="1" noChangeArrowheads="1"/>
          </p:cNvSpPr>
          <p:nvPr>
            <p:ph type="dt" idx="1"/>
          </p:nvPr>
        </p:nvSpPr>
        <p:spPr bwMode="auto">
          <a:xfrm>
            <a:off x="3862388" y="0"/>
            <a:ext cx="2916237" cy="517525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88221" tIns="44111" rIns="88221" bIns="44111" numCol="1" anchor="t" anchorCtr="0" compatLnSpc="1">
            <a:prstTxWarp prst="textNoShape">
              <a:avLst/>
            </a:prstTxWarp>
          </a:bodyPr>
          <a:lstStyle>
            <a:lvl1pPr algn="r" defTabSz="882650">
              <a:defRPr sz="12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340" name="Rectangle 4100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39700" y="739775"/>
            <a:ext cx="6572250" cy="36972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92165" name="Rectangle 4101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874713" y="4733925"/>
            <a:ext cx="5029200" cy="4437063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88221" tIns="44111" rIns="88221" bIns="4411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2166" name="Rectangle 4102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393238"/>
            <a:ext cx="2916238" cy="517525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88221" tIns="44111" rIns="88221" bIns="44111" numCol="1" anchor="b" anchorCtr="0" compatLnSpc="1">
            <a:prstTxWarp prst="textNoShape">
              <a:avLst/>
            </a:prstTxWarp>
          </a:bodyPr>
          <a:lstStyle>
            <a:lvl1pPr defTabSz="882650">
              <a:defRPr sz="12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2167" name="Rectangle 4103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62388" y="9393238"/>
            <a:ext cx="2916237" cy="517525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88221" tIns="44111" rIns="88221" bIns="44111" numCol="1" anchor="b" anchorCtr="0" compatLnSpc="1">
            <a:prstTxWarp prst="textNoShape">
              <a:avLst/>
            </a:prstTxWarp>
          </a:bodyPr>
          <a:lstStyle>
            <a:lvl1pPr algn="r" defTabSz="882650">
              <a:defRPr sz="1200"/>
            </a:lvl1pPr>
          </a:lstStyle>
          <a:p>
            <a:pPr>
              <a:defRPr/>
            </a:pPr>
            <a:fld id="{E4C497B6-B139-5541-8EB5-401872F7C26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843342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" charset="0"/>
        <a:ea typeface="ＭＳ Ｐゴシック" pitchFamily="-1" charset="-128"/>
        <a:cs typeface="ＭＳ Ｐゴシック" pitchFamily="-1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" charset="0"/>
        <a:ea typeface="ＭＳ Ｐゴシック" pitchFamily="-1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" charset="0"/>
        <a:ea typeface="ＭＳ Ｐゴシック" pitchFamily="-1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" charset="0"/>
        <a:ea typeface="ＭＳ Ｐゴシック" pitchFamily="-1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" charset="0"/>
        <a:ea typeface="ＭＳ Ｐゴシック" pitchFamily="-1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Rectangle 4103"/>
          <p:cNvSpPr>
            <a:spLocks noGrp="1" noChangeArrowheads="1"/>
          </p:cNvSpPr>
          <p:nvPr>
            <p:ph type="sldNum" sz="quarter" idx="5"/>
          </p:nvPr>
        </p:nvSpPr>
        <p:spPr>
          <a:noFill/>
          <a:ln w="9525"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/>
          <a:lstStyle>
            <a:lvl1pPr defTabSz="8826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 defTabSz="8826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 defTabSz="8826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 defTabSz="8826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 defTabSz="8826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defTabSz="88265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defTabSz="88265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defTabSz="88265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defTabSz="88265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55BA9C81-019E-7E4E-B8E9-C842A2F32222}" type="slidenum">
              <a:rPr lang="en-US" sz="1200"/>
              <a:pPr/>
              <a:t>9</a:t>
            </a:fld>
            <a:endParaRPr lang="en-US" sz="1200"/>
          </a:p>
        </p:txBody>
      </p:sp>
      <p:sp>
        <p:nvSpPr>
          <p:cNvPr id="256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39700" y="739775"/>
            <a:ext cx="6572250" cy="3697288"/>
          </a:xfrm>
          <a:ln/>
        </p:spPr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 w="9525"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sq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GB">
              <a:latin typeface="Times New Roman" charset="0"/>
              <a:ea typeface="ＭＳ Ｐゴシック" charset="0"/>
              <a:cs typeface="ＭＳ Ｐゴシック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7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9111716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5" cy="1373070"/>
          </a:xfrm>
        </p:spPr>
        <p:txBody>
          <a:bodyPr anchor="b">
            <a:noAutofit/>
          </a:bodyPr>
          <a:lstStyle>
            <a:lvl1pPr algn="r">
              <a:defRPr sz="405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41"/>
            <a:ext cx="8144135" cy="1117687"/>
          </a:xfrm>
        </p:spPr>
        <p:txBody>
          <a:bodyPr>
            <a:normAutofit/>
          </a:bodyPr>
          <a:lstStyle>
            <a:lvl1pPr marL="0" indent="0" algn="r">
              <a:buNone/>
              <a:defRPr sz="15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9EBBA-996F-894A-B54A-D6246ED52CEA}" type="datetimeFigureOut">
              <a:rPr lang="en-US" smtClean="0"/>
              <a:pPr/>
              <a:t>2/27/25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7" y="2750337"/>
            <a:ext cx="1171888" cy="1356442"/>
          </a:xfrm>
        </p:spPr>
        <p:txBody>
          <a:bodyPr/>
          <a:lstStyle/>
          <a:p>
            <a:pPr>
              <a:defRPr/>
            </a:pPr>
            <a:fld id="{60854742-D8E1-CD4E-AAF1-C3553525B43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8893633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2/27/25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2F086EE-2306-114E-B592-A20E8DA936FB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790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6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4232173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A1846-DA80-1C48-A609-854EA85C59AD}" type="datetimeFigureOut">
              <a:rPr lang="en-US" smtClean="0"/>
              <a:pPr/>
              <a:t>2/27/25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7" y="2869897"/>
            <a:ext cx="1154151" cy="1090789"/>
          </a:xfrm>
        </p:spPr>
        <p:txBody>
          <a:bodyPr/>
          <a:lstStyle/>
          <a:p>
            <a:pPr>
              <a:defRPr/>
            </a:pPr>
            <a:fld id="{42E285DE-A95B-594D-B03B-85B0E4A53C09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81039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1" y="2336873"/>
            <a:ext cx="4698359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9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2/27/25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7C68024-3AF8-C842-A3C7-A05010F2C781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8058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0" y="753231"/>
            <a:ext cx="9613863" cy="1080937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1" y="2336875"/>
            <a:ext cx="4472327" cy="69313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3" y="3030010"/>
            <a:ext cx="4698355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5" y="2336873"/>
            <a:ext cx="4474028" cy="69207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4" y="3030010"/>
            <a:ext cx="4700059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2/27/25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810CB9C-1E17-524C-8419-9DCEF2E838C7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38459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A34C8-038E-2045-AF43-DF7DBB8E0E9E}" type="datetimeFigureOut">
              <a:rPr lang="en-US" smtClean="0"/>
              <a:pPr/>
              <a:t>2/27/25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6B4433C-DA95-0442-8811-B3EBF2CF494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852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8C68F-D26B-8F47-958C-23B49CF8A634}" type="datetimeFigureOut">
              <a:rPr lang="en-US" smtClean="0"/>
              <a:pPr/>
              <a:t>2/27/25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89F1807-43C9-FD48-8BD8-9E3656F31856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0427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7" y="2336875"/>
            <a:ext cx="5608336" cy="359931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4"/>
            <a:ext cx="3790079" cy="3599317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2/27/25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923FF4-DE3C-CF42-B10F-3DE8199486B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09581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57" cy="1080938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4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5"/>
            <a:ext cx="3876256" cy="3599315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2/27/25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F271704-EAF2-C54E-9532-E611244D8A8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9404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4711618"/>
            <a:ext cx="9613859" cy="453051"/>
          </a:xfrm>
        </p:spPr>
        <p:txBody>
          <a:bodyPr anchor="b">
            <a:normAutofit/>
          </a:bodyPr>
          <a:lstStyle>
            <a:lvl1pPr>
              <a:defRPr sz="1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2" y="609599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5"/>
            <a:ext cx="9613863" cy="62297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2/27/25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11311"/>
            <a:ext cx="1154151" cy="1090789"/>
          </a:xfrm>
        </p:spPr>
        <p:txBody>
          <a:bodyPr/>
          <a:lstStyle/>
          <a:p>
            <a:pPr>
              <a:defRPr/>
            </a:pPr>
            <a:fld id="{60854742-D8E1-CD4E-AAF1-C3553525B43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0443956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609597"/>
            <a:ext cx="9613859" cy="3592750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7"/>
            <a:ext cx="9613859" cy="1090789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2/27/25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11617"/>
            <a:ext cx="1154151" cy="1090789"/>
          </a:xfrm>
        </p:spPr>
        <p:txBody>
          <a:bodyPr/>
          <a:lstStyle/>
          <a:p>
            <a:pPr>
              <a:defRPr/>
            </a:pPr>
            <a:fld id="{60854742-D8E1-CD4E-AAF1-C3553525B43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8539183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598"/>
            <a:ext cx="8718877" cy="3036061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9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7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2/27/25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09927"/>
            <a:ext cx="1154151" cy="1090789"/>
          </a:xfrm>
        </p:spPr>
        <p:txBody>
          <a:bodyPr/>
          <a:lstStyle/>
          <a:p>
            <a:pPr>
              <a:defRPr/>
            </a:pPr>
            <a:fld id="{60854742-D8E1-CD4E-AAF1-C3553525B43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54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54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261286394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7"/>
            <a:ext cx="9613863" cy="588535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0" y="5300151"/>
            <a:ext cx="9613863" cy="502255"/>
          </a:xfrm>
        </p:spPr>
        <p:txBody>
          <a:bodyPr anchor="t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2/27/25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09927"/>
            <a:ext cx="1154151" cy="1090789"/>
          </a:xfrm>
        </p:spPr>
        <p:txBody>
          <a:bodyPr/>
          <a:lstStyle/>
          <a:p>
            <a:pPr>
              <a:defRPr/>
            </a:pPr>
            <a:fld id="{60854742-D8E1-CD4E-AAF1-C3553525B43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3416099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1" y="753228"/>
            <a:ext cx="962496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5" y="2336873"/>
            <a:ext cx="307003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4"/>
            <a:ext cx="3049703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1" y="3022674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7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7" y="3022674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2/27/25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0854742-D8E1-CD4E-AAF1-C3553525B43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214434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20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20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20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1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8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80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8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2/27/25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0854742-D8E1-CD4E-AAF1-C3553525B43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252480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2/27/25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D2D9394-4345-7848-A8CC-FD34D8A3AE2B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566596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5"/>
            <a:ext cx="5106988" cy="136819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9868203" y="5372404"/>
            <a:ext cx="1602997" cy="13681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3" cy="435376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9"/>
            <a:ext cx="8870004" cy="5326589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5" y="5936189"/>
            <a:ext cx="2743200" cy="365125"/>
          </a:xfrm>
        </p:spPr>
        <p:txBody>
          <a:bodyPr/>
          <a:lstStyle/>
          <a:p>
            <a:fld id="{09B482E8-6E0E-1B4F-B1FD-C69DB9E858D9}" type="datetimeFigureOut">
              <a:rPr lang="en-US" smtClean="0"/>
              <a:pPr/>
              <a:t>2/27/25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1" y="5936190"/>
            <a:ext cx="6126805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1" y="5398635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pPr>
              <a:defRPr/>
            </a:pPr>
            <a:fld id="{4370930E-02DA-A947-8476-43050C92966A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29776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B482E8-6E0E-1B4F-B1FD-C69DB9E858D9}" type="datetimeFigureOut">
              <a:rPr lang="en-US" smtClean="0"/>
              <a:pPr/>
              <a:t>2/27/25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2" y="5936190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7" y="753228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0854742-D8E1-CD4E-AAF1-C3553525B43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482716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42" r:id="rId1"/>
    <p:sldLayoutId id="2147483743" r:id="rId2"/>
    <p:sldLayoutId id="2147483744" r:id="rId3"/>
    <p:sldLayoutId id="2147483745" r:id="rId4"/>
    <p:sldLayoutId id="2147483746" r:id="rId5"/>
    <p:sldLayoutId id="2147483747" r:id="rId6"/>
    <p:sldLayoutId id="2147483748" r:id="rId7"/>
    <p:sldLayoutId id="2147483749" r:id="rId8"/>
    <p:sldLayoutId id="2147483750" r:id="rId9"/>
    <p:sldLayoutId id="2147483751" r:id="rId10"/>
    <p:sldLayoutId id="2147483752" r:id="rId11"/>
    <p:sldLayoutId id="2147483753" r:id="rId12"/>
    <p:sldLayoutId id="2147483754" r:id="rId13"/>
    <p:sldLayoutId id="2147483755" r:id="rId14"/>
    <p:sldLayoutId id="2147483756" r:id="rId15"/>
    <p:sldLayoutId id="2147483757" r:id="rId16"/>
    <p:sldLayoutId id="2147483758" r:id="rId17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7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1798ECB8-1CC1-F547-83B4-7D2DDB6C7AC2}" type="slidenum">
              <a:rPr lang="en-US" sz="1400"/>
              <a:pPr/>
              <a:t>0</a:t>
            </a:fld>
            <a:endParaRPr lang="en-US" sz="1400"/>
          </a:p>
        </p:txBody>
      </p:sp>
      <p:sp>
        <p:nvSpPr>
          <p:cNvPr id="15362" name="Text Box 2"/>
          <p:cNvSpPr txBox="1">
            <a:spLocks noChangeArrowheads="1"/>
          </p:cNvSpPr>
          <p:nvPr/>
        </p:nvSpPr>
        <p:spPr bwMode="auto">
          <a:xfrm>
            <a:off x="1639889" y="1001713"/>
            <a:ext cx="8910637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 algn="ctr"/>
            <a:r>
              <a:rPr lang="en-US" sz="3600" b="1">
                <a:solidFill>
                  <a:schemeClr val="tx2"/>
                </a:solidFill>
                <a:latin typeface="Arial Black" charset="0"/>
              </a:rPr>
              <a:t>PROGRAMMING IN HASKELL</a:t>
            </a:r>
          </a:p>
        </p:txBody>
      </p:sp>
      <p:sp>
        <p:nvSpPr>
          <p:cNvPr id="15363" name="Rectangle 3"/>
          <p:cNvSpPr>
            <a:spLocks noChangeArrowheads="1"/>
          </p:cNvSpPr>
          <p:nvPr/>
        </p:nvSpPr>
        <p:spPr bwMode="auto">
          <a:xfrm>
            <a:off x="1700214" y="5164138"/>
            <a:ext cx="8791575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/>
            <a:r>
              <a:rPr kumimoji="1" lang="en-US" sz="3200"/>
              <a:t>Chapter 5 - List Comprehensions</a:t>
            </a:r>
          </a:p>
        </p:txBody>
      </p:sp>
      <p:pic>
        <p:nvPicPr>
          <p:cNvPr id="15364" name="Picture 5" descr="2000px-Haskell-Logo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5189" y="2425700"/>
            <a:ext cx="2841625" cy="2006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 Black" charset="0"/>
                <a:ea typeface="ＭＳ Ｐゴシック" charset="0"/>
                <a:cs typeface="ＭＳ Ｐゴシック" charset="0"/>
              </a:rPr>
              <a:t>Set Comprehensions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B21F4343-AE5B-FD4D-A163-10D8D1322E39}" type="slidenum">
              <a:rPr lang="en-US" sz="1400"/>
              <a:pPr/>
              <a:t>1</a:t>
            </a:fld>
            <a:endParaRPr lang="en-US" sz="1400"/>
          </a:p>
        </p:txBody>
      </p:sp>
      <p:sp>
        <p:nvSpPr>
          <p:cNvPr id="16387" name="Text Box 3"/>
          <p:cNvSpPr txBox="1">
            <a:spLocks noChangeArrowheads="1"/>
          </p:cNvSpPr>
          <p:nvPr/>
        </p:nvSpPr>
        <p:spPr bwMode="auto">
          <a:xfrm>
            <a:off x="1765981" y="2081639"/>
            <a:ext cx="8185150" cy="13849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In mathematics, the </a:t>
            </a:r>
            <a:r>
              <a:rPr lang="en-US" u="sng" dirty="0"/>
              <a:t>comprehension</a:t>
            </a:r>
            <a:r>
              <a:rPr lang="en-US" dirty="0"/>
              <a:t> notation can be used to construct new sets from old sets.</a:t>
            </a:r>
          </a:p>
        </p:txBody>
      </p:sp>
      <p:sp>
        <p:nvSpPr>
          <p:cNvPr id="16388" name="Text Box 4"/>
          <p:cNvSpPr txBox="1">
            <a:spLocks noChangeArrowheads="1"/>
          </p:cNvSpPr>
          <p:nvPr/>
        </p:nvSpPr>
        <p:spPr bwMode="auto">
          <a:xfrm>
            <a:off x="3014437" y="3928780"/>
            <a:ext cx="4427687" cy="52322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{</a:t>
            </a:r>
            <a:r>
              <a:rPr lang="en-US" dirty="0" err="1"/>
              <a:t>x:Int</a:t>
            </a:r>
            <a:r>
              <a:rPr lang="en-US" baseline="30000" dirty="0"/>
              <a:t> </a:t>
            </a:r>
            <a:r>
              <a:rPr lang="en-US" dirty="0"/>
              <a:t> |  x </a:t>
            </a:r>
            <a:r>
              <a:rPr lang="en-US" dirty="0">
                <a:sym typeface="Symbol" charset="0"/>
              </a:rPr>
              <a:t> </a:t>
            </a:r>
            <a:r>
              <a:rPr lang="en-US" dirty="0"/>
              <a:t>{1...5} </a:t>
            </a:r>
            <a:r>
              <a:rPr lang="en-US" dirty="0">
                <a:sym typeface="Wingdings" panose="05000000000000000000" pitchFamily="2" charset="2"/>
              </a:rPr>
              <a:t> </a:t>
            </a:r>
            <a:r>
              <a:rPr lang="en-US" dirty="0"/>
              <a:t>x</a:t>
            </a:r>
            <a:r>
              <a:rPr lang="en-US" baseline="30000" dirty="0"/>
              <a:t>2</a:t>
            </a:r>
            <a:r>
              <a:rPr lang="en-US" dirty="0"/>
              <a:t>}</a:t>
            </a:r>
          </a:p>
        </p:txBody>
      </p:sp>
      <p:sp>
        <p:nvSpPr>
          <p:cNvPr id="16389" name="AutoShape 5"/>
          <p:cNvSpPr>
            <a:spLocks noChangeArrowheads="1"/>
          </p:cNvSpPr>
          <p:nvPr/>
        </p:nvSpPr>
        <p:spPr bwMode="auto">
          <a:xfrm>
            <a:off x="2323306" y="5172675"/>
            <a:ext cx="7545388" cy="919401"/>
          </a:xfrm>
          <a:prstGeom prst="wedgeRoundRectCallout">
            <a:avLst>
              <a:gd name="adj1" fmla="val -21565"/>
              <a:gd name="adj2" fmla="val -127684"/>
              <a:gd name="adj3" fmla="val 16667"/>
            </a:avLst>
          </a:prstGeom>
          <a:solidFill>
            <a:schemeClr val="accent4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pPr algn="ctr"/>
            <a:r>
              <a:rPr lang="en-US" sz="2400" dirty="0"/>
              <a:t>The set {1,4,9,16,25} of all numbers x</a:t>
            </a:r>
            <a:r>
              <a:rPr lang="en-US" sz="2400" baseline="30000" dirty="0"/>
              <a:t>2</a:t>
            </a:r>
            <a:r>
              <a:rPr lang="en-US" sz="2400" dirty="0"/>
              <a:t> such that x is an element of the set {1…5}.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63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63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63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63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388" grpId="0" animBg="1"/>
      <p:bldP spid="1638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 Black" charset="0"/>
                <a:ea typeface="ＭＳ Ｐゴシック" charset="0"/>
                <a:cs typeface="ＭＳ Ｐゴシック" charset="0"/>
              </a:rPr>
              <a:t>Lists Comprehensions</a:t>
            </a:r>
          </a:p>
        </p:txBody>
      </p:sp>
      <p:sp>
        <p:nvSpPr>
          <p:cNvPr id="17409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58672337-B0CB-C54C-B317-4A07879599A5}" type="slidenum">
              <a:rPr lang="en-US" sz="1400"/>
              <a:pPr/>
              <a:t>2</a:t>
            </a:fld>
            <a:endParaRPr lang="en-US" sz="1400"/>
          </a:p>
        </p:txBody>
      </p:sp>
      <p:sp>
        <p:nvSpPr>
          <p:cNvPr id="17411" name="Text Box 3"/>
          <p:cNvSpPr txBox="1">
            <a:spLocks noChangeArrowheads="1"/>
          </p:cNvSpPr>
          <p:nvPr/>
        </p:nvSpPr>
        <p:spPr bwMode="auto">
          <a:xfrm>
            <a:off x="1649839" y="2335771"/>
            <a:ext cx="8297862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In Haskell, a similar comprehension notation can be used to construct new </a:t>
            </a:r>
            <a:r>
              <a:rPr lang="en-US" u="sng" dirty="0"/>
              <a:t>lists</a:t>
            </a:r>
            <a:r>
              <a:rPr lang="en-US" dirty="0"/>
              <a:t> from old lists.</a:t>
            </a:r>
          </a:p>
        </p:txBody>
      </p:sp>
      <p:sp>
        <p:nvSpPr>
          <p:cNvPr id="17412" name="Text Box 4"/>
          <p:cNvSpPr txBox="1">
            <a:spLocks noChangeArrowheads="1"/>
          </p:cNvSpPr>
          <p:nvPr/>
        </p:nvSpPr>
        <p:spPr bwMode="auto">
          <a:xfrm>
            <a:off x="3133702" y="3783526"/>
            <a:ext cx="3648756" cy="463717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[x^2 | x </a:t>
            </a:r>
            <a:r>
              <a:rPr lang="en-US" sz="2400" dirty="0">
                <a:latin typeface="Lucida Sans Typewriter" charset="0"/>
                <a:sym typeface="Symbol" charset="0"/>
              </a:rPr>
              <a:t></a:t>
            </a:r>
            <a:r>
              <a:rPr lang="en-US" sz="2400" dirty="0">
                <a:latin typeface="Lucida Sans Typewriter" charset="0"/>
              </a:rPr>
              <a:t> [1..5]]</a:t>
            </a:r>
          </a:p>
        </p:txBody>
      </p:sp>
      <p:sp>
        <p:nvSpPr>
          <p:cNvPr id="17413" name="AutoShape 6"/>
          <p:cNvSpPr>
            <a:spLocks noChangeArrowheads="1"/>
          </p:cNvSpPr>
          <p:nvPr/>
        </p:nvSpPr>
        <p:spPr bwMode="auto">
          <a:xfrm>
            <a:off x="2097514" y="4966705"/>
            <a:ext cx="7402512" cy="1055608"/>
          </a:xfrm>
          <a:prstGeom prst="wedgeRoundRectCallout">
            <a:avLst>
              <a:gd name="adj1" fmla="val -22144"/>
              <a:gd name="adj2" fmla="val -98347"/>
              <a:gd name="adj3" fmla="val 16667"/>
            </a:avLst>
          </a:prstGeom>
          <a:solidFill>
            <a:schemeClr val="accent4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pPr algn="ctr"/>
            <a:r>
              <a:rPr lang="en-US" sz="2800" dirty="0"/>
              <a:t>The list [1,4,9,16,25] of all numbers x^2</a:t>
            </a:r>
            <a:r>
              <a:rPr lang="en-US" sz="2800" baseline="30000" dirty="0"/>
              <a:t> </a:t>
            </a:r>
            <a:r>
              <a:rPr lang="en-US" sz="2800" dirty="0"/>
              <a:t>such that x is an element of the list [1..5].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74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74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74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74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12" grpId="0" animBg="1"/>
      <p:bldP spid="1741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5B7AF5-57DA-A085-AC4B-B3F2A38B57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18433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9A909AA4-27DB-B14F-ADD9-C96E58A869C3}" type="slidenum">
              <a:rPr lang="en-US" sz="1400"/>
              <a:pPr/>
              <a:t>3</a:t>
            </a:fld>
            <a:endParaRPr lang="en-US" sz="1400"/>
          </a:p>
        </p:txBody>
      </p:sp>
      <p:sp>
        <p:nvSpPr>
          <p:cNvPr id="18434" name="Text Box 2"/>
          <p:cNvSpPr txBox="1">
            <a:spLocks noChangeArrowheads="1"/>
          </p:cNvSpPr>
          <p:nvPr/>
        </p:nvSpPr>
        <p:spPr bwMode="auto">
          <a:xfrm>
            <a:off x="1581074" y="1001309"/>
            <a:ext cx="1241045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3200" b="1" dirty="0">
                <a:latin typeface="+mn-lt"/>
              </a:rPr>
              <a:t>Note:</a:t>
            </a:r>
          </a:p>
        </p:txBody>
      </p:sp>
      <p:sp>
        <p:nvSpPr>
          <p:cNvPr id="18435" name="Rectangle 3"/>
          <p:cNvSpPr>
            <a:spLocks noChangeArrowheads="1"/>
          </p:cNvSpPr>
          <p:nvPr/>
        </p:nvSpPr>
        <p:spPr bwMode="auto">
          <a:xfrm>
            <a:off x="570972" y="2042458"/>
            <a:ext cx="9832558" cy="2554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sz="2800" dirty="0"/>
              <a:t>The expression x </a:t>
            </a:r>
            <a:r>
              <a:rPr kumimoji="1" lang="en-US" sz="2800" dirty="0">
                <a:solidFill>
                  <a:srgbClr val="FF0000"/>
                </a:solidFill>
                <a:sym typeface="Symbol" charset="0"/>
              </a:rPr>
              <a:t></a:t>
            </a:r>
            <a:r>
              <a:rPr kumimoji="1" lang="en-US" sz="2800" dirty="0"/>
              <a:t> [1..5] is called a </a:t>
            </a:r>
            <a:r>
              <a:rPr kumimoji="1" lang="en-US" sz="2800" u="sng" dirty="0"/>
              <a:t>generator</a:t>
            </a:r>
            <a:r>
              <a:rPr kumimoji="1" lang="en-US" sz="2800" dirty="0"/>
              <a:t>, as it states how to generate values for x.</a:t>
            </a:r>
          </a:p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endParaRPr kumimoji="1" lang="en-US" sz="2800" dirty="0"/>
          </a:p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sz="2800" dirty="0"/>
              <a:t>Comprehensions can have </a:t>
            </a:r>
            <a:r>
              <a:rPr kumimoji="1" lang="en-US" sz="2800" u="sng" dirty="0"/>
              <a:t>multiple</a:t>
            </a:r>
            <a:r>
              <a:rPr kumimoji="1" lang="en-US" sz="2800" dirty="0"/>
              <a:t> generators, separated by commas.  For example:</a:t>
            </a:r>
          </a:p>
        </p:txBody>
      </p:sp>
      <p:sp>
        <p:nvSpPr>
          <p:cNvPr id="18436" name="Text Box 4"/>
          <p:cNvSpPr txBox="1">
            <a:spLocks noChangeArrowheads="1"/>
          </p:cNvSpPr>
          <p:nvPr/>
        </p:nvSpPr>
        <p:spPr bwMode="auto">
          <a:xfrm>
            <a:off x="1954873" y="5053375"/>
            <a:ext cx="7064755" cy="1200329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2400" dirty="0">
                <a:latin typeface="Lucida Sans Typewriter" charset="0"/>
              </a:rPr>
              <a:t>&gt; [(</a:t>
            </a:r>
            <a:r>
              <a:rPr lang="en-US" sz="2400" dirty="0" err="1">
                <a:latin typeface="Lucida Sans Typewriter" charset="0"/>
              </a:rPr>
              <a:t>x,y</a:t>
            </a:r>
            <a:r>
              <a:rPr lang="en-US" sz="2400" dirty="0">
                <a:latin typeface="Lucida Sans Typewriter" charset="0"/>
              </a:rPr>
              <a:t>) | x </a:t>
            </a:r>
            <a:r>
              <a:rPr lang="en-US" sz="2400" dirty="0">
                <a:solidFill>
                  <a:srgbClr val="FF0000"/>
                </a:solidFill>
                <a:latin typeface="Lucida Sans Typewriter" charset="0"/>
                <a:sym typeface="Symbol" charset="0"/>
              </a:rPr>
              <a:t></a:t>
            </a:r>
            <a:r>
              <a:rPr lang="en-US" sz="2400" dirty="0">
                <a:latin typeface="Lucida Sans Typewriter" charset="0"/>
              </a:rPr>
              <a:t> [1,2,3], y </a:t>
            </a:r>
            <a:r>
              <a:rPr lang="en-US" sz="2400" dirty="0">
                <a:solidFill>
                  <a:srgbClr val="FF0000"/>
                </a:solidFill>
                <a:latin typeface="Lucida Sans Typewriter" charset="0"/>
                <a:sym typeface="Symbol" charset="0"/>
              </a:rPr>
              <a:t></a:t>
            </a:r>
            <a:r>
              <a:rPr lang="en-US" sz="2400" dirty="0">
                <a:latin typeface="Lucida Sans Typewriter" charset="0"/>
              </a:rPr>
              <a:t> [4,5]]</a:t>
            </a:r>
          </a:p>
          <a:p>
            <a:endParaRPr lang="en-US" sz="2400" dirty="0">
              <a:latin typeface="Lucida Sans Typewriter" charset="0"/>
            </a:endParaRPr>
          </a:p>
          <a:p>
            <a:r>
              <a:rPr lang="en-US" sz="2400" dirty="0">
                <a:latin typeface="Lucida Sans Typewriter" charset="0"/>
              </a:rPr>
              <a:t>[(1,4),(1,5),(2,4),(2,5),(3,4),(3,5)]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84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84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84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84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84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84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43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15940-B7D3-C84D-9971-9EF2097899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Order of Generators</a:t>
            </a:r>
          </a:p>
        </p:txBody>
      </p:sp>
      <p:sp>
        <p:nvSpPr>
          <p:cNvPr id="19457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B2BDEFCF-0FB4-D544-86FA-341B0086AC91}" type="slidenum">
              <a:rPr lang="en-US" sz="1400"/>
              <a:pPr/>
              <a:t>4</a:t>
            </a:fld>
            <a:endParaRPr lang="en-US" sz="1400"/>
          </a:p>
        </p:txBody>
      </p:sp>
      <p:sp>
        <p:nvSpPr>
          <p:cNvPr id="19458" name="Rectangle 2"/>
          <p:cNvSpPr>
            <a:spLocks noChangeArrowheads="1"/>
          </p:cNvSpPr>
          <p:nvPr/>
        </p:nvSpPr>
        <p:spPr bwMode="auto">
          <a:xfrm>
            <a:off x="575789" y="1926112"/>
            <a:ext cx="9574711" cy="1057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sz="3200" dirty="0"/>
              <a:t>Changing the </a:t>
            </a:r>
            <a:r>
              <a:rPr kumimoji="1" lang="en-US" sz="3200" u="sng" dirty="0"/>
              <a:t>order</a:t>
            </a:r>
            <a:r>
              <a:rPr kumimoji="1" lang="en-US" sz="3200" dirty="0"/>
              <a:t> of the generators changes the order of the elements in the final list:</a:t>
            </a:r>
          </a:p>
        </p:txBody>
      </p:sp>
      <p:sp>
        <p:nvSpPr>
          <p:cNvPr id="19459" name="Text Box 3"/>
          <p:cNvSpPr txBox="1">
            <a:spLocks noChangeArrowheads="1"/>
          </p:cNvSpPr>
          <p:nvPr/>
        </p:nvSpPr>
        <p:spPr bwMode="auto">
          <a:xfrm>
            <a:off x="2427715" y="3197995"/>
            <a:ext cx="7064755" cy="1200329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2400" dirty="0">
                <a:latin typeface="Lucida Sans Typewriter" charset="0"/>
              </a:rPr>
              <a:t>&gt; [(</a:t>
            </a:r>
            <a:r>
              <a:rPr lang="en-US" sz="2400" dirty="0" err="1">
                <a:latin typeface="Lucida Sans Typewriter" charset="0"/>
              </a:rPr>
              <a:t>x,y</a:t>
            </a:r>
            <a:r>
              <a:rPr lang="en-US" sz="2400" dirty="0">
                <a:latin typeface="Lucida Sans Typewriter" charset="0"/>
              </a:rPr>
              <a:t>) | y </a:t>
            </a:r>
            <a:r>
              <a:rPr lang="en-US" sz="2400" dirty="0">
                <a:latin typeface="Lucida Sans Typewriter" charset="0"/>
                <a:sym typeface="Symbol" charset="0"/>
              </a:rPr>
              <a:t></a:t>
            </a:r>
            <a:r>
              <a:rPr lang="en-US" sz="2400" dirty="0">
                <a:latin typeface="Lucida Sans Typewriter" charset="0"/>
              </a:rPr>
              <a:t> [4,5], x </a:t>
            </a:r>
            <a:r>
              <a:rPr lang="en-US" sz="2400" dirty="0">
                <a:latin typeface="Lucida Sans Typewriter" charset="0"/>
                <a:sym typeface="Symbol" charset="0"/>
              </a:rPr>
              <a:t></a:t>
            </a:r>
            <a:r>
              <a:rPr lang="en-US" sz="2400" dirty="0">
                <a:latin typeface="Lucida Sans Typewriter" charset="0"/>
              </a:rPr>
              <a:t> [1,2,3]]</a:t>
            </a:r>
          </a:p>
          <a:p>
            <a:endParaRPr lang="en-US" sz="2400" dirty="0">
              <a:latin typeface="Lucida Sans Typewriter" charset="0"/>
            </a:endParaRPr>
          </a:p>
          <a:p>
            <a:r>
              <a:rPr lang="en-US" sz="2400" dirty="0">
                <a:latin typeface="Lucida Sans Typewriter" charset="0"/>
              </a:rPr>
              <a:t>[(1,4),(2,4),(3,4),(1,5),(2,5),(3,5)]</a:t>
            </a:r>
          </a:p>
        </p:txBody>
      </p:sp>
      <p:sp>
        <p:nvSpPr>
          <p:cNvPr id="19460" name="Rectangle 4"/>
          <p:cNvSpPr>
            <a:spLocks noChangeArrowheads="1"/>
          </p:cNvSpPr>
          <p:nvPr/>
        </p:nvSpPr>
        <p:spPr bwMode="auto">
          <a:xfrm>
            <a:off x="719471" y="4827540"/>
            <a:ext cx="9574711" cy="1463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sz="3200" dirty="0"/>
              <a:t>Multiple generators are like </a:t>
            </a:r>
            <a:r>
              <a:rPr kumimoji="1" lang="en-US" sz="3200" u="sng" dirty="0"/>
              <a:t>nested loops</a:t>
            </a:r>
            <a:r>
              <a:rPr kumimoji="1" lang="en-US" sz="3200" dirty="0"/>
              <a:t>, with later generators as more deeply nested loops whose variables change value more frequently.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A888951-9D9B-CF01-5E96-F47AC273337D}"/>
              </a:ext>
            </a:extLst>
          </p:cNvPr>
          <p:cNvCxnSpPr/>
          <p:nvPr/>
        </p:nvCxnSpPr>
        <p:spPr>
          <a:xfrm flipH="1">
            <a:off x="3480179" y="3589361"/>
            <a:ext cx="2169994" cy="450376"/>
          </a:xfrm>
          <a:prstGeom prst="straightConnector1">
            <a:avLst/>
          </a:prstGeom>
          <a:ln w="381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007D609-6E30-7C02-FE9B-7AD52116E37F}"/>
              </a:ext>
            </a:extLst>
          </p:cNvPr>
          <p:cNvCxnSpPr>
            <a:cxnSpLocks/>
          </p:cNvCxnSpPr>
          <p:nvPr/>
        </p:nvCxnSpPr>
        <p:spPr>
          <a:xfrm flipH="1">
            <a:off x="4421829" y="3588639"/>
            <a:ext cx="1228344" cy="542735"/>
          </a:xfrm>
          <a:prstGeom prst="straightConnector1">
            <a:avLst/>
          </a:prstGeom>
          <a:ln w="381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CE9F621-E68E-3C2A-AAF9-4EA7572B80C4}"/>
              </a:ext>
            </a:extLst>
          </p:cNvPr>
          <p:cNvCxnSpPr>
            <a:cxnSpLocks/>
          </p:cNvCxnSpPr>
          <p:nvPr/>
        </p:nvCxnSpPr>
        <p:spPr>
          <a:xfrm flipH="1">
            <a:off x="5569401" y="3588639"/>
            <a:ext cx="80772" cy="496555"/>
          </a:xfrm>
          <a:prstGeom prst="straightConnector1">
            <a:avLst/>
          </a:prstGeom>
          <a:ln w="381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DB427D4-F294-C488-B303-B62C696C38A4}"/>
              </a:ext>
            </a:extLst>
          </p:cNvPr>
          <p:cNvCxnSpPr>
            <a:cxnSpLocks/>
          </p:cNvCxnSpPr>
          <p:nvPr/>
        </p:nvCxnSpPr>
        <p:spPr>
          <a:xfrm>
            <a:off x="6096000" y="3677017"/>
            <a:ext cx="606637" cy="443416"/>
          </a:xfrm>
          <a:prstGeom prst="straightConnector1">
            <a:avLst/>
          </a:prstGeom>
          <a:ln w="381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EC4919D-7064-55B8-E51B-9310EDC24A9A}"/>
              </a:ext>
            </a:extLst>
          </p:cNvPr>
          <p:cNvCxnSpPr>
            <a:cxnSpLocks/>
          </p:cNvCxnSpPr>
          <p:nvPr/>
        </p:nvCxnSpPr>
        <p:spPr>
          <a:xfrm>
            <a:off x="6096000" y="3676295"/>
            <a:ext cx="1642281" cy="363005"/>
          </a:xfrm>
          <a:prstGeom prst="straightConnector1">
            <a:avLst/>
          </a:prstGeom>
          <a:ln w="381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B3D9A1C-7A36-FA80-2876-91617004A656}"/>
              </a:ext>
            </a:extLst>
          </p:cNvPr>
          <p:cNvCxnSpPr>
            <a:cxnSpLocks/>
          </p:cNvCxnSpPr>
          <p:nvPr/>
        </p:nvCxnSpPr>
        <p:spPr>
          <a:xfrm>
            <a:off x="6096000" y="3676295"/>
            <a:ext cx="2788693" cy="408899"/>
          </a:xfrm>
          <a:prstGeom prst="straightConnector1">
            <a:avLst/>
          </a:prstGeom>
          <a:ln w="381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94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94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94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94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94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94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58" grpId="0"/>
      <p:bldP spid="19459" grpId="0" animBg="1"/>
      <p:bldP spid="19460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3E770-0CF3-CD52-414A-0272FB76E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Order of Generators</a:t>
            </a:r>
          </a:p>
        </p:txBody>
      </p:sp>
      <p:sp>
        <p:nvSpPr>
          <p:cNvPr id="20481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6211E36E-CFD2-8E42-8274-BC738F456C36}" type="slidenum">
              <a:rPr lang="en-US" sz="1400"/>
              <a:pPr/>
              <a:t>5</a:t>
            </a:fld>
            <a:endParaRPr lang="en-US" sz="1400"/>
          </a:p>
        </p:txBody>
      </p:sp>
      <p:sp>
        <p:nvSpPr>
          <p:cNvPr id="20482" name="Text Box 12"/>
          <p:cNvSpPr txBox="1">
            <a:spLocks noChangeArrowheads="1"/>
          </p:cNvSpPr>
          <p:nvPr/>
        </p:nvSpPr>
        <p:spPr bwMode="auto">
          <a:xfrm>
            <a:off x="2743201" y="1741400"/>
            <a:ext cx="7064755" cy="1200329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2400" dirty="0">
                <a:latin typeface="Lucida Sans Typewriter" charset="0"/>
              </a:rPr>
              <a:t>&gt; [(</a:t>
            </a:r>
            <a:r>
              <a:rPr lang="en-US" sz="2400" dirty="0" err="1">
                <a:latin typeface="Lucida Sans Typewriter" charset="0"/>
              </a:rPr>
              <a:t>x,y</a:t>
            </a:r>
            <a:r>
              <a:rPr lang="en-US" sz="2400" dirty="0">
                <a:latin typeface="Lucida Sans Typewriter" charset="0"/>
              </a:rPr>
              <a:t>) | y </a:t>
            </a:r>
            <a:r>
              <a:rPr lang="en-US" sz="2400" dirty="0">
                <a:latin typeface="Lucida Sans Typewriter" charset="0"/>
                <a:sym typeface="Symbol" charset="0"/>
              </a:rPr>
              <a:t></a:t>
            </a:r>
            <a:r>
              <a:rPr lang="en-US" sz="2400" dirty="0">
                <a:latin typeface="Lucida Sans Typewriter" charset="0"/>
              </a:rPr>
              <a:t> [4,5], x </a:t>
            </a:r>
            <a:r>
              <a:rPr lang="en-US" sz="2400" dirty="0">
                <a:latin typeface="Lucida Sans Typewriter" charset="0"/>
                <a:sym typeface="Symbol" charset="0"/>
              </a:rPr>
              <a:t></a:t>
            </a:r>
            <a:r>
              <a:rPr lang="en-US" sz="2400" dirty="0">
                <a:latin typeface="Lucida Sans Typewriter" charset="0"/>
              </a:rPr>
              <a:t> [1,2,3]]</a:t>
            </a:r>
          </a:p>
          <a:p>
            <a:endParaRPr lang="en-US" sz="2400" dirty="0">
              <a:latin typeface="Lucida Sans Typewriter" charset="0"/>
            </a:endParaRPr>
          </a:p>
          <a:p>
            <a:r>
              <a:rPr lang="en-US" sz="2400" dirty="0">
                <a:latin typeface="Lucida Sans Typewriter" charset="0"/>
              </a:rPr>
              <a:t>[(1,4),(2,4),(3,4),(1,5),(2,5),(3,5)]</a:t>
            </a:r>
          </a:p>
        </p:txBody>
      </p:sp>
      <p:sp>
        <p:nvSpPr>
          <p:cNvPr id="20483" name="Rectangle 13"/>
          <p:cNvSpPr>
            <a:spLocks noChangeArrowheads="1"/>
          </p:cNvSpPr>
          <p:nvPr/>
        </p:nvSpPr>
        <p:spPr bwMode="auto">
          <a:xfrm>
            <a:off x="0" y="2113698"/>
            <a:ext cx="2844800" cy="598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sz="2800" dirty="0"/>
              <a:t>For example:</a:t>
            </a:r>
          </a:p>
        </p:txBody>
      </p:sp>
      <p:sp>
        <p:nvSpPr>
          <p:cNvPr id="20484" name="AutoShape 44"/>
          <p:cNvSpPr>
            <a:spLocks noChangeArrowheads="1"/>
          </p:cNvSpPr>
          <p:nvPr/>
        </p:nvSpPr>
        <p:spPr bwMode="auto">
          <a:xfrm>
            <a:off x="3060700" y="4697770"/>
            <a:ext cx="6426200" cy="1328023"/>
          </a:xfrm>
          <a:prstGeom prst="wedgeRoundRectCallout">
            <a:avLst>
              <a:gd name="adj1" fmla="val -21986"/>
              <a:gd name="adj2" fmla="val -40181"/>
              <a:gd name="adj3" fmla="val 16667"/>
            </a:avLst>
          </a:prstGeom>
          <a:solidFill>
            <a:schemeClr val="accent4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pPr algn="ctr"/>
            <a:r>
              <a:rPr lang="en-US" sz="2400" dirty="0"/>
              <a:t>x </a:t>
            </a:r>
            <a:r>
              <a:rPr lang="en-US" sz="2400" dirty="0">
                <a:sym typeface="Symbol" charset="0"/>
              </a:rPr>
              <a:t></a:t>
            </a:r>
            <a:r>
              <a:rPr lang="en-US" sz="2400" dirty="0"/>
              <a:t> [1,2,3] is the last generator, so the value of the x component of each pair changes most frequently.</a:t>
            </a:r>
          </a:p>
        </p:txBody>
      </p:sp>
      <p:sp>
        <p:nvSpPr>
          <p:cNvPr id="20485" name="Line 65"/>
          <p:cNvSpPr>
            <a:spLocks noChangeShapeType="1"/>
          </p:cNvSpPr>
          <p:nvPr/>
        </p:nvSpPr>
        <p:spPr bwMode="auto">
          <a:xfrm flipV="1">
            <a:off x="3292475" y="3079750"/>
            <a:ext cx="0" cy="495300"/>
          </a:xfrm>
          <a:prstGeom prst="line">
            <a:avLst/>
          </a:prstGeom>
          <a:noFill/>
          <a:ln w="12700" cap="sq">
            <a:solidFill>
              <a:schemeClr val="accent4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20486" name="Line 66"/>
          <p:cNvSpPr>
            <a:spLocks noChangeShapeType="1"/>
          </p:cNvSpPr>
          <p:nvPr/>
        </p:nvSpPr>
        <p:spPr bwMode="auto">
          <a:xfrm flipV="1">
            <a:off x="4384675" y="3079750"/>
            <a:ext cx="0" cy="495300"/>
          </a:xfrm>
          <a:prstGeom prst="line">
            <a:avLst/>
          </a:prstGeom>
          <a:noFill/>
          <a:ln w="12700" cap="sq">
            <a:solidFill>
              <a:schemeClr val="accent4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20487" name="Line 67"/>
          <p:cNvSpPr>
            <a:spLocks noChangeShapeType="1"/>
          </p:cNvSpPr>
          <p:nvPr/>
        </p:nvSpPr>
        <p:spPr bwMode="auto">
          <a:xfrm flipV="1">
            <a:off x="5489575" y="3079750"/>
            <a:ext cx="0" cy="495300"/>
          </a:xfrm>
          <a:prstGeom prst="line">
            <a:avLst/>
          </a:prstGeom>
          <a:noFill/>
          <a:ln w="12700" cap="sq">
            <a:solidFill>
              <a:schemeClr val="accent4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20488" name="Line 68"/>
          <p:cNvSpPr>
            <a:spLocks noChangeShapeType="1"/>
          </p:cNvSpPr>
          <p:nvPr/>
        </p:nvSpPr>
        <p:spPr bwMode="auto">
          <a:xfrm flipV="1">
            <a:off x="6619875" y="3079750"/>
            <a:ext cx="0" cy="495300"/>
          </a:xfrm>
          <a:prstGeom prst="line">
            <a:avLst/>
          </a:prstGeom>
          <a:noFill/>
          <a:ln w="12700" cap="sq">
            <a:solidFill>
              <a:schemeClr val="accent4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20489" name="Line 69"/>
          <p:cNvSpPr>
            <a:spLocks noChangeShapeType="1"/>
          </p:cNvSpPr>
          <p:nvPr/>
        </p:nvSpPr>
        <p:spPr bwMode="auto">
          <a:xfrm flipV="1">
            <a:off x="7699375" y="3079750"/>
            <a:ext cx="0" cy="495300"/>
          </a:xfrm>
          <a:prstGeom prst="line">
            <a:avLst/>
          </a:prstGeom>
          <a:noFill/>
          <a:ln w="12700" cap="sq">
            <a:solidFill>
              <a:schemeClr val="accent4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20490" name="Line 70"/>
          <p:cNvSpPr>
            <a:spLocks noChangeShapeType="1"/>
          </p:cNvSpPr>
          <p:nvPr/>
        </p:nvSpPr>
        <p:spPr bwMode="auto">
          <a:xfrm flipV="1">
            <a:off x="8805863" y="3079750"/>
            <a:ext cx="0" cy="495300"/>
          </a:xfrm>
          <a:prstGeom prst="line">
            <a:avLst/>
          </a:prstGeom>
          <a:noFill/>
          <a:ln w="12700" cap="sq">
            <a:solidFill>
              <a:schemeClr val="accent4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20491" name="Line 71"/>
          <p:cNvSpPr>
            <a:spLocks noChangeShapeType="1"/>
          </p:cNvSpPr>
          <p:nvPr/>
        </p:nvSpPr>
        <p:spPr bwMode="auto">
          <a:xfrm flipH="1" flipV="1">
            <a:off x="3292475" y="3575051"/>
            <a:ext cx="2846388" cy="1039813"/>
          </a:xfrm>
          <a:prstGeom prst="line">
            <a:avLst/>
          </a:prstGeom>
          <a:noFill/>
          <a:ln w="12700" cap="sq">
            <a:solidFill>
              <a:schemeClr val="accent4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20492" name="Line 72"/>
          <p:cNvSpPr>
            <a:spLocks noChangeShapeType="1"/>
          </p:cNvSpPr>
          <p:nvPr/>
        </p:nvSpPr>
        <p:spPr bwMode="auto">
          <a:xfrm>
            <a:off x="4381501" y="3575051"/>
            <a:ext cx="1744663" cy="1039813"/>
          </a:xfrm>
          <a:prstGeom prst="line">
            <a:avLst/>
          </a:prstGeom>
          <a:noFill/>
          <a:ln w="12700" cap="sq">
            <a:solidFill>
              <a:schemeClr val="accent4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20493" name="Line 73"/>
          <p:cNvSpPr>
            <a:spLocks noChangeShapeType="1"/>
          </p:cNvSpPr>
          <p:nvPr/>
        </p:nvSpPr>
        <p:spPr bwMode="auto">
          <a:xfrm>
            <a:off x="5494339" y="3587751"/>
            <a:ext cx="631825" cy="1027113"/>
          </a:xfrm>
          <a:prstGeom prst="line">
            <a:avLst/>
          </a:prstGeom>
          <a:noFill/>
          <a:ln w="12700" cap="sq">
            <a:solidFill>
              <a:schemeClr val="accent4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 dirty="0"/>
          </a:p>
        </p:txBody>
      </p:sp>
      <p:sp>
        <p:nvSpPr>
          <p:cNvPr id="20494" name="Line 74"/>
          <p:cNvSpPr>
            <a:spLocks noChangeShapeType="1"/>
          </p:cNvSpPr>
          <p:nvPr/>
        </p:nvSpPr>
        <p:spPr bwMode="auto">
          <a:xfrm flipH="1">
            <a:off x="6126163" y="3575051"/>
            <a:ext cx="495300" cy="1039813"/>
          </a:xfrm>
          <a:prstGeom prst="line">
            <a:avLst/>
          </a:prstGeom>
          <a:noFill/>
          <a:ln w="12700" cap="sq">
            <a:solidFill>
              <a:schemeClr val="accent4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20495" name="Line 75"/>
          <p:cNvSpPr>
            <a:spLocks noChangeShapeType="1"/>
          </p:cNvSpPr>
          <p:nvPr/>
        </p:nvSpPr>
        <p:spPr bwMode="auto">
          <a:xfrm flipV="1">
            <a:off x="6126164" y="3575051"/>
            <a:ext cx="1570037" cy="1039813"/>
          </a:xfrm>
          <a:prstGeom prst="line">
            <a:avLst/>
          </a:prstGeom>
          <a:noFill/>
          <a:ln w="12700" cap="sq">
            <a:solidFill>
              <a:schemeClr val="accent4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20496" name="Line 76"/>
          <p:cNvSpPr>
            <a:spLocks noChangeShapeType="1"/>
          </p:cNvSpPr>
          <p:nvPr/>
        </p:nvSpPr>
        <p:spPr bwMode="auto">
          <a:xfrm flipV="1">
            <a:off x="6126163" y="3587751"/>
            <a:ext cx="2684462" cy="1027113"/>
          </a:xfrm>
          <a:prstGeom prst="line">
            <a:avLst/>
          </a:prstGeom>
          <a:noFill/>
          <a:ln w="12700" cap="sq">
            <a:solidFill>
              <a:schemeClr val="accent4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>
            <a:spAutoFit/>
          </a:bodyPr>
          <a:lstStyle/>
          <a:p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04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04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04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04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04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04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04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04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04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04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204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204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04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204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04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204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204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204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204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204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204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204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204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204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204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04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204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04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482" grpId="0" animBg="1"/>
      <p:bldP spid="20484" grpId="0" animBg="1"/>
      <p:bldP spid="20485" grpId="0" animBg="1"/>
      <p:bldP spid="20486" grpId="0" animBg="1"/>
      <p:bldP spid="20487" grpId="0" animBg="1"/>
      <p:bldP spid="20488" grpId="0" animBg="1"/>
      <p:bldP spid="20489" grpId="0" animBg="1"/>
      <p:bldP spid="20490" grpId="0" animBg="1"/>
      <p:bldP spid="20491" grpId="0" animBg="1"/>
      <p:bldP spid="20492" grpId="0" animBg="1"/>
      <p:bldP spid="20493" grpId="0" animBg="1"/>
      <p:bldP spid="20494" grpId="0" animBg="1"/>
      <p:bldP spid="20495" grpId="0" animBg="1"/>
      <p:bldP spid="2049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>
          <a:xfrm>
            <a:off x="2795725" y="753228"/>
            <a:ext cx="4642306" cy="1080938"/>
          </a:xfrm>
        </p:spPr>
        <p:txBody>
          <a:bodyPr>
            <a:normAutofit/>
          </a:bodyPr>
          <a:lstStyle/>
          <a:p>
            <a:pPr algn="ctr"/>
            <a:r>
              <a:rPr lang="en-US" sz="3200" dirty="0" err="1">
                <a:ea typeface="ＭＳ Ｐゴシック" charset="0"/>
                <a:cs typeface="ＭＳ Ｐゴシック" charset="0"/>
              </a:rPr>
              <a:t>Dependant</a:t>
            </a:r>
            <a:r>
              <a:rPr lang="en-US" sz="3200" dirty="0">
                <a:ea typeface="ＭＳ Ｐゴシック" charset="0"/>
                <a:cs typeface="ＭＳ Ｐゴシック" charset="0"/>
              </a:rPr>
              <a:t> Generators</a:t>
            </a:r>
          </a:p>
        </p:txBody>
      </p:sp>
      <p:sp>
        <p:nvSpPr>
          <p:cNvPr id="21505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D6998535-2959-8D44-855C-3289E6072AA7}" type="slidenum">
              <a:rPr lang="en-US" sz="1400"/>
              <a:pPr/>
              <a:t>6</a:t>
            </a:fld>
            <a:endParaRPr lang="en-US" sz="1400"/>
          </a:p>
        </p:txBody>
      </p:sp>
      <p:sp>
        <p:nvSpPr>
          <p:cNvPr id="21507" name="Text Box 3"/>
          <p:cNvSpPr txBox="1">
            <a:spLocks noChangeArrowheads="1"/>
          </p:cNvSpPr>
          <p:nvPr/>
        </p:nvSpPr>
        <p:spPr bwMode="auto">
          <a:xfrm>
            <a:off x="1716089" y="1994100"/>
            <a:ext cx="8099425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Later generators can </a:t>
            </a:r>
            <a:r>
              <a:rPr lang="en-US" u="sng" dirty="0"/>
              <a:t>depend</a:t>
            </a:r>
            <a:r>
              <a:rPr lang="en-US" dirty="0"/>
              <a:t> on the variables that are introduced by earlier generators.</a:t>
            </a:r>
          </a:p>
        </p:txBody>
      </p:sp>
      <p:sp>
        <p:nvSpPr>
          <p:cNvPr id="21508" name="Text Box 4"/>
          <p:cNvSpPr txBox="1">
            <a:spLocks noChangeArrowheads="1"/>
          </p:cNvSpPr>
          <p:nvPr/>
        </p:nvSpPr>
        <p:spPr bwMode="auto">
          <a:xfrm>
            <a:off x="3024189" y="3358274"/>
            <a:ext cx="6369051" cy="463717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[(</a:t>
            </a:r>
            <a:r>
              <a:rPr lang="en-US" sz="2400" dirty="0" err="1">
                <a:latin typeface="Lucida Sans Typewriter" charset="0"/>
              </a:rPr>
              <a:t>x,y</a:t>
            </a:r>
            <a:r>
              <a:rPr lang="en-US" sz="2400" dirty="0">
                <a:latin typeface="Lucida Sans Typewriter" charset="0"/>
              </a:rPr>
              <a:t>) | x </a:t>
            </a:r>
            <a:r>
              <a:rPr lang="en-US" sz="2400" dirty="0">
                <a:latin typeface="Lucida Sans Typewriter" charset="0"/>
                <a:sym typeface="Symbol" charset="0"/>
              </a:rPr>
              <a:t></a:t>
            </a:r>
            <a:r>
              <a:rPr lang="en-US" sz="2400" dirty="0">
                <a:latin typeface="Lucida Sans Typewriter" charset="0"/>
              </a:rPr>
              <a:t> [1..3], y </a:t>
            </a:r>
            <a:r>
              <a:rPr lang="en-US" sz="2400" dirty="0">
                <a:latin typeface="Lucida Sans Typewriter" charset="0"/>
                <a:sym typeface="Symbol" charset="0"/>
              </a:rPr>
              <a:t></a:t>
            </a:r>
            <a:r>
              <a:rPr lang="en-US" sz="2400" dirty="0">
                <a:latin typeface="Lucida Sans Typewriter" charset="0"/>
              </a:rPr>
              <a:t> [x..3]]</a:t>
            </a:r>
          </a:p>
        </p:txBody>
      </p:sp>
      <p:sp>
        <p:nvSpPr>
          <p:cNvPr id="21509" name="AutoShape 5"/>
          <p:cNvSpPr>
            <a:spLocks noChangeArrowheads="1"/>
          </p:cNvSpPr>
          <p:nvPr/>
        </p:nvSpPr>
        <p:spPr bwMode="auto">
          <a:xfrm>
            <a:off x="2298701" y="4409610"/>
            <a:ext cx="7516813" cy="2009061"/>
          </a:xfrm>
          <a:prstGeom prst="wedgeRoundRectCallout">
            <a:avLst>
              <a:gd name="adj1" fmla="val -21632"/>
              <a:gd name="adj2" fmla="val -75521"/>
              <a:gd name="adj3" fmla="val 16667"/>
            </a:avLst>
          </a:prstGeom>
          <a:solidFill>
            <a:schemeClr val="accent4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pPr algn="ctr"/>
            <a:r>
              <a:rPr lang="en-US" sz="2800" dirty="0"/>
              <a:t>The list [(1,1),(1,2),(1,3),(2,2),(2,3),(3,3)]</a:t>
            </a:r>
          </a:p>
          <a:p>
            <a:pPr algn="ctr"/>
            <a:r>
              <a:rPr lang="en-US" sz="2800" dirty="0"/>
              <a:t>of all pairs of numbers (</a:t>
            </a:r>
            <a:r>
              <a:rPr lang="en-US" sz="2800" dirty="0" err="1"/>
              <a:t>x,y</a:t>
            </a:r>
            <a:r>
              <a:rPr lang="en-US" sz="2800" dirty="0"/>
              <a:t>) such that </a:t>
            </a:r>
          </a:p>
          <a:p>
            <a:pPr algn="ctr"/>
            <a:r>
              <a:rPr lang="en-US" sz="2800" dirty="0"/>
              <a:t>(</a:t>
            </a:r>
            <a:r>
              <a:rPr lang="en-US" sz="2800" dirty="0" err="1"/>
              <a:t>x,y</a:t>
            </a:r>
            <a:r>
              <a:rPr lang="en-US" sz="2800" dirty="0"/>
              <a:t>)</a:t>
            </a:r>
          </a:p>
          <a:p>
            <a:pPr algn="ctr"/>
            <a:r>
              <a:rPr lang="en-US" sz="2800" dirty="0"/>
              <a:t> are elements of the list [1..3] and y </a:t>
            </a:r>
            <a:r>
              <a:rPr lang="en-US" sz="2800" dirty="0">
                <a:sym typeface="Symbol" charset="0"/>
              </a:rPr>
              <a:t></a:t>
            </a:r>
            <a:r>
              <a:rPr lang="en-US" sz="2800" dirty="0"/>
              <a:t> x.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150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150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150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150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508" grpId="0" animBg="1"/>
      <p:bldP spid="2150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C9557355-0C94-1544-BE4A-0F3FFA21DC25}" type="slidenum">
              <a:rPr lang="en-US" sz="1400"/>
              <a:pPr/>
              <a:t>7</a:t>
            </a:fld>
            <a:endParaRPr lang="en-US" sz="1400"/>
          </a:p>
        </p:txBody>
      </p:sp>
      <p:sp>
        <p:nvSpPr>
          <p:cNvPr id="22530" name="Text Box 3"/>
          <p:cNvSpPr txBox="1">
            <a:spLocks noChangeArrowheads="1"/>
          </p:cNvSpPr>
          <p:nvPr/>
        </p:nvSpPr>
        <p:spPr bwMode="auto">
          <a:xfrm>
            <a:off x="1000126" y="753228"/>
            <a:ext cx="8099425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Using a </a:t>
            </a:r>
            <a:r>
              <a:rPr lang="en-US" dirty="0" err="1"/>
              <a:t>dependant</a:t>
            </a:r>
            <a:r>
              <a:rPr lang="en-US" dirty="0"/>
              <a:t> generator we can define the library function that </a:t>
            </a:r>
            <a:r>
              <a:rPr lang="en-US" u="sng" dirty="0"/>
              <a:t>concatenates</a:t>
            </a:r>
            <a:r>
              <a:rPr lang="en-US" dirty="0"/>
              <a:t> a list of lists:</a:t>
            </a:r>
          </a:p>
        </p:txBody>
      </p:sp>
      <p:sp>
        <p:nvSpPr>
          <p:cNvPr id="22531" name="Text Box 4"/>
          <p:cNvSpPr txBox="1">
            <a:spLocks noChangeArrowheads="1"/>
          </p:cNvSpPr>
          <p:nvPr/>
        </p:nvSpPr>
        <p:spPr bwMode="auto">
          <a:xfrm>
            <a:off x="2198737" y="2743596"/>
            <a:ext cx="5702202" cy="1078052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concat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:: [[a]]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  <a:sym typeface="Symbol" charset="0"/>
              </a:rPr>
              <a:t>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[a]</a:t>
            </a:r>
          </a:p>
          <a:p>
            <a:pPr>
              <a:lnSpc>
                <a:spcPct val="120000"/>
              </a:lnSpc>
            </a:pP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concat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xss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= [x |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xs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  <a:sym typeface="Symbol" charset="0"/>
              </a:rPr>
              <a:t>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xss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x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  <a:sym typeface="Symbol" charset="0"/>
              </a:rPr>
              <a:t>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xs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]</a:t>
            </a:r>
          </a:p>
        </p:txBody>
      </p:sp>
      <p:sp>
        <p:nvSpPr>
          <p:cNvPr id="22532" name="Text Box 7"/>
          <p:cNvSpPr txBox="1">
            <a:spLocks noChangeArrowheads="1"/>
          </p:cNvSpPr>
          <p:nvPr/>
        </p:nvSpPr>
        <p:spPr bwMode="auto">
          <a:xfrm>
            <a:off x="1559683" y="4128250"/>
            <a:ext cx="2381250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For example:</a:t>
            </a:r>
          </a:p>
        </p:txBody>
      </p:sp>
      <p:sp>
        <p:nvSpPr>
          <p:cNvPr id="22533" name="Text Box 8"/>
          <p:cNvSpPr txBox="1">
            <a:spLocks noChangeArrowheads="1"/>
          </p:cNvSpPr>
          <p:nvPr/>
        </p:nvSpPr>
        <p:spPr bwMode="auto">
          <a:xfrm>
            <a:off x="2245102" y="4848843"/>
            <a:ext cx="5609471" cy="156966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&gt; </a:t>
            </a:r>
            <a:r>
              <a:rPr lang="en-US" sz="3200" dirty="0" err="1">
                <a:latin typeface="Arial" panose="020B0604020202020204" pitchFamily="34" charset="0"/>
                <a:cs typeface="Arial" panose="020B0604020202020204" pitchFamily="34" charset="0"/>
              </a:rPr>
              <a:t>concat</a:t>
            </a: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[ [1,2,3], [4,5], [6] ]</a:t>
            </a:r>
          </a:p>
          <a:p>
            <a:endParaRPr 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 [1,2,3,4,5,6]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25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25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25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25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25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25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531" grpId="0" animBg="1"/>
      <p:bldP spid="22532" grpId="0"/>
      <p:bldP spid="2253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>
          <a:xfrm>
            <a:off x="4694413" y="781365"/>
            <a:ext cx="1667094" cy="1080938"/>
          </a:xfrm>
        </p:spPr>
        <p:txBody>
          <a:bodyPr>
            <a:normAutofit/>
          </a:bodyPr>
          <a:lstStyle/>
          <a:p>
            <a:r>
              <a:rPr lang="en-US" sz="3200" dirty="0">
                <a:latin typeface="+mn-lt"/>
                <a:ea typeface="ＭＳ Ｐゴシック" charset="0"/>
                <a:cs typeface="ＭＳ Ｐゴシック" charset="0"/>
              </a:rPr>
              <a:t>Guards</a:t>
            </a:r>
          </a:p>
        </p:txBody>
      </p:sp>
      <p:sp>
        <p:nvSpPr>
          <p:cNvPr id="23553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8B8429BB-C141-CC4E-AF2C-1B777CB4FE98}" type="slidenum">
              <a:rPr lang="en-US" sz="1400"/>
              <a:pPr/>
              <a:t>8</a:t>
            </a:fld>
            <a:endParaRPr lang="en-US" sz="1400"/>
          </a:p>
        </p:txBody>
      </p:sp>
      <p:sp>
        <p:nvSpPr>
          <p:cNvPr id="23555" name="Text Box 3"/>
          <p:cNvSpPr txBox="1">
            <a:spLocks noChangeArrowheads="1"/>
          </p:cNvSpPr>
          <p:nvPr/>
        </p:nvSpPr>
        <p:spPr bwMode="auto">
          <a:xfrm>
            <a:off x="1565418" y="2134257"/>
            <a:ext cx="8208963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List comprehensions can use </a:t>
            </a:r>
            <a:r>
              <a:rPr lang="en-US" u="sng" dirty="0"/>
              <a:t>guards</a:t>
            </a:r>
            <a:r>
              <a:rPr lang="en-US" dirty="0"/>
              <a:t> to restrict the values produced by earlier generators.</a:t>
            </a:r>
          </a:p>
        </p:txBody>
      </p:sp>
      <p:sp>
        <p:nvSpPr>
          <p:cNvPr id="23556" name="Text Box 4"/>
          <p:cNvSpPr txBox="1">
            <a:spLocks noChangeArrowheads="1"/>
          </p:cNvSpPr>
          <p:nvPr/>
        </p:nvSpPr>
        <p:spPr bwMode="auto">
          <a:xfrm>
            <a:off x="3052763" y="3316829"/>
            <a:ext cx="4363695" cy="591059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[x | x </a:t>
            </a: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  <a:sym typeface="Symbol" charset="0"/>
              </a:rPr>
              <a:t></a:t>
            </a: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[1..10], even x]</a:t>
            </a:r>
          </a:p>
        </p:txBody>
      </p:sp>
      <p:sp>
        <p:nvSpPr>
          <p:cNvPr id="23557" name="AutoShape 5"/>
          <p:cNvSpPr>
            <a:spLocks noChangeArrowheads="1"/>
          </p:cNvSpPr>
          <p:nvPr/>
        </p:nvSpPr>
        <p:spPr bwMode="auto">
          <a:xfrm>
            <a:off x="2133814" y="4676909"/>
            <a:ext cx="7072169" cy="1532334"/>
          </a:xfrm>
          <a:prstGeom prst="wedgeRoundRectCallout">
            <a:avLst>
              <a:gd name="adj1" fmla="val -21969"/>
              <a:gd name="adj2" fmla="val -101333"/>
              <a:gd name="adj3" fmla="val 16667"/>
            </a:avLst>
          </a:prstGeom>
          <a:solidFill>
            <a:schemeClr val="accent4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/>
          <a:p>
            <a:pPr algn="ctr"/>
            <a:r>
              <a:rPr lang="en-US" sz="2800" dirty="0"/>
              <a:t>The list [2,4,6,8,10] of all numbers x such that x is an element of the list [1..10] and x is even.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35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35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35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35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556" grpId="0" animBg="1"/>
      <p:bldP spid="2355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7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508FD34C-E4B7-6F48-B7EA-2EA7458A9341}" type="slidenum">
              <a:rPr lang="en-US" sz="1400"/>
              <a:pPr/>
              <a:t>9</a:t>
            </a:fld>
            <a:endParaRPr lang="en-US" sz="1400"/>
          </a:p>
        </p:txBody>
      </p:sp>
      <p:sp>
        <p:nvSpPr>
          <p:cNvPr id="24578" name="Text Box 4"/>
          <p:cNvSpPr txBox="1">
            <a:spLocks noChangeArrowheads="1"/>
          </p:cNvSpPr>
          <p:nvPr/>
        </p:nvSpPr>
        <p:spPr bwMode="auto">
          <a:xfrm>
            <a:off x="2667000" y="2261316"/>
            <a:ext cx="5221301" cy="1476623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factors :: Int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  <a:sym typeface="Symbol" charset="0"/>
              </a:rPr>
              <a:t>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[Int]</a:t>
            </a:r>
          </a:p>
          <a:p>
            <a:pPr>
              <a:lnSpc>
                <a:spcPct val="110000"/>
              </a:lnSpc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factors n =</a:t>
            </a:r>
          </a:p>
          <a:p>
            <a:pPr>
              <a:lnSpc>
                <a:spcPct val="110000"/>
              </a:lnSpc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  [x | x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  <a:sym typeface="Symbol" charset="0"/>
              </a:rPr>
              <a:t>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[1..n], n `mod` x == 0]</a:t>
            </a:r>
          </a:p>
        </p:txBody>
      </p:sp>
      <p:sp>
        <p:nvSpPr>
          <p:cNvPr id="24579" name="Text Box 7"/>
          <p:cNvSpPr txBox="1">
            <a:spLocks noChangeArrowheads="1"/>
          </p:cNvSpPr>
          <p:nvPr/>
        </p:nvSpPr>
        <p:spPr bwMode="auto">
          <a:xfrm>
            <a:off x="1935163" y="581025"/>
            <a:ext cx="8208962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/>
              <a:t>Using a guard we can define a function that maps a positive integer to its list of </a:t>
            </a:r>
            <a:r>
              <a:rPr lang="en-US" u="sng"/>
              <a:t>factors</a:t>
            </a:r>
            <a:r>
              <a:rPr lang="en-US"/>
              <a:t>:</a:t>
            </a:r>
          </a:p>
        </p:txBody>
      </p:sp>
      <p:sp>
        <p:nvSpPr>
          <p:cNvPr id="24580" name="Text Box 8"/>
          <p:cNvSpPr txBox="1">
            <a:spLocks noChangeArrowheads="1"/>
          </p:cNvSpPr>
          <p:nvPr/>
        </p:nvSpPr>
        <p:spPr bwMode="auto">
          <a:xfrm>
            <a:off x="1935163" y="3927476"/>
            <a:ext cx="2381250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For example:</a:t>
            </a:r>
          </a:p>
        </p:txBody>
      </p:sp>
      <p:sp>
        <p:nvSpPr>
          <p:cNvPr id="24581" name="Text Box 9"/>
          <p:cNvSpPr txBox="1">
            <a:spLocks noChangeArrowheads="1"/>
          </p:cNvSpPr>
          <p:nvPr/>
        </p:nvSpPr>
        <p:spPr bwMode="auto">
          <a:xfrm>
            <a:off x="3062976" y="4845578"/>
            <a:ext cx="3433358" cy="1384995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&gt; factors 15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[1,3,5,15]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45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45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45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45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580" grpId="0"/>
      <p:bldP spid="2458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AAABD6-CF8E-B4F5-FD32-841C1E419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Prime numbers</a:t>
            </a:r>
          </a:p>
        </p:txBody>
      </p:sp>
      <p:sp>
        <p:nvSpPr>
          <p:cNvPr id="26625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3ACFBAA4-6E66-4C44-8D9B-1CF8F307E853}" type="slidenum">
              <a:rPr lang="en-US" sz="1400"/>
              <a:pPr/>
              <a:t>10</a:t>
            </a:fld>
            <a:endParaRPr lang="en-US" sz="1400"/>
          </a:p>
        </p:txBody>
      </p:sp>
      <p:sp>
        <p:nvSpPr>
          <p:cNvPr id="26626" name="Text Box 2"/>
          <p:cNvSpPr txBox="1">
            <a:spLocks noChangeArrowheads="1"/>
          </p:cNvSpPr>
          <p:nvPr/>
        </p:nvSpPr>
        <p:spPr bwMode="auto">
          <a:xfrm>
            <a:off x="768350" y="2138393"/>
            <a:ext cx="8286750" cy="20621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3200" dirty="0"/>
              <a:t>A positive integer is </a:t>
            </a:r>
            <a:r>
              <a:rPr lang="en-US" sz="3200" u="sng" dirty="0"/>
              <a:t>prime</a:t>
            </a:r>
            <a:r>
              <a:rPr lang="en-US" sz="3200" dirty="0"/>
              <a:t> if its only factors are 1 and itself.  Hence, using factors we can define a function that decides if a number is prime:</a:t>
            </a:r>
          </a:p>
        </p:txBody>
      </p:sp>
      <p:sp>
        <p:nvSpPr>
          <p:cNvPr id="26627" name="Text Box 3"/>
          <p:cNvSpPr txBox="1">
            <a:spLocks noChangeArrowheads="1"/>
          </p:cNvSpPr>
          <p:nvPr/>
        </p:nvSpPr>
        <p:spPr bwMode="auto">
          <a:xfrm>
            <a:off x="121597" y="4504723"/>
            <a:ext cx="7548444" cy="1215589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3200" dirty="0">
                <a:latin typeface="Lucida Sans Typewriter" panose="020B0509030504030204" pitchFamily="49" charset="77"/>
                <a:cs typeface="Arial" panose="020B0604020202020204" pitchFamily="34" charset="0"/>
              </a:rPr>
              <a:t>prime :: Int </a:t>
            </a:r>
            <a:r>
              <a:rPr lang="en-US" sz="3200" dirty="0">
                <a:latin typeface="Lucida Sans Typewriter" panose="020B0509030504030204" pitchFamily="49" charset="77"/>
                <a:cs typeface="Arial" panose="020B0604020202020204" pitchFamily="34" charset="0"/>
                <a:sym typeface="Symbol" charset="0"/>
              </a:rPr>
              <a:t></a:t>
            </a:r>
            <a:r>
              <a:rPr lang="en-US" sz="3200" dirty="0">
                <a:latin typeface="Lucida Sans Typewriter" panose="020B0509030504030204" pitchFamily="49" charset="77"/>
                <a:cs typeface="Arial" panose="020B0604020202020204" pitchFamily="34" charset="0"/>
              </a:rPr>
              <a:t> Bool</a:t>
            </a:r>
          </a:p>
          <a:p>
            <a:pPr>
              <a:lnSpc>
                <a:spcPct val="120000"/>
              </a:lnSpc>
            </a:pPr>
            <a:r>
              <a:rPr lang="en-US" sz="3200" dirty="0">
                <a:latin typeface="Lucida Sans Typewriter" panose="020B0509030504030204" pitchFamily="49" charset="77"/>
                <a:cs typeface="Arial" panose="020B0604020202020204" pitchFamily="34" charset="0"/>
              </a:rPr>
              <a:t>prime n = factors n == [1,n]</a:t>
            </a:r>
          </a:p>
        </p:txBody>
      </p:sp>
      <p:sp>
        <p:nvSpPr>
          <p:cNvPr id="26628" name="Text Box 4"/>
          <p:cNvSpPr txBox="1">
            <a:spLocks noChangeArrowheads="1"/>
          </p:cNvSpPr>
          <p:nvPr/>
        </p:nvSpPr>
        <p:spPr bwMode="auto">
          <a:xfrm>
            <a:off x="8348207" y="3549380"/>
            <a:ext cx="2381250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For example:</a:t>
            </a:r>
          </a:p>
        </p:txBody>
      </p:sp>
      <p:sp>
        <p:nvSpPr>
          <p:cNvPr id="26629" name="Text Box 5"/>
          <p:cNvSpPr txBox="1">
            <a:spLocks noChangeArrowheads="1"/>
          </p:cNvSpPr>
          <p:nvPr/>
        </p:nvSpPr>
        <p:spPr bwMode="auto">
          <a:xfrm>
            <a:off x="8138616" y="4215354"/>
            <a:ext cx="3931787" cy="2246769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>
                <a:latin typeface="Lucida Sans Typewriter" charset="0"/>
              </a:rPr>
              <a:t>&gt; prime 15</a:t>
            </a:r>
          </a:p>
          <a:p>
            <a:r>
              <a:rPr lang="en-US" dirty="0">
                <a:latin typeface="Lucida Sans Typewriter" charset="0"/>
              </a:rPr>
              <a:t>False</a:t>
            </a:r>
          </a:p>
          <a:p>
            <a:endParaRPr lang="en-US" dirty="0">
              <a:latin typeface="Lucida Sans Typewriter" charset="0"/>
            </a:endParaRPr>
          </a:p>
          <a:p>
            <a:r>
              <a:rPr lang="en-US" dirty="0">
                <a:latin typeface="Lucida Sans Typewriter" charset="0"/>
              </a:rPr>
              <a:t>&gt; prime 7</a:t>
            </a:r>
          </a:p>
          <a:p>
            <a:r>
              <a:rPr lang="en-US" dirty="0">
                <a:latin typeface="Lucida Sans Typewriter" charset="0"/>
              </a:rPr>
              <a:t>True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66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66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66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66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66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66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27" grpId="0" animBg="1"/>
      <p:bldP spid="26628" grpId="0"/>
      <p:bldP spid="2662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AA41634B-C318-8A49-A599-896BE9DA6467}" type="slidenum">
              <a:rPr lang="en-US" sz="1400"/>
              <a:pPr/>
              <a:t>11</a:t>
            </a:fld>
            <a:endParaRPr lang="en-US" sz="1400"/>
          </a:p>
        </p:txBody>
      </p:sp>
      <p:sp>
        <p:nvSpPr>
          <p:cNvPr id="27650" name="Text Box 2"/>
          <p:cNvSpPr txBox="1">
            <a:spLocks noChangeArrowheads="1"/>
          </p:cNvSpPr>
          <p:nvPr/>
        </p:nvSpPr>
        <p:spPr bwMode="auto">
          <a:xfrm>
            <a:off x="1741583" y="2230365"/>
            <a:ext cx="8286750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Using a guard we can now define a function that returns the list of all </a:t>
            </a:r>
            <a:r>
              <a:rPr lang="en-US" u="sng" dirty="0"/>
              <a:t>primes</a:t>
            </a:r>
            <a:r>
              <a:rPr lang="en-US" dirty="0"/>
              <a:t> up to a given limit:</a:t>
            </a:r>
          </a:p>
        </p:txBody>
      </p:sp>
      <p:sp>
        <p:nvSpPr>
          <p:cNvPr id="27651" name="Text Box 3"/>
          <p:cNvSpPr txBox="1">
            <a:spLocks noChangeArrowheads="1"/>
          </p:cNvSpPr>
          <p:nvPr/>
        </p:nvSpPr>
        <p:spPr bwMode="auto">
          <a:xfrm>
            <a:off x="2395632" y="3429000"/>
            <a:ext cx="6978650" cy="96520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primes :: Int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[Int]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primes n = [x | x </a:t>
            </a:r>
            <a:r>
              <a:rPr lang="en-US" sz="2400" dirty="0">
                <a:latin typeface="Lucida Sans Typewriter" charset="0"/>
                <a:sym typeface="Symbol" charset="0"/>
              </a:rPr>
              <a:t></a:t>
            </a:r>
            <a:r>
              <a:rPr lang="en-US" sz="2400" dirty="0">
                <a:latin typeface="Lucida Sans Typewriter" charset="0"/>
              </a:rPr>
              <a:t> [2..n], prime x]</a:t>
            </a:r>
          </a:p>
        </p:txBody>
      </p:sp>
      <p:sp>
        <p:nvSpPr>
          <p:cNvPr id="27652" name="Text Box 4"/>
          <p:cNvSpPr txBox="1">
            <a:spLocks noChangeArrowheads="1"/>
          </p:cNvSpPr>
          <p:nvPr/>
        </p:nvSpPr>
        <p:spPr bwMode="auto">
          <a:xfrm>
            <a:off x="680321" y="4821310"/>
            <a:ext cx="2381250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For example:</a:t>
            </a:r>
          </a:p>
        </p:txBody>
      </p:sp>
      <p:sp>
        <p:nvSpPr>
          <p:cNvPr id="27653" name="Text Box 5"/>
          <p:cNvSpPr txBox="1">
            <a:spLocks noChangeArrowheads="1"/>
          </p:cNvSpPr>
          <p:nvPr/>
        </p:nvSpPr>
        <p:spPr bwMode="auto">
          <a:xfrm>
            <a:off x="2724477" y="5422079"/>
            <a:ext cx="6320961" cy="1200329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2400" dirty="0">
                <a:latin typeface="Lucida Sans Typewriter" charset="0"/>
              </a:rPr>
              <a:t>&gt; primes 40</a:t>
            </a:r>
          </a:p>
          <a:p>
            <a:endParaRPr lang="en-US" sz="2400" dirty="0">
              <a:latin typeface="Lucida Sans Typewriter" charset="0"/>
            </a:endParaRPr>
          </a:p>
          <a:p>
            <a:r>
              <a:rPr lang="en-US" sz="2400" dirty="0">
                <a:latin typeface="Lucida Sans Typewriter" charset="0"/>
              </a:rPr>
              <a:t>[2,3,5,7,11,13,17,19,23,29,31,37]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E22F3C6-730B-571E-2157-5C32E7ED7E8C}"/>
              </a:ext>
            </a:extLst>
          </p:cNvPr>
          <p:cNvSpPr txBox="1">
            <a:spLocks/>
          </p:cNvSpPr>
          <p:nvPr/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7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/>
              <a:t>Prime numbers</a:t>
            </a:r>
            <a:endParaRPr lang="en-US" sz="3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76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76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76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76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76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76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651" grpId="0" animBg="1"/>
      <p:bldP spid="27652" grpId="0"/>
      <p:bldP spid="2765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The Zip Function</a:t>
            </a:r>
          </a:p>
        </p:txBody>
      </p:sp>
      <p:sp>
        <p:nvSpPr>
          <p:cNvPr id="28673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06CF81B6-1099-5F48-96BC-A0C471B360D5}" type="slidenum">
              <a:rPr lang="en-US" sz="1400"/>
              <a:pPr/>
              <a:t>12</a:t>
            </a:fld>
            <a:endParaRPr lang="en-US" sz="1400"/>
          </a:p>
        </p:txBody>
      </p:sp>
      <p:sp>
        <p:nvSpPr>
          <p:cNvPr id="28675" name="Text Box 3"/>
          <p:cNvSpPr txBox="1">
            <a:spLocks noChangeArrowheads="1"/>
          </p:cNvSpPr>
          <p:nvPr/>
        </p:nvSpPr>
        <p:spPr bwMode="auto">
          <a:xfrm>
            <a:off x="1059172" y="2014839"/>
            <a:ext cx="8347075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A useful library function is </a:t>
            </a:r>
            <a:r>
              <a:rPr lang="en-US" u="sng" dirty="0"/>
              <a:t>zip</a:t>
            </a:r>
            <a:r>
              <a:rPr lang="en-US" dirty="0"/>
              <a:t>, which maps two lists to a list of pairs of their corresponding elements.</a:t>
            </a:r>
          </a:p>
        </p:txBody>
      </p:sp>
      <p:sp>
        <p:nvSpPr>
          <p:cNvPr id="28676" name="Text Box 4"/>
          <p:cNvSpPr txBox="1">
            <a:spLocks noChangeArrowheads="1"/>
          </p:cNvSpPr>
          <p:nvPr/>
        </p:nvSpPr>
        <p:spPr bwMode="auto">
          <a:xfrm>
            <a:off x="2630796" y="3371101"/>
            <a:ext cx="5203825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2400" dirty="0">
                <a:latin typeface="Lucida Sans Typewriter" charset="0"/>
              </a:rPr>
              <a:t>zip :: [a]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[b]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[(</a:t>
            </a:r>
            <a:r>
              <a:rPr lang="en-US" sz="2400" dirty="0" err="1">
                <a:latin typeface="Lucida Sans Typewriter" charset="0"/>
              </a:rPr>
              <a:t>a,b</a:t>
            </a:r>
            <a:r>
              <a:rPr lang="en-US" sz="2400" dirty="0">
                <a:latin typeface="Lucida Sans Typewriter" charset="0"/>
              </a:rPr>
              <a:t>)]</a:t>
            </a:r>
          </a:p>
        </p:txBody>
      </p:sp>
      <p:sp>
        <p:nvSpPr>
          <p:cNvPr id="28677" name="Text Box 5"/>
          <p:cNvSpPr txBox="1">
            <a:spLocks noChangeArrowheads="1"/>
          </p:cNvSpPr>
          <p:nvPr/>
        </p:nvSpPr>
        <p:spPr bwMode="auto">
          <a:xfrm>
            <a:off x="1946275" y="4087813"/>
            <a:ext cx="2381250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For example:</a:t>
            </a:r>
          </a:p>
        </p:txBody>
      </p:sp>
      <p:sp>
        <p:nvSpPr>
          <p:cNvPr id="28678" name="Text Box 6"/>
          <p:cNvSpPr txBox="1">
            <a:spLocks noChangeArrowheads="1"/>
          </p:cNvSpPr>
          <p:nvPr/>
        </p:nvSpPr>
        <p:spPr bwMode="auto">
          <a:xfrm>
            <a:off x="2825751" y="5125950"/>
            <a:ext cx="5384807" cy="1200329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2400">
                <a:latin typeface="Lucida Sans Typewriter" charset="0"/>
              </a:rPr>
              <a:t>&gt; zip [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>
                <a:latin typeface="Lucida Sans Typewriter" charset="0"/>
              </a:rPr>
              <a:t>a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>
                <a:latin typeface="Lucida Sans Typewriter" charset="0"/>
              </a:rPr>
              <a:t>,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>
                <a:latin typeface="Lucida Sans Typewriter" charset="0"/>
              </a:rPr>
              <a:t>b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>
                <a:latin typeface="Lucida Sans Typewriter" charset="0"/>
              </a:rPr>
              <a:t>,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>
                <a:latin typeface="Lucida Sans Typewriter" charset="0"/>
              </a:rPr>
              <a:t>c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>
                <a:latin typeface="Lucida Sans Typewriter" charset="0"/>
              </a:rPr>
              <a:t>] [1,2,3,4]</a:t>
            </a:r>
          </a:p>
          <a:p>
            <a:endParaRPr lang="en-US" sz="2400">
              <a:latin typeface="Lucida Sans Typewriter" charset="0"/>
            </a:endParaRPr>
          </a:p>
          <a:p>
            <a:r>
              <a:rPr lang="en-US" sz="2400">
                <a:latin typeface="Lucida Sans Typewriter" charset="0"/>
              </a:rPr>
              <a:t>[(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>
                <a:latin typeface="Lucida Sans Typewriter" charset="0"/>
              </a:rPr>
              <a:t>a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>
                <a:latin typeface="Lucida Sans Typewriter" charset="0"/>
              </a:rPr>
              <a:t>,1),(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>
                <a:latin typeface="Lucida Sans Typewriter" charset="0"/>
              </a:rPr>
              <a:t>b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>
                <a:latin typeface="Lucida Sans Typewriter" charset="0"/>
              </a:rPr>
              <a:t>,2),(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>
                <a:latin typeface="Lucida Sans Typewriter" charset="0"/>
              </a:rPr>
              <a:t>c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>
                <a:latin typeface="Lucida Sans Typewriter" charset="0"/>
              </a:rPr>
              <a:t>,3)]</a:t>
            </a:r>
            <a:endParaRPr lang="en-US" sz="2400">
              <a:latin typeface="Lucida Sans Typewriter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86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86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86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86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86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86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676" grpId="0" animBg="1"/>
      <p:bldP spid="28677" grpId="0"/>
      <p:bldP spid="2867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8061ACC-3EE8-1EA1-3216-88BBF1FBD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 </a:t>
            </a:r>
          </a:p>
        </p:txBody>
      </p:sp>
      <p:sp>
        <p:nvSpPr>
          <p:cNvPr id="29697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37408B8D-25F2-9A40-B601-A9420BB7ADF0}" type="slidenum">
              <a:rPr lang="en-US" sz="1400"/>
              <a:pPr/>
              <a:t>13</a:t>
            </a:fld>
            <a:endParaRPr lang="en-US" sz="1400"/>
          </a:p>
        </p:txBody>
      </p:sp>
      <p:sp>
        <p:nvSpPr>
          <p:cNvPr id="29698" name="Text Box 2"/>
          <p:cNvSpPr txBox="1">
            <a:spLocks noChangeArrowheads="1"/>
          </p:cNvSpPr>
          <p:nvPr/>
        </p:nvSpPr>
        <p:spPr bwMode="auto">
          <a:xfrm>
            <a:off x="974997" y="2093722"/>
            <a:ext cx="8164513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Using zip we can define a function returns the list of all </a:t>
            </a:r>
            <a:r>
              <a:rPr lang="en-US" u="sng" dirty="0"/>
              <a:t>pairs</a:t>
            </a:r>
            <a:r>
              <a:rPr lang="en-US" dirty="0"/>
              <a:t> of adjacent elements from a list:</a:t>
            </a:r>
          </a:p>
        </p:txBody>
      </p:sp>
      <p:sp>
        <p:nvSpPr>
          <p:cNvPr id="29699" name="Text Box 9"/>
          <p:cNvSpPr txBox="1">
            <a:spLocks noChangeArrowheads="1"/>
          </p:cNvSpPr>
          <p:nvPr/>
        </p:nvSpPr>
        <p:spPr bwMode="auto">
          <a:xfrm>
            <a:off x="1884363" y="4764278"/>
            <a:ext cx="8301038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For example:</a:t>
            </a:r>
          </a:p>
        </p:txBody>
      </p:sp>
      <p:sp>
        <p:nvSpPr>
          <p:cNvPr id="29700" name="Text Box 10"/>
          <p:cNvSpPr txBox="1">
            <a:spLocks noChangeArrowheads="1"/>
          </p:cNvSpPr>
          <p:nvPr/>
        </p:nvSpPr>
        <p:spPr bwMode="auto">
          <a:xfrm>
            <a:off x="2479154" y="3574687"/>
            <a:ext cx="5156200" cy="968375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pairs :: [a]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[(</a:t>
            </a:r>
            <a:r>
              <a:rPr lang="en-US" sz="2400" dirty="0" err="1">
                <a:latin typeface="Lucida Sans Typewriter" charset="0"/>
              </a:rPr>
              <a:t>a,a</a:t>
            </a:r>
            <a:r>
              <a:rPr lang="en-US" sz="2400" dirty="0">
                <a:latin typeface="Lucida Sans Typewriter" charset="0"/>
              </a:rPr>
              <a:t>)]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pairs </a:t>
            </a:r>
            <a:r>
              <a:rPr lang="en-US" sz="2400" dirty="0" err="1">
                <a:latin typeface="Lucida Sans Typewriter" charset="0"/>
              </a:rPr>
              <a:t>xs</a:t>
            </a:r>
            <a:r>
              <a:rPr lang="en-US" sz="2400" dirty="0">
                <a:latin typeface="Lucida Sans Typewriter" charset="0"/>
              </a:rPr>
              <a:t> = zip </a:t>
            </a:r>
            <a:r>
              <a:rPr lang="en-US" sz="2400" dirty="0" err="1">
                <a:latin typeface="Lucida Sans Typewriter" charset="0"/>
              </a:rPr>
              <a:t>xs</a:t>
            </a:r>
            <a:r>
              <a:rPr lang="en-US" sz="2400" dirty="0">
                <a:latin typeface="Lucida Sans Typewriter" charset="0"/>
              </a:rPr>
              <a:t> (tail </a:t>
            </a:r>
            <a:r>
              <a:rPr lang="en-US" sz="2400" dirty="0" err="1">
                <a:latin typeface="Lucida Sans Typewriter" charset="0"/>
              </a:rPr>
              <a:t>xs</a:t>
            </a:r>
            <a:r>
              <a:rPr lang="en-US" sz="2400" dirty="0">
                <a:latin typeface="Lucida Sans Typewriter" charset="0"/>
              </a:rPr>
              <a:t>)</a:t>
            </a:r>
          </a:p>
        </p:txBody>
      </p:sp>
      <p:sp>
        <p:nvSpPr>
          <p:cNvPr id="29701" name="Text Box 11"/>
          <p:cNvSpPr txBox="1">
            <a:spLocks noChangeArrowheads="1"/>
          </p:cNvSpPr>
          <p:nvPr/>
        </p:nvSpPr>
        <p:spPr bwMode="auto">
          <a:xfrm>
            <a:off x="2806700" y="5504607"/>
            <a:ext cx="3717684" cy="1200329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2400" dirty="0">
                <a:latin typeface="Lucida Sans Typewriter" charset="0"/>
              </a:rPr>
              <a:t>&gt; pairs [1,2,3,4]</a:t>
            </a:r>
          </a:p>
          <a:p>
            <a:endParaRPr lang="en-US" sz="2400" dirty="0">
              <a:latin typeface="Lucida Sans Typewriter" charset="0"/>
            </a:endParaRPr>
          </a:p>
          <a:p>
            <a:r>
              <a:rPr lang="en-US" sz="2400" dirty="0">
                <a:latin typeface="Lucida Sans Typewriter" charset="0"/>
              </a:rPr>
              <a:t>[(1,2),(2,3),(3,4)]</a:t>
            </a:r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0FF5D632-3E62-E41A-723B-79C53EC65BA5}"/>
              </a:ext>
            </a:extLst>
          </p:cNvPr>
          <p:cNvSpPr txBox="1">
            <a:spLocks noChangeArrowheads="1"/>
          </p:cNvSpPr>
          <p:nvPr/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/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7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The Zip Function</a:t>
            </a:r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2311BC95-8EC1-F0DD-1C08-5AC116F93A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91348" y="4543062"/>
            <a:ext cx="2988106" cy="2009061"/>
          </a:xfrm>
          <a:prstGeom prst="wedgeRoundRectCallout">
            <a:avLst>
              <a:gd name="adj1" fmla="val -121246"/>
              <a:gd name="adj2" fmla="val 3588"/>
              <a:gd name="adj3" fmla="val 16667"/>
            </a:avLst>
          </a:prstGeom>
          <a:solidFill>
            <a:schemeClr val="accent4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/>
          <a:p>
            <a:pPr algn="ctr"/>
            <a:r>
              <a:rPr lang="en-US" sz="2800" dirty="0"/>
              <a:t>This is more useful than it may seem on first reading!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970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97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969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96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970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97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699" grpId="0"/>
      <p:bldP spid="29700" grpId="0" animBg="1"/>
      <p:bldP spid="29701" grpId="0" animBg="1"/>
      <p:bldP spid="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AE461-23FA-6D9C-1818-49651303C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the pairs function</a:t>
            </a:r>
          </a:p>
        </p:txBody>
      </p:sp>
      <p:sp>
        <p:nvSpPr>
          <p:cNvPr id="30721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65F4A813-3B5B-1149-838F-01A1F32E5ED0}" type="slidenum">
              <a:rPr lang="en-US" sz="1400"/>
              <a:pPr/>
              <a:t>14</a:t>
            </a:fld>
            <a:endParaRPr lang="en-US" sz="1400"/>
          </a:p>
        </p:txBody>
      </p:sp>
      <p:sp>
        <p:nvSpPr>
          <p:cNvPr id="30722" name="Text Box 2"/>
          <p:cNvSpPr txBox="1">
            <a:spLocks noChangeArrowheads="1"/>
          </p:cNvSpPr>
          <p:nvPr/>
        </p:nvSpPr>
        <p:spPr bwMode="auto">
          <a:xfrm>
            <a:off x="1122930" y="2109334"/>
            <a:ext cx="8128000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Using pairs we can define a function that decides if the elements in a list are </a:t>
            </a:r>
            <a:r>
              <a:rPr lang="en-US" u="sng" dirty="0"/>
              <a:t>sorted</a:t>
            </a:r>
            <a:r>
              <a:rPr lang="en-US" dirty="0"/>
              <a:t>:</a:t>
            </a:r>
          </a:p>
        </p:txBody>
      </p:sp>
      <p:sp>
        <p:nvSpPr>
          <p:cNvPr id="30723" name="Text Box 3"/>
          <p:cNvSpPr txBox="1">
            <a:spLocks noChangeArrowheads="1"/>
          </p:cNvSpPr>
          <p:nvPr/>
        </p:nvSpPr>
        <p:spPr bwMode="auto">
          <a:xfrm>
            <a:off x="739456" y="4659452"/>
            <a:ext cx="2536007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For example:</a:t>
            </a:r>
          </a:p>
        </p:txBody>
      </p:sp>
      <p:sp>
        <p:nvSpPr>
          <p:cNvPr id="30724" name="Text Box 4"/>
          <p:cNvSpPr txBox="1">
            <a:spLocks noChangeArrowheads="1"/>
          </p:cNvSpPr>
          <p:nvPr/>
        </p:nvSpPr>
        <p:spPr bwMode="auto">
          <a:xfrm>
            <a:off x="2007459" y="3276321"/>
            <a:ext cx="8074025" cy="898525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sorted :: Ord a </a:t>
            </a:r>
            <a:r>
              <a:rPr lang="en-US" sz="2400" dirty="0">
                <a:latin typeface="Lucida Sans Typewriter" charset="0"/>
                <a:sym typeface="Symbol" charset="0"/>
              </a:rPr>
              <a:t></a:t>
            </a:r>
            <a:r>
              <a:rPr lang="en-US" sz="2400" dirty="0">
                <a:latin typeface="Lucida Sans Typewriter" charset="0"/>
              </a:rPr>
              <a:t> [a]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Bool</a:t>
            </a:r>
          </a:p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sorted </a:t>
            </a:r>
            <a:r>
              <a:rPr lang="en-US" sz="2400" dirty="0" err="1">
                <a:latin typeface="Lucida Sans Typewriter" charset="0"/>
              </a:rPr>
              <a:t>xs</a:t>
            </a:r>
            <a:r>
              <a:rPr lang="en-US" sz="2400" dirty="0">
                <a:latin typeface="Lucida Sans Typewriter" charset="0"/>
              </a:rPr>
              <a:t> = and [x </a:t>
            </a:r>
            <a:r>
              <a:rPr lang="en-US" sz="2400" dirty="0">
                <a:latin typeface="Lucida Sans Typewriter" charset="0"/>
                <a:sym typeface="Symbol" charset="0"/>
              </a:rPr>
              <a:t></a:t>
            </a:r>
            <a:r>
              <a:rPr lang="en-US" sz="2400" dirty="0">
                <a:latin typeface="Lucida Sans Typewriter" charset="0"/>
              </a:rPr>
              <a:t> y | (</a:t>
            </a:r>
            <a:r>
              <a:rPr lang="en-US" sz="2400" dirty="0" err="1">
                <a:latin typeface="Lucida Sans Typewriter" charset="0"/>
              </a:rPr>
              <a:t>x,y</a:t>
            </a:r>
            <a:r>
              <a:rPr lang="en-US" sz="2400" dirty="0">
                <a:latin typeface="Lucida Sans Typewriter" charset="0"/>
              </a:rPr>
              <a:t>) </a:t>
            </a:r>
            <a:r>
              <a:rPr lang="en-US" sz="2400" dirty="0">
                <a:latin typeface="Lucida Sans Typewriter" charset="0"/>
                <a:sym typeface="Symbol" charset="0"/>
              </a:rPr>
              <a:t></a:t>
            </a:r>
            <a:r>
              <a:rPr lang="en-US" sz="2400" dirty="0">
                <a:latin typeface="Lucida Sans Typewriter" charset="0"/>
              </a:rPr>
              <a:t> pairs </a:t>
            </a:r>
            <a:r>
              <a:rPr lang="en-US" sz="2400" dirty="0" err="1">
                <a:latin typeface="Lucida Sans Typewriter" charset="0"/>
              </a:rPr>
              <a:t>xs</a:t>
            </a:r>
            <a:r>
              <a:rPr lang="en-US" sz="2400" dirty="0">
                <a:latin typeface="Lucida Sans Typewriter" charset="0"/>
              </a:rPr>
              <a:t>]</a:t>
            </a:r>
          </a:p>
        </p:txBody>
      </p:sp>
      <p:sp>
        <p:nvSpPr>
          <p:cNvPr id="30725" name="Text Box 5"/>
          <p:cNvSpPr txBox="1">
            <a:spLocks noChangeArrowheads="1"/>
          </p:cNvSpPr>
          <p:nvPr/>
        </p:nvSpPr>
        <p:spPr bwMode="auto">
          <a:xfrm>
            <a:off x="4330132" y="4527567"/>
            <a:ext cx="3531736" cy="1938992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2400" dirty="0">
                <a:latin typeface="Lucida Sans Typewriter" charset="0"/>
              </a:rPr>
              <a:t>&gt; sorted [1,2,3,4]</a:t>
            </a:r>
          </a:p>
          <a:p>
            <a:r>
              <a:rPr lang="en-US" sz="2400" dirty="0">
                <a:latin typeface="Lucida Sans Typewriter" charset="0"/>
              </a:rPr>
              <a:t>True</a:t>
            </a:r>
          </a:p>
          <a:p>
            <a:endParaRPr lang="en-US" sz="2400" dirty="0">
              <a:latin typeface="Lucida Sans Typewriter" charset="0"/>
            </a:endParaRPr>
          </a:p>
          <a:p>
            <a:r>
              <a:rPr lang="en-US" sz="2400" dirty="0">
                <a:latin typeface="Lucida Sans Typewriter" charset="0"/>
              </a:rPr>
              <a:t>&gt; sorted [1,3,2,4]</a:t>
            </a:r>
          </a:p>
          <a:p>
            <a:r>
              <a:rPr lang="en-US" sz="2400" dirty="0">
                <a:latin typeface="Lucida Sans Typewriter" charset="0"/>
              </a:rPr>
              <a:t>False</a:t>
            </a:r>
          </a:p>
        </p:txBody>
      </p:sp>
      <p:sp>
        <p:nvSpPr>
          <p:cNvPr id="3" name="AutoShape 5">
            <a:extLst>
              <a:ext uri="{FF2B5EF4-FFF2-40B4-BE49-F238E27FC236}">
                <a16:creationId xmlns:a16="http://schemas.microsoft.com/office/drawing/2014/main" id="{7C1C620A-38D7-417A-0BBE-D141438B32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52978" y="4254169"/>
            <a:ext cx="3652838" cy="2485787"/>
          </a:xfrm>
          <a:prstGeom prst="wedgeRoundRectCallout">
            <a:avLst>
              <a:gd name="adj1" fmla="val -162504"/>
              <a:gd name="adj2" fmla="val -53214"/>
              <a:gd name="adj3" fmla="val 16667"/>
            </a:avLst>
          </a:prstGeom>
          <a:solidFill>
            <a:schemeClr val="accent4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/>
          <a:p>
            <a:pPr algn="ctr"/>
            <a:r>
              <a:rPr lang="en-US" sz="2800" b="1" dirty="0">
                <a:solidFill>
                  <a:srgbClr val="FF0000"/>
                </a:solidFill>
              </a:rPr>
              <a:t>and</a:t>
            </a:r>
            <a:r>
              <a:rPr lang="en-US" sz="2800" dirty="0"/>
              <a:t> takes a list of Booleans and returns true is all elements are true, false otherwise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07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07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07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07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07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07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07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07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22" grpId="0"/>
      <p:bldP spid="30723" grpId="0"/>
      <p:bldP spid="30724" grpId="0" animBg="1"/>
      <p:bldP spid="30725" grpId="0" animBg="1"/>
      <p:bldP spid="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699DC-DD2E-A366-1220-6330C99110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Using zip</a:t>
            </a:r>
          </a:p>
        </p:txBody>
      </p:sp>
      <p:sp>
        <p:nvSpPr>
          <p:cNvPr id="31745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59D3DC69-F4BF-984B-88E4-C7973DBBFD80}" type="slidenum">
              <a:rPr lang="en-US" sz="1400"/>
              <a:pPr/>
              <a:t>15</a:t>
            </a:fld>
            <a:endParaRPr lang="en-US" sz="1400"/>
          </a:p>
        </p:txBody>
      </p:sp>
      <p:sp>
        <p:nvSpPr>
          <p:cNvPr id="31746" name="Text Box 2"/>
          <p:cNvSpPr txBox="1">
            <a:spLocks noChangeArrowheads="1"/>
          </p:cNvSpPr>
          <p:nvPr/>
        </p:nvSpPr>
        <p:spPr bwMode="auto">
          <a:xfrm>
            <a:off x="1648887" y="2022507"/>
            <a:ext cx="8277225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Using zip we can define a function that returns the list of all </a:t>
            </a:r>
            <a:r>
              <a:rPr lang="en-US" u="sng" dirty="0"/>
              <a:t>positions</a:t>
            </a:r>
            <a:r>
              <a:rPr lang="en-US" dirty="0"/>
              <a:t> of a value in a list:</a:t>
            </a:r>
          </a:p>
        </p:txBody>
      </p:sp>
      <p:sp>
        <p:nvSpPr>
          <p:cNvPr id="31747" name="Text Box 3"/>
          <p:cNvSpPr txBox="1">
            <a:spLocks noChangeArrowheads="1"/>
          </p:cNvSpPr>
          <p:nvPr/>
        </p:nvSpPr>
        <p:spPr bwMode="auto">
          <a:xfrm>
            <a:off x="1915061" y="3121865"/>
            <a:ext cx="7535862" cy="156210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  <a:spcAft>
                <a:spcPts val="600"/>
              </a:spcAft>
            </a:pPr>
            <a:r>
              <a:rPr lang="en-US" sz="2400" dirty="0">
                <a:latin typeface="Lucida Sans Typewriter" charset="0"/>
              </a:rPr>
              <a:t>positions :: Eq a </a:t>
            </a:r>
            <a:r>
              <a:rPr lang="en-US" sz="2400" dirty="0">
                <a:latin typeface="Lucida Sans Typewriter" charset="0"/>
                <a:sym typeface="Symbol" charset="0"/>
              </a:rPr>
              <a:t></a:t>
            </a:r>
            <a:r>
              <a:rPr lang="en-US" sz="2400" dirty="0">
                <a:latin typeface="Lucida Sans Typewriter" charset="0"/>
              </a:rPr>
              <a:t> a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[a]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[Int]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lang="en-US" sz="2400" dirty="0">
                <a:latin typeface="Lucida Sans Typewriter" charset="0"/>
              </a:rPr>
              <a:t>positions x </a:t>
            </a:r>
            <a:r>
              <a:rPr lang="en-US" sz="2400" dirty="0" err="1">
                <a:latin typeface="Lucida Sans Typewriter" charset="0"/>
              </a:rPr>
              <a:t>xs</a:t>
            </a:r>
            <a:r>
              <a:rPr lang="en-US" sz="2400" dirty="0">
                <a:latin typeface="Lucida Sans Typewriter" charset="0"/>
              </a:rPr>
              <a:t> =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lang="en-US" sz="2400" dirty="0">
                <a:latin typeface="Lucida Sans Typewriter" charset="0"/>
              </a:rPr>
              <a:t>   [</a:t>
            </a:r>
            <a:r>
              <a:rPr lang="en-US" sz="2400" dirty="0" err="1">
                <a:latin typeface="Lucida Sans Typewriter" charset="0"/>
              </a:rPr>
              <a:t>i</a:t>
            </a:r>
            <a:r>
              <a:rPr lang="en-US" sz="2400" dirty="0">
                <a:latin typeface="Lucida Sans Typewriter" charset="0"/>
              </a:rPr>
              <a:t> | (x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,</a:t>
            </a:r>
            <a:r>
              <a:rPr lang="en-US" altLang="ja-JP" sz="2400" dirty="0" err="1">
                <a:latin typeface="Lucida Sans Typewriter" charset="0"/>
              </a:rPr>
              <a:t>i</a:t>
            </a:r>
            <a:r>
              <a:rPr lang="en-US" altLang="ja-JP" sz="2400" dirty="0">
                <a:latin typeface="Lucida Sans Typewriter" charset="0"/>
              </a:rPr>
              <a:t>) </a:t>
            </a:r>
            <a:r>
              <a:rPr lang="en-US" altLang="ja-JP" sz="2400" dirty="0">
                <a:latin typeface="Lucida Sans Typewriter" charset="0"/>
                <a:sym typeface="Symbol" charset="0"/>
              </a:rPr>
              <a:t></a:t>
            </a:r>
            <a:r>
              <a:rPr lang="en-US" altLang="ja-JP" sz="2400" dirty="0">
                <a:latin typeface="Lucida Sans Typewriter" charset="0"/>
              </a:rPr>
              <a:t> zip </a:t>
            </a:r>
            <a:r>
              <a:rPr lang="en-US" altLang="ja-JP" sz="2400" dirty="0" err="1">
                <a:latin typeface="Lucida Sans Typewriter" charset="0"/>
              </a:rPr>
              <a:t>xs</a:t>
            </a:r>
            <a:r>
              <a:rPr lang="en-US" altLang="ja-JP" sz="2400" dirty="0">
                <a:latin typeface="Lucida Sans Typewriter" charset="0"/>
              </a:rPr>
              <a:t> [0..], x == x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]</a:t>
            </a:r>
            <a:endParaRPr lang="en-US" sz="2400" dirty="0">
              <a:latin typeface="Lucida Sans Typewriter" charset="0"/>
            </a:endParaRPr>
          </a:p>
        </p:txBody>
      </p:sp>
      <p:sp>
        <p:nvSpPr>
          <p:cNvPr id="31748" name="Text Box 4"/>
          <p:cNvSpPr txBox="1">
            <a:spLocks noChangeArrowheads="1"/>
          </p:cNvSpPr>
          <p:nvPr/>
        </p:nvSpPr>
        <p:spPr bwMode="auto">
          <a:xfrm>
            <a:off x="1162787" y="4911946"/>
            <a:ext cx="922238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For example: where does 0 appear in the following list? </a:t>
            </a:r>
          </a:p>
        </p:txBody>
      </p:sp>
      <p:sp>
        <p:nvSpPr>
          <p:cNvPr id="31749" name="Text Box 5"/>
          <p:cNvSpPr txBox="1">
            <a:spLocks noChangeArrowheads="1"/>
          </p:cNvSpPr>
          <p:nvPr/>
        </p:nvSpPr>
        <p:spPr bwMode="auto">
          <a:xfrm>
            <a:off x="2520213" y="5650747"/>
            <a:ext cx="5934075" cy="90805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</a:pPr>
            <a:r>
              <a:rPr lang="en-US" sz="2400" dirty="0">
                <a:latin typeface="Lucida Sans Typewriter" charset="0"/>
              </a:rPr>
              <a:t>&gt; positions 0 [1,0,0,1,0,1,1,0]</a:t>
            </a:r>
          </a:p>
          <a:p>
            <a:pPr>
              <a:spcAft>
                <a:spcPts val="600"/>
              </a:spcAft>
            </a:pPr>
            <a:r>
              <a:rPr lang="en-US" sz="2400" dirty="0">
                <a:latin typeface="Lucida Sans Typewriter" charset="0"/>
              </a:rPr>
              <a:t>[1,2,4,7]</a:t>
            </a:r>
          </a:p>
        </p:txBody>
      </p:sp>
      <p:sp>
        <p:nvSpPr>
          <p:cNvPr id="6" name="AutoShape 5">
            <a:extLst>
              <a:ext uri="{FF2B5EF4-FFF2-40B4-BE49-F238E27FC236}">
                <a16:creationId xmlns:a16="http://schemas.microsoft.com/office/drawing/2014/main" id="{26740A3D-ACB1-4458-CD9E-AD1604ACC7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635244" y="2495582"/>
            <a:ext cx="2556756" cy="2145268"/>
          </a:xfrm>
          <a:prstGeom prst="wedgeRoundRectCallout">
            <a:avLst>
              <a:gd name="adj1" fmla="val -145327"/>
              <a:gd name="adj2" fmla="val 37776"/>
              <a:gd name="adj3" fmla="val 16667"/>
            </a:avLst>
          </a:prstGeom>
          <a:solidFill>
            <a:schemeClr val="accent4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/>
          <a:p>
            <a:pPr algn="ctr"/>
            <a:r>
              <a:rPr lang="en-US" sz="2400" dirty="0"/>
              <a:t>This will produce as many elements ‘as are needed’ (lazy)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17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17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17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17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17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17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747" grpId="0" animBg="1"/>
      <p:bldP spid="31748" grpId="0"/>
      <p:bldP spid="31749" grpId="0" animBg="1"/>
      <p:bldP spid="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75A71-66AD-1864-62CD-D282953ED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31745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59D3DC69-F4BF-984B-88E4-C7973DBBFD80}" type="slidenum">
              <a:rPr lang="en-US" sz="1400"/>
              <a:pPr/>
              <a:t>16</a:t>
            </a:fld>
            <a:endParaRPr lang="en-US" sz="1400"/>
          </a:p>
        </p:txBody>
      </p:sp>
      <p:sp>
        <p:nvSpPr>
          <p:cNvPr id="31746" name="Text Box 2"/>
          <p:cNvSpPr txBox="1">
            <a:spLocks noChangeArrowheads="1"/>
          </p:cNvSpPr>
          <p:nvPr/>
        </p:nvSpPr>
        <p:spPr bwMode="auto">
          <a:xfrm>
            <a:off x="982957" y="2234710"/>
            <a:ext cx="9008587" cy="13849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The library function that calculates the length of a list is defined by replacing each element by 1 and summing the resulting list. </a:t>
            </a:r>
          </a:p>
        </p:txBody>
      </p:sp>
      <p:sp>
        <p:nvSpPr>
          <p:cNvPr id="31747" name="Text Box 3"/>
          <p:cNvSpPr txBox="1">
            <a:spLocks noChangeArrowheads="1"/>
          </p:cNvSpPr>
          <p:nvPr/>
        </p:nvSpPr>
        <p:spPr bwMode="auto">
          <a:xfrm>
            <a:off x="2076108" y="3685716"/>
            <a:ext cx="6361112" cy="954107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IE" dirty="0"/>
              <a:t>length :: [a] -&gt; </a:t>
            </a:r>
            <a:r>
              <a:rPr lang="en-IE" dirty="0" err="1"/>
              <a:t>Int</a:t>
            </a:r>
            <a:endParaRPr lang="en-IE" dirty="0"/>
          </a:p>
          <a:p>
            <a:r>
              <a:rPr lang="en-IE" dirty="0"/>
              <a:t>length </a:t>
            </a:r>
            <a:r>
              <a:rPr lang="en-IE" dirty="0" err="1"/>
              <a:t>xs</a:t>
            </a:r>
            <a:r>
              <a:rPr lang="en-IE" dirty="0"/>
              <a:t> = sum [1 | _ &lt;- </a:t>
            </a:r>
            <a:r>
              <a:rPr lang="en-IE" dirty="0" err="1"/>
              <a:t>xs</a:t>
            </a:r>
            <a:r>
              <a:rPr lang="en-IE" dirty="0"/>
              <a:t>]</a:t>
            </a:r>
          </a:p>
        </p:txBody>
      </p:sp>
      <p:sp>
        <p:nvSpPr>
          <p:cNvPr id="31748" name="Text Box 4"/>
          <p:cNvSpPr txBox="1">
            <a:spLocks noChangeArrowheads="1"/>
          </p:cNvSpPr>
          <p:nvPr/>
        </p:nvSpPr>
        <p:spPr bwMode="auto">
          <a:xfrm>
            <a:off x="1678085" y="4762225"/>
            <a:ext cx="2416244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For example:</a:t>
            </a:r>
          </a:p>
        </p:txBody>
      </p:sp>
      <p:sp>
        <p:nvSpPr>
          <p:cNvPr id="31749" name="Text Box 5"/>
          <p:cNvSpPr txBox="1">
            <a:spLocks noChangeArrowheads="1"/>
          </p:cNvSpPr>
          <p:nvPr/>
        </p:nvSpPr>
        <p:spPr bwMode="auto">
          <a:xfrm>
            <a:off x="3365119" y="5425256"/>
            <a:ext cx="3159839" cy="907941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</a:pPr>
            <a:r>
              <a:rPr lang="en-US" sz="2400" dirty="0">
                <a:latin typeface="Lucida Sans Typewriter" charset="0"/>
              </a:rPr>
              <a:t>&gt; length [1,2,3]</a:t>
            </a:r>
          </a:p>
          <a:p>
            <a:pPr>
              <a:spcAft>
                <a:spcPts val="600"/>
              </a:spcAft>
            </a:pPr>
            <a:r>
              <a:rPr lang="en-US" sz="2400" dirty="0">
                <a:latin typeface="Lucida Sans Typewriter" charset="0"/>
              </a:rPr>
              <a:t>3</a:t>
            </a:r>
          </a:p>
        </p:txBody>
      </p:sp>
      <p:sp>
        <p:nvSpPr>
          <p:cNvPr id="7" name="Rectangle 2"/>
          <p:cNvSpPr txBox="1">
            <a:spLocks noChangeArrowheads="1"/>
          </p:cNvSpPr>
          <p:nvPr/>
        </p:nvSpPr>
        <p:spPr>
          <a:xfrm>
            <a:off x="1058839" y="936332"/>
            <a:ext cx="7772400" cy="685800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+mj-lt"/>
                <a:ea typeface="ＭＳ Ｐゴシック" pitchFamily="-1" charset="-128"/>
                <a:cs typeface="ＭＳ Ｐゴシック" pitchFamily="-1" charset="-128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  <a:ea typeface="ＭＳ Ｐゴシック" pitchFamily="-1" charset="-128"/>
                <a:cs typeface="ＭＳ Ｐゴシック" pitchFamily="-1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  <a:ea typeface="ＭＳ Ｐゴシック" pitchFamily="-1" charset="-128"/>
                <a:cs typeface="ＭＳ Ｐゴシック" pitchFamily="-1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  <a:ea typeface="ＭＳ Ｐゴシック" pitchFamily="-1" charset="-128"/>
                <a:cs typeface="ＭＳ Ｐゴシック" pitchFamily="-1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  <a:ea typeface="ＭＳ Ｐゴシック" pitchFamily="-1" charset="-128"/>
                <a:cs typeface="ＭＳ Ｐゴシック" pitchFamily="-1" charset="-128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pitchFamily="-1" charset="0"/>
              </a:defRPr>
            </a:lvl9pPr>
          </a:lstStyle>
          <a:p>
            <a:r>
              <a:rPr lang="en-US" kern="0" dirty="0">
                <a:latin typeface="Arial Black" charset="0"/>
                <a:ea typeface="ＭＳ Ｐゴシック" charset="0"/>
                <a:cs typeface="ＭＳ Ｐゴシック" charset="0"/>
              </a:rPr>
              <a:t>length function</a:t>
            </a:r>
          </a:p>
        </p:txBody>
      </p:sp>
    </p:spTree>
    <p:extLst>
      <p:ext uri="{BB962C8B-B14F-4D97-AF65-F5344CB8AC3E}">
        <p14:creationId xmlns:p14="http://schemas.microsoft.com/office/powerpoint/2010/main" val="4120333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17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17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17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17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17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17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17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17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746" grpId="0"/>
      <p:bldP spid="31747" grpId="0" animBg="1"/>
      <p:bldP spid="31748" grpId="0"/>
      <p:bldP spid="3174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String Comprehensions</a:t>
            </a:r>
          </a:p>
        </p:txBody>
      </p:sp>
      <p:sp>
        <p:nvSpPr>
          <p:cNvPr id="32769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50C6DC88-D0FE-4749-AAC7-B778BC577D57}" type="slidenum">
              <a:rPr lang="en-US" sz="1400"/>
              <a:pPr/>
              <a:t>17</a:t>
            </a:fld>
            <a:endParaRPr lang="en-US" sz="1400"/>
          </a:p>
        </p:txBody>
      </p:sp>
      <p:sp>
        <p:nvSpPr>
          <p:cNvPr id="32771" name="Text Box 8"/>
          <p:cNvSpPr txBox="1">
            <a:spLocks noChangeArrowheads="1"/>
          </p:cNvSpPr>
          <p:nvPr/>
        </p:nvSpPr>
        <p:spPr bwMode="auto">
          <a:xfrm>
            <a:off x="1664126" y="2242645"/>
            <a:ext cx="8364538" cy="1373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A </a:t>
            </a:r>
            <a:r>
              <a:rPr lang="en-US" u="sng" dirty="0"/>
              <a:t>string</a:t>
            </a:r>
            <a:r>
              <a:rPr lang="en-US" dirty="0"/>
              <a:t> is a sequence of characters enclosed in double quotes.  Internally, however, strings are represented as lists of characters.</a:t>
            </a:r>
          </a:p>
        </p:txBody>
      </p:sp>
      <p:sp>
        <p:nvSpPr>
          <p:cNvPr id="32772" name="Text Box 10"/>
          <p:cNvSpPr txBox="1">
            <a:spLocks noChangeArrowheads="1"/>
          </p:cNvSpPr>
          <p:nvPr/>
        </p:nvSpPr>
        <p:spPr bwMode="auto">
          <a:xfrm>
            <a:off x="3421064" y="3880497"/>
            <a:ext cx="2973891" cy="463845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"</a:t>
            </a:r>
            <a:r>
              <a:rPr lang="en-US" sz="2400" dirty="0" err="1">
                <a:latin typeface="Lucida Sans Typewriter" charset="0"/>
              </a:rPr>
              <a:t>abc</a:t>
            </a:r>
            <a:r>
              <a:rPr lang="en-US" sz="2400" dirty="0">
                <a:latin typeface="Lucida Sans Typewriter" charset="0"/>
              </a:rPr>
              <a:t>" :: String</a:t>
            </a:r>
          </a:p>
        </p:txBody>
      </p:sp>
      <p:sp>
        <p:nvSpPr>
          <p:cNvPr id="32773" name="AutoShape 12"/>
          <p:cNvSpPr>
            <a:spLocks noChangeArrowheads="1"/>
          </p:cNvSpPr>
          <p:nvPr/>
        </p:nvSpPr>
        <p:spPr bwMode="auto">
          <a:xfrm>
            <a:off x="2581533" y="5525890"/>
            <a:ext cx="5565775" cy="578882"/>
          </a:xfrm>
          <a:prstGeom prst="wedgeRoundRectCallout">
            <a:avLst>
              <a:gd name="adj1" fmla="val -23985"/>
              <a:gd name="adj2" fmla="val -258493"/>
              <a:gd name="adj3" fmla="val 16667"/>
            </a:avLst>
          </a:prstGeom>
          <a:solidFill>
            <a:schemeClr val="accent4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pPr algn="ctr"/>
            <a:r>
              <a:rPr lang="en-US" sz="2800" dirty="0">
                <a:latin typeface="+mj-lt"/>
              </a:rPr>
              <a:t>Means [</a:t>
            </a:r>
            <a:r>
              <a:rPr lang="ja-JP" altLang="en-US" sz="2800">
                <a:latin typeface="+mj-lt"/>
              </a:rPr>
              <a:t>’</a:t>
            </a:r>
            <a:r>
              <a:rPr lang="en-US" altLang="ja-JP" sz="2800" dirty="0">
                <a:latin typeface="+mj-lt"/>
              </a:rPr>
              <a:t>a</a:t>
            </a:r>
            <a:r>
              <a:rPr lang="ja-JP" altLang="en-US" sz="2800">
                <a:latin typeface="+mj-lt"/>
              </a:rPr>
              <a:t>’</a:t>
            </a:r>
            <a:r>
              <a:rPr lang="en-US" altLang="ja-JP" sz="2800" dirty="0">
                <a:latin typeface="+mj-lt"/>
              </a:rPr>
              <a:t>, </a:t>
            </a:r>
            <a:r>
              <a:rPr lang="ja-JP" altLang="en-US" sz="2800">
                <a:latin typeface="+mj-lt"/>
              </a:rPr>
              <a:t>’</a:t>
            </a:r>
            <a:r>
              <a:rPr lang="en-US" altLang="ja-JP" sz="2800" dirty="0">
                <a:latin typeface="+mj-lt"/>
              </a:rPr>
              <a:t>b</a:t>
            </a:r>
            <a:r>
              <a:rPr lang="ja-JP" altLang="en-US" sz="2800">
                <a:latin typeface="+mj-lt"/>
              </a:rPr>
              <a:t>’</a:t>
            </a:r>
            <a:r>
              <a:rPr lang="en-US" altLang="ja-JP" sz="2800" dirty="0">
                <a:latin typeface="+mj-lt"/>
              </a:rPr>
              <a:t>, </a:t>
            </a:r>
            <a:r>
              <a:rPr lang="ja-JP" altLang="en-US" sz="2800">
                <a:latin typeface="+mj-lt"/>
              </a:rPr>
              <a:t>’</a:t>
            </a:r>
            <a:r>
              <a:rPr lang="en-US" altLang="ja-JP" sz="2800" dirty="0">
                <a:latin typeface="+mj-lt"/>
              </a:rPr>
              <a:t>c</a:t>
            </a:r>
            <a:r>
              <a:rPr lang="ja-JP" altLang="en-US" sz="2800">
                <a:latin typeface="+mj-lt"/>
              </a:rPr>
              <a:t>’</a:t>
            </a:r>
            <a:r>
              <a:rPr lang="en-US" altLang="ja-JP" sz="2800" dirty="0">
                <a:latin typeface="+mj-lt"/>
              </a:rPr>
              <a:t>] :: [Char].</a:t>
            </a:r>
            <a:endParaRPr lang="en-US" sz="2800" dirty="0">
              <a:latin typeface="+mj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27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27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27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27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27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27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771" grpId="0"/>
      <p:bldP spid="32772" grpId="0" animBg="1"/>
      <p:bldP spid="3277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7CCE5-CF09-3933-6863-4EB168092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Strings are lists</a:t>
            </a:r>
          </a:p>
        </p:txBody>
      </p:sp>
      <p:sp>
        <p:nvSpPr>
          <p:cNvPr id="33793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03932369-238F-4245-BADF-FB35BA3094AD}" type="slidenum">
              <a:rPr lang="en-US" sz="1400"/>
              <a:pPr/>
              <a:t>18</a:t>
            </a:fld>
            <a:endParaRPr lang="en-US" sz="1400"/>
          </a:p>
        </p:txBody>
      </p:sp>
      <p:sp>
        <p:nvSpPr>
          <p:cNvPr id="33794" name="Text Box 2"/>
          <p:cNvSpPr txBox="1">
            <a:spLocks noChangeArrowheads="1"/>
          </p:cNvSpPr>
          <p:nvPr/>
        </p:nvSpPr>
        <p:spPr bwMode="auto">
          <a:xfrm>
            <a:off x="1480401" y="2080628"/>
            <a:ext cx="8013700" cy="1373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Because strings are just special kinds of lists, any </a:t>
            </a:r>
            <a:r>
              <a:rPr lang="en-US" u="sng" dirty="0"/>
              <a:t>polymorphic</a:t>
            </a:r>
            <a:r>
              <a:rPr lang="en-US" dirty="0"/>
              <a:t> function that operates on lists can also be applied to strings.  For example:</a:t>
            </a:r>
          </a:p>
        </p:txBody>
      </p:sp>
      <p:sp>
        <p:nvSpPr>
          <p:cNvPr id="33795" name="Text Box 3"/>
          <p:cNvSpPr txBox="1">
            <a:spLocks noChangeArrowheads="1"/>
          </p:cNvSpPr>
          <p:nvPr/>
        </p:nvSpPr>
        <p:spPr bwMode="auto">
          <a:xfrm>
            <a:off x="146051" y="4703940"/>
            <a:ext cx="3159839" cy="934743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&gt; length "</a:t>
            </a:r>
            <a:r>
              <a:rPr lang="en-US" sz="2400" dirty="0" err="1">
                <a:latin typeface="Lucida Sans Typewriter" charset="0"/>
              </a:rPr>
              <a:t>abcde</a:t>
            </a:r>
            <a:r>
              <a:rPr lang="en-US" sz="2400" dirty="0">
                <a:latin typeface="Lucida Sans Typewriter" charset="0"/>
              </a:rPr>
              <a:t>"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5</a:t>
            </a:r>
          </a:p>
        </p:txBody>
      </p:sp>
      <p:sp>
        <p:nvSpPr>
          <p:cNvPr id="4" name="Text Box 3">
            <a:extLst>
              <a:ext uri="{FF2B5EF4-FFF2-40B4-BE49-F238E27FC236}">
                <a16:creationId xmlns:a16="http://schemas.microsoft.com/office/drawing/2014/main" id="{9A0F6F09-C20D-6519-9A46-2BD2D968DD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06394" y="4712437"/>
            <a:ext cx="3159839" cy="934743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&gt; take 3 "</a:t>
            </a:r>
            <a:r>
              <a:rPr lang="en-US" sz="2400" dirty="0" err="1">
                <a:latin typeface="Lucida Sans Typewriter" charset="0"/>
              </a:rPr>
              <a:t>abcde</a:t>
            </a:r>
            <a:r>
              <a:rPr lang="en-US" sz="2400" dirty="0">
                <a:latin typeface="Lucida Sans Typewriter" charset="0"/>
              </a:rPr>
              <a:t>"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"</a:t>
            </a:r>
            <a:r>
              <a:rPr lang="en-US" sz="2400" dirty="0" err="1">
                <a:latin typeface="Lucida Sans Typewriter" charset="0"/>
              </a:rPr>
              <a:t>abc</a:t>
            </a:r>
            <a:r>
              <a:rPr lang="en-US" sz="2400" dirty="0">
                <a:latin typeface="Lucida Sans Typewriter" charset="0"/>
              </a:rPr>
              <a:t>"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931008E0-6A31-FF2D-2FCE-03AA5E95EA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15423" y="5638683"/>
            <a:ext cx="4641014" cy="932178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&gt; zip "</a:t>
            </a:r>
            <a:r>
              <a:rPr lang="en-US" sz="2400" dirty="0" err="1">
                <a:latin typeface="Lucida Sans Typewriter" charset="0"/>
              </a:rPr>
              <a:t>abc</a:t>
            </a:r>
            <a:r>
              <a:rPr lang="en-US" sz="2400" dirty="0">
                <a:latin typeface="Lucida Sans Typewriter" charset="0"/>
              </a:rPr>
              <a:t>" [1,2,3,4]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[(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a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,1),(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b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,2),(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c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,3)]</a:t>
            </a:r>
            <a:endParaRPr lang="en-US" sz="2400" dirty="0">
              <a:latin typeface="Lucida Sans Typewriter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37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37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37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37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794" grpId="0"/>
      <p:bldP spid="33795" grpId="0" animBg="1"/>
      <p:bldP spid="4" grpId="0" animBg="1"/>
      <p:bldP spid="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0ED8C-4A93-6D8F-5781-60D210D64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34817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4437207A-5C4F-4A46-AC53-26D8AA8FCCA8}" type="slidenum">
              <a:rPr lang="en-US" sz="1400"/>
              <a:pPr/>
              <a:t>19</a:t>
            </a:fld>
            <a:endParaRPr lang="en-US" sz="1400"/>
          </a:p>
        </p:txBody>
      </p:sp>
      <p:sp>
        <p:nvSpPr>
          <p:cNvPr id="34818" name="Text Box 2"/>
          <p:cNvSpPr txBox="1">
            <a:spLocks noChangeArrowheads="1"/>
          </p:cNvSpPr>
          <p:nvPr/>
        </p:nvSpPr>
        <p:spPr bwMode="auto">
          <a:xfrm>
            <a:off x="1386609" y="2056881"/>
            <a:ext cx="8174037" cy="1385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Similarly, list comprehensions can also be used to define functions on strings, such counting how many times a character occurs in a string:</a:t>
            </a:r>
          </a:p>
        </p:txBody>
      </p:sp>
      <p:sp>
        <p:nvSpPr>
          <p:cNvPr id="34819" name="Text Box 3"/>
          <p:cNvSpPr txBox="1">
            <a:spLocks noChangeArrowheads="1"/>
          </p:cNvSpPr>
          <p:nvPr/>
        </p:nvSpPr>
        <p:spPr bwMode="auto">
          <a:xfrm>
            <a:off x="1386609" y="3832468"/>
            <a:ext cx="8201284" cy="932178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count :: Char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String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</a:t>
            </a:r>
            <a:r>
              <a:rPr lang="en-US" sz="2400" dirty="0" err="1">
                <a:latin typeface="Lucida Sans Typewriter" charset="0"/>
              </a:rPr>
              <a:t>Int</a:t>
            </a: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count x </a:t>
            </a:r>
            <a:r>
              <a:rPr lang="en-US" sz="2400" dirty="0" err="1">
                <a:latin typeface="Lucida Sans Typewriter" charset="0"/>
              </a:rPr>
              <a:t>xs</a:t>
            </a:r>
            <a:r>
              <a:rPr lang="en-US" sz="2400" dirty="0">
                <a:latin typeface="Lucida Sans Typewriter" charset="0"/>
              </a:rPr>
              <a:t> = length [x</a:t>
            </a:r>
            <a:r>
              <a:rPr lang="ja-JP" altLang="en-US" sz="2400" dirty="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 | x</a:t>
            </a:r>
            <a:r>
              <a:rPr lang="ja-JP" altLang="en-US" sz="2400" dirty="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 </a:t>
            </a:r>
            <a:r>
              <a:rPr lang="en-US" altLang="ja-JP" sz="2400" dirty="0">
                <a:latin typeface="Lucida Sans Typewriter" charset="0"/>
                <a:sym typeface="Symbol" charset="0"/>
              </a:rPr>
              <a:t></a:t>
            </a:r>
            <a:r>
              <a:rPr lang="en-US" altLang="ja-JP" sz="2400" dirty="0">
                <a:latin typeface="Lucida Sans Typewriter" charset="0"/>
              </a:rPr>
              <a:t> </a:t>
            </a:r>
            <a:r>
              <a:rPr lang="en-US" altLang="ja-JP" sz="2400" dirty="0" err="1">
                <a:latin typeface="Lucida Sans Typewriter" charset="0"/>
              </a:rPr>
              <a:t>xs</a:t>
            </a:r>
            <a:r>
              <a:rPr lang="en-US" altLang="ja-JP" sz="2400" dirty="0">
                <a:latin typeface="Lucida Sans Typewriter" charset="0"/>
              </a:rPr>
              <a:t>, x == x</a:t>
            </a:r>
            <a:r>
              <a:rPr lang="ja-JP" altLang="en-US" sz="2400" dirty="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]</a:t>
            </a:r>
            <a:endParaRPr lang="en-US" sz="2400" dirty="0">
              <a:latin typeface="Lucida Sans Typewriter" charset="0"/>
            </a:endParaRPr>
          </a:p>
        </p:txBody>
      </p:sp>
      <p:sp>
        <p:nvSpPr>
          <p:cNvPr id="34820" name="Text Box 4"/>
          <p:cNvSpPr txBox="1">
            <a:spLocks noChangeArrowheads="1"/>
          </p:cNvSpPr>
          <p:nvPr/>
        </p:nvSpPr>
        <p:spPr bwMode="auto">
          <a:xfrm>
            <a:off x="1158521" y="4966338"/>
            <a:ext cx="8301037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For example:</a:t>
            </a:r>
          </a:p>
        </p:txBody>
      </p:sp>
      <p:sp>
        <p:nvSpPr>
          <p:cNvPr id="34821" name="Text Box 5"/>
          <p:cNvSpPr txBox="1">
            <a:spLocks noChangeArrowheads="1"/>
          </p:cNvSpPr>
          <p:nvPr/>
        </p:nvSpPr>
        <p:spPr bwMode="auto">
          <a:xfrm>
            <a:off x="2536092" y="5888835"/>
            <a:ext cx="4821237" cy="83185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2400" dirty="0">
                <a:latin typeface="Lucida Sans Typewriter" charset="0"/>
              </a:rPr>
              <a:t>&gt; count 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s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 "Mississippi"</a:t>
            </a:r>
          </a:p>
          <a:p>
            <a:r>
              <a:rPr lang="en-US" sz="2400" dirty="0">
                <a:latin typeface="Lucida Sans Typewriter" charset="0"/>
              </a:rPr>
              <a:t>4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B968E4-18A0-BCC4-6DA4-B7F8D0B5258A}"/>
              </a:ext>
            </a:extLst>
          </p:cNvPr>
          <p:cNvSpPr txBox="1"/>
          <p:nvPr/>
        </p:nvSpPr>
        <p:spPr>
          <a:xfrm>
            <a:off x="1158521" y="1109031"/>
            <a:ext cx="610054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/>
              <a:t>Strings are lists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48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48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48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48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48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48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818" grpId="0"/>
      <p:bldP spid="34819" grpId="0" animBg="1"/>
      <p:bldP spid="3482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Picture 41" descr="Text&#10;&#10;Description automatically generated">
            <a:extLst>
              <a:ext uri="{FF2B5EF4-FFF2-40B4-BE49-F238E27FC236}">
                <a16:creationId xmlns:a16="http://schemas.microsoft.com/office/drawing/2014/main" id="{2C6DED11-E24C-1747-9B8B-24AF63DEAB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8570" y="1187730"/>
            <a:ext cx="6511126" cy="4948457"/>
          </a:xfrm>
          <a:prstGeom prst="rect">
            <a:avLst/>
          </a:prstGeom>
          <a:noFill/>
        </p:spPr>
      </p:pic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2798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335" indent="-285513">
              <a:defRPr sz="2798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2056" indent="-228411">
              <a:defRPr sz="2798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598877" indent="-228411">
              <a:defRPr sz="2798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5699" indent="-228411">
              <a:defRPr sz="2798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2520" indent="-228411" eaLnBrk="0" fontAlgn="base" hangingPunct="0">
              <a:spcBef>
                <a:spcPct val="0"/>
              </a:spcBef>
              <a:spcAft>
                <a:spcPct val="0"/>
              </a:spcAft>
              <a:defRPr sz="2798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69344" indent="-228411" eaLnBrk="0" fontAlgn="base" hangingPunct="0">
              <a:spcBef>
                <a:spcPct val="0"/>
              </a:spcBef>
              <a:spcAft>
                <a:spcPct val="0"/>
              </a:spcAft>
              <a:defRPr sz="2798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6165" indent="-228411" eaLnBrk="0" fontAlgn="base" hangingPunct="0">
              <a:spcBef>
                <a:spcPct val="0"/>
              </a:spcBef>
              <a:spcAft>
                <a:spcPct val="0"/>
              </a:spcAft>
              <a:defRPr sz="2798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2987" indent="-228411" eaLnBrk="0" fontAlgn="base" hangingPunct="0">
              <a:spcBef>
                <a:spcPct val="0"/>
              </a:spcBef>
              <a:spcAft>
                <a:spcPct val="0"/>
              </a:spcAft>
              <a:defRPr sz="2798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</a:pPr>
            <a:fld id="{CC73A6B6-49ED-C641-8D95-0A84FA800C15}" type="slidenum">
              <a:rPr lang="en-US" sz="1399"/>
              <a:pPr>
                <a:spcAft>
                  <a:spcPts val="600"/>
                </a:spcAft>
              </a:pPr>
              <a:t>20</a:t>
            </a:fld>
            <a:endParaRPr lang="en-US" sz="1399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8BE327-ECF9-8AAA-101C-567717DCFCF3}"/>
              </a:ext>
            </a:extLst>
          </p:cNvPr>
          <p:cNvSpPr txBox="1"/>
          <p:nvPr/>
        </p:nvSpPr>
        <p:spPr>
          <a:xfrm>
            <a:off x="8016029" y="467670"/>
            <a:ext cx="184731" cy="369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799" dirty="0"/>
          </a:p>
        </p:txBody>
      </p:sp>
    </p:spTree>
    <p:extLst>
      <p:ext uri="{BB962C8B-B14F-4D97-AF65-F5344CB8AC3E}">
        <p14:creationId xmlns:p14="http://schemas.microsoft.com/office/powerpoint/2010/main" val="1205145016"/>
      </p:ext>
    </p:extLst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1F8094"/>
      </a:dk2>
      <a:lt2>
        <a:srgbClr val="E7E6E6"/>
      </a:lt2>
      <a:accent1>
        <a:srgbClr val="39CDE7"/>
      </a:accent1>
      <a:accent2>
        <a:srgbClr val="60DE72"/>
      </a:accent2>
      <a:accent3>
        <a:srgbClr val="DDCC64"/>
      </a:accent3>
      <a:accent4>
        <a:srgbClr val="F49D50"/>
      </a:accent4>
      <a:accent5>
        <a:srgbClr val="E44951"/>
      </a:accent5>
      <a:accent6>
        <a:srgbClr val="D666F9"/>
      </a:accent6>
      <a:hlink>
        <a:srgbClr val="4BF7ED"/>
      </a:hlink>
      <a:folHlink>
        <a:srgbClr val="95E9F4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7DC10E3-4FF5-456B-A359-A0F378C1E5FB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a-functions</Template>
  <TotalTime>6883</TotalTime>
  <Words>1288</Words>
  <Application>Microsoft Macintosh PowerPoint</Application>
  <PresentationFormat>Widescreen</PresentationFormat>
  <Paragraphs>161</Paragraphs>
  <Slides>21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32" baseType="lpstr">
      <vt:lpstr>ＭＳ Ｐゴシック</vt:lpstr>
      <vt:lpstr>Arial</vt:lpstr>
      <vt:lpstr>Arial Black</vt:lpstr>
      <vt:lpstr>Calibri</vt:lpstr>
      <vt:lpstr>Lucida Sans Typewriter</vt:lpstr>
      <vt:lpstr>Symbol</vt:lpstr>
      <vt:lpstr>Tahoma</vt:lpstr>
      <vt:lpstr>Times New Roman</vt:lpstr>
      <vt:lpstr>Trebuchet MS</vt:lpstr>
      <vt:lpstr>Wingdings</vt:lpstr>
      <vt:lpstr>Berlin</vt:lpstr>
      <vt:lpstr>PowerPoint Presentation</vt:lpstr>
      <vt:lpstr>Set Comprehensions</vt:lpstr>
      <vt:lpstr>Lists Comprehensions</vt:lpstr>
      <vt:lpstr> </vt:lpstr>
      <vt:lpstr>Order of Generators</vt:lpstr>
      <vt:lpstr>Order of Generators</vt:lpstr>
      <vt:lpstr>Dependant Generators</vt:lpstr>
      <vt:lpstr>PowerPoint Presentation</vt:lpstr>
      <vt:lpstr>Guards</vt:lpstr>
      <vt:lpstr>PowerPoint Presentation</vt:lpstr>
      <vt:lpstr>Prime numbers</vt:lpstr>
      <vt:lpstr>PowerPoint Presentation</vt:lpstr>
      <vt:lpstr>The Zip Function</vt:lpstr>
      <vt:lpstr>  </vt:lpstr>
      <vt:lpstr>Using the pairs function</vt:lpstr>
      <vt:lpstr>Using zip</vt:lpstr>
      <vt:lpstr> </vt:lpstr>
      <vt:lpstr>String Comprehensions</vt:lpstr>
      <vt:lpstr>Strings are lists</vt:lpstr>
      <vt:lpstr> </vt:lpstr>
      <vt:lpstr>PowerPoint Presentation</vt:lpstr>
    </vt:vector>
  </TitlesOfParts>
  <Company>University of Nottingham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Functional Programming</dc:title>
  <dc:creator>Dr. Graham Hutton</dc:creator>
  <cp:lastModifiedBy>Mairead Meagher</cp:lastModifiedBy>
  <cp:revision>442</cp:revision>
  <cp:lastPrinted>2001-02-01T08:59:46Z</cp:lastPrinted>
  <dcterms:created xsi:type="dcterms:W3CDTF">2000-11-20T11:40:19Z</dcterms:created>
  <dcterms:modified xsi:type="dcterms:W3CDTF">2025-02-27T09:41:22Z</dcterms:modified>
</cp:coreProperties>
</file>