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741" r:id="rId1"/>
  </p:sldMasterIdLst>
  <p:notesMasterIdLst>
    <p:notesMasterId r:id="rId23"/>
  </p:notesMasterIdLst>
  <p:handoutMasterIdLst>
    <p:handoutMasterId r:id="rId24"/>
  </p:handoutMasterIdLst>
  <p:sldIdLst>
    <p:sldId id="305" r:id="rId2"/>
    <p:sldId id="278" r:id="rId3"/>
    <p:sldId id="279" r:id="rId4"/>
    <p:sldId id="280" r:id="rId5"/>
    <p:sldId id="283" r:id="rId6"/>
    <p:sldId id="285" r:id="rId7"/>
    <p:sldId id="284" r:id="rId8"/>
    <p:sldId id="300" r:id="rId9"/>
    <p:sldId id="286" r:id="rId10"/>
    <p:sldId id="287" r:id="rId11"/>
    <p:sldId id="288" r:id="rId12"/>
    <p:sldId id="289" r:id="rId13"/>
    <p:sldId id="290" r:id="rId14"/>
    <p:sldId id="292" r:id="rId15"/>
    <p:sldId id="293" r:id="rId16"/>
    <p:sldId id="299" r:id="rId17"/>
    <p:sldId id="306" r:id="rId18"/>
    <p:sldId id="294" r:id="rId19"/>
    <p:sldId id="301" r:id="rId20"/>
    <p:sldId id="302" r:id="rId21"/>
    <p:sldId id="343" r:id="rId22"/>
  </p:sldIdLst>
  <p:sldSz cx="12192000" cy="6858000"/>
  <p:notesSz cx="6781800" cy="9918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4">
          <p15:clr>
            <a:srgbClr val="A4A3A4"/>
          </p15:clr>
        </p15:guide>
        <p15:guide id="2" pos="21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FF0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75"/>
    <p:restoredTop sz="94712"/>
  </p:normalViewPr>
  <p:slideViewPr>
    <p:cSldViewPr snapToGrid="0">
      <p:cViewPr varScale="1">
        <p:scale>
          <a:sx n="61" d="100"/>
          <a:sy n="61" d="100"/>
        </p:scale>
        <p:origin x="240" y="9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124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1" tIns="47710" rIns="95421" bIns="47710" numCol="1" anchor="t" anchorCtr="0" compatLnSpc="1">
            <a:prstTxWarp prst="textNoShape">
              <a:avLst/>
            </a:prstTxWarp>
          </a:bodyPr>
          <a:lstStyle>
            <a:lvl1pPr defTabSz="954088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68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1" tIns="47710" rIns="95421" bIns="47710" numCol="1" anchor="t" anchorCtr="0" compatLnSpc="1">
            <a:prstTxWarp prst="textNoShape">
              <a:avLst/>
            </a:prstTxWarp>
          </a:bodyPr>
          <a:lstStyle>
            <a:lvl1pPr algn="r" defTabSz="954088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1813"/>
            <a:ext cx="2938463" cy="4968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1" tIns="47710" rIns="95421" bIns="47710" numCol="1" anchor="b" anchorCtr="0" compatLnSpc="1">
            <a:prstTxWarp prst="textNoShape">
              <a:avLst/>
            </a:prstTxWarp>
          </a:bodyPr>
          <a:lstStyle>
            <a:lvl1pPr defTabSz="954088">
              <a:defRPr sz="13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21813"/>
            <a:ext cx="2938462" cy="4968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421" tIns="47710" rIns="95421" bIns="47710" numCol="1" anchor="b" anchorCtr="0" compatLnSpc="1">
            <a:prstTxWarp prst="textNoShape">
              <a:avLst/>
            </a:prstTxWarp>
          </a:bodyPr>
          <a:lstStyle>
            <a:lvl1pPr algn="r" defTabSz="954088">
              <a:defRPr sz="1300"/>
            </a:lvl1pPr>
          </a:lstStyle>
          <a:p>
            <a:pPr>
              <a:defRPr/>
            </a:pPr>
            <a:fld id="{9247404D-9D40-CB45-A41E-18DC8C0E4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318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517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88221" tIns="44111" rIns="88221" bIns="44111" numCol="1" anchor="t" anchorCtr="0" compatLnSpc="1">
            <a:prstTxWarp prst="textNoShape">
              <a:avLst/>
            </a:prstTxWarp>
          </a:bodyPr>
          <a:lstStyle>
            <a:lvl1pPr defTabSz="882650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3862388" y="0"/>
            <a:ext cx="2916237" cy="517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88221" tIns="44111" rIns="88221" bIns="44111" numCol="1" anchor="t" anchorCtr="0" compatLnSpc="1">
            <a:prstTxWarp prst="textNoShape">
              <a:avLst/>
            </a:prstTxWarp>
          </a:bodyPr>
          <a:lstStyle>
            <a:lvl1pPr algn="r" defTabSz="882650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39775"/>
            <a:ext cx="6572250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4713" y="4733925"/>
            <a:ext cx="5029200" cy="44370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88221" tIns="44111" rIns="88221" bIns="441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3238"/>
            <a:ext cx="2916238" cy="517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88221" tIns="44111" rIns="88221" bIns="44111" numCol="1" anchor="b" anchorCtr="0" compatLnSpc="1">
            <a:prstTxWarp prst="textNoShape">
              <a:avLst/>
            </a:prstTxWarp>
          </a:bodyPr>
          <a:lstStyle>
            <a:lvl1pPr defTabSz="882650">
              <a:defRPr sz="1200">
                <a:latin typeface="Tahoma" pitchFamily="-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2388" y="9393238"/>
            <a:ext cx="2916237" cy="5175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88221" tIns="44111" rIns="88221" bIns="44111" numCol="1" anchor="b" anchorCtr="0" compatLnSpc="1">
            <a:prstTxWarp prst="textNoShape">
              <a:avLst/>
            </a:prstTxWarp>
          </a:bodyPr>
          <a:lstStyle>
            <a:lvl1pPr algn="r" defTabSz="882650">
              <a:defRPr sz="1200"/>
            </a:lvl1pPr>
          </a:lstStyle>
          <a:p>
            <a:pPr>
              <a:defRPr/>
            </a:pPr>
            <a:fld id="{E4C497B6-B139-5541-8EB5-401872F7C2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3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-1" charset="0"/>
        <a:ea typeface="ＭＳ Ｐゴシック" pitchFamily="-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4103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8826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88265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5BA9C81-019E-7E4E-B8E9-C842A2F32222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39775"/>
            <a:ext cx="6572250" cy="3697288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GB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9363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0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0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4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5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4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5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4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4395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53918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1286394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1609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443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5248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65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7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27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798ECB8-1CC1-F547-83B4-7D2DDB6C7AC2}" type="slidenum">
              <a:rPr lang="en-US" sz="1400"/>
              <a:pPr/>
              <a:t>0</a:t>
            </a:fld>
            <a:endParaRPr lang="en-US" sz="140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36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kumimoji="1" lang="en-US" sz="3200" dirty="0"/>
              <a:t>Topic 5 - List Comprehensions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8982" y="769628"/>
            <a:ext cx="9613861" cy="108093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ea typeface="ＭＳ Ｐゴシック" charset="0"/>
              </a:rPr>
              <a:t>Set Comprehensions</a:t>
            </a:r>
          </a:p>
        </p:txBody>
      </p:sp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21F4343-AE5B-FD4D-A163-10D8D1322E39}" type="slidenum">
              <a:rPr lang="en-US" sz="1400"/>
              <a:pPr/>
              <a:t>1</a:t>
            </a:fld>
            <a:endParaRPr lang="en-US" sz="1400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765981" y="2081639"/>
            <a:ext cx="818515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 mathematics, the </a:t>
            </a:r>
            <a:r>
              <a:rPr lang="en-US" u="sng" dirty="0"/>
              <a:t>comprehension</a:t>
            </a:r>
            <a:r>
              <a:rPr lang="en-US" dirty="0"/>
              <a:t> notation can be used to construct new sets from old sets.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014437" y="3928780"/>
            <a:ext cx="4427687" cy="52322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{</a:t>
            </a:r>
            <a:r>
              <a:rPr lang="en-US" dirty="0" err="1"/>
              <a:t>x:Int</a:t>
            </a:r>
            <a:r>
              <a:rPr lang="en-US" baseline="30000" dirty="0"/>
              <a:t> </a:t>
            </a:r>
            <a:r>
              <a:rPr lang="en-US" dirty="0"/>
              <a:t> |  x </a:t>
            </a:r>
            <a:r>
              <a:rPr lang="en-US" dirty="0">
                <a:sym typeface="Symbol" charset="0"/>
              </a:rPr>
              <a:t> </a:t>
            </a:r>
            <a:r>
              <a:rPr lang="en-US" dirty="0"/>
              <a:t>{1...5} </a:t>
            </a:r>
            <a:r>
              <a:rPr lang="en-US" dirty="0">
                <a:sym typeface="Wingdings" panose="05000000000000000000" pitchFamily="2" charset="2"/>
              </a:rPr>
              <a:t> 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}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2323306" y="5172675"/>
            <a:ext cx="7545388" cy="919401"/>
          </a:xfrm>
          <a:prstGeom prst="wedgeRoundRectCallout">
            <a:avLst>
              <a:gd name="adj1" fmla="val -21565"/>
              <a:gd name="adj2" fmla="val -127684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400" dirty="0"/>
              <a:t>The set {1,4,9,16,25} of all numbers x</a:t>
            </a:r>
            <a:r>
              <a:rPr lang="en-US" sz="2400" baseline="30000" dirty="0"/>
              <a:t>2</a:t>
            </a:r>
            <a:r>
              <a:rPr lang="en-US" sz="2400" dirty="0"/>
              <a:t> such that x is an element of the set {1…5}.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animBg="1"/>
      <p:bldP spid="1638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  <a:ea typeface="ＭＳ Ｐゴシック" charset="0"/>
              </a:rPr>
              <a:t>Lists Comprehensions</a:t>
            </a:r>
          </a:p>
        </p:txBody>
      </p:sp>
      <p:sp>
        <p:nvSpPr>
          <p:cNvPr id="1740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8672337-B0CB-C54C-B317-4A07879599A5}" type="slidenum">
              <a:rPr lang="en-US" sz="1400"/>
              <a:pPr/>
              <a:t>2</a:t>
            </a:fld>
            <a:endParaRPr lang="en-US" sz="1400"/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649839" y="2335771"/>
            <a:ext cx="8297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In Haskell, a similar comprehension notation can be used to construct new </a:t>
            </a:r>
            <a:r>
              <a:rPr lang="en-US" u="sng" dirty="0"/>
              <a:t>lists</a:t>
            </a:r>
            <a:r>
              <a:rPr lang="en-US" dirty="0"/>
              <a:t> from old lists.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133702" y="3783526"/>
            <a:ext cx="3648756" cy="46371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[x^2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[1..5]]</a:t>
            </a:r>
          </a:p>
        </p:txBody>
      </p:sp>
      <p:sp>
        <p:nvSpPr>
          <p:cNvPr id="17413" name="AutoShape 6"/>
          <p:cNvSpPr>
            <a:spLocks noChangeArrowheads="1"/>
          </p:cNvSpPr>
          <p:nvPr/>
        </p:nvSpPr>
        <p:spPr bwMode="auto">
          <a:xfrm>
            <a:off x="2097514" y="4966705"/>
            <a:ext cx="7402512" cy="1055608"/>
          </a:xfrm>
          <a:prstGeom prst="wedgeRoundRectCallout">
            <a:avLst>
              <a:gd name="adj1" fmla="val -22144"/>
              <a:gd name="adj2" fmla="val -98347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800" dirty="0"/>
              <a:t>The list [1,4,9,16,25] of all numbers x^2</a:t>
            </a:r>
            <a:r>
              <a:rPr lang="en-US" sz="2800" baseline="30000" dirty="0"/>
              <a:t> </a:t>
            </a:r>
            <a:r>
              <a:rPr lang="en-US" sz="2800" dirty="0"/>
              <a:t>such that x is an element of the list [1..5].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/>
      <p:bldP spid="174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7AF5-57DA-A085-AC4B-B3F2A38B5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843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A909AA4-27DB-B14F-ADD9-C96E58A869C3}" type="slidenum">
              <a:rPr lang="en-US" sz="1400"/>
              <a:pPr/>
              <a:t>3</a:t>
            </a:fld>
            <a:endParaRPr lang="en-US" sz="1400"/>
          </a:p>
        </p:txBody>
      </p:sp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570972" y="1001054"/>
            <a:ext cx="124104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b="1" dirty="0">
                <a:latin typeface="+mn-lt"/>
              </a:rPr>
              <a:t>Note: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570972" y="2042458"/>
            <a:ext cx="9832558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The expression x </a:t>
            </a:r>
            <a:r>
              <a:rPr kumimoji="1" lang="en-US" sz="2800" dirty="0">
                <a:solidFill>
                  <a:srgbClr val="FF0000"/>
                </a:solidFill>
                <a:sym typeface="Symbol" charset="0"/>
              </a:rPr>
              <a:t></a:t>
            </a:r>
            <a:r>
              <a:rPr kumimoji="1" lang="en-US" sz="2800" dirty="0"/>
              <a:t> [1..5] is called a </a:t>
            </a:r>
            <a:r>
              <a:rPr kumimoji="1" lang="en-US" sz="2800" u="sng" dirty="0"/>
              <a:t>generator</a:t>
            </a:r>
            <a:r>
              <a:rPr kumimoji="1" lang="en-US" sz="2800" dirty="0"/>
              <a:t>, as it states how to generate values for x.</a:t>
            </a:r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endParaRPr kumimoji="1" lang="en-US" sz="2800" dirty="0"/>
          </a:p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Comprehensions can have </a:t>
            </a:r>
            <a:r>
              <a:rPr kumimoji="1" lang="en-US" sz="2800" u="sng" dirty="0"/>
              <a:t>multiple</a:t>
            </a:r>
            <a:r>
              <a:rPr kumimoji="1" lang="en-US" sz="2800" dirty="0"/>
              <a:t> generators, separated by commas.  For example: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954873" y="5053375"/>
            <a:ext cx="7064755" cy="120032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[(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 | x </a:t>
            </a:r>
            <a:r>
              <a:rPr lang="en-US" sz="2400" dirty="0">
                <a:solidFill>
                  <a:srgbClr val="FF0000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[1,2,3], y </a:t>
            </a:r>
            <a:r>
              <a:rPr lang="en-US" sz="2400" dirty="0">
                <a:solidFill>
                  <a:srgbClr val="FF0000"/>
                </a:solidFill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[4,5]]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[(1,4),(1,5),(2,4),(2,5),(3,4),(3,5)]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15940-B7D3-C84D-9971-9EF20978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Order of Generators</a:t>
            </a:r>
          </a:p>
        </p:txBody>
      </p:sp>
      <p:sp>
        <p:nvSpPr>
          <p:cNvPr id="1945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2BDEFCF-0FB4-D544-86FA-341B0086AC91}" type="slidenum">
              <a:rPr lang="en-US" sz="1400"/>
              <a:pPr/>
              <a:t>4</a:t>
            </a:fld>
            <a:endParaRPr lang="en-US" sz="140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575789" y="1926112"/>
            <a:ext cx="9574711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3200" dirty="0"/>
              <a:t>Changing the </a:t>
            </a:r>
            <a:r>
              <a:rPr kumimoji="1" lang="en-US" sz="3200" u="sng" dirty="0"/>
              <a:t>order</a:t>
            </a:r>
            <a:r>
              <a:rPr kumimoji="1" lang="en-US" sz="3200" dirty="0"/>
              <a:t> of the generators changes the order of the elements in the final list: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2427715" y="3197995"/>
            <a:ext cx="7064755" cy="120032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[(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 | y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[4,5],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[1,2,3]]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[(1,4),(2,4),(3,4),(1,5),(2,5),(3,5)]</a:t>
            </a: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719471" y="4827540"/>
            <a:ext cx="9574711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3200" dirty="0"/>
              <a:t>Multiple generators are like </a:t>
            </a:r>
            <a:r>
              <a:rPr kumimoji="1" lang="en-US" sz="3200" u="sng" dirty="0"/>
              <a:t>nested loops</a:t>
            </a:r>
            <a:r>
              <a:rPr kumimoji="1" lang="en-US" sz="3200" dirty="0"/>
              <a:t>, with later generators as more deeply nested loops whose variables change value more frequently.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A888951-9D9B-CF01-5E96-F47AC273337D}"/>
              </a:ext>
            </a:extLst>
          </p:cNvPr>
          <p:cNvCxnSpPr/>
          <p:nvPr/>
        </p:nvCxnSpPr>
        <p:spPr>
          <a:xfrm flipH="1">
            <a:off x="3480179" y="3589361"/>
            <a:ext cx="2169994" cy="45037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007D609-6E30-7C02-FE9B-7AD52116E37F}"/>
              </a:ext>
            </a:extLst>
          </p:cNvPr>
          <p:cNvCxnSpPr>
            <a:cxnSpLocks/>
          </p:cNvCxnSpPr>
          <p:nvPr/>
        </p:nvCxnSpPr>
        <p:spPr>
          <a:xfrm flipH="1">
            <a:off x="4421829" y="3588639"/>
            <a:ext cx="1228344" cy="54273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E9F621-E68E-3C2A-AAF9-4EA7572B80C4}"/>
              </a:ext>
            </a:extLst>
          </p:cNvPr>
          <p:cNvCxnSpPr>
            <a:cxnSpLocks/>
          </p:cNvCxnSpPr>
          <p:nvPr/>
        </p:nvCxnSpPr>
        <p:spPr>
          <a:xfrm flipH="1">
            <a:off x="5569401" y="3588639"/>
            <a:ext cx="80772" cy="49655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B427D4-F294-C488-B303-B62C696C38A4}"/>
              </a:ext>
            </a:extLst>
          </p:cNvPr>
          <p:cNvCxnSpPr>
            <a:cxnSpLocks/>
          </p:cNvCxnSpPr>
          <p:nvPr/>
        </p:nvCxnSpPr>
        <p:spPr>
          <a:xfrm>
            <a:off x="6096000" y="3677017"/>
            <a:ext cx="606637" cy="44341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C4919D-7064-55B8-E51B-9310EDC24A9A}"/>
              </a:ext>
            </a:extLst>
          </p:cNvPr>
          <p:cNvCxnSpPr>
            <a:cxnSpLocks/>
          </p:cNvCxnSpPr>
          <p:nvPr/>
        </p:nvCxnSpPr>
        <p:spPr>
          <a:xfrm>
            <a:off x="6096000" y="3676295"/>
            <a:ext cx="1642281" cy="36300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3D9A1C-7A36-FA80-2876-91617004A656}"/>
              </a:ext>
            </a:extLst>
          </p:cNvPr>
          <p:cNvCxnSpPr>
            <a:cxnSpLocks/>
          </p:cNvCxnSpPr>
          <p:nvPr/>
        </p:nvCxnSpPr>
        <p:spPr>
          <a:xfrm>
            <a:off x="6096000" y="3676295"/>
            <a:ext cx="2788693" cy="40889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9" grpId="0" animBg="1"/>
      <p:bldP spid="194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E770-0CF3-CD52-414A-0272FB76E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Order of Generators</a:t>
            </a:r>
          </a:p>
        </p:txBody>
      </p:sp>
      <p:sp>
        <p:nvSpPr>
          <p:cNvPr id="2048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211E36E-CFD2-8E42-8274-BC738F456C36}" type="slidenum">
              <a:rPr lang="en-US" sz="1400"/>
              <a:pPr/>
              <a:t>5</a:t>
            </a:fld>
            <a:endParaRPr lang="en-US" sz="1400"/>
          </a:p>
        </p:txBody>
      </p:sp>
      <p:sp>
        <p:nvSpPr>
          <p:cNvPr id="20482" name="Text Box 12"/>
          <p:cNvSpPr txBox="1">
            <a:spLocks noChangeArrowheads="1"/>
          </p:cNvSpPr>
          <p:nvPr/>
        </p:nvSpPr>
        <p:spPr bwMode="auto">
          <a:xfrm>
            <a:off x="3069772" y="2519862"/>
            <a:ext cx="7064755" cy="120032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[(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 | y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[4,5],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[1,2,3]]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[(1,4),(2,4),(3,4),(1,5),(2,5),(3,5)]</a:t>
            </a:r>
          </a:p>
        </p:txBody>
      </p:sp>
      <p:sp>
        <p:nvSpPr>
          <p:cNvPr id="20483" name="Rectangle 13"/>
          <p:cNvSpPr>
            <a:spLocks noChangeArrowheads="1"/>
          </p:cNvSpPr>
          <p:nvPr/>
        </p:nvSpPr>
        <p:spPr bwMode="auto">
          <a:xfrm>
            <a:off x="0" y="2113698"/>
            <a:ext cx="2844800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</a:pPr>
            <a:r>
              <a:rPr kumimoji="1" lang="en-US" sz="2800" dirty="0"/>
              <a:t>For example:</a:t>
            </a:r>
          </a:p>
        </p:txBody>
      </p:sp>
      <p:sp>
        <p:nvSpPr>
          <p:cNvPr id="20484" name="AutoShape 44"/>
          <p:cNvSpPr>
            <a:spLocks noChangeArrowheads="1"/>
          </p:cNvSpPr>
          <p:nvPr/>
        </p:nvSpPr>
        <p:spPr bwMode="auto">
          <a:xfrm>
            <a:off x="3387271" y="5350912"/>
            <a:ext cx="6426200" cy="1328023"/>
          </a:xfrm>
          <a:prstGeom prst="wedgeRoundRectCallout">
            <a:avLst>
              <a:gd name="adj1" fmla="val -21986"/>
              <a:gd name="adj2" fmla="val -40181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400" dirty="0"/>
              <a:t>x </a:t>
            </a:r>
            <a:r>
              <a:rPr lang="en-US" sz="2400" dirty="0">
                <a:sym typeface="Symbol" charset="0"/>
              </a:rPr>
              <a:t></a:t>
            </a:r>
            <a:r>
              <a:rPr lang="en-US" sz="2400" dirty="0"/>
              <a:t> [1,2,3] is the last generator, so the value of the x component of each pair changes most frequently.</a:t>
            </a:r>
          </a:p>
        </p:txBody>
      </p:sp>
      <p:sp>
        <p:nvSpPr>
          <p:cNvPr id="20485" name="Line 65"/>
          <p:cNvSpPr>
            <a:spLocks noChangeShapeType="1"/>
          </p:cNvSpPr>
          <p:nvPr/>
        </p:nvSpPr>
        <p:spPr bwMode="auto">
          <a:xfrm flipV="1">
            <a:off x="3619046" y="3732892"/>
            <a:ext cx="0" cy="495300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86" name="Line 66"/>
          <p:cNvSpPr>
            <a:spLocks noChangeShapeType="1"/>
          </p:cNvSpPr>
          <p:nvPr/>
        </p:nvSpPr>
        <p:spPr bwMode="auto">
          <a:xfrm flipV="1">
            <a:off x="4711246" y="3732892"/>
            <a:ext cx="0" cy="495300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87" name="Line 67"/>
          <p:cNvSpPr>
            <a:spLocks noChangeShapeType="1"/>
          </p:cNvSpPr>
          <p:nvPr/>
        </p:nvSpPr>
        <p:spPr bwMode="auto">
          <a:xfrm flipV="1">
            <a:off x="5816146" y="3732892"/>
            <a:ext cx="0" cy="495300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88" name="Line 68"/>
          <p:cNvSpPr>
            <a:spLocks noChangeShapeType="1"/>
          </p:cNvSpPr>
          <p:nvPr/>
        </p:nvSpPr>
        <p:spPr bwMode="auto">
          <a:xfrm flipV="1">
            <a:off x="6946446" y="3732892"/>
            <a:ext cx="0" cy="495300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89" name="Line 69"/>
          <p:cNvSpPr>
            <a:spLocks noChangeShapeType="1"/>
          </p:cNvSpPr>
          <p:nvPr/>
        </p:nvSpPr>
        <p:spPr bwMode="auto">
          <a:xfrm flipV="1">
            <a:off x="8025946" y="3732892"/>
            <a:ext cx="0" cy="495300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90" name="Line 70"/>
          <p:cNvSpPr>
            <a:spLocks noChangeShapeType="1"/>
          </p:cNvSpPr>
          <p:nvPr/>
        </p:nvSpPr>
        <p:spPr bwMode="auto">
          <a:xfrm flipV="1">
            <a:off x="9132434" y="3732892"/>
            <a:ext cx="0" cy="495300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491" name="Line 71"/>
          <p:cNvSpPr>
            <a:spLocks noChangeShapeType="1"/>
          </p:cNvSpPr>
          <p:nvPr/>
        </p:nvSpPr>
        <p:spPr bwMode="auto">
          <a:xfrm flipH="1" flipV="1">
            <a:off x="3619046" y="4228193"/>
            <a:ext cx="2846388" cy="1039813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92" name="Line 72"/>
          <p:cNvSpPr>
            <a:spLocks noChangeShapeType="1"/>
          </p:cNvSpPr>
          <p:nvPr/>
        </p:nvSpPr>
        <p:spPr bwMode="auto">
          <a:xfrm>
            <a:off x="4708072" y="4228193"/>
            <a:ext cx="1744663" cy="1039813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93" name="Line 73"/>
          <p:cNvSpPr>
            <a:spLocks noChangeShapeType="1"/>
          </p:cNvSpPr>
          <p:nvPr/>
        </p:nvSpPr>
        <p:spPr bwMode="auto">
          <a:xfrm>
            <a:off x="5820910" y="4240893"/>
            <a:ext cx="631825" cy="1027113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sp>
        <p:nvSpPr>
          <p:cNvPr id="20494" name="Line 74"/>
          <p:cNvSpPr>
            <a:spLocks noChangeShapeType="1"/>
          </p:cNvSpPr>
          <p:nvPr/>
        </p:nvSpPr>
        <p:spPr bwMode="auto">
          <a:xfrm flipH="1">
            <a:off x="6452734" y="4228193"/>
            <a:ext cx="495300" cy="1039813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95" name="Line 75"/>
          <p:cNvSpPr>
            <a:spLocks noChangeShapeType="1"/>
          </p:cNvSpPr>
          <p:nvPr/>
        </p:nvSpPr>
        <p:spPr bwMode="auto">
          <a:xfrm flipV="1">
            <a:off x="6452735" y="4228193"/>
            <a:ext cx="1570037" cy="1039813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496" name="Line 76"/>
          <p:cNvSpPr>
            <a:spLocks noChangeShapeType="1"/>
          </p:cNvSpPr>
          <p:nvPr/>
        </p:nvSpPr>
        <p:spPr bwMode="auto">
          <a:xfrm flipV="1">
            <a:off x="6452734" y="4240893"/>
            <a:ext cx="2684462" cy="1027113"/>
          </a:xfrm>
          <a:prstGeom prst="line">
            <a:avLst/>
          </a:prstGeom>
          <a:noFill/>
          <a:ln w="12700" cap="sq">
            <a:solidFill>
              <a:schemeClr val="accent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4" grpId="0" animBg="1"/>
      <p:bldP spid="20485" grpId="0" animBg="1"/>
      <p:bldP spid="20486" grpId="0" animBg="1"/>
      <p:bldP spid="20487" grpId="0" animBg="1"/>
      <p:bldP spid="20488" grpId="0" animBg="1"/>
      <p:bldP spid="20489" grpId="0" animBg="1"/>
      <p:bldP spid="20490" grpId="0" animBg="1"/>
      <p:bldP spid="20491" grpId="0" animBg="1"/>
      <p:bldP spid="20492" grpId="0" animBg="1"/>
      <p:bldP spid="20493" grpId="0" animBg="1"/>
      <p:bldP spid="20494" grpId="0" animBg="1"/>
      <p:bldP spid="20495" grpId="0" animBg="1"/>
      <p:bldP spid="204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9279" y="727596"/>
            <a:ext cx="4642306" cy="1080938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>
                <a:ea typeface="ＭＳ Ｐゴシック" charset="0"/>
                <a:cs typeface="ＭＳ Ｐゴシック" charset="0"/>
              </a:rPr>
              <a:t>Dependant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Generators</a:t>
            </a:r>
          </a:p>
        </p:txBody>
      </p:sp>
      <p:sp>
        <p:nvSpPr>
          <p:cNvPr id="2150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6998535-2959-8D44-855C-3289E6072AA7}" type="slidenum">
              <a:rPr lang="en-US" sz="1400"/>
              <a:pPr/>
              <a:t>6</a:t>
            </a:fld>
            <a:endParaRPr lang="en-US" sz="1400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716089" y="1994100"/>
            <a:ext cx="8099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Later generators can </a:t>
            </a:r>
            <a:r>
              <a:rPr lang="en-US" u="sng" dirty="0"/>
              <a:t>depend</a:t>
            </a:r>
            <a:r>
              <a:rPr lang="en-US" dirty="0"/>
              <a:t> on the variables that are introduced by earlier generators.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024189" y="3358274"/>
            <a:ext cx="6369051" cy="463717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[(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[1..3], y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[x..3]]</a:t>
            </a:r>
          </a:p>
        </p:txBody>
      </p:sp>
      <p:sp>
        <p:nvSpPr>
          <p:cNvPr id="21509" name="AutoShape 5"/>
          <p:cNvSpPr>
            <a:spLocks noChangeArrowheads="1"/>
          </p:cNvSpPr>
          <p:nvPr/>
        </p:nvSpPr>
        <p:spPr bwMode="auto">
          <a:xfrm>
            <a:off x="2298701" y="4409610"/>
            <a:ext cx="7516813" cy="2009061"/>
          </a:xfrm>
          <a:prstGeom prst="wedgeRoundRectCallout">
            <a:avLst>
              <a:gd name="adj1" fmla="val -21632"/>
              <a:gd name="adj2" fmla="val -75521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800" dirty="0"/>
              <a:t>The list [(1,1),(1,2),(1,3),(2,2),(2,3),(3,3)]</a:t>
            </a:r>
          </a:p>
          <a:p>
            <a:pPr algn="ctr"/>
            <a:r>
              <a:rPr lang="en-US" sz="2800" dirty="0"/>
              <a:t>of all pairs of numbers (</a:t>
            </a:r>
            <a:r>
              <a:rPr lang="en-US" sz="2800" dirty="0" err="1"/>
              <a:t>x,y</a:t>
            </a:r>
            <a:r>
              <a:rPr lang="en-US" sz="2800" dirty="0"/>
              <a:t>) such that </a:t>
            </a:r>
          </a:p>
          <a:p>
            <a:pPr algn="ctr"/>
            <a:r>
              <a:rPr lang="en-US" sz="2800" dirty="0"/>
              <a:t>(</a:t>
            </a:r>
            <a:r>
              <a:rPr lang="en-US" sz="2800" dirty="0" err="1"/>
              <a:t>x,y</a:t>
            </a:r>
            <a:r>
              <a:rPr lang="en-US" sz="2800" dirty="0"/>
              <a:t>)</a:t>
            </a:r>
          </a:p>
          <a:p>
            <a:pPr algn="ctr"/>
            <a:r>
              <a:rPr lang="en-US" sz="2800" dirty="0"/>
              <a:t> are elements of the list [1..3] and y </a:t>
            </a:r>
            <a:r>
              <a:rPr lang="en-US" sz="2800" dirty="0">
                <a:sym typeface="Symbol" charset="0"/>
              </a:rPr>
              <a:t></a:t>
            </a:r>
            <a:r>
              <a:rPr lang="en-US" sz="2800" dirty="0"/>
              <a:t> x.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0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9557355-0C94-1544-BE4A-0F3FFA21DC25}" type="slidenum">
              <a:rPr lang="en-US" sz="1400"/>
              <a:pPr/>
              <a:t>7</a:t>
            </a:fld>
            <a:endParaRPr lang="en-US" sz="1400"/>
          </a:p>
        </p:txBody>
      </p:sp>
      <p:sp>
        <p:nvSpPr>
          <p:cNvPr id="22530" name="Text Box 3"/>
          <p:cNvSpPr txBox="1">
            <a:spLocks noChangeArrowheads="1"/>
          </p:cNvSpPr>
          <p:nvPr/>
        </p:nvSpPr>
        <p:spPr bwMode="auto">
          <a:xfrm>
            <a:off x="1000126" y="753228"/>
            <a:ext cx="8099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Using a </a:t>
            </a:r>
            <a:r>
              <a:rPr lang="en-US" dirty="0" err="1"/>
              <a:t>dependant</a:t>
            </a:r>
            <a:r>
              <a:rPr lang="en-US" dirty="0"/>
              <a:t> generator we can define the library function that </a:t>
            </a:r>
            <a:r>
              <a:rPr lang="en-US" u="sng" dirty="0"/>
              <a:t>concatenates</a:t>
            </a:r>
            <a:r>
              <a:rPr lang="en-US" dirty="0"/>
              <a:t> a list of lists:</a:t>
            </a:r>
          </a:p>
        </p:txBody>
      </p:sp>
      <p:sp>
        <p:nvSpPr>
          <p:cNvPr id="22531" name="Text Box 4"/>
          <p:cNvSpPr txBox="1">
            <a:spLocks noChangeArrowheads="1"/>
          </p:cNvSpPr>
          <p:nvPr/>
        </p:nvSpPr>
        <p:spPr bwMode="auto">
          <a:xfrm>
            <a:off x="2198737" y="2743596"/>
            <a:ext cx="5702202" cy="107805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:: [[a]]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charset="0"/>
              </a:rPr>
              <a:t>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[a]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[x |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charset="0"/>
              </a:rPr>
              <a:t>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charset="0"/>
              </a:rPr>
              <a:t>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1559683" y="4128250"/>
            <a:ext cx="238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2533" name="Text Box 8"/>
          <p:cNvSpPr txBox="1">
            <a:spLocks noChangeArrowheads="1"/>
          </p:cNvSpPr>
          <p:nvPr/>
        </p:nvSpPr>
        <p:spPr bwMode="auto">
          <a:xfrm>
            <a:off x="2245102" y="4848843"/>
            <a:ext cx="5609471" cy="156966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concat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[ [1,2,3], [4,5], [6] ]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[1,2,3,4,5,6]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/>
      <p:bldP spid="22532" grpId="0"/>
      <p:bldP spid="225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592676" y="732536"/>
            <a:ext cx="1667094" cy="10809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  <a:ea typeface="ＭＳ Ｐゴシック" charset="0"/>
                <a:cs typeface="ＭＳ Ｐゴシック" charset="0"/>
              </a:rPr>
              <a:t>Guards</a:t>
            </a:r>
          </a:p>
        </p:txBody>
      </p:sp>
      <p:sp>
        <p:nvSpPr>
          <p:cNvPr id="2355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B8429BB-C141-CC4E-AF2C-1B777CB4FE98}" type="slidenum">
              <a:rPr lang="en-US" sz="1400"/>
              <a:pPr/>
              <a:t>8</a:t>
            </a:fld>
            <a:endParaRPr lang="en-US" sz="1400"/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565418" y="2134257"/>
            <a:ext cx="82089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List comprehensions can use </a:t>
            </a:r>
            <a:r>
              <a:rPr lang="en-US" u="sng" dirty="0"/>
              <a:t>guards</a:t>
            </a:r>
            <a:r>
              <a:rPr lang="en-US" dirty="0"/>
              <a:t> to restrict the values produced by earlier generators.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3052763" y="3316829"/>
            <a:ext cx="4363695" cy="59105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[x | x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 charset="0"/>
              </a:rPr>
              <a:t>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[1..10], even x]</a:t>
            </a:r>
          </a:p>
        </p:txBody>
      </p:sp>
      <p:sp>
        <p:nvSpPr>
          <p:cNvPr id="23557" name="AutoShape 5"/>
          <p:cNvSpPr>
            <a:spLocks noChangeArrowheads="1"/>
          </p:cNvSpPr>
          <p:nvPr/>
        </p:nvSpPr>
        <p:spPr bwMode="auto">
          <a:xfrm>
            <a:off x="2133814" y="4676909"/>
            <a:ext cx="7072169" cy="1532334"/>
          </a:xfrm>
          <a:prstGeom prst="wedgeRoundRectCallout">
            <a:avLst>
              <a:gd name="adj1" fmla="val -21969"/>
              <a:gd name="adj2" fmla="val -101333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800" dirty="0"/>
              <a:t>The list [2,4,6,8,10] of all numbers x such that x is an element of the list [1..10] and x is even.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5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08FD34C-E4B7-6F48-B7EA-2EA7458A9341}" type="slidenum">
              <a:rPr lang="en-US" sz="1400"/>
              <a:pPr/>
              <a:t>9</a:t>
            </a:fld>
            <a:endParaRPr lang="en-US" sz="1400"/>
          </a:p>
        </p:txBody>
      </p:sp>
      <p:sp>
        <p:nvSpPr>
          <p:cNvPr id="24578" name="Text Box 4"/>
          <p:cNvSpPr txBox="1">
            <a:spLocks noChangeArrowheads="1"/>
          </p:cNvSpPr>
          <p:nvPr/>
        </p:nvSpPr>
        <p:spPr bwMode="auto">
          <a:xfrm>
            <a:off x="2667000" y="2261316"/>
            <a:ext cx="5221301" cy="147662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factors :: Int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charset="0"/>
              </a:rPr>
              <a:t>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[Int]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factors n =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[x | x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 charset="0"/>
              </a:rPr>
              <a:t>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[1..n], n `mod` x == 0]</a:t>
            </a:r>
          </a:p>
        </p:txBody>
      </p:sp>
      <p:sp>
        <p:nvSpPr>
          <p:cNvPr id="24579" name="Text Box 7"/>
          <p:cNvSpPr txBox="1">
            <a:spLocks noChangeArrowheads="1"/>
          </p:cNvSpPr>
          <p:nvPr/>
        </p:nvSpPr>
        <p:spPr bwMode="auto">
          <a:xfrm>
            <a:off x="675174" y="753228"/>
            <a:ext cx="8208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Using a guard we can define a function that maps a positive integer to its list of </a:t>
            </a:r>
            <a:r>
              <a:rPr lang="en-US" u="sng" dirty="0"/>
              <a:t>factors</a:t>
            </a:r>
            <a:r>
              <a:rPr lang="en-US" dirty="0"/>
              <a:t>:</a:t>
            </a:r>
          </a:p>
        </p:txBody>
      </p:sp>
      <p:sp>
        <p:nvSpPr>
          <p:cNvPr id="24580" name="Text Box 8"/>
          <p:cNvSpPr txBox="1">
            <a:spLocks noChangeArrowheads="1"/>
          </p:cNvSpPr>
          <p:nvPr/>
        </p:nvSpPr>
        <p:spPr bwMode="auto">
          <a:xfrm>
            <a:off x="1935163" y="3927476"/>
            <a:ext cx="2381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4581" name="Text Box 9"/>
          <p:cNvSpPr txBox="1">
            <a:spLocks noChangeArrowheads="1"/>
          </p:cNvSpPr>
          <p:nvPr/>
        </p:nvSpPr>
        <p:spPr bwMode="auto">
          <a:xfrm>
            <a:off x="3062976" y="4845578"/>
            <a:ext cx="3433358" cy="138499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 factors 15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[1,3,5,15]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AABD6-CF8E-B4F5-FD32-841C1E419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457200" eaLnBrk="0" fontAlgn="base" hangingPunct="0">
              <a:spcAft>
                <a:spcPct val="0"/>
              </a:spcAft>
            </a:pPr>
            <a:r>
              <a:rPr kumimoji="1" lang="en-US" sz="3200" dirty="0"/>
              <a:t>Prime numbers</a:t>
            </a:r>
          </a:p>
        </p:txBody>
      </p:sp>
      <p:sp>
        <p:nvSpPr>
          <p:cNvPr id="2662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ACFBAA4-6E66-4C44-8D9B-1CF8F307E853}" type="slidenum">
              <a:rPr lang="en-US" sz="1400"/>
              <a:pPr/>
              <a:t>10</a:t>
            </a:fld>
            <a:endParaRPr lang="en-US" sz="1400"/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768350" y="2138393"/>
            <a:ext cx="828675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3200" dirty="0"/>
              <a:t>A positive integer is </a:t>
            </a:r>
            <a:r>
              <a:rPr lang="en-US" sz="3200" u="sng" dirty="0"/>
              <a:t>prime</a:t>
            </a:r>
            <a:r>
              <a:rPr lang="en-US" sz="3200" dirty="0"/>
              <a:t> if its only factors are 1 and itself.  Hence, using factors we can define a function that decides if a number is prime: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121597" y="4504723"/>
            <a:ext cx="7548444" cy="121558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200" dirty="0">
                <a:latin typeface="Lucida Sans Typewriter" panose="020B0509030504030204" pitchFamily="49" charset="77"/>
                <a:cs typeface="Arial" panose="020B0604020202020204" pitchFamily="34" charset="0"/>
              </a:rPr>
              <a:t>prime :: Int </a:t>
            </a:r>
            <a:r>
              <a:rPr lang="en-US" sz="3200" dirty="0">
                <a:latin typeface="Lucida Sans Typewriter" panose="020B0509030504030204" pitchFamily="49" charset="77"/>
                <a:cs typeface="Arial" panose="020B0604020202020204" pitchFamily="34" charset="0"/>
                <a:sym typeface="Symbol" charset="0"/>
              </a:rPr>
              <a:t></a:t>
            </a:r>
            <a:r>
              <a:rPr lang="en-US" sz="3200" dirty="0">
                <a:latin typeface="Lucida Sans Typewriter" panose="020B0509030504030204" pitchFamily="49" charset="77"/>
                <a:cs typeface="Arial" panose="020B0604020202020204" pitchFamily="34" charset="0"/>
              </a:rPr>
              <a:t> Bool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Lucida Sans Typewriter" panose="020B0509030504030204" pitchFamily="49" charset="77"/>
                <a:cs typeface="Arial" panose="020B0604020202020204" pitchFamily="34" charset="0"/>
              </a:rPr>
              <a:t>prime n = factors n == [1,n]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8348207" y="3549380"/>
            <a:ext cx="238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8138616" y="4215354"/>
            <a:ext cx="3931787" cy="224676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>
                <a:latin typeface="Lucida Sans Typewriter" charset="0"/>
              </a:rPr>
              <a:t>&gt; prime 15</a:t>
            </a:r>
          </a:p>
          <a:p>
            <a:r>
              <a:rPr lang="en-US" dirty="0">
                <a:latin typeface="Lucida Sans Typewriter" charset="0"/>
              </a:rPr>
              <a:t>False</a:t>
            </a:r>
          </a:p>
          <a:p>
            <a:endParaRPr lang="en-US" dirty="0">
              <a:latin typeface="Lucida Sans Typewriter" charset="0"/>
            </a:endParaRPr>
          </a:p>
          <a:p>
            <a:r>
              <a:rPr lang="en-US" dirty="0">
                <a:latin typeface="Lucida Sans Typewriter" charset="0"/>
              </a:rPr>
              <a:t>&gt; prime 7</a:t>
            </a:r>
          </a:p>
          <a:p>
            <a:r>
              <a:rPr lang="en-US" dirty="0">
                <a:latin typeface="Lucida Sans Typewriter" charset="0"/>
              </a:rPr>
              <a:t>True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nimBg="1"/>
      <p:bldP spid="26628" grpId="0"/>
      <p:bldP spid="266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A41634B-C318-8A49-A599-896BE9DA6467}" type="slidenum">
              <a:rPr lang="en-US" sz="1400"/>
              <a:pPr/>
              <a:t>11</a:t>
            </a:fld>
            <a:endParaRPr lang="en-US" sz="1400"/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741583" y="2230365"/>
            <a:ext cx="82867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Using a guard we can now define a function that returns the list of all </a:t>
            </a:r>
            <a:r>
              <a:rPr lang="en-US" u="sng" dirty="0"/>
              <a:t>primes</a:t>
            </a:r>
            <a:r>
              <a:rPr lang="en-US" dirty="0"/>
              <a:t> up to a given limit: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395632" y="3429000"/>
            <a:ext cx="6978650" cy="9652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primes :: Int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[Int]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primes n = [x | x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[2..n], prime x]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680321" y="4821310"/>
            <a:ext cx="238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2724477" y="5422079"/>
            <a:ext cx="6320961" cy="120032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primes 40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[2,3,5,7,11,13,17,19,23,29,31,37]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22F3C6-730B-571E-2157-5C32E7ED7E8C}"/>
              </a:ext>
            </a:extLst>
          </p:cNvPr>
          <p:cNvSpPr txBox="1">
            <a:spLocks/>
          </p:cNvSpPr>
          <p:nvPr/>
        </p:nvSpPr>
        <p:spPr>
          <a:xfrm>
            <a:off x="308392" y="935872"/>
            <a:ext cx="9613861" cy="108093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Prime numbers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nimBg="1"/>
      <p:bldP spid="27652" grpId="0"/>
      <p:bldP spid="2765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728845"/>
            <a:ext cx="9613861" cy="1080938"/>
          </a:xfrm>
        </p:spPr>
        <p:txBody>
          <a:bodyPr>
            <a:normAutofit/>
          </a:bodyPr>
          <a:lstStyle/>
          <a:p>
            <a:r>
              <a:rPr lang="en-US" sz="3200" dirty="0"/>
              <a:t>The Zip Function</a:t>
            </a:r>
          </a:p>
        </p:txBody>
      </p:sp>
      <p:sp>
        <p:nvSpPr>
          <p:cNvPr id="2867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6CF81B6-1099-5F48-96BC-A0C471B360D5}" type="slidenum">
              <a:rPr lang="en-US" sz="1400"/>
              <a:pPr/>
              <a:t>12</a:t>
            </a:fld>
            <a:endParaRPr lang="en-US" sz="1400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059172" y="2014839"/>
            <a:ext cx="8347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useful library function is </a:t>
            </a:r>
            <a:r>
              <a:rPr lang="en-US" u="sng" dirty="0"/>
              <a:t>zip</a:t>
            </a:r>
            <a:r>
              <a:rPr lang="en-US" dirty="0"/>
              <a:t>, which maps two lists to a list of pairs of their corresponding elements.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630796" y="3371101"/>
            <a:ext cx="5203825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zip ::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[b]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[(</a:t>
            </a:r>
            <a:r>
              <a:rPr lang="en-US" sz="2400" dirty="0" err="1">
                <a:latin typeface="Lucida Sans Typewriter" charset="0"/>
              </a:rPr>
              <a:t>a,b</a:t>
            </a:r>
            <a:r>
              <a:rPr lang="en-US" sz="2400" dirty="0">
                <a:latin typeface="Lucida Sans Typewriter" charset="0"/>
              </a:rPr>
              <a:t>)]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946275" y="4087813"/>
            <a:ext cx="2381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2825751" y="5125950"/>
            <a:ext cx="5384807" cy="120032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>
                <a:latin typeface="Lucida Sans Typewriter" charset="0"/>
              </a:rPr>
              <a:t>&gt; zip [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,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c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] [1,2,3,4]</a:t>
            </a:r>
          </a:p>
          <a:p>
            <a:endParaRPr lang="en-US" sz="2400">
              <a:latin typeface="Lucida Sans Typewriter" charset="0"/>
            </a:endParaRPr>
          </a:p>
          <a:p>
            <a:r>
              <a:rPr lang="en-US" sz="2400">
                <a:latin typeface="Lucida Sans Typewriter" charset="0"/>
              </a:rPr>
              <a:t>[(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,1),(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,2),(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c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>
                <a:latin typeface="Lucida Sans Typewriter" charset="0"/>
              </a:rPr>
              <a:t>,3)]</a:t>
            </a:r>
            <a:endParaRPr lang="en-US" sz="2400">
              <a:latin typeface="Lucida Sans Typewrit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28677" grpId="0"/>
      <p:bldP spid="2867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61ACC-3EE8-1EA1-3216-88BBF1FB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2969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7408B8D-25F2-9A40-B601-A9420BB7ADF0}" type="slidenum">
              <a:rPr lang="en-US" sz="1400"/>
              <a:pPr/>
              <a:t>13</a:t>
            </a:fld>
            <a:endParaRPr lang="en-US" sz="1400"/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974997" y="2093722"/>
            <a:ext cx="81645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Using zip we can define a function returns the list of all </a:t>
            </a:r>
            <a:r>
              <a:rPr lang="en-US" u="sng" dirty="0"/>
              <a:t>pairs</a:t>
            </a:r>
            <a:r>
              <a:rPr lang="en-US" dirty="0"/>
              <a:t> of adjacent elements from a list:</a:t>
            </a:r>
          </a:p>
        </p:txBody>
      </p:sp>
      <p:sp>
        <p:nvSpPr>
          <p:cNvPr id="29699" name="Text Box 9"/>
          <p:cNvSpPr txBox="1">
            <a:spLocks noChangeArrowheads="1"/>
          </p:cNvSpPr>
          <p:nvPr/>
        </p:nvSpPr>
        <p:spPr bwMode="auto">
          <a:xfrm>
            <a:off x="1884363" y="4764278"/>
            <a:ext cx="8301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29700" name="Text Box 10"/>
          <p:cNvSpPr txBox="1">
            <a:spLocks noChangeArrowheads="1"/>
          </p:cNvSpPr>
          <p:nvPr/>
        </p:nvSpPr>
        <p:spPr bwMode="auto">
          <a:xfrm>
            <a:off x="2479154" y="3574687"/>
            <a:ext cx="5156200" cy="9683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pairs ::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[(</a:t>
            </a:r>
            <a:r>
              <a:rPr lang="en-US" sz="2400" dirty="0" err="1">
                <a:latin typeface="Lucida Sans Typewriter" charset="0"/>
              </a:rPr>
              <a:t>a,a</a:t>
            </a:r>
            <a:r>
              <a:rPr lang="en-US" sz="2400" dirty="0">
                <a:latin typeface="Lucida Sans Typewriter" charset="0"/>
              </a:rPr>
              <a:t>)]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pairs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zip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(tail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)</a:t>
            </a:r>
          </a:p>
        </p:txBody>
      </p:sp>
      <p:sp>
        <p:nvSpPr>
          <p:cNvPr id="29701" name="Text Box 11"/>
          <p:cNvSpPr txBox="1">
            <a:spLocks noChangeArrowheads="1"/>
          </p:cNvSpPr>
          <p:nvPr/>
        </p:nvSpPr>
        <p:spPr bwMode="auto">
          <a:xfrm>
            <a:off x="2806700" y="5504607"/>
            <a:ext cx="3717684" cy="120032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pairs [1,2,3,4]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[(1,2),(2,3),(3,4)]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F5D632-3E62-E41A-723B-79C53EC65BA5}"/>
              </a:ext>
            </a:extLst>
          </p:cNvPr>
          <p:cNvSpPr txBox="1">
            <a:spLocks noChangeArrowheads="1"/>
          </p:cNvSpPr>
          <p:nvPr/>
        </p:nvSpPr>
        <p:spPr>
          <a:xfrm>
            <a:off x="308392" y="964354"/>
            <a:ext cx="9613861" cy="108093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The Zip Function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311BC95-8EC1-F0DD-1C08-5AC116F93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1348" y="4543062"/>
            <a:ext cx="2988106" cy="2009061"/>
          </a:xfrm>
          <a:prstGeom prst="wedgeRoundRectCallout">
            <a:avLst>
              <a:gd name="adj1" fmla="val -121246"/>
              <a:gd name="adj2" fmla="val 3588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800" dirty="0"/>
              <a:t>This is more useful than it may seem on first reading!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/>
      <p:bldP spid="29700" grpId="0" animBg="1"/>
      <p:bldP spid="29701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E461-23FA-6D9C-1818-49651303C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the pairs function</a:t>
            </a:r>
          </a:p>
        </p:txBody>
      </p:sp>
      <p:sp>
        <p:nvSpPr>
          <p:cNvPr id="3072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5F4A813-3B5B-1149-838F-01A1F32E5ED0}" type="slidenum">
              <a:rPr lang="en-US" sz="1400"/>
              <a:pPr/>
              <a:t>14</a:t>
            </a:fld>
            <a:endParaRPr lang="en-US" sz="1400"/>
          </a:p>
        </p:txBody>
      </p:sp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1122930" y="2109334"/>
            <a:ext cx="8128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Using pairs we can define a function that decides if the elements in a list are </a:t>
            </a:r>
            <a:r>
              <a:rPr lang="en-US" u="sng" dirty="0"/>
              <a:t>sorted</a:t>
            </a:r>
            <a:r>
              <a:rPr lang="en-US" dirty="0"/>
              <a:t>: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739456" y="4659452"/>
            <a:ext cx="253600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007459" y="3276321"/>
            <a:ext cx="8074025" cy="89852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sorted :: Ord a </a:t>
            </a:r>
            <a:r>
              <a:rPr lang="en-US" sz="2400" dirty="0">
                <a:latin typeface="Lucida Sans Typewriter" charset="0"/>
                <a:sym typeface="Symbol" charset="0"/>
              </a:rPr>
              <a:t>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Bool</a:t>
            </a:r>
          </a:p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sorted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and [x </a:t>
            </a:r>
            <a:r>
              <a:rPr lang="en-US" sz="2400" dirty="0">
                <a:latin typeface="Lucida Sans Typewriter" charset="0"/>
                <a:sym typeface="Symbol" charset="0"/>
              </a:rPr>
              <a:t></a:t>
            </a:r>
            <a:r>
              <a:rPr lang="en-US" sz="2400" dirty="0">
                <a:latin typeface="Lucida Sans Typewriter" charset="0"/>
              </a:rPr>
              <a:t> y | (</a:t>
            </a:r>
            <a:r>
              <a:rPr lang="en-US" sz="2400" dirty="0" err="1">
                <a:latin typeface="Lucida Sans Typewriter" charset="0"/>
              </a:rPr>
              <a:t>x,y</a:t>
            </a:r>
            <a:r>
              <a:rPr lang="en-US" sz="2400" dirty="0">
                <a:latin typeface="Lucida Sans Typewriter" charset="0"/>
              </a:rPr>
              <a:t>) </a:t>
            </a:r>
            <a:r>
              <a:rPr lang="en-US" sz="2400" dirty="0">
                <a:latin typeface="Lucida Sans Typewriter" charset="0"/>
                <a:sym typeface="Symbol" charset="0"/>
              </a:rPr>
              <a:t></a:t>
            </a:r>
            <a:r>
              <a:rPr lang="en-US" sz="2400" dirty="0">
                <a:latin typeface="Lucida Sans Typewriter" charset="0"/>
              </a:rPr>
              <a:t> pairs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]</a:t>
            </a:r>
          </a:p>
        </p:txBody>
      </p:sp>
      <p:sp>
        <p:nvSpPr>
          <p:cNvPr id="3" name="AutoShape 5">
            <a:extLst>
              <a:ext uri="{FF2B5EF4-FFF2-40B4-BE49-F238E27FC236}">
                <a16:creationId xmlns:a16="http://schemas.microsoft.com/office/drawing/2014/main" id="{7C1C620A-38D7-417A-0BBE-D141438B3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2978" y="4254169"/>
            <a:ext cx="3652838" cy="2485787"/>
          </a:xfrm>
          <a:prstGeom prst="wedgeRoundRectCallout">
            <a:avLst>
              <a:gd name="adj1" fmla="val -162504"/>
              <a:gd name="adj2" fmla="val -53214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and</a:t>
            </a:r>
            <a:r>
              <a:rPr lang="en-US" sz="2800" dirty="0"/>
              <a:t> takes a list of Booleans and returns true is all elements are true, false otherwise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4330132" y="4527567"/>
            <a:ext cx="3531736" cy="1938992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sorted [1,2,3,4]</a:t>
            </a:r>
          </a:p>
          <a:p>
            <a:r>
              <a:rPr lang="en-US" sz="2400" dirty="0">
                <a:latin typeface="Lucida Sans Typewriter" charset="0"/>
              </a:rPr>
              <a:t>True</a:t>
            </a:r>
          </a:p>
          <a:p>
            <a:endParaRPr lang="en-US" sz="2400" dirty="0">
              <a:latin typeface="Lucida Sans Typewriter" charset="0"/>
            </a:endParaRPr>
          </a:p>
          <a:p>
            <a:r>
              <a:rPr lang="en-US" sz="2400" dirty="0">
                <a:latin typeface="Lucida Sans Typewriter" charset="0"/>
              </a:rPr>
              <a:t>&gt; sorted [1,3,2,4]</a:t>
            </a:r>
          </a:p>
          <a:p>
            <a:r>
              <a:rPr lang="en-US" sz="2400" dirty="0">
                <a:latin typeface="Lucida Sans Typewriter" charset="0"/>
              </a:rPr>
              <a:t>False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  <p:bldP spid="30724" grpId="0" animBg="1"/>
      <p:bldP spid="3" grpId="0" animBg="1"/>
      <p:bldP spid="307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699DC-DD2E-A366-1220-6330C9911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Using zip</a:t>
            </a:r>
          </a:p>
        </p:txBody>
      </p:sp>
      <p:sp>
        <p:nvSpPr>
          <p:cNvPr id="3174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9D3DC69-F4BF-984B-88E4-C7973DBBFD80}" type="slidenum">
              <a:rPr lang="en-US" sz="1400"/>
              <a:pPr/>
              <a:t>15</a:t>
            </a:fld>
            <a:endParaRPr lang="en-US" sz="1400"/>
          </a:p>
        </p:txBody>
      </p:sp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1648887" y="2022507"/>
            <a:ext cx="8277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Using zip we can define a function that returns the list of all </a:t>
            </a:r>
            <a:r>
              <a:rPr lang="en-US" u="sng" dirty="0"/>
              <a:t>positions</a:t>
            </a:r>
            <a:r>
              <a:rPr lang="en-US" dirty="0"/>
              <a:t> of a value in a list: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915061" y="3121865"/>
            <a:ext cx="7535862" cy="156210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positions :: Eq a </a:t>
            </a:r>
            <a:r>
              <a:rPr lang="en-US" sz="2400" dirty="0">
                <a:latin typeface="Lucida Sans Typewriter" charset="0"/>
                <a:sym typeface="Symbol" charset="0"/>
              </a:rPr>
              <a:t></a:t>
            </a:r>
            <a:r>
              <a:rPr lang="en-US" sz="2400" dirty="0">
                <a:latin typeface="Lucida Sans Typewriter" charset="0"/>
              </a:rPr>
              <a:t> a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[a]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[Int]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positions x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   [</a:t>
            </a:r>
            <a:r>
              <a:rPr lang="en-US" sz="2400" dirty="0" err="1">
                <a:latin typeface="Lucida Sans Typewriter" charset="0"/>
              </a:rPr>
              <a:t>i</a:t>
            </a:r>
            <a:r>
              <a:rPr lang="en-US" sz="2400" dirty="0">
                <a:latin typeface="Lucida Sans Typewriter" charset="0"/>
              </a:rPr>
              <a:t> | (x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</a:t>
            </a:r>
            <a:r>
              <a:rPr lang="en-US" altLang="ja-JP" sz="2400" dirty="0" err="1">
                <a:latin typeface="Lucida Sans Typewriter" charset="0"/>
              </a:rPr>
              <a:t>i</a:t>
            </a:r>
            <a:r>
              <a:rPr lang="en-US" altLang="ja-JP" sz="2400" dirty="0">
                <a:latin typeface="Lucida Sans Typewriter" charset="0"/>
              </a:rPr>
              <a:t>)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</a:t>
            </a:r>
            <a:r>
              <a:rPr lang="en-US" altLang="ja-JP" sz="2400" dirty="0">
                <a:latin typeface="Lucida Sans Typewriter" charset="0"/>
              </a:rPr>
              <a:t> zip </a:t>
            </a:r>
            <a:r>
              <a:rPr lang="en-US" altLang="ja-JP" sz="2400" dirty="0" err="1">
                <a:latin typeface="Lucida Sans Typewriter" charset="0"/>
              </a:rPr>
              <a:t>xs</a:t>
            </a:r>
            <a:r>
              <a:rPr lang="en-US" altLang="ja-JP" sz="2400" dirty="0">
                <a:latin typeface="Lucida Sans Typewriter" charset="0"/>
              </a:rPr>
              <a:t> [0..], x == x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]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162787" y="4911946"/>
            <a:ext cx="922238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 where does 0 appear in the following list? 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2520213" y="5650747"/>
            <a:ext cx="5934075" cy="9080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positions 0 [1,0,0,1,0,1,1,0]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[1,2,4,7]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26740A3D-ACB1-4458-CD9E-AD1604ACC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5244" y="2495582"/>
            <a:ext cx="2556756" cy="2145268"/>
          </a:xfrm>
          <a:prstGeom prst="wedgeRoundRectCallout">
            <a:avLst>
              <a:gd name="adj1" fmla="val -145327"/>
              <a:gd name="adj2" fmla="val 37776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400" dirty="0"/>
              <a:t>This will produce as many elements ‘as are needed’ (lazy)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animBg="1"/>
      <p:bldP spid="31748" grpId="0"/>
      <p:bldP spid="31749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5A71-66AD-1864-62CD-D282953E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1745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9D3DC69-F4BF-984B-88E4-C7973DBBFD80}" type="slidenum">
              <a:rPr lang="en-US" sz="1400"/>
              <a:pPr/>
              <a:t>16</a:t>
            </a:fld>
            <a:endParaRPr lang="en-US" sz="1400"/>
          </a:p>
        </p:txBody>
      </p:sp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982957" y="2234710"/>
            <a:ext cx="900858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The library function that calculates the length of a list is defined by replacing each element by 1 and summing the resulting list. 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076108" y="3982354"/>
            <a:ext cx="6361112" cy="954107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IE" dirty="0"/>
              <a:t>length :: [a] -&gt; </a:t>
            </a:r>
            <a:r>
              <a:rPr lang="en-IE" dirty="0" err="1"/>
              <a:t>Int</a:t>
            </a:r>
            <a:endParaRPr lang="en-IE" dirty="0"/>
          </a:p>
          <a:p>
            <a:r>
              <a:rPr lang="en-IE" dirty="0"/>
              <a:t>length </a:t>
            </a:r>
            <a:r>
              <a:rPr lang="en-IE" dirty="0" err="1"/>
              <a:t>xs</a:t>
            </a:r>
            <a:r>
              <a:rPr lang="en-IE" dirty="0"/>
              <a:t> = sum [1 | _ &lt;- </a:t>
            </a:r>
            <a:r>
              <a:rPr lang="en-IE" dirty="0" err="1"/>
              <a:t>xs</a:t>
            </a:r>
            <a:r>
              <a:rPr lang="en-IE" dirty="0"/>
              <a:t>]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076108" y="5258637"/>
            <a:ext cx="24162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3763142" y="5921668"/>
            <a:ext cx="3159839" cy="90794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&gt; length [1,2,3]</a:t>
            </a:r>
          </a:p>
          <a:p>
            <a:pPr>
              <a:spcAft>
                <a:spcPts val="600"/>
              </a:spcAft>
            </a:pPr>
            <a:r>
              <a:rPr lang="en-US" sz="2400" dirty="0">
                <a:latin typeface="Lucida Sans Typewriter" charset="0"/>
              </a:rPr>
              <a:t>3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80321" y="950797"/>
            <a:ext cx="7772400" cy="685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ＭＳ Ｐゴシック" pitchFamily="-1" charset="-128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  <a:ea typeface="ＭＳ Ｐゴシック" pitchFamily="-1" charset="-128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pitchFamily="-1" charset="0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ea typeface="+mj-ea"/>
                <a:cs typeface="+mj-cs"/>
              </a:rPr>
              <a:t>length function</a:t>
            </a:r>
          </a:p>
        </p:txBody>
      </p:sp>
    </p:spTree>
    <p:extLst>
      <p:ext uri="{BB962C8B-B14F-4D97-AF65-F5344CB8AC3E}">
        <p14:creationId xmlns:p14="http://schemas.microsoft.com/office/powerpoint/2010/main" val="412033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animBg="1"/>
      <p:bldP spid="31748" grpId="0"/>
      <p:bldP spid="317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457200" eaLnBrk="0" fontAlgn="base" hangingPunct="0">
              <a:spcAft>
                <a:spcPct val="0"/>
              </a:spcAft>
            </a:pPr>
            <a:r>
              <a:rPr kumimoji="1" lang="en-US" sz="3200" dirty="0"/>
              <a:t>String Comprehensions</a:t>
            </a:r>
          </a:p>
        </p:txBody>
      </p:sp>
      <p:sp>
        <p:nvSpPr>
          <p:cNvPr id="3276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0C6DC88-D0FE-4749-AAC7-B778BC577D57}" type="slidenum">
              <a:rPr lang="en-US" sz="1400"/>
              <a:pPr/>
              <a:t>17</a:t>
            </a:fld>
            <a:endParaRPr lang="en-US" sz="1400"/>
          </a:p>
        </p:txBody>
      </p:sp>
      <p:sp>
        <p:nvSpPr>
          <p:cNvPr id="32771" name="Text Box 8"/>
          <p:cNvSpPr txBox="1">
            <a:spLocks noChangeArrowheads="1"/>
          </p:cNvSpPr>
          <p:nvPr/>
        </p:nvSpPr>
        <p:spPr bwMode="auto">
          <a:xfrm>
            <a:off x="1664126" y="2242645"/>
            <a:ext cx="836453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A </a:t>
            </a:r>
            <a:r>
              <a:rPr lang="en-US" u="sng" dirty="0"/>
              <a:t>string</a:t>
            </a:r>
            <a:r>
              <a:rPr lang="en-US" dirty="0"/>
              <a:t> is a sequence of characters enclosed in double quotes.  Internally, however, strings are represented as lists of characters.</a:t>
            </a:r>
          </a:p>
        </p:txBody>
      </p:sp>
      <p:sp>
        <p:nvSpPr>
          <p:cNvPr id="32772" name="Text Box 10"/>
          <p:cNvSpPr txBox="1">
            <a:spLocks noChangeArrowheads="1"/>
          </p:cNvSpPr>
          <p:nvPr/>
        </p:nvSpPr>
        <p:spPr bwMode="auto">
          <a:xfrm>
            <a:off x="3421064" y="3880497"/>
            <a:ext cx="2973891" cy="46384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400" dirty="0">
                <a:latin typeface="Lucida Sans Typewriter" charset="0"/>
              </a:rPr>
              <a:t>"</a:t>
            </a:r>
            <a:r>
              <a:rPr lang="en-US" sz="2400" dirty="0" err="1">
                <a:latin typeface="Lucida Sans Typewriter" charset="0"/>
              </a:rPr>
              <a:t>abc</a:t>
            </a:r>
            <a:r>
              <a:rPr lang="en-US" sz="2400" dirty="0">
                <a:latin typeface="Lucida Sans Typewriter" charset="0"/>
              </a:rPr>
              <a:t>" :: String</a:t>
            </a:r>
          </a:p>
        </p:txBody>
      </p:sp>
      <p:sp>
        <p:nvSpPr>
          <p:cNvPr id="32773" name="AutoShape 12"/>
          <p:cNvSpPr>
            <a:spLocks noChangeArrowheads="1"/>
          </p:cNvSpPr>
          <p:nvPr/>
        </p:nvSpPr>
        <p:spPr bwMode="auto">
          <a:xfrm>
            <a:off x="2581533" y="5525890"/>
            <a:ext cx="5565775" cy="578882"/>
          </a:xfrm>
          <a:prstGeom prst="wedgeRoundRectCallout">
            <a:avLst>
              <a:gd name="adj1" fmla="val -23985"/>
              <a:gd name="adj2" fmla="val -258493"/>
              <a:gd name="adj3" fmla="val 16667"/>
            </a:avLst>
          </a:prstGeom>
          <a:solidFill>
            <a:schemeClr val="accent4"/>
          </a:solidFill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Means [</a:t>
            </a:r>
            <a:r>
              <a:rPr lang="ja-JP" altLang="en-US" sz="2800">
                <a:latin typeface="+mj-lt"/>
              </a:rPr>
              <a:t>’</a:t>
            </a:r>
            <a:r>
              <a:rPr lang="en-US" altLang="ja-JP" sz="2800" dirty="0">
                <a:latin typeface="+mj-lt"/>
              </a:rPr>
              <a:t>a</a:t>
            </a:r>
            <a:r>
              <a:rPr lang="ja-JP" altLang="en-US" sz="2800">
                <a:latin typeface="+mj-lt"/>
              </a:rPr>
              <a:t>’</a:t>
            </a:r>
            <a:r>
              <a:rPr lang="en-US" altLang="ja-JP" sz="2800" dirty="0">
                <a:latin typeface="+mj-lt"/>
              </a:rPr>
              <a:t>, </a:t>
            </a:r>
            <a:r>
              <a:rPr lang="ja-JP" altLang="en-US" sz="2800">
                <a:latin typeface="+mj-lt"/>
              </a:rPr>
              <a:t>’</a:t>
            </a:r>
            <a:r>
              <a:rPr lang="en-US" altLang="ja-JP" sz="2800" dirty="0">
                <a:latin typeface="+mj-lt"/>
              </a:rPr>
              <a:t>b</a:t>
            </a:r>
            <a:r>
              <a:rPr lang="ja-JP" altLang="en-US" sz="2800">
                <a:latin typeface="+mj-lt"/>
              </a:rPr>
              <a:t>’</a:t>
            </a:r>
            <a:r>
              <a:rPr lang="en-US" altLang="ja-JP" sz="2800" dirty="0">
                <a:latin typeface="+mj-lt"/>
              </a:rPr>
              <a:t>, </a:t>
            </a:r>
            <a:r>
              <a:rPr lang="ja-JP" altLang="en-US" sz="2800">
                <a:latin typeface="+mj-lt"/>
              </a:rPr>
              <a:t>’</a:t>
            </a:r>
            <a:r>
              <a:rPr lang="en-US" altLang="ja-JP" sz="2800" dirty="0">
                <a:latin typeface="+mj-lt"/>
              </a:rPr>
              <a:t>c</a:t>
            </a:r>
            <a:r>
              <a:rPr lang="ja-JP" altLang="en-US" sz="2800">
                <a:latin typeface="+mj-lt"/>
              </a:rPr>
              <a:t>’</a:t>
            </a:r>
            <a:r>
              <a:rPr lang="en-US" altLang="ja-JP" sz="2800" dirty="0">
                <a:latin typeface="+mj-lt"/>
              </a:rPr>
              <a:t>] :: [Char].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2" grpId="0" animBg="1"/>
      <p:bldP spid="3277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CCE5-CF09-3933-6863-4EB16809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Strings are lists:  ‘syntactic sugar’</a:t>
            </a:r>
          </a:p>
        </p:txBody>
      </p:sp>
      <p:sp>
        <p:nvSpPr>
          <p:cNvPr id="33793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3932369-238F-4245-BADF-FB35BA3094AD}" type="slidenum">
              <a:rPr lang="en-US" sz="1400"/>
              <a:pPr/>
              <a:t>18</a:t>
            </a:fld>
            <a:endParaRPr lang="en-US" sz="1400"/>
          </a:p>
        </p:txBody>
      </p:sp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1480401" y="2080628"/>
            <a:ext cx="80137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Because strings are just special kinds of lists, any </a:t>
            </a:r>
            <a:r>
              <a:rPr lang="en-US" u="sng" dirty="0"/>
              <a:t>polymorphic</a:t>
            </a:r>
            <a:r>
              <a:rPr lang="en-US" dirty="0"/>
              <a:t> function that operates on lists can also be applied to strings.  For example: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59114" y="3651689"/>
            <a:ext cx="3159839" cy="93474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&gt; length "</a:t>
            </a:r>
            <a:r>
              <a:rPr lang="en-US" sz="2400" dirty="0" err="1">
                <a:latin typeface="Lucida Sans Typewriter" charset="0"/>
              </a:rPr>
              <a:t>abcde</a:t>
            </a:r>
            <a:r>
              <a:rPr lang="en-US" sz="2400" dirty="0">
                <a:latin typeface="Lucida Sans Typewriter" charset="0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5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9A0F6F09-C20D-6519-9A46-2BD2D968D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8953" y="4803967"/>
            <a:ext cx="3159839" cy="934743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&gt; take 3 "</a:t>
            </a:r>
            <a:r>
              <a:rPr lang="en-US" sz="2400" dirty="0" err="1">
                <a:latin typeface="Lucida Sans Typewriter" charset="0"/>
              </a:rPr>
              <a:t>abcde</a:t>
            </a:r>
            <a:r>
              <a:rPr lang="en-US" sz="2400" dirty="0">
                <a:latin typeface="Lucida Sans Typewriter" charset="0"/>
              </a:rPr>
              <a:t>"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"</a:t>
            </a:r>
            <a:r>
              <a:rPr lang="en-US" sz="2400" dirty="0" err="1">
                <a:latin typeface="Lucida Sans Typewriter" charset="0"/>
              </a:rPr>
              <a:t>abc</a:t>
            </a:r>
            <a:r>
              <a:rPr lang="en-US" sz="2400" dirty="0">
                <a:latin typeface="Lucida Sans Typewriter" charset="0"/>
              </a:rPr>
              <a:t>"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31008E0-6A31-FF2D-2FCE-03AA5E95E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5423" y="5638683"/>
            <a:ext cx="4641014" cy="932178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&gt; zip "</a:t>
            </a:r>
            <a:r>
              <a:rPr lang="en-US" sz="2400" dirty="0" err="1">
                <a:latin typeface="Lucida Sans Typewriter" charset="0"/>
              </a:rPr>
              <a:t>abc</a:t>
            </a:r>
            <a:r>
              <a:rPr lang="en-US" sz="2400" dirty="0">
                <a:latin typeface="Lucida Sans Typewriter" charset="0"/>
              </a:rPr>
              <a:t>" [1,2,3,4]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[(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a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,1),(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b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,2),(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c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,3)]</a:t>
            </a:r>
            <a:endParaRPr lang="en-US" sz="2400" dirty="0">
              <a:latin typeface="Lucida Sans Typewrit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795" grpId="0" animBg="1"/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ED8C-4A93-6D8F-5781-60D210D6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4817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437207A-5C4F-4A46-AC53-26D8AA8FCCA8}" type="slidenum">
              <a:rPr lang="en-US" sz="1400"/>
              <a:pPr/>
              <a:t>19</a:t>
            </a:fld>
            <a:endParaRPr lang="en-US" sz="1400"/>
          </a:p>
        </p:txBody>
      </p:sp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386609" y="2056881"/>
            <a:ext cx="8174037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Similarly, list comprehensions can also be used to define functions on strings, such counting how many times a character occurs in a string: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386609" y="3832468"/>
            <a:ext cx="8201284" cy="932178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count :: Char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String </a:t>
            </a:r>
            <a:r>
              <a:rPr lang="en-US" sz="2400" dirty="0">
                <a:latin typeface="Lucida Sans Typewriter" charset="0"/>
                <a:sym typeface="Symbol" charset="0"/>
              </a:rPr>
              <a:t></a:t>
            </a:r>
            <a:r>
              <a:rPr lang="en-US" sz="2400" dirty="0">
                <a:latin typeface="Lucida Sans Typewriter" charset="0"/>
              </a:rPr>
              <a:t> </a:t>
            </a:r>
            <a:r>
              <a:rPr lang="en-US" sz="2400" dirty="0" err="1">
                <a:latin typeface="Lucida Sans Typewriter" charset="0"/>
              </a:rPr>
              <a:t>Int</a:t>
            </a:r>
            <a:endParaRPr lang="en-US" sz="2400" dirty="0">
              <a:latin typeface="Lucida Sans Typewriter" charset="0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latin typeface="Lucida Sans Typewriter" charset="0"/>
              </a:rPr>
              <a:t>count x </a:t>
            </a:r>
            <a:r>
              <a:rPr lang="en-US" sz="2400" dirty="0" err="1">
                <a:latin typeface="Lucida Sans Typewriter" charset="0"/>
              </a:rPr>
              <a:t>xs</a:t>
            </a:r>
            <a:r>
              <a:rPr lang="en-US" sz="2400" dirty="0">
                <a:latin typeface="Lucida Sans Typewriter" charset="0"/>
              </a:rPr>
              <a:t> = length [x</a:t>
            </a:r>
            <a:r>
              <a:rPr lang="ja-JP" altLang="en-US" sz="2400" dirty="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| x</a:t>
            </a:r>
            <a:r>
              <a:rPr lang="ja-JP" altLang="en-US" sz="2400" dirty="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</a:t>
            </a:r>
            <a:r>
              <a:rPr lang="en-US" altLang="ja-JP" sz="2400" dirty="0">
                <a:latin typeface="Lucida Sans Typewriter" charset="0"/>
                <a:sym typeface="Symbol" charset="0"/>
              </a:rPr>
              <a:t></a:t>
            </a:r>
            <a:r>
              <a:rPr lang="en-US" altLang="ja-JP" sz="2400" dirty="0">
                <a:latin typeface="Lucida Sans Typewriter" charset="0"/>
              </a:rPr>
              <a:t> </a:t>
            </a:r>
            <a:r>
              <a:rPr lang="en-US" altLang="ja-JP" sz="2400" dirty="0" err="1">
                <a:latin typeface="Lucida Sans Typewriter" charset="0"/>
              </a:rPr>
              <a:t>xs</a:t>
            </a:r>
            <a:r>
              <a:rPr lang="en-US" altLang="ja-JP" sz="2400" dirty="0">
                <a:latin typeface="Lucida Sans Typewriter" charset="0"/>
              </a:rPr>
              <a:t>, x == x</a:t>
            </a:r>
            <a:r>
              <a:rPr lang="ja-JP" altLang="en-US" sz="2400" dirty="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]</a:t>
            </a:r>
            <a:endParaRPr lang="en-US" sz="2400" dirty="0">
              <a:latin typeface="Lucida Sans Typewriter" charset="0"/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158521" y="4966338"/>
            <a:ext cx="8301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dirty="0"/>
              <a:t>For example:</a:t>
            </a:r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2536092" y="5888835"/>
            <a:ext cx="4821237" cy="831850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xtLst>
            <a:ext uri="{91240B29-F687-4f45-9708-019B960494DF}">
              <a14:hiddenLine xmlns:a14="http://schemas.microsoft.com/office/drawing/2010/main" xmlns="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 sz="2400" dirty="0">
                <a:latin typeface="Lucida Sans Typewriter" charset="0"/>
              </a:rPr>
              <a:t>&gt; count 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s</a:t>
            </a:r>
            <a:r>
              <a:rPr lang="ja-JP" altLang="en-US" sz="2400">
                <a:latin typeface="Lucida Sans Typewriter" charset="0"/>
              </a:rPr>
              <a:t>’</a:t>
            </a:r>
            <a:r>
              <a:rPr lang="en-US" altLang="ja-JP" sz="2400" dirty="0">
                <a:latin typeface="Lucida Sans Typewriter" charset="0"/>
              </a:rPr>
              <a:t> "Mississippi"</a:t>
            </a:r>
          </a:p>
          <a:p>
            <a:r>
              <a:rPr lang="en-US" sz="2400" dirty="0">
                <a:latin typeface="Lucida Sans Typewriter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968E4-18A0-BCC4-6DA4-B7F8D0B5258A}"/>
              </a:ext>
            </a:extLst>
          </p:cNvPr>
          <p:cNvSpPr txBox="1"/>
          <p:nvPr/>
        </p:nvSpPr>
        <p:spPr>
          <a:xfrm>
            <a:off x="1158521" y="1109031"/>
            <a:ext cx="61005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Strings are lists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 animBg="1"/>
      <p:bldP spid="34820" grpId="0"/>
      <p:bldP spid="348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570" y="1187730"/>
            <a:ext cx="6511126" cy="4948457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335" indent="-285513"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2056" indent="-228411"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598877" indent="-228411"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5699" indent="-228411"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2520" indent="-228411" eaLnBrk="0" fontAlgn="base" hangingPunct="0">
              <a:spcBef>
                <a:spcPct val="0"/>
              </a:spcBef>
              <a:spcAft>
                <a:spcPct val="0"/>
              </a:spcAft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69344" indent="-228411" eaLnBrk="0" fontAlgn="base" hangingPunct="0">
              <a:spcBef>
                <a:spcPct val="0"/>
              </a:spcBef>
              <a:spcAft>
                <a:spcPct val="0"/>
              </a:spcAft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6165" indent="-228411" eaLnBrk="0" fontAlgn="base" hangingPunct="0">
              <a:spcBef>
                <a:spcPct val="0"/>
              </a:spcBef>
              <a:spcAft>
                <a:spcPct val="0"/>
              </a:spcAft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2987" indent="-228411" eaLnBrk="0" fontAlgn="base" hangingPunct="0">
              <a:spcBef>
                <a:spcPct val="0"/>
              </a:spcBef>
              <a:spcAft>
                <a:spcPct val="0"/>
              </a:spcAft>
              <a:defRPr sz="2798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399"/>
              <a:pPr>
                <a:spcAft>
                  <a:spcPts val="600"/>
                </a:spcAft>
              </a:pPr>
              <a:t>20</a:t>
            </a:fld>
            <a:endParaRPr lang="en-US" sz="1399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8016029" y="467670"/>
            <a:ext cx="184731" cy="369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6924</TotalTime>
  <Words>1293</Words>
  <Application>Microsoft Macintosh PowerPoint</Application>
  <PresentationFormat>Widescreen</PresentationFormat>
  <Paragraphs>161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ＭＳ Ｐゴシック</vt:lpstr>
      <vt:lpstr>Arial</vt:lpstr>
      <vt:lpstr>Arial Black</vt:lpstr>
      <vt:lpstr>Calibri</vt:lpstr>
      <vt:lpstr>Lucida Sans Typewriter</vt:lpstr>
      <vt:lpstr>Symbol</vt:lpstr>
      <vt:lpstr>Tahoma</vt:lpstr>
      <vt:lpstr>Times New Roman</vt:lpstr>
      <vt:lpstr>Trebuchet MS</vt:lpstr>
      <vt:lpstr>Wingdings</vt:lpstr>
      <vt:lpstr>Berlin</vt:lpstr>
      <vt:lpstr>PowerPoint Presentation</vt:lpstr>
      <vt:lpstr>Set Comprehensions</vt:lpstr>
      <vt:lpstr>Lists Comprehensions</vt:lpstr>
      <vt:lpstr> </vt:lpstr>
      <vt:lpstr>Order of Generators</vt:lpstr>
      <vt:lpstr>Order of Generators</vt:lpstr>
      <vt:lpstr>Dependant Generators</vt:lpstr>
      <vt:lpstr>PowerPoint Presentation</vt:lpstr>
      <vt:lpstr>Guards</vt:lpstr>
      <vt:lpstr>PowerPoint Presentation</vt:lpstr>
      <vt:lpstr>Prime numbers</vt:lpstr>
      <vt:lpstr>PowerPoint Presentation</vt:lpstr>
      <vt:lpstr>The Zip Function</vt:lpstr>
      <vt:lpstr>  </vt:lpstr>
      <vt:lpstr>Using the pairs function</vt:lpstr>
      <vt:lpstr>Using zip</vt:lpstr>
      <vt:lpstr> </vt:lpstr>
      <vt:lpstr>String Comprehensions</vt:lpstr>
      <vt:lpstr>Strings are lists:  ‘syntactic sugar’</vt:lpstr>
      <vt:lpstr> 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446</cp:revision>
  <cp:lastPrinted>2001-02-01T08:59:46Z</cp:lastPrinted>
  <dcterms:created xsi:type="dcterms:W3CDTF">2000-11-20T11:40:19Z</dcterms:created>
  <dcterms:modified xsi:type="dcterms:W3CDTF">2026-02-05T20:06:55Z</dcterms:modified>
</cp:coreProperties>
</file>