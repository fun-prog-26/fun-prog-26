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60" r:id="rId1"/>
  </p:sldMasterIdLst>
  <p:notesMasterIdLst>
    <p:notesMasterId r:id="rId15"/>
  </p:notesMasterIdLst>
  <p:handoutMasterIdLst>
    <p:handoutMasterId r:id="rId16"/>
  </p:handoutMasterIdLst>
  <p:sldIdLst>
    <p:sldId id="322" r:id="rId2"/>
    <p:sldId id="284" r:id="rId3"/>
    <p:sldId id="367" r:id="rId4"/>
    <p:sldId id="314" r:id="rId5"/>
    <p:sldId id="365" r:id="rId6"/>
    <p:sldId id="366" r:id="rId7"/>
    <p:sldId id="368" r:id="rId8"/>
    <p:sldId id="372" r:id="rId9"/>
    <p:sldId id="373" r:id="rId10"/>
    <p:sldId id="370" r:id="rId11"/>
    <p:sldId id="369" r:id="rId12"/>
    <p:sldId id="371" r:id="rId13"/>
    <p:sldId id="32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278"/>
    <p:restoredTop sz="94640"/>
  </p:normalViewPr>
  <p:slideViewPr>
    <p:cSldViewPr>
      <p:cViewPr varScale="1">
        <p:scale>
          <a:sx n="89" d="100"/>
          <a:sy n="89" d="100"/>
        </p:scale>
        <p:origin x="200" y="3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C40E0D2-EFF6-A3B4-CA07-65E4F23F8E2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latin typeface="Times New Roman" pitchFamily="-32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Objects First with Java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4E100A8A-187C-9AB3-53DC-AF75FC849EE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533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© David J. Barnes and Michael Kölling</a:t>
            </a:r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3039A79B-B45F-39FD-C7DB-35DD75BC224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62600" y="8686800"/>
            <a:ext cx="129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33621C5-A1D0-0B4A-A581-2B2B685D23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EB6E3BC1-6760-D39B-0F48-FEB859602E6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Times New Roman" pitchFamily="-32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7EF9E9CD-E7C0-3130-6684-EF13A29D177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Times New Roman" pitchFamily="-32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22B0D482-6FFB-7959-E6A9-D573FD6C07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3C22A867-4992-F525-C726-4E4A38AE6EC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9A23FCB0-900D-9C0F-617B-F650B5EB5A0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8351741D-C537-EE34-740E-77AEEAC295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57F2DB7-3B75-8646-8E8A-07ED4CFDA41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32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32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32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32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32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746E87-F5CB-2947-9C43-6AD4847B896A}" type="datetime1">
              <a:rPr lang="en-US" altLang="en-US" smtClean="0"/>
              <a:pPr>
                <a:defRPr/>
              </a:pPr>
              <a:t>1/19/26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pPr>
              <a:defRPr/>
            </a:pPr>
            <a:fld id="{727B28DF-91AA-424C-A0C1-E99F34E080E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6351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D947AD-825A-F146-BBF9-54EA2008604E}" type="datetime1">
              <a:rPr lang="en-US" altLang="en-US" smtClean="0"/>
              <a:pPr>
                <a:defRPr/>
              </a:pPr>
              <a:t>1/19/26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C984D4-BFAB-EB44-B026-277517C7FE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2268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C0D36E-8206-564B-B2A1-1AAB2B32758F}" type="datetime1">
              <a:rPr lang="en-US" altLang="en-US" smtClean="0"/>
              <a:pPr>
                <a:defRPr/>
              </a:pPr>
              <a:t>1/19/26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pPr>
              <a:defRPr/>
            </a:pPr>
            <a:fld id="{B3E27D8B-D5B3-964F-8FB8-AD2C6617BF6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8780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708CC03-50C4-124F-9CF3-D3293E51A4B6}" type="datetime1">
              <a:rPr lang="en-US" altLang="en-US" smtClean="0"/>
              <a:pPr>
                <a:defRPr/>
              </a:pPr>
              <a:t>1/19/26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F11C77-81E0-7740-9B80-4E5563C6DAA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7610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3325FF-0F5B-BB49-B69C-EFCF2084E94A}" type="datetime1">
              <a:rPr lang="en-US" altLang="en-US" smtClean="0"/>
              <a:pPr>
                <a:defRPr/>
              </a:pPr>
              <a:t>1/19/26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A511E8-32C0-4841-B5C8-1B3335F8C4C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489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6967E3-DF49-4044-89F4-CE2764162D95}" type="datetime1">
              <a:rPr lang="en-US" altLang="en-US" smtClean="0"/>
              <a:pPr>
                <a:defRPr/>
              </a:pPr>
              <a:t>1/19/26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9514F-444E-824F-9A62-D710083BA1D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0748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AE39BF-D60A-6D45-9C6C-9CCC6328517E}" type="datetime1">
              <a:rPr lang="en-US" altLang="en-US" smtClean="0"/>
              <a:pPr>
                <a:defRPr/>
              </a:pPr>
              <a:t>1/19/26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D0E2D0-8B41-FA4A-9200-18A95F8D805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2055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A9CC54-BBB1-5C4A-838D-AB744647544A}" type="datetime1">
              <a:rPr lang="en-US" altLang="en-US" smtClean="0"/>
              <a:pPr>
                <a:defRPr/>
              </a:pPr>
              <a:t>1/19/26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Objects First with Java - A Practical Introduction using BlueJ, © David J. Barnes, Michael Kölling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D0FA4B-80F3-B34C-BA08-16B417602D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0709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187542-FDF5-5246-AB78-5770354305AE}" type="datetime1">
              <a:rPr lang="en-US" altLang="en-US" smtClean="0"/>
              <a:pPr>
                <a:defRPr/>
              </a:pPr>
              <a:t>1/19/26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Objects First with Java - A Practical Introduction using BlueJ, © David J. Barnes, Michael Kölling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3E5B78-527D-2B4B-9D1C-B13FC2301FD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959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1/19/26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pPr>
              <a:defRPr/>
            </a:pPr>
            <a:fld id="{3AA21737-F454-D349-9117-A0C2E3F7FD9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458075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1/19/26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pPr>
              <a:defRPr/>
            </a:pPr>
            <a:fld id="{3AA21737-F454-D349-9117-A0C2E3F7FD9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1312265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1/19/26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pPr>
              <a:defRPr/>
            </a:pPr>
            <a:fld id="{3AA21737-F454-D349-9117-A0C2E3F7FD9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890243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1/19/26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pPr>
              <a:defRPr/>
            </a:pPr>
            <a:fld id="{3AA21737-F454-D349-9117-A0C2E3F7FD9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1442604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1/19/26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A21737-F454-D349-9117-A0C2E3F7FD9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1540423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1/19/26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A21737-F454-D349-9117-A0C2E3F7FD9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7273289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90BA56-BDCD-C643-80CF-58841B686DE9}" type="datetime1">
              <a:rPr lang="en-US" altLang="en-US" smtClean="0"/>
              <a:pPr>
                <a:defRPr/>
              </a:pPr>
              <a:t>1/19/26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Objects First with Java - A Practical Introduction using BlueJ, © David J. Barnes, Michael Kölling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9916FA-EF8D-F042-B509-63982B8BC60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7494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pPr>
              <a:defRPr/>
            </a:pPr>
            <a:fld id="{812B3317-FDA4-6C49-B281-E0300FE30B29}" type="datetime1">
              <a:rPr lang="en-US" altLang="en-US" smtClean="0"/>
              <a:pPr>
                <a:defRPr/>
              </a:pPr>
              <a:t>1/19/26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pPr>
              <a:defRPr/>
            </a:pPr>
            <a:r>
              <a:rPr lang="en-GB" altLang="en-US"/>
              <a:t>Objects First with Java - A Practical Introduction using BlueJ, © David J. Barnes, Michael Kölling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5F0E2B74-F1FD-2549-99FA-38CA381C5CF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6859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1/19/26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A21737-F454-D349-9117-A0C2E3F7FD9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01141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661" r:id="rId1"/>
    <p:sldLayoutId id="2147484662" r:id="rId2"/>
    <p:sldLayoutId id="2147484663" r:id="rId3"/>
    <p:sldLayoutId id="2147484664" r:id="rId4"/>
    <p:sldLayoutId id="2147484665" r:id="rId5"/>
    <p:sldLayoutId id="2147484666" r:id="rId6"/>
    <p:sldLayoutId id="2147484667" r:id="rId7"/>
    <p:sldLayoutId id="2147484668" r:id="rId8"/>
    <p:sldLayoutId id="2147484669" r:id="rId9"/>
    <p:sldLayoutId id="2147484670" r:id="rId10"/>
    <p:sldLayoutId id="2147484671" r:id="rId11"/>
    <p:sldLayoutId id="2147484672" r:id="rId12"/>
    <p:sldLayoutId id="2147484673" r:id="rId13"/>
    <p:sldLayoutId id="2147484674" r:id="rId14"/>
    <p:sldLayoutId id="2147484675" r:id="rId15"/>
    <p:sldLayoutId id="2147484676" r:id="rId16"/>
    <p:sldLayoutId id="2147484677" r:id="rId1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B5F4D7F2-AD81-066A-1DE6-D1DDB2F85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 eaLnBrk="1" hangingPunct="1"/>
            <a:r>
              <a:rPr lang="en-IE" altLang="en-US" sz="4000" dirty="0"/>
              <a:t>Functional Programming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4CE737-0815-10D2-7055-5327F42B51B1}"/>
              </a:ext>
            </a:extLst>
          </p:cNvPr>
          <p:cNvCxnSpPr/>
          <p:nvPr/>
        </p:nvCxnSpPr>
        <p:spPr>
          <a:xfrm>
            <a:off x="2251075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92C1649-953D-2602-7BCE-9D3E1E58E0E7}"/>
              </a:ext>
            </a:extLst>
          </p:cNvPr>
          <p:cNvSpPr txBox="1"/>
          <p:nvPr/>
        </p:nvSpPr>
        <p:spPr>
          <a:xfrm>
            <a:off x="3935412" y="4005263"/>
            <a:ext cx="3888779" cy="461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Ms. Mairead Meagher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4CF5515-A184-52D1-E79C-BD3893244CA3}"/>
              </a:ext>
            </a:extLst>
          </p:cNvPr>
          <p:cNvSpPr txBox="1">
            <a:spLocks/>
          </p:cNvSpPr>
          <p:nvPr/>
        </p:nvSpPr>
        <p:spPr>
          <a:xfrm>
            <a:off x="2174875" y="2133600"/>
            <a:ext cx="7772400" cy="93662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Introduction to module</a:t>
            </a:r>
          </a:p>
        </p:txBody>
      </p:sp>
      <p:sp>
        <p:nvSpPr>
          <p:cNvPr id="15366" name="TextBox 4">
            <a:extLst>
              <a:ext uri="{FF2B5EF4-FFF2-40B4-BE49-F238E27FC236}">
                <a16:creationId xmlns:a16="http://schemas.microsoft.com/office/drawing/2014/main" id="{3BB3BC2F-8813-577C-8A08-3B99D8CBE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7425" y="5849938"/>
            <a:ext cx="40719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E" altLang="en-US" sz="1600"/>
              <a:t>Department of Computing and Mathematics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E" altLang="en-US" sz="1600"/>
              <a:t>http://www.setu.ie/</a:t>
            </a:r>
          </a:p>
        </p:txBody>
      </p:sp>
      <p:pic>
        <p:nvPicPr>
          <p:cNvPr id="15367" name="Picture 6" descr="Text&#10;&#10;Description automatically generated">
            <a:extLst>
              <a:ext uri="{FF2B5EF4-FFF2-40B4-BE49-F238E27FC236}">
                <a16:creationId xmlns:a16="http://schemas.microsoft.com/office/drawing/2014/main" id="{DFD0EC13-C92B-ED4E-E3C6-A734732EA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5500688"/>
            <a:ext cx="2286000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75743DB6-63E7-E9F3-D79E-94579BE261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Ins="81279"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latin typeface="Trebuchet MS" charset="0"/>
              </a:rPr>
              <a:t>Agenda</a:t>
            </a:r>
          </a:p>
        </p:txBody>
      </p:sp>
      <p:sp>
        <p:nvSpPr>
          <p:cNvPr id="12290" name="Rectangle 3">
            <a:extLst>
              <a:ext uri="{FF2B5EF4-FFF2-40B4-BE49-F238E27FC236}">
                <a16:creationId xmlns:a16="http://schemas.microsoft.com/office/drawing/2014/main" id="{E9D6CE61-FEBD-3AEE-A802-522AEA77D3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23592" y="1844825"/>
            <a:ext cx="7467600" cy="4600575"/>
          </a:xfrm>
        </p:spPr>
        <p:txBody>
          <a:bodyPr rIns="233680" rtlCol="0">
            <a:normAutofit/>
          </a:bodyPr>
          <a:lstStyle/>
          <a:p>
            <a:pPr marL="199708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ln>
                <a:solidFill>
                  <a:schemeClr val="tx1"/>
                </a:solidFill>
              </a:ln>
              <a:latin typeface="Trebuchet MS" panose="020B0603020202020204" pitchFamily="34" charset="0"/>
            </a:endParaRPr>
          </a:p>
          <a:p>
            <a:pPr marL="382588" indent="-182880" eaLnBrk="1" fontAlgn="auto" hangingPunct="1">
              <a:spcAft>
                <a:spcPts val="0"/>
              </a:spcAft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latin typeface="Trebuchet MS" panose="020B0603020202020204" pitchFamily="34" charset="0"/>
              </a:rPr>
              <a:t>Why Functional Programming</a:t>
            </a:r>
          </a:p>
          <a:p>
            <a:pPr marL="382588" indent="-182880" eaLnBrk="1" fontAlgn="auto" hangingPunct="1">
              <a:spcAft>
                <a:spcPts val="0"/>
              </a:spcAft>
              <a:defRPr/>
            </a:pPr>
            <a:endParaRPr lang="en-US" dirty="0">
              <a:ln>
                <a:solidFill>
                  <a:schemeClr val="tx1"/>
                </a:solidFill>
              </a:ln>
              <a:latin typeface="Trebuchet MS" panose="020B0603020202020204" pitchFamily="34" charset="0"/>
            </a:endParaRPr>
          </a:p>
          <a:p>
            <a:pPr marL="382588" indent="-182880" eaLnBrk="1" fontAlgn="auto" hangingPunct="1">
              <a:spcAft>
                <a:spcPts val="0"/>
              </a:spcAft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latin typeface="Trebuchet MS" panose="020B0603020202020204" pitchFamily="34" charset="0"/>
              </a:rPr>
              <a:t>Overview of course</a:t>
            </a:r>
          </a:p>
          <a:p>
            <a:pPr marL="199708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ln>
                <a:solidFill>
                  <a:schemeClr val="tx1"/>
                </a:solidFill>
              </a:ln>
              <a:latin typeface="Trebuchet MS" panose="020B0603020202020204" pitchFamily="34" charset="0"/>
              <a:ea typeface="ＭＳ Ｐゴシック" charset="0"/>
            </a:endParaRPr>
          </a:p>
          <a:p>
            <a:pPr marL="382588" indent="-182880" eaLnBrk="1" fontAlgn="auto" hangingPunct="1">
              <a:spcAft>
                <a:spcPts val="0"/>
              </a:spcAft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latin typeface="Trebuchet MS" panose="020B0603020202020204" pitchFamily="34" charset="0"/>
              </a:rPr>
              <a:t>Overview of Assessment</a:t>
            </a:r>
            <a:endParaRPr lang="en-US" dirty="0">
              <a:ln>
                <a:solidFill>
                  <a:schemeClr val="tx1"/>
                </a:solidFill>
              </a:ln>
              <a:latin typeface="Trebuchet MS" panose="020B0603020202020204" pitchFamily="34" charset="0"/>
              <a:ea typeface="ＭＳ Ｐゴシック" charset="0"/>
            </a:endParaRPr>
          </a:p>
          <a:p>
            <a:pPr marL="474345" lvl="1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ln>
                <a:solidFill>
                  <a:schemeClr val="tx1"/>
                </a:solidFill>
              </a:ln>
              <a:latin typeface="Trebuchet MS" charset="0"/>
            </a:endParaRPr>
          </a:p>
          <a:p>
            <a:pPr marL="382588" indent="-18288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latin typeface="Trebuchet MS" charset="0"/>
            </a:endParaRPr>
          </a:p>
          <a:p>
            <a:pPr marL="382588" indent="-18288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latin typeface="Trebuchet MS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B23D396C-04DF-4CCB-0D3B-EA3C46E7B1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Ins="81279" rtlCol="0">
            <a:noAutofit/>
          </a:bodyPr>
          <a:lstStyle/>
          <a:p>
            <a:pPr marL="382588" indent="-182880" algn="ctr" eaLnBrk="1" fontAlgn="auto" hangingPunct="1">
              <a:spcAft>
                <a:spcPts val="0"/>
              </a:spcAft>
              <a:defRPr/>
            </a:pPr>
            <a:r>
              <a:rPr lang="en-US" sz="3200" dirty="0">
                <a:ln>
                  <a:solidFill>
                    <a:schemeClr val="tx1"/>
                  </a:solidFill>
                </a:ln>
                <a:latin typeface="Trebuchet MS" panose="020B0603020202020204" pitchFamily="34" charset="0"/>
              </a:rPr>
              <a:t>Why Functional Programming</a:t>
            </a:r>
          </a:p>
        </p:txBody>
      </p:sp>
      <p:sp>
        <p:nvSpPr>
          <p:cNvPr id="12290" name="Rectangle 3">
            <a:extLst>
              <a:ext uri="{FF2B5EF4-FFF2-40B4-BE49-F238E27FC236}">
                <a16:creationId xmlns:a16="http://schemas.microsoft.com/office/drawing/2014/main" id="{6A138BF3-55B3-A82F-E1B3-1CFFA1E190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62200" y="2581747"/>
            <a:ext cx="7467600" cy="3528391"/>
          </a:xfrm>
        </p:spPr>
        <p:txBody>
          <a:bodyPr rIns="233680" rtlCol="0">
            <a:normAutofit/>
          </a:bodyPr>
          <a:lstStyle/>
          <a:p>
            <a:pPr marL="382588" indent="-182880" eaLnBrk="1" fontAlgn="auto" hangingPunct="1">
              <a:spcAft>
                <a:spcPts val="0"/>
              </a:spcAft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latin typeface="Trebuchet MS" panose="020B0603020202020204" pitchFamily="34" charset="0"/>
              </a:rPr>
              <a:t>A different way to think and think about programming and solving problems. </a:t>
            </a:r>
          </a:p>
          <a:p>
            <a:pPr marL="382588" indent="-182880" eaLnBrk="1" fontAlgn="auto" hangingPunct="1">
              <a:spcAft>
                <a:spcPts val="0"/>
              </a:spcAft>
              <a:defRPr/>
            </a:pPr>
            <a:endParaRPr lang="en-US" dirty="0">
              <a:ln>
                <a:solidFill>
                  <a:schemeClr val="tx1"/>
                </a:solidFill>
              </a:ln>
              <a:latin typeface="Trebuchet MS" panose="020B0603020202020204" pitchFamily="34" charset="0"/>
            </a:endParaRPr>
          </a:p>
          <a:p>
            <a:pPr marL="382588" indent="-182880" eaLnBrk="1" fontAlgn="auto" hangingPunct="1">
              <a:spcAft>
                <a:spcPts val="0"/>
              </a:spcAft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latin typeface="Trebuchet MS" panose="020B0603020202020204" pitchFamily="34" charset="0"/>
              </a:rPr>
              <a:t>A great way to get good at recursion</a:t>
            </a:r>
          </a:p>
          <a:p>
            <a:pPr marL="199708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ln>
                <a:solidFill>
                  <a:schemeClr val="tx1"/>
                </a:solidFill>
              </a:ln>
              <a:latin typeface="Trebuchet MS" panose="020B0603020202020204" pitchFamily="34" charset="0"/>
              <a:ea typeface="ＭＳ Ｐゴシック" charset="0"/>
            </a:endParaRPr>
          </a:p>
          <a:p>
            <a:pPr marL="382588" indent="-182880" eaLnBrk="1" fontAlgn="auto" hangingPunct="1">
              <a:spcAft>
                <a:spcPts val="0"/>
              </a:spcAft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latin typeface="Trebuchet MS" panose="020B0603020202020204" pitchFamily="34" charset="0"/>
                <a:ea typeface="ＭＳ Ｐゴシック" charset="0"/>
              </a:rPr>
              <a:t>A lot of companies are using it..</a:t>
            </a:r>
          </a:p>
          <a:p>
            <a:pPr marL="474345" lvl="1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ln>
                <a:solidFill>
                  <a:schemeClr val="tx1"/>
                </a:solidFill>
              </a:ln>
              <a:latin typeface="Trebuchet MS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0835701C-8914-0E20-7BBB-BC67A154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What’s different from what you’ve seen</a:t>
            </a:r>
          </a:p>
        </p:txBody>
      </p:sp>
      <p:pic>
        <p:nvPicPr>
          <p:cNvPr id="18434" name="Content Placeholder 2">
            <a:extLst>
              <a:ext uri="{FF2B5EF4-FFF2-40B4-BE49-F238E27FC236}">
                <a16:creationId xmlns:a16="http://schemas.microsoft.com/office/drawing/2014/main" id="{521D64CE-20DC-B597-F780-C32BEE140D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640" y="3294063"/>
            <a:ext cx="6048672" cy="1651000"/>
          </a:xfrm>
        </p:spPr>
      </p:pic>
      <p:sp>
        <p:nvSpPr>
          <p:cNvPr id="18435" name="TextBox 3">
            <a:extLst>
              <a:ext uri="{FF2B5EF4-FFF2-40B4-BE49-F238E27FC236}">
                <a16:creationId xmlns:a16="http://schemas.microsoft.com/office/drawing/2014/main" id="{8EF84444-B52B-69D7-F0F5-A5549FE25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238" y="2276475"/>
            <a:ext cx="184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b="1">
              <a:latin typeface="Times" charset="0"/>
              <a:ea typeface="MS PGothic" panose="020B0600070205080204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C1E897-C70B-1B4C-5F31-91C1DD6E0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732463"/>
            <a:ext cx="2846387" cy="36988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E" altLang="en-US" sz="1800"/>
              <a:t>How to do it, not what to do</a:t>
            </a:r>
            <a:endParaRPr lang="en-US" altLang="en-US" sz="1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9A8DD7-1B50-BAD9-640D-43C51731D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5" y="5732463"/>
            <a:ext cx="2916238" cy="36988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E" altLang="en-US" sz="1800"/>
              <a:t>What to do, not how to do it.</a:t>
            </a: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461922B4-DC04-E745-ADA3-2817B7AE9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What’s different from what you’ve seen</a:t>
            </a:r>
          </a:p>
        </p:txBody>
      </p:sp>
      <p:sp>
        <p:nvSpPr>
          <p:cNvPr id="19458" name="TextBox 3">
            <a:extLst>
              <a:ext uri="{FF2B5EF4-FFF2-40B4-BE49-F238E27FC236}">
                <a16:creationId xmlns:a16="http://schemas.microsoft.com/office/drawing/2014/main" id="{540A7D8D-87B6-ED05-C3FF-F713034EC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238" y="2276475"/>
            <a:ext cx="184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b="1">
              <a:latin typeface="Times" charset="0"/>
              <a:ea typeface="MS PGothic" panose="020B0600070205080204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63F5F9-22BA-A2DC-0508-6C24CE559121}"/>
              </a:ext>
            </a:extLst>
          </p:cNvPr>
          <p:cNvSpPr txBox="1"/>
          <p:nvPr/>
        </p:nvSpPr>
        <p:spPr>
          <a:xfrm>
            <a:off x="2063750" y="3860800"/>
            <a:ext cx="3095624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IE" dirty="0"/>
              <a:t>How to do it, not what to do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6926BE-9526-0387-3EF7-B855E6AD5540}"/>
              </a:ext>
            </a:extLst>
          </p:cNvPr>
          <p:cNvSpPr txBox="1"/>
          <p:nvPr/>
        </p:nvSpPr>
        <p:spPr>
          <a:xfrm>
            <a:off x="6383338" y="3860800"/>
            <a:ext cx="3169046" cy="6463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IE" dirty="0"/>
              <a:t>What to do, not how to do it.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8A5854-F454-6881-2AC2-CF74894F4727}"/>
              </a:ext>
            </a:extLst>
          </p:cNvPr>
          <p:cNvSpPr txBox="1"/>
          <p:nvPr/>
        </p:nvSpPr>
        <p:spPr>
          <a:xfrm>
            <a:off x="3648075" y="1628775"/>
            <a:ext cx="4968875" cy="1200150"/>
          </a:xfrm>
          <a:prstGeom prst="rect">
            <a:avLst/>
          </a:prstGeom>
          <a:solidFill>
            <a:schemeClr val="accent1"/>
          </a:solidFill>
          <a:ln>
            <a:solidFill>
              <a:schemeClr val="tx2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Explain to your friend : What is an orange peanut? </a:t>
            </a:r>
          </a:p>
          <a:p>
            <a:pPr algn="ctr">
              <a:defRPr/>
            </a:pPr>
            <a:r>
              <a:rPr lang="en-US" sz="2400" dirty="0"/>
              <a:t>(He only knows brown peanuts)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FBC895-17CF-08F0-FE28-788A006928F9}"/>
              </a:ext>
            </a:extLst>
          </p:cNvPr>
          <p:cNvSpPr txBox="1"/>
          <p:nvPr/>
        </p:nvSpPr>
        <p:spPr>
          <a:xfrm>
            <a:off x="2063750" y="3213100"/>
            <a:ext cx="2808288" cy="3698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lIns="36000" anchor="ctr">
            <a:spAutoFit/>
          </a:bodyPr>
          <a:lstStyle/>
          <a:p>
            <a:pPr algn="ctr">
              <a:defRPr/>
            </a:pPr>
            <a:r>
              <a:rPr lang="en-US" dirty="0"/>
              <a:t>Imperative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13CB35-5C3B-29C8-ABF5-E31EBC63EEB4}"/>
              </a:ext>
            </a:extLst>
          </p:cNvPr>
          <p:cNvSpPr txBox="1"/>
          <p:nvPr/>
        </p:nvSpPr>
        <p:spPr>
          <a:xfrm>
            <a:off x="6383338" y="3213100"/>
            <a:ext cx="2881312" cy="36988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IE" dirty="0"/>
              <a:t>Functional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FCBC22-15BE-081B-A76D-A4FB19AB3E3C}"/>
              </a:ext>
            </a:extLst>
          </p:cNvPr>
          <p:cNvSpPr txBox="1"/>
          <p:nvPr/>
        </p:nvSpPr>
        <p:spPr>
          <a:xfrm>
            <a:off x="2063750" y="4797425"/>
            <a:ext cx="3095625" cy="120015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That brown peanut you have : Paint it orange. </a:t>
            </a:r>
          </a:p>
          <a:p>
            <a:pPr>
              <a:defRPr/>
            </a:pPr>
            <a:r>
              <a:rPr lang="en-US" dirty="0"/>
              <a:t>That’s what an orange peanut is.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F4B58A-6EA5-8A5F-419D-B1269E1A7C53}"/>
              </a:ext>
            </a:extLst>
          </p:cNvPr>
          <p:cNvSpPr txBox="1"/>
          <p:nvPr/>
        </p:nvSpPr>
        <p:spPr>
          <a:xfrm>
            <a:off x="6311900" y="4724400"/>
            <a:ext cx="3528516" cy="201696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That brown peanut that you have: </a:t>
            </a:r>
          </a:p>
          <a:p>
            <a:pPr>
              <a:defRPr/>
            </a:pPr>
            <a:r>
              <a:rPr lang="en-US" dirty="0"/>
              <a:t>If you had another peanut that’s just like it in every way except that it’s orange.</a:t>
            </a:r>
          </a:p>
          <a:p>
            <a:pPr>
              <a:defRPr/>
            </a:pPr>
            <a:r>
              <a:rPr lang="en-US" dirty="0"/>
              <a:t>That’s what an orange peanut is.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11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A7B71A18-65E1-974A-596B-670872D6F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188" y="188913"/>
            <a:ext cx="8229600" cy="1143000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Differences</a:t>
            </a:r>
          </a:p>
        </p:txBody>
      </p:sp>
      <p:sp>
        <p:nvSpPr>
          <p:cNvPr id="20482" name="TextBox 3">
            <a:extLst>
              <a:ext uri="{FF2B5EF4-FFF2-40B4-BE49-F238E27FC236}">
                <a16:creationId xmlns:a16="http://schemas.microsoft.com/office/drawing/2014/main" id="{2E2B0BA9-D789-AB10-98D8-36B2182D0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238" y="2276475"/>
            <a:ext cx="184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b="1">
              <a:latin typeface="Times" charset="0"/>
              <a:ea typeface="MS PGothic" panose="020B0600070205080204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807D71-7D17-AA5F-0DF3-62586751B242}"/>
              </a:ext>
            </a:extLst>
          </p:cNvPr>
          <p:cNvSpPr txBox="1"/>
          <p:nvPr/>
        </p:nvSpPr>
        <p:spPr>
          <a:xfrm>
            <a:off x="2135188" y="3644900"/>
            <a:ext cx="3384550" cy="6461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IE" dirty="0"/>
              <a:t>Variables – use them for e.g. accumulating values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F87BDF-B505-8591-E087-1AC447C4FCA2}"/>
              </a:ext>
            </a:extLst>
          </p:cNvPr>
          <p:cNvSpPr txBox="1"/>
          <p:nvPr/>
        </p:nvSpPr>
        <p:spPr>
          <a:xfrm>
            <a:off x="6456363" y="2852738"/>
            <a:ext cx="1346200" cy="36988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IE" dirty="0"/>
              <a:t>No loops !!!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14CC28-842B-E6D4-D8F9-95595F5F1910}"/>
              </a:ext>
            </a:extLst>
          </p:cNvPr>
          <p:cNvSpPr txBox="1"/>
          <p:nvPr/>
        </p:nvSpPr>
        <p:spPr>
          <a:xfrm>
            <a:off x="2063750" y="1844675"/>
            <a:ext cx="2808288" cy="36988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txBody>
          <a:bodyPr lIns="36000" anchor="ctr">
            <a:spAutoFit/>
          </a:bodyPr>
          <a:lstStyle/>
          <a:p>
            <a:pPr algn="ctr">
              <a:defRPr/>
            </a:pPr>
            <a:r>
              <a:rPr lang="en-US" dirty="0"/>
              <a:t>Imperative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6058DA-B814-D8AC-0D51-420B82130218}"/>
              </a:ext>
            </a:extLst>
          </p:cNvPr>
          <p:cNvSpPr txBox="1"/>
          <p:nvPr/>
        </p:nvSpPr>
        <p:spPr>
          <a:xfrm>
            <a:off x="6383338" y="1844675"/>
            <a:ext cx="2881312" cy="36988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IE" dirty="0"/>
              <a:t>Functional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2EA4C7-C42C-09BD-EFF6-F46D341D1408}"/>
              </a:ext>
            </a:extLst>
          </p:cNvPr>
          <p:cNvSpPr txBox="1"/>
          <p:nvPr/>
        </p:nvSpPr>
        <p:spPr>
          <a:xfrm>
            <a:off x="2063750" y="4797425"/>
            <a:ext cx="3095625" cy="9223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If [condition]</a:t>
            </a:r>
          </a:p>
          <a:p>
            <a:pPr>
              <a:defRPr/>
            </a:pPr>
            <a:r>
              <a:rPr lang="en-US" dirty="0"/>
              <a:t>  then [command]</a:t>
            </a:r>
          </a:p>
          <a:p>
            <a:pPr>
              <a:defRPr/>
            </a:pPr>
            <a:r>
              <a:rPr lang="en-US" dirty="0"/>
              <a:t>  else [command]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C6E124-BC0E-86D8-A384-A53EDC5A783B}"/>
              </a:ext>
            </a:extLst>
          </p:cNvPr>
          <p:cNvSpPr txBox="1"/>
          <p:nvPr/>
        </p:nvSpPr>
        <p:spPr>
          <a:xfrm>
            <a:off x="6311900" y="4724400"/>
            <a:ext cx="3455988" cy="9239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If [condition]</a:t>
            </a:r>
          </a:p>
          <a:p>
            <a:pPr>
              <a:defRPr/>
            </a:pPr>
            <a:r>
              <a:rPr lang="en-US" dirty="0"/>
              <a:t>  then [value]</a:t>
            </a:r>
          </a:p>
          <a:p>
            <a:pPr>
              <a:defRPr/>
            </a:pPr>
            <a:r>
              <a:rPr lang="en-US" dirty="0"/>
              <a:t>  else [value]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51CE52-AA38-05BE-2CB7-777943BAAAFA}"/>
              </a:ext>
            </a:extLst>
          </p:cNvPr>
          <p:cNvSpPr txBox="1"/>
          <p:nvPr/>
        </p:nvSpPr>
        <p:spPr>
          <a:xfrm>
            <a:off x="2135188" y="2852738"/>
            <a:ext cx="790575" cy="3698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IE" dirty="0"/>
              <a:t>Loops 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C98CED-09CF-3599-2F57-09FD5B37772D}"/>
              </a:ext>
            </a:extLst>
          </p:cNvPr>
          <p:cNvSpPr txBox="1"/>
          <p:nvPr/>
        </p:nvSpPr>
        <p:spPr>
          <a:xfrm>
            <a:off x="6353175" y="3716338"/>
            <a:ext cx="2930525" cy="6477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IE" dirty="0"/>
              <a:t>Variables cannot be changed </a:t>
            </a:r>
          </a:p>
          <a:p>
            <a:pPr>
              <a:defRPr/>
            </a:pPr>
            <a:r>
              <a:rPr lang="en-IE" b="1" dirty="0"/>
              <a:t>(immutability) 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5F46E6-A62F-B540-5720-1E0698CC0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8438" y="6092825"/>
            <a:ext cx="3816350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More later ….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11" grpId="0" animBg="1"/>
      <p:bldP spid="8" grpId="0" animBg="1"/>
      <p:bldP spid="9" grpId="0" animBg="1"/>
      <p:bldP spid="13" grpId="0" animBg="1"/>
      <p:bldP spid="14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83AE58FC-8582-5972-3817-9B432D4AA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So how will we approach this module? </a:t>
            </a:r>
            <a:endParaRPr lang="en-IE" dirty="0">
              <a:latin typeface="Trebuchet MS" charset="0"/>
            </a:endParaRP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E4BACF00-34CE-D518-5B15-2633BE9A9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773238"/>
            <a:ext cx="8075613" cy="4525962"/>
          </a:xfrm>
        </p:spPr>
        <p:txBody>
          <a:bodyPr>
            <a:normAutofit/>
          </a:bodyPr>
          <a:lstStyle/>
          <a:p>
            <a:pPr eaLnBrk="1" hangingPunct="1"/>
            <a:r>
              <a:rPr lang="en-IE" altLang="en-US" sz="2800">
                <a:latin typeface="Trebuchet MS" panose="020B0703020202090204" pitchFamily="34" charset="0"/>
              </a:rPr>
              <a:t>14 weeks (12 weeks of tuition)</a:t>
            </a:r>
          </a:p>
          <a:p>
            <a:pPr eaLnBrk="1" hangingPunct="1"/>
            <a:r>
              <a:rPr lang="en-IE" altLang="en-US" sz="2800">
                <a:latin typeface="Trebuchet MS" panose="020B0703020202090204" pitchFamily="34" charset="0"/>
              </a:rPr>
              <a:t>4 hours per week</a:t>
            </a:r>
          </a:p>
          <a:p>
            <a:pPr eaLnBrk="1" hangingPunct="1"/>
            <a:r>
              <a:rPr lang="en-IE" altLang="en-US" sz="2800">
                <a:latin typeface="Trebuchet MS" panose="020B0703020202090204" pitchFamily="34" charset="0"/>
              </a:rPr>
              <a:t>Each topic will have associated with it: </a:t>
            </a:r>
          </a:p>
          <a:p>
            <a:pPr lvl="1" eaLnBrk="1" hangingPunct="1"/>
            <a:r>
              <a:rPr lang="en-IE" altLang="en-US" sz="2400">
                <a:latin typeface="Trebuchet MS" panose="020B0703020202090204" pitchFamily="34" charset="0"/>
              </a:rPr>
              <a:t>Lecture/s </a:t>
            </a:r>
          </a:p>
          <a:p>
            <a:pPr lvl="1" eaLnBrk="1" hangingPunct="1"/>
            <a:r>
              <a:rPr lang="en-IE" altLang="en-US" sz="2400">
                <a:latin typeface="Trebuchet MS" panose="020B0703020202090204" pitchFamily="34" charset="0"/>
              </a:rPr>
              <a:t>Labs </a:t>
            </a:r>
          </a:p>
          <a:p>
            <a:pPr eaLnBrk="1" hangingPunct="1"/>
            <a:r>
              <a:rPr lang="en-IE" altLang="en-US" sz="2800">
                <a:latin typeface="Trebuchet MS" panose="020B0703020202090204" pitchFamily="34" charset="0"/>
              </a:rPr>
              <a:t>Each hour  contact where we have either </a:t>
            </a:r>
          </a:p>
          <a:p>
            <a:pPr lvl="2" eaLnBrk="1" hangingPunct="1"/>
            <a:r>
              <a:rPr lang="en-IE" altLang="en-US">
                <a:latin typeface="Trebuchet MS" panose="020B0703020202090204" pitchFamily="34" charset="0"/>
              </a:rPr>
              <a:t>lecture OR</a:t>
            </a:r>
          </a:p>
          <a:p>
            <a:pPr lvl="2" eaLnBrk="1" hangingPunct="1"/>
            <a:r>
              <a:rPr lang="en-IE" altLang="en-US">
                <a:latin typeface="Trebuchet MS" panose="020B0703020202090204" pitchFamily="34" charset="0"/>
              </a:rPr>
              <a:t>Labs practising :</a:t>
            </a:r>
          </a:p>
          <a:p>
            <a:pPr lvl="3" eaLnBrk="1" hangingPunct="1"/>
            <a:r>
              <a:rPr lang="en-IE" altLang="en-US">
                <a:latin typeface="Trebuchet MS" panose="020B0703020202090204" pitchFamily="34" charset="0"/>
              </a:rPr>
              <a:t>Techniques we have seen in lectures</a:t>
            </a:r>
          </a:p>
          <a:p>
            <a:pPr lvl="3" eaLnBrk="1" hangingPunct="1"/>
            <a:r>
              <a:rPr lang="en-IE" altLang="en-US">
                <a:latin typeface="Trebuchet MS" panose="020B0703020202090204" pitchFamily="34" charset="0"/>
              </a:rPr>
              <a:t>Going through pre-defined sets of exercises online. </a:t>
            </a:r>
          </a:p>
          <a:p>
            <a:pPr lvl="3" eaLnBrk="1" hangingPunct="1"/>
            <a:endParaRPr lang="en-IE" altLang="en-US">
              <a:latin typeface="Trebuchet MS" panose="020B0703020202090204" pitchFamily="34" charset="0"/>
            </a:endParaRPr>
          </a:p>
          <a:p>
            <a:pPr lvl="2" eaLnBrk="1" hangingPunct="1"/>
            <a:endParaRPr lang="en-IE" altLang="en-US">
              <a:latin typeface="Trebuchet MS" panose="020B0703020202090204" pitchFamily="34" charset="0"/>
            </a:endParaRPr>
          </a:p>
          <a:p>
            <a:pPr eaLnBrk="1" hangingPunct="1"/>
            <a:endParaRPr lang="en-IE" altLang="en-US">
              <a:latin typeface="Trebuchet MS" panose="020B070302020209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8688F5-0BAF-C2E1-C28C-35C0B2D04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9825" y="4149725"/>
            <a:ext cx="1541463" cy="164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E3DD0F-703B-5FEB-F08C-434FADECE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9825" y="1412875"/>
            <a:ext cx="1595438" cy="159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0CA06-1351-D5B5-6284-3598AE423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Timetable of Classes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CB2EF7-4E72-868D-0B13-B21B7CE71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0" y="2536072"/>
            <a:ext cx="5829300" cy="3568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0CA06-1351-D5B5-6284-3598AE423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Breakdown of Assessment</a:t>
            </a:r>
          </a:p>
        </p:txBody>
      </p:sp>
      <p:pic>
        <p:nvPicPr>
          <p:cNvPr id="5" name="Picture 4" descr="A screenshot of a test&#10;&#10;AI-generated content may be incorrect.">
            <a:extLst>
              <a:ext uri="{FF2B5EF4-FFF2-40B4-BE49-F238E27FC236}">
                <a16:creationId xmlns:a16="http://schemas.microsoft.com/office/drawing/2014/main" id="{7C40EF2A-1C44-1E44-CFB4-63829E862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720" y="1850294"/>
            <a:ext cx="4320480" cy="462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40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999662AE-D558-BD43-EC73-1B84A3DF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>
                <a:latin typeface="Trebuchet MS" charset="0"/>
              </a:rPr>
              <a:t>Ethos of Module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22C99250-CDB3-C074-949A-6566F106C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2204864"/>
            <a:ext cx="8075613" cy="4525962"/>
          </a:xfrm>
        </p:spPr>
        <p:txBody>
          <a:bodyPr/>
          <a:lstStyle/>
          <a:p>
            <a:pPr eaLnBrk="1" hangingPunct="1">
              <a:defRPr/>
            </a:pPr>
            <a:r>
              <a:rPr lang="en-IE" altLang="en-US" dirty="0">
                <a:latin typeface="Trebuchet MS" panose="020B0703020202090204" pitchFamily="34" charset="0"/>
              </a:rPr>
              <a:t>Practice, practice, practice,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IE" altLang="en-US" dirty="0">
              <a:latin typeface="Trebuchet MS" panose="020B0703020202090204" pitchFamily="34" charset="0"/>
            </a:endParaRPr>
          </a:p>
          <a:p>
            <a:pPr eaLnBrk="1" hangingPunct="1">
              <a:defRPr/>
            </a:pPr>
            <a:r>
              <a:rPr lang="en-IE" altLang="en-US" dirty="0">
                <a:latin typeface="Trebuchet MS" panose="020B0703020202090204" pitchFamily="34" charset="0"/>
              </a:rPr>
              <a:t>Engagement – ask questions,</a:t>
            </a:r>
          </a:p>
          <a:p>
            <a:pPr marL="1371600" lvl="3" indent="0" eaLnBrk="1" hangingPunct="1">
              <a:buFont typeface="Arial" panose="020B0604020202020204" pitchFamily="34" charset="0"/>
              <a:buNone/>
              <a:defRPr/>
            </a:pPr>
            <a:endParaRPr lang="en-IE" altLang="en-US" dirty="0">
              <a:latin typeface="Trebuchet MS" panose="020B0703020202090204" pitchFamily="34" charset="0"/>
            </a:endParaRPr>
          </a:p>
          <a:p>
            <a:pPr lvl="2" eaLnBrk="1" hangingPunct="1">
              <a:defRPr/>
            </a:pPr>
            <a:endParaRPr lang="en-IE" altLang="en-US" dirty="0">
              <a:latin typeface="Trebuchet MS" panose="020B0703020202090204" pitchFamily="34" charset="0"/>
            </a:endParaRPr>
          </a:p>
          <a:p>
            <a:pPr eaLnBrk="1" hangingPunct="1">
              <a:defRPr/>
            </a:pPr>
            <a:r>
              <a:rPr lang="en-IE" altLang="en-US" dirty="0">
                <a:latin typeface="Trebuchet MS" panose="020B0703020202090204" pitchFamily="34" charset="0"/>
              </a:rPr>
              <a:t>Work submitted must be your fully understood by you,</a:t>
            </a:r>
          </a:p>
          <a:p>
            <a:pPr eaLnBrk="1" hangingPunct="1">
              <a:defRPr/>
            </a:pPr>
            <a:endParaRPr lang="en-IE" altLang="en-US" dirty="0">
              <a:latin typeface="Trebuchet MS" panose="020B0703020202090204" pitchFamily="34" charset="0"/>
            </a:endParaRPr>
          </a:p>
          <a:p>
            <a:pPr eaLnBrk="1" hangingPunct="1">
              <a:defRPr/>
            </a:pPr>
            <a:r>
              <a:rPr lang="en-IE" altLang="en-US" dirty="0">
                <a:latin typeface="Trebuchet MS" panose="020B0703020202090204" pitchFamily="34" charset="0"/>
              </a:rPr>
              <a:t>Help me to help you.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968030-5DD9-9E85-3BBE-D8B7EC129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7663" y="3068638"/>
            <a:ext cx="1206500" cy="120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5B5391-2EB1-33F4-5F8B-9A9D1DC35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950" y="1628775"/>
            <a:ext cx="1727200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F87B77-46F4-1269-D8DA-34F0951A9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425" y="4941888"/>
            <a:ext cx="1485900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17D4EFD2-1554-E2B1-7C1E-EB6D3AE5D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Brief Overview of Course </a:t>
            </a:r>
            <a:endParaRPr lang="en-IE" dirty="0">
              <a:latin typeface="Trebuchet MS" charset="0"/>
            </a:endParaRP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A1395FE9-A174-02CA-43AA-ED92EA36D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9444" y="2636912"/>
            <a:ext cx="8075613" cy="2807766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E" altLang="en-US" dirty="0">
                <a:latin typeface="Trebuchet MS" panose="020B0703020202090204" pitchFamily="34" charset="0"/>
              </a:rPr>
              <a:t>We will use </a:t>
            </a:r>
          </a:p>
          <a:p>
            <a:pPr eaLnBrk="1" hangingPunct="1">
              <a:defRPr/>
            </a:pPr>
            <a:r>
              <a:rPr lang="en-IE" altLang="en-US" dirty="0">
                <a:latin typeface="Trebuchet MS" panose="020B0703020202090204" pitchFamily="34" charset="0"/>
              </a:rPr>
              <a:t>Moodle – used for linking the current week’s content to the appropriate topic from the  tutors course</a:t>
            </a:r>
          </a:p>
          <a:p>
            <a:pPr eaLnBrk="1" hangingPunct="1">
              <a:defRPr/>
            </a:pPr>
            <a:r>
              <a:rPr lang="en-IE" altLang="en-US" dirty="0">
                <a:latin typeface="Trebuchet MS" panose="020B0703020202090204" pitchFamily="34" charset="0"/>
              </a:rPr>
              <a:t>Tutors (where course material is curated) </a:t>
            </a:r>
          </a:p>
          <a:p>
            <a:pPr eaLnBrk="1" hangingPunct="1">
              <a:defRPr/>
            </a:pPr>
            <a:r>
              <a:rPr lang="en-IE" altLang="en-US" dirty="0">
                <a:latin typeface="Trebuchet MS" panose="020B0703020202090204" pitchFamily="34" charset="0"/>
              </a:rPr>
              <a:t>Slack for communication within the group and to me. This will be the main channel for communication.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97088F55-907D-CF0D-8D7C-7D18057DC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313" y="260350"/>
            <a:ext cx="8229600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Brief Overview of Course - tutors </a:t>
            </a:r>
            <a:endParaRPr lang="en-IE" dirty="0">
              <a:latin typeface="Trebuchet MS" charset="0"/>
            </a:endParaRPr>
          </a:p>
        </p:txBody>
      </p:sp>
      <p:sp>
        <p:nvSpPr>
          <p:cNvPr id="25604" name="TextBox 3">
            <a:extLst>
              <a:ext uri="{FF2B5EF4-FFF2-40B4-BE49-F238E27FC236}">
                <a16:creationId xmlns:a16="http://schemas.microsoft.com/office/drawing/2014/main" id="{FAB3D901-2B04-FEB0-7109-8B7139C26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7825" y="6235725"/>
            <a:ext cx="3816350" cy="369887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https://</a:t>
            </a:r>
            <a:r>
              <a:rPr lang="en-US" altLang="en-US" sz="1800" dirty="0" err="1"/>
              <a:t>tutors.dev</a:t>
            </a:r>
            <a:r>
              <a:rPr lang="en-US" altLang="en-US" sz="1800" dirty="0"/>
              <a:t>/course/fun-prog-26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491354-5510-BBF4-ECEC-70141CE3AC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953" y="2420888"/>
            <a:ext cx="6984094" cy="3598863"/>
          </a:xfr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E1C90-AF48-5DD1-BB9D-EB4EB317D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288" y="260350"/>
            <a:ext cx="82296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IE" dirty="0"/>
              <a:t>Any questions?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07B869-8823-02E7-9BC7-2669EFF3F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996" y="2334487"/>
            <a:ext cx="3857625" cy="95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46683D-E098-DBB6-5F65-A9DE2198A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1538" y="4292600"/>
            <a:ext cx="4608512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/>
              <a:t>Or  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/>
              <a:t>mairead.meagher@setu.ie</a:t>
            </a:r>
            <a:endParaRPr lang="en-US" alt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C6DE89-2954-D9AF-19CF-B734C35AC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568" y="4191985"/>
            <a:ext cx="3276600" cy="184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824C6C-4DD5-DF3B-067D-BA2F41DBB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0096" y="2754012"/>
            <a:ext cx="46085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FF0000"/>
                </a:solidFill>
              </a:rPr>
              <a:t>Preferably the Slack channel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2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3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4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1732</TotalTime>
  <Words>413</Words>
  <Application>Microsoft Macintosh PowerPoint</Application>
  <PresentationFormat>Widescreen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Times</vt:lpstr>
      <vt:lpstr>Times New Roman</vt:lpstr>
      <vt:lpstr>Trebuchet MS</vt:lpstr>
      <vt:lpstr>Berlin</vt:lpstr>
      <vt:lpstr>Functional Programming</vt:lpstr>
      <vt:lpstr>Agenda</vt:lpstr>
      <vt:lpstr>Why Functional Programming</vt:lpstr>
      <vt:lpstr>What’s different from what you’ve seen</vt:lpstr>
      <vt:lpstr>What’s different from what you’ve seen</vt:lpstr>
      <vt:lpstr>Differences</vt:lpstr>
      <vt:lpstr>So how will we approach this module? </vt:lpstr>
      <vt:lpstr>Timetable of Classes</vt:lpstr>
      <vt:lpstr>Breakdown of Assessment</vt:lpstr>
      <vt:lpstr>Ethos of Module</vt:lpstr>
      <vt:lpstr>Brief Overview of Course </vt:lpstr>
      <vt:lpstr>Brief Overview of Course - tutors </vt:lpstr>
      <vt:lpstr>Any questions?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Objects First with Java - Chapter 6</dc:title>
  <dc:creator>David J. Barnes, Michael Kölling</dc:creator>
  <dc:description>Copyright © David J. Barnes, Michael Kölling</dc:description>
  <cp:lastModifiedBy>Mairead Meagher</cp:lastModifiedBy>
  <cp:revision>190</cp:revision>
  <cp:lastPrinted>2003-09-01T06:58:01Z</cp:lastPrinted>
  <dcterms:created xsi:type="dcterms:W3CDTF">2002-09-11T08:48:08Z</dcterms:created>
  <dcterms:modified xsi:type="dcterms:W3CDTF">2026-01-19T18:32:56Z</dcterms:modified>
</cp:coreProperties>
</file>