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83" r:id="rId1"/>
  </p:sldMasterIdLst>
  <p:notesMasterIdLst>
    <p:notesMasterId r:id="rId35"/>
  </p:notesMasterIdLst>
  <p:handoutMasterIdLst>
    <p:handoutMasterId r:id="rId36"/>
  </p:handoutMasterIdLst>
  <p:sldIdLst>
    <p:sldId id="317" r:id="rId2"/>
    <p:sldId id="319" r:id="rId3"/>
    <p:sldId id="318" r:id="rId4"/>
    <p:sldId id="285" r:id="rId5"/>
    <p:sldId id="286" r:id="rId6"/>
    <p:sldId id="344" r:id="rId7"/>
    <p:sldId id="316" r:id="rId8"/>
    <p:sldId id="292" r:id="rId9"/>
    <p:sldId id="345" r:id="rId10"/>
    <p:sldId id="294" r:id="rId11"/>
    <p:sldId id="346" r:id="rId12"/>
    <p:sldId id="296" r:id="rId13"/>
    <p:sldId id="347" r:id="rId14"/>
    <p:sldId id="298" r:id="rId15"/>
    <p:sldId id="348" r:id="rId16"/>
    <p:sldId id="349" r:id="rId17"/>
    <p:sldId id="302" r:id="rId18"/>
    <p:sldId id="301" r:id="rId19"/>
    <p:sldId id="304" r:id="rId20"/>
    <p:sldId id="350" r:id="rId21"/>
    <p:sldId id="306" r:id="rId22"/>
    <p:sldId id="352" r:id="rId23"/>
    <p:sldId id="351" r:id="rId24"/>
    <p:sldId id="312" r:id="rId25"/>
    <p:sldId id="354" r:id="rId26"/>
    <p:sldId id="356" r:id="rId27"/>
    <p:sldId id="357" r:id="rId28"/>
    <p:sldId id="358" r:id="rId29"/>
    <p:sldId id="355" r:id="rId30"/>
    <p:sldId id="360" r:id="rId31"/>
    <p:sldId id="311" r:id="rId32"/>
    <p:sldId id="314" r:id="rId33"/>
    <p:sldId id="343" r:id="rId34"/>
  </p:sldIdLst>
  <p:sldSz cx="9144000" cy="6858000" type="screen4x3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90"/>
    <p:restoredTop sz="86382"/>
  </p:normalViewPr>
  <p:slideViewPr>
    <p:cSldViewPr snapToGrid="0">
      <p:cViewPr varScale="1">
        <p:scale>
          <a:sx n="106" d="100"/>
          <a:sy n="106" d="100"/>
        </p:scale>
        <p:origin x="36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0D4B1B38-C2BD-2644-B4B8-0DAE654292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06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1400" y="762000"/>
            <a:ext cx="5080000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09FB3C7-FEFC-C94C-8DA6-B42B6D61B0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772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9FB3C7-FEFC-C94C-8DA6-B42B6D61B091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15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08B9EBBA-996F-894A-B54A-D6246ED52CEA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pPr>
              <a:defRPr/>
            </a:pPr>
            <a:fld id="{621BF1E6-5610-9D4D-9537-FD8CCCD6F2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9466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FC6305-1FDD-5542-AF46-2933EF761A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58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8DFA1846-DA80-1C48-A609-854EA85C59AD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pPr>
              <a:defRPr/>
            </a:pPr>
            <a:fld id="{D7D58CEF-EE99-254B-B133-E558257A3D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645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6E612B-D6AC-C941-80AF-5D8FA327CE9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9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1A8084-D249-8244-8CC5-89D46E87AA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2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21EF50-CD3E-3340-AE4D-C8214C21FB8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9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62DD7D-614E-2B46-B0E8-80141DB006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77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94FC9-57CC-6F44-888F-392460C34F8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1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1AD4A2-008C-FC49-81CE-D3BD56FABA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8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pPr>
              <a:defRPr/>
            </a:pPr>
            <a:fld id="{621BF1E6-5610-9D4D-9537-FD8CCCD6F2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6394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pPr>
              <a:defRPr/>
            </a:pPr>
            <a:fld id="{621BF1E6-5610-9D4D-9537-FD8CCCD6F2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47225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pPr>
              <a:defRPr/>
            </a:pPr>
            <a:fld id="{621BF1E6-5610-9D4D-9537-FD8CCCD6F2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9473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pPr>
              <a:defRPr/>
            </a:pPr>
            <a:fld id="{621BF1E6-5610-9D4D-9537-FD8CCCD6F2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2421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1BF1E6-5610-9D4D-9537-FD8CCCD6F2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564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1BF1E6-5610-9D4D-9537-FD8CCCD6F2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1812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C2E582-EFA3-7645-90D1-11393015AA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61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416B7816-772C-144B-A58E-1BFB89A25D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3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21BF1E6-5610-9D4D-9537-FD8CCCD6F2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772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youtu.be/9nSQs0Gr9FA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15888" y="1001713"/>
            <a:ext cx="89106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3600" b="1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76213" y="5164138"/>
            <a:ext cx="87915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kumimoji="1" lang="en-US" sz="3200" dirty="0"/>
              <a:t>Chapter 3 - Types and Classes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19119" y="340132"/>
            <a:ext cx="7210396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What types should I use?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1</a:t>
            </a:fld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CF8925-FC69-9448-83BF-0DD4888EF869}"/>
              </a:ext>
            </a:extLst>
          </p:cNvPr>
          <p:cNvSpPr txBox="1"/>
          <p:nvPr/>
        </p:nvSpPr>
        <p:spPr>
          <a:xfrm>
            <a:off x="1454226" y="6114361"/>
            <a:ext cx="4583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(</a:t>
            </a:r>
            <a:r>
              <a:rPr lang="en-IE" sz="2000" b="1" dirty="0"/>
              <a:t>https://youtu.be/9nSQs0Gr9FA) 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BFB61-9C52-2D47-9592-B3320F04177D}"/>
              </a:ext>
            </a:extLst>
          </p:cNvPr>
          <p:cNvSpPr txBox="1"/>
          <p:nvPr/>
        </p:nvSpPr>
        <p:spPr>
          <a:xfrm>
            <a:off x="2500829" y="2489812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6" name="Picture 5" descr="A picture containing text, person, indoor, posing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0C0243FB-A285-6540-895C-E0BAA9A9D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317" y="1253088"/>
            <a:ext cx="63500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7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What is a Type?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2</a:t>
            </a:fld>
            <a:endParaRPr lang="en-US" sz="1400"/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266173" y="2061670"/>
            <a:ext cx="82137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 </a:t>
            </a:r>
            <a:r>
              <a:rPr lang="en-US" u="sng" dirty="0"/>
              <a:t>type</a:t>
            </a:r>
            <a:r>
              <a:rPr lang="en-US" dirty="0"/>
              <a:t> is a name for a collection of related values.  For example, in Haskell the basic type</a:t>
            </a:r>
          </a:p>
        </p:txBody>
      </p:sp>
      <p:grpSp>
        <p:nvGrpSpPr>
          <p:cNvPr id="16388" name="Group 52"/>
          <p:cNvGrpSpPr>
            <a:grpSpLocks/>
          </p:cNvGrpSpPr>
          <p:nvPr/>
        </p:nvGrpSpPr>
        <p:grpSpPr bwMode="auto">
          <a:xfrm>
            <a:off x="1616075" y="5614988"/>
            <a:ext cx="3195638" cy="457200"/>
            <a:chOff x="1018" y="3537"/>
            <a:chExt cx="2013" cy="288"/>
          </a:xfrm>
        </p:grpSpPr>
        <p:sp>
          <p:nvSpPr>
            <p:cNvPr id="16391" name="Text Box 37"/>
            <p:cNvSpPr txBox="1">
              <a:spLocks noChangeArrowheads="1"/>
            </p:cNvSpPr>
            <p:nvPr/>
          </p:nvSpPr>
          <p:spPr bwMode="auto">
            <a:xfrm>
              <a:off x="2451" y="3537"/>
              <a:ext cx="580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True</a:t>
              </a:r>
            </a:p>
          </p:txBody>
        </p:sp>
        <p:sp>
          <p:nvSpPr>
            <p:cNvPr id="16392" name="Text Box 39"/>
            <p:cNvSpPr txBox="1">
              <a:spLocks noChangeArrowheads="1"/>
            </p:cNvSpPr>
            <p:nvPr/>
          </p:nvSpPr>
          <p:spPr bwMode="auto">
            <a:xfrm>
              <a:off x="1018" y="3537"/>
              <a:ext cx="696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Lucida Sans Typewriter" charset="0"/>
                </a:rPr>
                <a:t>False</a:t>
              </a:r>
            </a:p>
          </p:txBody>
        </p:sp>
      </p:grpSp>
      <p:sp>
        <p:nvSpPr>
          <p:cNvPr id="16389" name="Text Box 44"/>
          <p:cNvSpPr txBox="1">
            <a:spLocks noChangeArrowheads="1"/>
          </p:cNvSpPr>
          <p:nvPr/>
        </p:nvSpPr>
        <p:spPr bwMode="auto">
          <a:xfrm>
            <a:off x="1616075" y="3463925"/>
            <a:ext cx="920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Lucida Sans Typewriter" charset="0"/>
              </a:rPr>
              <a:t>Bool</a:t>
            </a:r>
          </a:p>
        </p:txBody>
      </p:sp>
      <p:sp>
        <p:nvSpPr>
          <p:cNvPr id="16390" name="Text Box 50"/>
          <p:cNvSpPr txBox="1">
            <a:spLocks noChangeArrowheads="1"/>
          </p:cNvSpPr>
          <p:nvPr/>
        </p:nvSpPr>
        <p:spPr bwMode="auto">
          <a:xfrm>
            <a:off x="468313" y="4394200"/>
            <a:ext cx="7780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contains the two logical values:</a:t>
            </a:r>
          </a:p>
        </p:txBody>
      </p:sp>
    </p:spTree>
    <p:extLst>
      <p:ext uri="{BB962C8B-B14F-4D97-AF65-F5344CB8AC3E}">
        <p14:creationId xmlns:p14="http://schemas.microsoft.com/office/powerpoint/2010/main" val="272650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Type Errors</a:t>
            </a:r>
          </a:p>
        </p:txBody>
      </p:sp>
      <p:sp>
        <p:nvSpPr>
          <p:cNvPr id="1740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AF3700E-446A-8A4E-BCE6-526D39AF39B6}" type="slidenum">
              <a:rPr lang="en-US" sz="1400"/>
              <a:pPr/>
              <a:t>3</a:t>
            </a:fld>
            <a:endParaRPr lang="en-US" sz="1400"/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382587" y="2076752"/>
            <a:ext cx="83788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Applying a function to one or more arguments of the wrong type is called a </a:t>
            </a:r>
            <a:r>
              <a:rPr lang="en-US" u="sng" dirty="0"/>
              <a:t>type error</a:t>
            </a:r>
            <a:r>
              <a:rPr lang="en-US" dirty="0"/>
              <a:t>.</a:t>
            </a:r>
          </a:p>
        </p:txBody>
      </p:sp>
      <p:sp>
        <p:nvSpPr>
          <p:cNvPr id="17412" name="Text Box 5"/>
          <p:cNvSpPr txBox="1">
            <a:spLocks noChangeArrowheads="1"/>
          </p:cNvSpPr>
          <p:nvPr/>
        </p:nvSpPr>
        <p:spPr bwMode="auto">
          <a:xfrm>
            <a:off x="1490663" y="3436383"/>
            <a:ext cx="2209800" cy="8953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1 + False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error ...</a:t>
            </a:r>
          </a:p>
        </p:txBody>
      </p:sp>
      <p:sp>
        <p:nvSpPr>
          <p:cNvPr id="17413" name="AutoShape 6"/>
          <p:cNvSpPr>
            <a:spLocks noChangeArrowheads="1"/>
          </p:cNvSpPr>
          <p:nvPr/>
        </p:nvSpPr>
        <p:spPr bwMode="auto">
          <a:xfrm>
            <a:off x="714375" y="5216525"/>
            <a:ext cx="6273800" cy="1028700"/>
          </a:xfrm>
          <a:prstGeom prst="wedgeRoundRectCallout">
            <a:avLst>
              <a:gd name="adj1" fmla="val -19736"/>
              <a:gd name="adj2" fmla="val -115278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1 is a number and False is a logical value, but + requires two numbers.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Types in Haskell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362200"/>
            <a:ext cx="8178800" cy="1066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If evaluating an expression e would produce a value of type t, then e </a:t>
            </a:r>
            <a:r>
              <a:rPr lang="en-US" u="sng" dirty="0">
                <a:latin typeface="Tahoma" charset="0"/>
                <a:ea typeface="ＭＳ Ｐゴシック" charset="0"/>
                <a:cs typeface="ＭＳ Ｐゴシック" charset="0"/>
              </a:rPr>
              <a:t>has type</a:t>
            </a: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 t, written</a:t>
            </a:r>
          </a:p>
        </p:txBody>
      </p:sp>
      <p:sp>
        <p:nvSpPr>
          <p:cNvPr id="1843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D056A43-282B-6A42-BE03-2095B56CBF32}" type="slidenum">
              <a:rPr lang="en-US" sz="1400"/>
              <a:pPr/>
              <a:t>4</a:t>
            </a:fld>
            <a:endParaRPr lang="en-US" sz="1400"/>
          </a:p>
        </p:txBody>
      </p:sp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3171670" y="3567906"/>
            <a:ext cx="12890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e :: t</a:t>
            </a:r>
          </a:p>
        </p:txBody>
      </p:sp>
      <p:sp>
        <p:nvSpPr>
          <p:cNvPr id="18437" name="Rectangle 7"/>
          <p:cNvSpPr>
            <a:spLocks noChangeArrowheads="1"/>
          </p:cNvSpPr>
          <p:nvPr/>
        </p:nvSpPr>
        <p:spPr bwMode="auto">
          <a:xfrm>
            <a:off x="533400" y="4896421"/>
            <a:ext cx="8178800" cy="900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kumimoji="1" lang="en-US" dirty="0"/>
              <a:t>Every well formed expression has a type, which can be automatically calculated at compile time using a process called </a:t>
            </a:r>
            <a:r>
              <a:rPr kumimoji="1" lang="en-US" u="sng" dirty="0"/>
              <a:t>type inference</a:t>
            </a:r>
            <a:r>
              <a:rPr kumimoji="1" lang="en-US" dirty="0"/>
              <a:t>.</a:t>
            </a:r>
            <a:endParaRPr kumimoji="1" 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nimBg="1"/>
      <p:bldP spid="184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Types in Haskell</a:t>
            </a:r>
          </a:p>
        </p:txBody>
      </p:sp>
      <p:sp>
        <p:nvSpPr>
          <p:cNvPr id="1843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D056A43-282B-6A42-BE03-2095B56CBF32}" type="slidenum">
              <a:rPr lang="en-US" sz="1400"/>
              <a:pPr/>
              <a:t>5</a:t>
            </a:fld>
            <a:endParaRPr lang="en-US" sz="14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D3306F1-7B91-4B70-1158-9DA259049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241" y="2138431"/>
            <a:ext cx="817880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All type errors are found at compile time, which makes programs </a:t>
            </a:r>
            <a:r>
              <a:rPr kumimoji="1" lang="en-US" u="sng" dirty="0"/>
              <a:t>safer and faster</a:t>
            </a:r>
            <a:r>
              <a:rPr kumimoji="1" lang="en-US" dirty="0"/>
              <a:t> by removing the need for type checks at run time.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kumimoji="1" lang="en-US" dirty="0"/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In </a:t>
            </a:r>
            <a:r>
              <a:rPr kumimoji="1" lang="en-US" dirty="0" err="1"/>
              <a:t>GHCi</a:t>
            </a:r>
            <a:r>
              <a:rPr kumimoji="1" lang="en-US" dirty="0"/>
              <a:t>, the </a:t>
            </a:r>
          </a:p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dirty="0"/>
              <a:t>                                      </a:t>
            </a:r>
            <a:r>
              <a:rPr kumimoji="1" lang="en-US" b="1" dirty="0">
                <a:solidFill>
                  <a:schemeClr val="bg1"/>
                </a:solidFill>
              </a:rPr>
              <a:t>:type   (can be shortened to :t) </a:t>
            </a:r>
          </a:p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dirty="0"/>
              <a:t>command calculates the type of an expression, without evaluating it: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B965EBB-F30A-B6E4-36BA-38321C568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2153" y="4430713"/>
            <a:ext cx="3314700" cy="21002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not False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True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:type not False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not False :: Bool</a:t>
            </a:r>
          </a:p>
        </p:txBody>
      </p:sp>
    </p:spTree>
    <p:extLst>
      <p:ext uri="{BB962C8B-B14F-4D97-AF65-F5344CB8AC3E}">
        <p14:creationId xmlns:p14="http://schemas.microsoft.com/office/powerpoint/2010/main" val="556879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Basic Types</a:t>
            </a:r>
          </a:p>
        </p:txBody>
      </p:sp>
      <p:sp>
        <p:nvSpPr>
          <p:cNvPr id="2048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D82D053-FEDB-694B-ACE3-757B49BC70AC}" type="slidenum">
              <a:rPr lang="en-US" sz="1400"/>
              <a:pPr/>
              <a:t>6</a:t>
            </a:fld>
            <a:endParaRPr lang="en-US" sz="1400"/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377824" y="1933084"/>
            <a:ext cx="8378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Haskell has a number of </a:t>
            </a:r>
            <a:r>
              <a:rPr lang="en-US" u="sng" dirty="0"/>
              <a:t>basic types</a:t>
            </a:r>
            <a:r>
              <a:rPr lang="en-US" dirty="0"/>
              <a:t>, including:</a:t>
            </a:r>
          </a:p>
        </p:txBody>
      </p:sp>
      <p:grpSp>
        <p:nvGrpSpPr>
          <p:cNvPr id="20484" name="Group 25"/>
          <p:cNvGrpSpPr>
            <a:grpSpLocks/>
          </p:cNvGrpSpPr>
          <p:nvPr/>
        </p:nvGrpSpPr>
        <p:grpSpPr bwMode="auto">
          <a:xfrm>
            <a:off x="1179513" y="2427288"/>
            <a:ext cx="6557962" cy="3911600"/>
            <a:chOff x="743" y="1556"/>
            <a:chExt cx="4131" cy="2464"/>
          </a:xfrm>
        </p:grpSpPr>
        <p:grpSp>
          <p:nvGrpSpPr>
            <p:cNvPr id="20485" name="Group 19"/>
            <p:cNvGrpSpPr>
              <a:grpSpLocks/>
            </p:cNvGrpSpPr>
            <p:nvPr/>
          </p:nvGrpSpPr>
          <p:grpSpPr bwMode="auto">
            <a:xfrm>
              <a:off x="743" y="1556"/>
              <a:ext cx="2786" cy="327"/>
              <a:chOff x="743" y="1619"/>
              <a:chExt cx="2786" cy="327"/>
            </a:xfrm>
          </p:grpSpPr>
          <p:sp>
            <p:nvSpPr>
              <p:cNvPr id="20501" name="Text Box 9"/>
              <p:cNvSpPr txBox="1">
                <a:spLocks noChangeArrowheads="1"/>
              </p:cNvSpPr>
              <p:nvPr/>
            </p:nvSpPr>
            <p:spPr bwMode="auto">
              <a:xfrm>
                <a:off x="743" y="1658"/>
                <a:ext cx="580" cy="2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Lucida Sans Typewriter" charset="0"/>
                  </a:rPr>
                  <a:t>Bool</a:t>
                </a:r>
              </a:p>
            </p:txBody>
          </p:sp>
          <p:sp>
            <p:nvSpPr>
              <p:cNvPr id="20502" name="Text Box 10"/>
              <p:cNvSpPr txBox="1">
                <a:spLocks noChangeArrowheads="1"/>
              </p:cNvSpPr>
              <p:nvPr/>
            </p:nvSpPr>
            <p:spPr bwMode="auto">
              <a:xfrm>
                <a:off x="1878" y="1619"/>
                <a:ext cx="165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r>
                  <a:rPr lang="en-US"/>
                  <a:t>-  logical values</a:t>
                </a:r>
              </a:p>
            </p:txBody>
          </p:sp>
        </p:grpSp>
        <p:grpSp>
          <p:nvGrpSpPr>
            <p:cNvPr id="20486" name="Group 20"/>
            <p:cNvGrpSpPr>
              <a:grpSpLocks/>
            </p:cNvGrpSpPr>
            <p:nvPr/>
          </p:nvGrpSpPr>
          <p:grpSpPr bwMode="auto">
            <a:xfrm>
              <a:off x="743" y="1983"/>
              <a:ext cx="3133" cy="327"/>
              <a:chOff x="743" y="2124"/>
              <a:chExt cx="3133" cy="327"/>
            </a:xfrm>
          </p:grpSpPr>
          <p:sp>
            <p:nvSpPr>
              <p:cNvPr id="20499" name="Text Box 5"/>
              <p:cNvSpPr txBox="1">
                <a:spLocks noChangeArrowheads="1"/>
              </p:cNvSpPr>
              <p:nvPr/>
            </p:nvSpPr>
            <p:spPr bwMode="auto">
              <a:xfrm>
                <a:off x="743" y="2147"/>
                <a:ext cx="580" cy="2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>
                    <a:latin typeface="Lucida Sans Typewriter" charset="0"/>
                  </a:rPr>
                  <a:t>Char</a:t>
                </a:r>
              </a:p>
            </p:txBody>
          </p:sp>
          <p:sp>
            <p:nvSpPr>
              <p:cNvPr id="20500" name="Text Box 11"/>
              <p:cNvSpPr txBox="1">
                <a:spLocks noChangeArrowheads="1"/>
              </p:cNvSpPr>
              <p:nvPr/>
            </p:nvSpPr>
            <p:spPr bwMode="auto">
              <a:xfrm>
                <a:off x="1878" y="2124"/>
                <a:ext cx="199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r>
                  <a:rPr lang="en-US"/>
                  <a:t>-  single characters</a:t>
                </a:r>
              </a:p>
            </p:txBody>
          </p:sp>
        </p:grpSp>
        <p:grpSp>
          <p:nvGrpSpPr>
            <p:cNvPr id="20487" name="Group 23"/>
            <p:cNvGrpSpPr>
              <a:grpSpLocks/>
            </p:cNvGrpSpPr>
            <p:nvPr/>
          </p:nvGrpSpPr>
          <p:grpSpPr bwMode="auto">
            <a:xfrm>
              <a:off x="743" y="3244"/>
              <a:ext cx="4131" cy="327"/>
              <a:chOff x="743" y="3265"/>
              <a:chExt cx="4131" cy="327"/>
            </a:xfrm>
          </p:grpSpPr>
          <p:sp>
            <p:nvSpPr>
              <p:cNvPr id="20497" name="Text Box 6"/>
              <p:cNvSpPr txBox="1">
                <a:spLocks noChangeArrowheads="1"/>
              </p:cNvSpPr>
              <p:nvPr/>
            </p:nvSpPr>
            <p:spPr bwMode="auto">
              <a:xfrm>
                <a:off x="743" y="3304"/>
                <a:ext cx="928" cy="2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>
                    <a:latin typeface="Lucida Sans Typewriter" charset="0"/>
                  </a:rPr>
                  <a:t>Integer</a:t>
                </a:r>
              </a:p>
            </p:txBody>
          </p:sp>
          <p:sp>
            <p:nvSpPr>
              <p:cNvPr id="20498" name="Text Box 12"/>
              <p:cNvSpPr txBox="1">
                <a:spLocks noChangeArrowheads="1"/>
              </p:cNvSpPr>
              <p:nvPr/>
            </p:nvSpPr>
            <p:spPr bwMode="auto">
              <a:xfrm>
                <a:off x="1878" y="3265"/>
                <a:ext cx="299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r>
                  <a:rPr lang="en-US"/>
                  <a:t>-  arbitrary-precision integers</a:t>
                </a:r>
              </a:p>
            </p:txBody>
          </p:sp>
        </p:grpSp>
        <p:grpSp>
          <p:nvGrpSpPr>
            <p:cNvPr id="20488" name="Group 24"/>
            <p:cNvGrpSpPr>
              <a:grpSpLocks/>
            </p:cNvGrpSpPr>
            <p:nvPr/>
          </p:nvGrpSpPr>
          <p:grpSpPr bwMode="auto">
            <a:xfrm>
              <a:off x="743" y="3693"/>
              <a:ext cx="3718" cy="327"/>
              <a:chOff x="743" y="3777"/>
              <a:chExt cx="3718" cy="327"/>
            </a:xfrm>
          </p:grpSpPr>
          <p:sp>
            <p:nvSpPr>
              <p:cNvPr id="20495" name="Text Box 8"/>
              <p:cNvSpPr txBox="1">
                <a:spLocks noChangeArrowheads="1"/>
              </p:cNvSpPr>
              <p:nvPr/>
            </p:nvSpPr>
            <p:spPr bwMode="auto">
              <a:xfrm>
                <a:off x="743" y="3793"/>
                <a:ext cx="696" cy="2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>
                    <a:latin typeface="Lucida Sans Typewriter" charset="0"/>
                  </a:rPr>
                  <a:t>Float</a:t>
                </a:r>
              </a:p>
            </p:txBody>
          </p:sp>
          <p:sp>
            <p:nvSpPr>
              <p:cNvPr id="20496" name="Text Box 13"/>
              <p:cNvSpPr txBox="1">
                <a:spLocks noChangeArrowheads="1"/>
              </p:cNvSpPr>
              <p:nvPr/>
            </p:nvSpPr>
            <p:spPr bwMode="auto">
              <a:xfrm>
                <a:off x="1878" y="3777"/>
                <a:ext cx="258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r>
                  <a:rPr lang="en-US"/>
                  <a:t>-  floating-point numbers</a:t>
                </a:r>
              </a:p>
            </p:txBody>
          </p:sp>
        </p:grpSp>
        <p:grpSp>
          <p:nvGrpSpPr>
            <p:cNvPr id="20489" name="Group 21"/>
            <p:cNvGrpSpPr>
              <a:grpSpLocks/>
            </p:cNvGrpSpPr>
            <p:nvPr/>
          </p:nvGrpSpPr>
          <p:grpSpPr bwMode="auto">
            <a:xfrm>
              <a:off x="743" y="2410"/>
              <a:ext cx="3483" cy="327"/>
              <a:chOff x="743" y="2463"/>
              <a:chExt cx="3483" cy="327"/>
            </a:xfrm>
          </p:grpSpPr>
          <p:sp>
            <p:nvSpPr>
              <p:cNvPr id="20493" name="Text Box 15"/>
              <p:cNvSpPr txBox="1">
                <a:spLocks noChangeArrowheads="1"/>
              </p:cNvSpPr>
              <p:nvPr/>
            </p:nvSpPr>
            <p:spPr bwMode="auto">
              <a:xfrm>
                <a:off x="743" y="2486"/>
                <a:ext cx="812" cy="2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>
                    <a:latin typeface="Lucida Sans Typewriter" charset="0"/>
                  </a:rPr>
                  <a:t>String</a:t>
                </a:r>
              </a:p>
            </p:txBody>
          </p:sp>
          <p:sp>
            <p:nvSpPr>
              <p:cNvPr id="20494" name="Text Box 16"/>
              <p:cNvSpPr txBox="1">
                <a:spLocks noChangeArrowheads="1"/>
              </p:cNvSpPr>
              <p:nvPr/>
            </p:nvSpPr>
            <p:spPr bwMode="auto">
              <a:xfrm>
                <a:off x="1878" y="2463"/>
                <a:ext cx="234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r>
                  <a:rPr lang="en-US"/>
                  <a:t>-  strings of characters</a:t>
                </a:r>
              </a:p>
            </p:txBody>
          </p:sp>
        </p:grpSp>
        <p:grpSp>
          <p:nvGrpSpPr>
            <p:cNvPr id="20490" name="Group 22"/>
            <p:cNvGrpSpPr>
              <a:grpSpLocks/>
            </p:cNvGrpSpPr>
            <p:nvPr/>
          </p:nvGrpSpPr>
          <p:grpSpPr bwMode="auto">
            <a:xfrm>
              <a:off x="743" y="2838"/>
              <a:ext cx="3765" cy="327"/>
              <a:chOff x="743" y="2807"/>
              <a:chExt cx="3765" cy="327"/>
            </a:xfrm>
          </p:grpSpPr>
          <p:sp>
            <p:nvSpPr>
              <p:cNvPr id="20491" name="Text Box 17"/>
              <p:cNvSpPr txBox="1">
                <a:spLocks noChangeArrowheads="1"/>
              </p:cNvSpPr>
              <p:nvPr/>
            </p:nvSpPr>
            <p:spPr bwMode="auto">
              <a:xfrm>
                <a:off x="743" y="2830"/>
                <a:ext cx="464" cy="2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>
                    <a:latin typeface="Lucida Sans Typewriter" charset="0"/>
                  </a:rPr>
                  <a:t>Int</a:t>
                </a:r>
              </a:p>
            </p:txBody>
          </p:sp>
          <p:sp>
            <p:nvSpPr>
              <p:cNvPr id="20492" name="Text Box 18"/>
              <p:cNvSpPr txBox="1">
                <a:spLocks noChangeArrowheads="1"/>
              </p:cNvSpPr>
              <p:nvPr/>
            </p:nvSpPr>
            <p:spPr bwMode="auto">
              <a:xfrm>
                <a:off x="1878" y="2807"/>
                <a:ext cx="263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r>
                  <a:rPr lang="en-US"/>
                  <a:t>-  fixed-precision integers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List Types</a:t>
            </a:r>
          </a:p>
        </p:txBody>
      </p:sp>
      <p:sp>
        <p:nvSpPr>
          <p:cNvPr id="2150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B27E4DB-AA3F-8D4F-90BF-3468A7AA20E0}" type="slidenum">
              <a:rPr lang="en-US" sz="1400"/>
              <a:pPr/>
              <a:t>7</a:t>
            </a:fld>
            <a:endParaRPr lang="en-US" sz="1400"/>
          </a:p>
        </p:txBody>
      </p:sp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1146175" y="2882107"/>
            <a:ext cx="5495925" cy="1306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</a:t>
            </a:r>
            <a:r>
              <a:rPr lang="en-US" sz="2400" dirty="0" err="1">
                <a:latin typeface="Lucida Sans Typewriter" charset="0"/>
              </a:rPr>
              <a:t>False,True,False</a:t>
            </a:r>
            <a:r>
              <a:rPr lang="en-US" sz="2400" dirty="0">
                <a:latin typeface="Lucida Sans Typewriter" charset="0"/>
              </a:rPr>
              <a:t>] :: [Bool]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a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,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b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,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c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,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d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] :: [Char]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21508" name="Text Box 5"/>
          <p:cNvSpPr txBox="1">
            <a:spLocks noChangeArrowheads="1"/>
          </p:cNvSpPr>
          <p:nvPr/>
        </p:nvSpPr>
        <p:spPr bwMode="auto">
          <a:xfrm>
            <a:off x="458787" y="4673291"/>
            <a:ext cx="8226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In general:</a:t>
            </a:r>
          </a:p>
        </p:txBody>
      </p:sp>
      <p:sp>
        <p:nvSpPr>
          <p:cNvPr id="21509" name="Text Box 7"/>
          <p:cNvSpPr txBox="1">
            <a:spLocks noChangeArrowheads="1"/>
          </p:cNvSpPr>
          <p:nvPr/>
        </p:nvSpPr>
        <p:spPr bwMode="auto">
          <a:xfrm>
            <a:off x="474663" y="1969596"/>
            <a:ext cx="7916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 </a:t>
            </a:r>
            <a:r>
              <a:rPr lang="en-US" u="sng" dirty="0"/>
              <a:t>list</a:t>
            </a:r>
            <a:r>
              <a:rPr lang="en-US" dirty="0"/>
              <a:t> is sequence of values of the </a:t>
            </a:r>
            <a:r>
              <a:rPr lang="en-US" u="sng" dirty="0"/>
              <a:t>same</a:t>
            </a:r>
            <a:r>
              <a:rPr lang="en-US" dirty="0"/>
              <a:t> type:</a:t>
            </a:r>
          </a:p>
        </p:txBody>
      </p:sp>
      <p:sp>
        <p:nvSpPr>
          <p:cNvPr id="21510" name="Text Box 8"/>
          <p:cNvSpPr txBox="1">
            <a:spLocks noChangeArrowheads="1"/>
          </p:cNvSpPr>
          <p:nvPr/>
        </p:nvSpPr>
        <p:spPr bwMode="auto">
          <a:xfrm>
            <a:off x="1146175" y="5495925"/>
            <a:ext cx="7385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[t] is the type of lists with elements of type 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/>
      <p:bldP spid="21508" grpId="0"/>
      <p:bldP spid="215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List Types</a:t>
            </a:r>
          </a:p>
        </p:txBody>
      </p:sp>
      <p:sp>
        <p:nvSpPr>
          <p:cNvPr id="2150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B27E4DB-AA3F-8D4F-90BF-3468A7AA20E0}" type="slidenum">
              <a:rPr lang="en-US" sz="1400"/>
              <a:pPr/>
              <a:t>8</a:t>
            </a:fld>
            <a:endParaRPr lang="en-US" sz="140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6D6BEB8-AF84-C136-CEE1-26F65CB40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241" y="2485091"/>
            <a:ext cx="8189912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The type of a list says nothing about its length: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1301C15-BADF-FEFD-933C-BADA58E55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3307882"/>
            <a:ext cx="5340350" cy="12969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</a:t>
            </a:r>
            <a:r>
              <a:rPr lang="en-US" sz="2400" dirty="0" err="1">
                <a:latin typeface="Lucida Sans Typewriter" charset="0"/>
              </a:rPr>
              <a:t>False,True</a:t>
            </a:r>
            <a:r>
              <a:rPr lang="en-US" sz="2400" dirty="0">
                <a:latin typeface="Lucida Sans Typewriter" charset="0"/>
              </a:rPr>
              <a:t>] :: [Bool]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</a:t>
            </a:r>
            <a:r>
              <a:rPr lang="en-US" sz="2400" dirty="0" err="1">
                <a:latin typeface="Lucida Sans Typewriter" charset="0"/>
              </a:rPr>
              <a:t>False,True,False</a:t>
            </a:r>
            <a:r>
              <a:rPr lang="en-US" sz="2400" dirty="0">
                <a:latin typeface="Lucida Sans Typewriter" charset="0"/>
              </a:rPr>
              <a:t>] :: [Bool]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4536AA9B-E275-73FA-306D-C1683D6B7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5556250"/>
            <a:ext cx="5530850" cy="4937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[[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a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],[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b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,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c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]] :: [[Char]]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519DCF2A-3B9C-C29B-2C98-C7CA1CD79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044" y="1849388"/>
            <a:ext cx="1047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Note: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1BD67A6-0502-34E9-2BD8-7E2D01515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44" y="4756149"/>
            <a:ext cx="8189912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The type of the elements is unrestricted.  For example, we can have lists of lists:</a:t>
            </a:r>
          </a:p>
        </p:txBody>
      </p:sp>
    </p:spTree>
    <p:extLst>
      <p:ext uri="{BB962C8B-B14F-4D97-AF65-F5344CB8AC3E}">
        <p14:creationId xmlns:p14="http://schemas.microsoft.com/office/powerpoint/2010/main" val="29333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Tuple Types</a:t>
            </a:r>
          </a:p>
        </p:txBody>
      </p:sp>
      <p:sp>
        <p:nvSpPr>
          <p:cNvPr id="2355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7083D92-DE9A-D345-A6D4-68BF81B7EB0D}" type="slidenum">
              <a:rPr lang="en-US" sz="1400"/>
              <a:pPr/>
              <a:t>9</a:t>
            </a:fld>
            <a:endParaRPr lang="en-US" sz="1400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438944" y="2172002"/>
            <a:ext cx="8266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 </a:t>
            </a:r>
            <a:r>
              <a:rPr lang="en-US" u="sng" dirty="0"/>
              <a:t>tuple</a:t>
            </a:r>
            <a:r>
              <a:rPr lang="en-US" dirty="0"/>
              <a:t> is a sequence of values of </a:t>
            </a:r>
            <a:r>
              <a:rPr lang="en-US" u="sng" dirty="0"/>
              <a:t>different</a:t>
            </a:r>
            <a:r>
              <a:rPr lang="en-US" dirty="0"/>
              <a:t> types: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1133475" y="3028950"/>
            <a:ext cx="6813550" cy="12969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(</a:t>
            </a:r>
            <a:r>
              <a:rPr lang="en-US" sz="2400" dirty="0" err="1">
                <a:latin typeface="Lucida Sans Typewriter" charset="0"/>
              </a:rPr>
              <a:t>False,True</a:t>
            </a:r>
            <a:r>
              <a:rPr lang="en-US" sz="2400" dirty="0">
                <a:latin typeface="Lucida Sans Typewriter" charset="0"/>
              </a:rPr>
              <a:t>) :: (</a:t>
            </a:r>
            <a:r>
              <a:rPr lang="en-US" sz="2400" dirty="0" err="1">
                <a:latin typeface="Lucida Sans Typewriter" charset="0"/>
              </a:rPr>
              <a:t>Bool,Bool</a:t>
            </a:r>
            <a:r>
              <a:rPr lang="en-US" sz="2400" dirty="0">
                <a:latin typeface="Lucida Sans Typewriter" charset="0"/>
              </a:rPr>
              <a:t>)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(False,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a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,True) :: (</a:t>
            </a:r>
            <a:r>
              <a:rPr lang="en-US" altLang="ja-JP" sz="2400" dirty="0" err="1">
                <a:latin typeface="Lucida Sans Typewriter" charset="0"/>
              </a:rPr>
              <a:t>Bool,Char,Bool</a:t>
            </a:r>
            <a:r>
              <a:rPr lang="en-US" altLang="ja-JP" sz="2400" dirty="0">
                <a:latin typeface="Lucida Sans Typewriter" charset="0"/>
              </a:rPr>
              <a:t>)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23557" name="Text Box 7"/>
          <p:cNvSpPr txBox="1">
            <a:spLocks noChangeArrowheads="1"/>
          </p:cNvSpPr>
          <p:nvPr/>
        </p:nvSpPr>
        <p:spPr bwMode="auto">
          <a:xfrm>
            <a:off x="427037" y="4554983"/>
            <a:ext cx="8226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In general:</a:t>
            </a:r>
          </a:p>
        </p:txBody>
      </p:sp>
      <p:sp>
        <p:nvSpPr>
          <p:cNvPr id="23558" name="Text Box 8"/>
          <p:cNvSpPr txBox="1">
            <a:spLocks noChangeArrowheads="1"/>
          </p:cNvSpPr>
          <p:nvPr/>
        </p:nvSpPr>
        <p:spPr bwMode="auto">
          <a:xfrm>
            <a:off x="1146175" y="5283200"/>
            <a:ext cx="73850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(t1,t2,…,</a:t>
            </a:r>
            <a:r>
              <a:rPr lang="en-US" dirty="0" err="1"/>
              <a:t>tn</a:t>
            </a:r>
            <a:r>
              <a:rPr lang="en-US" dirty="0"/>
              <a:t>) is the type of n-tuples whose </a:t>
            </a:r>
            <a:r>
              <a:rPr lang="en-US" dirty="0" err="1"/>
              <a:t>ith</a:t>
            </a:r>
            <a:r>
              <a:rPr lang="en-US" dirty="0"/>
              <a:t> components have type </a:t>
            </a:r>
            <a:r>
              <a:rPr lang="en-US" dirty="0" err="1"/>
              <a:t>ti</a:t>
            </a:r>
            <a:r>
              <a:rPr lang="en-US" dirty="0"/>
              <a:t> for any </a:t>
            </a:r>
            <a:r>
              <a:rPr lang="en-US" dirty="0" err="1"/>
              <a:t>i</a:t>
            </a:r>
            <a:r>
              <a:rPr lang="en-US" dirty="0"/>
              <a:t> in 1…n.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  <p:bldP spid="23556" grpId="0" animBg="1"/>
      <p:bldP spid="2355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93700" y="458788"/>
            <a:ext cx="7210396" cy="1080938"/>
          </a:xfrm>
        </p:spPr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Tuple Types</a:t>
            </a:r>
          </a:p>
        </p:txBody>
      </p:sp>
      <p:sp>
        <p:nvSpPr>
          <p:cNvPr id="2355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7083D92-DE9A-D345-A6D4-68BF81B7EB0D}" type="slidenum">
              <a:rPr lang="en-US" sz="1400"/>
              <a:pPr/>
              <a:t>10</a:t>
            </a:fld>
            <a:endParaRPr 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3CB6E65-3133-96EB-411D-B97417280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44" y="2363129"/>
            <a:ext cx="8189912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The type of a tuple encodes its size: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85B8F26-D493-E036-BD54-B50560977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969" y="2867955"/>
            <a:ext cx="7181850" cy="12969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(</a:t>
            </a:r>
            <a:r>
              <a:rPr lang="en-US" sz="2400" dirty="0" err="1">
                <a:latin typeface="Lucida Sans Typewriter" charset="0"/>
              </a:rPr>
              <a:t>False,True</a:t>
            </a:r>
            <a:r>
              <a:rPr lang="en-US" sz="2400" dirty="0">
                <a:latin typeface="Lucida Sans Typewriter" charset="0"/>
              </a:rPr>
              <a:t>) :: (</a:t>
            </a:r>
            <a:r>
              <a:rPr lang="en-US" sz="2400" dirty="0" err="1">
                <a:latin typeface="Lucida Sans Typewriter" charset="0"/>
              </a:rPr>
              <a:t>Bool,Bool</a:t>
            </a:r>
            <a:r>
              <a:rPr lang="en-US" sz="2400" dirty="0">
                <a:latin typeface="Lucida Sans Typewriter" charset="0"/>
              </a:rPr>
              <a:t>)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(</a:t>
            </a:r>
            <a:r>
              <a:rPr lang="en-US" sz="2400" dirty="0" err="1">
                <a:latin typeface="Lucida Sans Typewriter" charset="0"/>
              </a:rPr>
              <a:t>False,True,False</a:t>
            </a:r>
            <a:r>
              <a:rPr lang="en-US" sz="2400" dirty="0">
                <a:latin typeface="Lucida Sans Typewriter" charset="0"/>
              </a:rPr>
              <a:t>) :: (</a:t>
            </a:r>
            <a:r>
              <a:rPr lang="en-US" sz="2400" dirty="0" err="1">
                <a:latin typeface="Lucida Sans Typewriter" charset="0"/>
              </a:rPr>
              <a:t>Bool,Bool,Bool</a:t>
            </a:r>
            <a:r>
              <a:rPr lang="en-US" sz="2400" dirty="0">
                <a:latin typeface="Lucida Sans Typewriter" charset="0"/>
              </a:rPr>
              <a:t>)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0F586BA7-B1CB-4435-2070-076FFF493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969" y="5001109"/>
            <a:ext cx="7418387" cy="12969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(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a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,(False,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b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)) :: (Char,(</a:t>
            </a:r>
            <a:r>
              <a:rPr lang="en-US" altLang="ja-JP" sz="2400" dirty="0" err="1">
                <a:latin typeface="Lucida Sans Typewriter" charset="0"/>
              </a:rPr>
              <a:t>Bool,Char</a:t>
            </a:r>
            <a:r>
              <a:rPr lang="en-US" altLang="ja-JP" sz="2400" dirty="0">
                <a:latin typeface="Lucida Sans Typewriter" charset="0"/>
              </a:rPr>
              <a:t>))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(True,[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a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,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b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]) :: (Bool,[Char])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0F7ED228-9672-820F-C3F0-FFD819663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106" y="1844017"/>
            <a:ext cx="1047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Note: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C858122-E141-1D8E-0BE0-5324F95E1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44" y="4294235"/>
            <a:ext cx="8189912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The type of the components is unrestricted:</a:t>
            </a:r>
          </a:p>
        </p:txBody>
      </p:sp>
    </p:spTree>
    <p:extLst>
      <p:ext uri="{BB962C8B-B14F-4D97-AF65-F5344CB8AC3E}">
        <p14:creationId xmlns:p14="http://schemas.microsoft.com/office/powerpoint/2010/main" val="9356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Function Types</a:t>
            </a:r>
          </a:p>
        </p:txBody>
      </p:sp>
      <p:sp>
        <p:nvSpPr>
          <p:cNvPr id="2560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53238B5-499F-8A4F-9439-DCBAB2545339}" type="slidenum">
              <a:rPr lang="en-US" sz="1400"/>
              <a:pPr/>
              <a:t>11</a:t>
            </a:fld>
            <a:endParaRPr lang="en-US" sz="1400"/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196975" y="3012281"/>
            <a:ext cx="3641725" cy="1306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not :: Bool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Bool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even :: Int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Bool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474663" y="4446588"/>
            <a:ext cx="8226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In general: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474663" y="1938337"/>
            <a:ext cx="79168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 </a:t>
            </a:r>
            <a:r>
              <a:rPr lang="en-US" u="sng" dirty="0"/>
              <a:t>function</a:t>
            </a:r>
            <a:r>
              <a:rPr lang="en-US" dirty="0"/>
              <a:t> is a mapping from values of one type to values of another type:</a:t>
            </a: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1146175" y="5283200"/>
            <a:ext cx="73850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t1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dirty="0"/>
              <a:t> t2 is the type of functions that map values of type t1 to values to type t2.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  <p:bldP spid="25604" grpId="0"/>
      <p:bldP spid="25605" grpId="0"/>
      <p:bldP spid="2560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Function Types</a:t>
            </a:r>
          </a:p>
        </p:txBody>
      </p:sp>
      <p:sp>
        <p:nvSpPr>
          <p:cNvPr id="2560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53238B5-499F-8A4F-9439-DCBAB2545339}" type="slidenum">
              <a:rPr lang="en-US" sz="1400"/>
              <a:pPr/>
              <a:t>12</a:t>
            </a:fld>
            <a:endParaRPr lang="en-US" sz="140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FA8B012-F3F8-C6B5-C50D-6FE41AFDF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03" y="2363129"/>
            <a:ext cx="8189912" cy="1474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arrow 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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typed at the keyboard as -&gt;.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argument and result types are unrestricted.  For example, functions with multiple arguments or results are possible using lists or tuples: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91C083AA-3AEF-B06B-2BEA-623D70CB0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1" y="1844017"/>
            <a:ext cx="1047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Note: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93F831F6-5431-D7C9-F7DF-5E4351C4C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223" y="4808538"/>
            <a:ext cx="4383088" cy="20494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add :: (</a:t>
            </a:r>
            <a:r>
              <a:rPr lang="en-US" sz="2400" dirty="0" err="1">
                <a:latin typeface="Lucida Sans Typewriter" charset="0"/>
              </a:rPr>
              <a:t>Int,Int</a:t>
            </a:r>
            <a:r>
              <a:rPr lang="en-US" sz="2400" dirty="0">
                <a:latin typeface="Lucida Sans Typewriter" charset="0"/>
              </a:rPr>
              <a:t>)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Int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add (</a:t>
            </a:r>
            <a:r>
              <a:rPr lang="en-US" sz="2400" dirty="0" err="1">
                <a:latin typeface="Lucida Sans Typewriter" charset="0"/>
              </a:rPr>
              <a:t>x,y</a:t>
            </a:r>
            <a:r>
              <a:rPr lang="en-US" sz="2400" dirty="0">
                <a:latin typeface="Lucida Sans Typewriter" charset="0"/>
              </a:rPr>
              <a:t>) = </a:t>
            </a:r>
            <a:r>
              <a:rPr lang="en-US" sz="2400" dirty="0" err="1">
                <a:latin typeface="Lucida Sans Typewriter" charset="0"/>
              </a:rPr>
              <a:t>x+y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endParaRPr lang="en-US" sz="2400" dirty="0">
              <a:latin typeface="Lucida Sans Typewriter" charset="0"/>
            </a:endParaRPr>
          </a:p>
          <a:p>
            <a:r>
              <a:rPr lang="en-US" sz="2400" dirty="0" err="1">
                <a:latin typeface="Lucida Sans Typewriter" charset="0"/>
              </a:rPr>
              <a:t>zeroto</a:t>
            </a:r>
            <a:r>
              <a:rPr lang="en-US" sz="2400" dirty="0">
                <a:latin typeface="Lucida Sans Typewriter" charset="0"/>
              </a:rPr>
              <a:t> :: Int </a:t>
            </a:r>
            <a:r>
              <a:rPr lang="en-US" sz="2400" dirty="0">
                <a:latin typeface="Lucida Sans Typewriter" charset="0"/>
                <a:sym typeface="Symbol" charset="0"/>
              </a:rPr>
              <a:t> </a:t>
            </a:r>
            <a:r>
              <a:rPr lang="en-US" sz="2400" dirty="0">
                <a:latin typeface="Lucida Sans Typewriter" charset="0"/>
              </a:rPr>
              <a:t>[Int]</a:t>
            </a:r>
          </a:p>
          <a:p>
            <a:r>
              <a:rPr lang="en-US" sz="2400" dirty="0" err="1">
                <a:latin typeface="Lucida Sans Typewriter" charset="0"/>
              </a:rPr>
              <a:t>zeroto</a:t>
            </a:r>
            <a:r>
              <a:rPr lang="en-US" sz="2400" dirty="0">
                <a:latin typeface="Lucida Sans Typewriter" charset="0"/>
              </a:rPr>
              <a:t> n = [0..n]</a:t>
            </a:r>
          </a:p>
        </p:txBody>
      </p:sp>
    </p:spTree>
    <p:extLst>
      <p:ext uri="{BB962C8B-B14F-4D97-AF65-F5344CB8AC3E}">
        <p14:creationId xmlns:p14="http://schemas.microsoft.com/office/powerpoint/2010/main" val="28041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7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Curried Functions</a:t>
            </a:r>
          </a:p>
        </p:txBody>
      </p:sp>
      <p:sp>
        <p:nvSpPr>
          <p:cNvPr id="2764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58BDC28-C15A-014F-88F9-B781EAE7C46C}" type="slidenum">
              <a:rPr lang="en-US" sz="1400"/>
              <a:pPr/>
              <a:t>13</a:t>
            </a:fld>
            <a:endParaRPr lang="en-US" sz="1400"/>
          </a:p>
        </p:txBody>
      </p:sp>
      <p:sp>
        <p:nvSpPr>
          <p:cNvPr id="27650" name="Text Box 3"/>
          <p:cNvSpPr txBox="1">
            <a:spLocks noChangeArrowheads="1"/>
          </p:cNvSpPr>
          <p:nvPr/>
        </p:nvSpPr>
        <p:spPr bwMode="auto">
          <a:xfrm>
            <a:off x="474663" y="2073942"/>
            <a:ext cx="83359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Functions with multiple arguments are also possible by returning </a:t>
            </a:r>
            <a:r>
              <a:rPr lang="en-US" u="sng" dirty="0"/>
              <a:t>functions as results</a:t>
            </a:r>
            <a:r>
              <a:rPr lang="en-US" dirty="0"/>
              <a:t>:</a:t>
            </a:r>
          </a:p>
        </p:txBody>
      </p:sp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1460500" y="3478879"/>
            <a:ext cx="5121275" cy="965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add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 :: Int </a:t>
            </a:r>
            <a:r>
              <a:rPr lang="en-US" altLang="ja-JP" sz="2400" dirty="0">
                <a:latin typeface="Lucida Sans Typewriter" charset="0"/>
                <a:sym typeface="Symbol" charset="0"/>
              </a:rPr>
              <a:t></a:t>
            </a:r>
            <a:r>
              <a:rPr lang="en-US" altLang="ja-JP" sz="2400" dirty="0">
                <a:latin typeface="Lucida Sans Typewriter" charset="0"/>
              </a:rPr>
              <a:t> (Int </a:t>
            </a:r>
            <a:r>
              <a:rPr lang="en-US" altLang="ja-JP" sz="2400" dirty="0">
                <a:latin typeface="Lucida Sans Typewriter" charset="0"/>
                <a:sym typeface="Symbol" charset="0"/>
              </a:rPr>
              <a:t> Int)</a:t>
            </a:r>
            <a:endParaRPr lang="en-US" altLang="ja-JP" sz="2400" dirty="0">
              <a:latin typeface="Lucida Sans Typewriter" charset="0"/>
            </a:endParaRP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add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 x y = </a:t>
            </a:r>
            <a:r>
              <a:rPr lang="en-US" altLang="ja-JP" sz="2400" dirty="0" err="1">
                <a:latin typeface="Lucida Sans Typewriter" charset="0"/>
              </a:rPr>
              <a:t>x+y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27652" name="AutoShape 5"/>
          <p:cNvSpPr>
            <a:spLocks noChangeArrowheads="1"/>
          </p:cNvSpPr>
          <p:nvPr/>
        </p:nvSpPr>
        <p:spPr bwMode="auto">
          <a:xfrm>
            <a:off x="1038225" y="5160740"/>
            <a:ext cx="7292975" cy="1531938"/>
          </a:xfrm>
          <a:prstGeom prst="wedgeRoundRectCallout">
            <a:avLst>
              <a:gd name="adj1" fmla="val -28583"/>
              <a:gd name="adj2" fmla="val -89060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add</a:t>
            </a:r>
            <a:r>
              <a:rPr lang="ja-JP" altLang="en-US"/>
              <a:t>’</a:t>
            </a:r>
            <a:r>
              <a:rPr lang="en-US" altLang="ja-JP" dirty="0"/>
              <a:t> takes an integer x and returns a function </a:t>
            </a:r>
            <a:r>
              <a:rPr lang="en-US" altLang="ja-JP" u="sng" dirty="0"/>
              <a:t>add</a:t>
            </a:r>
            <a:r>
              <a:rPr lang="ja-JP" altLang="en-US" u="sng"/>
              <a:t>’</a:t>
            </a:r>
            <a:r>
              <a:rPr lang="en-US" altLang="ja-JP" u="sng" dirty="0"/>
              <a:t> x</a:t>
            </a:r>
            <a:r>
              <a:rPr lang="en-US" altLang="ja-JP" dirty="0"/>
              <a:t>.  In turn, this function takes an integer y and returns the result </a:t>
            </a:r>
            <a:r>
              <a:rPr lang="en-US" altLang="ja-JP" dirty="0" err="1"/>
              <a:t>x+y</a:t>
            </a:r>
            <a:r>
              <a:rPr lang="en-US" altLang="ja-JP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 animBg="1"/>
      <p:bldP spid="2765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7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Curried Functions</a:t>
            </a:r>
          </a:p>
        </p:txBody>
      </p:sp>
      <p:sp>
        <p:nvSpPr>
          <p:cNvPr id="2764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58BDC28-C15A-014F-88F9-B781EAE7C46C}" type="slidenum">
              <a:rPr lang="en-US" sz="1400"/>
              <a:pPr/>
              <a:t>14</a:t>
            </a:fld>
            <a:endParaRPr 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C1B0CEE-5566-F627-7141-1A34F5B78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530" y="2373448"/>
            <a:ext cx="82391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and add</a:t>
            </a:r>
            <a:r>
              <a:rPr kumimoji="1" lang="ja-JP" alt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’</a:t>
            </a:r>
            <a:r>
              <a:rPr kumimoji="1"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produce the same final result, but add takes its two arguments at the same time, whereas add</a:t>
            </a:r>
            <a:r>
              <a:rPr kumimoji="1" lang="ja-JP" altLang="en-US" sz="2800" dirty="0">
                <a:latin typeface="Tahoma" panose="020B0604030504040204" pitchFamily="34" charset="0"/>
                <a:cs typeface="Tahoma" panose="020B0604030504040204" pitchFamily="34" charset="0"/>
              </a:rPr>
              <a:t>’</a:t>
            </a:r>
            <a:r>
              <a:rPr kumimoji="1" lang="en-US" altLang="ja-JP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takes them one at a time</a:t>
            </a:r>
            <a:r>
              <a:rPr kumimoji="1" lang="en-US" altLang="ja-JP" dirty="0"/>
              <a:t>:</a:t>
            </a:r>
            <a:endParaRPr kumimoji="1" lang="en-US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92EE9F09-C918-479B-541C-904E15639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892" y="1844017"/>
            <a:ext cx="1047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Note: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2DC45D5-3F3F-9942-F434-8AC00C376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44" y="5508126"/>
            <a:ext cx="8012112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Functions that take their arguments one at a time are called </a:t>
            </a:r>
            <a:r>
              <a:rPr kumimoji="1" lang="en-US" sz="28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curried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functions, celebrating the work of Haskell Curry on such functions.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C73D36EF-2EB8-39CA-3FAD-A3CBC9D3A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293" y="3869667"/>
            <a:ext cx="5019675" cy="12969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add :: (</a:t>
            </a:r>
            <a:r>
              <a:rPr lang="en-US" sz="2400" dirty="0" err="1">
                <a:latin typeface="Lucida Sans Typewriter" charset="0"/>
              </a:rPr>
              <a:t>Int,Int</a:t>
            </a:r>
            <a:r>
              <a:rPr lang="en-US" sz="2400" dirty="0">
                <a:latin typeface="Lucida Sans Typewriter" charset="0"/>
              </a:rPr>
              <a:t>) </a:t>
            </a:r>
            <a:r>
              <a:rPr lang="en-US" sz="2400" dirty="0">
                <a:latin typeface="Lucida Sans Typewriter" charset="0"/>
                <a:sym typeface="Symbol" charset="0"/>
              </a:rPr>
              <a:t> Int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add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 :: Int </a:t>
            </a:r>
            <a:r>
              <a:rPr lang="en-US" altLang="ja-JP" sz="2400" dirty="0">
                <a:latin typeface="Lucida Sans Typewriter" charset="0"/>
                <a:sym typeface="Symbol" charset="0"/>
              </a:rPr>
              <a:t></a:t>
            </a:r>
            <a:r>
              <a:rPr lang="en-US" altLang="ja-JP" sz="2400" dirty="0">
                <a:latin typeface="Lucida Sans Typewriter" charset="0"/>
              </a:rPr>
              <a:t> (Int </a:t>
            </a:r>
            <a:r>
              <a:rPr lang="en-US" altLang="ja-JP" sz="2400" dirty="0">
                <a:latin typeface="Lucida Sans Typewriter" charset="0"/>
                <a:sym typeface="Symbol" charset="0"/>
              </a:rPr>
              <a:t> Int)</a:t>
            </a:r>
            <a:endParaRPr lang="en-US" sz="2400" dirty="0">
              <a:latin typeface="Lucida Sans Typewriter" charset="0"/>
              <a:sym typeface="Symbo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52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7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Curried Functions</a:t>
            </a:r>
          </a:p>
        </p:txBody>
      </p:sp>
      <p:sp>
        <p:nvSpPr>
          <p:cNvPr id="2764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58BDC28-C15A-014F-88F9-B781EAE7C46C}" type="slidenum">
              <a:rPr lang="en-US" sz="1400"/>
              <a:pPr/>
              <a:t>15</a:t>
            </a:fld>
            <a:endParaRPr lang="en-US" sz="1400"/>
          </a:p>
        </p:txBody>
      </p:sp>
      <p:sp>
        <p:nvSpPr>
          <p:cNvPr id="6" name="Rectangle 1026">
            <a:extLst>
              <a:ext uri="{FF2B5EF4-FFF2-40B4-BE49-F238E27FC236}">
                <a16:creationId xmlns:a16="http://schemas.microsoft.com/office/drawing/2014/main" id="{D9396142-A4AF-838B-CB4B-DDF0084B9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21" y="1978129"/>
            <a:ext cx="8239125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Functions with more than two arguments can be curried by returning nested functions:</a:t>
            </a: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F91E16C9-65F7-668A-8E58-21CFEF03C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191" y="3126979"/>
            <a:ext cx="6659563" cy="965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 err="1">
                <a:latin typeface="Lucida Sans Typewriter" charset="0"/>
              </a:rPr>
              <a:t>mult</a:t>
            </a:r>
            <a:r>
              <a:rPr lang="en-US" sz="2400" dirty="0">
                <a:latin typeface="Lucida Sans Typewriter" charset="0"/>
              </a:rPr>
              <a:t> :: Int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(Int </a:t>
            </a:r>
            <a:r>
              <a:rPr lang="en-US" sz="2400" dirty="0">
                <a:latin typeface="Lucida Sans Typewriter" charset="0"/>
                <a:sym typeface="Symbol" charset="0"/>
              </a:rPr>
              <a:t> (</a:t>
            </a:r>
            <a:r>
              <a:rPr lang="en-US" sz="2400" dirty="0">
                <a:latin typeface="Lucida Sans Typewriter" charset="0"/>
              </a:rPr>
              <a:t>Int </a:t>
            </a:r>
            <a:r>
              <a:rPr lang="en-US" sz="2400" dirty="0">
                <a:latin typeface="Lucida Sans Typewriter" charset="0"/>
                <a:sym typeface="Symbol" charset="0"/>
              </a:rPr>
              <a:t> Int))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</a:pPr>
            <a:r>
              <a:rPr lang="en-US" sz="2400" dirty="0" err="1">
                <a:latin typeface="Lucida Sans Typewriter" charset="0"/>
              </a:rPr>
              <a:t>mult</a:t>
            </a:r>
            <a:r>
              <a:rPr lang="en-US" sz="2400" dirty="0">
                <a:latin typeface="Lucida Sans Typewriter" charset="0"/>
              </a:rPr>
              <a:t> x y z = x*y*z</a:t>
            </a:r>
          </a:p>
        </p:txBody>
      </p:sp>
      <p:sp>
        <p:nvSpPr>
          <p:cNvPr id="8" name="AutoShape 1040">
            <a:extLst>
              <a:ext uri="{FF2B5EF4-FFF2-40B4-BE49-F238E27FC236}">
                <a16:creationId xmlns:a16="http://schemas.microsoft.com/office/drawing/2014/main" id="{87DB9690-7E28-494D-123B-BCBC616B4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112" y="4762246"/>
            <a:ext cx="8077200" cy="1949450"/>
          </a:xfrm>
          <a:prstGeom prst="wedgeRoundRectCallout">
            <a:avLst>
              <a:gd name="adj1" fmla="val -27860"/>
              <a:gd name="adj2" fmla="val -84363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 err="1"/>
              <a:t>mult</a:t>
            </a:r>
            <a:r>
              <a:rPr lang="en-US" dirty="0"/>
              <a:t> takes an integer x and returns a function </a:t>
            </a:r>
            <a:r>
              <a:rPr lang="en-US" u="sng" dirty="0" err="1"/>
              <a:t>mult</a:t>
            </a:r>
            <a:r>
              <a:rPr lang="en-US" u="sng" dirty="0"/>
              <a:t> x</a:t>
            </a:r>
            <a:r>
              <a:rPr lang="en-US" dirty="0"/>
              <a:t>, which in turn takes an integer y and returns a function </a:t>
            </a:r>
            <a:r>
              <a:rPr lang="en-US" u="sng" dirty="0" err="1"/>
              <a:t>mult</a:t>
            </a:r>
            <a:r>
              <a:rPr lang="en-US" u="sng" dirty="0"/>
              <a:t> x y</a:t>
            </a:r>
            <a:r>
              <a:rPr lang="en-US" dirty="0"/>
              <a:t>, which finally takes an integer z and returns the result x*y*z.</a:t>
            </a:r>
          </a:p>
        </p:txBody>
      </p:sp>
    </p:spTree>
    <p:extLst>
      <p:ext uri="{BB962C8B-B14F-4D97-AF65-F5344CB8AC3E}">
        <p14:creationId xmlns:p14="http://schemas.microsoft.com/office/powerpoint/2010/main" val="427059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5BFE141-CA12-E144-BB4E-DBCBA96CDB26}" type="slidenum">
              <a:rPr lang="en-US" sz="1400"/>
              <a:pPr/>
              <a:t>16</a:t>
            </a:fld>
            <a:endParaRPr lang="en-US" sz="1400"/>
          </a:p>
        </p:txBody>
      </p:sp>
      <p:sp>
        <p:nvSpPr>
          <p:cNvPr id="29698" name="Rectangle 1026"/>
          <p:cNvSpPr>
            <a:spLocks noChangeArrowheads="1"/>
          </p:cNvSpPr>
          <p:nvPr/>
        </p:nvSpPr>
        <p:spPr bwMode="auto">
          <a:xfrm>
            <a:off x="492125" y="554038"/>
            <a:ext cx="8239125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Functions with more than two arguments can be curried by returning nested functions:</a:t>
            </a:r>
          </a:p>
        </p:txBody>
      </p:sp>
      <p:sp>
        <p:nvSpPr>
          <p:cNvPr id="29699" name="Text Box 1030"/>
          <p:cNvSpPr txBox="1">
            <a:spLocks noChangeArrowheads="1"/>
          </p:cNvSpPr>
          <p:nvPr/>
        </p:nvSpPr>
        <p:spPr bwMode="auto">
          <a:xfrm>
            <a:off x="917575" y="2185988"/>
            <a:ext cx="6659563" cy="965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>
                <a:latin typeface="Lucida Sans Typewriter" charset="0"/>
              </a:rPr>
              <a:t>mult :: Int </a:t>
            </a:r>
            <a:r>
              <a:rPr lang="en-US" sz="2400">
                <a:latin typeface="Lucida Sans Typewriter" charset="0"/>
                <a:sym typeface="Symbol" charset="0"/>
              </a:rPr>
              <a:t></a:t>
            </a:r>
            <a:r>
              <a:rPr lang="en-US" sz="2400">
                <a:latin typeface="Lucida Sans Typewriter" charset="0"/>
              </a:rPr>
              <a:t> (Int </a:t>
            </a:r>
            <a:r>
              <a:rPr lang="en-US" sz="2400">
                <a:latin typeface="Lucida Sans Typewriter" charset="0"/>
                <a:sym typeface="Symbol" charset="0"/>
              </a:rPr>
              <a:t> (</a:t>
            </a:r>
            <a:r>
              <a:rPr lang="en-US" sz="2400">
                <a:latin typeface="Lucida Sans Typewriter" charset="0"/>
              </a:rPr>
              <a:t>Int </a:t>
            </a:r>
            <a:r>
              <a:rPr lang="en-US" sz="2400">
                <a:latin typeface="Lucida Sans Typewriter" charset="0"/>
                <a:sym typeface="Symbol" charset="0"/>
              </a:rPr>
              <a:t> Int))</a:t>
            </a:r>
            <a:endParaRPr lang="en-US" sz="2400">
              <a:latin typeface="Lucida Sans Typewriter" charset="0"/>
            </a:endParaRPr>
          </a:p>
          <a:p>
            <a:pPr>
              <a:lnSpc>
                <a:spcPct val="120000"/>
              </a:lnSpc>
            </a:pPr>
            <a:r>
              <a:rPr lang="en-US" sz="2400">
                <a:latin typeface="Lucida Sans Typewriter" charset="0"/>
              </a:rPr>
              <a:t>mult x y z = x*y*z</a:t>
            </a:r>
          </a:p>
        </p:txBody>
      </p:sp>
      <p:sp>
        <p:nvSpPr>
          <p:cNvPr id="29700" name="AutoShape 1040"/>
          <p:cNvSpPr>
            <a:spLocks noChangeArrowheads="1"/>
          </p:cNvSpPr>
          <p:nvPr/>
        </p:nvSpPr>
        <p:spPr bwMode="auto">
          <a:xfrm>
            <a:off x="508000" y="4440238"/>
            <a:ext cx="8077200" cy="1949450"/>
          </a:xfrm>
          <a:prstGeom prst="wedgeRoundRectCallout">
            <a:avLst>
              <a:gd name="adj1" fmla="val -28162"/>
              <a:gd name="adj2" fmla="val -95620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 err="1"/>
              <a:t>mult</a:t>
            </a:r>
            <a:r>
              <a:rPr lang="en-US" dirty="0"/>
              <a:t> takes an integer x and returns a function </a:t>
            </a:r>
            <a:r>
              <a:rPr lang="en-US" u="sng" dirty="0" err="1"/>
              <a:t>mult</a:t>
            </a:r>
            <a:r>
              <a:rPr lang="en-US" u="sng" dirty="0"/>
              <a:t> x</a:t>
            </a:r>
            <a:r>
              <a:rPr lang="en-US" dirty="0"/>
              <a:t>, which in turn takes an integer y and returns a function </a:t>
            </a:r>
            <a:r>
              <a:rPr lang="en-US" u="sng" dirty="0" err="1"/>
              <a:t>mult</a:t>
            </a:r>
            <a:r>
              <a:rPr lang="en-US" u="sng" dirty="0"/>
              <a:t> x y</a:t>
            </a:r>
            <a:r>
              <a:rPr lang="en-US" dirty="0"/>
              <a:t>, which finally takes an integer z and returns the result x*y*z.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Why is Currying Useful?</a:t>
            </a:r>
          </a:p>
        </p:txBody>
      </p:sp>
      <p:sp>
        <p:nvSpPr>
          <p:cNvPr id="3072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AE6A414-7718-1C4B-87E9-8DEECD0D747E}" type="slidenum">
              <a:rPr lang="en-US" sz="1400"/>
              <a:pPr/>
              <a:t>17</a:t>
            </a:fld>
            <a:endParaRPr lang="en-US" sz="1400"/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469106" y="2101898"/>
            <a:ext cx="8205787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Curried functions are more flexible than functions on tuples, because useful functions can often be made by </a:t>
            </a:r>
            <a:r>
              <a:rPr lang="en-US" u="sng" dirty="0"/>
              <a:t>partially applying</a:t>
            </a:r>
            <a:r>
              <a:rPr lang="en-US" dirty="0"/>
              <a:t> a curried function.</a:t>
            </a:r>
          </a:p>
          <a:p>
            <a:endParaRPr lang="en-US" dirty="0"/>
          </a:p>
          <a:p>
            <a:r>
              <a:rPr lang="en-US" dirty="0"/>
              <a:t>For example: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1580325" y="4587041"/>
            <a:ext cx="4575175" cy="19177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add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 1 :: Int </a:t>
            </a:r>
            <a:r>
              <a:rPr lang="en-US" altLang="ja-JP" sz="2400" dirty="0">
                <a:latin typeface="Lucida Sans Typewriter" charset="0"/>
                <a:sym typeface="Symbol" charset="0"/>
              </a:rPr>
              <a:t></a:t>
            </a:r>
            <a:r>
              <a:rPr lang="en-US" altLang="ja-JP" sz="2400" dirty="0">
                <a:latin typeface="Lucida Sans Typewriter" charset="0"/>
              </a:rPr>
              <a:t> Int</a:t>
            </a:r>
          </a:p>
          <a:p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take 5 :: [Int]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[Int]</a:t>
            </a:r>
          </a:p>
          <a:p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drop 5 :: [Int]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[Int]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Currying Conventions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577056" y="3240087"/>
            <a:ext cx="7388225" cy="63658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arrow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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associates to the </a:t>
            </a:r>
            <a:r>
              <a:rPr lang="en-US" sz="28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3174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BB822C1-4577-6B44-899A-FEB6EE604AE8}" type="slidenum">
              <a:rPr lang="en-US" sz="1400"/>
              <a:pPr/>
              <a:t>18</a:t>
            </a:fld>
            <a:endParaRPr lang="en-US" sz="1400"/>
          </a:p>
        </p:txBody>
      </p:sp>
      <p:sp>
        <p:nvSpPr>
          <p:cNvPr id="31748" name="Text Box 6"/>
          <p:cNvSpPr txBox="1">
            <a:spLocks noChangeArrowheads="1"/>
          </p:cNvSpPr>
          <p:nvPr/>
        </p:nvSpPr>
        <p:spPr bwMode="auto">
          <a:xfrm>
            <a:off x="1590675" y="4130675"/>
            <a:ext cx="4583113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>
                <a:latin typeface="Lucida Sans Typewriter" charset="0"/>
              </a:rPr>
              <a:t>Int </a:t>
            </a:r>
            <a:r>
              <a:rPr lang="en-US" sz="2400">
                <a:latin typeface="Lucida Sans Typewriter" charset="0"/>
                <a:sym typeface="Symbol" charset="0"/>
              </a:rPr>
              <a:t></a:t>
            </a:r>
            <a:r>
              <a:rPr lang="en-US" sz="2400">
                <a:latin typeface="Lucida Sans Typewriter" charset="0"/>
              </a:rPr>
              <a:t> Int </a:t>
            </a:r>
            <a:r>
              <a:rPr lang="en-US" sz="2400">
                <a:latin typeface="Lucida Sans Typewriter" charset="0"/>
                <a:sym typeface="Symbol" charset="0"/>
              </a:rPr>
              <a:t></a:t>
            </a:r>
            <a:r>
              <a:rPr lang="en-US" sz="2400">
                <a:latin typeface="Lucida Sans Typewriter" charset="0"/>
              </a:rPr>
              <a:t> Int </a:t>
            </a:r>
            <a:r>
              <a:rPr lang="en-US" sz="2400">
                <a:latin typeface="Lucida Sans Typewriter" charset="0"/>
                <a:sym typeface="Symbol" charset="0"/>
              </a:rPr>
              <a:t></a:t>
            </a:r>
            <a:r>
              <a:rPr lang="en-US" sz="2400">
                <a:latin typeface="Lucida Sans Typewriter" charset="0"/>
              </a:rPr>
              <a:t> Int </a:t>
            </a:r>
          </a:p>
        </p:txBody>
      </p:sp>
      <p:sp>
        <p:nvSpPr>
          <p:cNvPr id="31749" name="Text Box 13"/>
          <p:cNvSpPr txBox="1">
            <a:spLocks noChangeArrowheads="1"/>
          </p:cNvSpPr>
          <p:nvPr/>
        </p:nvSpPr>
        <p:spPr bwMode="auto">
          <a:xfrm>
            <a:off x="378618" y="2039937"/>
            <a:ext cx="83867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To avoid excess parentheses when using curried functions, two simple conventions are adopted:</a:t>
            </a:r>
          </a:p>
        </p:txBody>
      </p:sp>
      <p:sp>
        <p:nvSpPr>
          <p:cNvPr id="31750" name="AutoShape 14"/>
          <p:cNvSpPr>
            <a:spLocks noChangeArrowheads="1"/>
          </p:cNvSpPr>
          <p:nvPr/>
        </p:nvSpPr>
        <p:spPr bwMode="auto">
          <a:xfrm>
            <a:off x="1358900" y="5732463"/>
            <a:ext cx="5824538" cy="566737"/>
          </a:xfrm>
          <a:prstGeom prst="wedgeRoundRectCallout">
            <a:avLst>
              <a:gd name="adj1" fmla="val -25634"/>
              <a:gd name="adj2" fmla="val -183616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Means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)).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Currying Conventions</a:t>
            </a:r>
          </a:p>
        </p:txBody>
      </p:sp>
      <p:sp>
        <p:nvSpPr>
          <p:cNvPr id="3174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BB822C1-4577-6B44-899A-FEB6EE604AE8}" type="slidenum">
              <a:rPr lang="en-US" sz="1400"/>
              <a:pPr/>
              <a:t>19</a:t>
            </a:fld>
            <a:endParaRPr lang="en-US" sz="14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1078A4F-F048-8A62-AD56-972BBE4C6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09" y="1945577"/>
            <a:ext cx="81788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a consequence, it is then natural for function application to associate to the </a:t>
            </a:r>
            <a:r>
              <a:rPr kumimoji="1" lang="en-US" sz="28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7DDF6F2-CA03-9065-F133-8FA5A7E3E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109" y="3035395"/>
            <a:ext cx="20256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 err="1">
                <a:latin typeface="Lucida Sans Typewriter" charset="0"/>
              </a:rPr>
              <a:t>mult</a:t>
            </a:r>
            <a:r>
              <a:rPr lang="en-US" sz="2400" dirty="0">
                <a:latin typeface="Lucida Sans Typewriter" charset="0"/>
              </a:rPr>
              <a:t> x y z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B9813AC-5D7D-DC2E-404C-2C9DC806D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334" y="4093167"/>
            <a:ext cx="4016375" cy="408623"/>
          </a:xfrm>
          <a:prstGeom prst="wedgeRoundRectCallout">
            <a:avLst>
              <a:gd name="adj1" fmla="val -25705"/>
              <a:gd name="adj2" fmla="val -123286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Means ((</a:t>
            </a:r>
            <a:r>
              <a:rPr lang="en-US" dirty="0" err="1"/>
              <a:t>mult</a:t>
            </a:r>
            <a:r>
              <a:rPr lang="en-US" dirty="0"/>
              <a:t> x) y) z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438DAA0F-C625-A068-9BCD-DEE1CC812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1" y="5013984"/>
            <a:ext cx="83026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dirty="0"/>
              <a:t>Unless </a:t>
            </a:r>
            <a:r>
              <a:rPr lang="en-US" dirty="0" err="1"/>
              <a:t>tupling</a:t>
            </a:r>
            <a:r>
              <a:rPr lang="en-US" dirty="0"/>
              <a:t> is explicitly required, all functions in Haskell are normally defined in curried form.</a:t>
            </a:r>
          </a:p>
        </p:txBody>
      </p:sp>
    </p:spTree>
    <p:extLst>
      <p:ext uri="{BB962C8B-B14F-4D97-AF65-F5344CB8AC3E}">
        <p14:creationId xmlns:p14="http://schemas.microsoft.com/office/powerpoint/2010/main" val="75129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Polymorphic Functions</a:t>
            </a:r>
          </a:p>
        </p:txBody>
      </p:sp>
      <p:sp>
        <p:nvSpPr>
          <p:cNvPr id="3379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ECAF3C3-3CFA-E840-AA41-DDD18E5E5223}" type="slidenum">
              <a:rPr lang="en-US" sz="1400"/>
              <a:pPr/>
              <a:t>20</a:t>
            </a:fld>
            <a:endParaRPr lang="en-US" sz="1400"/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91319" y="1999592"/>
            <a:ext cx="83613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 function is called </a:t>
            </a:r>
            <a:r>
              <a:rPr lang="en-US" u="sng" dirty="0"/>
              <a:t>polymorphic</a:t>
            </a:r>
            <a:r>
              <a:rPr lang="en-US" dirty="0"/>
              <a:t> (</a:t>
            </a:r>
            <a:r>
              <a:rPr lang="ja-JP" altLang="en-US"/>
              <a:t>“</a:t>
            </a:r>
            <a:r>
              <a:rPr lang="en-US" altLang="ja-JP" dirty="0"/>
              <a:t>of many forms</a:t>
            </a:r>
            <a:r>
              <a:rPr lang="ja-JP" altLang="en-US"/>
              <a:t>”</a:t>
            </a:r>
            <a:r>
              <a:rPr lang="en-US" altLang="ja-JP" dirty="0"/>
              <a:t>) if its type contains one or more type variables.</a:t>
            </a:r>
            <a:endParaRPr lang="en-US" dirty="0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959293" y="3641682"/>
            <a:ext cx="3798887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length :: [a]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Int</a:t>
            </a:r>
          </a:p>
        </p:txBody>
      </p:sp>
      <p:sp>
        <p:nvSpPr>
          <p:cNvPr id="33797" name="AutoShape 5"/>
          <p:cNvSpPr>
            <a:spLocks noChangeArrowheads="1"/>
          </p:cNvSpPr>
          <p:nvPr/>
        </p:nvSpPr>
        <p:spPr bwMode="auto">
          <a:xfrm>
            <a:off x="1102519" y="5252022"/>
            <a:ext cx="6938962" cy="1054100"/>
          </a:xfrm>
          <a:prstGeom prst="wedgeRoundRectCallout">
            <a:avLst>
              <a:gd name="adj1" fmla="val -29912"/>
              <a:gd name="adj2" fmla="val -139222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For any type a, length takes a list of values of type a and returns an integer.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B9353D-1521-BDD1-5614-81BCE100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21EF50-CD3E-3340-AE4D-C8214C21FB84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9DF76D0-F923-B253-DAA5-2DAFD5B52877}"/>
              </a:ext>
            </a:extLst>
          </p:cNvPr>
          <p:cNvSpPr txBox="1">
            <a:spLocks noChangeArrowheads="1"/>
          </p:cNvSpPr>
          <p:nvPr/>
        </p:nvSpPr>
        <p:spPr>
          <a:xfrm>
            <a:off x="504145" y="753228"/>
            <a:ext cx="7210396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Polymorphic Functions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1DF3B7-AFBB-02BB-54BE-801BA1C4D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7" y="2259148"/>
            <a:ext cx="823912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variables can be instantiated to different types in different circumstances: 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841B061B-EB0C-BF7E-1BB2-B436195F6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80" y="1844017"/>
            <a:ext cx="1047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Note: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030DF9E-00D8-4E0F-C537-4F2FAC085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45" y="5902325"/>
            <a:ext cx="8239125" cy="864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variables must begin with a lower-case letter, and are usually named a, b, c, etc.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2491366B-19D0-C721-F13E-0F628C836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412" y="3264061"/>
            <a:ext cx="4089581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length [</a:t>
            </a:r>
            <a:r>
              <a:rPr lang="en-US" sz="2400" dirty="0" err="1">
                <a:latin typeface="Lucida Sans Typewriter" charset="0"/>
              </a:rPr>
              <a:t>False,True</a:t>
            </a:r>
            <a:r>
              <a:rPr lang="en-US" sz="2400" dirty="0">
                <a:latin typeface="Lucida Sans Typewriter" charset="0"/>
              </a:rPr>
              <a:t>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2</a:t>
            </a: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62CC1806-1A4F-00BF-6D4F-EE396841C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206" y="3371032"/>
            <a:ext cx="1774825" cy="566738"/>
          </a:xfrm>
          <a:prstGeom prst="wedgeRoundRectCallout">
            <a:avLst>
              <a:gd name="adj1" fmla="val -82468"/>
              <a:gd name="adj2" fmla="val 13306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a = Bool</a:t>
            </a: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A79A1006-6024-3DCD-791B-81F329A36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207" y="4538478"/>
            <a:ext cx="1774825" cy="566737"/>
          </a:xfrm>
          <a:prstGeom prst="wedgeRoundRectCallout">
            <a:avLst>
              <a:gd name="adj1" fmla="val -83454"/>
              <a:gd name="adj2" fmla="val -23949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a = </a:t>
            </a:r>
            <a:r>
              <a:rPr lang="en-US" dirty="0" err="1"/>
              <a:t>Int</a:t>
            </a:r>
            <a:endParaRPr lang="en-US" dirty="0"/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E0DF9915-30A4-C45B-9DB5-9CCAC844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709" y="4392139"/>
            <a:ext cx="4002283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length [1,2,3,4]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4</a:t>
            </a:r>
            <a:endParaRPr lang="en-US" sz="2400" dirty="0">
              <a:latin typeface="Lucida Sans Typewriter" charset="0"/>
              <a:sym typeface="Symbo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70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B78BB-9EAC-DB07-4374-53325208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Polymorphic Functions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B6B4F5-9F5A-891F-3063-AD4EFD683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21EF50-CD3E-3340-AE4D-C8214C21FB8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4" name="Rectangle 2050">
            <a:extLst>
              <a:ext uri="{FF2B5EF4-FFF2-40B4-BE49-F238E27FC236}">
                <a16:creationId xmlns:a16="http://schemas.microsoft.com/office/drawing/2014/main" id="{F280E3F1-4C15-A40B-3F51-9ECB22AD1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7" y="2032445"/>
            <a:ext cx="8239125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of the functions defined in the standard Prelude are polymorphic.  For example: </a:t>
            </a:r>
          </a:p>
        </p:txBody>
      </p:sp>
      <p:sp>
        <p:nvSpPr>
          <p:cNvPr id="5" name="Text Box 2051">
            <a:extLst>
              <a:ext uri="{FF2B5EF4-FFF2-40B4-BE49-F238E27FC236}">
                <a16:creationId xmlns:a16="http://schemas.microsoft.com/office/drawing/2014/main" id="{95F2598D-29CE-1E8B-B06F-A0489CBBE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0147" y="3244703"/>
            <a:ext cx="5318061" cy="329320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000" dirty="0" err="1">
                <a:latin typeface="Lucida Sans Typewriter" charset="0"/>
              </a:rPr>
              <a:t>fst</a:t>
            </a:r>
            <a:r>
              <a:rPr lang="en-US" sz="2000" dirty="0">
                <a:latin typeface="Lucida Sans Typewriter" charset="0"/>
              </a:rPr>
              <a:t> :: (</a:t>
            </a:r>
            <a:r>
              <a:rPr lang="en-US" sz="2000" dirty="0" err="1">
                <a:latin typeface="Lucida Sans Typewriter" charset="0"/>
              </a:rPr>
              <a:t>a,b</a:t>
            </a:r>
            <a:r>
              <a:rPr lang="en-US" sz="2000" dirty="0">
                <a:latin typeface="Lucida Sans Typewriter" charset="0"/>
              </a:rPr>
              <a:t>) </a:t>
            </a:r>
            <a:r>
              <a:rPr lang="en-US" sz="2000" dirty="0">
                <a:latin typeface="Lucida Sans Typewriter" charset="0"/>
                <a:sym typeface="Symbol" charset="0"/>
              </a:rPr>
              <a:t></a:t>
            </a:r>
            <a:r>
              <a:rPr lang="en-US" sz="2000" dirty="0">
                <a:latin typeface="Lucida Sans Typewriter" charset="0"/>
              </a:rPr>
              <a:t> a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Lucida Sans Typewriter" charset="0"/>
              </a:rPr>
              <a:t> 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Lucida Sans Typewriter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Lucida Sans Typewriter" charset="0"/>
              </a:rPr>
              <a:t>head :: [a] </a:t>
            </a:r>
            <a:r>
              <a:rPr lang="en-US" sz="2000" dirty="0">
                <a:latin typeface="Lucida Sans Typewriter" charset="0"/>
                <a:sym typeface="Symbol" charset="0"/>
              </a:rPr>
              <a:t></a:t>
            </a:r>
            <a:r>
              <a:rPr lang="en-US" sz="2000" dirty="0">
                <a:latin typeface="Lucida Sans Typewriter" charset="0"/>
              </a:rPr>
              <a:t> a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Lucida Sans Typewriter" charset="0"/>
            </a:endParaRPr>
          </a:p>
          <a:p>
            <a:pPr>
              <a:lnSpc>
                <a:spcPct val="80000"/>
              </a:lnSpc>
            </a:pPr>
            <a:endParaRPr lang="en-US" sz="2000" dirty="0">
              <a:latin typeface="Lucida Sans Typewriter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Lucida Sans Typewriter" charset="0"/>
              </a:rPr>
              <a:t>take :: Int </a:t>
            </a:r>
            <a:r>
              <a:rPr lang="en-US" sz="2000" dirty="0">
                <a:latin typeface="Lucida Sans Typewriter" charset="0"/>
                <a:sym typeface="Symbol" charset="0"/>
              </a:rPr>
              <a:t></a:t>
            </a:r>
            <a:r>
              <a:rPr lang="en-US" sz="2000" dirty="0">
                <a:latin typeface="Lucida Sans Typewriter" charset="0"/>
              </a:rPr>
              <a:t> [a] </a:t>
            </a:r>
            <a:r>
              <a:rPr lang="en-US" sz="2000" dirty="0">
                <a:latin typeface="Lucida Sans Typewriter" charset="0"/>
                <a:sym typeface="Symbol" charset="0"/>
              </a:rPr>
              <a:t></a:t>
            </a:r>
            <a:r>
              <a:rPr lang="en-US" sz="2000" dirty="0">
                <a:latin typeface="Lucida Sans Typewriter" charset="0"/>
              </a:rPr>
              <a:t> [a]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Lucida Sans Typewriter" charset="0"/>
            </a:endParaRPr>
          </a:p>
          <a:p>
            <a:pPr>
              <a:lnSpc>
                <a:spcPct val="80000"/>
              </a:lnSpc>
            </a:pPr>
            <a:endParaRPr lang="en-US" sz="2000" dirty="0">
              <a:latin typeface="Lucida Sans Typewriter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Lucida Sans Typewriter" charset="0"/>
              </a:rPr>
              <a:t>zip :: [a] </a:t>
            </a:r>
            <a:r>
              <a:rPr lang="en-US" sz="2000" dirty="0">
                <a:latin typeface="Lucida Sans Typewriter" charset="0"/>
                <a:sym typeface="Symbol" charset="0"/>
              </a:rPr>
              <a:t></a:t>
            </a:r>
            <a:r>
              <a:rPr lang="en-US" sz="2000" dirty="0">
                <a:latin typeface="Lucida Sans Typewriter" charset="0"/>
              </a:rPr>
              <a:t> [b] </a:t>
            </a:r>
            <a:r>
              <a:rPr lang="en-US" sz="2000" dirty="0">
                <a:latin typeface="Lucida Sans Typewriter" charset="0"/>
                <a:sym typeface="Symbol" charset="0"/>
              </a:rPr>
              <a:t></a:t>
            </a:r>
            <a:r>
              <a:rPr lang="en-US" sz="2000" dirty="0">
                <a:latin typeface="Lucida Sans Typewriter" charset="0"/>
              </a:rPr>
              <a:t> [(</a:t>
            </a:r>
            <a:r>
              <a:rPr lang="en-US" sz="2000" dirty="0" err="1">
                <a:latin typeface="Lucida Sans Typewriter" charset="0"/>
              </a:rPr>
              <a:t>a,b</a:t>
            </a:r>
            <a:r>
              <a:rPr lang="en-US" sz="2000" dirty="0">
                <a:latin typeface="Lucida Sans Typewriter" charset="0"/>
              </a:rPr>
              <a:t>)]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Lucida Sans Typewriter" charset="0"/>
            </a:endParaRPr>
          </a:p>
          <a:p>
            <a:pPr>
              <a:lnSpc>
                <a:spcPct val="80000"/>
              </a:lnSpc>
            </a:pPr>
            <a:endParaRPr lang="en-US" sz="2000" dirty="0">
              <a:latin typeface="Lucida Sans Typewriter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Lucida Sans Typewriter" charset="0"/>
              </a:rPr>
              <a:t>id :: a </a:t>
            </a:r>
            <a:r>
              <a:rPr lang="en-US" sz="2000" dirty="0">
                <a:latin typeface="Lucida Sans Typewriter" charset="0"/>
                <a:sym typeface="Symbol" charset="0"/>
              </a:rPr>
              <a:t></a:t>
            </a:r>
            <a:r>
              <a:rPr lang="en-US" sz="2000" dirty="0">
                <a:latin typeface="Lucida Sans Typewriter" charset="0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72205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76988E6-ADF5-7E4E-B39E-F8A55BADFD10}" type="slidenum">
              <a:rPr lang="en-US" sz="1400"/>
              <a:pPr/>
              <a:t>23</a:t>
            </a:fld>
            <a:endParaRPr lang="en-US" sz="1400"/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52451" y="1531937"/>
            <a:ext cx="823912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Constrained type variables can be instantiated to any types that satisfy the constraints: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369888" y="422275"/>
            <a:ext cx="1047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Note:</a:t>
            </a:r>
          </a:p>
        </p:txBody>
      </p:sp>
      <p:sp>
        <p:nvSpPr>
          <p:cNvPr id="37892" name="Text Box 5"/>
          <p:cNvSpPr txBox="1">
            <a:spLocks noChangeArrowheads="1"/>
          </p:cNvSpPr>
          <p:nvPr/>
        </p:nvSpPr>
        <p:spPr bwMode="auto">
          <a:xfrm>
            <a:off x="1685925" y="2897188"/>
            <a:ext cx="2292350" cy="33369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>
                <a:latin typeface="Lucida Sans Typewriter" charset="0"/>
              </a:rPr>
              <a:t>&gt; 1 + 2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Lucida Sans Typewriter" charset="0"/>
              </a:rPr>
              <a:t>3</a:t>
            </a:r>
          </a:p>
          <a:p>
            <a:pPr>
              <a:lnSpc>
                <a:spcPct val="110000"/>
              </a:lnSpc>
            </a:pPr>
            <a:endParaRPr lang="en-US" sz="240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>
                <a:latin typeface="Lucida Sans Typewriter" charset="0"/>
              </a:rPr>
              <a:t>&gt; 1.0 + 2.0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Lucida Sans Typewriter" charset="0"/>
              </a:rPr>
              <a:t>3.0</a:t>
            </a:r>
          </a:p>
          <a:p>
            <a:pPr>
              <a:lnSpc>
                <a:spcPct val="110000"/>
              </a:lnSpc>
            </a:pPr>
            <a:endParaRPr lang="en-US" sz="240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>
                <a:latin typeface="Lucida Sans Typewriter" charset="0"/>
              </a:rPr>
              <a:t>&gt; 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a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 + 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b</a:t>
            </a:r>
            <a:r>
              <a:rPr lang="ja-JP" altLang="en-US" sz="2400">
                <a:latin typeface="Lucida Sans Typewriter" charset="0"/>
              </a:rPr>
              <a:t>’</a:t>
            </a:r>
            <a:endParaRPr lang="en-US" altLang="ja-JP" sz="240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>
                <a:latin typeface="Lucida Sans Typewriter" charset="0"/>
              </a:rPr>
              <a:t>ERROR</a:t>
            </a:r>
          </a:p>
        </p:txBody>
      </p:sp>
      <p:sp>
        <p:nvSpPr>
          <p:cNvPr id="37893" name="AutoShape 6"/>
          <p:cNvSpPr>
            <a:spLocks noChangeArrowheads="1"/>
          </p:cNvSpPr>
          <p:nvPr/>
        </p:nvSpPr>
        <p:spPr bwMode="auto">
          <a:xfrm>
            <a:off x="5167313" y="5319713"/>
            <a:ext cx="2530475" cy="1028700"/>
          </a:xfrm>
          <a:prstGeom prst="wedgeRoundRectCallout">
            <a:avLst>
              <a:gd name="adj1" fmla="val -68194"/>
              <a:gd name="adj2" fmla="val 10032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Char is not a numeric type</a:t>
            </a:r>
          </a:p>
        </p:txBody>
      </p:sp>
      <p:sp>
        <p:nvSpPr>
          <p:cNvPr id="37894" name="AutoShape 7"/>
          <p:cNvSpPr>
            <a:spLocks noChangeArrowheads="1"/>
          </p:cNvSpPr>
          <p:nvPr/>
        </p:nvSpPr>
        <p:spPr bwMode="auto">
          <a:xfrm>
            <a:off x="5545138" y="3040063"/>
            <a:ext cx="1774825" cy="566737"/>
          </a:xfrm>
          <a:prstGeom prst="wedgeRoundRectCallout">
            <a:avLst>
              <a:gd name="adj1" fmla="val -101167"/>
              <a:gd name="adj2" fmla="val -26032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a = </a:t>
            </a:r>
            <a:r>
              <a:rPr lang="en-US" dirty="0" err="1"/>
              <a:t>Int</a:t>
            </a:r>
            <a:endParaRPr lang="en-US" dirty="0"/>
          </a:p>
        </p:txBody>
      </p:sp>
      <p:sp>
        <p:nvSpPr>
          <p:cNvPr id="37895" name="AutoShape 8"/>
          <p:cNvSpPr>
            <a:spLocks noChangeArrowheads="1"/>
          </p:cNvSpPr>
          <p:nvPr/>
        </p:nvSpPr>
        <p:spPr bwMode="auto">
          <a:xfrm>
            <a:off x="5537200" y="4248150"/>
            <a:ext cx="1774825" cy="566738"/>
          </a:xfrm>
          <a:prstGeom prst="wedgeRoundRectCallout">
            <a:avLst>
              <a:gd name="adj1" fmla="val -100894"/>
              <a:gd name="adj2" fmla="val -30769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a = Float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C3EE-4954-4421-F887-A5494673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Classes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F5072D-9A4D-C28A-FA36-ED4EEB2E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21EF50-CD3E-3340-AE4D-C8214C21FB8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0837B970-9E84-B1D2-2447-798BFDFB5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395" y="3735960"/>
            <a:ext cx="736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Lucida Sans Typewriter" charset="0"/>
              </a:rPr>
              <a:t>Num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F67374BA-85A3-1D86-9CC7-6C5DCA136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732" y="3699447"/>
            <a:ext cx="2781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-  Numeric types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BE2CB2B-2BBC-E0A3-71F4-224E9280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395" y="4424935"/>
            <a:ext cx="5524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>
                <a:latin typeface="Lucida Sans Typewriter" charset="0"/>
              </a:rPr>
              <a:t>Eq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90D8C0A8-0F87-190D-74B9-AC3B33103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732" y="4413822"/>
            <a:ext cx="2727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-  Equality types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A2C3E7A1-D891-BE18-791A-990956946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395" y="5166298"/>
            <a:ext cx="736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>
                <a:latin typeface="Lucida Sans Typewriter" charset="0"/>
              </a:rPr>
              <a:t>Ord</a:t>
            </a: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EB4C24E3-31DD-623A-E971-B272780CF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732" y="5129785"/>
            <a:ext cx="276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-  Ordered 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794579-081B-E8B4-32FA-7A263F5962A7}"/>
              </a:ext>
            </a:extLst>
          </p:cNvPr>
          <p:cNvSpPr txBox="1"/>
          <p:nvPr/>
        </p:nvSpPr>
        <p:spPr>
          <a:xfrm>
            <a:off x="716918" y="2060669"/>
            <a:ext cx="79881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>
                <a:latin typeface="Tahoma" charset="0"/>
                <a:ea typeface="ＭＳ Ｐゴシック" charset="0"/>
              </a:rPr>
              <a:t>A type class in Haskell is a collection of types that support certain operations or behaviours. Some common type classes are </a:t>
            </a:r>
            <a:endParaRPr lang="en-US" sz="2800" dirty="0">
              <a:latin typeface="Tahoma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226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C3EE-4954-4421-F887-A5494673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Classes  - Num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F5072D-9A4D-C28A-FA36-ED4EEB2E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21EF50-CD3E-3340-AE4D-C8214C21FB8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8A1CBC-4B89-F45A-4F1C-E02F8D724468}"/>
              </a:ext>
            </a:extLst>
          </p:cNvPr>
          <p:cNvSpPr txBox="1"/>
          <p:nvPr/>
        </p:nvSpPr>
        <p:spPr>
          <a:xfrm>
            <a:off x="103632" y="2007918"/>
            <a:ext cx="85526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IE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type class is the foundational class for numeric types. It provides basic arithmetic operations like addition, subtraction, multiplication, and negation.</a:t>
            </a:r>
          </a:p>
          <a:p>
            <a:endParaRPr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1F0DF08-EDCE-965D-CFF3-35B9D2B4C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63252"/>
              </p:ext>
            </p:extLst>
          </p:nvPr>
        </p:nvGraphicFramePr>
        <p:xfrm>
          <a:off x="2731361" y="3723044"/>
          <a:ext cx="6096000" cy="2255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4104477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18695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(+) (addition)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abs (absolute value)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80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(-) (subtraction)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signum (sign of the number)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49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 * ) (multiplication)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4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fromInteger</a:t>
                      </a:r>
                      <a:r>
                        <a:rPr lang="en-IE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(convert an Integer to any </a:t>
                      </a:r>
                      <a:r>
                        <a:rPr lang="en-IE" sz="14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Num</a:t>
                      </a:r>
                      <a:r>
                        <a:rPr lang="en-IE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type)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351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negate (negation)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34302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CABE132-A507-FDA8-DC95-A5B970F0F825}"/>
              </a:ext>
            </a:extLst>
          </p:cNvPr>
          <p:cNvSpPr txBox="1"/>
          <p:nvPr/>
        </p:nvSpPr>
        <p:spPr>
          <a:xfrm>
            <a:off x="103632" y="6104772"/>
            <a:ext cx="855268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Int, Integer, Float, Double, Complex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A6FC4A-73A9-C0EF-6466-F202D4853A90}"/>
              </a:ext>
            </a:extLst>
          </p:cNvPr>
          <p:cNvSpPr txBox="1"/>
          <p:nvPr/>
        </p:nvSpPr>
        <p:spPr>
          <a:xfrm>
            <a:off x="792480" y="4254687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methods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83B4D1F8-EF89-427A-0131-DDE50734A832}"/>
              </a:ext>
            </a:extLst>
          </p:cNvPr>
          <p:cNvSpPr/>
          <p:nvPr/>
        </p:nvSpPr>
        <p:spPr>
          <a:xfrm>
            <a:off x="1889937" y="4184054"/>
            <a:ext cx="731520" cy="5105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5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C3EE-4954-4421-F887-A5494673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Classes - Eq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F5072D-9A4D-C28A-FA36-ED4EEB2E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21EF50-CD3E-3340-AE4D-C8214C21FB8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8A1CBC-4B89-F45A-4F1C-E02F8D724468}"/>
              </a:ext>
            </a:extLst>
          </p:cNvPr>
          <p:cNvSpPr txBox="1"/>
          <p:nvPr/>
        </p:nvSpPr>
        <p:spPr>
          <a:xfrm>
            <a:off x="359664" y="2550866"/>
            <a:ext cx="82478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IE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type class is for types that can be compared for equality or inequality.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4F3D75-1301-7E9C-34CB-E0630A554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323885"/>
              </p:ext>
            </p:extLst>
          </p:nvPr>
        </p:nvGraphicFramePr>
        <p:xfrm>
          <a:off x="3608831" y="4080264"/>
          <a:ext cx="4111805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432">
                  <a:extLst>
                    <a:ext uri="{9D8B030D-6E8A-4147-A177-3AD203B41FA5}">
                      <a16:colId xmlns:a16="http://schemas.microsoft.com/office/drawing/2014/main" val="1966461566"/>
                    </a:ext>
                  </a:extLst>
                </a:gridCol>
                <a:gridCol w="2409373">
                  <a:extLst>
                    <a:ext uri="{9D8B030D-6E8A-4147-A177-3AD203B41FA5}">
                      <a16:colId xmlns:a16="http://schemas.microsoft.com/office/drawing/2014/main" val="3917376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3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(==) (equality)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3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(/=) (inequality)</a:t>
                      </a:r>
                    </a:p>
                    <a:p>
                      <a:pPr marL="0" algn="l" defTabSz="685800" rtl="0" eaLnBrk="1" latinLnBrk="0" hangingPunct="1"/>
                      <a:endParaRPr lang="en-US" sz="135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5161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A0437EB-0787-9702-7357-443505D36CF3}"/>
              </a:ext>
            </a:extLst>
          </p:cNvPr>
          <p:cNvSpPr txBox="1"/>
          <p:nvPr/>
        </p:nvSpPr>
        <p:spPr>
          <a:xfrm>
            <a:off x="445008" y="4150868"/>
            <a:ext cx="1182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methods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15A9B0E6-1B72-83E8-61B6-770A8444F5C0}"/>
              </a:ext>
            </a:extLst>
          </p:cNvPr>
          <p:cNvSpPr/>
          <p:nvPr/>
        </p:nvSpPr>
        <p:spPr>
          <a:xfrm>
            <a:off x="1627809" y="4016867"/>
            <a:ext cx="1578687" cy="6373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29DFA-AB73-5AC4-6D1A-10B2B83F155B}"/>
              </a:ext>
            </a:extLst>
          </p:cNvPr>
          <p:cNvSpPr txBox="1"/>
          <p:nvPr/>
        </p:nvSpPr>
        <p:spPr>
          <a:xfrm>
            <a:off x="510241" y="5047488"/>
            <a:ext cx="782908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Int, Bool, Char, Float, String (nearly all types)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46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6" grpId="1" animBg="1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C3EE-4954-4421-F887-A5494673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Classes  - Ord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F5072D-9A4D-C28A-FA36-ED4EEB2E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21EF50-CD3E-3340-AE4D-C8214C21FB8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8A1CBC-4B89-F45A-4F1C-E02F8D724468}"/>
              </a:ext>
            </a:extLst>
          </p:cNvPr>
          <p:cNvSpPr txBox="1"/>
          <p:nvPr/>
        </p:nvSpPr>
        <p:spPr>
          <a:xfrm>
            <a:off x="308487" y="2161513"/>
            <a:ext cx="76139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Ord type class is for types that can be ordered. It extends </a:t>
            </a:r>
            <a:r>
              <a:rPr lang="en-IE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(so any type in Ord must also implement </a:t>
            </a:r>
            <a:r>
              <a:rPr lang="en-IE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and allows comparison operations like less than, greater than, 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50FEED-1E19-499A-E6E8-741B9175F235}"/>
              </a:ext>
            </a:extLst>
          </p:cNvPr>
          <p:cNvSpPr txBox="1"/>
          <p:nvPr/>
        </p:nvSpPr>
        <p:spPr>
          <a:xfrm>
            <a:off x="433188" y="5961433"/>
            <a:ext cx="76139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b="1" dirty="0"/>
              <a:t>Example</a:t>
            </a:r>
            <a:r>
              <a:rPr lang="en-IE" sz="2800" dirty="0"/>
              <a:t>: Int, Char, Float, Double, String (needed for any sorting function)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43BBB9-7F0F-AD9A-CBBC-A3752A7AC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142309"/>
              </p:ext>
            </p:extLst>
          </p:nvPr>
        </p:nvGraphicFramePr>
        <p:xfrm>
          <a:off x="2739512" y="4325644"/>
          <a:ext cx="6096000" cy="1376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53082537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23956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dirty="0">
                          <a:solidFill>
                            <a:schemeClr val="tx1"/>
                          </a:solidFill>
                        </a:rPr>
                        <a:t>(&lt;) (less than)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87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dirty="0">
                          <a:solidFill>
                            <a:schemeClr val="tx1"/>
                          </a:solidFill>
                        </a:rPr>
                        <a:t>(&lt;=) (less than or equal to)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8581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614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dirty="0">
                          <a:solidFill>
                            <a:schemeClr val="tx1"/>
                          </a:solidFill>
                        </a:rPr>
                        <a:t>(&gt;) (greater than)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87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dirty="0">
                          <a:solidFill>
                            <a:schemeClr val="tx1"/>
                          </a:solidFill>
                        </a:rPr>
                        <a:t>(&gt;=) (greater than or equal to)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87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972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dirty="0">
                          <a:solidFill>
                            <a:schemeClr val="tx1"/>
                          </a:solidFill>
                        </a:rPr>
                        <a:t>compare (compares two values)</a:t>
                      </a:r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alpha val="287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87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062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EF0F8FF-FAE2-D977-DA59-B521F56BEFD3}"/>
              </a:ext>
            </a:extLst>
          </p:cNvPr>
          <p:cNvSpPr txBox="1"/>
          <p:nvPr/>
        </p:nvSpPr>
        <p:spPr>
          <a:xfrm>
            <a:off x="121087" y="4753954"/>
            <a:ext cx="1182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methods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C0824058-1EF4-2648-7581-3BE9DE37F888}"/>
              </a:ext>
            </a:extLst>
          </p:cNvPr>
          <p:cNvSpPr/>
          <p:nvPr/>
        </p:nvSpPr>
        <p:spPr>
          <a:xfrm>
            <a:off x="1568053" y="4735629"/>
            <a:ext cx="929463" cy="4059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6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26B05-0AA3-1DCE-3190-62693111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 Constraints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4F8A5B-0958-49BC-7E99-B96D04AE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21EF50-CD3E-3340-AE4D-C8214C21FB8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DD6959-9EBF-AA60-077F-2BE494C97C35}"/>
              </a:ext>
            </a:extLst>
          </p:cNvPr>
          <p:cNvSpPr txBox="1"/>
          <p:nvPr/>
        </p:nvSpPr>
        <p:spPr>
          <a:xfrm>
            <a:off x="510241" y="2462784"/>
            <a:ext cx="78638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IE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constraint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used to specify that a type variable must belong to a certain type class. </a:t>
            </a:r>
          </a:p>
          <a:p>
            <a:endParaRPr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think of it as restricting the type that can be passed to the function. This is useful when the function needs to call methods defined in a particular class (like == from </a:t>
            </a:r>
            <a:r>
              <a:rPr lang="en-IE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762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F273A-AAA6-4360-20F4-86D18686F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Class Constrains?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9F471F-A058-8251-4CF2-2E641DA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21EF50-CD3E-3340-AE4D-C8214C21FB84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7F177-E386-03ED-F76C-5BBC7DBD15AD}"/>
              </a:ext>
            </a:extLst>
          </p:cNvPr>
          <p:cNvSpPr txBox="1"/>
          <p:nvPr/>
        </p:nvSpPr>
        <p:spPr>
          <a:xfrm>
            <a:off x="188064" y="2025908"/>
            <a:ext cx="876787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constraints allow you to:</a:t>
            </a:r>
          </a:p>
          <a:p>
            <a:endParaRPr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E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the presence of specific operations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You can restrict the types that your function can work with to only those that support the operations you need (like equality comparison or string conversion).</a:t>
            </a:r>
          </a:p>
          <a:p>
            <a:pPr>
              <a:buFont typeface="+mj-lt"/>
              <a:buAutoNum type="arabicPeriod"/>
            </a:pPr>
            <a:endParaRPr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E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more general, reusable code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You can write generic functions that can work with many types, but still enforce certain behaviours or operations.</a:t>
            </a:r>
          </a:p>
        </p:txBody>
      </p:sp>
    </p:spTree>
    <p:extLst>
      <p:ext uri="{BB962C8B-B14F-4D97-AF65-F5344CB8AC3E}">
        <p14:creationId xmlns:p14="http://schemas.microsoft.com/office/powerpoint/2010/main" val="2129721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extLst>
              <a:ext uri="{FF2B5EF4-FFF2-40B4-BE49-F238E27FC236}">
                <a16:creationId xmlns:a16="http://schemas.microsoft.com/office/drawing/2014/main" id="{A87BE543-C68D-F6F9-739F-40F92987F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0280" y="6142911"/>
            <a:ext cx="5124451" cy="715089"/>
          </a:xfrm>
          <a:prstGeom prst="wedgeRoundRectCallout">
            <a:avLst>
              <a:gd name="adj1" fmla="val -50335"/>
              <a:gd name="adj2" fmla="val -335432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dirty="0"/>
              <a:t>If there is any more than one class constraints use (Num a, Ord b) =&gt; 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Overloaded Functions</a:t>
            </a:r>
          </a:p>
        </p:txBody>
      </p:sp>
      <p:sp>
        <p:nvSpPr>
          <p:cNvPr id="3686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A710066-EF76-3F4E-8B0A-842759899873}" type="slidenum">
              <a:rPr lang="en-US" sz="1400"/>
              <a:pPr/>
              <a:t>30</a:t>
            </a:fld>
            <a:endParaRPr lang="en-US" sz="1400"/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499269" y="2175478"/>
            <a:ext cx="81454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 polymorphic function is called </a:t>
            </a:r>
            <a:r>
              <a:rPr lang="en-US" u="sng" dirty="0"/>
              <a:t>overloaded</a:t>
            </a:r>
            <a:r>
              <a:rPr lang="en-US" dirty="0"/>
              <a:t> if its type contains one or more class constraints.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1553214" y="3599163"/>
            <a:ext cx="5124450" cy="4603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(+) :: Num a </a:t>
            </a:r>
            <a:r>
              <a:rPr lang="en-US" sz="2400" dirty="0">
                <a:latin typeface="Lucida Sans Typewriter" charset="0"/>
                <a:sym typeface="Symbol" charset="0"/>
              </a:rPr>
              <a:t></a:t>
            </a:r>
            <a:r>
              <a:rPr lang="en-US" sz="2400" dirty="0">
                <a:latin typeface="Lucida Sans Typewriter" charset="0"/>
              </a:rPr>
              <a:t> a -&gt; a -&gt; a</a:t>
            </a:r>
          </a:p>
        </p:txBody>
      </p:sp>
      <p:sp>
        <p:nvSpPr>
          <p:cNvPr id="36869" name="AutoShape 5"/>
          <p:cNvSpPr>
            <a:spLocks noChangeArrowheads="1"/>
          </p:cNvSpPr>
          <p:nvPr/>
        </p:nvSpPr>
        <p:spPr bwMode="auto">
          <a:xfrm>
            <a:off x="0" y="4690588"/>
            <a:ext cx="7478713" cy="1055688"/>
          </a:xfrm>
          <a:prstGeom prst="wedgeRoundRectCallout">
            <a:avLst>
              <a:gd name="adj1" fmla="val -22789"/>
              <a:gd name="adj2" fmla="val -103116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For any numeric type a, (+) takes two values of type a and returns a value of type a.</a:t>
            </a:r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ADA2D059-7B3B-27B0-828A-07BA16589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3121628"/>
            <a:ext cx="3493389" cy="408623"/>
          </a:xfrm>
          <a:prstGeom prst="wedgeRoundRectCallout">
            <a:avLst>
              <a:gd name="adj1" fmla="val -107037"/>
              <a:gd name="adj2" fmla="val 107858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dirty="0"/>
              <a:t>Note the syntax – Num a =&gt;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6868" grpId="0" animBg="1"/>
      <p:bldP spid="36869" grpId="0" animBg="1"/>
      <p:bldP spid="36869" grpId="1" animBg="1"/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Hints and Tips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98122" y="2100066"/>
            <a:ext cx="8147756" cy="313261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charset="0"/>
                <a:ea typeface="ＭＳ Ｐゴシック" charset="0"/>
                <a:cs typeface="ＭＳ Ｐゴシック" charset="0"/>
              </a:rPr>
              <a:t>When defining a new function in Haskell, it is useful to begin by writing down its type;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800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charset="0"/>
                <a:ea typeface="ＭＳ Ｐゴシック" charset="0"/>
                <a:cs typeface="ＭＳ Ｐゴシック" charset="0"/>
              </a:rPr>
              <a:t>Within a script, it is good practice to state the type of every new function defined; Specifically, you need to do this during this module.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800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charset="0"/>
                <a:ea typeface="ＭＳ Ｐゴシック" charset="0"/>
                <a:cs typeface="ＭＳ Ｐゴシック" charset="0"/>
              </a:rPr>
              <a:t>When stating the types of polymorphic functions that use numbers, equality or orderings, take care to include the necessary class constraints.</a:t>
            </a:r>
          </a:p>
        </p:txBody>
      </p:sp>
      <p:sp>
        <p:nvSpPr>
          <p:cNvPr id="3993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883C27E-A5AA-B040-AFF5-5472CBAACB79}" type="slidenum">
              <a:rPr lang="en-US" sz="1400"/>
              <a:pPr/>
              <a:t>31</a:t>
            </a:fld>
            <a:endParaRPr lang="en-US"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75" y="1185672"/>
            <a:ext cx="6517105" cy="495300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fld id="{CC73A6B6-49ED-C641-8D95-0A84FA800C15}" type="slidenum">
              <a:rPr lang="en-US" sz="1400"/>
              <a:pPr>
                <a:spcAft>
                  <a:spcPts val="600"/>
                </a:spcAft>
              </a:pPr>
              <a:t>32</a:t>
            </a:fld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BE327-ECF9-8AAA-101C-567717DCFCF3}"/>
              </a:ext>
            </a:extLst>
          </p:cNvPr>
          <p:cNvSpPr txBox="1"/>
          <p:nvPr/>
        </p:nvSpPr>
        <p:spPr>
          <a:xfrm>
            <a:off x="6493790" y="4649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{465B41F3-4D17-7D4A-B1A8-778B0C2F4A14}tf10001057</Template>
  <TotalTime>4906</TotalTime>
  <Words>1908</Words>
  <Application>Microsoft Macintosh PowerPoint</Application>
  <PresentationFormat>On-screen Show (4:3)</PresentationFormat>
  <Paragraphs>265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Arial Black</vt:lpstr>
      <vt:lpstr>Calibri</vt:lpstr>
      <vt:lpstr>Lucida Sans Typewriter</vt:lpstr>
      <vt:lpstr>Tahoma</vt:lpstr>
      <vt:lpstr>Times New Roman</vt:lpstr>
      <vt:lpstr>Trebuchet MS</vt:lpstr>
      <vt:lpstr>Wingdings</vt:lpstr>
      <vt:lpstr>Berlin</vt:lpstr>
      <vt:lpstr>PowerPoint Presentation</vt:lpstr>
      <vt:lpstr>What types should I use?</vt:lpstr>
      <vt:lpstr>What is a Type?</vt:lpstr>
      <vt:lpstr>Type Errors</vt:lpstr>
      <vt:lpstr>Types in Haskell</vt:lpstr>
      <vt:lpstr>Types in Haskell</vt:lpstr>
      <vt:lpstr>Basic Types</vt:lpstr>
      <vt:lpstr>List Types</vt:lpstr>
      <vt:lpstr>List Types</vt:lpstr>
      <vt:lpstr>Tuple Types</vt:lpstr>
      <vt:lpstr>Tuple Types</vt:lpstr>
      <vt:lpstr>Function Types</vt:lpstr>
      <vt:lpstr>Function Types</vt:lpstr>
      <vt:lpstr>Curried Functions</vt:lpstr>
      <vt:lpstr>Curried Functions</vt:lpstr>
      <vt:lpstr>Curried Functions</vt:lpstr>
      <vt:lpstr>PowerPoint Presentation</vt:lpstr>
      <vt:lpstr>Why is Currying Useful?</vt:lpstr>
      <vt:lpstr>Currying Conventions</vt:lpstr>
      <vt:lpstr>Currying Conventions</vt:lpstr>
      <vt:lpstr>Polymorphic Functions</vt:lpstr>
      <vt:lpstr>PowerPoint Presentation</vt:lpstr>
      <vt:lpstr>Polymorphic Functions</vt:lpstr>
      <vt:lpstr>PowerPoint Presentation</vt:lpstr>
      <vt:lpstr>Type Classes </vt:lpstr>
      <vt:lpstr>Type Classes  - Num</vt:lpstr>
      <vt:lpstr>Type Classes - Eq</vt:lpstr>
      <vt:lpstr>Type Classes  - Ord</vt:lpstr>
      <vt:lpstr>Class Constraints</vt:lpstr>
      <vt:lpstr>Why use Class Constrains?</vt:lpstr>
      <vt:lpstr>Overloaded Functions</vt:lpstr>
      <vt:lpstr>Hints and Tips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290</cp:revision>
  <cp:lastPrinted>2001-01-11T11:32:24Z</cp:lastPrinted>
  <dcterms:created xsi:type="dcterms:W3CDTF">2000-11-20T11:40:19Z</dcterms:created>
  <dcterms:modified xsi:type="dcterms:W3CDTF">2025-01-30T18:26:10Z</dcterms:modified>
</cp:coreProperties>
</file>