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53" r:id="rId1"/>
  </p:sldMasterIdLst>
  <p:notesMasterIdLst>
    <p:notesMasterId r:id="rId27"/>
  </p:notesMasterIdLst>
  <p:handoutMasterIdLst>
    <p:handoutMasterId r:id="rId28"/>
  </p:handoutMasterIdLst>
  <p:sldIdLst>
    <p:sldId id="345" r:id="rId2"/>
    <p:sldId id="313" r:id="rId3"/>
    <p:sldId id="322" r:id="rId4"/>
    <p:sldId id="310" r:id="rId5"/>
    <p:sldId id="316" r:id="rId6"/>
    <p:sldId id="281" r:id="rId7"/>
    <p:sldId id="319" r:id="rId8"/>
    <p:sldId id="336" r:id="rId9"/>
    <p:sldId id="328" r:id="rId10"/>
    <p:sldId id="325" r:id="rId11"/>
    <p:sldId id="331" r:id="rId12"/>
    <p:sldId id="329" r:id="rId13"/>
    <p:sldId id="332" r:id="rId14"/>
    <p:sldId id="335" r:id="rId15"/>
    <p:sldId id="296" r:id="rId16"/>
    <p:sldId id="338" r:id="rId17"/>
    <p:sldId id="342" r:id="rId18"/>
    <p:sldId id="350" r:id="rId19"/>
    <p:sldId id="340" r:id="rId20"/>
    <p:sldId id="283" r:id="rId21"/>
    <p:sldId id="284" r:id="rId22"/>
    <p:sldId id="300" r:id="rId23"/>
    <p:sldId id="301" r:id="rId24"/>
    <p:sldId id="344" r:id="rId25"/>
    <p:sldId id="343" r:id="rId26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46"/>
    <p:restoredTop sz="94598"/>
  </p:normalViewPr>
  <p:slideViewPr>
    <p:cSldViewPr snapToGrid="0">
      <p:cViewPr varScale="1">
        <p:scale>
          <a:sx n="84" d="100"/>
          <a:sy n="84" d="100"/>
        </p:scale>
        <p:origin x="208" y="83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CA88B19E-DFE5-DB48-8DDE-DFD83750254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629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5E8D1DE4-9942-B54F-8DCA-B57518E927E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0076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4103"/>
          <p:cNvSpPr>
            <a:spLocks noGrp="1" noChangeArrowheads="1"/>
          </p:cNvSpPr>
          <p:nvPr>
            <p:ph type="sldNum" sz="quarter" idx="5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A28E64E-B077-A843-ABC8-E59F1EE1AD6F}" type="slidenum">
              <a:rPr lang="en-US" sz="1200"/>
              <a:pPr/>
              <a:t>14</a:t>
            </a:fld>
            <a:endParaRPr lang="en-US" sz="1200"/>
          </a:p>
        </p:txBody>
      </p:sp>
      <p:sp>
        <p:nvSpPr>
          <p:cNvPr id="30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95263" y="762000"/>
            <a:ext cx="6772275" cy="3810000"/>
          </a:xfrm>
          <a:ln/>
        </p:spPr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GB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3022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CB74C567-DE8F-0F4F-B42B-3D4662DE9FD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25876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8AA650-3E41-A349-B956-155ED09CC8B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907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C8B2BB83-8B68-B240-B0B9-96DB7DDF33A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924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D4404B4-2066-864A-8BEC-7BF43140480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765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2364AA6-88BA-EE45-8CDC-4B1A33C65FF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380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3987009-D139-074C-9465-DFE7F86DCF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37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3AF9DEA-444B-9248-AFC5-3968C35BCF0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939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60D600-1DB2-D64A-A93D-9742A18E796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719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BB8CEE-18AE-5B48-B9F3-76EA766AE1F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800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CB74C567-DE8F-0F4F-B42B-3D4662DE9FD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119269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CB74C567-DE8F-0F4F-B42B-3D4662DE9FD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765328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CB74C567-DE8F-0F4F-B42B-3D4662DE9FD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7753089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CB74C567-DE8F-0F4F-B42B-3D4662DE9FD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521872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74C567-DE8F-0F4F-B42B-3D4662DE9FD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085308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74C567-DE8F-0F4F-B42B-3D4662DE9FD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272717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7FA69AF-BDC6-0145-8856-5069B02949E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8927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2DAFE301-9248-A54C-8406-8167DAEA894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713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B74C567-DE8F-0F4F-B42B-3D4662DE9FD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2193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4" r:id="rId1"/>
    <p:sldLayoutId id="2147483755" r:id="rId2"/>
    <p:sldLayoutId id="2147483756" r:id="rId3"/>
    <p:sldLayoutId id="2147483757" r:id="rId4"/>
    <p:sldLayoutId id="2147483758" r:id="rId5"/>
    <p:sldLayoutId id="2147483759" r:id="rId6"/>
    <p:sldLayoutId id="2147483760" r:id="rId7"/>
    <p:sldLayoutId id="2147483761" r:id="rId8"/>
    <p:sldLayoutId id="2147483762" r:id="rId9"/>
    <p:sldLayoutId id="2147483763" r:id="rId10"/>
    <p:sldLayoutId id="2147483764" r:id="rId11"/>
    <p:sldLayoutId id="2147483765" r:id="rId12"/>
    <p:sldLayoutId id="2147483766" r:id="rId13"/>
    <p:sldLayoutId id="2147483767" r:id="rId14"/>
    <p:sldLayoutId id="2147483768" r:id="rId15"/>
    <p:sldLayoutId id="2147483769" r:id="rId16"/>
    <p:sldLayoutId id="2147483770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B46528A-ECC8-234E-A53C-F87AC3F6694B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/>
              <a:t>Chapter 8.1 </a:t>
            </a:r>
            <a:r>
              <a:rPr kumimoji="1" lang="en-US" sz="3200" dirty="0"/>
              <a:t>- Higher-Order Functions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756424" y="927100"/>
            <a:ext cx="8515350" cy="685800"/>
          </a:xfrm>
        </p:spPr>
        <p:txBody>
          <a:bodyPr/>
          <a:lstStyle/>
          <a:p>
            <a:r>
              <a:rPr lang="en-US" dirty="0">
                <a:latin typeface="Arial Black" charset="0"/>
              </a:rPr>
              <a:t>Introduction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DB9F8B5-5DD7-6D4A-BC28-F52CC01B8869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1872456" y="2082702"/>
            <a:ext cx="8447087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function is called </a:t>
            </a:r>
            <a:r>
              <a:rPr lang="en-US" u="sng" dirty="0"/>
              <a:t>higher-order</a:t>
            </a:r>
            <a:r>
              <a:rPr lang="en-US" dirty="0"/>
              <a:t> if it takes a function as an argument or returns a function as a result.</a:t>
            </a:r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3086061" y="3498654"/>
            <a:ext cx="4989512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twice :: </a:t>
            </a:r>
            <a:r>
              <a:rPr lang="en-US" sz="2400" dirty="0">
                <a:solidFill>
                  <a:srgbClr val="FFFFFF"/>
                </a:solidFill>
                <a:latin typeface="Lucida Sans Typewriter" charset="0"/>
              </a:rPr>
              <a:t>(a </a:t>
            </a:r>
            <a:r>
              <a:rPr lang="en-US" sz="2400" dirty="0">
                <a:solidFill>
                  <a:srgbClr val="FFFFFF"/>
                </a:solidFill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solidFill>
                  <a:srgbClr val="FFFFFF"/>
                </a:solidFill>
                <a:latin typeface="Lucida Sans Typewriter" charset="0"/>
              </a:rPr>
              <a:t> a) </a:t>
            </a:r>
            <a:r>
              <a:rPr lang="en-US" sz="2400" dirty="0">
                <a:solidFill>
                  <a:srgbClr val="FFFFFF"/>
                </a:solidFill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solidFill>
                  <a:srgbClr val="FFFFFF"/>
                </a:solidFill>
                <a:latin typeface="Lucida Sans Typewriter" charset="0"/>
              </a:rPr>
              <a:t> a </a:t>
            </a:r>
            <a:r>
              <a:rPr lang="en-US" sz="2400" dirty="0">
                <a:solidFill>
                  <a:srgbClr val="FFFFFF"/>
                </a:solidFill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solidFill>
                  <a:srgbClr val="FFFFFF"/>
                </a:solidFill>
                <a:latin typeface="Lucida Sans Typewriter" charset="0"/>
              </a:rPr>
              <a:t> a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twice f x = f (f x)</a:t>
            </a:r>
          </a:p>
        </p:txBody>
      </p:sp>
      <p:sp>
        <p:nvSpPr>
          <p:cNvPr id="16389" name="AutoShape 5"/>
          <p:cNvSpPr>
            <a:spLocks noChangeArrowheads="1"/>
          </p:cNvSpPr>
          <p:nvPr/>
        </p:nvSpPr>
        <p:spPr bwMode="auto">
          <a:xfrm>
            <a:off x="2894515" y="5126300"/>
            <a:ext cx="4239168" cy="715089"/>
          </a:xfrm>
          <a:prstGeom prst="wedgeRoundRectCallout">
            <a:avLst>
              <a:gd name="adj1" fmla="val -21875"/>
              <a:gd name="adj2" fmla="val -13596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dirty="0"/>
              <a:t>twice is higher-order because it</a:t>
            </a:r>
          </a:p>
          <a:p>
            <a:pPr algn="ctr"/>
            <a:r>
              <a:rPr lang="en-US" dirty="0"/>
              <a:t>takes a function as its first argument.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3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3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8" grpId="0" animBg="1"/>
      <p:bldP spid="1638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544782" y="773111"/>
            <a:ext cx="8032750" cy="685800"/>
          </a:xfrm>
        </p:spPr>
        <p:txBody>
          <a:bodyPr/>
          <a:lstStyle/>
          <a:p>
            <a:r>
              <a:rPr lang="en-US" dirty="0">
                <a:latin typeface="Arial Black" charset="0"/>
              </a:rPr>
              <a:t>Why Are They Useful?</a:t>
            </a:r>
          </a:p>
        </p:txBody>
      </p:sp>
      <p:sp>
        <p:nvSpPr>
          <p:cNvPr id="1740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FE6710C-874B-8D48-9963-7D0A0C3DFAE7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1314739" y="2663826"/>
            <a:ext cx="8047038" cy="399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charset="0"/>
                <a:ea typeface="ＭＳ Ｐゴシック" charset="0"/>
              </a:rPr>
              <a:t>Common programming idioms can be encoded as functions within the language itself.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lang="en-US" sz="2800" dirty="0">
              <a:latin typeface="Tahoma" charset="0"/>
              <a:ea typeface="ＭＳ Ｐゴシック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charset="0"/>
                <a:ea typeface="ＭＳ Ｐゴシック" charset="0"/>
              </a:rPr>
              <a:t>Domain specific languages can be defined as collections of higher-order functions.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lang="en-US" sz="2800" dirty="0">
              <a:latin typeface="Tahoma" charset="0"/>
              <a:ea typeface="ＭＳ Ｐゴシック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charset="0"/>
                <a:ea typeface="ＭＳ Ｐゴシック" charset="0"/>
              </a:rPr>
              <a:t>Algebraic properties of higher-order functions can be used to reason about programs.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</a:rPr>
              <a:t>The Map Function</a:t>
            </a:r>
          </a:p>
        </p:txBody>
      </p:sp>
      <p:sp>
        <p:nvSpPr>
          <p:cNvPr id="1843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286D825-E0DF-5745-B974-FAB56676A060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1109808" y="2192338"/>
            <a:ext cx="834707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higher-order library function called </a:t>
            </a:r>
            <a:r>
              <a:rPr lang="en-US" u="sng" dirty="0"/>
              <a:t>map</a:t>
            </a:r>
            <a:r>
              <a:rPr lang="en-US" dirty="0"/>
              <a:t> applies a function to every element of a list.</a:t>
            </a: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3063875" y="3490913"/>
            <a:ext cx="5319712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map :: (a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b)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[b]</a:t>
            </a:r>
          </a:p>
        </p:txBody>
      </p:sp>
      <p:sp>
        <p:nvSpPr>
          <p:cNvPr id="18437" name="Text Box 5"/>
          <p:cNvSpPr txBox="1">
            <a:spLocks noChangeArrowheads="1"/>
          </p:cNvSpPr>
          <p:nvPr/>
        </p:nvSpPr>
        <p:spPr bwMode="auto">
          <a:xfrm>
            <a:off x="1927225" y="4117976"/>
            <a:ext cx="22733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18438" name="Text Box 6"/>
          <p:cNvSpPr txBox="1">
            <a:spLocks noChangeArrowheads="1"/>
          </p:cNvSpPr>
          <p:nvPr/>
        </p:nvSpPr>
        <p:spPr bwMode="auto">
          <a:xfrm>
            <a:off x="3113089" y="5152937"/>
            <a:ext cx="3903633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map (+1) [1,3,5,7]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[2,4,6,8]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4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4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4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4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51E36-5BA1-7F9C-7872-F764DE96B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contd.</a:t>
            </a:r>
          </a:p>
        </p:txBody>
      </p:sp>
      <p:sp>
        <p:nvSpPr>
          <p:cNvPr id="1945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95EDB29-9C9D-2B4A-810D-72E0E27B0AE3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19458" name="Text Box 2"/>
          <p:cNvSpPr txBox="1">
            <a:spLocks noChangeArrowheads="1"/>
          </p:cNvSpPr>
          <p:nvPr/>
        </p:nvSpPr>
        <p:spPr bwMode="auto">
          <a:xfrm>
            <a:off x="1889957" y="4320308"/>
            <a:ext cx="84042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Alternatively, for the purposes of proofs, the map function can also be defined using recursion: </a:t>
            </a:r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1240632" y="2163763"/>
            <a:ext cx="849630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map function can be defined in a particularly simple manner using a list comprehension: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2926052" y="3519488"/>
            <a:ext cx="4903787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 dirty="0">
                <a:latin typeface="Lucida Sans Typewriter" charset="0"/>
              </a:rPr>
              <a:t>map f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[f x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]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2926052" y="5561419"/>
            <a:ext cx="5577168" cy="106400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40000"/>
              </a:lnSpc>
            </a:pPr>
            <a:r>
              <a:rPr lang="en-US" sz="2400" dirty="0">
                <a:latin typeface="Lucida Sans Typewriter" charset="0"/>
              </a:rPr>
              <a:t>map f []     = []</a:t>
            </a:r>
          </a:p>
          <a:p>
            <a:pPr>
              <a:lnSpc>
                <a:spcPct val="140000"/>
              </a:lnSpc>
            </a:pPr>
            <a:r>
              <a:rPr lang="en-US" sz="2400" dirty="0">
                <a:latin typeface="Lucida Sans Typewriter" charset="0"/>
              </a:rPr>
              <a:t>map f (</a:t>
            </a:r>
            <a:r>
              <a:rPr lang="en-US" sz="2400" dirty="0" err="1">
                <a:latin typeface="Lucida Sans Typewriter" charset="0"/>
              </a:rPr>
              <a:t>x:xs</a:t>
            </a:r>
            <a:r>
              <a:rPr lang="en-US" sz="2400" dirty="0">
                <a:latin typeface="Lucida Sans Typewriter" charset="0"/>
              </a:rPr>
              <a:t>) = f x : map f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4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4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4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4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 animBg="1"/>
      <p:bldP spid="1946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</a:rPr>
              <a:t>The Filter Function</a:t>
            </a:r>
          </a:p>
        </p:txBody>
      </p:sp>
      <p:sp>
        <p:nvSpPr>
          <p:cNvPr id="2048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714A7A6-B85E-FD4E-9ACB-A03DA51B34AB}" type="slidenum">
              <a:rPr lang="en-US" sz="1400"/>
              <a:pPr/>
              <a:t>5</a:t>
            </a:fld>
            <a:endParaRPr lang="en-US" sz="1400"/>
          </a:p>
        </p:txBody>
      </p:sp>
      <p:sp>
        <p:nvSpPr>
          <p:cNvPr id="20483" name="Text Box 3"/>
          <p:cNvSpPr txBox="1">
            <a:spLocks noChangeArrowheads="1"/>
          </p:cNvSpPr>
          <p:nvPr/>
        </p:nvSpPr>
        <p:spPr bwMode="auto">
          <a:xfrm>
            <a:off x="1278788" y="2010871"/>
            <a:ext cx="84169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higher-order library function </a:t>
            </a:r>
            <a:r>
              <a:rPr lang="en-US" u="sng" dirty="0"/>
              <a:t>filter</a:t>
            </a:r>
            <a:r>
              <a:rPr lang="en-US" dirty="0"/>
              <a:t> selects every element from a list that satisfies a predicate.</a:t>
            </a:r>
          </a:p>
        </p:txBody>
      </p:sp>
      <p:sp>
        <p:nvSpPr>
          <p:cNvPr id="20484" name="Text Box 4"/>
          <p:cNvSpPr txBox="1">
            <a:spLocks noChangeArrowheads="1"/>
          </p:cNvSpPr>
          <p:nvPr/>
        </p:nvSpPr>
        <p:spPr bwMode="auto">
          <a:xfrm>
            <a:off x="2517920" y="3408146"/>
            <a:ext cx="6424612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 dirty="0">
                <a:latin typeface="Lucida Sans Typewriter" charset="0"/>
              </a:rPr>
              <a:t>filter :: (a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Bool)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</a:t>
            </a:r>
          </a:p>
        </p:txBody>
      </p:sp>
      <p:sp>
        <p:nvSpPr>
          <p:cNvPr id="20485" name="Text Box 5"/>
          <p:cNvSpPr txBox="1">
            <a:spLocks noChangeArrowheads="1"/>
          </p:cNvSpPr>
          <p:nvPr/>
        </p:nvSpPr>
        <p:spPr bwMode="auto">
          <a:xfrm>
            <a:off x="1920082" y="4230535"/>
            <a:ext cx="2243138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0486" name="Text Box 6"/>
          <p:cNvSpPr txBox="1">
            <a:spLocks noChangeArrowheads="1"/>
          </p:cNvSpPr>
          <p:nvPr/>
        </p:nvSpPr>
        <p:spPr bwMode="auto">
          <a:xfrm>
            <a:off x="3041651" y="5114837"/>
            <a:ext cx="4089581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>
                <a:latin typeface="Lucida Sans Typewriter" charset="0"/>
              </a:rPr>
              <a:t>&gt; filter even [1..10]</a:t>
            </a:r>
          </a:p>
          <a:p>
            <a:endParaRPr lang="en-US" sz="2400">
              <a:latin typeface="Lucida Sans Typewriter" charset="0"/>
            </a:endParaRPr>
          </a:p>
          <a:p>
            <a:r>
              <a:rPr lang="en-US" sz="2400">
                <a:latin typeface="Lucida Sans Typewriter" charset="0"/>
              </a:rPr>
              <a:t>[2,4,6,8,10]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4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4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4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4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4" grpId="0" animBg="1"/>
      <p:bldP spid="20485" grpId="0"/>
      <p:bldP spid="2048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86D12C72-FCFC-834B-BA63-9DF23E39175A}" type="slidenum">
              <a:rPr lang="en-US" sz="1400"/>
              <a:pPr/>
              <a:t>6</a:t>
            </a:fld>
            <a:endParaRPr lang="en-US" sz="1400"/>
          </a:p>
        </p:txBody>
      </p:sp>
      <p:sp>
        <p:nvSpPr>
          <p:cNvPr id="21506" name="Text Box 2"/>
          <p:cNvSpPr txBox="1">
            <a:spLocks noChangeArrowheads="1"/>
          </p:cNvSpPr>
          <p:nvPr/>
        </p:nvSpPr>
        <p:spPr bwMode="auto">
          <a:xfrm>
            <a:off x="1946132" y="3477492"/>
            <a:ext cx="7773987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Alternatively, it can be defined using recursion:</a:t>
            </a:r>
          </a:p>
        </p:txBody>
      </p:sp>
      <p:sp>
        <p:nvSpPr>
          <p:cNvPr id="21507" name="Text Box 3"/>
          <p:cNvSpPr txBox="1">
            <a:spLocks noChangeArrowheads="1"/>
          </p:cNvSpPr>
          <p:nvPr/>
        </p:nvSpPr>
        <p:spPr bwMode="auto">
          <a:xfrm>
            <a:off x="552451" y="875505"/>
            <a:ext cx="8447087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Filter can be defined using a list comprehension:</a:t>
            </a:r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2644486" y="2404197"/>
            <a:ext cx="6008688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 dirty="0">
                <a:latin typeface="Lucida Sans Typewriter" charset="0"/>
              </a:rPr>
              <a:t>filter p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[x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, p x]</a:t>
            </a:r>
          </a:p>
        </p:txBody>
      </p:sp>
      <p:sp>
        <p:nvSpPr>
          <p:cNvPr id="21509" name="Text Box 5"/>
          <p:cNvSpPr txBox="1">
            <a:spLocks noChangeArrowheads="1"/>
          </p:cNvSpPr>
          <p:nvPr/>
        </p:nvSpPr>
        <p:spPr bwMode="auto">
          <a:xfrm>
            <a:off x="2644486" y="4424653"/>
            <a:ext cx="6261100" cy="19907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filter p [] = []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filter p (</a:t>
            </a:r>
            <a:r>
              <a:rPr lang="en-US" sz="2400" dirty="0" err="1">
                <a:latin typeface="Lucida Sans Typewriter" charset="0"/>
              </a:rPr>
              <a:t>x:xs</a:t>
            </a:r>
            <a:r>
              <a:rPr lang="en-US" sz="2400" dirty="0">
                <a:latin typeface="Lucida Sans Typewriter" charset="0"/>
              </a:rPr>
              <a:t>)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   | p x       = x : filter p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   | otherwise = filter p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</a:rPr>
              <a:t>The </a:t>
            </a:r>
            <a:r>
              <a:rPr lang="en-US" dirty="0" err="1">
                <a:latin typeface="Arial Black" charset="0"/>
              </a:rPr>
              <a:t>Foldr</a:t>
            </a:r>
            <a:r>
              <a:rPr lang="en-US" dirty="0">
                <a:latin typeface="Arial Black" charset="0"/>
              </a:rPr>
              <a:t> Function</a:t>
            </a:r>
          </a:p>
        </p:txBody>
      </p:sp>
      <p:sp>
        <p:nvSpPr>
          <p:cNvPr id="2252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E5FE8F0-42F1-9741-A5E2-02706A612CEB}" type="slidenum">
              <a:rPr lang="en-US" sz="1400"/>
              <a:pPr/>
              <a:t>7</a:t>
            </a:fld>
            <a:endParaRPr lang="en-US" sz="1400"/>
          </a:p>
        </p:txBody>
      </p:sp>
      <p:sp>
        <p:nvSpPr>
          <p:cNvPr id="22531" name="Text Box 3"/>
          <p:cNvSpPr txBox="1">
            <a:spLocks noChangeArrowheads="1"/>
          </p:cNvSpPr>
          <p:nvPr/>
        </p:nvSpPr>
        <p:spPr bwMode="auto">
          <a:xfrm>
            <a:off x="1732757" y="2022777"/>
            <a:ext cx="8377237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number of functions on lists can be defined using the following simple pattern of recursion: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3068494" y="3315001"/>
            <a:ext cx="3732213" cy="968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f []     = v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f (</a:t>
            </a:r>
            <a:r>
              <a:rPr lang="en-US" sz="2400" dirty="0" err="1">
                <a:latin typeface="Lucida Sans Typewriter" charset="0"/>
              </a:rPr>
              <a:t>x:xs</a:t>
            </a:r>
            <a:r>
              <a:rPr lang="en-US" sz="2400" dirty="0">
                <a:latin typeface="Lucida Sans Typewriter" charset="0"/>
              </a:rPr>
              <a:t>) = x </a:t>
            </a:r>
            <a:r>
              <a:rPr lang="en-US" sz="2400" dirty="0">
                <a:latin typeface="Lucida Sans Typewriter" charset="0"/>
                <a:sym typeface="Symbol" charset="0"/>
              </a:rPr>
              <a:t> </a:t>
            </a:r>
            <a:r>
              <a:rPr lang="en-US" sz="2400" dirty="0">
                <a:latin typeface="Lucida Sans Typewriter" charset="0"/>
              </a:rPr>
              <a:t>f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22533" name="AutoShape 5"/>
          <p:cNvSpPr>
            <a:spLocks noChangeArrowheads="1"/>
          </p:cNvSpPr>
          <p:nvPr/>
        </p:nvSpPr>
        <p:spPr bwMode="auto">
          <a:xfrm>
            <a:off x="2366962" y="5425502"/>
            <a:ext cx="7108825" cy="715089"/>
          </a:xfrm>
          <a:prstGeom prst="wedgeRoundRectCallout">
            <a:avLst>
              <a:gd name="adj1" fmla="val -26172"/>
              <a:gd name="adj2" fmla="val -20421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f maps the empty list to some value v, and any non-empty list to some function </a:t>
            </a:r>
            <a:r>
              <a:rPr lang="en-US" dirty="0">
                <a:sym typeface="Symbol" charset="0"/>
              </a:rPr>
              <a:t></a:t>
            </a:r>
            <a:r>
              <a:rPr lang="en-US" dirty="0"/>
              <a:t> applied to its head and f of its tail.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3F9F7A5-AC31-5E49-B0DC-A9B3C738CDA7}" type="slidenum">
              <a:rPr lang="en-US" sz="1400"/>
              <a:pPr/>
              <a:t>8</a:t>
            </a:fld>
            <a:endParaRPr lang="en-US" sz="1400"/>
          </a:p>
        </p:txBody>
      </p:sp>
      <p:sp>
        <p:nvSpPr>
          <p:cNvPr id="23554" name="Text Box 2"/>
          <p:cNvSpPr txBox="1">
            <a:spLocks noChangeArrowheads="1"/>
          </p:cNvSpPr>
          <p:nvPr/>
        </p:nvSpPr>
        <p:spPr bwMode="auto">
          <a:xfrm>
            <a:off x="907762" y="1047790"/>
            <a:ext cx="8104188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3555" name="Text Box 3"/>
          <p:cNvSpPr txBox="1">
            <a:spLocks noChangeArrowheads="1"/>
          </p:cNvSpPr>
          <p:nvPr/>
        </p:nvSpPr>
        <p:spPr bwMode="auto">
          <a:xfrm>
            <a:off x="2257425" y="2147889"/>
            <a:ext cx="4419600" cy="968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sum []     = 0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sum (</a:t>
            </a:r>
            <a:r>
              <a:rPr lang="en-US" sz="2400" dirty="0" err="1">
                <a:latin typeface="Lucida Sans Typewriter" charset="0"/>
              </a:rPr>
              <a:t>x:xs</a:t>
            </a:r>
            <a:r>
              <a:rPr lang="en-US" sz="2400" dirty="0">
                <a:latin typeface="Lucida Sans Typewriter" charset="0"/>
              </a:rPr>
              <a:t>) = x + sum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23556" name="Text Box 4"/>
          <p:cNvSpPr txBox="1">
            <a:spLocks noChangeArrowheads="1"/>
          </p:cNvSpPr>
          <p:nvPr/>
        </p:nvSpPr>
        <p:spPr bwMode="auto">
          <a:xfrm>
            <a:off x="2283406" y="5519643"/>
            <a:ext cx="4603750" cy="968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and []     = True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and (</a:t>
            </a:r>
            <a:r>
              <a:rPr lang="en-US" sz="2400" dirty="0" err="1">
                <a:latin typeface="Lucida Sans Typewriter" charset="0"/>
              </a:rPr>
              <a:t>x:xs</a:t>
            </a:r>
            <a:r>
              <a:rPr lang="en-US" sz="2400" dirty="0">
                <a:latin typeface="Lucida Sans Typewriter" charset="0"/>
              </a:rPr>
              <a:t>) = x &amp;&amp; and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23557" name="Text Box 5"/>
          <p:cNvSpPr txBox="1">
            <a:spLocks noChangeArrowheads="1"/>
          </p:cNvSpPr>
          <p:nvPr/>
        </p:nvSpPr>
        <p:spPr bwMode="auto">
          <a:xfrm>
            <a:off x="2283406" y="3809966"/>
            <a:ext cx="5892800" cy="968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product []     = 1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product (</a:t>
            </a:r>
            <a:r>
              <a:rPr lang="en-US" sz="2400" dirty="0" err="1">
                <a:latin typeface="Lucida Sans Typewriter" charset="0"/>
              </a:rPr>
              <a:t>x:xs</a:t>
            </a:r>
            <a:r>
              <a:rPr lang="en-US" sz="2400" dirty="0">
                <a:latin typeface="Lucida Sans Typewriter" charset="0"/>
              </a:rPr>
              <a:t>) = x * product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23558" name="AutoShape 6"/>
          <p:cNvSpPr>
            <a:spLocks noChangeArrowheads="1"/>
          </p:cNvSpPr>
          <p:nvPr/>
        </p:nvSpPr>
        <p:spPr bwMode="auto">
          <a:xfrm>
            <a:off x="7429252" y="2102684"/>
            <a:ext cx="1268910" cy="1055608"/>
          </a:xfrm>
          <a:prstGeom prst="wedgeRoundRectCallout">
            <a:avLst>
              <a:gd name="adj1" fmla="val -80486"/>
              <a:gd name="adj2" fmla="val 8949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pPr algn="ctr"/>
            <a:r>
              <a:rPr lang="en-US" sz="4000" baseline="6000" dirty="0">
                <a:latin typeface="Lucida Sans Typewriter" charset="0"/>
                <a:sym typeface="Symbol" charset="0"/>
              </a:rPr>
              <a:t>v</a:t>
            </a:r>
            <a:r>
              <a:rPr lang="en-US" dirty="0"/>
              <a:t> = 0</a:t>
            </a:r>
          </a:p>
          <a:p>
            <a:pPr algn="ctr"/>
            <a:r>
              <a:rPr lang="en-US" sz="2400" dirty="0">
                <a:latin typeface="Lucida Sans Typewriter" charset="0"/>
                <a:sym typeface="Symbol" charset="0"/>
              </a:rPr>
              <a:t></a:t>
            </a:r>
            <a:r>
              <a:rPr lang="en-US" dirty="0"/>
              <a:t> = +</a:t>
            </a:r>
          </a:p>
        </p:txBody>
      </p:sp>
      <p:sp>
        <p:nvSpPr>
          <p:cNvPr id="23559" name="AutoShape 7"/>
          <p:cNvSpPr>
            <a:spLocks noChangeArrowheads="1"/>
          </p:cNvSpPr>
          <p:nvPr/>
        </p:nvSpPr>
        <p:spPr bwMode="auto">
          <a:xfrm>
            <a:off x="8752683" y="3760060"/>
            <a:ext cx="1187011" cy="1055608"/>
          </a:xfrm>
          <a:prstGeom prst="wedgeRoundRectCallout">
            <a:avLst>
              <a:gd name="adj1" fmla="val -75912"/>
              <a:gd name="adj2" fmla="val 864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r>
              <a:rPr lang="en-US" sz="4000" baseline="6000" dirty="0">
                <a:latin typeface="Lucida Sans Typewriter" charset="0"/>
                <a:sym typeface="Symbol" charset="0"/>
              </a:rPr>
              <a:t>v</a:t>
            </a:r>
            <a:r>
              <a:rPr lang="en-US" dirty="0"/>
              <a:t> = 1</a:t>
            </a:r>
          </a:p>
          <a:p>
            <a:r>
              <a:rPr lang="en-US" sz="2400" dirty="0">
                <a:latin typeface="Lucida Sans Typewriter" charset="0"/>
                <a:sym typeface="Symbol" charset="0"/>
              </a:rPr>
              <a:t></a:t>
            </a:r>
            <a:r>
              <a:rPr lang="en-US" dirty="0"/>
              <a:t> = </a:t>
            </a:r>
            <a:r>
              <a:rPr lang="en-US" sz="2400" dirty="0">
                <a:latin typeface="Lucida Sans Typewriter" charset="0"/>
              </a:rPr>
              <a:t>*</a:t>
            </a:r>
          </a:p>
        </p:txBody>
      </p:sp>
      <p:sp>
        <p:nvSpPr>
          <p:cNvPr id="23560" name="AutoShape 8"/>
          <p:cNvSpPr>
            <a:spLocks noChangeArrowheads="1"/>
          </p:cNvSpPr>
          <p:nvPr/>
        </p:nvSpPr>
        <p:spPr bwMode="auto">
          <a:xfrm>
            <a:off x="7545389" y="5446767"/>
            <a:ext cx="1664475" cy="1055608"/>
          </a:xfrm>
          <a:prstGeom prst="wedgeRoundRectCallout">
            <a:avLst>
              <a:gd name="adj1" fmla="val -73245"/>
              <a:gd name="adj2" fmla="val 848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r>
              <a:rPr lang="en-US" sz="4000" baseline="6000" dirty="0">
                <a:latin typeface="Lucida Sans Typewriter" charset="0"/>
                <a:sym typeface="Symbol" charset="0"/>
              </a:rPr>
              <a:t>v</a:t>
            </a:r>
            <a:r>
              <a:rPr lang="en-US" dirty="0"/>
              <a:t> = True</a:t>
            </a:r>
          </a:p>
          <a:p>
            <a:r>
              <a:rPr lang="en-US" sz="2400" dirty="0">
                <a:latin typeface="Lucida Sans Typewriter" charset="0"/>
                <a:sym typeface="Symbol" charset="0"/>
              </a:rPr>
              <a:t></a:t>
            </a:r>
            <a:r>
              <a:rPr lang="en-US" dirty="0"/>
              <a:t> = &amp;&amp;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5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5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35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5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3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3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5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35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7" grpId="0" animBg="1"/>
      <p:bldP spid="23558" grpId="0" animBg="1"/>
      <p:bldP spid="23559" grpId="0" animBg="1"/>
      <p:bldP spid="2356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93973E8-CE77-2E49-8486-26282FB45138}" type="slidenum">
              <a:rPr lang="en-US" sz="1400"/>
              <a:pPr/>
              <a:t>9</a:t>
            </a:fld>
            <a:endParaRPr lang="en-US" sz="1400"/>
          </a:p>
        </p:txBody>
      </p:sp>
      <p:sp>
        <p:nvSpPr>
          <p:cNvPr id="24578" name="Text Box 2"/>
          <p:cNvSpPr txBox="1">
            <a:spLocks noChangeArrowheads="1"/>
          </p:cNvSpPr>
          <p:nvPr/>
        </p:nvSpPr>
        <p:spPr bwMode="auto">
          <a:xfrm>
            <a:off x="680321" y="1933849"/>
            <a:ext cx="10652697" cy="2227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higher-order library function </a:t>
            </a:r>
            <a:r>
              <a:rPr lang="en-US" b="1" u="sng" dirty="0" err="1"/>
              <a:t>foldr</a:t>
            </a:r>
            <a:r>
              <a:rPr lang="en-US" dirty="0"/>
              <a:t> (fold right) encapsulates this simple pattern of recursion, with the function </a:t>
            </a:r>
            <a:r>
              <a:rPr lang="en-US" sz="2400" dirty="0">
                <a:latin typeface="Lucida Sans Typewriter" charset="0"/>
                <a:sym typeface="Symbol" charset="0"/>
              </a:rPr>
              <a:t></a:t>
            </a:r>
            <a:r>
              <a:rPr lang="en-US" dirty="0"/>
              <a:t> and the value v as arguments.</a:t>
            </a:r>
          </a:p>
          <a:p>
            <a:endParaRPr lang="en-US" dirty="0"/>
          </a:p>
          <a:p>
            <a:r>
              <a:rPr lang="en-US" dirty="0"/>
              <a:t>For example:</a:t>
            </a:r>
          </a:p>
        </p:txBody>
      </p:sp>
      <p:sp>
        <p:nvSpPr>
          <p:cNvPr id="24579" name="Text Box 3"/>
          <p:cNvSpPr txBox="1">
            <a:spLocks noChangeArrowheads="1"/>
          </p:cNvSpPr>
          <p:nvPr/>
        </p:nvSpPr>
        <p:spPr bwMode="auto">
          <a:xfrm>
            <a:off x="3399705" y="3758087"/>
            <a:ext cx="4275529" cy="290143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sum = </a:t>
            </a:r>
            <a:r>
              <a:rPr lang="en-US" sz="2400" dirty="0" err="1">
                <a:latin typeface="Lucida Sans Typewriter" charset="0"/>
              </a:rPr>
              <a:t>foldr</a:t>
            </a:r>
            <a:r>
              <a:rPr lang="en-US" sz="2400" dirty="0">
                <a:latin typeface="Lucida Sans Typewriter" charset="0"/>
              </a:rPr>
              <a:t> (+) 0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product = </a:t>
            </a:r>
            <a:r>
              <a:rPr lang="en-US" sz="2400" dirty="0" err="1">
                <a:latin typeface="Lucida Sans Typewriter" charset="0"/>
              </a:rPr>
              <a:t>foldr</a:t>
            </a:r>
            <a:r>
              <a:rPr lang="en-US" sz="2400" dirty="0">
                <a:latin typeface="Lucida Sans Typewriter" charset="0"/>
              </a:rPr>
              <a:t> (*) 1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or = </a:t>
            </a:r>
            <a:r>
              <a:rPr lang="en-US" sz="2400" dirty="0" err="1">
                <a:latin typeface="Lucida Sans Typewriter" charset="0"/>
              </a:rPr>
              <a:t>foldr</a:t>
            </a:r>
            <a:r>
              <a:rPr lang="en-US" sz="2400" dirty="0">
                <a:latin typeface="Lucida Sans Typewriter" charset="0"/>
              </a:rPr>
              <a:t> (||) False 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and = </a:t>
            </a:r>
            <a:r>
              <a:rPr lang="en-US" sz="2400" dirty="0" err="1">
                <a:latin typeface="Lucida Sans Typewriter" charset="0"/>
              </a:rPr>
              <a:t>foldr</a:t>
            </a:r>
            <a:r>
              <a:rPr lang="en-US" sz="2400" dirty="0">
                <a:latin typeface="Lucida Sans Typewriter" charset="0"/>
              </a:rPr>
              <a:t> (&amp;&amp;) True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17E7201-77A6-DC31-509C-82E5AC20B5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/>
          <a:lstStyle/>
          <a:p>
            <a:r>
              <a:rPr lang="en-US" dirty="0">
                <a:latin typeface="Arial Black" charset="0"/>
              </a:rPr>
              <a:t>The </a:t>
            </a:r>
            <a:r>
              <a:rPr lang="en-US" dirty="0" err="1">
                <a:latin typeface="Arial Black" charset="0"/>
              </a:rPr>
              <a:t>Foldr</a:t>
            </a:r>
            <a:r>
              <a:rPr lang="en-US" dirty="0">
                <a:latin typeface="Arial Black" charset="0"/>
              </a:rPr>
              <a:t> Function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5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5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53144-E285-47EC-4987-B4CA7B448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foldr</a:t>
            </a:r>
            <a:endParaRPr lang="en-US" b="1" dirty="0"/>
          </a:p>
        </p:txBody>
      </p:sp>
      <p:sp>
        <p:nvSpPr>
          <p:cNvPr id="2560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1DB2C6B-6869-8A49-BCF3-00BB63527CD4}" type="slidenum">
              <a:rPr lang="en-US" sz="1400"/>
              <a:pPr/>
              <a:t>10</a:t>
            </a:fld>
            <a:endParaRPr lang="en-US" sz="1400"/>
          </a:p>
        </p:txBody>
      </p:sp>
      <p:sp>
        <p:nvSpPr>
          <p:cNvPr id="25602" name="Text Box 2"/>
          <p:cNvSpPr txBox="1">
            <a:spLocks noChangeArrowheads="1"/>
          </p:cNvSpPr>
          <p:nvPr/>
        </p:nvSpPr>
        <p:spPr bwMode="auto">
          <a:xfrm>
            <a:off x="1422399" y="1950243"/>
            <a:ext cx="8091487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 err="1"/>
              <a:t>Foldr</a:t>
            </a:r>
            <a:r>
              <a:rPr lang="en-US" dirty="0"/>
              <a:t> itself can be defined using recursion: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2154165" y="2807416"/>
            <a:ext cx="7024687" cy="176371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bIns="182880" anchor="ctr"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60000"/>
              </a:lnSpc>
            </a:pPr>
            <a:r>
              <a:rPr lang="en-US" sz="2400" dirty="0" err="1">
                <a:latin typeface="Lucida Sans Typewriter" charset="0"/>
              </a:rPr>
              <a:t>foldr</a:t>
            </a:r>
            <a:r>
              <a:rPr lang="en-US" sz="2400" dirty="0">
                <a:latin typeface="Lucida Sans Typewriter" charset="0"/>
              </a:rPr>
              <a:t> :: (a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b)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</a:t>
            </a:r>
          </a:p>
          <a:p>
            <a:pPr>
              <a:lnSpc>
                <a:spcPct val="160000"/>
              </a:lnSpc>
            </a:pPr>
            <a:r>
              <a:rPr lang="en-US" sz="2400" dirty="0" err="1">
                <a:latin typeface="Lucida Sans Typewriter" charset="0"/>
              </a:rPr>
              <a:t>foldr</a:t>
            </a:r>
            <a:r>
              <a:rPr lang="en-US" sz="2400" dirty="0">
                <a:latin typeface="Lucida Sans Typewriter" charset="0"/>
              </a:rPr>
              <a:t> f v []     = v</a:t>
            </a:r>
          </a:p>
          <a:p>
            <a:pPr>
              <a:lnSpc>
                <a:spcPct val="160000"/>
              </a:lnSpc>
            </a:pPr>
            <a:r>
              <a:rPr lang="en-US" sz="2400" dirty="0" err="1">
                <a:latin typeface="Lucida Sans Typewriter" charset="0"/>
              </a:rPr>
              <a:t>foldr</a:t>
            </a:r>
            <a:r>
              <a:rPr lang="en-US" sz="2400" dirty="0">
                <a:latin typeface="Lucida Sans Typewriter" charset="0"/>
              </a:rPr>
              <a:t> f v (</a:t>
            </a:r>
            <a:r>
              <a:rPr lang="en-US" sz="2400" dirty="0" err="1">
                <a:latin typeface="Lucida Sans Typewriter" charset="0"/>
              </a:rPr>
              <a:t>x:xs</a:t>
            </a:r>
            <a:r>
              <a:rPr lang="en-US" sz="2400" dirty="0">
                <a:latin typeface="Lucida Sans Typewriter" charset="0"/>
              </a:rPr>
              <a:t>) = f x (</a:t>
            </a:r>
            <a:r>
              <a:rPr lang="en-US" sz="2400" dirty="0" err="1">
                <a:latin typeface="Lucida Sans Typewriter" charset="0"/>
              </a:rPr>
              <a:t>foldr</a:t>
            </a:r>
            <a:r>
              <a:rPr lang="en-US" sz="2400" dirty="0">
                <a:latin typeface="Lucida Sans Typewriter" charset="0"/>
              </a:rPr>
              <a:t> f v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)</a:t>
            </a:r>
            <a:endParaRPr lang="en-US" sz="2400" dirty="0">
              <a:latin typeface="Lucida Sans Typewriter" charset="0"/>
              <a:sym typeface="Symbol" charset="0"/>
            </a:endParaRPr>
          </a:p>
        </p:txBody>
      </p:sp>
      <p:sp>
        <p:nvSpPr>
          <p:cNvPr id="25604" name="Text Box 6"/>
          <p:cNvSpPr txBox="1">
            <a:spLocks noChangeArrowheads="1"/>
          </p:cNvSpPr>
          <p:nvPr/>
        </p:nvSpPr>
        <p:spPr bwMode="auto">
          <a:xfrm>
            <a:off x="1294606" y="5058470"/>
            <a:ext cx="8313737" cy="1373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However, it is best to think of </a:t>
            </a:r>
            <a:r>
              <a:rPr lang="en-US" dirty="0" err="1"/>
              <a:t>foldr</a:t>
            </a:r>
            <a:r>
              <a:rPr lang="en-US" dirty="0"/>
              <a:t> </a:t>
            </a:r>
            <a:r>
              <a:rPr lang="en-US" u="sng" dirty="0"/>
              <a:t>non-recursively</a:t>
            </a:r>
            <a:r>
              <a:rPr lang="en-US" dirty="0"/>
              <a:t>, as simultaneously replacing each (:) in a list by a given function, and [] by a given value.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6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6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56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56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animBg="1"/>
      <p:bldP spid="2560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E15B31E-D7A4-3B4D-8BFD-F40AEB2EFF40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26626" name="Text Box 4"/>
          <p:cNvSpPr txBox="1">
            <a:spLocks noChangeArrowheads="1"/>
          </p:cNvSpPr>
          <p:nvPr/>
        </p:nvSpPr>
        <p:spPr bwMode="auto">
          <a:xfrm>
            <a:off x="3179763" y="1601789"/>
            <a:ext cx="2209800" cy="42068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400">
                <a:latin typeface="Lucida Sans Typewriter" charset="0"/>
              </a:rPr>
              <a:t>sum [1,2,3]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640013" y="1922464"/>
            <a:ext cx="4222750" cy="898525"/>
            <a:chOff x="665" y="1949"/>
            <a:chExt cx="2660" cy="566"/>
          </a:xfrm>
        </p:grpSpPr>
        <p:sp>
          <p:nvSpPr>
            <p:cNvPr id="26639" name="Text Box 6"/>
            <p:cNvSpPr txBox="1">
              <a:spLocks noChangeArrowheads="1"/>
            </p:cNvSpPr>
            <p:nvPr/>
          </p:nvSpPr>
          <p:spPr bwMode="auto">
            <a:xfrm>
              <a:off x="1005" y="2250"/>
              <a:ext cx="2320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 dirty="0" err="1">
                  <a:latin typeface="Lucida Sans Typewriter" charset="0"/>
                </a:rPr>
                <a:t>foldr</a:t>
              </a:r>
              <a:r>
                <a:rPr lang="en-US" sz="2400" dirty="0">
                  <a:latin typeface="Lucida Sans Typewriter" charset="0"/>
                </a:rPr>
                <a:t> (+) 0 [1,2,3]</a:t>
              </a:r>
            </a:p>
          </p:txBody>
        </p:sp>
        <p:sp>
          <p:nvSpPr>
            <p:cNvPr id="26640" name="Text Box 7"/>
            <p:cNvSpPr txBox="1">
              <a:spLocks noChangeArrowheads="1"/>
            </p:cNvSpPr>
            <p:nvPr/>
          </p:nvSpPr>
          <p:spPr bwMode="auto">
            <a:xfrm>
              <a:off x="665" y="1949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grpSp>
        <p:nvGrpSpPr>
          <p:cNvPr id="3" name="Group 8"/>
          <p:cNvGrpSpPr>
            <a:grpSpLocks/>
          </p:cNvGrpSpPr>
          <p:nvPr/>
        </p:nvGrpSpPr>
        <p:grpSpPr bwMode="auto">
          <a:xfrm>
            <a:off x="2640013" y="2724150"/>
            <a:ext cx="5511800" cy="896938"/>
            <a:chOff x="665" y="2454"/>
            <a:chExt cx="3472" cy="565"/>
          </a:xfrm>
        </p:grpSpPr>
        <p:sp>
          <p:nvSpPr>
            <p:cNvPr id="26637" name="Text Box 9"/>
            <p:cNvSpPr txBox="1">
              <a:spLocks noChangeArrowheads="1"/>
            </p:cNvSpPr>
            <p:nvPr/>
          </p:nvSpPr>
          <p:spPr bwMode="auto">
            <a:xfrm>
              <a:off x="1005" y="2754"/>
              <a:ext cx="313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foldr (+) 0 (1:(2:(3:[])))</a:t>
              </a:r>
            </a:p>
          </p:txBody>
        </p:sp>
        <p:sp>
          <p:nvSpPr>
            <p:cNvPr id="26638" name="Text Box 10"/>
            <p:cNvSpPr txBox="1">
              <a:spLocks noChangeArrowheads="1"/>
            </p:cNvSpPr>
            <p:nvPr/>
          </p:nvSpPr>
          <p:spPr bwMode="auto">
            <a:xfrm>
              <a:off x="665" y="2454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grpSp>
        <p:nvGrpSpPr>
          <p:cNvPr id="4" name="Group 11"/>
          <p:cNvGrpSpPr>
            <a:grpSpLocks/>
          </p:cNvGrpSpPr>
          <p:nvPr/>
        </p:nvGrpSpPr>
        <p:grpSpPr bwMode="auto">
          <a:xfrm>
            <a:off x="2640013" y="3527426"/>
            <a:ext cx="2749550" cy="892175"/>
            <a:chOff x="665" y="2960"/>
            <a:chExt cx="1732" cy="562"/>
          </a:xfrm>
        </p:grpSpPr>
        <p:sp>
          <p:nvSpPr>
            <p:cNvPr id="26635" name="Text Box 12"/>
            <p:cNvSpPr txBox="1">
              <a:spLocks noChangeArrowheads="1"/>
            </p:cNvSpPr>
            <p:nvPr/>
          </p:nvSpPr>
          <p:spPr bwMode="auto">
            <a:xfrm>
              <a:off x="1005" y="3257"/>
              <a:ext cx="139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1+(2+(3+0))</a:t>
              </a:r>
            </a:p>
          </p:txBody>
        </p:sp>
        <p:sp>
          <p:nvSpPr>
            <p:cNvPr id="26636" name="Text Box 13"/>
            <p:cNvSpPr txBox="1">
              <a:spLocks noChangeArrowheads="1"/>
            </p:cNvSpPr>
            <p:nvPr/>
          </p:nvSpPr>
          <p:spPr bwMode="auto">
            <a:xfrm>
              <a:off x="665" y="2960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grpSp>
        <p:nvGrpSpPr>
          <p:cNvPr id="5" name="Group 14"/>
          <p:cNvGrpSpPr>
            <a:grpSpLocks/>
          </p:cNvGrpSpPr>
          <p:nvPr/>
        </p:nvGrpSpPr>
        <p:grpSpPr bwMode="auto">
          <a:xfrm>
            <a:off x="2640013" y="4330700"/>
            <a:ext cx="908050" cy="889000"/>
            <a:chOff x="665" y="3466"/>
            <a:chExt cx="572" cy="560"/>
          </a:xfrm>
        </p:grpSpPr>
        <p:sp>
          <p:nvSpPr>
            <p:cNvPr id="26633" name="Text Box 15"/>
            <p:cNvSpPr txBox="1">
              <a:spLocks noChangeArrowheads="1"/>
            </p:cNvSpPr>
            <p:nvPr/>
          </p:nvSpPr>
          <p:spPr bwMode="auto">
            <a:xfrm>
              <a:off x="1005" y="3761"/>
              <a:ext cx="23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6</a:t>
              </a:r>
            </a:p>
          </p:txBody>
        </p:sp>
        <p:sp>
          <p:nvSpPr>
            <p:cNvPr id="26634" name="Text Box 16"/>
            <p:cNvSpPr txBox="1">
              <a:spLocks noChangeArrowheads="1"/>
            </p:cNvSpPr>
            <p:nvPr/>
          </p:nvSpPr>
          <p:spPr bwMode="auto">
            <a:xfrm>
              <a:off x="665" y="3466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sp>
        <p:nvSpPr>
          <p:cNvPr id="26631" name="Text Box 19"/>
          <p:cNvSpPr txBox="1">
            <a:spLocks noChangeArrowheads="1"/>
          </p:cNvSpPr>
          <p:nvPr/>
        </p:nvSpPr>
        <p:spPr bwMode="auto">
          <a:xfrm>
            <a:off x="47625" y="798513"/>
            <a:ext cx="8104188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474132" name="AutoShape 20"/>
          <p:cNvSpPr>
            <a:spLocks noChangeArrowheads="1"/>
          </p:cNvSpPr>
          <p:nvPr/>
        </p:nvSpPr>
        <p:spPr bwMode="auto">
          <a:xfrm>
            <a:off x="6096000" y="5308169"/>
            <a:ext cx="3556000" cy="1055608"/>
          </a:xfrm>
          <a:prstGeom prst="wedgeRoundRectCallout">
            <a:avLst>
              <a:gd name="adj1" fmla="val -53544"/>
              <a:gd name="adj2" fmla="val -206513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Replace each (:)</a:t>
            </a:r>
          </a:p>
          <a:p>
            <a:pPr algn="ctr"/>
            <a:r>
              <a:rPr lang="en-US" dirty="0"/>
              <a:t>by (+) and [] by 0.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74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4132" grpId="0" animBg="1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A8CE1A5-8608-5D43-93FD-84A633074E5E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27650" name="Text Box 2"/>
          <p:cNvSpPr txBox="1">
            <a:spLocks noChangeArrowheads="1"/>
          </p:cNvSpPr>
          <p:nvPr/>
        </p:nvSpPr>
        <p:spPr bwMode="auto">
          <a:xfrm>
            <a:off x="3179763" y="1601789"/>
            <a:ext cx="2946400" cy="42068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400">
                <a:latin typeface="Lucida Sans Typewriter" charset="0"/>
              </a:rPr>
              <a:t>product [1,2,3]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2640013" y="1922464"/>
            <a:ext cx="4222750" cy="898525"/>
            <a:chOff x="665" y="1949"/>
            <a:chExt cx="2660" cy="566"/>
          </a:xfrm>
        </p:grpSpPr>
        <p:sp>
          <p:nvSpPr>
            <p:cNvPr id="27663" name="Text Box 4"/>
            <p:cNvSpPr txBox="1">
              <a:spLocks noChangeArrowheads="1"/>
            </p:cNvSpPr>
            <p:nvPr/>
          </p:nvSpPr>
          <p:spPr bwMode="auto">
            <a:xfrm>
              <a:off x="1005" y="2250"/>
              <a:ext cx="2320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foldr (*) 1 [1,2,3]</a:t>
              </a:r>
            </a:p>
          </p:txBody>
        </p:sp>
        <p:sp>
          <p:nvSpPr>
            <p:cNvPr id="27664" name="Text Box 5"/>
            <p:cNvSpPr txBox="1">
              <a:spLocks noChangeArrowheads="1"/>
            </p:cNvSpPr>
            <p:nvPr/>
          </p:nvSpPr>
          <p:spPr bwMode="auto">
            <a:xfrm>
              <a:off x="665" y="1949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grpSp>
        <p:nvGrpSpPr>
          <p:cNvPr id="3" name="Group 6"/>
          <p:cNvGrpSpPr>
            <a:grpSpLocks/>
          </p:cNvGrpSpPr>
          <p:nvPr/>
        </p:nvGrpSpPr>
        <p:grpSpPr bwMode="auto">
          <a:xfrm>
            <a:off x="2640013" y="2724150"/>
            <a:ext cx="5511800" cy="896938"/>
            <a:chOff x="665" y="2454"/>
            <a:chExt cx="3472" cy="565"/>
          </a:xfrm>
        </p:grpSpPr>
        <p:sp>
          <p:nvSpPr>
            <p:cNvPr id="27661" name="Text Box 7"/>
            <p:cNvSpPr txBox="1">
              <a:spLocks noChangeArrowheads="1"/>
            </p:cNvSpPr>
            <p:nvPr/>
          </p:nvSpPr>
          <p:spPr bwMode="auto">
            <a:xfrm>
              <a:off x="1005" y="2754"/>
              <a:ext cx="313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foldr (*) 1 (1:(2:(3:[])))</a:t>
              </a:r>
            </a:p>
          </p:txBody>
        </p:sp>
        <p:sp>
          <p:nvSpPr>
            <p:cNvPr id="27662" name="Text Box 8"/>
            <p:cNvSpPr txBox="1">
              <a:spLocks noChangeArrowheads="1"/>
            </p:cNvSpPr>
            <p:nvPr/>
          </p:nvSpPr>
          <p:spPr bwMode="auto">
            <a:xfrm>
              <a:off x="665" y="2454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2640013" y="3527426"/>
            <a:ext cx="2749550" cy="892175"/>
            <a:chOff x="665" y="2960"/>
            <a:chExt cx="1732" cy="562"/>
          </a:xfrm>
        </p:grpSpPr>
        <p:sp>
          <p:nvSpPr>
            <p:cNvPr id="27659" name="Text Box 10"/>
            <p:cNvSpPr txBox="1">
              <a:spLocks noChangeArrowheads="1"/>
            </p:cNvSpPr>
            <p:nvPr/>
          </p:nvSpPr>
          <p:spPr bwMode="auto">
            <a:xfrm>
              <a:off x="1005" y="3257"/>
              <a:ext cx="139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1*(2*(3*1))</a:t>
              </a:r>
            </a:p>
          </p:txBody>
        </p:sp>
        <p:sp>
          <p:nvSpPr>
            <p:cNvPr id="27660" name="Text Box 11"/>
            <p:cNvSpPr txBox="1">
              <a:spLocks noChangeArrowheads="1"/>
            </p:cNvSpPr>
            <p:nvPr/>
          </p:nvSpPr>
          <p:spPr bwMode="auto">
            <a:xfrm>
              <a:off x="665" y="2960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grpSp>
        <p:nvGrpSpPr>
          <p:cNvPr id="5" name="Group 12"/>
          <p:cNvGrpSpPr>
            <a:grpSpLocks/>
          </p:cNvGrpSpPr>
          <p:nvPr/>
        </p:nvGrpSpPr>
        <p:grpSpPr bwMode="auto">
          <a:xfrm>
            <a:off x="2640013" y="4330700"/>
            <a:ext cx="908050" cy="889000"/>
            <a:chOff x="665" y="3466"/>
            <a:chExt cx="572" cy="560"/>
          </a:xfrm>
        </p:grpSpPr>
        <p:sp>
          <p:nvSpPr>
            <p:cNvPr id="27657" name="Text Box 13"/>
            <p:cNvSpPr txBox="1">
              <a:spLocks noChangeArrowheads="1"/>
            </p:cNvSpPr>
            <p:nvPr/>
          </p:nvSpPr>
          <p:spPr bwMode="auto">
            <a:xfrm>
              <a:off x="1005" y="3761"/>
              <a:ext cx="23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6</a:t>
              </a:r>
            </a:p>
          </p:txBody>
        </p:sp>
        <p:sp>
          <p:nvSpPr>
            <p:cNvPr id="27658" name="Text Box 14"/>
            <p:cNvSpPr txBox="1">
              <a:spLocks noChangeArrowheads="1"/>
            </p:cNvSpPr>
            <p:nvPr/>
          </p:nvSpPr>
          <p:spPr bwMode="auto">
            <a:xfrm>
              <a:off x="665" y="3466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sp>
        <p:nvSpPr>
          <p:cNvPr id="27655" name="Text Box 15"/>
          <p:cNvSpPr txBox="1">
            <a:spLocks noChangeArrowheads="1"/>
          </p:cNvSpPr>
          <p:nvPr/>
        </p:nvSpPr>
        <p:spPr bwMode="auto">
          <a:xfrm>
            <a:off x="851189" y="711805"/>
            <a:ext cx="8104188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478224" name="AutoShape 16"/>
          <p:cNvSpPr>
            <a:spLocks noChangeArrowheads="1"/>
          </p:cNvSpPr>
          <p:nvPr/>
        </p:nvSpPr>
        <p:spPr bwMode="auto">
          <a:xfrm>
            <a:off x="5967413" y="5026859"/>
            <a:ext cx="3556000" cy="1055608"/>
          </a:xfrm>
          <a:prstGeom prst="wedgeRoundRectCallout">
            <a:avLst>
              <a:gd name="adj1" fmla="val -50038"/>
              <a:gd name="adj2" fmla="val -18945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Replace each (:)</a:t>
            </a:r>
          </a:p>
          <a:p>
            <a:pPr algn="ctr"/>
            <a:r>
              <a:rPr lang="en-US" dirty="0"/>
              <a:t>by (*) and [] by 1.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78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8224" grpId="0" animBg="1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</a:rPr>
              <a:t>Other Foldr Examples</a:t>
            </a:r>
          </a:p>
        </p:txBody>
      </p:sp>
      <p:sp>
        <p:nvSpPr>
          <p:cNvPr id="2867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76FABFE-F829-F34E-8C7D-C74D6D22864B}" type="slidenum">
              <a:rPr lang="en-US" sz="1400"/>
              <a:pPr/>
              <a:t>13</a:t>
            </a:fld>
            <a:endParaRPr lang="en-US" sz="1400"/>
          </a:p>
        </p:txBody>
      </p:sp>
      <p:sp>
        <p:nvSpPr>
          <p:cNvPr id="28675" name="Text Box 3"/>
          <p:cNvSpPr txBox="1">
            <a:spLocks noChangeArrowheads="1"/>
          </p:cNvSpPr>
          <p:nvPr/>
        </p:nvSpPr>
        <p:spPr bwMode="auto">
          <a:xfrm>
            <a:off x="1857232" y="2098183"/>
            <a:ext cx="8099425" cy="2227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Even though </a:t>
            </a:r>
            <a:r>
              <a:rPr lang="en-US" b="1" dirty="0" err="1"/>
              <a:t>foldr</a:t>
            </a:r>
            <a:r>
              <a:rPr lang="en-US" dirty="0"/>
              <a:t> encapsulates a simple pattern of recursion, it can be used to define many more functions than might first be expected.</a:t>
            </a:r>
          </a:p>
          <a:p>
            <a:endParaRPr lang="en-US" dirty="0"/>
          </a:p>
          <a:p>
            <a:r>
              <a:rPr lang="en-US" dirty="0"/>
              <a:t>Recall the length function:</a:t>
            </a:r>
          </a:p>
        </p:txBody>
      </p:sp>
      <p:sp>
        <p:nvSpPr>
          <p:cNvPr id="28676" name="Text Box 4"/>
          <p:cNvSpPr txBox="1">
            <a:spLocks noChangeArrowheads="1"/>
          </p:cNvSpPr>
          <p:nvPr/>
        </p:nvSpPr>
        <p:spPr bwMode="auto">
          <a:xfrm>
            <a:off x="3144694" y="4824991"/>
            <a:ext cx="5524500" cy="151606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length ::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Int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length []     = 0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length (_: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) = 1 + length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6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6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9C03AA9-71B9-4148-A459-C4FF4C90DA0F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29698" name="Text Box 2"/>
          <p:cNvSpPr txBox="1">
            <a:spLocks noChangeArrowheads="1"/>
          </p:cNvSpPr>
          <p:nvPr/>
        </p:nvSpPr>
        <p:spPr bwMode="auto">
          <a:xfrm>
            <a:off x="3192463" y="1449389"/>
            <a:ext cx="2762250" cy="42068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400">
                <a:latin typeface="Lucida Sans Typewriter" charset="0"/>
              </a:rPr>
              <a:t>length [1,2,3]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2652713" y="1770064"/>
            <a:ext cx="4591050" cy="898525"/>
            <a:chOff x="665" y="1949"/>
            <a:chExt cx="2892" cy="566"/>
          </a:xfrm>
        </p:grpSpPr>
        <p:sp>
          <p:nvSpPr>
            <p:cNvPr id="29711" name="Text Box 4"/>
            <p:cNvSpPr txBox="1">
              <a:spLocks noChangeArrowheads="1"/>
            </p:cNvSpPr>
            <p:nvPr/>
          </p:nvSpPr>
          <p:spPr bwMode="auto">
            <a:xfrm>
              <a:off x="1005" y="2250"/>
              <a:ext cx="255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length (1:(2:(3:[])))</a:t>
              </a:r>
            </a:p>
          </p:txBody>
        </p:sp>
        <p:sp>
          <p:nvSpPr>
            <p:cNvPr id="29712" name="Text Box 5"/>
            <p:cNvSpPr txBox="1">
              <a:spLocks noChangeArrowheads="1"/>
            </p:cNvSpPr>
            <p:nvPr/>
          </p:nvSpPr>
          <p:spPr bwMode="auto">
            <a:xfrm>
              <a:off x="665" y="1949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grpSp>
        <p:nvGrpSpPr>
          <p:cNvPr id="3" name="Group 6"/>
          <p:cNvGrpSpPr>
            <a:grpSpLocks/>
          </p:cNvGrpSpPr>
          <p:nvPr/>
        </p:nvGrpSpPr>
        <p:grpSpPr bwMode="auto">
          <a:xfrm>
            <a:off x="2652713" y="2571750"/>
            <a:ext cx="2749550" cy="896938"/>
            <a:chOff x="665" y="2454"/>
            <a:chExt cx="1732" cy="565"/>
          </a:xfrm>
        </p:grpSpPr>
        <p:sp>
          <p:nvSpPr>
            <p:cNvPr id="29709" name="Text Box 7"/>
            <p:cNvSpPr txBox="1">
              <a:spLocks noChangeArrowheads="1"/>
            </p:cNvSpPr>
            <p:nvPr/>
          </p:nvSpPr>
          <p:spPr bwMode="auto">
            <a:xfrm>
              <a:off x="1005" y="2754"/>
              <a:ext cx="139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1+(1+(1+0))</a:t>
              </a:r>
            </a:p>
          </p:txBody>
        </p:sp>
        <p:sp>
          <p:nvSpPr>
            <p:cNvPr id="29710" name="Text Box 8"/>
            <p:cNvSpPr txBox="1">
              <a:spLocks noChangeArrowheads="1"/>
            </p:cNvSpPr>
            <p:nvPr/>
          </p:nvSpPr>
          <p:spPr bwMode="auto">
            <a:xfrm>
              <a:off x="665" y="2454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2652713" y="3375026"/>
            <a:ext cx="908050" cy="892175"/>
            <a:chOff x="665" y="2960"/>
            <a:chExt cx="572" cy="562"/>
          </a:xfrm>
        </p:grpSpPr>
        <p:sp>
          <p:nvSpPr>
            <p:cNvPr id="29707" name="Text Box 10"/>
            <p:cNvSpPr txBox="1">
              <a:spLocks noChangeArrowheads="1"/>
            </p:cNvSpPr>
            <p:nvPr/>
          </p:nvSpPr>
          <p:spPr bwMode="auto">
            <a:xfrm>
              <a:off x="1005" y="3257"/>
              <a:ext cx="23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3</a:t>
              </a:r>
            </a:p>
          </p:txBody>
        </p:sp>
        <p:sp>
          <p:nvSpPr>
            <p:cNvPr id="29708" name="Text Box 11"/>
            <p:cNvSpPr txBox="1">
              <a:spLocks noChangeArrowheads="1"/>
            </p:cNvSpPr>
            <p:nvPr/>
          </p:nvSpPr>
          <p:spPr bwMode="auto">
            <a:xfrm>
              <a:off x="665" y="2960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1901825" y="4794251"/>
            <a:ext cx="6921500" cy="1470025"/>
            <a:chOff x="238" y="3020"/>
            <a:chExt cx="4360" cy="926"/>
          </a:xfrm>
        </p:grpSpPr>
        <p:sp>
          <p:nvSpPr>
            <p:cNvPr id="29705" name="Text Box 16"/>
            <p:cNvSpPr txBox="1">
              <a:spLocks noChangeArrowheads="1"/>
            </p:cNvSpPr>
            <p:nvPr/>
          </p:nvSpPr>
          <p:spPr bwMode="auto">
            <a:xfrm>
              <a:off x="238" y="3020"/>
              <a:ext cx="1775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r>
                <a:rPr lang="en-US"/>
                <a:t>Hence, we have:</a:t>
              </a:r>
            </a:p>
          </p:txBody>
        </p:sp>
        <p:sp>
          <p:nvSpPr>
            <p:cNvPr id="29706" name="Text Box 17"/>
            <p:cNvSpPr txBox="1">
              <a:spLocks noChangeArrowheads="1"/>
            </p:cNvSpPr>
            <p:nvPr/>
          </p:nvSpPr>
          <p:spPr bwMode="auto">
            <a:xfrm>
              <a:off x="1056" y="3658"/>
              <a:ext cx="3542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r>
                <a:rPr lang="en-US" sz="2400">
                  <a:latin typeface="Lucida Sans Typewriter" charset="0"/>
                </a:rPr>
                <a:t>length = foldr (</a:t>
              </a:r>
              <a:r>
                <a:rPr lang="en-US" sz="2400">
                  <a:latin typeface="Lucida Sans Typewriter" charset="0"/>
                  <a:sym typeface="Symbol" charset="0"/>
                </a:rPr>
                <a:t></a:t>
              </a:r>
              <a:r>
                <a:rPr lang="en-US" sz="2400">
                  <a:latin typeface="Lucida Sans Typewriter" charset="0"/>
                </a:rPr>
                <a:t>_ n </a:t>
              </a:r>
              <a:r>
                <a:rPr lang="en-US" sz="2400">
                  <a:latin typeface="Lucida Sans Typewriter" charset="0"/>
                  <a:sym typeface="Symbol" charset="0"/>
                </a:rPr>
                <a:t></a:t>
              </a:r>
              <a:r>
                <a:rPr lang="en-US" sz="2400">
                  <a:latin typeface="Lucida Sans Typewriter" charset="0"/>
                </a:rPr>
                <a:t> 1+n) 0</a:t>
              </a:r>
            </a:p>
          </p:txBody>
        </p:sp>
      </p:grpSp>
      <p:sp>
        <p:nvSpPr>
          <p:cNvPr id="368658" name="AutoShape 18"/>
          <p:cNvSpPr>
            <a:spLocks noChangeArrowheads="1"/>
          </p:cNvSpPr>
          <p:nvPr/>
        </p:nvSpPr>
        <p:spPr bwMode="auto">
          <a:xfrm>
            <a:off x="6121400" y="4107299"/>
            <a:ext cx="3049588" cy="715089"/>
          </a:xfrm>
          <a:prstGeom prst="wedgeRoundRectCallout">
            <a:avLst>
              <a:gd name="adj1" fmla="val -67581"/>
              <a:gd name="adj2" fmla="val -25868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Replace each (:) by </a:t>
            </a:r>
            <a:r>
              <a:rPr lang="en-US" dirty="0">
                <a:sym typeface="Symbol" charset="0"/>
              </a:rPr>
              <a:t></a:t>
            </a:r>
            <a:r>
              <a:rPr lang="en-US" dirty="0"/>
              <a:t>_ n </a:t>
            </a:r>
            <a:r>
              <a:rPr lang="en-US" dirty="0">
                <a:sym typeface="Symbol" charset="0"/>
              </a:rPr>
              <a:t></a:t>
            </a:r>
            <a:r>
              <a:rPr lang="en-US" dirty="0"/>
              <a:t> 1+n and [] by 0.</a:t>
            </a:r>
          </a:p>
        </p:txBody>
      </p:sp>
      <p:sp>
        <p:nvSpPr>
          <p:cNvPr id="29704" name="Text Box 20"/>
          <p:cNvSpPr txBox="1">
            <a:spLocks noChangeArrowheads="1"/>
          </p:cNvSpPr>
          <p:nvPr/>
        </p:nvSpPr>
        <p:spPr bwMode="auto">
          <a:xfrm>
            <a:off x="1901825" y="358776"/>
            <a:ext cx="2243138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/>
              <a:t>For example: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686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58" grpId="0" animBg="1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043929B-28EC-1647-8C0D-A4770C63E8A1}" type="slidenum">
              <a:rPr lang="en-US" sz="1400"/>
              <a:pPr/>
              <a:t>15</a:t>
            </a:fld>
            <a:endParaRPr lang="en-US" sz="1400"/>
          </a:p>
        </p:txBody>
      </p:sp>
      <p:sp>
        <p:nvSpPr>
          <p:cNvPr id="31746" name="Text Box 2"/>
          <p:cNvSpPr txBox="1">
            <a:spLocks noChangeArrowheads="1"/>
          </p:cNvSpPr>
          <p:nvPr/>
        </p:nvSpPr>
        <p:spPr bwMode="auto">
          <a:xfrm>
            <a:off x="123825" y="694031"/>
            <a:ext cx="81978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Now recall the reverse function:</a:t>
            </a:r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1876425" y="1974274"/>
            <a:ext cx="6445250" cy="968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reverse []     = []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reverse (</a:t>
            </a:r>
            <a:r>
              <a:rPr lang="en-US" sz="2400" dirty="0" err="1">
                <a:latin typeface="Lucida Sans Typewriter" charset="0"/>
              </a:rPr>
              <a:t>x:xs</a:t>
            </a:r>
            <a:r>
              <a:rPr lang="en-US" sz="2400" dirty="0">
                <a:latin typeface="Lucida Sans Typewriter" charset="0"/>
              </a:rPr>
              <a:t>) = reverse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++ [x]</a:t>
            </a:r>
          </a:p>
        </p:txBody>
      </p:sp>
      <p:sp>
        <p:nvSpPr>
          <p:cNvPr id="31748" name="Text Box 4"/>
          <p:cNvSpPr txBox="1">
            <a:spLocks noChangeArrowheads="1"/>
          </p:cNvSpPr>
          <p:nvPr/>
        </p:nvSpPr>
        <p:spPr bwMode="auto">
          <a:xfrm>
            <a:off x="2749550" y="3530600"/>
            <a:ext cx="2946400" cy="42068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400">
                <a:latin typeface="Lucida Sans Typewriter" charset="0"/>
              </a:rPr>
              <a:t>reverse [1,2,3]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209800" y="3851276"/>
            <a:ext cx="4775200" cy="898525"/>
            <a:chOff x="665" y="1949"/>
            <a:chExt cx="3008" cy="566"/>
          </a:xfrm>
        </p:grpSpPr>
        <p:sp>
          <p:nvSpPr>
            <p:cNvPr id="31758" name="Text Box 6"/>
            <p:cNvSpPr txBox="1">
              <a:spLocks noChangeArrowheads="1"/>
            </p:cNvSpPr>
            <p:nvPr/>
          </p:nvSpPr>
          <p:spPr bwMode="auto">
            <a:xfrm>
              <a:off x="1005" y="2250"/>
              <a:ext cx="266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reverse (1:(2:(3:[])))</a:t>
              </a:r>
            </a:p>
          </p:txBody>
        </p:sp>
        <p:sp>
          <p:nvSpPr>
            <p:cNvPr id="31759" name="Text Box 7"/>
            <p:cNvSpPr txBox="1">
              <a:spLocks noChangeArrowheads="1"/>
            </p:cNvSpPr>
            <p:nvPr/>
          </p:nvSpPr>
          <p:spPr bwMode="auto">
            <a:xfrm>
              <a:off x="665" y="1949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grpSp>
        <p:nvGrpSpPr>
          <p:cNvPr id="3" name="Group 8"/>
          <p:cNvGrpSpPr>
            <a:grpSpLocks/>
          </p:cNvGrpSpPr>
          <p:nvPr/>
        </p:nvGrpSpPr>
        <p:grpSpPr bwMode="auto">
          <a:xfrm>
            <a:off x="2209800" y="4652964"/>
            <a:ext cx="5695950" cy="896937"/>
            <a:chOff x="665" y="2454"/>
            <a:chExt cx="3588" cy="565"/>
          </a:xfrm>
        </p:grpSpPr>
        <p:sp>
          <p:nvSpPr>
            <p:cNvPr id="31756" name="Text Box 9"/>
            <p:cNvSpPr txBox="1">
              <a:spLocks noChangeArrowheads="1"/>
            </p:cNvSpPr>
            <p:nvPr/>
          </p:nvSpPr>
          <p:spPr bwMode="auto">
            <a:xfrm>
              <a:off x="1005" y="2754"/>
              <a:ext cx="324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(([] ++ [3]) ++ [2]) ++ [1]</a:t>
              </a:r>
            </a:p>
          </p:txBody>
        </p:sp>
        <p:sp>
          <p:nvSpPr>
            <p:cNvPr id="31757" name="Text Box 10"/>
            <p:cNvSpPr txBox="1">
              <a:spLocks noChangeArrowheads="1"/>
            </p:cNvSpPr>
            <p:nvPr/>
          </p:nvSpPr>
          <p:spPr bwMode="auto">
            <a:xfrm>
              <a:off x="665" y="2454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grpSp>
        <p:nvGrpSpPr>
          <p:cNvPr id="4" name="Group 11"/>
          <p:cNvGrpSpPr>
            <a:grpSpLocks/>
          </p:cNvGrpSpPr>
          <p:nvPr/>
        </p:nvGrpSpPr>
        <p:grpSpPr bwMode="auto">
          <a:xfrm>
            <a:off x="2209800" y="5456239"/>
            <a:ext cx="2012950" cy="892175"/>
            <a:chOff x="665" y="2960"/>
            <a:chExt cx="1268" cy="562"/>
          </a:xfrm>
        </p:grpSpPr>
        <p:sp>
          <p:nvSpPr>
            <p:cNvPr id="31754" name="Text Box 12"/>
            <p:cNvSpPr txBox="1">
              <a:spLocks noChangeArrowheads="1"/>
            </p:cNvSpPr>
            <p:nvPr/>
          </p:nvSpPr>
          <p:spPr bwMode="auto">
            <a:xfrm>
              <a:off x="1005" y="3257"/>
              <a:ext cx="92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400">
                  <a:latin typeface="Lucida Sans Typewriter" charset="0"/>
                </a:rPr>
                <a:t>[3,2,1]</a:t>
              </a:r>
            </a:p>
          </p:txBody>
        </p:sp>
        <p:sp>
          <p:nvSpPr>
            <p:cNvPr id="31755" name="Text Box 13"/>
            <p:cNvSpPr txBox="1">
              <a:spLocks noChangeArrowheads="1"/>
            </p:cNvSpPr>
            <p:nvPr/>
          </p:nvSpPr>
          <p:spPr bwMode="auto">
            <a:xfrm>
              <a:off x="665" y="2960"/>
              <a:ext cx="279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/>
                <a:t>=</a:t>
              </a:r>
            </a:p>
          </p:txBody>
        </p:sp>
      </p:grpSp>
      <p:sp>
        <p:nvSpPr>
          <p:cNvPr id="31752" name="Text Box 14"/>
          <p:cNvSpPr txBox="1">
            <a:spLocks noChangeArrowheads="1"/>
          </p:cNvSpPr>
          <p:nvPr/>
        </p:nvSpPr>
        <p:spPr bwMode="auto">
          <a:xfrm>
            <a:off x="123825" y="3438525"/>
            <a:ext cx="2243137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491538" name="AutoShape 18"/>
          <p:cNvSpPr>
            <a:spLocks noChangeArrowheads="1"/>
          </p:cNvSpPr>
          <p:nvPr/>
        </p:nvSpPr>
        <p:spPr bwMode="auto">
          <a:xfrm>
            <a:off x="8321675" y="3324941"/>
            <a:ext cx="3036888" cy="1328023"/>
          </a:xfrm>
          <a:prstGeom prst="wedgeRoundRectCallout">
            <a:avLst>
              <a:gd name="adj1" fmla="val -129683"/>
              <a:gd name="adj2" fmla="val 4298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400" dirty="0"/>
              <a:t>Replace each (:) by </a:t>
            </a:r>
            <a:r>
              <a:rPr lang="en-US" sz="2400" dirty="0">
                <a:sym typeface="Symbol" charset="0"/>
              </a:rPr>
              <a:t></a:t>
            </a:r>
            <a:r>
              <a:rPr lang="en-US" sz="2400" dirty="0"/>
              <a:t>x </a:t>
            </a:r>
            <a:r>
              <a:rPr lang="en-US" sz="2400" dirty="0" err="1"/>
              <a:t>xs</a:t>
            </a:r>
            <a:r>
              <a:rPr lang="en-US" sz="2400" dirty="0"/>
              <a:t>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/>
              <a:t> </a:t>
            </a:r>
            <a:r>
              <a:rPr lang="en-US" sz="2400" dirty="0" err="1"/>
              <a:t>xs</a:t>
            </a:r>
            <a:r>
              <a:rPr lang="en-US" sz="2400" dirty="0"/>
              <a:t> </a:t>
            </a:r>
            <a:r>
              <a:rPr lang="en-US" sz="2400" dirty="0">
                <a:latin typeface="Lucida Sans Typewriter" charset="0"/>
              </a:rPr>
              <a:t>++</a:t>
            </a:r>
            <a:r>
              <a:rPr lang="en-US" sz="2400" dirty="0"/>
              <a:t> [x] and [] by [].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4915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538" grpId="0" animBg="1" autoUpdateAnimBg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3EBB9-7289-2E09-65B1-50E9E8945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575" y="666551"/>
            <a:ext cx="9613861" cy="1080938"/>
          </a:xfrm>
        </p:spPr>
        <p:txBody>
          <a:bodyPr/>
          <a:lstStyle/>
          <a:p>
            <a:r>
              <a:rPr lang="en-US" dirty="0"/>
              <a:t>reverse function</a:t>
            </a:r>
          </a:p>
        </p:txBody>
      </p:sp>
      <p:sp>
        <p:nvSpPr>
          <p:cNvPr id="3276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46CDEAF-32EA-3446-9667-9784F1EEF266}" type="slidenum">
              <a:rPr lang="en-US" sz="1400"/>
              <a:pPr/>
              <a:t>16</a:t>
            </a:fld>
            <a:endParaRPr lang="en-US" sz="1400"/>
          </a:p>
        </p:txBody>
      </p:sp>
      <p:sp>
        <p:nvSpPr>
          <p:cNvPr id="32770" name="Text Box 2"/>
          <p:cNvSpPr txBox="1">
            <a:spLocks noChangeArrowheads="1"/>
          </p:cNvSpPr>
          <p:nvPr/>
        </p:nvSpPr>
        <p:spPr bwMode="auto">
          <a:xfrm>
            <a:off x="169575" y="1824831"/>
            <a:ext cx="2817812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Hence, we have:</a:t>
            </a:r>
          </a:p>
        </p:txBody>
      </p:sp>
      <p:sp>
        <p:nvSpPr>
          <p:cNvPr id="32771" name="Text Box 3"/>
          <p:cNvSpPr txBox="1">
            <a:spLocks noChangeArrowheads="1"/>
          </p:cNvSpPr>
          <p:nvPr/>
        </p:nvSpPr>
        <p:spPr bwMode="auto">
          <a:xfrm>
            <a:off x="1793911" y="2508975"/>
            <a:ext cx="7350089" cy="46371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reverse = </a:t>
            </a:r>
            <a:r>
              <a:rPr lang="en-US" sz="2400" dirty="0" err="1">
                <a:latin typeface="Lucida Sans Typewriter" charset="0"/>
              </a:rPr>
              <a:t>foldr</a:t>
            </a:r>
            <a:r>
              <a:rPr lang="en-US" sz="2400" dirty="0">
                <a:latin typeface="Lucida Sans Typewriter" charset="0"/>
              </a:rPr>
              <a:t> (</a:t>
            </a:r>
            <a:r>
              <a:rPr lang="en-US" sz="2400" dirty="0">
                <a:latin typeface="Lucida Sans Typewriter" charset="0"/>
                <a:sym typeface="Symbol" charset="0"/>
              </a:rPr>
              <a:t></a:t>
            </a:r>
            <a:r>
              <a:rPr lang="en-US" sz="2400" dirty="0">
                <a:latin typeface="Lucida Sans Typewriter" charset="0"/>
              </a:rPr>
              <a:t>x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++ [x]) []</a:t>
            </a:r>
          </a:p>
        </p:txBody>
      </p:sp>
      <p:sp>
        <p:nvSpPr>
          <p:cNvPr id="32772" name="Text Box 4"/>
          <p:cNvSpPr txBox="1">
            <a:spLocks noChangeArrowheads="1"/>
          </p:cNvSpPr>
          <p:nvPr/>
        </p:nvSpPr>
        <p:spPr bwMode="auto">
          <a:xfrm>
            <a:off x="1887539" y="3219450"/>
            <a:ext cx="847407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/>
              <a:t>Finally, we note that the append function (</a:t>
            </a:r>
            <a:r>
              <a:rPr lang="en-US">
                <a:latin typeface="Lucida Sans Typewriter" charset="0"/>
              </a:rPr>
              <a:t>++</a:t>
            </a:r>
            <a:r>
              <a:rPr lang="en-US"/>
              <a:t>) has a particularly compact definition using foldr:</a:t>
            </a:r>
          </a:p>
        </p:txBody>
      </p:sp>
      <p:sp>
        <p:nvSpPr>
          <p:cNvPr id="32773" name="Text Box 6"/>
          <p:cNvSpPr txBox="1">
            <a:spLocks noChangeArrowheads="1"/>
          </p:cNvSpPr>
          <p:nvPr/>
        </p:nvSpPr>
        <p:spPr bwMode="auto">
          <a:xfrm>
            <a:off x="2668588" y="5053013"/>
            <a:ext cx="42354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>
                <a:latin typeface="Lucida Sans Typewriter" charset="0"/>
              </a:rPr>
              <a:t>(++ ys) = foldr (:) ys</a:t>
            </a:r>
          </a:p>
        </p:txBody>
      </p:sp>
      <p:sp>
        <p:nvSpPr>
          <p:cNvPr id="32774" name="AutoShape 7"/>
          <p:cNvSpPr>
            <a:spLocks noChangeArrowheads="1"/>
          </p:cNvSpPr>
          <p:nvPr/>
        </p:nvSpPr>
        <p:spPr bwMode="auto">
          <a:xfrm>
            <a:off x="7726363" y="4659115"/>
            <a:ext cx="2455862" cy="1532334"/>
          </a:xfrm>
          <a:prstGeom prst="wedgeRoundRectCallout">
            <a:avLst>
              <a:gd name="adj1" fmla="val -72301"/>
              <a:gd name="adj2" fmla="val -1094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Replace each (:) by </a:t>
            </a:r>
            <a:r>
              <a:rPr lang="en-US" dirty="0">
                <a:sym typeface="Symbol" charset="0"/>
              </a:rPr>
              <a:t>(:)</a:t>
            </a:r>
            <a:r>
              <a:rPr lang="en-US" dirty="0"/>
              <a:t> and [] by </a:t>
            </a:r>
            <a:r>
              <a:rPr lang="en-US" dirty="0" err="1"/>
              <a:t>ys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22000"/>
          </a:schemeClr>
        </a:solidFill>
        <a:effectLst>
          <a:outerShdw blurRad="63500" dist="107763" dir="2700000" algn="ctr" rotWithShape="0">
            <a:srgbClr val="000000">
              <a:alpha val="74998"/>
            </a:srgbClr>
          </a:outerShdw>
        </a:effectLst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46CDEAF-32EA-3446-9667-9784F1EEF266}" type="slidenum">
              <a:rPr lang="en-US" sz="1400"/>
              <a:pPr/>
              <a:t>17</a:t>
            </a:fld>
            <a:endParaRPr lang="en-US" sz="14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7300" y="1295400"/>
            <a:ext cx="7378700" cy="4254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95775" y="5743575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What </a:t>
            </a:r>
            <a:r>
              <a:rPr lang="en-US" sz="2400" dirty="0" err="1"/>
              <a:t>foldr</a:t>
            </a:r>
            <a:r>
              <a:rPr lang="en-US" sz="2400" dirty="0"/>
              <a:t> does</a:t>
            </a:r>
          </a:p>
        </p:txBody>
      </p:sp>
    </p:spTree>
    <p:extLst>
      <p:ext uri="{BB962C8B-B14F-4D97-AF65-F5344CB8AC3E}">
        <p14:creationId xmlns:p14="http://schemas.microsoft.com/office/powerpoint/2010/main" val="1153214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</a:rPr>
              <a:t>Why Is Foldr Useful?</a:t>
            </a:r>
          </a:p>
        </p:txBody>
      </p:sp>
      <p:sp>
        <p:nvSpPr>
          <p:cNvPr id="3379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EFA7D73-CF66-4A4E-B7CF-6880DE1F22DE}" type="slidenum">
              <a:rPr lang="en-US" sz="1400"/>
              <a:pPr/>
              <a:t>18</a:t>
            </a:fld>
            <a:endParaRPr lang="en-US" sz="1400"/>
          </a:p>
        </p:txBody>
      </p:sp>
      <p:sp>
        <p:nvSpPr>
          <p:cNvPr id="33795" name="Rectangle 3"/>
          <p:cNvSpPr>
            <a:spLocks noChangeArrowheads="1"/>
          </p:cNvSpPr>
          <p:nvPr/>
        </p:nvSpPr>
        <p:spPr bwMode="auto">
          <a:xfrm>
            <a:off x="1592911" y="2274743"/>
            <a:ext cx="8202613" cy="428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Some recursive functions on lists, such as sum, are </a:t>
            </a:r>
            <a:r>
              <a:rPr kumimoji="1" lang="en-US" sz="2800" u="sng" dirty="0"/>
              <a:t>simpler</a:t>
            </a:r>
            <a:r>
              <a:rPr kumimoji="1" lang="en-US" sz="2800" dirty="0"/>
              <a:t> to define using </a:t>
            </a:r>
            <a:r>
              <a:rPr kumimoji="1" lang="en-US" sz="2800" dirty="0" err="1"/>
              <a:t>foldr</a:t>
            </a:r>
            <a:r>
              <a:rPr kumimoji="1" lang="en-US" sz="2800" dirty="0"/>
              <a:t>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sz="2800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Advanced program </a:t>
            </a:r>
            <a:r>
              <a:rPr kumimoji="1" lang="en-US" sz="2800" u="sng" dirty="0" err="1"/>
              <a:t>optimisations</a:t>
            </a:r>
            <a:r>
              <a:rPr kumimoji="1" lang="en-US" sz="2800" dirty="0"/>
              <a:t> can be simpler if </a:t>
            </a:r>
            <a:r>
              <a:rPr kumimoji="1" lang="en-US" sz="2800" dirty="0" err="1"/>
              <a:t>foldr</a:t>
            </a:r>
            <a:r>
              <a:rPr kumimoji="1" lang="en-US" sz="2800" dirty="0"/>
              <a:t> is used in place of explicit recursion.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sz="2800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 err="1"/>
              <a:t>foldr</a:t>
            </a:r>
            <a:r>
              <a:rPr kumimoji="1" lang="en-US" sz="2800" dirty="0"/>
              <a:t> is a very big part of the language of and around Haskell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7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37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</a:rPr>
              <a:t>Other Library Functions</a:t>
            </a:r>
          </a:p>
        </p:txBody>
      </p:sp>
      <p:sp>
        <p:nvSpPr>
          <p:cNvPr id="3481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E587D2C-76AB-C642-8F66-2B103E433CB0}" type="slidenum">
              <a:rPr lang="en-US" sz="1400"/>
              <a:pPr/>
              <a:t>19</a:t>
            </a:fld>
            <a:endParaRPr lang="en-US" sz="1400"/>
          </a:p>
        </p:txBody>
      </p:sp>
      <p:sp>
        <p:nvSpPr>
          <p:cNvPr id="34819" name="Text Box 3"/>
          <p:cNvSpPr txBox="1">
            <a:spLocks noChangeArrowheads="1"/>
          </p:cNvSpPr>
          <p:nvPr/>
        </p:nvSpPr>
        <p:spPr bwMode="auto">
          <a:xfrm>
            <a:off x="1921669" y="1971098"/>
            <a:ext cx="83486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library function (.) returns the </a:t>
            </a:r>
            <a:r>
              <a:rPr lang="en-US" u="sng" dirty="0"/>
              <a:t>composition</a:t>
            </a:r>
            <a:r>
              <a:rPr lang="en-US" dirty="0"/>
              <a:t> of two functions as a single function.</a:t>
            </a:r>
          </a:p>
        </p:txBody>
      </p:sp>
      <p:sp>
        <p:nvSpPr>
          <p:cNvPr id="34820" name="Text Box 4"/>
          <p:cNvSpPr txBox="1">
            <a:spLocks noChangeArrowheads="1"/>
          </p:cNvSpPr>
          <p:nvPr/>
        </p:nvSpPr>
        <p:spPr bwMode="auto">
          <a:xfrm>
            <a:off x="2661445" y="3366511"/>
            <a:ext cx="7081837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(.) :: (b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c)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(a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b)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(a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c)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f . g = </a:t>
            </a:r>
            <a:r>
              <a:rPr lang="en-US" sz="2400" dirty="0">
                <a:latin typeface="Lucida Sans Typewriter" charset="0"/>
                <a:sym typeface="Symbol" charset="0"/>
              </a:rPr>
              <a:t></a:t>
            </a:r>
            <a:r>
              <a:rPr lang="en-US" sz="2400" dirty="0">
                <a:latin typeface="Lucida Sans Typewriter" charset="0"/>
              </a:rPr>
              <a:t>x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f (g x)</a:t>
            </a:r>
          </a:p>
        </p:txBody>
      </p:sp>
      <p:sp>
        <p:nvSpPr>
          <p:cNvPr id="34821" name="Text Box 5"/>
          <p:cNvSpPr txBox="1">
            <a:spLocks noChangeArrowheads="1"/>
          </p:cNvSpPr>
          <p:nvPr/>
        </p:nvSpPr>
        <p:spPr bwMode="auto">
          <a:xfrm>
            <a:off x="1921669" y="4782561"/>
            <a:ext cx="8139112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4822" name="Text Box 6"/>
          <p:cNvSpPr txBox="1">
            <a:spLocks noChangeArrowheads="1"/>
          </p:cNvSpPr>
          <p:nvPr/>
        </p:nvSpPr>
        <p:spPr bwMode="auto">
          <a:xfrm>
            <a:off x="2661445" y="5750937"/>
            <a:ext cx="3430587" cy="968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odd ::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odd = not . even</a:t>
            </a:r>
          </a:p>
        </p:txBody>
      </p:sp>
      <p:sp>
        <p:nvSpPr>
          <p:cNvPr id="2" name="Rectangular Callout 1">
            <a:extLst>
              <a:ext uri="{FF2B5EF4-FFF2-40B4-BE49-F238E27FC236}">
                <a16:creationId xmlns:a16="http://schemas.microsoft.com/office/drawing/2014/main" id="{F81F1D1C-7549-2CD5-564B-0C538790C075}"/>
              </a:ext>
            </a:extLst>
          </p:cNvPr>
          <p:cNvSpPr/>
          <p:nvPr/>
        </p:nvSpPr>
        <p:spPr>
          <a:xfrm>
            <a:off x="8908727" y="4980911"/>
            <a:ext cx="2770909" cy="1090789"/>
          </a:xfrm>
          <a:prstGeom prst="wedgeRectCallout">
            <a:avLst>
              <a:gd name="adj1" fmla="val -179000"/>
              <a:gd name="adj2" fmla="val -292415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More later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8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8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48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48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4822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4822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4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4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4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4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20" grpId="0" animBg="1"/>
      <p:bldP spid="34821" grpId="0"/>
      <p:bldP spid="34822" grpId="0" build="allAtOnce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48C0ECA-B27A-8B4E-A994-F32B1F92715D}" type="slidenum">
              <a:rPr lang="en-US" sz="1400"/>
              <a:pPr/>
              <a:t>20</a:t>
            </a:fld>
            <a:endParaRPr lang="en-US" sz="1400"/>
          </a:p>
        </p:txBody>
      </p:sp>
      <p:sp>
        <p:nvSpPr>
          <p:cNvPr id="35842" name="Text Box 3"/>
          <p:cNvSpPr txBox="1">
            <a:spLocks noChangeArrowheads="1"/>
          </p:cNvSpPr>
          <p:nvPr/>
        </p:nvSpPr>
        <p:spPr bwMode="auto">
          <a:xfrm>
            <a:off x="696480" y="753228"/>
            <a:ext cx="824706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library function </a:t>
            </a:r>
            <a:r>
              <a:rPr lang="en-US" u="sng" dirty="0"/>
              <a:t>all</a:t>
            </a:r>
            <a:r>
              <a:rPr lang="en-US" dirty="0"/>
              <a:t> decides if every element of a list satisfies a given predicate.</a:t>
            </a:r>
          </a:p>
        </p:txBody>
      </p:sp>
      <p:sp>
        <p:nvSpPr>
          <p:cNvPr id="35843" name="Text Box 4"/>
          <p:cNvSpPr txBox="1">
            <a:spLocks noChangeArrowheads="1"/>
          </p:cNvSpPr>
          <p:nvPr/>
        </p:nvSpPr>
        <p:spPr bwMode="auto">
          <a:xfrm>
            <a:off x="2690091" y="2605087"/>
            <a:ext cx="6102350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all :: (a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Bool)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all p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and [p x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]</a:t>
            </a:r>
          </a:p>
        </p:txBody>
      </p:sp>
      <p:sp>
        <p:nvSpPr>
          <p:cNvPr id="35844" name="Text Box 5"/>
          <p:cNvSpPr txBox="1">
            <a:spLocks noChangeArrowheads="1"/>
          </p:cNvSpPr>
          <p:nvPr/>
        </p:nvSpPr>
        <p:spPr bwMode="auto">
          <a:xfrm>
            <a:off x="1941512" y="4006806"/>
            <a:ext cx="830897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5845" name="Text Box 6"/>
          <p:cNvSpPr txBox="1">
            <a:spLocks noChangeArrowheads="1"/>
          </p:cNvSpPr>
          <p:nvPr/>
        </p:nvSpPr>
        <p:spPr bwMode="auto">
          <a:xfrm>
            <a:off x="3022600" y="4962437"/>
            <a:ext cx="4461478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all even [2,4,6,8,10]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True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58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58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58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58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3" grpId="0" animBg="1"/>
      <p:bldP spid="35844" grpId="0"/>
      <p:bldP spid="3584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5B6291D-317F-E543-B1F8-826EC2698DEC}" type="slidenum">
              <a:rPr lang="en-US" sz="1400"/>
              <a:pPr/>
              <a:t>21</a:t>
            </a:fld>
            <a:endParaRPr lang="en-US" sz="1400"/>
          </a:p>
        </p:txBody>
      </p:sp>
      <p:sp>
        <p:nvSpPr>
          <p:cNvPr id="36866" name="Text Box 3"/>
          <p:cNvSpPr txBox="1">
            <a:spLocks noChangeArrowheads="1"/>
          </p:cNvSpPr>
          <p:nvPr/>
        </p:nvSpPr>
        <p:spPr bwMode="auto">
          <a:xfrm>
            <a:off x="756261" y="2132655"/>
            <a:ext cx="85693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Dually, the library function </a:t>
            </a:r>
            <a:r>
              <a:rPr lang="en-US" u="sng" dirty="0"/>
              <a:t>any</a:t>
            </a:r>
            <a:r>
              <a:rPr lang="en-US" dirty="0"/>
              <a:t> decides if at least</a:t>
            </a:r>
          </a:p>
          <a:p>
            <a:r>
              <a:rPr lang="en-US" dirty="0"/>
              <a:t>one element of a list satisfies a predicate.</a:t>
            </a:r>
          </a:p>
        </p:txBody>
      </p:sp>
      <p:sp>
        <p:nvSpPr>
          <p:cNvPr id="36867" name="Text Box 4"/>
          <p:cNvSpPr txBox="1">
            <a:spLocks noChangeArrowheads="1"/>
          </p:cNvSpPr>
          <p:nvPr/>
        </p:nvSpPr>
        <p:spPr bwMode="auto">
          <a:xfrm>
            <a:off x="2701782" y="3220236"/>
            <a:ext cx="6102350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any :: (a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Bool)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any p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or [p x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]</a:t>
            </a:r>
          </a:p>
        </p:txBody>
      </p:sp>
      <p:sp>
        <p:nvSpPr>
          <p:cNvPr id="36868" name="Text Box 5"/>
          <p:cNvSpPr txBox="1">
            <a:spLocks noChangeArrowheads="1"/>
          </p:cNvSpPr>
          <p:nvPr/>
        </p:nvSpPr>
        <p:spPr bwMode="auto">
          <a:xfrm>
            <a:off x="975304" y="4290869"/>
            <a:ext cx="830897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6869" name="Text Box 6"/>
          <p:cNvSpPr txBox="1">
            <a:spLocks noChangeArrowheads="1"/>
          </p:cNvSpPr>
          <p:nvPr/>
        </p:nvSpPr>
        <p:spPr bwMode="auto">
          <a:xfrm>
            <a:off x="2951163" y="4951413"/>
            <a:ext cx="4635500" cy="12001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any (==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) "</a:t>
            </a:r>
            <a:r>
              <a:rPr lang="en-US" altLang="ja-JP" sz="2400" dirty="0" err="1">
                <a:latin typeface="Lucida Sans Typewriter" charset="0"/>
              </a:rPr>
              <a:t>abc</a:t>
            </a:r>
            <a:r>
              <a:rPr lang="en-US" altLang="ja-JP" sz="2400" dirty="0">
                <a:latin typeface="Lucida Sans Typewriter" charset="0"/>
              </a:rPr>
              <a:t> def"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True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8536CF-6605-602F-EA31-6BEDFD1CD20A}"/>
              </a:ext>
            </a:extLst>
          </p:cNvPr>
          <p:cNvSpPr txBox="1"/>
          <p:nvPr/>
        </p:nvSpPr>
        <p:spPr>
          <a:xfrm>
            <a:off x="372182" y="855933"/>
            <a:ext cx="7681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Any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8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8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68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68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6" grpId="0"/>
      <p:bldP spid="36867" grpId="0" animBg="1"/>
      <p:bldP spid="36868" grpId="0"/>
      <p:bldP spid="3686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FEE33B03-BF70-C44A-8BE6-A7184E8A38CB}" type="slidenum">
              <a:rPr lang="en-US" sz="1400"/>
              <a:pPr/>
              <a:t>22</a:t>
            </a:fld>
            <a:endParaRPr lang="en-US" sz="1400"/>
          </a:p>
        </p:txBody>
      </p:sp>
      <p:sp>
        <p:nvSpPr>
          <p:cNvPr id="37890" name="Text Box 2"/>
          <p:cNvSpPr txBox="1">
            <a:spLocks noChangeArrowheads="1"/>
          </p:cNvSpPr>
          <p:nvPr/>
        </p:nvSpPr>
        <p:spPr bwMode="auto">
          <a:xfrm>
            <a:off x="308392" y="821569"/>
            <a:ext cx="9556044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library function </a:t>
            </a:r>
            <a:r>
              <a:rPr lang="en-US" b="1" dirty="0" err="1"/>
              <a:t>takeWhile</a:t>
            </a:r>
            <a:r>
              <a:rPr lang="en-US" dirty="0"/>
              <a:t> selects elements from a list while a predicate holds of all the elements.</a:t>
            </a:r>
          </a:p>
        </p:txBody>
      </p:sp>
      <p:sp>
        <p:nvSpPr>
          <p:cNvPr id="37891" name="Text Box 3"/>
          <p:cNvSpPr txBox="1">
            <a:spLocks noChangeArrowheads="1"/>
          </p:cNvSpPr>
          <p:nvPr/>
        </p:nvSpPr>
        <p:spPr bwMode="auto">
          <a:xfrm>
            <a:off x="2321936" y="2316515"/>
            <a:ext cx="7029450" cy="211613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 err="1">
                <a:latin typeface="Lucida Sans Typewriter" charset="0"/>
              </a:rPr>
              <a:t>takeWhile</a:t>
            </a:r>
            <a:r>
              <a:rPr lang="en-US" sz="2400" dirty="0">
                <a:latin typeface="Lucida Sans Typewriter" charset="0"/>
              </a:rPr>
              <a:t> :: (a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Bool</a:t>
            </a:r>
            <a:r>
              <a:rPr lang="en-US" sz="2400" dirty="0">
                <a:latin typeface="Lucida Sans Typewriter" charset="0"/>
              </a:rPr>
              <a:t>)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</a:t>
            </a:r>
          </a:p>
          <a:p>
            <a:pPr>
              <a:lnSpc>
                <a:spcPct val="110000"/>
              </a:lnSpc>
            </a:pPr>
            <a:r>
              <a:rPr lang="en-US" sz="2400" dirty="0" err="1">
                <a:latin typeface="Lucida Sans Typewriter" charset="0"/>
              </a:rPr>
              <a:t>takeWhile</a:t>
            </a:r>
            <a:r>
              <a:rPr lang="en-US" sz="2400" dirty="0">
                <a:latin typeface="Lucida Sans Typewriter" charset="0"/>
              </a:rPr>
              <a:t> p [] = []</a:t>
            </a:r>
          </a:p>
          <a:p>
            <a:pPr>
              <a:lnSpc>
                <a:spcPct val="110000"/>
              </a:lnSpc>
            </a:pPr>
            <a:r>
              <a:rPr lang="en-US" sz="2400" dirty="0" err="1">
                <a:latin typeface="Lucida Sans Typewriter" charset="0"/>
              </a:rPr>
              <a:t>takeWhile</a:t>
            </a:r>
            <a:r>
              <a:rPr lang="en-US" sz="2400" dirty="0">
                <a:latin typeface="Lucida Sans Typewriter" charset="0"/>
              </a:rPr>
              <a:t> p (</a:t>
            </a:r>
            <a:r>
              <a:rPr lang="en-US" sz="2400" dirty="0" err="1">
                <a:latin typeface="Lucida Sans Typewriter" charset="0"/>
              </a:rPr>
              <a:t>x:xs</a:t>
            </a:r>
            <a:r>
              <a:rPr lang="en-US" sz="2400" dirty="0">
                <a:latin typeface="Lucida Sans Typewriter" charset="0"/>
              </a:rPr>
              <a:t>)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   | p x       = x : </a:t>
            </a:r>
            <a:r>
              <a:rPr lang="en-US" sz="2400" dirty="0" err="1">
                <a:latin typeface="Lucida Sans Typewriter" charset="0"/>
              </a:rPr>
              <a:t>takeWhile</a:t>
            </a:r>
            <a:r>
              <a:rPr lang="en-US" sz="2400" dirty="0">
                <a:latin typeface="Lucida Sans Typewriter" charset="0"/>
              </a:rPr>
              <a:t> p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   | otherwise = []</a:t>
            </a:r>
          </a:p>
        </p:txBody>
      </p:sp>
      <p:sp>
        <p:nvSpPr>
          <p:cNvPr id="37892" name="Text Box 4"/>
          <p:cNvSpPr txBox="1">
            <a:spLocks noChangeArrowheads="1"/>
          </p:cNvSpPr>
          <p:nvPr/>
        </p:nvSpPr>
        <p:spPr bwMode="auto">
          <a:xfrm>
            <a:off x="1839914" y="4348163"/>
            <a:ext cx="830897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7893" name="Text Box 5"/>
          <p:cNvSpPr txBox="1">
            <a:spLocks noChangeArrowheads="1"/>
          </p:cNvSpPr>
          <p:nvPr/>
        </p:nvSpPr>
        <p:spPr bwMode="auto">
          <a:xfrm>
            <a:off x="2733675" y="5272088"/>
            <a:ext cx="5748338" cy="109696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400" dirty="0">
                <a:latin typeface="Lucida Sans Typewriter" charset="0"/>
              </a:rPr>
              <a:t>&gt; </a:t>
            </a:r>
            <a:r>
              <a:rPr lang="en-US" sz="2400" dirty="0" err="1">
                <a:latin typeface="Lucida Sans Typewriter" charset="0"/>
              </a:rPr>
              <a:t>takeWhile</a:t>
            </a:r>
            <a:r>
              <a:rPr lang="en-US" sz="2400" dirty="0">
                <a:latin typeface="Lucida Sans Typewriter" charset="0"/>
              </a:rPr>
              <a:t> (/=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) "</a:t>
            </a:r>
            <a:r>
              <a:rPr lang="en-US" altLang="ja-JP" sz="2400" dirty="0" err="1">
                <a:latin typeface="Lucida Sans Typewriter" charset="0"/>
              </a:rPr>
              <a:t>abc</a:t>
            </a:r>
            <a:r>
              <a:rPr lang="en-US" altLang="ja-JP" sz="2400" dirty="0">
                <a:latin typeface="Lucida Sans Typewriter" charset="0"/>
              </a:rPr>
              <a:t> def"</a:t>
            </a:r>
          </a:p>
          <a:p>
            <a:pPr>
              <a:lnSpc>
                <a:spcPct val="9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90000"/>
              </a:lnSpc>
            </a:pPr>
            <a:r>
              <a:rPr lang="en-US" sz="2400" dirty="0">
                <a:latin typeface="Lucida Sans Typewriter" charset="0"/>
              </a:rPr>
              <a:t>"</a:t>
            </a:r>
            <a:r>
              <a:rPr lang="en-US" sz="2400" dirty="0" err="1">
                <a:latin typeface="Lucida Sans Typewriter" charset="0"/>
              </a:rPr>
              <a:t>abc</a:t>
            </a:r>
            <a:r>
              <a:rPr lang="en-US" sz="2400" dirty="0">
                <a:latin typeface="Lucida Sans Typewriter" charset="0"/>
              </a:rPr>
              <a:t>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8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8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78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78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78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78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1" grpId="0" animBg="1"/>
      <p:bldP spid="37892" grpId="0"/>
      <p:bldP spid="3789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4C7B856-FFCE-0148-B1AC-9D59BA9991B2}" type="slidenum">
              <a:rPr lang="en-US" sz="1400"/>
              <a:pPr/>
              <a:t>23</a:t>
            </a:fld>
            <a:endParaRPr lang="en-US" sz="1400"/>
          </a:p>
        </p:txBody>
      </p:sp>
      <p:sp>
        <p:nvSpPr>
          <p:cNvPr id="38914" name="Text Box 2"/>
          <p:cNvSpPr txBox="1">
            <a:spLocks noChangeArrowheads="1"/>
          </p:cNvSpPr>
          <p:nvPr/>
        </p:nvSpPr>
        <p:spPr bwMode="auto">
          <a:xfrm>
            <a:off x="440605" y="753228"/>
            <a:ext cx="830897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Dually, the function </a:t>
            </a:r>
            <a:r>
              <a:rPr lang="en-US" b="1" dirty="0" err="1"/>
              <a:t>dropWhile</a:t>
            </a:r>
            <a:r>
              <a:rPr lang="en-US" dirty="0"/>
              <a:t> removes elements while a predicate holds of all the elements.</a:t>
            </a:r>
          </a:p>
        </p:txBody>
      </p:sp>
      <p:sp>
        <p:nvSpPr>
          <p:cNvPr id="38915" name="Text Box 3"/>
          <p:cNvSpPr txBox="1">
            <a:spLocks noChangeArrowheads="1"/>
          </p:cNvSpPr>
          <p:nvPr/>
        </p:nvSpPr>
        <p:spPr bwMode="auto">
          <a:xfrm>
            <a:off x="2236499" y="2238375"/>
            <a:ext cx="6977062" cy="210026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 err="1">
                <a:latin typeface="Lucida Sans Typewriter" charset="0"/>
              </a:rPr>
              <a:t>dropWhile</a:t>
            </a:r>
            <a:r>
              <a:rPr lang="en-US" sz="2400" dirty="0">
                <a:latin typeface="Lucida Sans Typewriter" charset="0"/>
              </a:rPr>
              <a:t> :: (a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Bool</a:t>
            </a:r>
            <a:r>
              <a:rPr lang="en-US" sz="2400" dirty="0">
                <a:latin typeface="Lucida Sans Typewriter" charset="0"/>
              </a:rPr>
              <a:t>)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</a:t>
            </a:r>
          </a:p>
          <a:p>
            <a:pPr>
              <a:lnSpc>
                <a:spcPct val="110000"/>
              </a:lnSpc>
            </a:pPr>
            <a:r>
              <a:rPr lang="en-US" sz="2400" dirty="0" err="1">
                <a:latin typeface="Lucida Sans Typewriter" charset="0"/>
              </a:rPr>
              <a:t>dropWhile</a:t>
            </a:r>
            <a:r>
              <a:rPr lang="en-US" sz="2400" dirty="0">
                <a:latin typeface="Lucida Sans Typewriter" charset="0"/>
              </a:rPr>
              <a:t> p [] = []</a:t>
            </a:r>
          </a:p>
          <a:p>
            <a:pPr>
              <a:lnSpc>
                <a:spcPct val="110000"/>
              </a:lnSpc>
            </a:pPr>
            <a:r>
              <a:rPr lang="en-US" sz="2400" dirty="0" err="1">
                <a:latin typeface="Lucida Sans Typewriter" charset="0"/>
              </a:rPr>
              <a:t>dropWhile</a:t>
            </a:r>
            <a:r>
              <a:rPr lang="en-US" sz="2400" dirty="0">
                <a:latin typeface="Lucida Sans Typewriter" charset="0"/>
              </a:rPr>
              <a:t> p (</a:t>
            </a:r>
            <a:r>
              <a:rPr lang="en-US" sz="2400" dirty="0" err="1">
                <a:latin typeface="Lucida Sans Typewriter" charset="0"/>
              </a:rPr>
              <a:t>x:xs</a:t>
            </a:r>
            <a:r>
              <a:rPr lang="en-US" sz="2400" dirty="0">
                <a:latin typeface="Lucida Sans Typewriter" charset="0"/>
              </a:rPr>
              <a:t>)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   | p x       = </a:t>
            </a:r>
            <a:r>
              <a:rPr lang="en-US" sz="2400" dirty="0" err="1">
                <a:latin typeface="Lucida Sans Typewriter" charset="0"/>
              </a:rPr>
              <a:t>dropWhile</a:t>
            </a:r>
            <a:r>
              <a:rPr lang="en-US" sz="2400" dirty="0">
                <a:latin typeface="Lucida Sans Typewriter" charset="0"/>
              </a:rPr>
              <a:t> p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   | otherwise = </a:t>
            </a:r>
            <a:r>
              <a:rPr lang="en-US" sz="2400" dirty="0" err="1">
                <a:latin typeface="Lucida Sans Typewriter" charset="0"/>
              </a:rPr>
              <a:t>x:xs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8916" name="Text Box 4"/>
          <p:cNvSpPr txBox="1">
            <a:spLocks noChangeArrowheads="1"/>
          </p:cNvSpPr>
          <p:nvPr/>
        </p:nvSpPr>
        <p:spPr bwMode="auto">
          <a:xfrm>
            <a:off x="1878014" y="4338638"/>
            <a:ext cx="830897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8917" name="Text Box 5"/>
          <p:cNvSpPr txBox="1">
            <a:spLocks noChangeArrowheads="1"/>
          </p:cNvSpPr>
          <p:nvPr/>
        </p:nvSpPr>
        <p:spPr bwMode="auto">
          <a:xfrm>
            <a:off x="2733675" y="5272088"/>
            <a:ext cx="5562600" cy="109696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400">
                <a:latin typeface="Lucida Sans Typewriter" charset="0"/>
              </a:rPr>
              <a:t>&gt; dropWhile (==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) "   abc"</a:t>
            </a:r>
          </a:p>
          <a:p>
            <a:pPr>
              <a:lnSpc>
                <a:spcPct val="90000"/>
              </a:lnSpc>
            </a:pPr>
            <a:endParaRPr lang="en-US" sz="2400">
              <a:latin typeface="Lucida Sans Typewriter" charset="0"/>
            </a:endParaRPr>
          </a:p>
          <a:p>
            <a:pPr>
              <a:lnSpc>
                <a:spcPct val="90000"/>
              </a:lnSpc>
            </a:pPr>
            <a:r>
              <a:rPr lang="en-US" sz="2400">
                <a:latin typeface="Lucida Sans Typewriter" charset="0"/>
              </a:rPr>
              <a:t>"abc"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9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9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89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89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89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89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animBg="1"/>
      <p:bldP spid="38916" grpId="0"/>
      <p:bldP spid="3891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5" name="Picture 41" descr="Text&#10;&#10;Description automatically generated">
            <a:extLst>
              <a:ext uri="{FF2B5EF4-FFF2-40B4-BE49-F238E27FC236}">
                <a16:creationId xmlns:a16="http://schemas.microsoft.com/office/drawing/2014/main" id="{141DDF3B-FD32-7F4E-952D-A3750E179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2794" y="2604113"/>
            <a:ext cx="4888706" cy="3714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866" name="Slide Number Placeholder 2">
            <a:extLst>
              <a:ext uri="{FF2B5EF4-FFF2-40B4-BE49-F238E27FC236}">
                <a16:creationId xmlns:a16="http://schemas.microsoft.com/office/drawing/2014/main" id="{DB04C08F-80B4-4D43-87D0-CE4F7D455D5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z"/>
              <a:defRPr kumimoji="1" sz="21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557213" indent="-214313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y"/>
              <a:defRPr kumimoji="1" sz="18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857250" indent="-17145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x"/>
              <a:defRPr kumimoji="1" sz="15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200150" indent="-171450">
              <a:spcBef>
                <a:spcPct val="20000"/>
              </a:spcBef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1543050" indent="-171450">
              <a:spcBef>
                <a:spcPct val="20000"/>
              </a:spcBef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18859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2288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25717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29146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spcAft>
                <a:spcPts val="450"/>
              </a:spcAft>
              <a:buClrTx/>
              <a:buNone/>
            </a:pPr>
            <a:fld id="{350E24D9-8BBE-D14C-8545-85663EDC0EE7}" type="slidenum">
              <a:rPr kumimoji="0" lang="en-US" altLang="en-US" sz="1050"/>
              <a:pPr>
                <a:spcBef>
                  <a:spcPct val="0"/>
                </a:spcBef>
                <a:spcAft>
                  <a:spcPts val="450"/>
                </a:spcAft>
                <a:buClrTx/>
                <a:buNone/>
              </a:pPr>
              <a:t>24</a:t>
            </a:fld>
            <a:endParaRPr kumimoji="0" lang="en-US" altLang="en-US" sz="1050"/>
          </a:p>
        </p:txBody>
      </p:sp>
    </p:spTree>
    <p:extLst>
      <p:ext uri="{BB962C8B-B14F-4D97-AF65-F5344CB8AC3E}">
        <p14:creationId xmlns:p14="http://schemas.microsoft.com/office/powerpoint/2010/main" val="304486012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8018</TotalTime>
  <Words>1327</Words>
  <Application>Microsoft Macintosh PowerPoint</Application>
  <PresentationFormat>Widescreen</PresentationFormat>
  <Paragraphs>213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5" baseType="lpstr">
      <vt:lpstr>Arial</vt:lpstr>
      <vt:lpstr>Arial Black</vt:lpstr>
      <vt:lpstr>Calibri</vt:lpstr>
      <vt:lpstr>Lucida Sans Typewriter</vt:lpstr>
      <vt:lpstr>Symbol</vt:lpstr>
      <vt:lpstr>Tahoma</vt:lpstr>
      <vt:lpstr>Times New Roman</vt:lpstr>
      <vt:lpstr>Trebuchet MS</vt:lpstr>
      <vt:lpstr>Wingdings</vt:lpstr>
      <vt:lpstr>Berlin</vt:lpstr>
      <vt:lpstr>PowerPoint Presentation</vt:lpstr>
      <vt:lpstr>Introduction</vt:lpstr>
      <vt:lpstr>Why Are They Useful?</vt:lpstr>
      <vt:lpstr>The Map Function</vt:lpstr>
      <vt:lpstr>Map contd.</vt:lpstr>
      <vt:lpstr>The Filter Function</vt:lpstr>
      <vt:lpstr>PowerPoint Presentation</vt:lpstr>
      <vt:lpstr>The Foldr Function</vt:lpstr>
      <vt:lpstr>PowerPoint Presentation</vt:lpstr>
      <vt:lpstr>The Foldr Function</vt:lpstr>
      <vt:lpstr>foldr</vt:lpstr>
      <vt:lpstr>PowerPoint Presentation</vt:lpstr>
      <vt:lpstr>PowerPoint Presentation</vt:lpstr>
      <vt:lpstr>Other Foldr Examples</vt:lpstr>
      <vt:lpstr>PowerPoint Presentation</vt:lpstr>
      <vt:lpstr>PowerPoint Presentation</vt:lpstr>
      <vt:lpstr>reverse function</vt:lpstr>
      <vt:lpstr>PowerPoint Presentation</vt:lpstr>
      <vt:lpstr>Why Is Foldr Useful?</vt:lpstr>
      <vt:lpstr>Other Library Functions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549</cp:revision>
  <cp:lastPrinted>2019-02-23T21:34:02Z</cp:lastPrinted>
  <dcterms:created xsi:type="dcterms:W3CDTF">2000-11-20T11:40:19Z</dcterms:created>
  <dcterms:modified xsi:type="dcterms:W3CDTF">2025-03-19T08:18:50Z</dcterms:modified>
</cp:coreProperties>
</file>