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753" r:id="rId1"/>
  </p:sldMasterIdLst>
  <p:notesMasterIdLst>
    <p:notesMasterId r:id="rId27"/>
  </p:notesMasterIdLst>
  <p:handoutMasterIdLst>
    <p:handoutMasterId r:id="rId28"/>
  </p:handoutMasterIdLst>
  <p:sldIdLst>
    <p:sldId id="345" r:id="rId2"/>
    <p:sldId id="313" r:id="rId3"/>
    <p:sldId id="322" r:id="rId4"/>
    <p:sldId id="310" r:id="rId5"/>
    <p:sldId id="316" r:id="rId6"/>
    <p:sldId id="281" r:id="rId7"/>
    <p:sldId id="319" r:id="rId8"/>
    <p:sldId id="336" r:id="rId9"/>
    <p:sldId id="328" r:id="rId10"/>
    <p:sldId id="325" r:id="rId11"/>
    <p:sldId id="331" r:id="rId12"/>
    <p:sldId id="329" r:id="rId13"/>
    <p:sldId id="332" r:id="rId14"/>
    <p:sldId id="335" r:id="rId15"/>
    <p:sldId id="296" r:id="rId16"/>
    <p:sldId id="338" r:id="rId17"/>
    <p:sldId id="342" r:id="rId18"/>
    <p:sldId id="350" r:id="rId19"/>
    <p:sldId id="340" r:id="rId20"/>
    <p:sldId id="283" r:id="rId21"/>
    <p:sldId id="284" r:id="rId22"/>
    <p:sldId id="300" r:id="rId23"/>
    <p:sldId id="301" r:id="rId24"/>
    <p:sldId id="344" r:id="rId25"/>
    <p:sldId id="343" r:id="rId26"/>
  </p:sldIdLst>
  <p:sldSz cx="12192000" cy="6858000"/>
  <p:notesSz cx="7089775" cy="102187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18">
          <p15:clr>
            <a:srgbClr val="A4A3A4"/>
          </p15:clr>
        </p15:guide>
        <p15:guide id="2" pos="223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clrMode="bw" frameSlides="1"/>
  <p:showPr showNarration="1">
    <p:browse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000"/>
    <a:srgbClr val="FF0000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892"/>
    <p:restoredTop sz="94551"/>
  </p:normalViewPr>
  <p:slideViewPr>
    <p:cSldViewPr snapToGrid="0">
      <p:cViewPr varScale="1">
        <p:scale>
          <a:sx n="97" d="100"/>
          <a:sy n="97" d="100"/>
        </p:scale>
        <p:origin x="216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-1866" y="-78"/>
      </p:cViewPr>
      <p:guideLst>
        <p:guide orient="horz" pos="3218"/>
        <p:guide pos="223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1813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8902" tIns="49451" rIns="98902" bIns="49451" numCol="1" anchor="t" anchorCtr="0" compatLnSpc="1">
            <a:prstTxWarp prst="textNoShape">
              <a:avLst/>
            </a:prstTxWarp>
          </a:bodyPr>
          <a:lstStyle>
            <a:lvl1pPr defTabSz="989013">
              <a:defRPr sz="1300">
                <a:latin typeface="Tahoma" pitchFamily="-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17963" y="0"/>
            <a:ext cx="3071812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8902" tIns="49451" rIns="98902" bIns="49451" numCol="1" anchor="t" anchorCtr="0" compatLnSpc="1">
            <a:prstTxWarp prst="textNoShape">
              <a:avLst/>
            </a:prstTxWarp>
          </a:bodyPr>
          <a:lstStyle>
            <a:lvl1pPr algn="r" defTabSz="989013">
              <a:defRPr sz="1300">
                <a:latin typeface="Tahoma" pitchFamily="-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07563"/>
            <a:ext cx="3071813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8902" tIns="49451" rIns="98902" bIns="49451" numCol="1" anchor="b" anchorCtr="0" compatLnSpc="1">
            <a:prstTxWarp prst="textNoShape">
              <a:avLst/>
            </a:prstTxWarp>
          </a:bodyPr>
          <a:lstStyle>
            <a:lvl1pPr defTabSz="989013">
              <a:defRPr sz="1300">
                <a:latin typeface="Tahoma" pitchFamily="-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17963" y="9707563"/>
            <a:ext cx="3071812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8902" tIns="49451" rIns="98902" bIns="49451" numCol="1" anchor="b" anchorCtr="0" compatLnSpc="1">
            <a:prstTxWarp prst="textNoShape">
              <a:avLst/>
            </a:prstTxWarp>
          </a:bodyPr>
          <a:lstStyle>
            <a:lvl1pPr algn="r" defTabSz="989013">
              <a:defRPr sz="1300"/>
            </a:lvl1pPr>
          </a:lstStyle>
          <a:p>
            <a:pPr>
              <a:defRPr/>
            </a:pPr>
            <a:fld id="{CA88B19E-DFE5-DB48-8DDE-DFD8375025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629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4098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5334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itchFamily="-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3" name="Rectangle 4099"/>
          <p:cNvSpPr>
            <a:spLocks noGrp="1" noChangeArrowheads="1"/>
          </p:cNvSpPr>
          <p:nvPr>
            <p:ph type="dt" idx="1"/>
          </p:nvPr>
        </p:nvSpPr>
        <p:spPr bwMode="auto">
          <a:xfrm>
            <a:off x="4038600" y="0"/>
            <a:ext cx="3048000" cy="5334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-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100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95263" y="762000"/>
            <a:ext cx="6772275" cy="3810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65" name="Rectangle 4101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876800"/>
            <a:ext cx="5257800" cy="45720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166" name="Rectangle 4102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677400"/>
            <a:ext cx="3048000" cy="5334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itchFamily="-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7" name="Rectangle 4103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38600" y="9677400"/>
            <a:ext cx="3048000" cy="5334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5E8D1DE4-9942-B54F-8DCA-B57518E927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0076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" charset="0"/>
        <a:ea typeface="ＭＳ Ｐゴシック" pitchFamily="-1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" charset="0"/>
        <a:ea typeface="ＭＳ Ｐゴシック" pitchFamily="-1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" charset="0"/>
        <a:ea typeface="ＭＳ Ｐゴシック" pitchFamily="-1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" charset="0"/>
        <a:ea typeface="ＭＳ Ｐゴシック" pitchFamily="-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4103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2A28E64E-B077-A843-ABC8-E59F1EE1AD6F}" type="slidenum">
              <a:rPr lang="en-US" sz="1200"/>
              <a:pPr/>
              <a:t>14</a:t>
            </a:fld>
            <a:endParaRPr lang="en-US" sz="1200"/>
          </a:p>
        </p:txBody>
      </p:sp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95263" y="762000"/>
            <a:ext cx="6772275" cy="3810000"/>
          </a:xfrm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GB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30222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7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6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5" cy="1373070"/>
          </a:xfrm>
        </p:spPr>
        <p:txBody>
          <a:bodyPr anchor="b">
            <a:noAutofit/>
          </a:bodyPr>
          <a:lstStyle>
            <a:lvl1pPr algn="r">
              <a:defRPr sz="405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41"/>
            <a:ext cx="8144135" cy="1117687"/>
          </a:xfrm>
        </p:spPr>
        <p:txBody>
          <a:bodyPr>
            <a:normAutofit/>
          </a:bodyPr>
          <a:lstStyle>
            <a:lvl1pPr marL="0" indent="0" algn="r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7" y="2750337"/>
            <a:ext cx="1171888" cy="1356442"/>
          </a:xfrm>
        </p:spPr>
        <p:txBody>
          <a:bodyPr/>
          <a:lstStyle/>
          <a:p>
            <a:pPr>
              <a:defRPr/>
            </a:pPr>
            <a:fld id="{CB74C567-DE8F-0F4F-B42B-3D4662DE9FD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25876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8AA650-3E41-A349-B956-155ED09CC8B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90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6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3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7" y="2869897"/>
            <a:ext cx="1154151" cy="1090789"/>
          </a:xfrm>
        </p:spPr>
        <p:txBody>
          <a:bodyPr/>
          <a:lstStyle/>
          <a:p>
            <a:pPr>
              <a:defRPr/>
            </a:pPr>
            <a:fld id="{C8B2BB83-8B68-B240-B0B9-96DB7DDF33A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924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1" y="2336873"/>
            <a:ext cx="4698359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9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4404B4-2066-864A-8BEC-7BF43140480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765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0" y="753231"/>
            <a:ext cx="9613863" cy="108093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1" y="2336875"/>
            <a:ext cx="4472327" cy="69313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3" y="3030010"/>
            <a:ext cx="4698355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5" y="2336873"/>
            <a:ext cx="4474028" cy="69207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4" y="3030010"/>
            <a:ext cx="4700059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364AA6-88BA-EE45-8CDC-4B1A33C65FF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380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987009-D139-074C-9465-DFE7F86DCF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373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AF9DEA-444B-9248-AFC5-3968C35BCF0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939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7" y="2336875"/>
            <a:ext cx="5608336" cy="35993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4"/>
            <a:ext cx="3790079" cy="3599317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60D600-1DB2-D64A-A93D-9742A18E796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719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4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5"/>
            <a:ext cx="3876256" cy="3599315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BB8CEE-18AE-5B48-B9F3-76EA766AE1F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800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8"/>
            <a:ext cx="9613859" cy="453051"/>
          </a:xfrm>
        </p:spPr>
        <p:txBody>
          <a:bodyPr anchor="b">
            <a:normAutofit/>
          </a:bodyPr>
          <a:lstStyle>
            <a:lvl1pPr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9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5"/>
            <a:ext cx="9613863" cy="62297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11311"/>
            <a:ext cx="1154151" cy="1090789"/>
          </a:xfrm>
        </p:spPr>
        <p:txBody>
          <a:bodyPr/>
          <a:lstStyle/>
          <a:p>
            <a:pPr>
              <a:defRPr/>
            </a:pPr>
            <a:fld id="{CB74C567-DE8F-0F4F-B42B-3D4662DE9FD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11926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609597"/>
            <a:ext cx="9613859" cy="3592750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7"/>
            <a:ext cx="9613859" cy="1090789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11617"/>
            <a:ext cx="1154151" cy="1090789"/>
          </a:xfrm>
        </p:spPr>
        <p:txBody>
          <a:bodyPr/>
          <a:lstStyle/>
          <a:p>
            <a:pPr>
              <a:defRPr/>
            </a:pPr>
            <a:fld id="{CB74C567-DE8F-0F4F-B42B-3D4662DE9FD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765328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9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7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09927"/>
            <a:ext cx="1154151" cy="1090789"/>
          </a:xfrm>
        </p:spPr>
        <p:txBody>
          <a:bodyPr/>
          <a:lstStyle/>
          <a:p>
            <a:pPr>
              <a:defRPr/>
            </a:pPr>
            <a:fld id="{CB74C567-DE8F-0F4F-B42B-3D4662DE9FD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54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54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7753089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7"/>
            <a:ext cx="9613863" cy="58853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51"/>
            <a:ext cx="9613863" cy="502255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09927"/>
            <a:ext cx="1154151" cy="1090789"/>
          </a:xfrm>
        </p:spPr>
        <p:txBody>
          <a:bodyPr/>
          <a:lstStyle/>
          <a:p>
            <a:pPr>
              <a:defRPr/>
            </a:pPr>
            <a:fld id="{CB74C567-DE8F-0F4F-B42B-3D4662DE9FD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521872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1" y="753228"/>
            <a:ext cx="962496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5" y="2336873"/>
            <a:ext cx="307003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4"/>
            <a:ext cx="3049703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1" y="3022674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7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7" y="3022674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B74C567-DE8F-0F4F-B42B-3D4662DE9FD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085308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20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20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20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1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8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80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8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B74C567-DE8F-0F4F-B42B-3D4662DE9FD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272717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7FA69AF-BDC6-0145-8856-5069B02949E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8927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3" y="5372404"/>
            <a:ext cx="1602997" cy="13681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3" cy="435376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9"/>
            <a:ext cx="8870004" cy="53265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5" y="5936189"/>
            <a:ext cx="2743200" cy="365125"/>
          </a:xfrm>
        </p:spPr>
        <p:txBody>
          <a:bodyPr/>
          <a:lstStyle/>
          <a:p>
            <a:fld id="{09B482E8-6E0E-1B4F-B1FD-C69DB9E858D9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90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1" y="5398635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pPr>
              <a:defRPr/>
            </a:pPr>
            <a:fld id="{2DAFE301-9248-A54C-8406-8167DAEA894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713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3/7/26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2" y="5936190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7" y="753228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B74C567-DE8F-0F4F-B42B-3D4662DE9FD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2193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  <p:sldLayoutId id="2147483765" r:id="rId12"/>
    <p:sldLayoutId id="2147483766" r:id="rId13"/>
    <p:sldLayoutId id="2147483767" r:id="rId14"/>
    <p:sldLayoutId id="2147483768" r:id="rId15"/>
    <p:sldLayoutId id="2147483769" r:id="rId16"/>
    <p:sldLayoutId id="2147483770" r:id="rId17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EB46528A-ECC8-234E-A53C-F87AC3F6694B}" type="slidenum">
              <a:rPr lang="en-US" sz="1400"/>
              <a:pPr/>
              <a:t>0</a:t>
            </a:fld>
            <a:endParaRPr lang="en-US" sz="1400"/>
          </a:p>
        </p:txBody>
      </p:sp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1639889" y="1001713"/>
            <a:ext cx="89106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/>
            <a:r>
              <a:rPr lang="en-US" sz="3600" b="1">
                <a:solidFill>
                  <a:schemeClr val="tx2"/>
                </a:solidFill>
                <a:latin typeface="Arial Black" charset="0"/>
              </a:rPr>
              <a:t>PROGRAMMING IN HASKELL</a:t>
            </a: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1700214" y="5164138"/>
            <a:ext cx="87915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kumimoji="1" lang="en-US" sz="3200" dirty="0"/>
              <a:t>Topic 8.1 - Higher-Order Functions</a:t>
            </a:r>
          </a:p>
        </p:txBody>
      </p:sp>
      <p:pic>
        <p:nvPicPr>
          <p:cNvPr id="15364" name="Picture 5" descr="2000px-Haskell-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189" y="2425700"/>
            <a:ext cx="2841625" cy="200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756424" y="927100"/>
            <a:ext cx="8515350" cy="685800"/>
          </a:xfrm>
        </p:spPr>
        <p:txBody>
          <a:bodyPr/>
          <a:lstStyle/>
          <a:p>
            <a:r>
              <a:rPr lang="en-US" dirty="0">
                <a:latin typeface="Arial Black" charset="0"/>
              </a:rPr>
              <a:t>Introduction</a:t>
            </a:r>
          </a:p>
        </p:txBody>
      </p:sp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2DB9F8B5-5DD7-6D4A-BC28-F52CC01B8869}" type="slidenum">
              <a:rPr lang="en-US" sz="1400"/>
              <a:pPr/>
              <a:t>1</a:t>
            </a:fld>
            <a:endParaRPr lang="en-US" sz="1400"/>
          </a:p>
        </p:txBody>
      </p:sp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1872456" y="2082702"/>
            <a:ext cx="8447087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A function is called </a:t>
            </a:r>
            <a:r>
              <a:rPr lang="en-US" u="sng" dirty="0"/>
              <a:t>higher-order</a:t>
            </a:r>
            <a:r>
              <a:rPr lang="en-US" dirty="0"/>
              <a:t> if it takes a function as an argument or returns a function as a result.</a:t>
            </a:r>
          </a:p>
        </p:txBody>
      </p:sp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3086061" y="3498654"/>
            <a:ext cx="4989512" cy="965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twice :: </a:t>
            </a:r>
            <a:r>
              <a:rPr lang="en-US" sz="2400" dirty="0">
                <a:solidFill>
                  <a:srgbClr val="FFFFFF"/>
                </a:solidFill>
                <a:latin typeface="Lucida Sans Typewriter" charset="0"/>
              </a:rPr>
              <a:t>(a </a:t>
            </a:r>
            <a:r>
              <a:rPr lang="en-US" sz="2400" dirty="0">
                <a:solidFill>
                  <a:srgbClr val="FFFFFF"/>
                </a:solidFill>
                <a:latin typeface="Lucida Sans Typewriter" charset="0"/>
                <a:sym typeface="Symbol" charset="0"/>
              </a:rPr>
              <a:t></a:t>
            </a:r>
            <a:r>
              <a:rPr lang="en-US" sz="2400" dirty="0">
                <a:solidFill>
                  <a:srgbClr val="FFFFFF"/>
                </a:solidFill>
                <a:latin typeface="Lucida Sans Typewriter" charset="0"/>
              </a:rPr>
              <a:t> a) </a:t>
            </a:r>
            <a:r>
              <a:rPr lang="en-US" sz="2400" dirty="0">
                <a:solidFill>
                  <a:srgbClr val="FFFFFF"/>
                </a:solidFill>
                <a:latin typeface="Lucida Sans Typewriter" charset="0"/>
                <a:sym typeface="Symbol" charset="0"/>
              </a:rPr>
              <a:t></a:t>
            </a:r>
            <a:r>
              <a:rPr lang="en-US" sz="2400" dirty="0">
                <a:solidFill>
                  <a:srgbClr val="FFFFFF"/>
                </a:solidFill>
                <a:latin typeface="Lucida Sans Typewriter" charset="0"/>
              </a:rPr>
              <a:t> a </a:t>
            </a:r>
            <a:r>
              <a:rPr lang="en-US" sz="2400" dirty="0">
                <a:solidFill>
                  <a:srgbClr val="FFFFFF"/>
                </a:solidFill>
                <a:latin typeface="Lucida Sans Typewriter" charset="0"/>
                <a:sym typeface="Symbol" charset="0"/>
              </a:rPr>
              <a:t></a:t>
            </a:r>
            <a:r>
              <a:rPr lang="en-US" sz="2400" dirty="0">
                <a:solidFill>
                  <a:srgbClr val="FFFFFF"/>
                </a:solidFill>
                <a:latin typeface="Lucida Sans Typewriter" charset="0"/>
              </a:rPr>
              <a:t> a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twice f x = f (f x)</a:t>
            </a:r>
          </a:p>
        </p:txBody>
      </p:sp>
      <p:sp>
        <p:nvSpPr>
          <p:cNvPr id="16389" name="AutoShape 5"/>
          <p:cNvSpPr>
            <a:spLocks noChangeArrowheads="1"/>
          </p:cNvSpPr>
          <p:nvPr/>
        </p:nvSpPr>
        <p:spPr bwMode="auto">
          <a:xfrm>
            <a:off x="2894515" y="5126300"/>
            <a:ext cx="4239168" cy="715089"/>
          </a:xfrm>
          <a:prstGeom prst="wedgeRoundRectCallout">
            <a:avLst>
              <a:gd name="adj1" fmla="val -21875"/>
              <a:gd name="adj2" fmla="val -135960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/>
          <a:p>
            <a:pPr algn="ctr"/>
            <a:r>
              <a:rPr lang="en-US" dirty="0"/>
              <a:t>twice is higher-order because it</a:t>
            </a:r>
          </a:p>
          <a:p>
            <a:pPr algn="ctr"/>
            <a:r>
              <a:rPr lang="en-US" dirty="0"/>
              <a:t>takes a function as its first argument.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8" grpId="0" animBg="1"/>
      <p:bldP spid="1638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544782" y="773111"/>
            <a:ext cx="8032750" cy="685800"/>
          </a:xfrm>
        </p:spPr>
        <p:txBody>
          <a:bodyPr/>
          <a:lstStyle/>
          <a:p>
            <a:r>
              <a:rPr lang="en-US" dirty="0">
                <a:latin typeface="Arial Black" charset="0"/>
              </a:rPr>
              <a:t>Why Are They Useful?</a:t>
            </a:r>
          </a:p>
        </p:txBody>
      </p:sp>
      <p:sp>
        <p:nvSpPr>
          <p:cNvPr id="17409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7FE6710C-874B-8D48-9963-7D0A0C3DFAE7}" type="slidenum">
              <a:rPr lang="en-US" sz="1400"/>
              <a:pPr/>
              <a:t>2</a:t>
            </a:fld>
            <a:endParaRPr lang="en-US" sz="1400"/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1314739" y="2663826"/>
            <a:ext cx="8047038" cy="399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charset="0"/>
                <a:ea typeface="ＭＳ Ｐゴシック" charset="0"/>
              </a:rPr>
              <a:t>Common programming idioms can be encoded as functions within the language itself.</a:t>
            </a:r>
          </a:p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endParaRPr lang="en-US" sz="2800" dirty="0">
              <a:latin typeface="Tahoma" charset="0"/>
              <a:ea typeface="ＭＳ Ｐゴシック" charset="0"/>
            </a:endParaRPr>
          </a:p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charset="0"/>
                <a:ea typeface="ＭＳ Ｐゴシック" charset="0"/>
              </a:rPr>
              <a:t>Domain specific languages can be defined as collections of higher-order functions.</a:t>
            </a:r>
          </a:p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endParaRPr lang="en-US" sz="2800" dirty="0">
              <a:latin typeface="Tahoma" charset="0"/>
              <a:ea typeface="ＭＳ Ｐゴシック" charset="0"/>
            </a:endParaRPr>
          </a:p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charset="0"/>
                <a:ea typeface="ＭＳ Ｐゴシック" charset="0"/>
              </a:rPr>
              <a:t>Algebraic properties of higher-order functions can be used to reason about programs.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Black" charset="0"/>
              </a:rPr>
              <a:t>The Map Function</a:t>
            </a:r>
          </a:p>
        </p:txBody>
      </p:sp>
      <p:sp>
        <p:nvSpPr>
          <p:cNvPr id="18433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D286D825-E0DF-5745-B974-FAB56676A060}" type="slidenum">
              <a:rPr lang="en-US" sz="1400"/>
              <a:pPr/>
              <a:t>3</a:t>
            </a:fld>
            <a:endParaRPr lang="en-US" sz="1400"/>
          </a:p>
        </p:txBody>
      </p:sp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1109808" y="2192338"/>
            <a:ext cx="83470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The higher-order library function called </a:t>
            </a:r>
            <a:r>
              <a:rPr lang="en-US" u="sng" dirty="0"/>
              <a:t>map</a:t>
            </a:r>
            <a:r>
              <a:rPr lang="en-US" dirty="0"/>
              <a:t> applies a function to every element of a list.</a:t>
            </a:r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3063875" y="3490913"/>
            <a:ext cx="5319712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Lucida Sans Typewriter" charset="0"/>
              </a:rPr>
              <a:t>map :: (a </a:t>
            </a:r>
            <a:r>
              <a:rPr lang="en-US" sz="2400" dirty="0">
                <a:latin typeface="Lucida Sans Typewriter" charset="0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</a:rPr>
              <a:t> b) </a:t>
            </a:r>
            <a:r>
              <a:rPr lang="en-US" sz="2400" dirty="0">
                <a:latin typeface="Lucida Sans Typewriter" charset="0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</a:rPr>
              <a:t> [a] </a:t>
            </a:r>
            <a:r>
              <a:rPr lang="en-US" sz="2400" dirty="0">
                <a:latin typeface="Lucida Sans Typewriter" charset="0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</a:rPr>
              <a:t> [b]</a:t>
            </a:r>
          </a:p>
        </p:txBody>
      </p:sp>
      <p:sp>
        <p:nvSpPr>
          <p:cNvPr id="18437" name="Text Box 5"/>
          <p:cNvSpPr txBox="1">
            <a:spLocks noChangeArrowheads="1"/>
          </p:cNvSpPr>
          <p:nvPr/>
        </p:nvSpPr>
        <p:spPr bwMode="auto">
          <a:xfrm>
            <a:off x="1927225" y="4117976"/>
            <a:ext cx="22733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For example:</a:t>
            </a:r>
          </a:p>
        </p:txBody>
      </p:sp>
      <p:sp>
        <p:nvSpPr>
          <p:cNvPr id="18438" name="Text Box 6"/>
          <p:cNvSpPr txBox="1">
            <a:spLocks noChangeArrowheads="1"/>
          </p:cNvSpPr>
          <p:nvPr/>
        </p:nvSpPr>
        <p:spPr bwMode="auto">
          <a:xfrm>
            <a:off x="3113089" y="5152937"/>
            <a:ext cx="3903633" cy="1200329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Lucida Sans Typewriter" charset="0"/>
              </a:rPr>
              <a:t>&gt; map (+1) [1,3,5,7]</a:t>
            </a:r>
          </a:p>
          <a:p>
            <a:endParaRPr lang="en-US" sz="2400" dirty="0">
              <a:latin typeface="Lucida Sans Typewriter" charset="0"/>
            </a:endParaRPr>
          </a:p>
          <a:p>
            <a:r>
              <a:rPr lang="en-US" sz="2400" dirty="0">
                <a:latin typeface="Lucida Sans Typewriter" charset="0"/>
              </a:rPr>
              <a:t>[2,4,6,8]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51E36-5BA1-7F9C-7872-F764DE96B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contd.</a:t>
            </a:r>
          </a:p>
        </p:txBody>
      </p:sp>
      <p:sp>
        <p:nvSpPr>
          <p:cNvPr id="19457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695EDB29-9C9D-2B4A-810D-72E0E27B0AE3}" type="slidenum">
              <a:rPr lang="en-US" sz="1400"/>
              <a:pPr/>
              <a:t>4</a:t>
            </a:fld>
            <a:endParaRPr lang="en-US" sz="1400"/>
          </a:p>
        </p:txBody>
      </p:sp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1249731" y="4235592"/>
            <a:ext cx="825642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Alternatively, for the purposes of proofs, the map function can also be defined using recursion: </a:t>
            </a:r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813323" y="2177786"/>
            <a:ext cx="934785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The map function can be defined in a particularly simple manner using a list comprehension:</a:t>
            </a:r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3035356" y="3451164"/>
            <a:ext cx="4903787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latin typeface="Lucida Sans Typewriter" charset="0"/>
              </a:rPr>
              <a:t>map f </a:t>
            </a:r>
            <a:r>
              <a:rPr lang="en-US" sz="2400" dirty="0" err="1">
                <a:latin typeface="Lucida Sans Typewriter" charset="0"/>
              </a:rPr>
              <a:t>xs</a:t>
            </a:r>
            <a:r>
              <a:rPr lang="en-US" sz="2400" dirty="0">
                <a:latin typeface="Lucida Sans Typewriter" charset="0"/>
              </a:rPr>
              <a:t> = [f x | x </a:t>
            </a:r>
            <a:r>
              <a:rPr lang="en-US" sz="2400" dirty="0">
                <a:latin typeface="Lucida Sans Typewriter" charset="0"/>
                <a:sym typeface="Symbol" charset="0"/>
              </a:rPr>
              <a:t></a:t>
            </a:r>
            <a:r>
              <a:rPr lang="en-US" sz="2400" dirty="0">
                <a:latin typeface="Lucida Sans Typewriter" charset="0"/>
              </a:rPr>
              <a:t> </a:t>
            </a:r>
            <a:r>
              <a:rPr lang="en-US" sz="2400" dirty="0" err="1">
                <a:latin typeface="Lucida Sans Typewriter" charset="0"/>
              </a:rPr>
              <a:t>xs</a:t>
            </a:r>
            <a:r>
              <a:rPr lang="en-US" sz="2400" dirty="0">
                <a:latin typeface="Lucida Sans Typewriter" charset="0"/>
              </a:rPr>
              <a:t>]</a:t>
            </a:r>
          </a:p>
        </p:txBody>
      </p:sp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2698665" y="5508970"/>
            <a:ext cx="5577168" cy="1064009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40000"/>
              </a:lnSpc>
            </a:pPr>
            <a:r>
              <a:rPr lang="en-US" sz="2400" dirty="0">
                <a:latin typeface="Lucida Sans Typewriter" charset="0"/>
              </a:rPr>
              <a:t>map f []     = []</a:t>
            </a:r>
          </a:p>
          <a:p>
            <a:pPr>
              <a:lnSpc>
                <a:spcPct val="140000"/>
              </a:lnSpc>
            </a:pPr>
            <a:r>
              <a:rPr lang="en-US" sz="2400" dirty="0">
                <a:latin typeface="Lucida Sans Typewriter" charset="0"/>
              </a:rPr>
              <a:t>map f (</a:t>
            </a:r>
            <a:r>
              <a:rPr lang="en-US" sz="2400" dirty="0" err="1">
                <a:latin typeface="Lucida Sans Typewriter" charset="0"/>
              </a:rPr>
              <a:t>x:xs</a:t>
            </a:r>
            <a:r>
              <a:rPr lang="en-US" sz="2400" dirty="0">
                <a:latin typeface="Lucida Sans Typewriter" charset="0"/>
              </a:rPr>
              <a:t>) = f x : map f </a:t>
            </a:r>
            <a:r>
              <a:rPr lang="en-US" sz="2400" dirty="0" err="1">
                <a:latin typeface="Lucida Sans Typewriter" charset="0"/>
              </a:rPr>
              <a:t>xs</a:t>
            </a:r>
            <a:endParaRPr lang="en-US" sz="2400" dirty="0">
              <a:latin typeface="Lucida Sans Typewriter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4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4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 animBg="1"/>
      <p:bldP spid="1946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Black" charset="0"/>
              </a:rPr>
              <a:t>The Filter Function</a:t>
            </a:r>
          </a:p>
        </p:txBody>
      </p:sp>
      <p:sp>
        <p:nvSpPr>
          <p:cNvPr id="20481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C714A7A6-B85E-FD4E-9ACB-A03DA51B34AB}" type="slidenum">
              <a:rPr lang="en-US" sz="1400"/>
              <a:pPr/>
              <a:t>5</a:t>
            </a:fld>
            <a:endParaRPr lang="en-US" sz="1400"/>
          </a:p>
        </p:txBody>
      </p:sp>
      <p:sp>
        <p:nvSpPr>
          <p:cNvPr id="20483" name="Text Box 3"/>
          <p:cNvSpPr txBox="1">
            <a:spLocks noChangeArrowheads="1"/>
          </p:cNvSpPr>
          <p:nvPr/>
        </p:nvSpPr>
        <p:spPr bwMode="auto">
          <a:xfrm>
            <a:off x="1278788" y="1985836"/>
            <a:ext cx="84169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The higher-order library function </a:t>
            </a:r>
            <a:r>
              <a:rPr lang="en-US" u="sng" dirty="0"/>
              <a:t>filter</a:t>
            </a:r>
            <a:r>
              <a:rPr lang="en-US" dirty="0"/>
              <a:t> selects every element from a list that satisfies a predicate.</a:t>
            </a:r>
          </a:p>
        </p:txBody>
      </p:sp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2517920" y="3408146"/>
            <a:ext cx="6424612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latin typeface="Lucida Sans Typewriter" charset="0"/>
              </a:rPr>
              <a:t>filter :: (a </a:t>
            </a:r>
            <a:r>
              <a:rPr lang="en-US" sz="2400" dirty="0">
                <a:latin typeface="Lucida Sans Typewriter" charset="0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</a:rPr>
              <a:t> Bool) </a:t>
            </a:r>
            <a:r>
              <a:rPr lang="en-US" sz="2400" dirty="0">
                <a:latin typeface="Lucida Sans Typewriter" charset="0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</a:rPr>
              <a:t> [a] </a:t>
            </a:r>
            <a:r>
              <a:rPr lang="en-US" sz="2400" dirty="0">
                <a:latin typeface="Lucida Sans Typewriter" charset="0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</a:rPr>
              <a:t> [a]</a:t>
            </a:r>
          </a:p>
        </p:txBody>
      </p:sp>
      <p:sp>
        <p:nvSpPr>
          <p:cNvPr id="20485" name="Text Box 5"/>
          <p:cNvSpPr txBox="1">
            <a:spLocks noChangeArrowheads="1"/>
          </p:cNvSpPr>
          <p:nvPr/>
        </p:nvSpPr>
        <p:spPr bwMode="auto">
          <a:xfrm>
            <a:off x="1920082" y="4230535"/>
            <a:ext cx="22431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For example:</a:t>
            </a:r>
          </a:p>
        </p:txBody>
      </p:sp>
      <p:sp>
        <p:nvSpPr>
          <p:cNvPr id="20486" name="Text Box 6"/>
          <p:cNvSpPr txBox="1">
            <a:spLocks noChangeArrowheads="1"/>
          </p:cNvSpPr>
          <p:nvPr/>
        </p:nvSpPr>
        <p:spPr bwMode="auto">
          <a:xfrm>
            <a:off x="3442459" y="5114837"/>
            <a:ext cx="4089581" cy="1200329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Lucida Sans Typewriter" charset="0"/>
              </a:rPr>
              <a:t>&gt; filter even [1..10]</a:t>
            </a:r>
          </a:p>
          <a:p>
            <a:endParaRPr lang="en-US" sz="2400" dirty="0">
              <a:latin typeface="Lucida Sans Typewriter" charset="0"/>
            </a:endParaRPr>
          </a:p>
          <a:p>
            <a:r>
              <a:rPr lang="en-US" sz="2400" dirty="0">
                <a:latin typeface="Lucida Sans Typewriter" charset="0"/>
              </a:rPr>
              <a:t>[2,4,6,8,10]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4" grpId="0" animBg="1"/>
      <p:bldP spid="20485" grpId="0"/>
      <p:bldP spid="2048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86D12C72-FCFC-834B-BA63-9DF23E39175A}" type="slidenum">
              <a:rPr lang="en-US" sz="1400"/>
              <a:pPr/>
              <a:t>6</a:t>
            </a:fld>
            <a:endParaRPr lang="en-US" sz="1400"/>
          </a:p>
        </p:txBody>
      </p:sp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2209006" y="3484386"/>
            <a:ext cx="77739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Alternatively, it can be defined using recursion:</a:t>
            </a:r>
          </a:p>
        </p:txBody>
      </p:sp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552451" y="875505"/>
            <a:ext cx="84470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Filter can be defined using a list comprehension:</a:t>
            </a:r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2770692" y="2470458"/>
            <a:ext cx="6228846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>
                <a:latin typeface="Lucida Sans Typewriter" charset="0"/>
              </a:rPr>
              <a:t>filter p </a:t>
            </a:r>
            <a:r>
              <a:rPr lang="en-US" sz="2400" dirty="0" err="1">
                <a:latin typeface="Lucida Sans Typewriter" charset="0"/>
              </a:rPr>
              <a:t>xs</a:t>
            </a:r>
            <a:r>
              <a:rPr lang="en-US" sz="2400" dirty="0">
                <a:latin typeface="Lucida Sans Typewriter" charset="0"/>
              </a:rPr>
              <a:t> = [x | x </a:t>
            </a:r>
            <a:r>
              <a:rPr lang="en-US" sz="2400" dirty="0">
                <a:latin typeface="Lucida Sans Typewriter" charset="0"/>
                <a:sym typeface="Symbol" charset="0"/>
              </a:rPr>
              <a:t></a:t>
            </a:r>
            <a:r>
              <a:rPr lang="en-US" sz="2400" dirty="0">
                <a:latin typeface="Lucida Sans Typewriter" charset="0"/>
              </a:rPr>
              <a:t> </a:t>
            </a:r>
            <a:r>
              <a:rPr lang="en-US" sz="2400" dirty="0" err="1">
                <a:latin typeface="Lucida Sans Typewriter" charset="0"/>
              </a:rPr>
              <a:t>xs</a:t>
            </a:r>
            <a:r>
              <a:rPr lang="en-US" sz="2400" dirty="0">
                <a:latin typeface="Lucida Sans Typewriter" charset="0"/>
              </a:rPr>
              <a:t>, p x]</a:t>
            </a:r>
          </a:p>
        </p:txBody>
      </p:sp>
      <p:sp>
        <p:nvSpPr>
          <p:cNvPr id="21509" name="Text Box 5"/>
          <p:cNvSpPr txBox="1">
            <a:spLocks noChangeArrowheads="1"/>
          </p:cNvSpPr>
          <p:nvPr/>
        </p:nvSpPr>
        <p:spPr bwMode="auto">
          <a:xfrm>
            <a:off x="2770692" y="4411400"/>
            <a:ext cx="6261100" cy="199072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2400" dirty="0">
                <a:latin typeface="Lucida Sans Typewriter" charset="0"/>
              </a:rPr>
              <a:t>filter p [] = []</a:t>
            </a:r>
          </a:p>
          <a:p>
            <a:pPr>
              <a:lnSpc>
                <a:spcPct val="130000"/>
              </a:lnSpc>
            </a:pPr>
            <a:r>
              <a:rPr lang="en-US" sz="2400" dirty="0">
                <a:latin typeface="Lucida Sans Typewriter" charset="0"/>
              </a:rPr>
              <a:t>filter p (</a:t>
            </a:r>
            <a:r>
              <a:rPr lang="en-US" sz="2400" dirty="0" err="1">
                <a:latin typeface="Lucida Sans Typewriter" charset="0"/>
              </a:rPr>
              <a:t>x:xs</a:t>
            </a:r>
            <a:r>
              <a:rPr lang="en-US" sz="2400" dirty="0">
                <a:latin typeface="Lucida Sans Typewriter" charset="0"/>
              </a:rPr>
              <a:t>)</a:t>
            </a:r>
          </a:p>
          <a:p>
            <a:pPr>
              <a:lnSpc>
                <a:spcPct val="130000"/>
              </a:lnSpc>
            </a:pPr>
            <a:r>
              <a:rPr lang="en-US" sz="2400" dirty="0">
                <a:latin typeface="Lucida Sans Typewriter" charset="0"/>
              </a:rPr>
              <a:t>   | p x       = x : filter p </a:t>
            </a:r>
            <a:r>
              <a:rPr lang="en-US" sz="2400" dirty="0" err="1">
                <a:latin typeface="Lucida Sans Typewriter" charset="0"/>
              </a:rPr>
              <a:t>xs</a:t>
            </a:r>
            <a:endParaRPr lang="en-US" sz="2400" dirty="0">
              <a:latin typeface="Lucida Sans Typewriter" charset="0"/>
            </a:endParaRPr>
          </a:p>
          <a:p>
            <a:pPr>
              <a:lnSpc>
                <a:spcPct val="130000"/>
              </a:lnSpc>
            </a:pPr>
            <a:r>
              <a:rPr lang="en-US" sz="2400" dirty="0">
                <a:latin typeface="Lucida Sans Typewriter" charset="0"/>
              </a:rPr>
              <a:t>   | otherwise = filter p </a:t>
            </a:r>
            <a:r>
              <a:rPr lang="en-US" sz="2400" dirty="0" err="1">
                <a:latin typeface="Lucida Sans Typewriter" charset="0"/>
              </a:rPr>
              <a:t>xs</a:t>
            </a:r>
            <a:endParaRPr lang="en-US" sz="2400" dirty="0">
              <a:latin typeface="Lucida Sans Typewriter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</a:rPr>
              <a:t>The </a:t>
            </a:r>
            <a:r>
              <a:rPr lang="en-US" dirty="0" err="1">
                <a:latin typeface="Arial Black" charset="0"/>
              </a:rPr>
              <a:t>Foldr</a:t>
            </a:r>
            <a:r>
              <a:rPr lang="en-US" dirty="0">
                <a:latin typeface="Arial Black" charset="0"/>
              </a:rPr>
              <a:t> Function</a:t>
            </a:r>
          </a:p>
        </p:txBody>
      </p:sp>
      <p:sp>
        <p:nvSpPr>
          <p:cNvPr id="22529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2E5FE8F0-42F1-9741-A5E2-02706A612CEB}" type="slidenum">
              <a:rPr lang="en-US" sz="1400"/>
              <a:pPr/>
              <a:t>7</a:t>
            </a:fld>
            <a:endParaRPr lang="en-US" sz="1400"/>
          </a:p>
        </p:txBody>
      </p:sp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1732757" y="2022777"/>
            <a:ext cx="8377237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A number of functions on lists can be defined using the following simple pattern of recursion:</a:t>
            </a:r>
          </a:p>
        </p:txBody>
      </p:sp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3068494" y="3315001"/>
            <a:ext cx="3732213" cy="96837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f []     = v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f (</a:t>
            </a:r>
            <a:r>
              <a:rPr lang="en-US" sz="2400" dirty="0" err="1">
                <a:latin typeface="Lucida Sans Typewriter" charset="0"/>
              </a:rPr>
              <a:t>x:xs</a:t>
            </a:r>
            <a:r>
              <a:rPr lang="en-US" sz="2400" dirty="0">
                <a:latin typeface="Lucida Sans Typewriter" charset="0"/>
              </a:rPr>
              <a:t>) = x </a:t>
            </a:r>
            <a:r>
              <a:rPr lang="en-US" sz="2400" dirty="0">
                <a:latin typeface="Lucida Sans Typewriter" charset="0"/>
                <a:sym typeface="Symbol" charset="0"/>
              </a:rPr>
              <a:t> </a:t>
            </a:r>
            <a:r>
              <a:rPr lang="en-US" sz="2400" dirty="0">
                <a:latin typeface="Lucida Sans Typewriter" charset="0"/>
              </a:rPr>
              <a:t>f </a:t>
            </a:r>
            <a:r>
              <a:rPr lang="en-US" sz="2400" dirty="0" err="1">
                <a:latin typeface="Lucida Sans Typewriter" charset="0"/>
              </a:rPr>
              <a:t>xs</a:t>
            </a:r>
            <a:endParaRPr lang="en-US" sz="2400" dirty="0">
              <a:latin typeface="Lucida Sans Typewriter" charset="0"/>
            </a:endParaRPr>
          </a:p>
        </p:txBody>
      </p:sp>
      <p:sp>
        <p:nvSpPr>
          <p:cNvPr id="22533" name="AutoShape 5"/>
          <p:cNvSpPr>
            <a:spLocks noChangeArrowheads="1"/>
          </p:cNvSpPr>
          <p:nvPr/>
        </p:nvSpPr>
        <p:spPr bwMode="auto">
          <a:xfrm>
            <a:off x="2366962" y="5425502"/>
            <a:ext cx="7108825" cy="715089"/>
          </a:xfrm>
          <a:prstGeom prst="wedgeRoundRectCallout">
            <a:avLst>
              <a:gd name="adj1" fmla="val -26172"/>
              <a:gd name="adj2" fmla="val -204211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dirty="0"/>
              <a:t>f maps the empty list to some value v, and any non-empty list to some function </a:t>
            </a:r>
            <a:r>
              <a:rPr lang="en-US" dirty="0">
                <a:sym typeface="Symbol" charset="0"/>
              </a:rPr>
              <a:t></a:t>
            </a:r>
            <a:r>
              <a:rPr lang="en-US" dirty="0"/>
              <a:t> applied to its head and f of its tail.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3F9F7A5-AC31-5E49-B0DC-A9B3C738CDA7}" type="slidenum">
              <a:rPr lang="en-US" sz="1400"/>
              <a:pPr/>
              <a:t>8</a:t>
            </a:fld>
            <a:endParaRPr lang="en-US" sz="1400"/>
          </a:p>
        </p:txBody>
      </p:sp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907762" y="1047790"/>
            <a:ext cx="81041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For example:</a:t>
            </a:r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2257425" y="2147889"/>
            <a:ext cx="4419600" cy="96837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sum []     = 0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sum (</a:t>
            </a:r>
            <a:r>
              <a:rPr lang="en-US" sz="2400" dirty="0" err="1">
                <a:latin typeface="Lucida Sans Typewriter" charset="0"/>
              </a:rPr>
              <a:t>x:xs</a:t>
            </a:r>
            <a:r>
              <a:rPr lang="en-US" sz="2400" dirty="0">
                <a:latin typeface="Lucida Sans Typewriter" charset="0"/>
              </a:rPr>
              <a:t>) = x + sum </a:t>
            </a:r>
            <a:r>
              <a:rPr lang="en-US" sz="2400" dirty="0" err="1">
                <a:latin typeface="Lucida Sans Typewriter" charset="0"/>
              </a:rPr>
              <a:t>xs</a:t>
            </a:r>
            <a:endParaRPr lang="en-US" sz="2400" dirty="0">
              <a:latin typeface="Lucida Sans Typewriter" charset="0"/>
            </a:endParaRPr>
          </a:p>
        </p:txBody>
      </p:sp>
      <p:sp>
        <p:nvSpPr>
          <p:cNvPr id="23556" name="Text Box 4"/>
          <p:cNvSpPr txBox="1">
            <a:spLocks noChangeArrowheads="1"/>
          </p:cNvSpPr>
          <p:nvPr/>
        </p:nvSpPr>
        <p:spPr bwMode="auto">
          <a:xfrm>
            <a:off x="2283406" y="5534000"/>
            <a:ext cx="4603750" cy="96837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and []     = True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and (</a:t>
            </a:r>
            <a:r>
              <a:rPr lang="en-US" sz="2400" dirty="0" err="1">
                <a:latin typeface="Lucida Sans Typewriter" charset="0"/>
              </a:rPr>
              <a:t>x:xs</a:t>
            </a:r>
            <a:r>
              <a:rPr lang="en-US" sz="2400" dirty="0">
                <a:latin typeface="Lucida Sans Typewriter" charset="0"/>
              </a:rPr>
              <a:t>) = x &amp;&amp; and </a:t>
            </a:r>
            <a:r>
              <a:rPr lang="en-US" sz="2400" dirty="0" err="1">
                <a:latin typeface="Lucida Sans Typewriter" charset="0"/>
              </a:rPr>
              <a:t>xs</a:t>
            </a:r>
            <a:endParaRPr lang="en-US" sz="2400" dirty="0">
              <a:latin typeface="Lucida Sans Typewriter" charset="0"/>
            </a:endParaRPr>
          </a:p>
        </p:txBody>
      </p:sp>
      <p:sp>
        <p:nvSpPr>
          <p:cNvPr id="23557" name="Text Box 5"/>
          <p:cNvSpPr txBox="1">
            <a:spLocks noChangeArrowheads="1"/>
          </p:cNvSpPr>
          <p:nvPr/>
        </p:nvSpPr>
        <p:spPr bwMode="auto">
          <a:xfrm>
            <a:off x="2283406" y="3809966"/>
            <a:ext cx="5892800" cy="96837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product []     = 1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product (</a:t>
            </a:r>
            <a:r>
              <a:rPr lang="en-US" sz="2400" dirty="0" err="1">
                <a:latin typeface="Lucida Sans Typewriter" charset="0"/>
              </a:rPr>
              <a:t>x:xs</a:t>
            </a:r>
            <a:r>
              <a:rPr lang="en-US" sz="2400" dirty="0">
                <a:latin typeface="Lucida Sans Typewriter" charset="0"/>
              </a:rPr>
              <a:t>) = x * product </a:t>
            </a:r>
            <a:r>
              <a:rPr lang="en-US" sz="2400" dirty="0" err="1">
                <a:latin typeface="Lucida Sans Typewriter" charset="0"/>
              </a:rPr>
              <a:t>xs</a:t>
            </a:r>
            <a:endParaRPr lang="en-US" sz="2400" dirty="0">
              <a:latin typeface="Lucida Sans Typewriter" charset="0"/>
            </a:endParaRPr>
          </a:p>
        </p:txBody>
      </p:sp>
      <p:sp>
        <p:nvSpPr>
          <p:cNvPr id="23558" name="AutoShape 6"/>
          <p:cNvSpPr>
            <a:spLocks noChangeArrowheads="1"/>
          </p:cNvSpPr>
          <p:nvPr/>
        </p:nvSpPr>
        <p:spPr bwMode="auto">
          <a:xfrm>
            <a:off x="7429252" y="2102684"/>
            <a:ext cx="1268910" cy="1055608"/>
          </a:xfrm>
          <a:prstGeom prst="wedgeRoundRectCallout">
            <a:avLst>
              <a:gd name="adj1" fmla="val -80486"/>
              <a:gd name="adj2" fmla="val 8949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4000" baseline="6000" dirty="0">
                <a:latin typeface="Lucida Sans Typewriter" charset="0"/>
                <a:sym typeface="Symbol" charset="0"/>
              </a:rPr>
              <a:t>v</a:t>
            </a:r>
            <a:r>
              <a:rPr lang="en-US" dirty="0"/>
              <a:t> = 0</a:t>
            </a:r>
          </a:p>
          <a:p>
            <a:pPr algn="ctr"/>
            <a:r>
              <a:rPr lang="en-US" sz="2400" dirty="0">
                <a:latin typeface="Lucida Sans Typewriter" charset="0"/>
                <a:sym typeface="Symbol" charset="0"/>
              </a:rPr>
              <a:t></a:t>
            </a:r>
            <a:r>
              <a:rPr lang="en-US" dirty="0"/>
              <a:t> = +</a:t>
            </a:r>
          </a:p>
        </p:txBody>
      </p:sp>
      <p:sp>
        <p:nvSpPr>
          <p:cNvPr id="23559" name="AutoShape 7"/>
          <p:cNvSpPr>
            <a:spLocks noChangeArrowheads="1"/>
          </p:cNvSpPr>
          <p:nvPr/>
        </p:nvSpPr>
        <p:spPr bwMode="auto">
          <a:xfrm>
            <a:off x="8752683" y="3760060"/>
            <a:ext cx="1187011" cy="1055608"/>
          </a:xfrm>
          <a:prstGeom prst="wedgeRoundRectCallout">
            <a:avLst>
              <a:gd name="adj1" fmla="val -75912"/>
              <a:gd name="adj2" fmla="val 8644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r>
              <a:rPr lang="en-US" sz="4000" baseline="6000" dirty="0">
                <a:latin typeface="Lucida Sans Typewriter" charset="0"/>
                <a:sym typeface="Symbol" charset="0"/>
              </a:rPr>
              <a:t>v</a:t>
            </a:r>
            <a:r>
              <a:rPr lang="en-US" dirty="0"/>
              <a:t> = 1</a:t>
            </a:r>
          </a:p>
          <a:p>
            <a:r>
              <a:rPr lang="en-US" sz="2400" dirty="0">
                <a:latin typeface="Lucida Sans Typewriter" charset="0"/>
                <a:sym typeface="Symbol" charset="0"/>
              </a:rPr>
              <a:t></a:t>
            </a:r>
            <a:r>
              <a:rPr lang="en-US" dirty="0"/>
              <a:t> = </a:t>
            </a:r>
            <a:r>
              <a:rPr lang="en-US" sz="2400" dirty="0">
                <a:latin typeface="Lucida Sans Typewriter" charset="0"/>
              </a:rPr>
              <a:t>*</a:t>
            </a:r>
          </a:p>
        </p:txBody>
      </p:sp>
      <p:sp>
        <p:nvSpPr>
          <p:cNvPr id="23560" name="AutoShape 8"/>
          <p:cNvSpPr>
            <a:spLocks noChangeArrowheads="1"/>
          </p:cNvSpPr>
          <p:nvPr/>
        </p:nvSpPr>
        <p:spPr bwMode="auto">
          <a:xfrm>
            <a:off x="7545389" y="5446767"/>
            <a:ext cx="1664475" cy="1055608"/>
          </a:xfrm>
          <a:prstGeom prst="wedgeRoundRectCallout">
            <a:avLst>
              <a:gd name="adj1" fmla="val -73245"/>
              <a:gd name="adj2" fmla="val 8486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r>
              <a:rPr lang="en-US" sz="4000" baseline="6000" dirty="0">
                <a:latin typeface="Lucida Sans Typewriter" charset="0"/>
                <a:sym typeface="Symbol" charset="0"/>
              </a:rPr>
              <a:t>v</a:t>
            </a:r>
            <a:r>
              <a:rPr lang="en-US" dirty="0"/>
              <a:t> = True</a:t>
            </a:r>
          </a:p>
          <a:p>
            <a:r>
              <a:rPr lang="en-US" sz="2400" dirty="0">
                <a:latin typeface="Lucida Sans Typewriter" charset="0"/>
                <a:sym typeface="Symbol" charset="0"/>
              </a:rPr>
              <a:t></a:t>
            </a:r>
            <a:r>
              <a:rPr lang="en-US" dirty="0"/>
              <a:t> = &amp;&amp;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55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55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3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3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35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35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3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6" grpId="0" uiExpand="1" build="allAtOnce" animBg="1"/>
      <p:bldP spid="23557" grpId="0" animBg="1"/>
      <p:bldP spid="23558" grpId="0" animBg="1"/>
      <p:bldP spid="23559" grpId="0" animBg="1"/>
      <p:bldP spid="2356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C93973E8-CE77-2E49-8486-26282FB45138}" type="slidenum">
              <a:rPr lang="en-US" sz="1400"/>
              <a:pPr/>
              <a:t>9</a:t>
            </a:fld>
            <a:endParaRPr lang="en-US" sz="1400"/>
          </a:p>
        </p:txBody>
      </p:sp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680321" y="1933849"/>
            <a:ext cx="10652697" cy="2227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The higher-order library function </a:t>
            </a:r>
            <a:r>
              <a:rPr lang="en-US" b="1" u="sng" dirty="0" err="1"/>
              <a:t>foldr</a:t>
            </a:r>
            <a:r>
              <a:rPr lang="en-US" dirty="0"/>
              <a:t> (fold right) encapsulates this simple pattern of recursion, with the function </a:t>
            </a:r>
            <a:r>
              <a:rPr lang="en-US" sz="2400" dirty="0">
                <a:latin typeface="Lucida Sans Typewriter" charset="0"/>
                <a:sym typeface="Symbol" charset="0"/>
              </a:rPr>
              <a:t></a:t>
            </a:r>
            <a:r>
              <a:rPr lang="en-US" dirty="0"/>
              <a:t> and the value v as arguments.</a:t>
            </a:r>
          </a:p>
          <a:p>
            <a:endParaRPr lang="en-US" dirty="0"/>
          </a:p>
          <a:p>
            <a:r>
              <a:rPr lang="en-US" dirty="0"/>
              <a:t>For example:</a:t>
            </a: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3399705" y="3758087"/>
            <a:ext cx="4275529" cy="290143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sum = </a:t>
            </a:r>
            <a:r>
              <a:rPr lang="en-US" sz="2400" dirty="0" err="1">
                <a:latin typeface="Lucida Sans Typewriter" charset="0"/>
              </a:rPr>
              <a:t>foldr</a:t>
            </a:r>
            <a:r>
              <a:rPr lang="en-US" sz="2400" dirty="0">
                <a:latin typeface="Lucida Sans Typewriter" charset="0"/>
              </a:rPr>
              <a:t> (+) 0</a:t>
            </a:r>
          </a:p>
          <a:p>
            <a:pPr>
              <a:lnSpc>
                <a:spcPct val="110000"/>
              </a:lnSpc>
            </a:pPr>
            <a:endParaRPr lang="en-US" sz="2400" dirty="0">
              <a:latin typeface="Lucida Sans Typewriter" charset="0"/>
            </a:endParaRPr>
          </a:p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product = </a:t>
            </a:r>
            <a:r>
              <a:rPr lang="en-US" sz="2400" dirty="0" err="1">
                <a:latin typeface="Lucida Sans Typewriter" charset="0"/>
              </a:rPr>
              <a:t>foldr</a:t>
            </a:r>
            <a:r>
              <a:rPr lang="en-US" sz="2400" dirty="0">
                <a:latin typeface="Lucida Sans Typewriter" charset="0"/>
              </a:rPr>
              <a:t> (*) 1</a:t>
            </a:r>
          </a:p>
          <a:p>
            <a:pPr>
              <a:lnSpc>
                <a:spcPct val="110000"/>
              </a:lnSpc>
            </a:pPr>
            <a:endParaRPr lang="en-US" sz="2400" dirty="0">
              <a:latin typeface="Lucida Sans Typewriter" charset="0"/>
            </a:endParaRPr>
          </a:p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or = </a:t>
            </a:r>
            <a:r>
              <a:rPr lang="en-US" sz="2400" dirty="0" err="1">
                <a:latin typeface="Lucida Sans Typewriter" charset="0"/>
              </a:rPr>
              <a:t>foldr</a:t>
            </a:r>
            <a:r>
              <a:rPr lang="en-US" sz="2400" dirty="0">
                <a:latin typeface="Lucida Sans Typewriter" charset="0"/>
              </a:rPr>
              <a:t> (||) False </a:t>
            </a:r>
          </a:p>
          <a:p>
            <a:pPr>
              <a:lnSpc>
                <a:spcPct val="110000"/>
              </a:lnSpc>
            </a:pPr>
            <a:endParaRPr lang="en-US" sz="2400" dirty="0">
              <a:latin typeface="Lucida Sans Typewriter" charset="0"/>
            </a:endParaRPr>
          </a:p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and = </a:t>
            </a:r>
            <a:r>
              <a:rPr lang="en-US" sz="2400" dirty="0" err="1">
                <a:latin typeface="Lucida Sans Typewriter" charset="0"/>
              </a:rPr>
              <a:t>foldr</a:t>
            </a:r>
            <a:r>
              <a:rPr lang="en-US" sz="2400" dirty="0">
                <a:latin typeface="Lucida Sans Typewriter" charset="0"/>
              </a:rPr>
              <a:t> (&amp;&amp;) True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17E7201-77A6-DC31-509C-82E5AC20B5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/>
          <a:lstStyle/>
          <a:p>
            <a:r>
              <a:rPr lang="en-US" dirty="0">
                <a:latin typeface="Arial Black" charset="0"/>
              </a:rPr>
              <a:t>The </a:t>
            </a:r>
            <a:r>
              <a:rPr lang="en-US" dirty="0" err="1">
                <a:latin typeface="Arial Black" charset="0"/>
              </a:rPr>
              <a:t>Foldr</a:t>
            </a:r>
            <a:r>
              <a:rPr lang="en-US" dirty="0">
                <a:latin typeface="Arial Black" charset="0"/>
              </a:rPr>
              <a:t> Function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53144-E285-47EC-4987-B4CA7B448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foldr</a:t>
            </a:r>
            <a:endParaRPr lang="en-US" b="1" dirty="0"/>
          </a:p>
        </p:txBody>
      </p:sp>
      <p:sp>
        <p:nvSpPr>
          <p:cNvPr id="25601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A1DB2C6B-6869-8A49-BCF3-00BB63527CD4}" type="slidenum">
              <a:rPr lang="en-US" sz="1400"/>
              <a:pPr/>
              <a:t>10</a:t>
            </a:fld>
            <a:endParaRPr lang="en-US" sz="1400"/>
          </a:p>
        </p:txBody>
      </p:sp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1422399" y="1950243"/>
            <a:ext cx="80914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 err="1"/>
              <a:t>Foldr</a:t>
            </a:r>
            <a:r>
              <a:rPr lang="en-US" dirty="0"/>
              <a:t> itself can be defined using recursion:</a:t>
            </a:r>
          </a:p>
        </p:txBody>
      </p:sp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2154165" y="2807416"/>
            <a:ext cx="7024687" cy="17637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182880" anchor="ctr"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60000"/>
              </a:lnSpc>
            </a:pPr>
            <a:r>
              <a:rPr lang="en-US" sz="2400" dirty="0" err="1">
                <a:latin typeface="Lucida Sans Typewriter" charset="0"/>
              </a:rPr>
              <a:t>foldr</a:t>
            </a:r>
            <a:r>
              <a:rPr lang="en-US" sz="2400" dirty="0">
                <a:latin typeface="Lucida Sans Typewriter" charset="0"/>
              </a:rPr>
              <a:t> :: (a </a:t>
            </a:r>
            <a:r>
              <a:rPr lang="en-US" sz="2400" dirty="0">
                <a:latin typeface="Lucida Sans Typewriter" charset="0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</a:rPr>
              <a:t> b </a:t>
            </a:r>
            <a:r>
              <a:rPr lang="en-US" sz="2400" dirty="0">
                <a:latin typeface="Lucida Sans Typewriter" charset="0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</a:rPr>
              <a:t> b) </a:t>
            </a:r>
            <a:r>
              <a:rPr lang="en-US" sz="2400" dirty="0">
                <a:latin typeface="Lucida Sans Typewriter" charset="0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</a:rPr>
              <a:t> b </a:t>
            </a:r>
            <a:r>
              <a:rPr lang="en-US" sz="2400" dirty="0">
                <a:latin typeface="Lucida Sans Typewriter" charset="0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</a:rPr>
              <a:t> [a] </a:t>
            </a:r>
            <a:r>
              <a:rPr lang="en-US" sz="2400" dirty="0">
                <a:latin typeface="Lucida Sans Typewriter" charset="0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</a:rPr>
              <a:t> b</a:t>
            </a:r>
          </a:p>
          <a:p>
            <a:pPr>
              <a:lnSpc>
                <a:spcPct val="160000"/>
              </a:lnSpc>
            </a:pPr>
            <a:r>
              <a:rPr lang="en-US" sz="2400" dirty="0" err="1">
                <a:latin typeface="Lucida Sans Typewriter" charset="0"/>
              </a:rPr>
              <a:t>foldr</a:t>
            </a:r>
            <a:r>
              <a:rPr lang="en-US" sz="2400" dirty="0">
                <a:latin typeface="Lucida Sans Typewriter" charset="0"/>
              </a:rPr>
              <a:t> f v []     = v</a:t>
            </a:r>
          </a:p>
          <a:p>
            <a:pPr>
              <a:lnSpc>
                <a:spcPct val="160000"/>
              </a:lnSpc>
            </a:pPr>
            <a:r>
              <a:rPr lang="en-US" sz="2400" dirty="0" err="1">
                <a:latin typeface="Lucida Sans Typewriter" charset="0"/>
              </a:rPr>
              <a:t>foldr</a:t>
            </a:r>
            <a:r>
              <a:rPr lang="en-US" sz="2400" dirty="0">
                <a:latin typeface="Lucida Sans Typewriter" charset="0"/>
              </a:rPr>
              <a:t> f v (</a:t>
            </a:r>
            <a:r>
              <a:rPr lang="en-US" sz="2400" dirty="0" err="1">
                <a:latin typeface="Lucida Sans Typewriter" charset="0"/>
              </a:rPr>
              <a:t>x:xs</a:t>
            </a:r>
            <a:r>
              <a:rPr lang="en-US" sz="2400" dirty="0">
                <a:latin typeface="Lucida Sans Typewriter" charset="0"/>
              </a:rPr>
              <a:t>) = f x (</a:t>
            </a:r>
            <a:r>
              <a:rPr lang="en-US" sz="2400" dirty="0" err="1">
                <a:latin typeface="Lucida Sans Typewriter" charset="0"/>
              </a:rPr>
              <a:t>foldr</a:t>
            </a:r>
            <a:r>
              <a:rPr lang="en-US" sz="2400" dirty="0">
                <a:latin typeface="Lucida Sans Typewriter" charset="0"/>
              </a:rPr>
              <a:t> f v </a:t>
            </a:r>
            <a:r>
              <a:rPr lang="en-US" sz="2400" dirty="0" err="1">
                <a:latin typeface="Lucida Sans Typewriter" charset="0"/>
              </a:rPr>
              <a:t>xs</a:t>
            </a:r>
            <a:r>
              <a:rPr lang="en-US" sz="2400" dirty="0">
                <a:latin typeface="Lucida Sans Typewriter" charset="0"/>
              </a:rPr>
              <a:t>)</a:t>
            </a:r>
            <a:endParaRPr lang="en-US" sz="2400" dirty="0">
              <a:latin typeface="Lucida Sans Typewriter" charset="0"/>
              <a:sym typeface="Symbol" charset="0"/>
            </a:endParaRPr>
          </a:p>
        </p:txBody>
      </p:sp>
      <p:sp>
        <p:nvSpPr>
          <p:cNvPr id="25604" name="Text Box 6"/>
          <p:cNvSpPr txBox="1">
            <a:spLocks noChangeArrowheads="1"/>
          </p:cNvSpPr>
          <p:nvPr/>
        </p:nvSpPr>
        <p:spPr bwMode="auto">
          <a:xfrm>
            <a:off x="1294606" y="5058470"/>
            <a:ext cx="8313737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However, it is best to think of </a:t>
            </a:r>
            <a:r>
              <a:rPr lang="en-US" dirty="0" err="1"/>
              <a:t>foldr</a:t>
            </a:r>
            <a:r>
              <a:rPr lang="en-US" dirty="0"/>
              <a:t> </a:t>
            </a:r>
            <a:r>
              <a:rPr lang="en-US" u="sng" dirty="0"/>
              <a:t>non-recursively</a:t>
            </a:r>
            <a:r>
              <a:rPr lang="en-US" dirty="0"/>
              <a:t>, as simultaneously replacing each (:) in a list by a given function, and [] by a given value.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animBg="1"/>
      <p:bldP spid="2560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1E15B31E-D7A4-3B4D-8BFD-F40AEB2EFF40}" type="slidenum">
              <a:rPr lang="en-US" sz="1400"/>
              <a:pPr/>
              <a:t>11</a:t>
            </a:fld>
            <a:endParaRPr lang="en-US" sz="1400"/>
          </a:p>
        </p:txBody>
      </p:sp>
      <p:sp>
        <p:nvSpPr>
          <p:cNvPr id="26626" name="Text Box 4"/>
          <p:cNvSpPr txBox="1">
            <a:spLocks noChangeArrowheads="1"/>
          </p:cNvSpPr>
          <p:nvPr/>
        </p:nvSpPr>
        <p:spPr bwMode="auto">
          <a:xfrm>
            <a:off x="3179763" y="1601789"/>
            <a:ext cx="2209800" cy="420687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400">
                <a:latin typeface="Lucida Sans Typewriter" charset="0"/>
              </a:rPr>
              <a:t>sum [1,2,3]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640013" y="1922464"/>
            <a:ext cx="4222750" cy="898525"/>
            <a:chOff x="665" y="1949"/>
            <a:chExt cx="2660" cy="566"/>
          </a:xfrm>
        </p:grpSpPr>
        <p:sp>
          <p:nvSpPr>
            <p:cNvPr id="26639" name="Text Box 6"/>
            <p:cNvSpPr txBox="1">
              <a:spLocks noChangeArrowheads="1"/>
            </p:cNvSpPr>
            <p:nvPr/>
          </p:nvSpPr>
          <p:spPr bwMode="auto">
            <a:xfrm>
              <a:off x="1005" y="2250"/>
              <a:ext cx="2320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sz="2400" dirty="0" err="1">
                  <a:latin typeface="Lucida Sans Typewriter" charset="0"/>
                </a:rPr>
                <a:t>foldr</a:t>
              </a:r>
              <a:r>
                <a:rPr lang="en-US" sz="2400" dirty="0">
                  <a:latin typeface="Lucida Sans Typewriter" charset="0"/>
                </a:rPr>
                <a:t> (+) 0 [1,2,3]</a:t>
              </a:r>
            </a:p>
          </p:txBody>
        </p:sp>
        <p:sp>
          <p:nvSpPr>
            <p:cNvPr id="26640" name="Text Box 7"/>
            <p:cNvSpPr txBox="1">
              <a:spLocks noChangeArrowheads="1"/>
            </p:cNvSpPr>
            <p:nvPr/>
          </p:nvSpPr>
          <p:spPr bwMode="auto">
            <a:xfrm>
              <a:off x="665" y="1949"/>
              <a:ext cx="27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/>
              <a:r>
                <a:rPr lang="en-US"/>
                <a:t>=</a:t>
              </a: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2640013" y="2724150"/>
            <a:ext cx="5511800" cy="896938"/>
            <a:chOff x="665" y="2454"/>
            <a:chExt cx="3472" cy="565"/>
          </a:xfrm>
        </p:grpSpPr>
        <p:sp>
          <p:nvSpPr>
            <p:cNvPr id="26637" name="Text Box 9"/>
            <p:cNvSpPr txBox="1">
              <a:spLocks noChangeArrowheads="1"/>
            </p:cNvSpPr>
            <p:nvPr/>
          </p:nvSpPr>
          <p:spPr bwMode="auto">
            <a:xfrm>
              <a:off x="1005" y="2754"/>
              <a:ext cx="3132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sz="2400">
                  <a:latin typeface="Lucida Sans Typewriter" charset="0"/>
                </a:rPr>
                <a:t>foldr (+) 0 (1:(2:(3:[])))</a:t>
              </a:r>
            </a:p>
          </p:txBody>
        </p:sp>
        <p:sp>
          <p:nvSpPr>
            <p:cNvPr id="26638" name="Text Box 10"/>
            <p:cNvSpPr txBox="1">
              <a:spLocks noChangeArrowheads="1"/>
            </p:cNvSpPr>
            <p:nvPr/>
          </p:nvSpPr>
          <p:spPr bwMode="auto">
            <a:xfrm>
              <a:off x="665" y="2454"/>
              <a:ext cx="27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/>
              <a:r>
                <a:rPr lang="en-US"/>
                <a:t>=</a:t>
              </a:r>
            </a:p>
          </p:txBody>
        </p:sp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2640013" y="3527426"/>
            <a:ext cx="2749550" cy="892175"/>
            <a:chOff x="665" y="2960"/>
            <a:chExt cx="1732" cy="562"/>
          </a:xfrm>
        </p:grpSpPr>
        <p:sp>
          <p:nvSpPr>
            <p:cNvPr id="26635" name="Text Box 12"/>
            <p:cNvSpPr txBox="1">
              <a:spLocks noChangeArrowheads="1"/>
            </p:cNvSpPr>
            <p:nvPr/>
          </p:nvSpPr>
          <p:spPr bwMode="auto">
            <a:xfrm>
              <a:off x="1005" y="3257"/>
              <a:ext cx="1392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sz="2400">
                  <a:latin typeface="Lucida Sans Typewriter" charset="0"/>
                </a:rPr>
                <a:t>1+(2+(3+0))</a:t>
              </a:r>
            </a:p>
          </p:txBody>
        </p:sp>
        <p:sp>
          <p:nvSpPr>
            <p:cNvPr id="26636" name="Text Box 13"/>
            <p:cNvSpPr txBox="1">
              <a:spLocks noChangeArrowheads="1"/>
            </p:cNvSpPr>
            <p:nvPr/>
          </p:nvSpPr>
          <p:spPr bwMode="auto">
            <a:xfrm>
              <a:off x="665" y="2960"/>
              <a:ext cx="27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/>
              <a:r>
                <a:rPr lang="en-US"/>
                <a:t>=</a:t>
              </a:r>
            </a:p>
          </p:txBody>
        </p:sp>
      </p:grpSp>
      <p:grpSp>
        <p:nvGrpSpPr>
          <p:cNvPr id="5" name="Group 14"/>
          <p:cNvGrpSpPr>
            <a:grpSpLocks/>
          </p:cNvGrpSpPr>
          <p:nvPr/>
        </p:nvGrpSpPr>
        <p:grpSpPr bwMode="auto">
          <a:xfrm>
            <a:off x="2640013" y="4330700"/>
            <a:ext cx="908050" cy="889000"/>
            <a:chOff x="665" y="3466"/>
            <a:chExt cx="572" cy="560"/>
          </a:xfrm>
        </p:grpSpPr>
        <p:sp>
          <p:nvSpPr>
            <p:cNvPr id="26633" name="Text Box 15"/>
            <p:cNvSpPr txBox="1">
              <a:spLocks noChangeArrowheads="1"/>
            </p:cNvSpPr>
            <p:nvPr/>
          </p:nvSpPr>
          <p:spPr bwMode="auto">
            <a:xfrm>
              <a:off x="1005" y="3761"/>
              <a:ext cx="232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sz="2400">
                  <a:latin typeface="Lucida Sans Typewriter" charset="0"/>
                </a:rPr>
                <a:t>6</a:t>
              </a:r>
            </a:p>
          </p:txBody>
        </p:sp>
        <p:sp>
          <p:nvSpPr>
            <p:cNvPr id="26634" name="Text Box 16"/>
            <p:cNvSpPr txBox="1">
              <a:spLocks noChangeArrowheads="1"/>
            </p:cNvSpPr>
            <p:nvPr/>
          </p:nvSpPr>
          <p:spPr bwMode="auto">
            <a:xfrm>
              <a:off x="665" y="3466"/>
              <a:ext cx="27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/>
              <a:r>
                <a:rPr lang="en-US"/>
                <a:t>=</a:t>
              </a:r>
            </a:p>
          </p:txBody>
        </p:sp>
      </p:grpSp>
      <p:sp>
        <p:nvSpPr>
          <p:cNvPr id="26631" name="Text Box 19"/>
          <p:cNvSpPr txBox="1">
            <a:spLocks noChangeArrowheads="1"/>
          </p:cNvSpPr>
          <p:nvPr/>
        </p:nvSpPr>
        <p:spPr bwMode="auto">
          <a:xfrm>
            <a:off x="47625" y="798513"/>
            <a:ext cx="81041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For example:</a:t>
            </a:r>
          </a:p>
        </p:txBody>
      </p:sp>
      <p:sp>
        <p:nvSpPr>
          <p:cNvPr id="474132" name="AutoShape 20"/>
          <p:cNvSpPr>
            <a:spLocks noChangeArrowheads="1"/>
          </p:cNvSpPr>
          <p:nvPr/>
        </p:nvSpPr>
        <p:spPr bwMode="auto">
          <a:xfrm>
            <a:off x="6096000" y="5308169"/>
            <a:ext cx="3556000" cy="1055608"/>
          </a:xfrm>
          <a:prstGeom prst="wedgeRoundRectCallout">
            <a:avLst>
              <a:gd name="adj1" fmla="val -53544"/>
              <a:gd name="adj2" fmla="val -206513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dirty="0"/>
              <a:t>Replace each (:)</a:t>
            </a:r>
          </a:p>
          <a:p>
            <a:pPr algn="ctr"/>
            <a:r>
              <a:rPr lang="en-US" dirty="0"/>
              <a:t>by (+) and [] by 0.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74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4132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AA8CE1A5-8608-5D43-93FD-84A633074E5E}" type="slidenum">
              <a:rPr lang="en-US" sz="1400"/>
              <a:pPr/>
              <a:t>12</a:t>
            </a:fld>
            <a:endParaRPr lang="en-US" sz="1400"/>
          </a:p>
        </p:txBody>
      </p:sp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3179763" y="1601789"/>
            <a:ext cx="2946400" cy="420687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400">
                <a:latin typeface="Lucida Sans Typewriter" charset="0"/>
              </a:rPr>
              <a:t>product [1,2,3]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640013" y="1922464"/>
            <a:ext cx="4222750" cy="898525"/>
            <a:chOff x="665" y="1949"/>
            <a:chExt cx="2660" cy="566"/>
          </a:xfrm>
        </p:grpSpPr>
        <p:sp>
          <p:nvSpPr>
            <p:cNvPr id="27663" name="Text Box 4"/>
            <p:cNvSpPr txBox="1">
              <a:spLocks noChangeArrowheads="1"/>
            </p:cNvSpPr>
            <p:nvPr/>
          </p:nvSpPr>
          <p:spPr bwMode="auto">
            <a:xfrm>
              <a:off x="1005" y="2250"/>
              <a:ext cx="2320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sz="2400">
                  <a:latin typeface="Lucida Sans Typewriter" charset="0"/>
                </a:rPr>
                <a:t>foldr (*) 1 [1,2,3]</a:t>
              </a:r>
            </a:p>
          </p:txBody>
        </p:sp>
        <p:sp>
          <p:nvSpPr>
            <p:cNvPr id="27664" name="Text Box 5"/>
            <p:cNvSpPr txBox="1">
              <a:spLocks noChangeArrowheads="1"/>
            </p:cNvSpPr>
            <p:nvPr/>
          </p:nvSpPr>
          <p:spPr bwMode="auto">
            <a:xfrm>
              <a:off x="665" y="1949"/>
              <a:ext cx="27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/>
              <a:r>
                <a:rPr lang="en-US"/>
                <a:t>=</a:t>
              </a:r>
            </a:p>
          </p:txBody>
        </p:sp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2640013" y="2724150"/>
            <a:ext cx="5511800" cy="896938"/>
            <a:chOff x="665" y="2454"/>
            <a:chExt cx="3472" cy="565"/>
          </a:xfrm>
        </p:grpSpPr>
        <p:sp>
          <p:nvSpPr>
            <p:cNvPr id="27661" name="Text Box 7"/>
            <p:cNvSpPr txBox="1">
              <a:spLocks noChangeArrowheads="1"/>
            </p:cNvSpPr>
            <p:nvPr/>
          </p:nvSpPr>
          <p:spPr bwMode="auto">
            <a:xfrm>
              <a:off x="1005" y="2754"/>
              <a:ext cx="3132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sz="2400">
                  <a:latin typeface="Lucida Sans Typewriter" charset="0"/>
                </a:rPr>
                <a:t>foldr (*) 1 (1:(2:(3:[])))</a:t>
              </a:r>
            </a:p>
          </p:txBody>
        </p:sp>
        <p:sp>
          <p:nvSpPr>
            <p:cNvPr id="27662" name="Text Box 8"/>
            <p:cNvSpPr txBox="1">
              <a:spLocks noChangeArrowheads="1"/>
            </p:cNvSpPr>
            <p:nvPr/>
          </p:nvSpPr>
          <p:spPr bwMode="auto">
            <a:xfrm>
              <a:off x="665" y="2454"/>
              <a:ext cx="27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/>
              <a:r>
                <a:rPr lang="en-US"/>
                <a:t>=</a:t>
              </a:r>
            </a:p>
          </p:txBody>
        </p:sp>
      </p:grpSp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2640013" y="3527426"/>
            <a:ext cx="2749550" cy="892175"/>
            <a:chOff x="665" y="2960"/>
            <a:chExt cx="1732" cy="562"/>
          </a:xfrm>
        </p:grpSpPr>
        <p:sp>
          <p:nvSpPr>
            <p:cNvPr id="27659" name="Text Box 10"/>
            <p:cNvSpPr txBox="1">
              <a:spLocks noChangeArrowheads="1"/>
            </p:cNvSpPr>
            <p:nvPr/>
          </p:nvSpPr>
          <p:spPr bwMode="auto">
            <a:xfrm>
              <a:off x="1005" y="3257"/>
              <a:ext cx="1392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sz="2400">
                  <a:latin typeface="Lucida Sans Typewriter" charset="0"/>
                </a:rPr>
                <a:t>1*(2*(3*1))</a:t>
              </a:r>
            </a:p>
          </p:txBody>
        </p:sp>
        <p:sp>
          <p:nvSpPr>
            <p:cNvPr id="27660" name="Text Box 11"/>
            <p:cNvSpPr txBox="1">
              <a:spLocks noChangeArrowheads="1"/>
            </p:cNvSpPr>
            <p:nvPr/>
          </p:nvSpPr>
          <p:spPr bwMode="auto">
            <a:xfrm>
              <a:off x="665" y="2960"/>
              <a:ext cx="27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/>
              <a:r>
                <a:rPr lang="en-US"/>
                <a:t>=</a:t>
              </a:r>
            </a:p>
          </p:txBody>
        </p:sp>
      </p:grpSp>
      <p:grpSp>
        <p:nvGrpSpPr>
          <p:cNvPr id="5" name="Group 12"/>
          <p:cNvGrpSpPr>
            <a:grpSpLocks/>
          </p:cNvGrpSpPr>
          <p:nvPr/>
        </p:nvGrpSpPr>
        <p:grpSpPr bwMode="auto">
          <a:xfrm>
            <a:off x="2640013" y="4330700"/>
            <a:ext cx="908050" cy="889000"/>
            <a:chOff x="665" y="3466"/>
            <a:chExt cx="572" cy="560"/>
          </a:xfrm>
        </p:grpSpPr>
        <p:sp>
          <p:nvSpPr>
            <p:cNvPr id="27657" name="Text Box 13"/>
            <p:cNvSpPr txBox="1">
              <a:spLocks noChangeArrowheads="1"/>
            </p:cNvSpPr>
            <p:nvPr/>
          </p:nvSpPr>
          <p:spPr bwMode="auto">
            <a:xfrm>
              <a:off x="1005" y="3761"/>
              <a:ext cx="232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sz="2400">
                  <a:latin typeface="Lucida Sans Typewriter" charset="0"/>
                </a:rPr>
                <a:t>6</a:t>
              </a:r>
            </a:p>
          </p:txBody>
        </p:sp>
        <p:sp>
          <p:nvSpPr>
            <p:cNvPr id="27658" name="Text Box 14"/>
            <p:cNvSpPr txBox="1">
              <a:spLocks noChangeArrowheads="1"/>
            </p:cNvSpPr>
            <p:nvPr/>
          </p:nvSpPr>
          <p:spPr bwMode="auto">
            <a:xfrm>
              <a:off x="665" y="3466"/>
              <a:ext cx="27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/>
              <a:r>
                <a:rPr lang="en-US"/>
                <a:t>=</a:t>
              </a:r>
            </a:p>
          </p:txBody>
        </p:sp>
      </p:grpSp>
      <p:sp>
        <p:nvSpPr>
          <p:cNvPr id="27655" name="Text Box 15"/>
          <p:cNvSpPr txBox="1">
            <a:spLocks noChangeArrowheads="1"/>
          </p:cNvSpPr>
          <p:nvPr/>
        </p:nvSpPr>
        <p:spPr bwMode="auto">
          <a:xfrm>
            <a:off x="851189" y="711805"/>
            <a:ext cx="81041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For example:</a:t>
            </a:r>
          </a:p>
        </p:txBody>
      </p:sp>
      <p:sp>
        <p:nvSpPr>
          <p:cNvPr id="478224" name="AutoShape 16"/>
          <p:cNvSpPr>
            <a:spLocks noChangeArrowheads="1"/>
          </p:cNvSpPr>
          <p:nvPr/>
        </p:nvSpPr>
        <p:spPr bwMode="auto">
          <a:xfrm>
            <a:off x="5967413" y="5026859"/>
            <a:ext cx="3556000" cy="1055608"/>
          </a:xfrm>
          <a:prstGeom prst="wedgeRoundRectCallout">
            <a:avLst>
              <a:gd name="adj1" fmla="val -50038"/>
              <a:gd name="adj2" fmla="val -189451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dirty="0"/>
              <a:t>Replace each (:)</a:t>
            </a:r>
          </a:p>
          <a:p>
            <a:pPr algn="ctr"/>
            <a:r>
              <a:rPr lang="en-US" dirty="0"/>
              <a:t>by (*) and [] by 1.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78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8224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Black" charset="0"/>
              </a:rPr>
              <a:t>Other Foldr Examples</a:t>
            </a:r>
          </a:p>
        </p:txBody>
      </p:sp>
      <p:sp>
        <p:nvSpPr>
          <p:cNvPr id="28673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E76FABFE-F829-F34E-8C7D-C74D6D22864B}" type="slidenum">
              <a:rPr lang="en-US" sz="1400"/>
              <a:pPr/>
              <a:t>13</a:t>
            </a:fld>
            <a:endParaRPr lang="en-US" sz="1400"/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1857232" y="2098183"/>
            <a:ext cx="8099425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Even though </a:t>
            </a:r>
            <a:r>
              <a:rPr lang="en-US" b="1" dirty="0" err="1"/>
              <a:t>foldr</a:t>
            </a:r>
            <a:r>
              <a:rPr lang="en-US" dirty="0"/>
              <a:t> encapsulates a simple pattern of recursion, it can be used to define many more functions than might first be expected.</a:t>
            </a:r>
          </a:p>
          <a:p>
            <a:endParaRPr lang="en-US" dirty="0"/>
          </a:p>
          <a:p>
            <a:r>
              <a:rPr lang="en-US" dirty="0"/>
              <a:t>Recall the length function:</a:t>
            </a:r>
          </a:p>
        </p:txBody>
      </p:sp>
      <p:sp>
        <p:nvSpPr>
          <p:cNvPr id="28676" name="Text Box 4"/>
          <p:cNvSpPr txBox="1">
            <a:spLocks noChangeArrowheads="1"/>
          </p:cNvSpPr>
          <p:nvPr/>
        </p:nvSpPr>
        <p:spPr bwMode="auto">
          <a:xfrm>
            <a:off x="3144694" y="4824991"/>
            <a:ext cx="5524500" cy="151606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2400" dirty="0">
                <a:latin typeface="Lucida Sans Typewriter" charset="0"/>
              </a:rPr>
              <a:t>length :: [a] </a:t>
            </a:r>
            <a:r>
              <a:rPr lang="en-US" sz="2400" dirty="0">
                <a:latin typeface="Lucida Sans Typewriter" charset="0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</a:rPr>
              <a:t> Int</a:t>
            </a:r>
          </a:p>
          <a:p>
            <a:pPr>
              <a:lnSpc>
                <a:spcPct val="130000"/>
              </a:lnSpc>
            </a:pPr>
            <a:r>
              <a:rPr lang="en-US" sz="2400" dirty="0">
                <a:latin typeface="Lucida Sans Typewriter" charset="0"/>
              </a:rPr>
              <a:t>length []     = 0</a:t>
            </a:r>
          </a:p>
          <a:p>
            <a:pPr>
              <a:lnSpc>
                <a:spcPct val="130000"/>
              </a:lnSpc>
            </a:pPr>
            <a:r>
              <a:rPr lang="en-US" sz="2400" dirty="0">
                <a:latin typeface="Lucida Sans Typewriter" charset="0"/>
              </a:rPr>
              <a:t>length (_:</a:t>
            </a:r>
            <a:r>
              <a:rPr lang="en-US" sz="2400" dirty="0" err="1">
                <a:latin typeface="Lucida Sans Typewriter" charset="0"/>
              </a:rPr>
              <a:t>xs</a:t>
            </a:r>
            <a:r>
              <a:rPr lang="en-US" sz="2400" dirty="0">
                <a:latin typeface="Lucida Sans Typewriter" charset="0"/>
              </a:rPr>
              <a:t>) = 1 + length </a:t>
            </a:r>
            <a:r>
              <a:rPr lang="en-US" sz="2400" dirty="0" err="1">
                <a:latin typeface="Lucida Sans Typewriter" charset="0"/>
              </a:rPr>
              <a:t>xs</a:t>
            </a:r>
            <a:endParaRPr lang="en-US" sz="2400" dirty="0">
              <a:latin typeface="Lucida Sans Typewriter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E9C03AA9-71B9-4148-A459-C4FF4C90DA0F}" type="slidenum">
              <a:rPr lang="en-US" sz="1400"/>
              <a:pPr/>
              <a:t>14</a:t>
            </a:fld>
            <a:endParaRPr lang="en-US" sz="1400"/>
          </a:p>
        </p:txBody>
      </p:sp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3192463" y="1449389"/>
            <a:ext cx="2762250" cy="420687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400">
                <a:latin typeface="Lucida Sans Typewriter" charset="0"/>
              </a:rPr>
              <a:t>length [1,2,3]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652713" y="1770064"/>
            <a:ext cx="4591050" cy="898525"/>
            <a:chOff x="665" y="1949"/>
            <a:chExt cx="2892" cy="566"/>
          </a:xfrm>
        </p:grpSpPr>
        <p:sp>
          <p:nvSpPr>
            <p:cNvPr id="29711" name="Text Box 4"/>
            <p:cNvSpPr txBox="1">
              <a:spLocks noChangeArrowheads="1"/>
            </p:cNvSpPr>
            <p:nvPr/>
          </p:nvSpPr>
          <p:spPr bwMode="auto">
            <a:xfrm>
              <a:off x="1005" y="2250"/>
              <a:ext cx="2552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sz="2400">
                  <a:latin typeface="Lucida Sans Typewriter" charset="0"/>
                </a:rPr>
                <a:t>length (1:(2:(3:[])))</a:t>
              </a:r>
            </a:p>
          </p:txBody>
        </p:sp>
        <p:sp>
          <p:nvSpPr>
            <p:cNvPr id="29712" name="Text Box 5"/>
            <p:cNvSpPr txBox="1">
              <a:spLocks noChangeArrowheads="1"/>
            </p:cNvSpPr>
            <p:nvPr/>
          </p:nvSpPr>
          <p:spPr bwMode="auto">
            <a:xfrm>
              <a:off x="665" y="1949"/>
              <a:ext cx="27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/>
              <a:r>
                <a:rPr lang="en-US"/>
                <a:t>=</a:t>
              </a:r>
            </a:p>
          </p:txBody>
        </p:sp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2652713" y="2571750"/>
            <a:ext cx="2749550" cy="896938"/>
            <a:chOff x="665" y="2454"/>
            <a:chExt cx="1732" cy="565"/>
          </a:xfrm>
        </p:grpSpPr>
        <p:sp>
          <p:nvSpPr>
            <p:cNvPr id="29709" name="Text Box 7"/>
            <p:cNvSpPr txBox="1">
              <a:spLocks noChangeArrowheads="1"/>
            </p:cNvSpPr>
            <p:nvPr/>
          </p:nvSpPr>
          <p:spPr bwMode="auto">
            <a:xfrm>
              <a:off x="1005" y="2754"/>
              <a:ext cx="1392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sz="2400">
                  <a:latin typeface="Lucida Sans Typewriter" charset="0"/>
                </a:rPr>
                <a:t>1+(1+(1+0))</a:t>
              </a:r>
            </a:p>
          </p:txBody>
        </p:sp>
        <p:sp>
          <p:nvSpPr>
            <p:cNvPr id="29710" name="Text Box 8"/>
            <p:cNvSpPr txBox="1">
              <a:spLocks noChangeArrowheads="1"/>
            </p:cNvSpPr>
            <p:nvPr/>
          </p:nvSpPr>
          <p:spPr bwMode="auto">
            <a:xfrm>
              <a:off x="665" y="2454"/>
              <a:ext cx="27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/>
              <a:r>
                <a:rPr lang="en-US"/>
                <a:t>=</a:t>
              </a:r>
            </a:p>
          </p:txBody>
        </p:sp>
      </p:grpSp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2652713" y="3375026"/>
            <a:ext cx="908050" cy="892175"/>
            <a:chOff x="665" y="2960"/>
            <a:chExt cx="572" cy="562"/>
          </a:xfrm>
        </p:grpSpPr>
        <p:sp>
          <p:nvSpPr>
            <p:cNvPr id="29707" name="Text Box 10"/>
            <p:cNvSpPr txBox="1">
              <a:spLocks noChangeArrowheads="1"/>
            </p:cNvSpPr>
            <p:nvPr/>
          </p:nvSpPr>
          <p:spPr bwMode="auto">
            <a:xfrm>
              <a:off x="1005" y="3257"/>
              <a:ext cx="232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sz="2400">
                  <a:latin typeface="Lucida Sans Typewriter" charset="0"/>
                </a:rPr>
                <a:t>3</a:t>
              </a:r>
            </a:p>
          </p:txBody>
        </p:sp>
        <p:sp>
          <p:nvSpPr>
            <p:cNvPr id="29708" name="Text Box 11"/>
            <p:cNvSpPr txBox="1">
              <a:spLocks noChangeArrowheads="1"/>
            </p:cNvSpPr>
            <p:nvPr/>
          </p:nvSpPr>
          <p:spPr bwMode="auto">
            <a:xfrm>
              <a:off x="665" y="2960"/>
              <a:ext cx="27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/>
              <a:r>
                <a:rPr lang="en-US"/>
                <a:t>=</a:t>
              </a:r>
            </a:p>
          </p:txBody>
        </p:sp>
      </p:grp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1901825" y="4794251"/>
            <a:ext cx="6921500" cy="1470025"/>
            <a:chOff x="238" y="3020"/>
            <a:chExt cx="4360" cy="926"/>
          </a:xfrm>
        </p:grpSpPr>
        <p:sp>
          <p:nvSpPr>
            <p:cNvPr id="29705" name="Text Box 16"/>
            <p:cNvSpPr txBox="1">
              <a:spLocks noChangeArrowheads="1"/>
            </p:cNvSpPr>
            <p:nvPr/>
          </p:nvSpPr>
          <p:spPr bwMode="auto">
            <a:xfrm>
              <a:off x="238" y="3020"/>
              <a:ext cx="177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en-US"/>
                <a:t>Hence, we have:</a:t>
              </a:r>
            </a:p>
          </p:txBody>
        </p:sp>
        <p:sp>
          <p:nvSpPr>
            <p:cNvPr id="29706" name="Text Box 17"/>
            <p:cNvSpPr txBox="1">
              <a:spLocks noChangeArrowheads="1"/>
            </p:cNvSpPr>
            <p:nvPr/>
          </p:nvSpPr>
          <p:spPr bwMode="auto">
            <a:xfrm>
              <a:off x="1056" y="3658"/>
              <a:ext cx="3542" cy="2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r>
                <a:rPr lang="en-US" sz="2400">
                  <a:latin typeface="Lucida Sans Typewriter" charset="0"/>
                </a:rPr>
                <a:t>length = foldr (</a:t>
              </a:r>
              <a:r>
                <a:rPr lang="en-US" sz="2400">
                  <a:latin typeface="Lucida Sans Typewriter" charset="0"/>
                  <a:sym typeface="Symbol" charset="0"/>
                </a:rPr>
                <a:t></a:t>
              </a:r>
              <a:r>
                <a:rPr lang="en-US" sz="2400">
                  <a:latin typeface="Lucida Sans Typewriter" charset="0"/>
                </a:rPr>
                <a:t>_ n </a:t>
              </a:r>
              <a:r>
                <a:rPr lang="en-US" sz="2400">
                  <a:latin typeface="Lucida Sans Typewriter" charset="0"/>
                  <a:sym typeface="Symbol" charset="0"/>
                </a:rPr>
                <a:t></a:t>
              </a:r>
              <a:r>
                <a:rPr lang="en-US" sz="2400">
                  <a:latin typeface="Lucida Sans Typewriter" charset="0"/>
                </a:rPr>
                <a:t> 1+n) 0</a:t>
              </a:r>
            </a:p>
          </p:txBody>
        </p:sp>
      </p:grpSp>
      <p:sp>
        <p:nvSpPr>
          <p:cNvPr id="368658" name="AutoShape 18"/>
          <p:cNvSpPr>
            <a:spLocks noChangeArrowheads="1"/>
          </p:cNvSpPr>
          <p:nvPr/>
        </p:nvSpPr>
        <p:spPr bwMode="auto">
          <a:xfrm>
            <a:off x="6121400" y="4107299"/>
            <a:ext cx="3049588" cy="715089"/>
          </a:xfrm>
          <a:prstGeom prst="wedgeRoundRectCallout">
            <a:avLst>
              <a:gd name="adj1" fmla="val -67581"/>
              <a:gd name="adj2" fmla="val -258681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dirty="0"/>
              <a:t>Replace each (:) by </a:t>
            </a:r>
            <a:r>
              <a:rPr lang="en-US" dirty="0">
                <a:sym typeface="Symbol" charset="0"/>
              </a:rPr>
              <a:t></a:t>
            </a:r>
            <a:r>
              <a:rPr lang="en-US" dirty="0"/>
              <a:t>_ n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1+n and [] by 0.</a:t>
            </a:r>
          </a:p>
        </p:txBody>
      </p:sp>
      <p:sp>
        <p:nvSpPr>
          <p:cNvPr id="29704" name="Text Box 20"/>
          <p:cNvSpPr txBox="1">
            <a:spLocks noChangeArrowheads="1"/>
          </p:cNvSpPr>
          <p:nvPr/>
        </p:nvSpPr>
        <p:spPr bwMode="auto">
          <a:xfrm>
            <a:off x="1901825" y="358776"/>
            <a:ext cx="22431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For example: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68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58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D043929B-28EC-1647-8C0D-A4770C63E8A1}" type="slidenum">
              <a:rPr lang="en-US" sz="1400"/>
              <a:pPr/>
              <a:t>15</a:t>
            </a:fld>
            <a:endParaRPr lang="en-US" sz="1400"/>
          </a:p>
        </p:txBody>
      </p:sp>
      <p:sp>
        <p:nvSpPr>
          <p:cNvPr id="31746" name="Text Box 2"/>
          <p:cNvSpPr txBox="1">
            <a:spLocks noChangeArrowheads="1"/>
          </p:cNvSpPr>
          <p:nvPr/>
        </p:nvSpPr>
        <p:spPr bwMode="auto">
          <a:xfrm>
            <a:off x="123825" y="694031"/>
            <a:ext cx="81978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Now recall the reverse function:</a:t>
            </a:r>
          </a:p>
        </p:txBody>
      </p:sp>
      <p:sp>
        <p:nvSpPr>
          <p:cNvPr id="31747" name="Text Box 3"/>
          <p:cNvSpPr txBox="1">
            <a:spLocks noChangeArrowheads="1"/>
          </p:cNvSpPr>
          <p:nvPr/>
        </p:nvSpPr>
        <p:spPr bwMode="auto">
          <a:xfrm>
            <a:off x="1876425" y="1974274"/>
            <a:ext cx="6445250" cy="96837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reverse []     = []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reverse (</a:t>
            </a:r>
            <a:r>
              <a:rPr lang="en-US" sz="2400" dirty="0" err="1">
                <a:latin typeface="Lucida Sans Typewriter" charset="0"/>
              </a:rPr>
              <a:t>x:xs</a:t>
            </a:r>
            <a:r>
              <a:rPr lang="en-US" sz="2400" dirty="0">
                <a:latin typeface="Lucida Sans Typewriter" charset="0"/>
              </a:rPr>
              <a:t>) = reverse </a:t>
            </a:r>
            <a:r>
              <a:rPr lang="en-US" sz="2400" dirty="0" err="1">
                <a:latin typeface="Lucida Sans Typewriter" charset="0"/>
              </a:rPr>
              <a:t>xs</a:t>
            </a:r>
            <a:r>
              <a:rPr lang="en-US" sz="2400" dirty="0">
                <a:latin typeface="Lucida Sans Typewriter" charset="0"/>
              </a:rPr>
              <a:t> ++ [x]</a:t>
            </a:r>
          </a:p>
        </p:txBody>
      </p:sp>
      <p:sp>
        <p:nvSpPr>
          <p:cNvPr id="31748" name="Text Box 4"/>
          <p:cNvSpPr txBox="1">
            <a:spLocks noChangeArrowheads="1"/>
          </p:cNvSpPr>
          <p:nvPr/>
        </p:nvSpPr>
        <p:spPr bwMode="auto">
          <a:xfrm>
            <a:off x="2749550" y="3530600"/>
            <a:ext cx="2946400" cy="4206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400">
                <a:latin typeface="Lucida Sans Typewriter" charset="0"/>
              </a:rPr>
              <a:t>reverse [1,2,3]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209800" y="3851276"/>
            <a:ext cx="4775200" cy="898525"/>
            <a:chOff x="665" y="1949"/>
            <a:chExt cx="3008" cy="566"/>
          </a:xfrm>
        </p:grpSpPr>
        <p:sp>
          <p:nvSpPr>
            <p:cNvPr id="31758" name="Text Box 6"/>
            <p:cNvSpPr txBox="1">
              <a:spLocks noChangeArrowheads="1"/>
            </p:cNvSpPr>
            <p:nvPr/>
          </p:nvSpPr>
          <p:spPr bwMode="auto">
            <a:xfrm>
              <a:off x="1005" y="2250"/>
              <a:ext cx="2668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sz="2400">
                  <a:latin typeface="Lucida Sans Typewriter" charset="0"/>
                </a:rPr>
                <a:t>reverse (1:(2:(3:[])))</a:t>
              </a:r>
            </a:p>
          </p:txBody>
        </p:sp>
        <p:sp>
          <p:nvSpPr>
            <p:cNvPr id="31759" name="Text Box 7"/>
            <p:cNvSpPr txBox="1">
              <a:spLocks noChangeArrowheads="1"/>
            </p:cNvSpPr>
            <p:nvPr/>
          </p:nvSpPr>
          <p:spPr bwMode="auto">
            <a:xfrm>
              <a:off x="665" y="1949"/>
              <a:ext cx="27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/>
              <a:r>
                <a:rPr lang="en-US"/>
                <a:t>=</a:t>
              </a: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2209800" y="4652964"/>
            <a:ext cx="5695950" cy="896937"/>
            <a:chOff x="665" y="2454"/>
            <a:chExt cx="3588" cy="565"/>
          </a:xfrm>
        </p:grpSpPr>
        <p:sp>
          <p:nvSpPr>
            <p:cNvPr id="31756" name="Text Box 9"/>
            <p:cNvSpPr txBox="1">
              <a:spLocks noChangeArrowheads="1"/>
            </p:cNvSpPr>
            <p:nvPr/>
          </p:nvSpPr>
          <p:spPr bwMode="auto">
            <a:xfrm>
              <a:off x="1005" y="2754"/>
              <a:ext cx="3248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sz="2400">
                  <a:latin typeface="Lucida Sans Typewriter" charset="0"/>
                </a:rPr>
                <a:t>(([] ++ [3]) ++ [2]) ++ [1]</a:t>
              </a:r>
            </a:p>
          </p:txBody>
        </p:sp>
        <p:sp>
          <p:nvSpPr>
            <p:cNvPr id="31757" name="Text Box 10"/>
            <p:cNvSpPr txBox="1">
              <a:spLocks noChangeArrowheads="1"/>
            </p:cNvSpPr>
            <p:nvPr/>
          </p:nvSpPr>
          <p:spPr bwMode="auto">
            <a:xfrm>
              <a:off x="665" y="2454"/>
              <a:ext cx="27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/>
              <a:r>
                <a:rPr lang="en-US"/>
                <a:t>=</a:t>
              </a:r>
            </a:p>
          </p:txBody>
        </p:sp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2209800" y="5456239"/>
            <a:ext cx="2012950" cy="892175"/>
            <a:chOff x="665" y="2960"/>
            <a:chExt cx="1268" cy="562"/>
          </a:xfrm>
        </p:grpSpPr>
        <p:sp>
          <p:nvSpPr>
            <p:cNvPr id="31754" name="Text Box 12"/>
            <p:cNvSpPr txBox="1">
              <a:spLocks noChangeArrowheads="1"/>
            </p:cNvSpPr>
            <p:nvPr/>
          </p:nvSpPr>
          <p:spPr bwMode="auto">
            <a:xfrm>
              <a:off x="1005" y="3257"/>
              <a:ext cx="928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sz="2400">
                  <a:latin typeface="Lucida Sans Typewriter" charset="0"/>
                </a:rPr>
                <a:t>[3,2,1]</a:t>
              </a:r>
            </a:p>
          </p:txBody>
        </p:sp>
        <p:sp>
          <p:nvSpPr>
            <p:cNvPr id="31755" name="Text Box 13"/>
            <p:cNvSpPr txBox="1">
              <a:spLocks noChangeArrowheads="1"/>
            </p:cNvSpPr>
            <p:nvPr/>
          </p:nvSpPr>
          <p:spPr bwMode="auto">
            <a:xfrm>
              <a:off x="665" y="2960"/>
              <a:ext cx="27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/>
              <a:r>
                <a:rPr lang="en-US"/>
                <a:t>=</a:t>
              </a:r>
            </a:p>
          </p:txBody>
        </p:sp>
      </p:grpSp>
      <p:sp>
        <p:nvSpPr>
          <p:cNvPr id="31752" name="Text Box 14"/>
          <p:cNvSpPr txBox="1">
            <a:spLocks noChangeArrowheads="1"/>
          </p:cNvSpPr>
          <p:nvPr/>
        </p:nvSpPr>
        <p:spPr bwMode="auto">
          <a:xfrm>
            <a:off x="123825" y="3438525"/>
            <a:ext cx="22431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For example:</a:t>
            </a:r>
          </a:p>
        </p:txBody>
      </p:sp>
      <p:sp>
        <p:nvSpPr>
          <p:cNvPr id="491538" name="AutoShape 18"/>
          <p:cNvSpPr>
            <a:spLocks noChangeArrowheads="1"/>
          </p:cNvSpPr>
          <p:nvPr/>
        </p:nvSpPr>
        <p:spPr bwMode="auto">
          <a:xfrm>
            <a:off x="8321675" y="3324941"/>
            <a:ext cx="3036888" cy="1328023"/>
          </a:xfrm>
          <a:prstGeom prst="wedgeRoundRectCallout">
            <a:avLst>
              <a:gd name="adj1" fmla="val -129683"/>
              <a:gd name="adj2" fmla="val 42986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sz="2400" dirty="0"/>
              <a:t>Replace each (:) by </a:t>
            </a:r>
            <a:r>
              <a:rPr lang="en-US" sz="2400" dirty="0">
                <a:sym typeface="Symbol" charset="0"/>
              </a:rPr>
              <a:t></a:t>
            </a:r>
            <a:r>
              <a:rPr lang="en-US" sz="2400" dirty="0"/>
              <a:t>x </a:t>
            </a:r>
            <a:r>
              <a:rPr lang="en-US" sz="2400" dirty="0" err="1"/>
              <a:t>xs</a:t>
            </a:r>
            <a:r>
              <a:rPr lang="en-US" sz="2400" dirty="0"/>
              <a:t> </a:t>
            </a:r>
            <a:r>
              <a:rPr lang="en-US" sz="2400" dirty="0">
                <a:latin typeface="Lucida Sans Typewriter" charset="0"/>
                <a:sym typeface="Symbol" charset="0"/>
              </a:rPr>
              <a:t></a:t>
            </a:r>
            <a:r>
              <a:rPr lang="en-US" sz="2400" dirty="0"/>
              <a:t> </a:t>
            </a:r>
            <a:r>
              <a:rPr lang="en-US" sz="2400" dirty="0" err="1"/>
              <a:t>xs</a:t>
            </a:r>
            <a:r>
              <a:rPr lang="en-US" sz="2400" dirty="0"/>
              <a:t> </a:t>
            </a:r>
            <a:r>
              <a:rPr lang="en-US" sz="2400" dirty="0">
                <a:latin typeface="Lucida Sans Typewriter" charset="0"/>
              </a:rPr>
              <a:t>++</a:t>
            </a:r>
            <a:r>
              <a:rPr lang="en-US" sz="2400" dirty="0"/>
              <a:t> [x] and [] by [].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91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38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3EBB9-7289-2E09-65B1-50E9E8945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575" y="666551"/>
            <a:ext cx="9613861" cy="1080938"/>
          </a:xfrm>
        </p:spPr>
        <p:txBody>
          <a:bodyPr/>
          <a:lstStyle/>
          <a:p>
            <a:r>
              <a:rPr lang="en-US" dirty="0"/>
              <a:t>reverse function</a:t>
            </a:r>
          </a:p>
        </p:txBody>
      </p:sp>
      <p:sp>
        <p:nvSpPr>
          <p:cNvPr id="32769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646CDEAF-32EA-3446-9667-9784F1EEF266}" type="slidenum">
              <a:rPr lang="en-US" sz="1400"/>
              <a:pPr/>
              <a:t>16</a:t>
            </a:fld>
            <a:endParaRPr lang="en-US" sz="1400"/>
          </a:p>
        </p:txBody>
      </p:sp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169575" y="1824831"/>
            <a:ext cx="28178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Hence, we have:</a:t>
            </a:r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1793911" y="2508975"/>
            <a:ext cx="7350089" cy="463717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reverse = </a:t>
            </a:r>
            <a:r>
              <a:rPr lang="en-US" sz="2400" dirty="0" err="1">
                <a:latin typeface="Lucida Sans Typewriter" charset="0"/>
              </a:rPr>
              <a:t>foldr</a:t>
            </a:r>
            <a:r>
              <a:rPr lang="en-US" sz="2400" dirty="0">
                <a:latin typeface="Lucida Sans Typewriter" charset="0"/>
              </a:rPr>
              <a:t> (</a:t>
            </a:r>
            <a:r>
              <a:rPr lang="en-US" sz="2400" dirty="0">
                <a:latin typeface="Lucida Sans Typewriter" charset="0"/>
                <a:sym typeface="Symbol" charset="0"/>
              </a:rPr>
              <a:t></a:t>
            </a:r>
            <a:r>
              <a:rPr lang="en-US" sz="2400" dirty="0">
                <a:latin typeface="Lucida Sans Typewriter" charset="0"/>
              </a:rPr>
              <a:t>x </a:t>
            </a:r>
            <a:r>
              <a:rPr lang="en-US" sz="2400" dirty="0" err="1">
                <a:latin typeface="Lucida Sans Typewriter" charset="0"/>
              </a:rPr>
              <a:t>xs</a:t>
            </a:r>
            <a:r>
              <a:rPr lang="en-US" sz="2400" dirty="0">
                <a:latin typeface="Lucida Sans Typewriter" charset="0"/>
              </a:rPr>
              <a:t> </a:t>
            </a:r>
            <a:r>
              <a:rPr lang="en-US" sz="2400" dirty="0">
                <a:latin typeface="Lucida Sans Typewriter" charset="0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</a:rPr>
              <a:t> </a:t>
            </a:r>
            <a:r>
              <a:rPr lang="en-US" sz="2400" dirty="0" err="1">
                <a:latin typeface="Lucida Sans Typewriter" charset="0"/>
              </a:rPr>
              <a:t>xs</a:t>
            </a:r>
            <a:r>
              <a:rPr lang="en-US" sz="2400" dirty="0">
                <a:latin typeface="Lucida Sans Typewriter" charset="0"/>
              </a:rPr>
              <a:t> ++ [x]) []</a:t>
            </a:r>
          </a:p>
        </p:txBody>
      </p:sp>
      <p:sp>
        <p:nvSpPr>
          <p:cNvPr id="32772" name="Text Box 4"/>
          <p:cNvSpPr txBox="1">
            <a:spLocks noChangeArrowheads="1"/>
          </p:cNvSpPr>
          <p:nvPr/>
        </p:nvSpPr>
        <p:spPr bwMode="auto">
          <a:xfrm>
            <a:off x="1887539" y="3219450"/>
            <a:ext cx="84740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Finally, we note that the append function (</a:t>
            </a:r>
            <a:r>
              <a:rPr lang="en-US">
                <a:latin typeface="Lucida Sans Typewriter" charset="0"/>
              </a:rPr>
              <a:t>++</a:t>
            </a:r>
            <a:r>
              <a:rPr lang="en-US"/>
              <a:t>) has a particularly compact definition using foldr:</a:t>
            </a:r>
          </a:p>
        </p:txBody>
      </p:sp>
      <p:sp>
        <p:nvSpPr>
          <p:cNvPr id="32773" name="Text Box 6"/>
          <p:cNvSpPr txBox="1">
            <a:spLocks noChangeArrowheads="1"/>
          </p:cNvSpPr>
          <p:nvPr/>
        </p:nvSpPr>
        <p:spPr bwMode="auto">
          <a:xfrm>
            <a:off x="2668588" y="5053013"/>
            <a:ext cx="423545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2400">
                <a:latin typeface="Lucida Sans Typewriter" charset="0"/>
              </a:rPr>
              <a:t>(++ ys) = foldr (:) ys</a:t>
            </a:r>
          </a:p>
        </p:txBody>
      </p:sp>
      <p:sp>
        <p:nvSpPr>
          <p:cNvPr id="32774" name="AutoShape 7"/>
          <p:cNvSpPr>
            <a:spLocks noChangeArrowheads="1"/>
          </p:cNvSpPr>
          <p:nvPr/>
        </p:nvSpPr>
        <p:spPr bwMode="auto">
          <a:xfrm>
            <a:off x="7726363" y="4659115"/>
            <a:ext cx="2455862" cy="1532334"/>
          </a:xfrm>
          <a:prstGeom prst="wedgeRoundRectCallout">
            <a:avLst>
              <a:gd name="adj1" fmla="val -72301"/>
              <a:gd name="adj2" fmla="val -10940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dirty="0"/>
              <a:t>Replace each (:) by </a:t>
            </a:r>
            <a:r>
              <a:rPr lang="en-US" dirty="0">
                <a:sym typeface="Symbol" charset="0"/>
              </a:rPr>
              <a:t>(:)</a:t>
            </a:r>
            <a:r>
              <a:rPr lang="en-US" dirty="0"/>
              <a:t> and [] by </a:t>
            </a:r>
            <a:r>
              <a:rPr lang="en-US" dirty="0" err="1"/>
              <a:t>ys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2000"/>
          </a:schemeClr>
        </a:solidFill>
        <a:effectLst>
          <a:outerShdw blurRad="63500" dist="107763" dir="2700000" algn="ctr" rotWithShape="0">
            <a:srgbClr val="000000">
              <a:alpha val="74998"/>
            </a:srgbClr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646CDEAF-32EA-3446-9667-9784F1EEF266}" type="slidenum">
              <a:rPr lang="en-US" sz="1400"/>
              <a:pPr/>
              <a:t>17</a:t>
            </a:fld>
            <a:endParaRPr lang="en-US" sz="14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300" y="1295400"/>
            <a:ext cx="7378700" cy="4254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95775" y="5743575"/>
            <a:ext cx="37147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What </a:t>
            </a:r>
            <a:r>
              <a:rPr lang="en-US" sz="2400" dirty="0" err="1"/>
              <a:t>foldr</a:t>
            </a:r>
            <a:r>
              <a:rPr lang="en-US" sz="2400" dirty="0"/>
              <a:t> does</a:t>
            </a:r>
          </a:p>
        </p:txBody>
      </p:sp>
    </p:spTree>
    <p:extLst>
      <p:ext uri="{BB962C8B-B14F-4D97-AF65-F5344CB8AC3E}">
        <p14:creationId xmlns:p14="http://schemas.microsoft.com/office/powerpoint/2010/main" val="11532148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Black" charset="0"/>
              </a:rPr>
              <a:t>Why Is Foldr Useful?</a:t>
            </a:r>
          </a:p>
        </p:txBody>
      </p:sp>
      <p:sp>
        <p:nvSpPr>
          <p:cNvPr id="33793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1EFA7D73-CF66-4A4E-B7CF-6880DE1F22DE}" type="slidenum">
              <a:rPr lang="en-US" sz="1400"/>
              <a:pPr/>
              <a:t>18</a:t>
            </a:fld>
            <a:endParaRPr lang="en-US" sz="1400"/>
          </a:p>
        </p:txBody>
      </p:sp>
      <p:sp>
        <p:nvSpPr>
          <p:cNvPr id="33795" name="Rectangle 3"/>
          <p:cNvSpPr>
            <a:spLocks noChangeArrowheads="1"/>
          </p:cNvSpPr>
          <p:nvPr/>
        </p:nvSpPr>
        <p:spPr bwMode="auto">
          <a:xfrm>
            <a:off x="1592911" y="2274743"/>
            <a:ext cx="8202613" cy="428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kumimoji="1" lang="en-US" sz="2800" dirty="0"/>
              <a:t>Some recursive functions on lists, such as sum, are </a:t>
            </a:r>
            <a:r>
              <a:rPr kumimoji="1" lang="en-US" sz="2800" u="sng" dirty="0"/>
              <a:t>simpler</a:t>
            </a:r>
            <a:r>
              <a:rPr kumimoji="1" lang="en-US" sz="2800" dirty="0"/>
              <a:t> to define using </a:t>
            </a:r>
            <a:r>
              <a:rPr kumimoji="1" lang="en-US" sz="2800" dirty="0" err="1"/>
              <a:t>foldr</a:t>
            </a:r>
            <a:r>
              <a:rPr kumimoji="1" lang="en-US" sz="2800" dirty="0"/>
              <a:t>.</a:t>
            </a:r>
          </a:p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endParaRPr kumimoji="1" lang="en-US" sz="2800" dirty="0"/>
          </a:p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kumimoji="1" lang="en-US" sz="2800" dirty="0"/>
              <a:t>Advanced program </a:t>
            </a:r>
            <a:r>
              <a:rPr kumimoji="1" lang="en-US" sz="2800" u="sng" dirty="0" err="1"/>
              <a:t>optimisations</a:t>
            </a:r>
            <a:r>
              <a:rPr kumimoji="1" lang="en-US" sz="2800" dirty="0"/>
              <a:t> can be simpler if </a:t>
            </a:r>
            <a:r>
              <a:rPr kumimoji="1" lang="en-US" sz="2800" dirty="0" err="1"/>
              <a:t>foldr</a:t>
            </a:r>
            <a:r>
              <a:rPr kumimoji="1" lang="en-US" sz="2800" dirty="0"/>
              <a:t> is used in place of explicit recursion.</a:t>
            </a:r>
          </a:p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endParaRPr kumimoji="1" lang="en-US" sz="2800" dirty="0"/>
          </a:p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kumimoji="1" lang="en-US" sz="2800" dirty="0" err="1"/>
              <a:t>foldr</a:t>
            </a:r>
            <a:r>
              <a:rPr kumimoji="1" lang="en-US" sz="2800" dirty="0"/>
              <a:t> is a very big part of the language of and around Haskell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Black" charset="0"/>
              </a:rPr>
              <a:t>Other Library Functions</a:t>
            </a:r>
          </a:p>
        </p:txBody>
      </p:sp>
      <p:sp>
        <p:nvSpPr>
          <p:cNvPr id="34817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2E587D2C-76AB-C642-8F66-2B103E433CB0}" type="slidenum">
              <a:rPr lang="en-US" sz="1400"/>
              <a:pPr/>
              <a:t>19</a:t>
            </a:fld>
            <a:endParaRPr lang="en-US" sz="1400"/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1921669" y="1971098"/>
            <a:ext cx="834866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The library function (.) returns the </a:t>
            </a:r>
            <a:r>
              <a:rPr lang="en-US" u="sng" dirty="0"/>
              <a:t>composition</a:t>
            </a:r>
            <a:r>
              <a:rPr lang="en-US" dirty="0"/>
              <a:t> of two functions as a single function.</a:t>
            </a:r>
          </a:p>
        </p:txBody>
      </p:sp>
      <p:sp>
        <p:nvSpPr>
          <p:cNvPr id="34820" name="Text Box 4"/>
          <p:cNvSpPr txBox="1">
            <a:spLocks noChangeArrowheads="1"/>
          </p:cNvSpPr>
          <p:nvPr/>
        </p:nvSpPr>
        <p:spPr bwMode="auto">
          <a:xfrm>
            <a:off x="2661445" y="3366511"/>
            <a:ext cx="7081837" cy="965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(.) :: (b </a:t>
            </a:r>
            <a:r>
              <a:rPr lang="en-US" sz="2400" dirty="0">
                <a:latin typeface="Lucida Sans Typewriter" charset="0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</a:rPr>
              <a:t> c) </a:t>
            </a:r>
            <a:r>
              <a:rPr lang="en-US" sz="2400" dirty="0">
                <a:latin typeface="Lucida Sans Typewriter" charset="0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</a:rPr>
              <a:t> (a </a:t>
            </a:r>
            <a:r>
              <a:rPr lang="en-US" sz="2400" dirty="0">
                <a:latin typeface="Lucida Sans Typewriter" charset="0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</a:rPr>
              <a:t> b) </a:t>
            </a:r>
            <a:r>
              <a:rPr lang="en-US" sz="2400" dirty="0">
                <a:latin typeface="Lucida Sans Typewriter" charset="0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</a:rPr>
              <a:t> (a </a:t>
            </a:r>
            <a:r>
              <a:rPr lang="en-US" sz="2400" dirty="0">
                <a:latin typeface="Lucida Sans Typewriter" charset="0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</a:rPr>
              <a:t> c)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f . g = </a:t>
            </a:r>
            <a:r>
              <a:rPr lang="en-US" sz="2400" dirty="0">
                <a:latin typeface="Lucida Sans Typewriter" charset="0"/>
                <a:sym typeface="Symbol" charset="0"/>
              </a:rPr>
              <a:t></a:t>
            </a:r>
            <a:r>
              <a:rPr lang="en-US" sz="2400" dirty="0">
                <a:latin typeface="Lucida Sans Typewriter" charset="0"/>
              </a:rPr>
              <a:t>x </a:t>
            </a:r>
            <a:r>
              <a:rPr lang="en-US" sz="2400" dirty="0">
                <a:latin typeface="Lucida Sans Typewriter" charset="0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</a:rPr>
              <a:t> f (g x)</a:t>
            </a:r>
          </a:p>
        </p:txBody>
      </p:sp>
      <p:sp>
        <p:nvSpPr>
          <p:cNvPr id="34821" name="Text Box 5"/>
          <p:cNvSpPr txBox="1">
            <a:spLocks noChangeArrowheads="1"/>
          </p:cNvSpPr>
          <p:nvPr/>
        </p:nvSpPr>
        <p:spPr bwMode="auto">
          <a:xfrm>
            <a:off x="1921669" y="4782561"/>
            <a:ext cx="81391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For example:</a:t>
            </a:r>
          </a:p>
        </p:txBody>
      </p:sp>
      <p:sp>
        <p:nvSpPr>
          <p:cNvPr id="34822" name="Text Box 6"/>
          <p:cNvSpPr txBox="1">
            <a:spLocks noChangeArrowheads="1"/>
          </p:cNvSpPr>
          <p:nvPr/>
        </p:nvSpPr>
        <p:spPr bwMode="auto">
          <a:xfrm>
            <a:off x="2661445" y="5750937"/>
            <a:ext cx="3430587" cy="96837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odd :: Int </a:t>
            </a:r>
            <a:r>
              <a:rPr lang="en-US" sz="2400" dirty="0">
                <a:latin typeface="Lucida Sans Typewriter" charset="0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</a:rPr>
              <a:t> Bool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odd = not . even</a:t>
            </a:r>
          </a:p>
        </p:txBody>
      </p:sp>
      <p:sp>
        <p:nvSpPr>
          <p:cNvPr id="2" name="Rectangular Callout 1">
            <a:extLst>
              <a:ext uri="{FF2B5EF4-FFF2-40B4-BE49-F238E27FC236}">
                <a16:creationId xmlns:a16="http://schemas.microsoft.com/office/drawing/2014/main" id="{F81F1D1C-7549-2CD5-564B-0C538790C075}"/>
              </a:ext>
            </a:extLst>
          </p:cNvPr>
          <p:cNvSpPr/>
          <p:nvPr/>
        </p:nvSpPr>
        <p:spPr>
          <a:xfrm>
            <a:off x="9112699" y="5106235"/>
            <a:ext cx="2770909" cy="1090789"/>
          </a:xfrm>
          <a:prstGeom prst="wedgeRectCallout">
            <a:avLst>
              <a:gd name="adj1" fmla="val -179000"/>
              <a:gd name="adj2" fmla="val -292415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More later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8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8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822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82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4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4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48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48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0" grpId="0" animBg="1"/>
      <p:bldP spid="34821" grpId="0"/>
      <p:bldP spid="34822" grpId="0" build="allAtOnce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748C0ECA-B27A-8B4E-A994-F32B1F92715D}" type="slidenum">
              <a:rPr lang="en-US" sz="1400"/>
              <a:pPr/>
              <a:t>20</a:t>
            </a:fld>
            <a:endParaRPr lang="en-US" sz="1400"/>
          </a:p>
        </p:txBody>
      </p:sp>
      <p:sp>
        <p:nvSpPr>
          <p:cNvPr id="35842" name="Text Box 3"/>
          <p:cNvSpPr txBox="1">
            <a:spLocks noChangeArrowheads="1"/>
          </p:cNvSpPr>
          <p:nvPr/>
        </p:nvSpPr>
        <p:spPr bwMode="auto">
          <a:xfrm>
            <a:off x="696480" y="753228"/>
            <a:ext cx="8247063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The library function </a:t>
            </a:r>
            <a:r>
              <a:rPr lang="en-US" u="sng" dirty="0"/>
              <a:t>all</a:t>
            </a:r>
            <a:r>
              <a:rPr lang="en-US" dirty="0"/>
              <a:t> decides if every element of a list satisfies a given predicate.</a:t>
            </a:r>
          </a:p>
        </p:txBody>
      </p:sp>
      <p:sp>
        <p:nvSpPr>
          <p:cNvPr id="35843" name="Text Box 4"/>
          <p:cNvSpPr txBox="1">
            <a:spLocks noChangeArrowheads="1"/>
          </p:cNvSpPr>
          <p:nvPr/>
        </p:nvSpPr>
        <p:spPr bwMode="auto">
          <a:xfrm>
            <a:off x="2690091" y="2605087"/>
            <a:ext cx="6102350" cy="965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all :: (a </a:t>
            </a:r>
            <a:r>
              <a:rPr lang="en-US" sz="2400" dirty="0">
                <a:latin typeface="Lucida Sans Typewriter" charset="0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</a:rPr>
              <a:t> Bool) </a:t>
            </a:r>
            <a:r>
              <a:rPr lang="en-US" sz="2400" dirty="0">
                <a:latin typeface="Lucida Sans Typewriter" charset="0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</a:rPr>
              <a:t> [a] </a:t>
            </a:r>
            <a:r>
              <a:rPr lang="en-US" sz="2400" dirty="0">
                <a:latin typeface="Lucida Sans Typewriter" charset="0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</a:rPr>
              <a:t> Bool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all p </a:t>
            </a:r>
            <a:r>
              <a:rPr lang="en-US" sz="2400" dirty="0" err="1">
                <a:latin typeface="Lucida Sans Typewriter" charset="0"/>
              </a:rPr>
              <a:t>xs</a:t>
            </a:r>
            <a:r>
              <a:rPr lang="en-US" sz="2400" dirty="0">
                <a:latin typeface="Lucida Sans Typewriter" charset="0"/>
              </a:rPr>
              <a:t> = and [p x | x </a:t>
            </a:r>
            <a:r>
              <a:rPr lang="en-US" sz="2400" dirty="0">
                <a:latin typeface="Lucida Sans Typewriter" charset="0"/>
                <a:sym typeface="Symbol" charset="0"/>
              </a:rPr>
              <a:t></a:t>
            </a:r>
            <a:r>
              <a:rPr lang="en-US" sz="2400" dirty="0">
                <a:latin typeface="Lucida Sans Typewriter" charset="0"/>
              </a:rPr>
              <a:t> </a:t>
            </a:r>
            <a:r>
              <a:rPr lang="en-US" sz="2400" dirty="0" err="1">
                <a:latin typeface="Lucida Sans Typewriter" charset="0"/>
              </a:rPr>
              <a:t>xs</a:t>
            </a:r>
            <a:r>
              <a:rPr lang="en-US" sz="2400" dirty="0">
                <a:latin typeface="Lucida Sans Typewriter" charset="0"/>
              </a:rPr>
              <a:t>]</a:t>
            </a:r>
          </a:p>
        </p:txBody>
      </p:sp>
      <p:sp>
        <p:nvSpPr>
          <p:cNvPr id="35844" name="Text Box 5"/>
          <p:cNvSpPr txBox="1">
            <a:spLocks noChangeArrowheads="1"/>
          </p:cNvSpPr>
          <p:nvPr/>
        </p:nvSpPr>
        <p:spPr bwMode="auto">
          <a:xfrm>
            <a:off x="1941512" y="4006806"/>
            <a:ext cx="8308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For example:</a:t>
            </a:r>
          </a:p>
        </p:txBody>
      </p:sp>
      <p:sp>
        <p:nvSpPr>
          <p:cNvPr id="35845" name="Text Box 6"/>
          <p:cNvSpPr txBox="1">
            <a:spLocks noChangeArrowheads="1"/>
          </p:cNvSpPr>
          <p:nvPr/>
        </p:nvSpPr>
        <p:spPr bwMode="auto">
          <a:xfrm>
            <a:off x="3022600" y="4962437"/>
            <a:ext cx="4461478" cy="1200329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Lucida Sans Typewriter" charset="0"/>
              </a:rPr>
              <a:t>&gt; all even [2,4,6,8,10]</a:t>
            </a:r>
          </a:p>
          <a:p>
            <a:endParaRPr lang="en-US" sz="2400" dirty="0">
              <a:latin typeface="Lucida Sans Typewriter" charset="0"/>
            </a:endParaRPr>
          </a:p>
          <a:p>
            <a:r>
              <a:rPr lang="en-US" sz="2400" dirty="0">
                <a:latin typeface="Lucida Sans Typewriter" charset="0"/>
              </a:rPr>
              <a:t>True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8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animBg="1"/>
      <p:bldP spid="35844" grpId="0"/>
      <p:bldP spid="3584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5B6291D-317F-E543-B1F8-826EC2698DEC}" type="slidenum">
              <a:rPr lang="en-US" sz="1400"/>
              <a:pPr/>
              <a:t>21</a:t>
            </a:fld>
            <a:endParaRPr lang="en-US" sz="1400"/>
          </a:p>
        </p:txBody>
      </p:sp>
      <p:sp>
        <p:nvSpPr>
          <p:cNvPr id="36866" name="Text Box 3"/>
          <p:cNvSpPr txBox="1">
            <a:spLocks noChangeArrowheads="1"/>
          </p:cNvSpPr>
          <p:nvPr/>
        </p:nvSpPr>
        <p:spPr bwMode="auto">
          <a:xfrm>
            <a:off x="1109402" y="2132655"/>
            <a:ext cx="9973196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Dually, the library function </a:t>
            </a:r>
            <a:r>
              <a:rPr lang="en-US" u="sng" dirty="0"/>
              <a:t>any</a:t>
            </a:r>
            <a:r>
              <a:rPr lang="en-US" dirty="0"/>
              <a:t> decides if at least one element of a list satisfies a predicate.</a:t>
            </a:r>
          </a:p>
        </p:txBody>
      </p:sp>
      <p:sp>
        <p:nvSpPr>
          <p:cNvPr id="36867" name="Text Box 4"/>
          <p:cNvSpPr txBox="1">
            <a:spLocks noChangeArrowheads="1"/>
          </p:cNvSpPr>
          <p:nvPr/>
        </p:nvSpPr>
        <p:spPr bwMode="auto">
          <a:xfrm>
            <a:off x="2688530" y="3325669"/>
            <a:ext cx="6102350" cy="965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any :: (a </a:t>
            </a:r>
            <a:r>
              <a:rPr lang="en-US" sz="2400" dirty="0">
                <a:latin typeface="Lucida Sans Typewriter" charset="0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</a:rPr>
              <a:t> Bool) </a:t>
            </a:r>
            <a:r>
              <a:rPr lang="en-US" sz="2400" dirty="0">
                <a:latin typeface="Lucida Sans Typewriter" charset="0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</a:rPr>
              <a:t> [a] </a:t>
            </a:r>
            <a:r>
              <a:rPr lang="en-US" sz="2400" dirty="0">
                <a:latin typeface="Lucida Sans Typewriter" charset="0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</a:rPr>
              <a:t> Bool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any p </a:t>
            </a:r>
            <a:r>
              <a:rPr lang="en-US" sz="2400" dirty="0" err="1">
                <a:latin typeface="Lucida Sans Typewriter" charset="0"/>
              </a:rPr>
              <a:t>xs</a:t>
            </a:r>
            <a:r>
              <a:rPr lang="en-US" sz="2400" dirty="0">
                <a:latin typeface="Lucida Sans Typewriter" charset="0"/>
              </a:rPr>
              <a:t> = or [p x | x </a:t>
            </a:r>
            <a:r>
              <a:rPr lang="en-US" sz="2400" dirty="0">
                <a:latin typeface="Lucida Sans Typewriter" charset="0"/>
                <a:sym typeface="Symbol" charset="0"/>
              </a:rPr>
              <a:t></a:t>
            </a:r>
            <a:r>
              <a:rPr lang="en-US" sz="2400" dirty="0">
                <a:latin typeface="Lucida Sans Typewriter" charset="0"/>
              </a:rPr>
              <a:t> </a:t>
            </a:r>
            <a:r>
              <a:rPr lang="en-US" sz="2400" dirty="0" err="1">
                <a:latin typeface="Lucida Sans Typewriter" charset="0"/>
              </a:rPr>
              <a:t>xs</a:t>
            </a:r>
            <a:r>
              <a:rPr lang="en-US" sz="2400" dirty="0">
                <a:latin typeface="Lucida Sans Typewriter" charset="0"/>
              </a:rPr>
              <a:t>]</a:t>
            </a:r>
          </a:p>
        </p:txBody>
      </p:sp>
      <p:sp>
        <p:nvSpPr>
          <p:cNvPr id="36868" name="Text Box 5"/>
          <p:cNvSpPr txBox="1">
            <a:spLocks noChangeArrowheads="1"/>
          </p:cNvSpPr>
          <p:nvPr/>
        </p:nvSpPr>
        <p:spPr bwMode="auto">
          <a:xfrm>
            <a:off x="988556" y="4470596"/>
            <a:ext cx="8308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For example:</a:t>
            </a:r>
          </a:p>
        </p:txBody>
      </p:sp>
      <p:sp>
        <p:nvSpPr>
          <p:cNvPr id="36869" name="Text Box 6"/>
          <p:cNvSpPr txBox="1">
            <a:spLocks noChangeArrowheads="1"/>
          </p:cNvSpPr>
          <p:nvPr/>
        </p:nvSpPr>
        <p:spPr bwMode="auto">
          <a:xfrm>
            <a:off x="2990920" y="5175107"/>
            <a:ext cx="4635500" cy="12001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Lucida Sans Typewriter" charset="0"/>
              </a:rPr>
              <a:t>&gt; any (== </a:t>
            </a:r>
            <a:r>
              <a:rPr lang="ja-JP" altLang="en-US" sz="2400">
                <a:latin typeface="Lucida Sans Typewriter" charset="0"/>
              </a:rPr>
              <a:t>’</a:t>
            </a:r>
            <a:r>
              <a:rPr lang="en-US" altLang="ja-JP" sz="2400" dirty="0">
                <a:latin typeface="Lucida Sans Typewriter" charset="0"/>
              </a:rPr>
              <a:t> </a:t>
            </a:r>
            <a:r>
              <a:rPr lang="ja-JP" altLang="en-US" sz="2400">
                <a:latin typeface="Lucida Sans Typewriter" charset="0"/>
              </a:rPr>
              <a:t>’</a:t>
            </a:r>
            <a:r>
              <a:rPr lang="en-US" altLang="ja-JP" sz="2400" dirty="0">
                <a:latin typeface="Lucida Sans Typewriter" charset="0"/>
              </a:rPr>
              <a:t>) "</a:t>
            </a:r>
            <a:r>
              <a:rPr lang="en-US" altLang="ja-JP" sz="2400" dirty="0" err="1">
                <a:latin typeface="Lucida Sans Typewriter" charset="0"/>
              </a:rPr>
              <a:t>abc</a:t>
            </a:r>
            <a:r>
              <a:rPr lang="en-US" altLang="ja-JP" sz="2400" dirty="0">
                <a:latin typeface="Lucida Sans Typewriter" charset="0"/>
              </a:rPr>
              <a:t> def"</a:t>
            </a:r>
          </a:p>
          <a:p>
            <a:endParaRPr lang="en-US" sz="2400" dirty="0">
              <a:latin typeface="Lucida Sans Typewriter" charset="0"/>
            </a:endParaRPr>
          </a:p>
          <a:p>
            <a:r>
              <a:rPr lang="en-US" sz="2400" dirty="0">
                <a:latin typeface="Lucida Sans Typewriter" charset="0"/>
              </a:rPr>
              <a:t>True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8536CF-6605-602F-EA31-6BEDFD1CD20A}"/>
              </a:ext>
            </a:extLst>
          </p:cNvPr>
          <p:cNvSpPr txBox="1"/>
          <p:nvPr/>
        </p:nvSpPr>
        <p:spPr>
          <a:xfrm>
            <a:off x="372182" y="855933"/>
            <a:ext cx="7681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Any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8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8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8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8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68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68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6" grpId="0"/>
      <p:bldP spid="36867" grpId="0" animBg="1"/>
      <p:bldP spid="36868" grpId="0"/>
      <p:bldP spid="3686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FEE33B03-BF70-C44A-8BE6-A7184E8A38CB}" type="slidenum">
              <a:rPr lang="en-US" sz="1400"/>
              <a:pPr/>
              <a:t>22</a:t>
            </a:fld>
            <a:endParaRPr lang="en-US" sz="1400"/>
          </a:p>
        </p:txBody>
      </p:sp>
      <p:sp>
        <p:nvSpPr>
          <p:cNvPr id="37890" name="Text Box 2"/>
          <p:cNvSpPr txBox="1">
            <a:spLocks noChangeArrowheads="1"/>
          </p:cNvSpPr>
          <p:nvPr/>
        </p:nvSpPr>
        <p:spPr bwMode="auto">
          <a:xfrm>
            <a:off x="308392" y="821569"/>
            <a:ext cx="9556044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The library function </a:t>
            </a:r>
            <a:r>
              <a:rPr lang="en-US" b="1" dirty="0" err="1"/>
              <a:t>takeWhile</a:t>
            </a:r>
            <a:r>
              <a:rPr lang="en-US" dirty="0"/>
              <a:t> selects elements from a list while a predicate holds of all the elements.</a:t>
            </a:r>
          </a:p>
        </p:txBody>
      </p:sp>
      <p:sp>
        <p:nvSpPr>
          <p:cNvPr id="37891" name="Text Box 3"/>
          <p:cNvSpPr txBox="1">
            <a:spLocks noChangeArrowheads="1"/>
          </p:cNvSpPr>
          <p:nvPr/>
        </p:nvSpPr>
        <p:spPr bwMode="auto">
          <a:xfrm>
            <a:off x="2321936" y="2316515"/>
            <a:ext cx="7029450" cy="211613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400" dirty="0" err="1">
                <a:latin typeface="Lucida Sans Typewriter" charset="0"/>
              </a:rPr>
              <a:t>takeWhile</a:t>
            </a:r>
            <a:r>
              <a:rPr lang="en-US" sz="2400" dirty="0">
                <a:latin typeface="Lucida Sans Typewriter" charset="0"/>
              </a:rPr>
              <a:t> :: (a </a:t>
            </a:r>
            <a:r>
              <a:rPr lang="en-US" sz="2400" dirty="0">
                <a:latin typeface="Lucida Sans Typewriter" charset="0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</a:rPr>
              <a:t> </a:t>
            </a:r>
            <a:r>
              <a:rPr lang="en-US" sz="2400" dirty="0" err="1">
                <a:latin typeface="Lucida Sans Typewriter" charset="0"/>
              </a:rPr>
              <a:t>Bool</a:t>
            </a:r>
            <a:r>
              <a:rPr lang="en-US" sz="2400" dirty="0">
                <a:latin typeface="Lucida Sans Typewriter" charset="0"/>
              </a:rPr>
              <a:t>) </a:t>
            </a:r>
            <a:r>
              <a:rPr lang="en-US" sz="2400" dirty="0">
                <a:latin typeface="Lucida Sans Typewriter" charset="0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</a:rPr>
              <a:t> [a] </a:t>
            </a:r>
            <a:r>
              <a:rPr lang="en-US" sz="2400" dirty="0">
                <a:latin typeface="Lucida Sans Typewriter" charset="0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</a:rPr>
              <a:t> [a]</a:t>
            </a:r>
          </a:p>
          <a:p>
            <a:pPr>
              <a:lnSpc>
                <a:spcPct val="110000"/>
              </a:lnSpc>
            </a:pPr>
            <a:r>
              <a:rPr lang="en-US" sz="2400" dirty="0" err="1">
                <a:latin typeface="Lucida Sans Typewriter" charset="0"/>
              </a:rPr>
              <a:t>takeWhile</a:t>
            </a:r>
            <a:r>
              <a:rPr lang="en-US" sz="2400" dirty="0">
                <a:latin typeface="Lucida Sans Typewriter" charset="0"/>
              </a:rPr>
              <a:t> p [] = []</a:t>
            </a:r>
          </a:p>
          <a:p>
            <a:pPr>
              <a:lnSpc>
                <a:spcPct val="110000"/>
              </a:lnSpc>
            </a:pPr>
            <a:r>
              <a:rPr lang="en-US" sz="2400" dirty="0" err="1">
                <a:latin typeface="Lucida Sans Typewriter" charset="0"/>
              </a:rPr>
              <a:t>takeWhile</a:t>
            </a:r>
            <a:r>
              <a:rPr lang="en-US" sz="2400" dirty="0">
                <a:latin typeface="Lucida Sans Typewriter" charset="0"/>
              </a:rPr>
              <a:t> p (</a:t>
            </a:r>
            <a:r>
              <a:rPr lang="en-US" sz="2400" dirty="0" err="1">
                <a:latin typeface="Lucida Sans Typewriter" charset="0"/>
              </a:rPr>
              <a:t>x:xs</a:t>
            </a:r>
            <a:r>
              <a:rPr lang="en-US" sz="2400" dirty="0">
                <a:latin typeface="Lucida Sans Typewriter" charset="0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   | p x       = x : </a:t>
            </a:r>
            <a:r>
              <a:rPr lang="en-US" sz="2400" dirty="0" err="1">
                <a:latin typeface="Lucida Sans Typewriter" charset="0"/>
              </a:rPr>
              <a:t>takeWhile</a:t>
            </a:r>
            <a:r>
              <a:rPr lang="en-US" sz="2400" dirty="0">
                <a:latin typeface="Lucida Sans Typewriter" charset="0"/>
              </a:rPr>
              <a:t> p </a:t>
            </a:r>
            <a:r>
              <a:rPr lang="en-US" sz="2400" dirty="0" err="1">
                <a:latin typeface="Lucida Sans Typewriter" charset="0"/>
              </a:rPr>
              <a:t>xs</a:t>
            </a:r>
            <a:endParaRPr lang="en-US" sz="2400" dirty="0">
              <a:latin typeface="Lucida Sans Typewriter" charset="0"/>
            </a:endParaRPr>
          </a:p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   | otherwise = []</a:t>
            </a:r>
          </a:p>
        </p:txBody>
      </p:sp>
      <p:sp>
        <p:nvSpPr>
          <p:cNvPr id="37892" name="Text Box 4"/>
          <p:cNvSpPr txBox="1">
            <a:spLocks noChangeArrowheads="1"/>
          </p:cNvSpPr>
          <p:nvPr/>
        </p:nvSpPr>
        <p:spPr bwMode="auto">
          <a:xfrm>
            <a:off x="1839914" y="4348163"/>
            <a:ext cx="8308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For example:</a:t>
            </a:r>
          </a:p>
        </p:txBody>
      </p:sp>
      <p:sp>
        <p:nvSpPr>
          <p:cNvPr id="37893" name="Text Box 5"/>
          <p:cNvSpPr txBox="1">
            <a:spLocks noChangeArrowheads="1"/>
          </p:cNvSpPr>
          <p:nvPr/>
        </p:nvSpPr>
        <p:spPr bwMode="auto">
          <a:xfrm>
            <a:off x="2733675" y="5272088"/>
            <a:ext cx="5748338" cy="109696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400" dirty="0">
                <a:latin typeface="Lucida Sans Typewriter" charset="0"/>
              </a:rPr>
              <a:t>&gt; </a:t>
            </a:r>
            <a:r>
              <a:rPr lang="en-US" sz="2400" dirty="0" err="1">
                <a:latin typeface="Lucida Sans Typewriter" charset="0"/>
              </a:rPr>
              <a:t>takeWhile</a:t>
            </a:r>
            <a:r>
              <a:rPr lang="en-US" sz="2400" dirty="0">
                <a:latin typeface="Lucida Sans Typewriter" charset="0"/>
              </a:rPr>
              <a:t> (/= </a:t>
            </a:r>
            <a:r>
              <a:rPr lang="ja-JP" altLang="en-US" sz="2400">
                <a:latin typeface="Lucida Sans Typewriter" charset="0"/>
              </a:rPr>
              <a:t>’</a:t>
            </a:r>
            <a:r>
              <a:rPr lang="en-US" altLang="ja-JP" sz="2400" dirty="0">
                <a:latin typeface="Lucida Sans Typewriter" charset="0"/>
              </a:rPr>
              <a:t> </a:t>
            </a:r>
            <a:r>
              <a:rPr lang="ja-JP" altLang="en-US" sz="2400">
                <a:latin typeface="Lucida Sans Typewriter" charset="0"/>
              </a:rPr>
              <a:t>’</a:t>
            </a:r>
            <a:r>
              <a:rPr lang="en-US" altLang="ja-JP" sz="2400" dirty="0">
                <a:latin typeface="Lucida Sans Typewriter" charset="0"/>
              </a:rPr>
              <a:t>) "</a:t>
            </a:r>
            <a:r>
              <a:rPr lang="en-US" altLang="ja-JP" sz="2400" dirty="0" err="1">
                <a:latin typeface="Lucida Sans Typewriter" charset="0"/>
              </a:rPr>
              <a:t>abc</a:t>
            </a:r>
            <a:r>
              <a:rPr lang="en-US" altLang="ja-JP" sz="2400" dirty="0">
                <a:latin typeface="Lucida Sans Typewriter" charset="0"/>
              </a:rPr>
              <a:t> def"</a:t>
            </a:r>
          </a:p>
          <a:p>
            <a:pPr>
              <a:lnSpc>
                <a:spcPct val="90000"/>
              </a:lnSpc>
            </a:pPr>
            <a:endParaRPr lang="en-US" sz="2400" dirty="0">
              <a:latin typeface="Lucida Sans Typewriter" charset="0"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latin typeface="Lucida Sans Typewriter" charset="0"/>
              </a:rPr>
              <a:t>"</a:t>
            </a:r>
            <a:r>
              <a:rPr lang="en-US" sz="2400" dirty="0" err="1">
                <a:latin typeface="Lucida Sans Typewriter" charset="0"/>
              </a:rPr>
              <a:t>abc</a:t>
            </a:r>
            <a:r>
              <a:rPr lang="en-US" sz="2400" dirty="0">
                <a:latin typeface="Lucida Sans Typewriter" charset="0"/>
              </a:rPr>
              <a:t>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animBg="1"/>
      <p:bldP spid="37892" grpId="0"/>
      <p:bldP spid="3789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4C7B856-FFCE-0148-B1AC-9D59BA9991B2}" type="slidenum">
              <a:rPr lang="en-US" sz="1400"/>
              <a:pPr/>
              <a:t>23</a:t>
            </a:fld>
            <a:endParaRPr lang="en-US" sz="1400"/>
          </a:p>
        </p:txBody>
      </p:sp>
      <p:sp>
        <p:nvSpPr>
          <p:cNvPr id="38914" name="Text Box 2"/>
          <p:cNvSpPr txBox="1">
            <a:spLocks noChangeArrowheads="1"/>
          </p:cNvSpPr>
          <p:nvPr/>
        </p:nvSpPr>
        <p:spPr bwMode="auto">
          <a:xfrm>
            <a:off x="440605" y="753228"/>
            <a:ext cx="83089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Dually, the function </a:t>
            </a:r>
            <a:r>
              <a:rPr lang="en-US" b="1" dirty="0" err="1"/>
              <a:t>dropWhile</a:t>
            </a:r>
            <a:r>
              <a:rPr lang="en-US" dirty="0"/>
              <a:t> removes elements while a predicate holds of all the elements.</a:t>
            </a:r>
          </a:p>
        </p:txBody>
      </p:sp>
      <p:sp>
        <p:nvSpPr>
          <p:cNvPr id="38915" name="Text Box 3"/>
          <p:cNvSpPr txBox="1">
            <a:spLocks noChangeArrowheads="1"/>
          </p:cNvSpPr>
          <p:nvPr/>
        </p:nvSpPr>
        <p:spPr bwMode="auto">
          <a:xfrm>
            <a:off x="2236499" y="2238375"/>
            <a:ext cx="6977062" cy="210026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400" dirty="0" err="1">
                <a:latin typeface="Lucida Sans Typewriter" charset="0"/>
              </a:rPr>
              <a:t>dropWhile</a:t>
            </a:r>
            <a:r>
              <a:rPr lang="en-US" sz="2400" dirty="0">
                <a:latin typeface="Lucida Sans Typewriter" charset="0"/>
              </a:rPr>
              <a:t> :: (a </a:t>
            </a:r>
            <a:r>
              <a:rPr lang="en-US" sz="2400" dirty="0">
                <a:latin typeface="Lucida Sans Typewriter" charset="0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</a:rPr>
              <a:t> </a:t>
            </a:r>
            <a:r>
              <a:rPr lang="en-US" sz="2400" dirty="0" err="1">
                <a:latin typeface="Lucida Sans Typewriter" charset="0"/>
              </a:rPr>
              <a:t>Bool</a:t>
            </a:r>
            <a:r>
              <a:rPr lang="en-US" sz="2400" dirty="0">
                <a:latin typeface="Lucida Sans Typewriter" charset="0"/>
              </a:rPr>
              <a:t>) </a:t>
            </a:r>
            <a:r>
              <a:rPr lang="en-US" sz="2400" dirty="0">
                <a:latin typeface="Lucida Sans Typewriter" charset="0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</a:rPr>
              <a:t> [a] </a:t>
            </a:r>
            <a:r>
              <a:rPr lang="en-US" sz="2400" dirty="0">
                <a:latin typeface="Lucida Sans Typewriter" charset="0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</a:rPr>
              <a:t> [a]</a:t>
            </a:r>
          </a:p>
          <a:p>
            <a:pPr>
              <a:lnSpc>
                <a:spcPct val="110000"/>
              </a:lnSpc>
            </a:pPr>
            <a:r>
              <a:rPr lang="en-US" sz="2400" dirty="0" err="1">
                <a:latin typeface="Lucida Sans Typewriter" charset="0"/>
              </a:rPr>
              <a:t>dropWhile</a:t>
            </a:r>
            <a:r>
              <a:rPr lang="en-US" sz="2400" dirty="0">
                <a:latin typeface="Lucida Sans Typewriter" charset="0"/>
              </a:rPr>
              <a:t> p [] = []</a:t>
            </a:r>
          </a:p>
          <a:p>
            <a:pPr>
              <a:lnSpc>
                <a:spcPct val="110000"/>
              </a:lnSpc>
            </a:pPr>
            <a:r>
              <a:rPr lang="en-US" sz="2400" dirty="0" err="1">
                <a:latin typeface="Lucida Sans Typewriter" charset="0"/>
              </a:rPr>
              <a:t>dropWhile</a:t>
            </a:r>
            <a:r>
              <a:rPr lang="en-US" sz="2400" dirty="0">
                <a:latin typeface="Lucida Sans Typewriter" charset="0"/>
              </a:rPr>
              <a:t> p (</a:t>
            </a:r>
            <a:r>
              <a:rPr lang="en-US" sz="2400" dirty="0" err="1">
                <a:latin typeface="Lucida Sans Typewriter" charset="0"/>
              </a:rPr>
              <a:t>x:xs</a:t>
            </a:r>
            <a:r>
              <a:rPr lang="en-US" sz="2400" dirty="0">
                <a:latin typeface="Lucida Sans Typewriter" charset="0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   | p x       = </a:t>
            </a:r>
            <a:r>
              <a:rPr lang="en-US" sz="2400" dirty="0" err="1">
                <a:latin typeface="Lucida Sans Typewriter" charset="0"/>
              </a:rPr>
              <a:t>dropWhile</a:t>
            </a:r>
            <a:r>
              <a:rPr lang="en-US" sz="2400" dirty="0">
                <a:latin typeface="Lucida Sans Typewriter" charset="0"/>
              </a:rPr>
              <a:t> p </a:t>
            </a:r>
            <a:r>
              <a:rPr lang="en-US" sz="2400" dirty="0" err="1">
                <a:latin typeface="Lucida Sans Typewriter" charset="0"/>
              </a:rPr>
              <a:t>xs</a:t>
            </a:r>
            <a:endParaRPr lang="en-US" sz="2400" dirty="0">
              <a:latin typeface="Lucida Sans Typewriter" charset="0"/>
            </a:endParaRPr>
          </a:p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   | otherwise = </a:t>
            </a:r>
            <a:r>
              <a:rPr lang="en-US" sz="2400" dirty="0" err="1">
                <a:latin typeface="Lucida Sans Typewriter" charset="0"/>
              </a:rPr>
              <a:t>x:xs</a:t>
            </a:r>
            <a:endParaRPr lang="en-US" sz="2400" dirty="0">
              <a:latin typeface="Lucida Sans Typewriter" charset="0"/>
            </a:endParaRPr>
          </a:p>
        </p:txBody>
      </p:sp>
      <p:sp>
        <p:nvSpPr>
          <p:cNvPr id="38916" name="Text Box 4"/>
          <p:cNvSpPr txBox="1">
            <a:spLocks noChangeArrowheads="1"/>
          </p:cNvSpPr>
          <p:nvPr/>
        </p:nvSpPr>
        <p:spPr bwMode="auto">
          <a:xfrm>
            <a:off x="1878014" y="4338638"/>
            <a:ext cx="8308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For example:</a:t>
            </a:r>
          </a:p>
        </p:txBody>
      </p:sp>
      <p:sp>
        <p:nvSpPr>
          <p:cNvPr id="38917" name="Text Box 5"/>
          <p:cNvSpPr txBox="1">
            <a:spLocks noChangeArrowheads="1"/>
          </p:cNvSpPr>
          <p:nvPr/>
        </p:nvSpPr>
        <p:spPr bwMode="auto">
          <a:xfrm>
            <a:off x="2733675" y="5272088"/>
            <a:ext cx="5562600" cy="109696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400">
                <a:latin typeface="Lucida Sans Typewriter" charset="0"/>
              </a:rPr>
              <a:t>&gt; dropWhile (== </a:t>
            </a:r>
            <a:r>
              <a:rPr lang="ja-JP" altLang="en-US" sz="2400">
                <a:latin typeface="Lucida Sans Typewriter" charset="0"/>
              </a:rPr>
              <a:t>’</a:t>
            </a:r>
            <a:r>
              <a:rPr lang="en-US" altLang="ja-JP" sz="2400">
                <a:latin typeface="Lucida Sans Typewriter" charset="0"/>
              </a:rPr>
              <a:t> </a:t>
            </a:r>
            <a:r>
              <a:rPr lang="ja-JP" altLang="en-US" sz="2400">
                <a:latin typeface="Lucida Sans Typewriter" charset="0"/>
              </a:rPr>
              <a:t>’</a:t>
            </a:r>
            <a:r>
              <a:rPr lang="en-US" altLang="ja-JP" sz="2400">
                <a:latin typeface="Lucida Sans Typewriter" charset="0"/>
              </a:rPr>
              <a:t>) "   abc"</a:t>
            </a:r>
          </a:p>
          <a:p>
            <a:pPr>
              <a:lnSpc>
                <a:spcPct val="90000"/>
              </a:lnSpc>
            </a:pPr>
            <a:endParaRPr lang="en-US" sz="2400">
              <a:latin typeface="Lucida Sans Typewriter" charset="0"/>
            </a:endParaRPr>
          </a:p>
          <a:p>
            <a:pPr>
              <a:lnSpc>
                <a:spcPct val="90000"/>
              </a:lnSpc>
            </a:pPr>
            <a:r>
              <a:rPr lang="en-US" sz="2400">
                <a:latin typeface="Lucida Sans Typewriter" charset="0"/>
              </a:rPr>
              <a:t>"abc"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9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9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9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9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animBg="1"/>
      <p:bldP spid="38916" grpId="0"/>
      <p:bldP spid="3891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5" name="Picture 41" descr="Text&#10;&#10;Description automatically generated">
            <a:extLst>
              <a:ext uri="{FF2B5EF4-FFF2-40B4-BE49-F238E27FC236}">
                <a16:creationId xmlns:a16="http://schemas.microsoft.com/office/drawing/2014/main" id="{141DDF3B-FD32-7F4E-952D-A3750E1798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2794" y="2604113"/>
            <a:ext cx="4888706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6" name="Slide Number Placeholder 2">
            <a:extLst>
              <a:ext uri="{FF2B5EF4-FFF2-40B4-BE49-F238E27FC236}">
                <a16:creationId xmlns:a16="http://schemas.microsoft.com/office/drawing/2014/main" id="{DB04C08F-80B4-4D43-87D0-CE4F7D455D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1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557213" indent="-214313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18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857250" indent="-1714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15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200150" indent="-17145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1543050" indent="-17145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ts val="450"/>
              </a:spcAft>
              <a:buClrTx/>
              <a:buNone/>
            </a:pPr>
            <a:fld id="{350E24D9-8BBE-D14C-8545-85663EDC0EE7}" type="slidenum">
              <a:rPr kumimoji="0" lang="en-US" altLang="en-US" sz="1050"/>
              <a:pPr>
                <a:spcBef>
                  <a:spcPct val="0"/>
                </a:spcBef>
                <a:spcAft>
                  <a:spcPts val="450"/>
                </a:spcAft>
                <a:buClrTx/>
                <a:buNone/>
              </a:pPr>
              <a:t>24</a:t>
            </a:fld>
            <a:endParaRPr kumimoji="0" lang="en-US" altLang="en-US" sz="1050"/>
          </a:p>
        </p:txBody>
      </p:sp>
    </p:spTree>
    <p:extLst>
      <p:ext uri="{BB962C8B-B14F-4D97-AF65-F5344CB8AC3E}">
        <p14:creationId xmlns:p14="http://schemas.microsoft.com/office/powerpoint/2010/main" val="3044860126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a-functions</Template>
  <TotalTime>8027</TotalTime>
  <Words>1327</Words>
  <Application>Microsoft Macintosh PowerPoint</Application>
  <PresentationFormat>Widescreen</PresentationFormat>
  <Paragraphs>212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Arial</vt:lpstr>
      <vt:lpstr>Arial Black</vt:lpstr>
      <vt:lpstr>Calibri</vt:lpstr>
      <vt:lpstr>Lucida Sans Typewriter</vt:lpstr>
      <vt:lpstr>Symbol</vt:lpstr>
      <vt:lpstr>Tahoma</vt:lpstr>
      <vt:lpstr>Times New Roman</vt:lpstr>
      <vt:lpstr>Trebuchet MS</vt:lpstr>
      <vt:lpstr>Wingdings</vt:lpstr>
      <vt:lpstr>Berlin</vt:lpstr>
      <vt:lpstr>PowerPoint Presentation</vt:lpstr>
      <vt:lpstr>Introduction</vt:lpstr>
      <vt:lpstr>Why Are They Useful?</vt:lpstr>
      <vt:lpstr>The Map Function</vt:lpstr>
      <vt:lpstr>Map contd.</vt:lpstr>
      <vt:lpstr>The Filter Function</vt:lpstr>
      <vt:lpstr>PowerPoint Presentation</vt:lpstr>
      <vt:lpstr>The Foldr Function</vt:lpstr>
      <vt:lpstr>PowerPoint Presentation</vt:lpstr>
      <vt:lpstr>The Foldr Function</vt:lpstr>
      <vt:lpstr>foldr</vt:lpstr>
      <vt:lpstr>PowerPoint Presentation</vt:lpstr>
      <vt:lpstr>PowerPoint Presentation</vt:lpstr>
      <vt:lpstr>Other Foldr Examples</vt:lpstr>
      <vt:lpstr>PowerPoint Presentation</vt:lpstr>
      <vt:lpstr>PowerPoint Presentation</vt:lpstr>
      <vt:lpstr>reverse function</vt:lpstr>
      <vt:lpstr>PowerPoint Presentation</vt:lpstr>
      <vt:lpstr>Why Is Foldr Useful?</vt:lpstr>
      <vt:lpstr>Other Library Functions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Nottingham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Functional Programming</dc:title>
  <dc:creator>Dr. Graham Hutton</dc:creator>
  <cp:lastModifiedBy>Mairead Meagher</cp:lastModifiedBy>
  <cp:revision>552</cp:revision>
  <cp:lastPrinted>2019-02-23T21:34:02Z</cp:lastPrinted>
  <dcterms:created xsi:type="dcterms:W3CDTF">2000-11-20T11:40:19Z</dcterms:created>
  <dcterms:modified xsi:type="dcterms:W3CDTF">2026-03-07T00:16:36Z</dcterms:modified>
</cp:coreProperties>
</file>