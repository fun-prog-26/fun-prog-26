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753" r:id="rId1"/>
  </p:sldMasterIdLst>
  <p:notesMasterIdLst>
    <p:notesMasterId r:id="rId19"/>
  </p:notesMasterIdLst>
  <p:handoutMasterIdLst>
    <p:handoutMasterId r:id="rId20"/>
  </p:handoutMasterIdLst>
  <p:sldIdLst>
    <p:sldId id="356" r:id="rId2"/>
    <p:sldId id="377" r:id="rId3"/>
    <p:sldId id="389" r:id="rId4"/>
    <p:sldId id="378" r:id="rId5"/>
    <p:sldId id="379" r:id="rId6"/>
    <p:sldId id="393" r:id="rId7"/>
    <p:sldId id="394" r:id="rId8"/>
    <p:sldId id="396" r:id="rId9"/>
    <p:sldId id="397" r:id="rId10"/>
    <p:sldId id="398" r:id="rId11"/>
    <p:sldId id="399" r:id="rId12"/>
    <p:sldId id="351" r:id="rId13"/>
    <p:sldId id="380" r:id="rId14"/>
    <p:sldId id="381" r:id="rId15"/>
    <p:sldId id="400" r:id="rId16"/>
    <p:sldId id="395" r:id="rId17"/>
    <p:sldId id="343" r:id="rId18"/>
  </p:sldIdLst>
  <p:sldSz cx="12192000" cy="6858000"/>
  <p:notesSz cx="6794500" cy="99187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3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FF0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2"/>
    <p:restoredTop sz="92472"/>
  </p:normalViewPr>
  <p:slideViewPr>
    <p:cSldViewPr snapToGrid="0">
      <p:cViewPr varScale="1">
        <p:scale>
          <a:sx n="95" d="100"/>
          <a:sy n="95" d="100"/>
        </p:scale>
        <p:origin x="184" y="5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-1890" y="-96"/>
      </p:cViewPr>
      <p:guideLst>
        <p:guide orient="horz" pos="3123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3225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07" tIns="46504" rIns="93007" bIns="46504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3225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07" tIns="46504" rIns="93007" bIns="4650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3400"/>
            <a:ext cx="2943225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07" tIns="46504" rIns="93007" bIns="46504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3400"/>
            <a:ext cx="2943225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07" tIns="46504" rIns="93007" bIns="4650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fld id="{399D39CF-52F9-4346-9FE1-C943FC43DC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955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409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1000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5990" tIns="42995" rIns="85990" bIns="42995" numCol="1" anchor="t" anchorCtr="0" compatLnSpc="1">
            <a:prstTxWarp prst="textNoShape">
              <a:avLst/>
            </a:prstTxWarp>
          </a:bodyPr>
          <a:lstStyle>
            <a:lvl1pPr defTabSz="860425">
              <a:defRPr sz="11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4099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21000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5990" tIns="42995" rIns="85990" bIns="42995" numCol="1" anchor="t" anchorCtr="0" compatLnSpc="1">
            <a:prstTxWarp prst="textNoShape">
              <a:avLst/>
            </a:prstTxWarp>
          </a:bodyPr>
          <a:lstStyle>
            <a:lvl1pPr algn="r" defTabSz="860425">
              <a:defRPr sz="11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100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7638" y="739775"/>
            <a:ext cx="6570662" cy="36972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5" name="Rectangle 4101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6300" y="4732338"/>
            <a:ext cx="5038725" cy="4438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5990" tIns="42995" rIns="85990" bIns="429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410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93238"/>
            <a:ext cx="2921000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5990" tIns="42995" rIns="85990" bIns="42995" numCol="1" anchor="b" anchorCtr="0" compatLnSpc="1">
            <a:prstTxWarp prst="textNoShape">
              <a:avLst/>
            </a:prstTxWarp>
          </a:bodyPr>
          <a:lstStyle>
            <a:lvl1pPr defTabSz="860425">
              <a:defRPr sz="11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410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9393238"/>
            <a:ext cx="2921000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5990" tIns="42995" rIns="85990" bIns="42995" numCol="1" anchor="b" anchorCtr="0" compatLnSpc="1">
            <a:prstTxWarp prst="textNoShape">
              <a:avLst/>
            </a:prstTxWarp>
          </a:bodyPr>
          <a:lstStyle>
            <a:lvl1pPr algn="r" defTabSz="860425">
              <a:defRPr sz="1100"/>
            </a:lvl1pPr>
          </a:lstStyle>
          <a:p>
            <a:pPr>
              <a:defRPr/>
            </a:pPr>
            <a:fld id="{1ECE8E26-272F-7449-95A5-E00843D887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3544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ＭＳ Ｐゴシック" pitchFamily="-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CE8E26-272F-7449-95A5-E00843D8875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91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CE8E26-272F-7449-95A5-E00843D8875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66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E5819-1F65-B196-BC79-B767065D9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72C47A-873D-D3DD-7F23-139F1C9B7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69FDA1-CBD9-376B-B53B-CDB0B2BED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8E9FB-1C30-8352-893E-C65CDD8365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CE8E26-272F-7449-95A5-E00843D8875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787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7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6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5" cy="1373070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41"/>
            <a:ext cx="8144135" cy="1117687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7" y="2750337"/>
            <a:ext cx="1171888" cy="1356442"/>
          </a:xfrm>
        </p:spPr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28247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A37066-0571-0447-8D03-53F134544E7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852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6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3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7" y="2869897"/>
            <a:ext cx="1154151" cy="1090789"/>
          </a:xfrm>
        </p:spPr>
        <p:txBody>
          <a:bodyPr/>
          <a:lstStyle/>
          <a:p>
            <a:pPr>
              <a:defRPr/>
            </a:pPr>
            <a:fld id="{89AA6ABC-C2F2-6A41-A47C-E005777CFC2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59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1" y="2336873"/>
            <a:ext cx="46983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1D8437-CEAD-3B48-8F49-76FEB00753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634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0" y="753231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1" y="2336875"/>
            <a:ext cx="4472327" cy="69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3" y="3030010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5" y="2336873"/>
            <a:ext cx="4474028" cy="6920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4" y="3030010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EC47B1-762D-9845-9A2A-BEBF4BB1A68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139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04839C-9BB7-BB4D-96E1-589D0E7BC0C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129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C36D0-0ED6-684D-8A07-95B77A62CED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94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7" y="2336875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4"/>
            <a:ext cx="3790079" cy="359931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35779D-38C7-9346-8D49-DBC00D12745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43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4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5"/>
            <a:ext cx="3876256" cy="3599315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DE89CE-8BCC-3F47-AE37-99D72815386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73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8"/>
            <a:ext cx="9613859" cy="453051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9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5"/>
            <a:ext cx="9613863" cy="62297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311"/>
            <a:ext cx="1154151" cy="1090789"/>
          </a:xfrm>
        </p:spPr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3428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609597"/>
            <a:ext cx="9613859" cy="3592750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617"/>
            <a:ext cx="1154151" cy="1090789"/>
          </a:xfrm>
        </p:spPr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1544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9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991128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7"/>
            <a:ext cx="9613863" cy="5885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51"/>
            <a:ext cx="9613863" cy="50225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2547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1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5" y="2336873"/>
            <a:ext cx="307003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4"/>
            <a:ext cx="3049703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1" y="3022674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7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7" y="3022674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6295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20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20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20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1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8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80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8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47899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E69B6E-F9F1-7548-BD0A-5B3C0689392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143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3" y="5372404"/>
            <a:ext cx="1602997" cy="1368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3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9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5" y="5936189"/>
            <a:ext cx="2743200" cy="365125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90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1" y="5398635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D1CAF307-2DFD-1744-819C-E39F11E12F4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84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2" y="5936190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7" y="753228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181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5C1B8B5-F999-0749-AE86-1FB479D6F14F}" type="slidenum">
              <a:rPr lang="en-US" sz="1400"/>
              <a:pPr/>
              <a:t>0</a:t>
            </a:fld>
            <a:endParaRPr lang="en-US" sz="1400"/>
          </a:p>
        </p:txBody>
      </p:sp>
      <p:sp>
        <p:nvSpPr>
          <p:cNvPr id="727042" name="Text Box 2"/>
          <p:cNvSpPr txBox="1">
            <a:spLocks noChangeArrowheads="1"/>
          </p:cNvSpPr>
          <p:nvPr/>
        </p:nvSpPr>
        <p:spPr bwMode="auto">
          <a:xfrm>
            <a:off x="1639889" y="1001713"/>
            <a:ext cx="8910637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600" b="1">
                <a:solidFill>
                  <a:schemeClr val="tx2"/>
                </a:solidFill>
                <a:latin typeface="Arial Black" charset="0"/>
                <a:cs typeface="+mn-cs"/>
              </a:rPr>
              <a:t>PROGRAMMING IN HASKELL</a:t>
            </a:r>
          </a:p>
        </p:txBody>
      </p:sp>
      <p:sp>
        <p:nvSpPr>
          <p:cNvPr id="727043" name="Rectangle 3"/>
          <p:cNvSpPr>
            <a:spLocks noChangeArrowheads="1"/>
          </p:cNvSpPr>
          <p:nvPr/>
        </p:nvSpPr>
        <p:spPr bwMode="auto">
          <a:xfrm>
            <a:off x="1700214" y="5164138"/>
            <a:ext cx="8791575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algn="ctr">
              <a:defRPr/>
            </a:pPr>
            <a:r>
              <a:rPr kumimoji="1" lang="en-US" sz="3200" dirty="0">
                <a:cs typeface="+mn-cs"/>
              </a:rPr>
              <a:t>Topic 8.4 </a:t>
            </a:r>
          </a:p>
          <a:p>
            <a:pPr algn="ctr">
              <a:defRPr/>
            </a:pPr>
            <a:r>
              <a:rPr kumimoji="1" lang="en-US" sz="3200" dirty="0">
                <a:cs typeface="+mn-cs"/>
              </a:rPr>
              <a:t>Function Composition</a:t>
            </a:r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189" y="2425700"/>
            <a:ext cx="2841625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1B33B99-B41A-9444-99A2-3C524186CF57}" type="slidenum">
              <a:rPr lang="en-US" sz="1400"/>
              <a:pPr/>
              <a:t>1</a:t>
            </a:fld>
            <a:endParaRPr lang="en-US" sz="1400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6AECEF5D-C4EE-8047-BDEB-7A6507D06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912" y="1978414"/>
            <a:ext cx="7013221" cy="25237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800" dirty="0"/>
              <a:t>We sometimes use one function after another and we can see these functions as one, composed together: </a:t>
            </a:r>
          </a:p>
          <a:p>
            <a:endParaRPr lang="en-IE" sz="2800" dirty="0"/>
          </a:p>
          <a:p>
            <a:r>
              <a:rPr lang="en-IE" sz="2800" dirty="0"/>
              <a:t>(f .  g) (x) = f (g (x) )</a:t>
            </a:r>
          </a:p>
          <a:p>
            <a:endParaRPr lang="en-IE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F72AE65-C1C2-C54C-98E3-0973874A5B16}"/>
              </a:ext>
            </a:extLst>
          </p:cNvPr>
          <p:cNvSpPr txBox="1">
            <a:spLocks noChangeArrowheads="1"/>
          </p:cNvSpPr>
          <p:nvPr/>
        </p:nvSpPr>
        <p:spPr>
          <a:xfrm>
            <a:off x="572912" y="955722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kern="0" dirty="0">
                <a:latin typeface="Arial Black" charset="0"/>
                <a:ea typeface="ＭＳ Ｐゴシック" charset="0"/>
                <a:cs typeface="ＭＳ Ｐゴシック" charset="0"/>
              </a:rPr>
              <a:t>Function Composition</a:t>
            </a:r>
            <a:endParaRPr lang="en-US" kern="0" dirty="0">
              <a:latin typeface="Arial Black" charset="0"/>
              <a:ea typeface="ＭＳ Ｐゴシック" charset="0"/>
            </a:endParaRPr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79E4715C-BA5E-F243-A6D8-80BA3257E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417" y="5121579"/>
            <a:ext cx="4577858" cy="1363134"/>
          </a:xfrm>
          <a:prstGeom prst="rect">
            <a:avLst/>
          </a:prstGeom>
        </p:spPr>
      </p:pic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95B2FD5E-543F-9840-84C9-5A33A27C3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238" y="2359378"/>
            <a:ext cx="3248895" cy="390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857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1B33B99-B41A-9444-99A2-3C524186CF57}" type="slidenum">
              <a:rPr lang="en-US" sz="1400"/>
              <a:pPr/>
              <a:t>2</a:t>
            </a:fld>
            <a:endParaRPr lang="en-US" sz="1400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6AECEF5D-C4EE-8047-BDEB-7A6507D06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9850" y="2097561"/>
            <a:ext cx="8337550" cy="3108543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r>
              <a:rPr lang="en-IE" sz="2800" dirty="0"/>
              <a:t>Call g with some value, call f with the result</a:t>
            </a:r>
          </a:p>
          <a:p>
            <a:endParaRPr lang="en-IE" sz="2800" dirty="0"/>
          </a:p>
          <a:p>
            <a:r>
              <a:rPr lang="en-IE" sz="2800" dirty="0"/>
              <a:t>(.) :: (b -&gt; c) -&gt; (a -&gt; b) -&gt; a -&gt; c</a:t>
            </a:r>
          </a:p>
          <a:p>
            <a:r>
              <a:rPr lang="en-IE" sz="2800" dirty="0"/>
              <a:t>f . g = \x -&gt; f (g x)</a:t>
            </a:r>
          </a:p>
          <a:p>
            <a:endParaRPr lang="en-IE" sz="2800" dirty="0"/>
          </a:p>
          <a:p>
            <a:r>
              <a:rPr lang="en-IE" sz="2800" dirty="0"/>
              <a:t>Input parameter of f </a:t>
            </a:r>
            <a:r>
              <a:rPr lang="en-IE" sz="2800" b="1" dirty="0"/>
              <a:t>must</a:t>
            </a:r>
            <a:r>
              <a:rPr lang="en-IE" sz="2800" dirty="0"/>
              <a:t> be the same as the return type of g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F72AE65-C1C2-C54C-98E3-0973874A5B16}"/>
              </a:ext>
            </a:extLst>
          </p:cNvPr>
          <p:cNvSpPr txBox="1">
            <a:spLocks noChangeArrowheads="1"/>
          </p:cNvSpPr>
          <p:nvPr/>
        </p:nvSpPr>
        <p:spPr>
          <a:xfrm>
            <a:off x="795528" y="753228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kern="0" dirty="0">
                <a:latin typeface="Arial Black" charset="0"/>
                <a:ea typeface="ＭＳ Ｐゴシック" charset="0"/>
                <a:cs typeface="ＭＳ Ｐゴシック" charset="0"/>
              </a:rPr>
              <a:t>Function Composition</a:t>
            </a:r>
          </a:p>
          <a:p>
            <a:r>
              <a:rPr lang="en-US" kern="0" dirty="0">
                <a:latin typeface="Arial Black" charset="0"/>
                <a:ea typeface="ＭＳ Ｐゴシック" charset="0"/>
                <a:cs typeface="ＭＳ Ｐゴシック" charset="0"/>
              </a:rPr>
              <a:t> </a:t>
            </a:r>
            <a:endParaRPr lang="en-US" kern="0" dirty="0">
              <a:latin typeface="Arial Black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85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1B33B99-B41A-9444-99A2-3C524186CF57}" type="slidenum">
              <a:rPr lang="en-US" sz="1400"/>
              <a:pPr/>
              <a:t>3</a:t>
            </a:fld>
            <a:endParaRPr lang="en-US" sz="1400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6AECEF5D-C4EE-8047-BDEB-7A6507D06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7266" y="1979742"/>
            <a:ext cx="8337550" cy="4493538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r>
              <a:rPr lang="en-IE" sz="2800" dirty="0"/>
              <a:t>Often convenient to create functions on the fly</a:t>
            </a:r>
          </a:p>
          <a:p>
            <a:r>
              <a:rPr lang="en-IE" sz="2800" dirty="0"/>
              <a:t>Could use lambda, but composition may be more concise</a:t>
            </a:r>
          </a:p>
          <a:p>
            <a:endParaRPr lang="en-IE" sz="2800" dirty="0"/>
          </a:p>
          <a:p>
            <a:endParaRPr lang="en-IE" sz="2800" dirty="0"/>
          </a:p>
          <a:p>
            <a:r>
              <a:rPr lang="en-IE" sz="2800" dirty="0"/>
              <a:t>[-5,-3,-2,-7]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r>
              <a:rPr lang="en-IE" sz="2800" dirty="0"/>
              <a:t>[-5,-3,-2,-7]</a:t>
            </a:r>
          </a:p>
          <a:p>
            <a:endParaRPr lang="en-IE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F72AE65-C1C2-C54C-98E3-0973874A5B16}"/>
              </a:ext>
            </a:extLst>
          </p:cNvPr>
          <p:cNvSpPr txBox="1">
            <a:spLocks noChangeArrowheads="1"/>
          </p:cNvSpPr>
          <p:nvPr/>
        </p:nvSpPr>
        <p:spPr>
          <a:xfrm>
            <a:off x="673608" y="955722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kern="0" dirty="0">
                <a:latin typeface="Arial Black" charset="0"/>
                <a:ea typeface="ＭＳ Ｐゴシック" charset="0"/>
                <a:cs typeface="ＭＳ Ｐゴシック" charset="0"/>
              </a:rPr>
              <a:t>Function Composition – why </a:t>
            </a:r>
            <a:endParaRPr lang="en-US" kern="0" dirty="0">
              <a:latin typeface="Arial Black" charset="0"/>
              <a:ea typeface="ＭＳ Ｐゴシック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4849E8FD-33D0-8E45-A568-3C5036D68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596718"/>
            <a:ext cx="7805342" cy="52322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dirty="0"/>
              <a:t>*Main&gt; map (\x -&gt; negate (abs x)) [5,-3, -2, 7]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4D8CF9A7-68F2-2E49-A515-2EFC100D9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127269"/>
            <a:ext cx="6641562" cy="52322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dirty="0"/>
              <a:t>*Main&gt; map (negate . abs) [5, -3, -2, 7]</a:t>
            </a:r>
          </a:p>
        </p:txBody>
      </p:sp>
    </p:spTree>
    <p:extLst>
      <p:ext uri="{BB962C8B-B14F-4D97-AF65-F5344CB8AC3E}">
        <p14:creationId xmlns:p14="http://schemas.microsoft.com/office/powerpoint/2010/main" val="3256428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1B33B99-B41A-9444-99A2-3C524186CF57}" type="slidenum">
              <a:rPr lang="en-US" sz="1400"/>
              <a:pPr/>
              <a:t>4</a:t>
            </a:fld>
            <a:endParaRPr lang="en-US" sz="1400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6AECEF5D-C4EE-8047-BDEB-7A6507D06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7225" y="2352174"/>
            <a:ext cx="8337550" cy="489364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r>
              <a:rPr lang="en-IE" sz="2400" dirty="0"/>
              <a:t>Apply to </a:t>
            </a:r>
          </a:p>
          <a:p>
            <a:endParaRPr lang="en-IE" dirty="0"/>
          </a:p>
          <a:p>
            <a:r>
              <a:rPr lang="en-IE" sz="2800" dirty="0"/>
              <a:t>[[1..5],[3..6],[1..7]]</a:t>
            </a:r>
          </a:p>
          <a:p>
            <a:endParaRPr lang="en-IE" sz="2800" dirty="0"/>
          </a:p>
          <a:p>
            <a:r>
              <a:rPr lang="en-IE" sz="2800" dirty="0"/>
              <a:t> returns     [-14,-15,-27]</a:t>
            </a:r>
          </a:p>
          <a:p>
            <a:endParaRPr lang="en-IE" sz="2800" dirty="0"/>
          </a:p>
          <a:p>
            <a:endParaRPr lang="en-IE" sz="2800" dirty="0"/>
          </a:p>
          <a:p>
            <a:r>
              <a:rPr lang="en-IE" sz="2800" dirty="0"/>
              <a:t>Apply to </a:t>
            </a:r>
          </a:p>
          <a:p>
            <a:r>
              <a:rPr lang="en-IE" sz="2800" dirty="0"/>
              <a:t>[[1..5],[3..6],[1..7]]</a:t>
            </a:r>
          </a:p>
          <a:p>
            <a:endParaRPr lang="en-IE" sz="2800" dirty="0"/>
          </a:p>
          <a:p>
            <a:r>
              <a:rPr lang="en-IE" sz="2800" dirty="0"/>
              <a:t>  returns    [-14,-15,-27]</a:t>
            </a:r>
          </a:p>
          <a:p>
            <a:endParaRPr lang="en-IE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F72AE65-C1C2-C54C-98E3-0973874A5B16}"/>
              </a:ext>
            </a:extLst>
          </p:cNvPr>
          <p:cNvSpPr txBox="1">
            <a:spLocks noChangeArrowheads="1"/>
          </p:cNvSpPr>
          <p:nvPr/>
        </p:nvSpPr>
        <p:spPr>
          <a:xfrm>
            <a:off x="308392" y="937177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kern="0" dirty="0">
                <a:latin typeface="Arial Black" charset="0"/>
                <a:ea typeface="ＭＳ Ｐゴシック" charset="0"/>
                <a:cs typeface="ＭＳ Ｐゴシック" charset="0"/>
              </a:rPr>
              <a:t>Function Composition – why </a:t>
            </a:r>
            <a:endParaRPr lang="en-US" kern="0" dirty="0">
              <a:latin typeface="Arial Black" charset="0"/>
              <a:ea typeface="ＭＳ Ｐゴシック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46223407-E5E0-6045-A8C9-392ECC21C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7225" y="1934901"/>
            <a:ext cx="7150483" cy="52322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dirty="0"/>
              <a:t>*Main&gt; map (\xs -&gt; negate (sum (tail xs)))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9540651B-C426-3B42-8DF0-BE7B2999D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7225" y="4427288"/>
            <a:ext cx="7150483" cy="52322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dirty="0"/>
              <a:t>*Main&gt; map (negate . sum . tail)</a:t>
            </a:r>
          </a:p>
        </p:txBody>
      </p:sp>
    </p:spTree>
    <p:extLst>
      <p:ext uri="{BB962C8B-B14F-4D97-AF65-F5344CB8AC3E}">
        <p14:creationId xmlns:p14="http://schemas.microsoft.com/office/powerpoint/2010/main" val="354633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4C7B856-FFCE-0148-B1AC-9D59BA9991B2}" type="slidenum">
              <a:rPr lang="en-US" sz="1400"/>
              <a:pPr/>
              <a:t>5</a:t>
            </a:fld>
            <a:endParaRPr lang="en-US" sz="1400"/>
          </a:p>
        </p:txBody>
      </p:sp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723899" y="872360"/>
            <a:ext cx="939165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kumimoji="1" lang="en-IE" sz="3600" dirty="0">
                <a:solidFill>
                  <a:schemeClr val="tx2"/>
                </a:solidFill>
                <a:latin typeface="+mj-lt"/>
              </a:rPr>
              <a:t>Eta conversion with Function Co</a:t>
            </a:r>
            <a:r>
              <a:rPr kumimoji="1" lang="en-US" sz="3600" dirty="0" err="1">
                <a:solidFill>
                  <a:schemeClr val="tx2"/>
                </a:solidFill>
                <a:latin typeface="+mj-lt"/>
              </a:rPr>
              <a:t>mposition</a:t>
            </a:r>
            <a:endParaRPr kumimoji="1" lang="en-US" sz="36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2519362" y="2241512"/>
            <a:ext cx="3688557" cy="46128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mr-IN" sz="2400" dirty="0" err="1"/>
              <a:t>f</a:t>
            </a:r>
            <a:r>
              <a:rPr lang="mr-IN" sz="2400" dirty="0"/>
              <a:t> (</a:t>
            </a:r>
            <a:r>
              <a:rPr lang="en-IE" sz="2400" dirty="0"/>
              <a:t> </a:t>
            </a:r>
            <a:r>
              <a:rPr lang="mr-IN" sz="2400" dirty="0" err="1"/>
              <a:t>g</a:t>
            </a:r>
            <a:r>
              <a:rPr lang="mr-IN" sz="2400" dirty="0"/>
              <a:t> ( </a:t>
            </a:r>
            <a:r>
              <a:rPr lang="mr-IN" sz="2400" dirty="0" err="1"/>
              <a:t>h</a:t>
            </a:r>
            <a:r>
              <a:rPr lang="mr-IN" sz="2400" dirty="0"/>
              <a:t> (</a:t>
            </a:r>
            <a:r>
              <a:rPr lang="mr-IN" sz="2400" dirty="0" err="1"/>
              <a:t>i</a:t>
            </a:r>
            <a:r>
              <a:rPr lang="mr-IN" sz="2400" dirty="0"/>
              <a:t> (</a:t>
            </a:r>
            <a:r>
              <a:rPr lang="mr-IN" sz="2400" dirty="0" err="1"/>
              <a:t>j</a:t>
            </a:r>
            <a:r>
              <a:rPr lang="mr-IN" sz="2400" dirty="0"/>
              <a:t> (</a:t>
            </a:r>
            <a:r>
              <a:rPr lang="mr-IN" sz="2400" dirty="0" err="1"/>
              <a:t>k</a:t>
            </a:r>
            <a:r>
              <a:rPr lang="mr-IN" sz="2400" dirty="0"/>
              <a:t> </a:t>
            </a:r>
            <a:r>
              <a:rPr lang="mr-IN" sz="2400" dirty="0" err="1"/>
              <a:t>x</a:t>
            </a:r>
            <a:r>
              <a:rPr lang="mr-IN" sz="2400" dirty="0"/>
              <a:t>)</a:t>
            </a:r>
            <a:r>
              <a:rPr lang="en-IE" sz="2400" dirty="0"/>
              <a:t> </a:t>
            </a:r>
            <a:r>
              <a:rPr lang="mr-IN" sz="2400" dirty="0"/>
              <a:t>)</a:t>
            </a:r>
            <a:r>
              <a:rPr lang="en-IE" sz="2400" dirty="0"/>
              <a:t> </a:t>
            </a:r>
            <a:r>
              <a:rPr lang="mr-IN" sz="2400" dirty="0"/>
              <a:t>)</a:t>
            </a:r>
            <a:r>
              <a:rPr lang="en-IE" sz="2400" dirty="0"/>
              <a:t> </a:t>
            </a:r>
            <a:r>
              <a:rPr lang="mr-IN" sz="2400" dirty="0"/>
              <a:t>)</a:t>
            </a:r>
            <a:r>
              <a:rPr lang="en-IE" sz="2400" dirty="0"/>
              <a:t> </a:t>
            </a:r>
            <a:r>
              <a:rPr lang="mr-IN" sz="2400" dirty="0"/>
              <a:t>)</a:t>
            </a:r>
            <a:endParaRPr lang="en-US" sz="2400" dirty="0">
              <a:latin typeface="Lucida Sans Typewriter" charset="0"/>
            </a:endParaRPr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2519362" y="4072644"/>
            <a:ext cx="4910138" cy="86946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cs-CZ" sz="2400" dirty="0" err="1"/>
              <a:t>myfunc</a:t>
            </a:r>
            <a:r>
              <a:rPr lang="cs-CZ" sz="2400" dirty="0"/>
              <a:t> :: a -&gt; b</a:t>
            </a:r>
          </a:p>
          <a:p>
            <a:pPr>
              <a:lnSpc>
                <a:spcPct val="110000"/>
              </a:lnSpc>
            </a:pPr>
            <a:r>
              <a:rPr lang="cs-CZ" sz="2400" dirty="0" err="1"/>
              <a:t>myfunc</a:t>
            </a:r>
            <a:r>
              <a:rPr lang="cs-CZ" sz="2400" dirty="0"/>
              <a:t> </a:t>
            </a:r>
            <a:r>
              <a:rPr lang="cs-CZ" sz="2400" dirty="0" err="1"/>
              <a:t>x</a:t>
            </a:r>
            <a:r>
              <a:rPr lang="cs-CZ" sz="2400" dirty="0"/>
              <a:t> = (f . g . h . i . j . k )   </a:t>
            </a:r>
            <a:r>
              <a:rPr lang="cs-CZ" sz="2400" dirty="0" err="1"/>
              <a:t>x</a:t>
            </a:r>
            <a:endParaRPr lang="en-US" sz="2400" dirty="0">
              <a:latin typeface="Lucida Sans Typewriter" charset="0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519362" y="3186124"/>
            <a:ext cx="3344228" cy="463204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cs-CZ" sz="2400" dirty="0"/>
              <a:t>(f . g . h . i . j . k )   </a:t>
            </a:r>
            <a:r>
              <a:rPr lang="cs-CZ" sz="2400" dirty="0" err="1"/>
              <a:t>x</a:t>
            </a:r>
            <a:endParaRPr lang="en-US" sz="2400" dirty="0">
              <a:latin typeface="Lucida Sans Typewriter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07443" y="2702792"/>
            <a:ext cx="4014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be rewritten as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519362" y="5788745"/>
            <a:ext cx="4361498" cy="86946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cs-CZ" sz="2400" dirty="0" err="1"/>
              <a:t>myfunc</a:t>
            </a:r>
            <a:r>
              <a:rPr lang="cs-CZ" sz="2400" dirty="0"/>
              <a:t> :: a -&gt; b</a:t>
            </a:r>
          </a:p>
          <a:p>
            <a:pPr>
              <a:lnSpc>
                <a:spcPct val="110000"/>
              </a:lnSpc>
            </a:pPr>
            <a:r>
              <a:rPr lang="cs-CZ" sz="2400" dirty="0" err="1"/>
              <a:t>myfunc</a:t>
            </a:r>
            <a:r>
              <a:rPr lang="cs-CZ" sz="2400" dirty="0"/>
              <a:t> = (f . g . h . i . j . k )   </a:t>
            </a:r>
            <a:endParaRPr lang="en-US" sz="2400" dirty="0">
              <a:latin typeface="Lucida Sans Typewriter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07443" y="5229868"/>
            <a:ext cx="4014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be rewritten as </a:t>
            </a:r>
          </a:p>
        </p:txBody>
      </p:sp>
    </p:spTree>
    <p:extLst>
      <p:ext uri="{BB962C8B-B14F-4D97-AF65-F5344CB8AC3E}">
        <p14:creationId xmlns:p14="http://schemas.microsoft.com/office/powerpoint/2010/main" val="281691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animBg="1"/>
      <p:bldP spid="38917" grpId="0" animBg="1"/>
      <p:bldP spid="8" grpId="0" animBg="1"/>
      <p:bldP spid="10" grpId="0" animBg="1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4C7B856-FFCE-0148-B1AC-9D59BA9991B2}" type="slidenum">
              <a:rPr lang="en-US" sz="1400"/>
              <a:pPr/>
              <a:t>6</a:t>
            </a:fld>
            <a:endParaRPr lang="en-US" sz="1400"/>
          </a:p>
        </p:txBody>
      </p:sp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625477" y="975456"/>
            <a:ext cx="83089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kumimoji="1" lang="en-US" sz="3600" dirty="0">
                <a:solidFill>
                  <a:schemeClr val="tx2"/>
                </a:solidFill>
                <a:latin typeface="+mj-lt"/>
              </a:rPr>
              <a:t>Eta Conversion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1631157" y="2313567"/>
            <a:ext cx="6811962" cy="334245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/>
              <a:t>answer :: [</a:t>
            </a:r>
            <a:r>
              <a:rPr lang="en-US" sz="2400" dirty="0" err="1"/>
              <a:t>Int</a:t>
            </a:r>
            <a:r>
              <a:rPr lang="en-US" sz="2400" dirty="0"/>
              <a:t>] -&gt; 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answer </a:t>
            </a:r>
            <a:r>
              <a:rPr lang="en-US" sz="2400" dirty="0" err="1"/>
              <a:t>xs</a:t>
            </a:r>
            <a:r>
              <a:rPr lang="en-US" sz="2400" dirty="0"/>
              <a:t> = sum (map cube (filter by7 </a:t>
            </a:r>
            <a:r>
              <a:rPr lang="en-US" sz="2400" dirty="0" err="1"/>
              <a:t>xs</a:t>
            </a:r>
            <a:r>
              <a:rPr lang="en-US" sz="2400" dirty="0"/>
              <a:t>)) </a:t>
            </a:r>
          </a:p>
          <a:p>
            <a:pPr>
              <a:lnSpc>
                <a:spcPct val="110000"/>
              </a:lnSpc>
            </a:pPr>
            <a:endParaRPr lang="en-US" sz="2400" dirty="0"/>
          </a:p>
          <a:p>
            <a:pPr>
              <a:lnSpc>
                <a:spcPct val="110000"/>
              </a:lnSpc>
            </a:pPr>
            <a:r>
              <a:rPr lang="en-US" sz="2400" dirty="0"/>
              <a:t>cube :: </a:t>
            </a:r>
            <a:r>
              <a:rPr lang="en-US" sz="2400" dirty="0" err="1"/>
              <a:t>Int</a:t>
            </a:r>
            <a:r>
              <a:rPr lang="en-US" sz="2400" dirty="0"/>
              <a:t> -&gt; 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cube x = x * x * x </a:t>
            </a:r>
          </a:p>
          <a:p>
            <a:pPr>
              <a:lnSpc>
                <a:spcPct val="110000"/>
              </a:lnSpc>
            </a:pPr>
            <a:endParaRPr lang="en-US" sz="2400" dirty="0"/>
          </a:p>
          <a:p>
            <a:pPr>
              <a:lnSpc>
                <a:spcPct val="110000"/>
              </a:lnSpc>
            </a:pPr>
            <a:r>
              <a:rPr lang="en-US" sz="2400" dirty="0"/>
              <a:t>by7 :: </a:t>
            </a:r>
            <a:r>
              <a:rPr lang="en-US" sz="2400" dirty="0" err="1"/>
              <a:t>Int</a:t>
            </a:r>
            <a:r>
              <a:rPr lang="en-US" sz="2400" dirty="0"/>
              <a:t> -&gt; </a:t>
            </a:r>
            <a:r>
              <a:rPr lang="en-US" sz="2400" dirty="0" err="1"/>
              <a:t>Bool</a:t>
            </a:r>
            <a:r>
              <a:rPr lang="en-US" sz="2400" dirty="0"/>
              <a:t> 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by7 x = x `mod` 7 == 0</a:t>
            </a:r>
            <a:endParaRPr lang="en-US" sz="2400" dirty="0">
              <a:latin typeface="Lucida Sans Typewriter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39914" y="6260414"/>
            <a:ext cx="8066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be rewritten using the eta reduction</a:t>
            </a:r>
          </a:p>
        </p:txBody>
      </p:sp>
    </p:spTree>
    <p:extLst>
      <p:ext uri="{BB962C8B-B14F-4D97-AF65-F5344CB8AC3E}">
        <p14:creationId xmlns:p14="http://schemas.microsoft.com/office/powerpoint/2010/main" val="2079311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uiExpand="1" build="allAtOnce" animBg="1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66A1E-BCD0-1ADF-F8E2-CD74D29C0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introduce function composition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942DEB-4646-FBE4-A64F-859A5FC4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04839C-9BB7-BB4D-96E1-589D0E7BC0C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71073B-4E33-34F8-2AFA-C1F6D8666F2A}"/>
              </a:ext>
            </a:extLst>
          </p:cNvPr>
          <p:cNvSpPr txBox="1"/>
          <p:nvPr/>
        </p:nvSpPr>
        <p:spPr>
          <a:xfrm>
            <a:off x="1359775" y="2410823"/>
            <a:ext cx="8509439" cy="1004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800" dirty="0"/>
              <a:t>answer :: [Int] -&gt; Int 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answer </a:t>
            </a:r>
            <a:r>
              <a:rPr lang="en-US" sz="2800" dirty="0" err="1"/>
              <a:t>xs</a:t>
            </a:r>
            <a:r>
              <a:rPr lang="en-US" sz="2800" dirty="0"/>
              <a:t> = sum (map cube (filter by7 </a:t>
            </a:r>
            <a:r>
              <a:rPr lang="en-US" sz="2800" dirty="0" err="1"/>
              <a:t>xs</a:t>
            </a:r>
            <a:r>
              <a:rPr lang="en-US" sz="2800" dirty="0"/>
              <a:t>))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C20365-69FE-4566-7C37-62277B0ADEB8}"/>
              </a:ext>
            </a:extLst>
          </p:cNvPr>
          <p:cNvSpPr txBox="1"/>
          <p:nvPr/>
        </p:nvSpPr>
        <p:spPr>
          <a:xfrm>
            <a:off x="1166648" y="3846786"/>
            <a:ext cx="9156674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Each function operates on the output of the previous function:</a:t>
            </a:r>
          </a:p>
          <a:p>
            <a:pPr lvl="1">
              <a:buFont typeface="+mj-lt"/>
              <a:buAutoNum type="arabicPeriod"/>
            </a:pPr>
            <a:r>
              <a:rPr lang="en-IE" sz="2400" dirty="0"/>
              <a:t>filter by7 </a:t>
            </a:r>
            <a:r>
              <a:rPr lang="en-IE" sz="2400" dirty="0" err="1"/>
              <a:t>xs</a:t>
            </a:r>
            <a:r>
              <a:rPr lang="en-IE" sz="2400" dirty="0"/>
              <a:t> → Filters numbers divisible by 7.</a:t>
            </a:r>
          </a:p>
          <a:p>
            <a:pPr lvl="1">
              <a:buFont typeface="+mj-lt"/>
              <a:buAutoNum type="arabicPeriod"/>
            </a:pPr>
            <a:r>
              <a:rPr lang="en-IE" sz="2400" dirty="0"/>
              <a:t>map cube (filter by7 </a:t>
            </a:r>
            <a:r>
              <a:rPr lang="en-IE" sz="2400" dirty="0" err="1"/>
              <a:t>xs</a:t>
            </a:r>
            <a:r>
              <a:rPr lang="en-IE" sz="2400" dirty="0"/>
              <a:t>) → Cubes the filtered numbers.</a:t>
            </a:r>
          </a:p>
          <a:p>
            <a:pPr lvl="1">
              <a:buFont typeface="+mj-lt"/>
              <a:buAutoNum type="arabicPeriod"/>
            </a:pPr>
            <a:r>
              <a:rPr lang="en-IE" sz="2400" dirty="0"/>
              <a:t>sum (map cube (filter by7 </a:t>
            </a:r>
            <a:r>
              <a:rPr lang="en-IE" sz="2400" dirty="0" err="1"/>
              <a:t>xs</a:t>
            </a:r>
            <a:r>
              <a:rPr lang="en-IE" sz="2400" dirty="0"/>
              <a:t>)) → Sums the cubed numbers.</a:t>
            </a:r>
          </a:p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1813D5-8975-2F92-9A55-040E9D11AE25}"/>
              </a:ext>
            </a:extLst>
          </p:cNvPr>
          <p:cNvSpPr txBox="1"/>
          <p:nvPr/>
        </p:nvSpPr>
        <p:spPr>
          <a:xfrm>
            <a:off x="1166648" y="5894326"/>
            <a:ext cx="90877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Our goal is to express the function using functional composition </a:t>
            </a:r>
          </a:p>
          <a:p>
            <a:r>
              <a:rPr lang="en-US" sz="2400" dirty="0"/>
              <a:t>and eliminate </a:t>
            </a:r>
            <a:r>
              <a:rPr lang="en-US" sz="2400" dirty="0" err="1"/>
              <a:t>xs</a:t>
            </a:r>
            <a:r>
              <a:rPr lang="en-US" sz="2400" dirty="0"/>
              <a:t> if possible.</a:t>
            </a:r>
          </a:p>
        </p:txBody>
      </p:sp>
    </p:spTree>
    <p:extLst>
      <p:ext uri="{BB962C8B-B14F-4D97-AF65-F5344CB8AC3E}">
        <p14:creationId xmlns:p14="http://schemas.microsoft.com/office/powerpoint/2010/main" val="853066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18AF9-4EBA-0122-ABE6-0F594F1DA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Function Composition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AD3991-3BF6-A980-46B1-39326A7C9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04839C-9BB7-BB4D-96E1-589D0E7BC0C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E2F53D-C430-91D9-BFD3-A480666F2932}"/>
              </a:ext>
            </a:extLst>
          </p:cNvPr>
          <p:cNvSpPr txBox="1"/>
          <p:nvPr/>
        </p:nvSpPr>
        <p:spPr>
          <a:xfrm>
            <a:off x="2954721" y="3252850"/>
            <a:ext cx="3761389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f (g (h x))  ⟶  (f . g . h) 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CE473F-554E-4308-F488-40D484D88785}"/>
              </a:ext>
            </a:extLst>
          </p:cNvPr>
          <p:cNvSpPr txBox="1"/>
          <p:nvPr/>
        </p:nvSpPr>
        <p:spPr>
          <a:xfrm>
            <a:off x="1198178" y="2598003"/>
            <a:ext cx="9126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 use the composition operator (.) which allows us to rewrite: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A97C4C-F087-9120-9415-730B682E8C70}"/>
              </a:ext>
            </a:extLst>
          </p:cNvPr>
          <p:cNvSpPr txBox="1"/>
          <p:nvPr/>
        </p:nvSpPr>
        <p:spPr>
          <a:xfrm>
            <a:off x="1198178" y="4085584"/>
            <a:ext cx="91265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dirty="0"/>
              <a:t>Since </a:t>
            </a:r>
            <a:r>
              <a:rPr lang="en-IE" sz="2400" dirty="0" err="1"/>
              <a:t>xs</a:t>
            </a:r>
            <a:r>
              <a:rPr lang="en-IE" sz="2400" dirty="0"/>
              <a:t> is simply being passed through all the functions, we can remove it by introducing function composition: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E14F0F-5EF6-8C16-F211-F5B42D68EDA1}"/>
              </a:ext>
            </a:extLst>
          </p:cNvPr>
          <p:cNvSpPr txBox="1"/>
          <p:nvPr/>
        </p:nvSpPr>
        <p:spPr>
          <a:xfrm>
            <a:off x="2954721" y="5520246"/>
            <a:ext cx="5952796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answer = sum . map cube . filter by7</a:t>
            </a:r>
          </a:p>
        </p:txBody>
      </p:sp>
    </p:spTree>
    <p:extLst>
      <p:ext uri="{BB962C8B-B14F-4D97-AF65-F5344CB8AC3E}">
        <p14:creationId xmlns:p14="http://schemas.microsoft.com/office/powerpoint/2010/main" val="339708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19CC8-5798-E409-972D-F27726155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it down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BBD5CE-9A03-2317-B41B-791D0775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04839C-9BB7-BB4D-96E1-589D0E7BC0C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1D503F-6DF2-E4D6-4167-F2F62496CE6B}"/>
              </a:ext>
            </a:extLst>
          </p:cNvPr>
          <p:cNvSpPr txBox="1"/>
          <p:nvPr/>
        </p:nvSpPr>
        <p:spPr>
          <a:xfrm>
            <a:off x="1848506" y="2443683"/>
            <a:ext cx="60933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400" dirty="0"/>
              <a:t>filter by7 produces a </a:t>
            </a:r>
            <a:r>
              <a:rPr lang="en-IE" sz="2400" b="1" i="1" dirty="0">
                <a:solidFill>
                  <a:srgbClr val="FFC000"/>
                </a:solidFill>
              </a:rPr>
              <a:t>list</a:t>
            </a:r>
            <a:r>
              <a:rPr lang="en-IE" sz="2400" dirty="0">
                <a:solidFill>
                  <a:srgbClr val="FFC000"/>
                </a:solidFill>
              </a:rPr>
              <a:t>.</a:t>
            </a:r>
            <a:r>
              <a:rPr lang="en-IE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400" dirty="0"/>
              <a:t>map cube transforms that </a:t>
            </a:r>
            <a:r>
              <a:rPr lang="en-IE" sz="2400" b="1" dirty="0">
                <a:solidFill>
                  <a:srgbClr val="FFC000"/>
                </a:solidFill>
              </a:rPr>
              <a:t>list</a:t>
            </a:r>
            <a:r>
              <a:rPr lang="en-IE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400" dirty="0"/>
              <a:t>sum reduces the </a:t>
            </a:r>
            <a:r>
              <a:rPr lang="en-IE" sz="2400" b="1" dirty="0">
                <a:solidFill>
                  <a:srgbClr val="FFC000"/>
                </a:solidFill>
              </a:rPr>
              <a:t>list</a:t>
            </a:r>
            <a:r>
              <a:rPr lang="en-IE" sz="2400" dirty="0">
                <a:solidFill>
                  <a:srgbClr val="FFC000"/>
                </a:solidFill>
              </a:rPr>
              <a:t> </a:t>
            </a:r>
            <a:r>
              <a:rPr lang="en-IE" sz="2400" dirty="0"/>
              <a:t>to a single value.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FB69E8-1FC8-8880-5CFC-9EDB3C3D1E41}"/>
              </a:ext>
            </a:extLst>
          </p:cNvPr>
          <p:cNvSpPr txBox="1"/>
          <p:nvPr/>
        </p:nvSpPr>
        <p:spPr>
          <a:xfrm>
            <a:off x="1119176" y="3977758"/>
            <a:ext cx="8497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As function composition applies functions from right to left: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118282-34E2-675E-5404-FCF0BD2F53CF}"/>
              </a:ext>
            </a:extLst>
          </p:cNvPr>
          <p:cNvSpPr txBox="1"/>
          <p:nvPr/>
        </p:nvSpPr>
        <p:spPr>
          <a:xfrm>
            <a:off x="1848506" y="4650269"/>
            <a:ext cx="5952796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answer = sum . map cube . filter by7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64431F-E994-005D-F108-CFB04CC9106D}"/>
              </a:ext>
            </a:extLst>
          </p:cNvPr>
          <p:cNvSpPr txBox="1"/>
          <p:nvPr/>
        </p:nvSpPr>
        <p:spPr>
          <a:xfrm>
            <a:off x="1778218" y="5998808"/>
            <a:ext cx="6093372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dirty="0"/>
              <a:t>answer </a:t>
            </a:r>
            <a:r>
              <a:rPr lang="en-US" dirty="0" err="1"/>
              <a:t>xs</a:t>
            </a:r>
            <a:r>
              <a:rPr lang="en-US" dirty="0"/>
              <a:t> = sum (map cube (filter by7 </a:t>
            </a:r>
            <a:r>
              <a:rPr lang="en-US" dirty="0" err="1"/>
              <a:t>xs</a:t>
            </a:r>
            <a:r>
              <a:rPr lang="en-US" dirty="0"/>
              <a:t>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A8C468-D94B-6B51-AFD0-EE668B661C43}"/>
              </a:ext>
            </a:extLst>
          </p:cNvPr>
          <p:cNvSpPr txBox="1"/>
          <p:nvPr/>
        </p:nvSpPr>
        <p:spPr>
          <a:xfrm>
            <a:off x="1778218" y="5322780"/>
            <a:ext cx="2326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 equivalent to</a:t>
            </a:r>
          </a:p>
        </p:txBody>
      </p:sp>
    </p:spTree>
    <p:extLst>
      <p:ext uri="{BB962C8B-B14F-4D97-AF65-F5344CB8AC3E}">
        <p14:creationId xmlns:p14="http://schemas.microsoft.com/office/powerpoint/2010/main" val="3649071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A92C1-FC59-3429-57C0-380877A0C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Usage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64892A-916B-F4B2-AAC0-851E9911C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04839C-9BB7-BB4D-96E1-589D0E7BC0C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1150B-E250-922C-E41A-898CB8342CF4}"/>
              </a:ext>
            </a:extLst>
          </p:cNvPr>
          <p:cNvSpPr txBox="1"/>
          <p:nvPr/>
        </p:nvSpPr>
        <p:spPr>
          <a:xfrm>
            <a:off x="1170590" y="2932331"/>
            <a:ext cx="3291051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answer [1, 7, 14, 21]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8BDD63-3440-980C-0B3E-318479FD0E92}"/>
              </a:ext>
            </a:extLst>
          </p:cNvPr>
          <p:cNvSpPr txBox="1"/>
          <p:nvPr/>
        </p:nvSpPr>
        <p:spPr>
          <a:xfrm>
            <a:off x="961697" y="2286000"/>
            <a:ext cx="16305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If we run: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FD611-7047-65FB-0B93-79167E531AEA}"/>
              </a:ext>
            </a:extLst>
          </p:cNvPr>
          <p:cNvSpPr txBox="1"/>
          <p:nvPr/>
        </p:nvSpPr>
        <p:spPr>
          <a:xfrm>
            <a:off x="6096000" y="2152416"/>
            <a:ext cx="5952796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answer = sum . map cube . filter by7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8027B1-C7BE-EDA9-38C2-9B5DC9C4E3B5}"/>
              </a:ext>
            </a:extLst>
          </p:cNvPr>
          <p:cNvSpPr txBox="1"/>
          <p:nvPr/>
        </p:nvSpPr>
        <p:spPr>
          <a:xfrm>
            <a:off x="1170590" y="3799663"/>
            <a:ext cx="6093372" cy="193899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IE" sz="2400" dirty="0"/>
              <a:t>filter by7 [1, 7, 14, 21] → [7, 14, 21] </a:t>
            </a:r>
          </a:p>
          <a:p>
            <a:endParaRPr lang="en-IE" sz="2400" dirty="0"/>
          </a:p>
          <a:p>
            <a:r>
              <a:rPr lang="en-IE" sz="2400" dirty="0"/>
              <a:t>map cube [7, 14, 21] → [343, 2744, 9261] </a:t>
            </a:r>
          </a:p>
          <a:p>
            <a:endParaRPr lang="en-IE" sz="2400" dirty="0"/>
          </a:p>
          <a:p>
            <a:r>
              <a:rPr lang="en-IE" sz="2400" dirty="0"/>
              <a:t>sum [343, 2744, 9261] → 12348</a:t>
            </a:r>
            <a:endParaRPr lang="en-US" sz="24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0A6D2DB-D0C3-C744-B354-891B6F034B86}"/>
              </a:ext>
            </a:extLst>
          </p:cNvPr>
          <p:cNvCxnSpPr/>
          <p:nvPr/>
        </p:nvCxnSpPr>
        <p:spPr>
          <a:xfrm flipH="1">
            <a:off x="2380593" y="2614081"/>
            <a:ext cx="7913589" cy="118558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C871F2-9D62-0A8E-739C-5388580D6360}"/>
              </a:ext>
            </a:extLst>
          </p:cNvPr>
          <p:cNvCxnSpPr>
            <a:cxnSpLocks/>
          </p:cNvCxnSpPr>
          <p:nvPr/>
        </p:nvCxnSpPr>
        <p:spPr>
          <a:xfrm flipH="1">
            <a:off x="2380593" y="2494571"/>
            <a:ext cx="6302265" cy="209319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BA9F9B5-DE64-2D43-40C9-195401FFE3CD}"/>
              </a:ext>
            </a:extLst>
          </p:cNvPr>
          <p:cNvCxnSpPr/>
          <p:nvPr/>
        </p:nvCxnSpPr>
        <p:spPr>
          <a:xfrm flipH="1">
            <a:off x="1776984" y="2494571"/>
            <a:ext cx="5806230" cy="2897236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FEB109C-D529-3F16-625C-2D83B0BD0A32}"/>
              </a:ext>
            </a:extLst>
          </p:cNvPr>
          <p:cNvCxnSpPr/>
          <p:nvPr/>
        </p:nvCxnSpPr>
        <p:spPr>
          <a:xfrm flipH="1">
            <a:off x="5202621" y="2494571"/>
            <a:ext cx="1355834" cy="289723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60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9" grpId="0" uiExpand="1" build="allAtOnce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4C7B856-FFCE-0148-B1AC-9D59BA9991B2}" type="slidenum">
              <a:rPr lang="en-US" sz="1400"/>
              <a:pPr/>
              <a:t>11</a:t>
            </a:fld>
            <a:endParaRPr lang="en-US" sz="1400"/>
          </a:p>
        </p:txBody>
      </p:sp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1241588" y="866631"/>
            <a:ext cx="83089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kumimoji="1" lang="en-US" sz="3600" dirty="0">
                <a:solidFill>
                  <a:schemeClr val="tx2"/>
                </a:solidFill>
                <a:latin typeface="+mj-lt"/>
              </a:rPr>
              <a:t>More on Composition Operator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1809353" y="2346081"/>
            <a:ext cx="6027342" cy="866456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/>
              <a:t>answer :: [Int] -&gt; Int 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answer xs = sum . map cube . filter by7 xs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4477" y="3889022"/>
            <a:ext cx="8066086" cy="83099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can be rewritten , by removing xs when it is the rightmost term on each side of =</a:t>
            </a: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974606" y="5696650"/>
            <a:ext cx="5327254" cy="866456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/>
              <a:t>answer :: [Int] -&gt; Int 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answer = sum . map cube . filter by7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36771" y="5346024"/>
            <a:ext cx="3446838" cy="1200329"/>
          </a:xfrm>
          <a:prstGeom prst="rect">
            <a:avLst/>
          </a:prstGeom>
          <a:solidFill>
            <a:srgbClr val="FFC000"/>
          </a:solidFill>
          <a:ln>
            <a:solidFill>
              <a:schemeClr val="tx1">
                <a:alpha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Function-level definition – </a:t>
            </a:r>
            <a:r>
              <a:rPr lang="en-US" sz="2400" dirty="0" err="1"/>
              <a:t>xs</a:t>
            </a:r>
            <a:r>
              <a:rPr lang="en-US" sz="2400" dirty="0"/>
              <a:t> argument is removed </a:t>
            </a:r>
          </a:p>
        </p:txBody>
      </p:sp>
      <p:cxnSp>
        <p:nvCxnSpPr>
          <p:cNvPr id="14" name="Straight Connector 13"/>
          <p:cNvCxnSpPr>
            <a:cxnSpLocks/>
            <a:stCxn id="4" idx="1"/>
          </p:cNvCxnSpPr>
          <p:nvPr/>
        </p:nvCxnSpPr>
        <p:spPr bwMode="auto">
          <a:xfrm flipH="1">
            <a:off x="7136607" y="5946189"/>
            <a:ext cx="1300164" cy="145108"/>
          </a:xfrm>
          <a:prstGeom prst="lin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8436770" y="2092801"/>
            <a:ext cx="2835575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Object-level definition  - </a:t>
            </a:r>
            <a:r>
              <a:rPr lang="en-US" sz="2400" dirty="0" err="1"/>
              <a:t>xs</a:t>
            </a:r>
            <a:r>
              <a:rPr lang="en-US" sz="2400" dirty="0"/>
              <a:t> still named</a:t>
            </a:r>
          </a:p>
        </p:txBody>
      </p:sp>
      <p:cxnSp>
        <p:nvCxnSpPr>
          <p:cNvPr id="19" name="Straight Connector 18"/>
          <p:cNvCxnSpPr>
            <a:cxnSpLocks/>
            <a:stCxn id="15" idx="1"/>
            <a:endCxn id="38915" idx="3"/>
          </p:cNvCxnSpPr>
          <p:nvPr/>
        </p:nvCxnSpPr>
        <p:spPr bwMode="auto">
          <a:xfrm flipH="1">
            <a:off x="7836695" y="2692966"/>
            <a:ext cx="600075" cy="86343"/>
          </a:xfrm>
          <a:prstGeom prst="lin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90688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animBg="1"/>
      <p:bldP spid="12" grpId="0" animBg="1"/>
      <p:bldP spid="11" grpId="0" animBg="1"/>
      <p:bldP spid="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1B33B99-B41A-9444-99A2-3C524186CF57}" type="slidenum">
              <a:rPr lang="en-US" sz="1400"/>
              <a:pPr/>
              <a:t>12</a:t>
            </a:fld>
            <a:endParaRPr lang="en-US" sz="140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F72AE65-C1C2-C54C-98E3-0973874A5B16}"/>
              </a:ext>
            </a:extLst>
          </p:cNvPr>
          <p:cNvSpPr txBox="1">
            <a:spLocks noChangeArrowheads="1"/>
          </p:cNvSpPr>
          <p:nvPr/>
        </p:nvSpPr>
        <p:spPr>
          <a:xfrm>
            <a:off x="308392" y="591704"/>
            <a:ext cx="9372637" cy="1252313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kern="0" dirty="0">
                <a:latin typeface="Arial Black" charset="0"/>
                <a:ea typeface="ＭＳ Ｐゴシック" charset="0"/>
                <a:cs typeface="ＭＳ Ｐゴシック" charset="0"/>
              </a:rPr>
              <a:t>Function Composition with multiple parameters</a:t>
            </a:r>
            <a:endParaRPr lang="en-US" kern="0" dirty="0">
              <a:latin typeface="Arial Black" charset="0"/>
              <a:ea typeface="ＭＳ Ｐゴシック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AC093923-7FB8-2C47-8B49-1A9E1C62B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9468" y="2259449"/>
            <a:ext cx="8843884" cy="95410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dirty="0" err="1"/>
              <a:t>sumReplicatedMax</a:t>
            </a:r>
            <a:r>
              <a:rPr lang="en-IE" dirty="0"/>
              <a:t> :: Int -&gt; Int -&gt; Int</a:t>
            </a:r>
          </a:p>
          <a:p>
            <a:r>
              <a:rPr lang="en-IE" dirty="0" err="1"/>
              <a:t>sumReplicatedMax</a:t>
            </a:r>
            <a:r>
              <a:rPr lang="en-IE" dirty="0"/>
              <a:t> x y = sum (replicate 5 (max x y))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801406-E6B4-5575-F177-F6CC66ACC18D}"/>
              </a:ext>
            </a:extLst>
          </p:cNvPr>
          <p:cNvSpPr txBox="1"/>
          <p:nvPr/>
        </p:nvSpPr>
        <p:spPr>
          <a:xfrm>
            <a:off x="504497" y="3429000"/>
            <a:ext cx="3302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To rewrite, note that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D343C8-1C49-1F27-AB40-2ED1DCDBF2B2}"/>
              </a:ext>
            </a:extLst>
          </p:cNvPr>
          <p:cNvSpPr txBox="1"/>
          <p:nvPr/>
        </p:nvSpPr>
        <p:spPr>
          <a:xfrm>
            <a:off x="1419468" y="4106109"/>
            <a:ext cx="103228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E" sz="2400" dirty="0"/>
              <a:t>max 6 9 → Finds the maximum of 6 and 9.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E" sz="2400" dirty="0"/>
              <a:t>Since 9 is larger, this simplifies to 9.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400" dirty="0"/>
              <a:t>replicate 5 9 → Creates a list with 5 copies of 9, producing [9,9,9,9,9].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400" dirty="0"/>
              <a:t>sum [9,9,9,9,9] → Sums the elements, resulting in 45.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72388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1B33B99-B41A-9444-99A2-3C524186CF57}" type="slidenum">
              <a:rPr lang="en-US" sz="1400"/>
              <a:pPr/>
              <a:t>13</a:t>
            </a:fld>
            <a:endParaRPr lang="en-US" sz="1400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6AECEF5D-C4EE-8047-BDEB-7A6507D06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488" y="2274904"/>
            <a:ext cx="10777728" cy="397031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800" dirty="0"/>
              <a:t>To rewrite a function with lots of parentheses using function composition</a:t>
            </a:r>
          </a:p>
          <a:p>
            <a:endParaRPr lang="en-IE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E" sz="2800" dirty="0"/>
              <a:t>first write out the innermost function and its parameters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E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E" sz="2800" dirty="0"/>
              <a:t>then put a $ before it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E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E" sz="2800" dirty="0"/>
              <a:t>compose all prior functions by omitting their last parameter (but not other parameters) and putting . between them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F72AE65-C1C2-C54C-98E3-0973874A5B16}"/>
              </a:ext>
            </a:extLst>
          </p:cNvPr>
          <p:cNvSpPr txBox="1">
            <a:spLocks noChangeArrowheads="1"/>
          </p:cNvSpPr>
          <p:nvPr/>
        </p:nvSpPr>
        <p:spPr>
          <a:xfrm>
            <a:off x="722376" y="809523"/>
            <a:ext cx="7747001" cy="65722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kern="0" dirty="0">
                <a:latin typeface="Arial Black" charset="0"/>
                <a:ea typeface="ＭＳ Ｐゴシック" charset="0"/>
                <a:cs typeface="ＭＳ Ｐゴシック" charset="0"/>
              </a:rPr>
              <a:t>The process</a:t>
            </a:r>
          </a:p>
        </p:txBody>
      </p:sp>
    </p:spTree>
    <p:extLst>
      <p:ext uri="{BB962C8B-B14F-4D97-AF65-F5344CB8AC3E}">
        <p14:creationId xmlns:p14="http://schemas.microsoft.com/office/powerpoint/2010/main" val="1898198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1676F-915C-0E17-F605-D38446C58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1">
            <a:extLst>
              <a:ext uri="{FF2B5EF4-FFF2-40B4-BE49-F238E27FC236}">
                <a16:creationId xmlns:a16="http://schemas.microsoft.com/office/drawing/2014/main" id="{9AE39536-9249-64BD-62B8-16D63EF21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1B33B99-B41A-9444-99A2-3C524186CF57}" type="slidenum">
              <a:rPr lang="en-US" sz="1400"/>
              <a:pPr/>
              <a:t>14</a:t>
            </a:fld>
            <a:endParaRPr lang="en-US" sz="140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C3D45F5-5A4E-FAC8-DCF4-77167E3EFCB1}"/>
              </a:ext>
            </a:extLst>
          </p:cNvPr>
          <p:cNvSpPr txBox="1">
            <a:spLocks noChangeArrowheads="1"/>
          </p:cNvSpPr>
          <p:nvPr/>
        </p:nvSpPr>
        <p:spPr>
          <a:xfrm>
            <a:off x="149896" y="619709"/>
            <a:ext cx="10932632" cy="1252313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sz="3200" kern="0" dirty="0">
                <a:latin typeface="Arial Black" charset="0"/>
                <a:ea typeface="ＭＳ Ｐゴシック" charset="0"/>
                <a:cs typeface="ＭＳ Ｐゴシック" charset="0"/>
              </a:rPr>
              <a:t>Function Composition with multiple parameters</a:t>
            </a:r>
            <a:endParaRPr lang="en-US" sz="3200" kern="0" dirty="0">
              <a:latin typeface="Arial Black" charset="0"/>
              <a:ea typeface="ＭＳ Ｐゴシック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F9E1AE01-4913-28F1-A3EA-AA677DD6C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594" y="1857210"/>
            <a:ext cx="8766435" cy="52322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dirty="0" err="1"/>
              <a:t>sumReplicatedMax</a:t>
            </a:r>
            <a:r>
              <a:rPr lang="en-IE" dirty="0"/>
              <a:t> n x y = sum (replicate n (max x y))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357BABCE-F1AE-455C-F5AA-6DC3C0279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594" y="3429000"/>
            <a:ext cx="9049213" cy="52322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dirty="0"/>
              <a:t> </a:t>
            </a:r>
            <a:r>
              <a:rPr lang="en-IE" dirty="0" err="1"/>
              <a:t>sumReplicatedMax</a:t>
            </a:r>
            <a:r>
              <a:rPr lang="en-IE" dirty="0"/>
              <a:t> n x y = sum . replicate n $ max x y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93C429B2-021F-A8F2-9DF9-3C3BA1E32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118" y="5961493"/>
            <a:ext cx="8057762" cy="52322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dirty="0" err="1"/>
              <a:t>sumReplicatedMax</a:t>
            </a:r>
            <a:r>
              <a:rPr lang="en-IE" dirty="0"/>
              <a:t> n  = sum . replicate n $ max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C40EEA-B9E5-DFBE-65ED-E9BA7F0A77E1}"/>
              </a:ext>
            </a:extLst>
          </p:cNvPr>
          <p:cNvSpPr txBox="1"/>
          <p:nvPr/>
        </p:nvSpPr>
        <p:spPr>
          <a:xfrm>
            <a:off x="4140495" y="4389703"/>
            <a:ext cx="4095133" cy="9233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As x and y appear on the right of both sides of the equals (=) sign, we can reduce by dropping them  </a:t>
            </a: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C92C33FB-0005-B4B8-42AC-4537A51E7118}"/>
              </a:ext>
            </a:extLst>
          </p:cNvPr>
          <p:cNvSpPr/>
          <p:nvPr/>
        </p:nvSpPr>
        <p:spPr>
          <a:xfrm>
            <a:off x="3746939" y="4111537"/>
            <a:ext cx="220715" cy="1678370"/>
          </a:xfrm>
          <a:prstGeom prst="downArrow">
            <a:avLst/>
          </a:prstGeom>
          <a:solidFill>
            <a:srgbClr val="FFC000"/>
          </a:solidFill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44EBB0-675E-9385-6B81-D2B1EBAA89C0}"/>
              </a:ext>
            </a:extLst>
          </p:cNvPr>
          <p:cNvSpPr txBox="1"/>
          <p:nvPr/>
        </p:nvSpPr>
        <p:spPr>
          <a:xfrm>
            <a:off x="4067503" y="2564252"/>
            <a:ext cx="5125377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Rewrite innermost function and put $ before it,</a:t>
            </a:r>
          </a:p>
          <a:p>
            <a:r>
              <a:rPr lang="en-US" dirty="0"/>
              <a:t>Then compose all prior functions </a:t>
            </a: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55CE7818-2107-69DE-EA04-48D90BA91942}"/>
              </a:ext>
            </a:extLst>
          </p:cNvPr>
          <p:cNvSpPr/>
          <p:nvPr/>
        </p:nvSpPr>
        <p:spPr>
          <a:xfrm>
            <a:off x="3699641" y="2507868"/>
            <a:ext cx="268013" cy="811924"/>
          </a:xfrm>
          <a:prstGeom prst="downArrow">
            <a:avLst/>
          </a:prstGeom>
          <a:solidFill>
            <a:srgbClr val="FFC000"/>
          </a:solidFill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95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2" grpId="0" animBg="1"/>
      <p:bldP spid="3" grpId="0" animBg="1"/>
      <p:bldP spid="4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4C7B856-FFCE-0148-B1AC-9D59BA9991B2}" type="slidenum">
              <a:rPr lang="en-US" sz="1400"/>
              <a:pPr/>
              <a:t>15</a:t>
            </a:fld>
            <a:endParaRPr lang="en-US" sz="1400"/>
          </a:p>
        </p:txBody>
      </p:sp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1961358" y="517782"/>
            <a:ext cx="83089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kumimoji="1" lang="en-US" sz="3600" dirty="0">
                <a:solidFill>
                  <a:schemeClr val="tx2"/>
                </a:solidFill>
                <a:latin typeface="+mj-lt"/>
              </a:rPr>
              <a:t>More on Composition Operator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482379" y="2154119"/>
            <a:ext cx="5227242" cy="460191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2400" dirty="0"/>
              <a:t>fun xs = (filter odd . map square) xs 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3771442" y="3338866"/>
            <a:ext cx="4284267" cy="460191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xmlns:lc="http://schemas.openxmlformats.org/drawingml/2006/lockedCanvas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2400" dirty="0"/>
              <a:t>fun = filter odd . map square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2389" y="2796746"/>
            <a:ext cx="4534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similarly can be rewritten</a:t>
            </a:r>
          </a:p>
        </p:txBody>
      </p:sp>
      <p:sp>
        <p:nvSpPr>
          <p:cNvPr id="2" name="Curved Left Arrow 1">
            <a:extLst>
              <a:ext uri="{FF2B5EF4-FFF2-40B4-BE49-F238E27FC236}">
                <a16:creationId xmlns:a16="http://schemas.microsoft.com/office/drawing/2014/main" id="{BBDB0B5A-EDDF-8149-BBA5-BB32FDF691A7}"/>
              </a:ext>
            </a:extLst>
          </p:cNvPr>
          <p:cNvSpPr/>
          <p:nvPr/>
        </p:nvSpPr>
        <p:spPr bwMode="auto">
          <a:xfrm rot="679231">
            <a:off x="8376492" y="3307856"/>
            <a:ext cx="1652530" cy="523220"/>
          </a:xfrm>
          <a:prstGeom prst="curvedLeftArrow">
            <a:avLst/>
          </a:prstGeom>
          <a:solidFill>
            <a:srgbClr val="FFFF00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ahoma" pitchFamily="-1" charset="0"/>
            </a:endParaRPr>
          </a:p>
        </p:txBody>
      </p:sp>
      <p:sp>
        <p:nvSpPr>
          <p:cNvPr id="16" name="Curved Left Arrow 15">
            <a:extLst>
              <a:ext uri="{FF2B5EF4-FFF2-40B4-BE49-F238E27FC236}">
                <a16:creationId xmlns:a16="http://schemas.microsoft.com/office/drawing/2014/main" id="{B89118A5-742C-D74E-95C2-56A366CEE45C}"/>
              </a:ext>
            </a:extLst>
          </p:cNvPr>
          <p:cNvSpPr/>
          <p:nvPr/>
        </p:nvSpPr>
        <p:spPr bwMode="auto">
          <a:xfrm rot="10206845">
            <a:off x="1693080" y="3261952"/>
            <a:ext cx="1652530" cy="523220"/>
          </a:xfrm>
          <a:prstGeom prst="curvedLeftArrow">
            <a:avLst/>
          </a:prstGeom>
          <a:solidFill>
            <a:srgbClr val="FFFF00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ahoma" pitchFamily="-1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72E102-A64F-AD46-9B60-312DF1D7BFBB}"/>
              </a:ext>
            </a:extLst>
          </p:cNvPr>
          <p:cNvSpPr txBox="1"/>
          <p:nvPr/>
        </p:nvSpPr>
        <p:spPr>
          <a:xfrm>
            <a:off x="8927336" y="4527934"/>
            <a:ext cx="17406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Eta reduction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33316A-DED4-CB44-8DA4-23C4F44AFD5B}"/>
              </a:ext>
            </a:extLst>
          </p:cNvPr>
          <p:cNvSpPr txBox="1"/>
          <p:nvPr/>
        </p:nvSpPr>
        <p:spPr>
          <a:xfrm>
            <a:off x="1753519" y="4669318"/>
            <a:ext cx="20179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Eta abstraction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B52B99-71F0-1D6A-490E-6CD5AC1D541E}"/>
              </a:ext>
            </a:extLst>
          </p:cNvPr>
          <p:cNvSpPr txBox="1"/>
          <p:nvPr/>
        </p:nvSpPr>
        <p:spPr>
          <a:xfrm>
            <a:off x="2171954" y="5708360"/>
            <a:ext cx="8557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try to eliminate the arguments as often as possible</a:t>
            </a:r>
          </a:p>
        </p:txBody>
      </p:sp>
    </p:spTree>
    <p:extLst>
      <p:ext uri="{BB962C8B-B14F-4D97-AF65-F5344CB8AC3E}">
        <p14:creationId xmlns:p14="http://schemas.microsoft.com/office/powerpoint/2010/main" val="32136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3" grpId="0"/>
      <p:bldP spid="2" grpId="0" animBg="1"/>
      <p:bldP spid="16" grpId="0" animBg="1"/>
      <p:bldP spid="3" grpId="0"/>
      <p:bldP spid="17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Picture 41" descr="Text&#10;&#10;Description automatically generated">
            <a:extLst>
              <a:ext uri="{FF2B5EF4-FFF2-40B4-BE49-F238E27FC236}">
                <a16:creationId xmlns:a16="http://schemas.microsoft.com/office/drawing/2014/main" id="{141DDF3B-FD32-7F4E-952D-A3750E179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4954" y="2468166"/>
            <a:ext cx="4888706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6" name="Slide Number Placeholder 2">
            <a:extLst>
              <a:ext uri="{FF2B5EF4-FFF2-40B4-BE49-F238E27FC236}">
                <a16:creationId xmlns:a16="http://schemas.microsoft.com/office/drawing/2014/main" id="{DB04C08F-80B4-4D43-87D0-CE4F7D455D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1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1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ts val="450"/>
              </a:spcAft>
              <a:buClrTx/>
              <a:buNone/>
            </a:pPr>
            <a:fld id="{350E24D9-8BBE-D14C-8545-85663EDC0EE7}" type="slidenum">
              <a:rPr kumimoji="0" lang="en-US" altLang="en-US" sz="1050"/>
              <a:pPr>
                <a:spcBef>
                  <a:spcPct val="0"/>
                </a:spcBef>
                <a:spcAft>
                  <a:spcPts val="450"/>
                </a:spcAft>
                <a:buClrTx/>
                <a:buNone/>
              </a:pPr>
              <a:t>16</a:t>
            </a:fld>
            <a:endParaRPr kumimoji="0" lang="en-US" altLang="en-US" sz="1050"/>
          </a:p>
        </p:txBody>
      </p:sp>
    </p:spTree>
    <p:extLst>
      <p:ext uri="{BB962C8B-B14F-4D97-AF65-F5344CB8AC3E}">
        <p14:creationId xmlns:p14="http://schemas.microsoft.com/office/powerpoint/2010/main" val="676614423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a-higher-order-functions</Template>
  <TotalTime>17792</TotalTime>
  <Words>1021</Words>
  <Application>Microsoft Macintosh PowerPoint</Application>
  <PresentationFormat>Widescreen</PresentationFormat>
  <Paragraphs>151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Black</vt:lpstr>
      <vt:lpstr>Calibri</vt:lpstr>
      <vt:lpstr>Lucida Sans Typewriter</vt:lpstr>
      <vt:lpstr>Tahoma</vt:lpstr>
      <vt:lpstr>Times New Roman</vt:lpstr>
      <vt:lpstr>Trebuchet MS</vt:lpstr>
      <vt:lpstr>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Steps to introduce function composition</vt:lpstr>
      <vt:lpstr>Applying Function Composition </vt:lpstr>
      <vt:lpstr>Break it down</vt:lpstr>
      <vt:lpstr>Example Usage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Nottingham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Programming</dc:title>
  <dc:creator>Dr. Graham Hutton</dc:creator>
  <cp:lastModifiedBy>Mairead Meagher</cp:lastModifiedBy>
  <cp:revision>927</cp:revision>
  <cp:lastPrinted>2019-03-05T06:58:17Z</cp:lastPrinted>
  <dcterms:created xsi:type="dcterms:W3CDTF">2000-11-20T11:40:19Z</dcterms:created>
  <dcterms:modified xsi:type="dcterms:W3CDTF">2026-03-07T00:50:04Z</dcterms:modified>
</cp:coreProperties>
</file>