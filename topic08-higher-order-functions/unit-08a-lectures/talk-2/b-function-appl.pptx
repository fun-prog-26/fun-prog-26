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53" r:id="rId1"/>
  </p:sldMasterIdLst>
  <p:notesMasterIdLst>
    <p:notesMasterId r:id="rId10"/>
  </p:notesMasterIdLst>
  <p:handoutMasterIdLst>
    <p:handoutMasterId r:id="rId11"/>
  </p:handoutMasterIdLst>
  <p:sldIdLst>
    <p:sldId id="356" r:id="rId2"/>
    <p:sldId id="317" r:id="rId3"/>
    <p:sldId id="372" r:id="rId4"/>
    <p:sldId id="373" r:id="rId5"/>
    <p:sldId id="318" r:id="rId6"/>
    <p:sldId id="375" r:id="rId7"/>
    <p:sldId id="376" r:id="rId8"/>
    <p:sldId id="343" r:id="rId9"/>
  </p:sldIdLst>
  <p:sldSz cx="12192000" cy="6858000"/>
  <p:notesSz cx="6794500" cy="9918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3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05"/>
    <p:restoredTop sz="92334"/>
  </p:normalViewPr>
  <p:slideViewPr>
    <p:cSldViewPr snapToGrid="0">
      <p:cViewPr varScale="1">
        <p:scale>
          <a:sx n="81" d="100"/>
          <a:sy n="81" d="100"/>
        </p:scale>
        <p:origin x="208" y="8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890" y="-96"/>
      </p:cViewPr>
      <p:guideLst>
        <p:guide orient="horz" pos="3123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340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340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399D39CF-52F9-4346-9FE1-C943FC43DC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95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t" anchorCtr="0" compatLnSpc="1">
            <a:prstTxWarp prst="textNoShape">
              <a:avLst/>
            </a:prstTxWarp>
          </a:bodyPr>
          <a:lstStyle>
            <a:lvl1pPr defTabSz="860425">
              <a:defRPr sz="11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t" anchorCtr="0" compatLnSpc="1">
            <a:prstTxWarp prst="textNoShape">
              <a:avLst/>
            </a:prstTxWarp>
          </a:bodyPr>
          <a:lstStyle>
            <a:lvl1pPr algn="r" defTabSz="860425">
              <a:defRPr sz="11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7638" y="739775"/>
            <a:ext cx="6570662" cy="36972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300" y="4732338"/>
            <a:ext cx="5038725" cy="4438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3238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b" anchorCtr="0" compatLnSpc="1">
            <a:prstTxWarp prst="textNoShape">
              <a:avLst/>
            </a:prstTxWarp>
          </a:bodyPr>
          <a:lstStyle>
            <a:lvl1pPr defTabSz="860425">
              <a:defRPr sz="11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9393238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b" anchorCtr="0" compatLnSpc="1">
            <a:prstTxWarp prst="textNoShape">
              <a:avLst/>
            </a:prstTxWarp>
          </a:bodyPr>
          <a:lstStyle>
            <a:lvl1pPr algn="r" defTabSz="860425">
              <a:defRPr sz="1100"/>
            </a:lvl1pPr>
          </a:lstStyle>
          <a:p>
            <a:pPr>
              <a:defRPr/>
            </a:pPr>
            <a:fld id="{1ECE8E26-272F-7449-95A5-E00843D887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544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604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A37066-0571-0447-8D03-53F134544E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4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89AA6ABC-C2F2-6A41-A47C-E005777CFC2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6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D8437-CEAD-3B48-8F49-76FEB00753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40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EC47B1-762D-9845-9A2A-BEBF4BB1A68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56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04839C-9BB7-BB4D-96E1-589D0E7BC0C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22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C36D0-0ED6-684D-8A07-95B77A62CE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7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5779D-38C7-9346-8D49-DBC00D1274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03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DE89CE-8BCC-3F47-AE37-99D7281538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31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6669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3679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073005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58924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3171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0162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E69B6E-F9F1-7548-BD0A-5B3C0689392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47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D1CAF307-2DFD-1744-819C-E39F11E12F4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98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186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5C1B8B5-F999-0749-AE86-1FB479D6F14F}" type="slidenum">
              <a:rPr lang="en-US" sz="1400"/>
              <a:pPr/>
              <a:t>0</a:t>
            </a:fld>
            <a:endParaRPr lang="en-US" sz="1400"/>
          </a:p>
        </p:txBody>
      </p:sp>
      <p:sp>
        <p:nvSpPr>
          <p:cNvPr id="727042" name="Text Box 2"/>
          <p:cNvSpPr txBox="1">
            <a:spLocks noChangeArrowheads="1"/>
          </p:cNvSpPr>
          <p:nvPr/>
        </p:nvSpPr>
        <p:spPr bwMode="auto">
          <a:xfrm>
            <a:off x="1639889" y="1001713"/>
            <a:ext cx="8910637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chemeClr val="tx2"/>
                </a:solidFill>
                <a:latin typeface="Arial Black" charset="0"/>
                <a:cs typeface="+mn-cs"/>
              </a:rPr>
              <a:t>PROGRAMMING IN HASKELL</a:t>
            </a:r>
          </a:p>
        </p:txBody>
      </p:sp>
      <p:sp>
        <p:nvSpPr>
          <p:cNvPr id="727043" name="Rectangle 3"/>
          <p:cNvSpPr>
            <a:spLocks noChangeArrowheads="1"/>
          </p:cNvSpPr>
          <p:nvPr/>
        </p:nvSpPr>
        <p:spPr bwMode="auto">
          <a:xfrm>
            <a:off x="1700214" y="5164138"/>
            <a:ext cx="8791575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3200" dirty="0">
                <a:cs typeface="+mn-cs"/>
              </a:rPr>
              <a:t>Topic 8.2 Function Application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9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19113" y="793194"/>
            <a:ext cx="7772400" cy="685800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$ as function application 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5EE633E-1D6D-CB4B-A30D-5EE721A82DDA}" type="slidenum">
              <a:rPr lang="en-US" sz="1400"/>
              <a:pPr/>
              <a:t>1</a:t>
            </a:fld>
            <a:endParaRPr lang="en-US" sz="1400"/>
          </a:p>
        </p:txBody>
      </p:sp>
      <p:sp>
        <p:nvSpPr>
          <p:cNvPr id="654339" name="Text Box 3"/>
          <p:cNvSpPr txBox="1">
            <a:spLocks noChangeArrowheads="1"/>
          </p:cNvSpPr>
          <p:nvPr/>
        </p:nvSpPr>
        <p:spPr bwMode="auto">
          <a:xfrm>
            <a:off x="1581573" y="2291168"/>
            <a:ext cx="8224838" cy="3231654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r>
              <a:rPr lang="en-IE" sz="2800" dirty="0"/>
              <a:t>$ is the function application operator</a:t>
            </a:r>
          </a:p>
          <a:p>
            <a:endParaRPr lang="en-IE" sz="2800" dirty="0"/>
          </a:p>
          <a:p>
            <a:endParaRPr lang="en-IE" sz="2800" dirty="0"/>
          </a:p>
          <a:p>
            <a:endParaRPr lang="en-IE" sz="2800" dirty="0"/>
          </a:p>
          <a:p>
            <a:endParaRPr lang="en-IE" sz="2800" dirty="0"/>
          </a:p>
          <a:p>
            <a:r>
              <a:rPr lang="en-IE" sz="2800" dirty="0"/>
              <a:t>f $ x = f x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F26998A1-D529-3E45-AAEA-5E1598B94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8228" y="3445331"/>
            <a:ext cx="3488455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sz="2400" dirty="0"/>
              <a:t>($) :: (a -&gt; b) -&gt; a -&gt;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39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$ as function application 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5EE633E-1D6D-CB4B-A30D-5EE721A82DDA}" type="slidenum">
              <a:rPr lang="en-US" sz="1400"/>
              <a:pPr/>
              <a:t>2</a:t>
            </a:fld>
            <a:endParaRPr lang="en-US" sz="1400"/>
          </a:p>
        </p:txBody>
      </p:sp>
      <p:sp>
        <p:nvSpPr>
          <p:cNvPr id="654339" name="Text Box 3"/>
          <p:cNvSpPr txBox="1">
            <a:spLocks noChangeArrowheads="1"/>
          </p:cNvSpPr>
          <p:nvPr/>
        </p:nvSpPr>
        <p:spPr bwMode="auto">
          <a:xfrm>
            <a:off x="484026" y="2134454"/>
            <a:ext cx="9810156" cy="397031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dirty="0"/>
              <a:t>It’s function application but: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/>
              <a:t>normal function application has high precedence, </a:t>
            </a:r>
          </a:p>
          <a:p>
            <a:pPr lvl="1"/>
            <a:r>
              <a:rPr lang="en-IE" sz="2800" dirty="0"/>
              <a:t>    $ has low precedence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/>
              <a:t>normal function application is left associate, e.g.,</a:t>
            </a:r>
          </a:p>
          <a:p>
            <a:pPr lvl="2"/>
            <a:r>
              <a:rPr lang="en-IE" sz="2800" dirty="0"/>
              <a:t>      f a b c === ((f a) b) c</a:t>
            </a:r>
          </a:p>
          <a:p>
            <a:pPr lvl="2"/>
            <a:endParaRPr lang="en-IE" sz="2800" dirty="0"/>
          </a:p>
          <a:p>
            <a:pPr lvl="2"/>
            <a:endParaRPr lang="en-IE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/>
              <a:t>$ is right associative</a:t>
            </a:r>
          </a:p>
        </p:txBody>
      </p:sp>
    </p:spTree>
    <p:extLst>
      <p:ext uri="{BB962C8B-B14F-4D97-AF65-F5344CB8AC3E}">
        <p14:creationId xmlns:p14="http://schemas.microsoft.com/office/powerpoint/2010/main" val="318448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5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5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$ as function application 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5EE633E-1D6D-CB4B-A30D-5EE721A82DDA}" type="slidenum">
              <a:rPr lang="en-US" sz="1400"/>
              <a:pPr/>
              <a:t>3</a:t>
            </a:fld>
            <a:endParaRPr lang="en-US" sz="1400"/>
          </a:p>
        </p:txBody>
      </p:sp>
      <p:sp>
        <p:nvSpPr>
          <p:cNvPr id="654339" name="Text Box 3"/>
          <p:cNvSpPr txBox="1">
            <a:spLocks noChangeArrowheads="1"/>
          </p:cNvSpPr>
          <p:nvPr/>
        </p:nvSpPr>
        <p:spPr bwMode="auto">
          <a:xfrm>
            <a:off x="1983581" y="2844469"/>
            <a:ext cx="8224838" cy="2677656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r>
              <a:rPr lang="en-IE" sz="2800" dirty="0"/>
              <a:t>*Main&gt; (^2) 4 + 3</a:t>
            </a:r>
          </a:p>
          <a:p>
            <a:r>
              <a:rPr lang="en-IE" sz="2800" dirty="0"/>
              <a:t>19</a:t>
            </a:r>
          </a:p>
          <a:p>
            <a:endParaRPr lang="en-IE" sz="2800" dirty="0"/>
          </a:p>
          <a:p>
            <a:endParaRPr lang="en-IE" sz="2800" dirty="0"/>
          </a:p>
          <a:p>
            <a:r>
              <a:rPr lang="en-IE" sz="2800" dirty="0"/>
              <a:t>*Main&gt; (^2) $ 4 + 3</a:t>
            </a:r>
          </a:p>
          <a:p>
            <a:r>
              <a:rPr lang="en-IE" sz="2800" dirty="0"/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80588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5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5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400"/>
              <a:pPr/>
              <a:t>4</a:t>
            </a:fld>
            <a:endParaRPr lang="en-US" sz="1400"/>
          </a:p>
        </p:txBody>
      </p:sp>
      <p:sp>
        <p:nvSpPr>
          <p:cNvPr id="655362" name="Text Box 2"/>
          <p:cNvSpPr txBox="1">
            <a:spLocks noChangeArrowheads="1"/>
          </p:cNvSpPr>
          <p:nvPr/>
        </p:nvSpPr>
        <p:spPr bwMode="auto">
          <a:xfrm>
            <a:off x="130374" y="1844017"/>
            <a:ext cx="11558588" cy="48320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dirty="0"/>
              <a:t>Most often it’s a convenience that lets us write fewer parentheses. </a:t>
            </a:r>
          </a:p>
          <a:p>
            <a:endParaRPr lang="en-IE" sz="2800" dirty="0"/>
          </a:p>
          <a:p>
            <a:r>
              <a:rPr lang="en-IE" sz="2800" dirty="0"/>
              <a:t>Example:</a:t>
            </a:r>
          </a:p>
          <a:p>
            <a:pPr lvl="1"/>
            <a:endParaRPr lang="en-IE" sz="2800" dirty="0"/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Is better written as: </a:t>
            </a:r>
          </a:p>
          <a:p>
            <a:pPr lvl="1"/>
            <a:endParaRPr lang="en-IE" sz="2800" dirty="0"/>
          </a:p>
          <a:p>
            <a:endParaRPr lang="en-IE" sz="2800" dirty="0"/>
          </a:p>
          <a:p>
            <a:endParaRPr lang="en-IE" sz="2800" dirty="0"/>
          </a:p>
          <a:p>
            <a:r>
              <a:rPr lang="en-IE" sz="2800" dirty="0"/>
              <a:t>when $ is encountered, expression on right is used as parameter to function on left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9D53C1-F3EF-F841-8342-0288A811C0A9}"/>
              </a:ext>
            </a:extLst>
          </p:cNvPr>
          <p:cNvSpPr txBox="1">
            <a:spLocks noChangeArrowheads="1"/>
          </p:cNvSpPr>
          <p:nvPr/>
        </p:nvSpPr>
        <p:spPr>
          <a:xfrm>
            <a:off x="462720" y="612822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Improved syntax with $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4CEE9FD-0790-7B4A-B2D2-2EE0EE162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182" y="3019443"/>
            <a:ext cx="4033476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sum (map sqrt [1..130])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6E4863BB-67E6-EC43-9828-52F227526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673" y="4639398"/>
            <a:ext cx="4065537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sum $ map sqrt [1..130]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400"/>
              <a:pPr/>
              <a:t>5</a:t>
            </a:fld>
            <a:endParaRPr lang="en-US" sz="140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9D53C1-F3EF-F841-8342-0288A811C0A9}"/>
              </a:ext>
            </a:extLst>
          </p:cNvPr>
          <p:cNvSpPr txBox="1">
            <a:spLocks noChangeArrowheads="1"/>
          </p:cNvSpPr>
          <p:nvPr/>
        </p:nvSpPr>
        <p:spPr>
          <a:xfrm>
            <a:off x="892088" y="806988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More </a:t>
            </a:r>
            <a:r>
              <a:rPr lang="en-US" kern="0" dirty="0">
                <a:latin typeface="Arial Black" charset="0"/>
                <a:ea typeface="ＭＳ Ｐゴシック" charset="0"/>
              </a:rPr>
              <a:t>examples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6AECEF5D-C4EE-8047-BDEB-7A6507D06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444" y="3628167"/>
            <a:ext cx="8401756" cy="280076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dirty="0"/>
              <a:t>80</a:t>
            </a:r>
          </a:p>
          <a:p>
            <a:endParaRPr lang="en-IE" dirty="0"/>
          </a:p>
          <a:p>
            <a:endParaRPr lang="en-IE" dirty="0"/>
          </a:p>
          <a:p>
            <a:r>
              <a:rPr lang="en-IE" sz="2800" dirty="0"/>
              <a:t>80</a:t>
            </a:r>
          </a:p>
          <a:p>
            <a:endParaRPr lang="en-IE" sz="2800" dirty="0"/>
          </a:p>
          <a:p>
            <a:endParaRPr lang="en-IE" sz="2800" dirty="0"/>
          </a:p>
          <a:p>
            <a:r>
              <a:rPr lang="en-IE" sz="2800" dirty="0"/>
              <a:t>80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497516BC-E643-9945-83C8-ECB0E2F67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8362" y="1983710"/>
            <a:ext cx="2291012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sqrt (3+4+9)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D0AD62D-9270-3649-8DD1-B18DF4201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3640" y="2001084"/>
            <a:ext cx="2323072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sqrt $ 3+4+9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6C20755-A748-874A-A240-1AD01B9DEE63}"/>
              </a:ext>
            </a:extLst>
          </p:cNvPr>
          <p:cNvCxnSpPr>
            <a:cxnSpLocks/>
          </p:cNvCxnSpPr>
          <p:nvPr/>
        </p:nvCxnSpPr>
        <p:spPr bwMode="auto">
          <a:xfrm>
            <a:off x="4239374" y="2256640"/>
            <a:ext cx="1964266" cy="0"/>
          </a:xfrm>
          <a:prstGeom prst="straightConnector1">
            <a:avLst/>
          </a:prstGeom>
          <a:noFill/>
          <a:ln w="69850" cap="sq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 Box 4">
            <a:extLst>
              <a:ext uri="{FF2B5EF4-FFF2-40B4-BE49-F238E27FC236}">
                <a16:creationId xmlns:a16="http://schemas.microsoft.com/office/drawing/2014/main" id="{837C0D8B-318E-2249-B794-610C7B8A4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444" y="2971419"/>
            <a:ext cx="7471341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*Main&gt; sum (filter (&gt; 10) (map (*2) [2..10]))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C5E94B6D-DB6B-9249-A25A-20951ACB1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007" y="4073573"/>
            <a:ext cx="7753469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*Main&gt; sum  $ filter (&gt; 10) (map (*2) [2..10])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6A09B125-9802-6549-A6A1-AFDCCFAAA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8362" y="5149696"/>
            <a:ext cx="8009950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*Main&gt; sum  $ filter (&gt; 10) $  map (*2) [2..10]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E167FC0-E325-CCBE-61C2-5546206A3496}"/>
              </a:ext>
            </a:extLst>
          </p:cNvPr>
          <p:cNvCxnSpPr>
            <a:cxnSpLocks/>
          </p:cNvCxnSpPr>
          <p:nvPr/>
        </p:nvCxnSpPr>
        <p:spPr bwMode="auto">
          <a:xfrm>
            <a:off x="4866336" y="3519294"/>
            <a:ext cx="0" cy="554279"/>
          </a:xfrm>
          <a:prstGeom prst="straightConnector1">
            <a:avLst/>
          </a:prstGeom>
          <a:noFill/>
          <a:ln w="69850" cap="sq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9617E1-2826-98B4-6911-DEB3CF044B68}"/>
              </a:ext>
            </a:extLst>
          </p:cNvPr>
          <p:cNvCxnSpPr>
            <a:cxnSpLocks/>
          </p:cNvCxnSpPr>
          <p:nvPr/>
        </p:nvCxnSpPr>
        <p:spPr bwMode="auto">
          <a:xfrm>
            <a:off x="6558169" y="4596793"/>
            <a:ext cx="0" cy="554279"/>
          </a:xfrm>
          <a:prstGeom prst="straightConnector1">
            <a:avLst/>
          </a:prstGeom>
          <a:noFill/>
          <a:ln w="69850" cap="sq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73757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400"/>
              <a:pPr/>
              <a:t>6</a:t>
            </a:fld>
            <a:endParaRPr lang="en-US" sz="140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6AECEF5D-C4EE-8047-BDEB-7A6507D06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731" y="2501129"/>
            <a:ext cx="10056431" cy="440120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dirty="0"/>
              <a:t>30</a:t>
            </a:r>
          </a:p>
          <a:p>
            <a:endParaRPr lang="en-IE" sz="2800" dirty="0"/>
          </a:p>
          <a:p>
            <a:r>
              <a:rPr lang="en-IE" sz="2800" dirty="0"/>
              <a:t>30</a:t>
            </a:r>
          </a:p>
          <a:p>
            <a:endParaRPr lang="en-IE" sz="2800" dirty="0"/>
          </a:p>
          <a:p>
            <a:endParaRPr lang="en-IE" sz="2800" dirty="0"/>
          </a:p>
          <a:p>
            <a:r>
              <a:rPr lang="en-IE" sz="2800" dirty="0"/>
              <a:t>[7.0,30.0,9.0,1.7320508075688772]</a:t>
            </a:r>
          </a:p>
          <a:p>
            <a:endParaRPr lang="en-IE" sz="2800" dirty="0"/>
          </a:p>
          <a:p>
            <a:r>
              <a:rPr lang="en-IE" sz="2800" dirty="0"/>
              <a:t>How does this work?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expression on right is used as parameter to function on left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72AE65-C1C2-C54C-98E3-0973874A5B16}"/>
              </a:ext>
            </a:extLst>
          </p:cNvPr>
          <p:cNvSpPr txBox="1">
            <a:spLocks noChangeArrowheads="1"/>
          </p:cNvSpPr>
          <p:nvPr/>
        </p:nvSpPr>
        <p:spPr>
          <a:xfrm>
            <a:off x="447675" y="743950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Another </a:t>
            </a:r>
            <a:r>
              <a:rPr lang="en-US" kern="0" dirty="0">
                <a:latin typeface="Arial Black" charset="0"/>
                <a:ea typeface="ＭＳ Ｐゴシック" charset="0"/>
              </a:rPr>
              <a:t>example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488C4DEC-3170-8D45-95C7-23CFEC88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730" y="2086862"/>
            <a:ext cx="2980303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*Main&gt; (10*) $ 3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7C4427EC-52D8-7B40-BCE3-1C7C063DB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730" y="2985596"/>
            <a:ext cx="3241593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*Main&gt; ($ 3) (10*)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8CFEBA51-C0FF-334C-9B16-F080DE3D2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7602" y="3977559"/>
            <a:ext cx="5753498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map ($ 3) [(4+), (10*), (^2), sqrt]</a:t>
            </a:r>
          </a:p>
        </p:txBody>
      </p:sp>
    </p:spTree>
    <p:extLst>
      <p:ext uri="{BB962C8B-B14F-4D97-AF65-F5344CB8AC3E}">
        <p14:creationId xmlns:p14="http://schemas.microsoft.com/office/powerpoint/2010/main" val="273984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41" descr="Text&#10;&#10;Description automatically generated">
            <a:extLst>
              <a:ext uri="{FF2B5EF4-FFF2-40B4-BE49-F238E27FC236}">
                <a16:creationId xmlns:a16="http://schemas.microsoft.com/office/drawing/2014/main" id="{141DDF3B-FD32-7F4E-952D-A3750E179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647" y="2482454"/>
            <a:ext cx="4888706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6" name="Slide Number Placeholder 2">
            <a:extLst>
              <a:ext uri="{FF2B5EF4-FFF2-40B4-BE49-F238E27FC236}">
                <a16:creationId xmlns:a16="http://schemas.microsoft.com/office/drawing/2014/main" id="{DB04C08F-80B4-4D43-87D0-CE4F7D455D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1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1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ts val="450"/>
              </a:spcAft>
              <a:buClrTx/>
              <a:buNone/>
            </a:pPr>
            <a:fld id="{350E24D9-8BBE-D14C-8545-85663EDC0EE7}" type="slidenum">
              <a:rPr kumimoji="0" lang="en-US" altLang="en-US" sz="1050"/>
              <a:pPr>
                <a:spcBef>
                  <a:spcPct val="0"/>
                </a:spcBef>
                <a:spcAft>
                  <a:spcPts val="450"/>
                </a:spcAft>
                <a:buClrTx/>
                <a:buNone/>
              </a:pPr>
              <a:t>7</a:t>
            </a:fld>
            <a:endParaRPr kumimoji="0" lang="en-US" altLang="en-US" sz="1050"/>
          </a:p>
        </p:txBody>
      </p:sp>
    </p:spTree>
    <p:extLst>
      <p:ext uri="{BB962C8B-B14F-4D97-AF65-F5344CB8AC3E}">
        <p14:creationId xmlns:p14="http://schemas.microsoft.com/office/powerpoint/2010/main" val="81699883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a-functions</Template>
  <TotalTime>11283</TotalTime>
  <Words>297</Words>
  <Application>Microsoft Macintosh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Tahoma</vt:lpstr>
      <vt:lpstr>Times New Roman</vt:lpstr>
      <vt:lpstr>Trebuchet MS</vt:lpstr>
      <vt:lpstr>Berlin</vt:lpstr>
      <vt:lpstr>PowerPoint Presentation</vt:lpstr>
      <vt:lpstr>$ as function application </vt:lpstr>
      <vt:lpstr>$ as function application </vt:lpstr>
      <vt:lpstr>$ as function application </vt:lpstr>
      <vt:lpstr>PowerPoint Presentation</vt:lpstr>
      <vt:lpstr>PowerPoint Presentation</vt:lpstr>
      <vt:lpstr>PowerPoint Presentation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912</cp:revision>
  <cp:lastPrinted>2019-03-05T06:58:17Z</cp:lastPrinted>
  <dcterms:created xsi:type="dcterms:W3CDTF">2000-11-20T11:40:19Z</dcterms:created>
  <dcterms:modified xsi:type="dcterms:W3CDTF">2026-03-07T00:25:07Z</dcterms:modified>
</cp:coreProperties>
</file>