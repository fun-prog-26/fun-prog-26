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trictFirstAndLastChars="0" saveSubsetFonts="1" autoCompressPictures="0">
  <p:sldMasterIdLst>
    <p:sldMasterId id="2147483753" r:id="rId1"/>
  </p:sldMasterIdLst>
  <p:notesMasterIdLst>
    <p:notesMasterId r:id="rId10"/>
  </p:notesMasterIdLst>
  <p:handoutMasterIdLst>
    <p:handoutMasterId r:id="rId11"/>
  </p:handoutMasterIdLst>
  <p:sldIdLst>
    <p:sldId id="356" r:id="rId2"/>
    <p:sldId id="317" r:id="rId3"/>
    <p:sldId id="372" r:id="rId4"/>
    <p:sldId id="373" r:id="rId5"/>
    <p:sldId id="318" r:id="rId6"/>
    <p:sldId id="375" r:id="rId7"/>
    <p:sldId id="376" r:id="rId8"/>
    <p:sldId id="343" r:id="rId9"/>
  </p:sldIdLst>
  <p:sldSz cx="12192000" cy="6858000"/>
  <p:notesSz cx="6794500" cy="99187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3">
          <p15:clr>
            <a:srgbClr val="A4A3A4"/>
          </p15:clr>
        </p15:guide>
        <p15:guide id="2" pos="214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prnWhat="handouts6" clrMode="bw" frameSlides="1"/>
  <p:showPr showNarration="1">
    <p:browse/>
    <p:sldAll/>
    <p:penClr>
      <a:schemeClr val="tx1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008000"/>
    <a:srgbClr val="FF0000"/>
    <a:srgbClr val="99FF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739"/>
    <p:restoredTop sz="92324"/>
  </p:normalViewPr>
  <p:slideViewPr>
    <p:cSldViewPr snapToGrid="0">
      <p:cViewPr varScale="1">
        <p:scale>
          <a:sx n="111" d="100"/>
          <a:sy n="111" d="100"/>
        </p:scale>
        <p:origin x="1840" y="200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  <p:sldLst>
      <p:sld r:id="rId1" collapse="1"/>
    </p:sldLst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53" d="100"/>
          <a:sy n="53" d="100"/>
        </p:scale>
        <p:origin x="-1890" y="-96"/>
      </p:cViewPr>
      <p:guideLst>
        <p:guide orient="horz" pos="3123"/>
        <p:guide pos="2141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_rels/viewProps.xml.rels><?xml version="1.0" encoding="UTF-8" standalone="yes"?>
<Relationships xmlns="http://schemas.openxmlformats.org/package/2006/relationships"><Relationship Id="rId1" Type="http://schemas.openxmlformats.org/officeDocument/2006/relationships/slide" Target="slides/slid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43225" cy="4953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3007" tIns="46504" rIns="93007" bIns="46504" numCol="1" anchor="t" anchorCtr="0" compatLnSpc="1">
            <a:prstTxWarp prst="textNoShape">
              <a:avLst/>
            </a:prstTxWarp>
          </a:bodyPr>
          <a:lstStyle>
            <a:lvl1pPr defTabSz="930275">
              <a:defRPr sz="1200">
                <a:latin typeface="Tahoma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6563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51275" y="0"/>
            <a:ext cx="2943225" cy="4953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3007" tIns="46504" rIns="93007" bIns="46504" numCol="1" anchor="t" anchorCtr="0" compatLnSpc="1">
            <a:prstTxWarp prst="textNoShape">
              <a:avLst/>
            </a:prstTxWarp>
          </a:bodyPr>
          <a:lstStyle>
            <a:lvl1pPr algn="r" defTabSz="930275">
              <a:defRPr sz="1200">
                <a:latin typeface="Tahoma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6564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423400"/>
            <a:ext cx="2943225" cy="4953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3007" tIns="46504" rIns="93007" bIns="46504" numCol="1" anchor="b" anchorCtr="0" compatLnSpc="1">
            <a:prstTxWarp prst="textNoShape">
              <a:avLst/>
            </a:prstTxWarp>
          </a:bodyPr>
          <a:lstStyle>
            <a:lvl1pPr defTabSz="930275">
              <a:defRPr sz="1200">
                <a:latin typeface="Tahoma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6565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51275" y="9423400"/>
            <a:ext cx="2943225" cy="4953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3007" tIns="46504" rIns="93007" bIns="46504" numCol="1" anchor="b" anchorCtr="0" compatLnSpc="1">
            <a:prstTxWarp prst="textNoShape">
              <a:avLst/>
            </a:prstTxWarp>
          </a:bodyPr>
          <a:lstStyle>
            <a:lvl1pPr algn="r" defTabSz="930275">
              <a:defRPr sz="1200"/>
            </a:lvl1pPr>
          </a:lstStyle>
          <a:p>
            <a:pPr>
              <a:defRPr/>
            </a:pPr>
            <a:fld id="{399D39CF-52F9-4346-9FE1-C943FC43DCBD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319555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62" name="Rectangle 4098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21000" cy="51752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85990" tIns="42995" rIns="85990" bIns="42995" numCol="1" anchor="t" anchorCtr="0" compatLnSpc="1">
            <a:prstTxWarp prst="textNoShape">
              <a:avLst/>
            </a:prstTxWarp>
          </a:bodyPr>
          <a:lstStyle>
            <a:lvl1pPr defTabSz="860425">
              <a:defRPr sz="1100">
                <a:latin typeface="Tahoma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2163" name="Rectangle 4099"/>
          <p:cNvSpPr>
            <a:spLocks noGrp="1" noChangeArrowheads="1"/>
          </p:cNvSpPr>
          <p:nvPr>
            <p:ph type="dt" idx="1"/>
          </p:nvPr>
        </p:nvSpPr>
        <p:spPr bwMode="auto">
          <a:xfrm>
            <a:off x="3870325" y="0"/>
            <a:ext cx="2921000" cy="51752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85990" tIns="42995" rIns="85990" bIns="42995" numCol="1" anchor="t" anchorCtr="0" compatLnSpc="1">
            <a:prstTxWarp prst="textNoShape">
              <a:avLst/>
            </a:prstTxWarp>
          </a:bodyPr>
          <a:lstStyle>
            <a:lvl1pPr algn="r" defTabSz="860425">
              <a:defRPr sz="1100">
                <a:latin typeface="Tahoma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4340" name="Rectangle 4100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47638" y="739775"/>
            <a:ext cx="6570662" cy="3697288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sp>
      <p:sp>
        <p:nvSpPr>
          <p:cNvPr id="92165" name="Rectangle 4101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876300" y="4732338"/>
            <a:ext cx="5038725" cy="44386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85990" tIns="42995" rIns="85990" bIns="42995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2166" name="Rectangle 4102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393238"/>
            <a:ext cx="2921000" cy="51752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85990" tIns="42995" rIns="85990" bIns="42995" numCol="1" anchor="b" anchorCtr="0" compatLnSpc="1">
            <a:prstTxWarp prst="textNoShape">
              <a:avLst/>
            </a:prstTxWarp>
          </a:bodyPr>
          <a:lstStyle>
            <a:lvl1pPr defTabSz="860425">
              <a:defRPr sz="1100">
                <a:latin typeface="Tahoma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2167" name="Rectangle 4103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70325" y="9393238"/>
            <a:ext cx="2921000" cy="51752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85990" tIns="42995" rIns="85990" bIns="42995" numCol="1" anchor="b" anchorCtr="0" compatLnSpc="1">
            <a:prstTxWarp prst="textNoShape">
              <a:avLst/>
            </a:prstTxWarp>
          </a:bodyPr>
          <a:lstStyle>
            <a:lvl1pPr algn="r" defTabSz="860425">
              <a:defRPr sz="1100"/>
            </a:lvl1pPr>
          </a:lstStyle>
          <a:p>
            <a:pPr>
              <a:defRPr/>
            </a:pPr>
            <a:fld id="{1ECE8E26-272F-7449-95A5-E00843D8875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2354409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charset="0"/>
        <a:ea typeface="ＭＳ Ｐゴシック" charset="0"/>
        <a:cs typeface="ＭＳ Ｐゴシック" pitchFamily="-1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charset="0"/>
        <a:ea typeface="ＭＳ Ｐゴシック" charset="0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charset="0"/>
        <a:ea typeface="ＭＳ Ｐゴシック" charset="0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charset="0"/>
        <a:ea typeface="ＭＳ Ｐゴシック" charset="0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charset="0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4242851"/>
            <a:ext cx="8968084" cy="275942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1717" y="4243845"/>
            <a:ext cx="3077108" cy="2769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2590078"/>
            <a:ext cx="8968085" cy="1660332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9111716" y="2590078"/>
            <a:ext cx="3077109" cy="1660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0322" y="2733709"/>
            <a:ext cx="8144135" cy="1373070"/>
          </a:xfrm>
        </p:spPr>
        <p:txBody>
          <a:bodyPr anchor="b">
            <a:noAutofit/>
          </a:bodyPr>
          <a:lstStyle>
            <a:lvl1pPr algn="r">
              <a:defRPr sz="405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0322" y="4394041"/>
            <a:ext cx="8144135" cy="1117687"/>
          </a:xfrm>
        </p:spPr>
        <p:txBody>
          <a:bodyPr>
            <a:normAutofit/>
          </a:bodyPr>
          <a:lstStyle>
            <a:lvl1pPr marL="0" indent="0" algn="r">
              <a:buNone/>
              <a:defRPr sz="15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B9EBBA-996F-894A-B54A-D6246ED52CEA}" type="datetimeFigureOut">
              <a:rPr lang="en-US" smtClean="0"/>
              <a:pPr/>
              <a:t>3/9/26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255347" y="2750337"/>
            <a:ext cx="1171888" cy="1356442"/>
          </a:xfrm>
        </p:spPr>
        <p:txBody>
          <a:bodyPr/>
          <a:lstStyle/>
          <a:p>
            <a:pPr>
              <a:defRPr/>
            </a:pPr>
            <a:fld id="{A7400F20-5860-D94E-940C-99F6A6B2B6EF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8260416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3/9/26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5A37066-0571-0447-8D03-53F134544E7E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34481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4086907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4" y="4087901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-2" y="2726267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0585826" y="2726267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2869895"/>
            <a:ext cx="9613860" cy="1090788"/>
          </a:xfrm>
        </p:spPr>
        <p:txBody>
          <a:bodyPr anchor="ctr">
            <a:normAutofit/>
          </a:bodyPr>
          <a:lstStyle>
            <a:lvl1pPr algn="r">
              <a:defRPr sz="27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2" y="4232173"/>
            <a:ext cx="9613860" cy="1704017"/>
          </a:xfrm>
        </p:spPr>
        <p:txBody>
          <a:bodyPr>
            <a:normAutofit/>
          </a:bodyPr>
          <a:lstStyle>
            <a:lvl1pPr marL="0" indent="0" algn="r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FA1846-DA80-1C48-A609-854EA85C59AD}" type="datetimeFigureOut">
              <a:rPr lang="en-US" smtClean="0"/>
              <a:pPr/>
              <a:t>3/9/26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729457" y="2869897"/>
            <a:ext cx="1154151" cy="1090789"/>
          </a:xfrm>
        </p:spPr>
        <p:txBody>
          <a:bodyPr/>
          <a:lstStyle/>
          <a:p>
            <a:pPr>
              <a:defRPr/>
            </a:pPr>
            <a:fld id="{89AA6ABC-C2F2-6A41-A47C-E005777CFC2A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67602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0321" y="2336873"/>
            <a:ext cx="4698359" cy="359931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594123" y="2336873"/>
            <a:ext cx="4700059" cy="359931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3/9/26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E1D8437-CEAD-3B48-8F49-76FEB0075308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38402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11" name="Picture 10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Rectangle 12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0" y="753231"/>
            <a:ext cx="9613863" cy="1080937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06351" y="2336875"/>
            <a:ext cx="4472327" cy="69313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0323" y="3030010"/>
            <a:ext cx="4698355" cy="290617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820155" y="2336873"/>
            <a:ext cx="4474028" cy="692076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594124" y="3030010"/>
            <a:ext cx="4700059" cy="290617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3/9/26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EC47B1-762D-9845-9A2A-BEBF4BB1A68A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73567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7" name="Picture 6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3A34C8-038E-2045-AF43-DF7DBB8E0E9E}" type="datetimeFigureOut">
              <a:rPr lang="en-US" smtClean="0"/>
              <a:pPr/>
              <a:t>3/9/26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504839C-9BB7-BB4D-96E1-589D0E7BC0CF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80224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HD-ShadowShor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8C68F-D26B-8F47-958C-23B49CF8A634}" type="datetimeFigureOut">
              <a:rPr lang="en-US" smtClean="0"/>
              <a:pPr/>
              <a:t>3/9/26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CAC36D0-0ED6-684D-8A07-95B77A62CED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09730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1" y="753227"/>
            <a:ext cx="9613859" cy="1080940"/>
          </a:xfrm>
        </p:spPr>
        <p:txBody>
          <a:bodyPr anchor="ctr">
            <a:normAutofit/>
          </a:bodyPr>
          <a:lstStyle>
            <a:lvl1pPr>
              <a:defRPr sz="27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85847" y="2336875"/>
            <a:ext cx="5608336" cy="359931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2336874"/>
            <a:ext cx="3790079" cy="3599317"/>
          </a:xfrm>
        </p:spPr>
        <p:txBody>
          <a:bodyPr anchor="ctr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3/9/26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635779D-38C7-9346-8D49-DBC00D127456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86038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3" y="753228"/>
            <a:ext cx="9613857" cy="1080938"/>
          </a:xfrm>
        </p:spPr>
        <p:txBody>
          <a:bodyPr anchor="ctr">
            <a:normAutofit/>
          </a:bodyPr>
          <a:lstStyle>
            <a:lvl1pPr>
              <a:defRPr sz="27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868334" y="2336874"/>
            <a:ext cx="5425849" cy="3599312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3" y="2336875"/>
            <a:ext cx="3876256" cy="3599315"/>
          </a:xfrm>
        </p:spPr>
        <p:txBody>
          <a:bodyPr anchor="ctr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3/9/26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9DE89CE-8BCC-3F47-AE37-99D728153862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83315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8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4711618"/>
            <a:ext cx="9613859" cy="453051"/>
          </a:xfrm>
        </p:spPr>
        <p:txBody>
          <a:bodyPr anchor="b">
            <a:normAutofit/>
          </a:bodyPr>
          <a:lstStyle>
            <a:lvl1pPr>
              <a:defRPr sz="18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0322" y="609599"/>
            <a:ext cx="9613859" cy="3589575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19" y="5169585"/>
            <a:ext cx="9613863" cy="62297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3/9/26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7" y="4711311"/>
            <a:ext cx="1154151" cy="1090789"/>
          </a:xfrm>
        </p:spPr>
        <p:txBody>
          <a:bodyPr/>
          <a:lstStyle/>
          <a:p>
            <a:pPr>
              <a:defRPr/>
            </a:pPr>
            <a:fld id="{A7400F20-5860-D94E-940C-99F6A6B2B6EF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2166692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8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1" y="609597"/>
            <a:ext cx="9613859" cy="3592750"/>
          </a:xfrm>
        </p:spPr>
        <p:txBody>
          <a:bodyPr anchor="ctr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7"/>
            <a:ext cx="9613859" cy="1090789"/>
          </a:xfrm>
        </p:spPr>
        <p:txBody>
          <a:bodyPr anchor="ctr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3/9/26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7" y="4711617"/>
            <a:ext cx="1154151" cy="1090789"/>
          </a:xfrm>
        </p:spPr>
        <p:txBody>
          <a:bodyPr/>
          <a:lstStyle/>
          <a:p>
            <a:pPr>
              <a:defRPr/>
            </a:pPr>
            <a:fld id="{A7400F20-5860-D94E-940C-99F6A6B2B6EF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0236792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5928628"/>
            <a:ext cx="10437812" cy="321164"/>
          </a:xfrm>
          <a:prstGeom prst="rect">
            <a:avLst/>
          </a:prstGeom>
        </p:spPr>
      </p:pic>
      <p:pic>
        <p:nvPicPr>
          <p:cNvPr id="13" name="Picture 12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5929622"/>
            <a:ext cx="1602997" cy="14427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 bwMode="ltGray">
          <a:xfrm>
            <a:off x="1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Rectangle 14"/>
          <p:cNvSpPr/>
          <p:nvPr/>
        </p:nvSpPr>
        <p:spPr>
          <a:xfrm>
            <a:off x="10585828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27856" y="609598"/>
            <a:ext cx="8718877" cy="3036061"/>
          </a:xfrm>
        </p:spPr>
        <p:txBody>
          <a:bodyPr anchor="ctr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402289" y="3653379"/>
            <a:ext cx="8156579" cy="548968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7"/>
            <a:ext cx="9613859" cy="1090789"/>
          </a:xfrm>
        </p:spPr>
        <p:txBody>
          <a:bodyPr anchor="ctr">
            <a:normAutofit/>
          </a:bodyPr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3/9/26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7" y="4709927"/>
            <a:ext cx="1154151" cy="1090789"/>
          </a:xfrm>
        </p:spPr>
        <p:txBody>
          <a:bodyPr/>
          <a:lstStyle/>
          <a:p>
            <a:pPr>
              <a:defRPr/>
            </a:pPr>
            <a:fld id="{A7400F20-5860-D94E-940C-99F6A6B2B6EF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583572" y="748116"/>
            <a:ext cx="609600" cy="584776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54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62809" y="3033524"/>
            <a:ext cx="609600" cy="584776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54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500730052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5928628"/>
            <a:ext cx="10437812" cy="321164"/>
          </a:xfrm>
          <a:prstGeom prst="rect">
            <a:avLst/>
          </a:prstGeom>
        </p:spPr>
      </p:pic>
      <p:pic>
        <p:nvPicPr>
          <p:cNvPr id="10" name="Picture 9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5929622"/>
            <a:ext cx="1602997" cy="14427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 bwMode="ltGray">
          <a:xfrm>
            <a:off x="1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" name="Rectangle 11"/>
          <p:cNvSpPr/>
          <p:nvPr/>
        </p:nvSpPr>
        <p:spPr>
          <a:xfrm>
            <a:off x="10585828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19" y="4711617"/>
            <a:ext cx="9613863" cy="588535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0" y="5300151"/>
            <a:ext cx="9613863" cy="502255"/>
          </a:xfrm>
        </p:spPr>
        <p:txBody>
          <a:bodyPr anchor="t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3/9/26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7" y="4709927"/>
            <a:ext cx="1154151" cy="1090789"/>
          </a:xfrm>
        </p:spPr>
        <p:txBody>
          <a:bodyPr/>
          <a:lstStyle/>
          <a:p>
            <a:pPr>
              <a:defRPr/>
            </a:pPr>
            <a:fld id="{A7400F20-5860-D94E-940C-99F6A6B2B6EF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0589245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14" name="Picture 13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" name="Rectangle 16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669221" y="753228"/>
            <a:ext cx="9624960" cy="108093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60945" y="2336873"/>
            <a:ext cx="3070035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0322" y="3022674"/>
            <a:ext cx="3049703" cy="2913513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56025" y="233687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945471" y="3022674"/>
            <a:ext cx="3063240" cy="2913513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24157" y="2336873"/>
            <a:ext cx="3070025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224157" y="3022674"/>
            <a:ext cx="3070025" cy="2913513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3/9/26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400F20-5860-D94E-940C-99F6A6B2B6EF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2131719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680322" y="753228"/>
            <a:ext cx="9613860" cy="108093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0320" y="4297503"/>
            <a:ext cx="3049705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0320" y="2336873"/>
            <a:ext cx="30497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0320" y="4873765"/>
            <a:ext cx="3049705" cy="106242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45471" y="429750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945471" y="2336873"/>
            <a:ext cx="3063240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944118" y="4873764"/>
            <a:ext cx="3067297" cy="106242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30680" y="4297503"/>
            <a:ext cx="3063505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230678" y="2336873"/>
            <a:ext cx="30635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230553" y="4873762"/>
            <a:ext cx="3067563" cy="106242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3/9/26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400F20-5860-D94E-940C-99F6A6B2B6EF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5501628"/>
      </p:ext>
    </p:extLst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r">
              <a:defRPr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3/9/26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BE69B6E-F9F1-7548-BD0A-5B3C06893927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444726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 bwMode="ltGray">
          <a:xfrm rot="5400000">
            <a:off x="8116207" y="1869395"/>
            <a:ext cx="5106988" cy="136819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 rot="5400000">
            <a:off x="9868203" y="5372404"/>
            <a:ext cx="1602997" cy="13681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129231" y="609597"/>
            <a:ext cx="1073803" cy="435376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0322" y="609599"/>
            <a:ext cx="8870004" cy="5326589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807125" y="5936189"/>
            <a:ext cx="2743200" cy="365125"/>
          </a:xfrm>
        </p:spPr>
        <p:txBody>
          <a:bodyPr/>
          <a:lstStyle/>
          <a:p>
            <a:fld id="{09B482E8-6E0E-1B4F-B1FD-C69DB9E858D9}" type="datetimeFigureOut">
              <a:rPr lang="en-US" smtClean="0"/>
              <a:pPr/>
              <a:t>3/9/26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0321" y="5936190"/>
            <a:ext cx="6126805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097551" y="5398635"/>
            <a:ext cx="1154151" cy="1090789"/>
          </a:xfrm>
        </p:spPr>
        <p:txBody>
          <a:bodyPr anchor="t"/>
          <a:lstStyle>
            <a:lvl1pPr algn="ctr">
              <a:defRPr/>
            </a:lvl1pPr>
          </a:lstStyle>
          <a:p>
            <a:pPr>
              <a:defRPr/>
            </a:pPr>
            <a:fld id="{D1CAF307-2DFD-1744-819C-E39F11E12F42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22980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ashOverlay-FullResolve.png"/>
          <p:cNvPicPr>
            <a:picLocks noChangeAspect="1"/>
          </p:cNvPicPr>
          <p:nvPr/>
        </p:nvPicPr>
        <p:blipFill>
          <a:blip r:embed="rId19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0321" y="753228"/>
            <a:ext cx="9613861" cy="10809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1" y="2336873"/>
            <a:ext cx="9613861" cy="35993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0981" y="593618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9B482E8-6E0E-1B4F-B1FD-C69DB9E858D9}" type="datetimeFigureOut">
              <a:rPr lang="en-US" smtClean="0"/>
              <a:pPr/>
              <a:t>3/9/26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0322" y="5936190"/>
            <a:ext cx="687066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29457" y="753228"/>
            <a:ext cx="1154151" cy="10907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A7400F20-5860-D94E-940C-99F6A6B2B6EF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551864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54" r:id="rId1"/>
    <p:sldLayoutId id="2147483755" r:id="rId2"/>
    <p:sldLayoutId id="2147483756" r:id="rId3"/>
    <p:sldLayoutId id="2147483757" r:id="rId4"/>
    <p:sldLayoutId id="2147483758" r:id="rId5"/>
    <p:sldLayoutId id="2147483759" r:id="rId6"/>
    <p:sldLayoutId id="2147483760" r:id="rId7"/>
    <p:sldLayoutId id="2147483761" r:id="rId8"/>
    <p:sldLayoutId id="2147483762" r:id="rId9"/>
    <p:sldLayoutId id="2147483763" r:id="rId10"/>
    <p:sldLayoutId id="2147483764" r:id="rId11"/>
    <p:sldLayoutId id="2147483765" r:id="rId12"/>
    <p:sldLayoutId id="2147483766" r:id="rId13"/>
    <p:sldLayoutId id="2147483767" r:id="rId14"/>
    <p:sldLayoutId id="2147483768" r:id="rId15"/>
    <p:sldLayoutId id="2147483769" r:id="rId16"/>
    <p:sldLayoutId id="2147483770" r:id="rId17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7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1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05C1B8B5-F999-0749-AE86-1FB479D6F14F}" type="slidenum">
              <a:rPr lang="en-US" sz="1400"/>
              <a:pPr/>
              <a:t>0</a:t>
            </a:fld>
            <a:endParaRPr lang="en-US" sz="1400"/>
          </a:p>
        </p:txBody>
      </p:sp>
      <p:sp>
        <p:nvSpPr>
          <p:cNvPr id="727042" name="Text Box 2"/>
          <p:cNvSpPr txBox="1">
            <a:spLocks noChangeArrowheads="1"/>
          </p:cNvSpPr>
          <p:nvPr/>
        </p:nvSpPr>
        <p:spPr bwMode="auto">
          <a:xfrm>
            <a:off x="1639889" y="1001713"/>
            <a:ext cx="8910637" cy="641350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/>
          <a:p>
            <a:pPr algn="ctr">
              <a:defRPr/>
            </a:pPr>
            <a:r>
              <a:rPr lang="en-US" sz="3600" b="1">
                <a:solidFill>
                  <a:schemeClr val="tx2"/>
                </a:solidFill>
                <a:latin typeface="Arial Black" charset="0"/>
                <a:cs typeface="+mn-cs"/>
              </a:rPr>
              <a:t>PROGRAMMING IN HASKELL</a:t>
            </a:r>
          </a:p>
        </p:txBody>
      </p:sp>
      <p:sp>
        <p:nvSpPr>
          <p:cNvPr id="727043" name="Rectangle 3"/>
          <p:cNvSpPr>
            <a:spLocks noChangeArrowheads="1"/>
          </p:cNvSpPr>
          <p:nvPr/>
        </p:nvSpPr>
        <p:spPr bwMode="auto">
          <a:xfrm>
            <a:off x="1700214" y="5164138"/>
            <a:ext cx="8791575" cy="609600"/>
          </a:xfrm>
          <a:prstGeom prst="rect">
            <a:avLst/>
          </a:prstGeom>
          <a:noFill/>
          <a:ln>
            <a:noFill/>
          </a:ln>
          <a:effectLst/>
        </p:spPr>
        <p:txBody>
          <a:bodyPr anchor="ctr"/>
          <a:lstStyle/>
          <a:p>
            <a:pPr algn="ctr">
              <a:defRPr/>
            </a:pPr>
            <a:r>
              <a:rPr kumimoji="1" lang="en-US" sz="3200" dirty="0">
                <a:cs typeface="+mn-cs"/>
              </a:rPr>
              <a:t>Topic 8.2 Function Application</a:t>
            </a:r>
          </a:p>
        </p:txBody>
      </p:sp>
      <p:pic>
        <p:nvPicPr>
          <p:cNvPr id="15364" name="Picture 5" descr="2000px-Haskell-Logo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75189" y="2425700"/>
            <a:ext cx="2841625" cy="2006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519113" y="793194"/>
            <a:ext cx="7772400" cy="685800"/>
          </a:xfrm>
        </p:spPr>
        <p:txBody>
          <a:bodyPr/>
          <a:lstStyle/>
          <a:p>
            <a:r>
              <a:rPr lang="en-US" dirty="0">
                <a:latin typeface="Arial Black" charset="0"/>
                <a:ea typeface="ＭＳ Ｐゴシック" charset="0"/>
                <a:cs typeface="ＭＳ Ｐゴシック" charset="0"/>
              </a:rPr>
              <a:t>$ as function application </a:t>
            </a:r>
          </a:p>
        </p:txBody>
      </p:sp>
      <p:sp>
        <p:nvSpPr>
          <p:cNvPr id="16385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45EE633E-1D6D-CB4B-A30D-5EE721A82DDA}" type="slidenum">
              <a:rPr lang="en-US" sz="1400"/>
              <a:pPr/>
              <a:t>1</a:t>
            </a:fld>
            <a:endParaRPr lang="en-US" sz="1400"/>
          </a:p>
        </p:txBody>
      </p:sp>
      <p:sp>
        <p:nvSpPr>
          <p:cNvPr id="654339" name="Text Box 3"/>
          <p:cNvSpPr txBox="1">
            <a:spLocks noChangeArrowheads="1"/>
          </p:cNvSpPr>
          <p:nvPr/>
        </p:nvSpPr>
        <p:spPr bwMode="auto">
          <a:xfrm>
            <a:off x="1581573" y="2291168"/>
            <a:ext cx="8224838" cy="3231654"/>
          </a:xfrm>
          <a:prstGeom prst="rect">
            <a:avLst/>
          </a:prstGeom>
          <a:noFill/>
          <a:ln>
            <a:noFill/>
          </a:ln>
          <a:effectLst/>
        </p:spPr>
        <p:txBody>
          <a:bodyPr anchor="ctr">
            <a:spAutoFit/>
          </a:bodyPr>
          <a:lstStyle/>
          <a:p>
            <a:r>
              <a:rPr lang="en-IE" sz="2800" dirty="0"/>
              <a:t>$ is the function application operator</a:t>
            </a:r>
          </a:p>
          <a:p>
            <a:endParaRPr lang="en-IE" sz="2800" dirty="0"/>
          </a:p>
          <a:p>
            <a:endParaRPr lang="en-IE" sz="2800" dirty="0"/>
          </a:p>
          <a:p>
            <a:endParaRPr lang="en-IE" sz="2800" dirty="0"/>
          </a:p>
          <a:p>
            <a:endParaRPr lang="en-IE" sz="2800" dirty="0"/>
          </a:p>
          <a:p>
            <a:r>
              <a:rPr lang="en-IE" sz="2800" dirty="0"/>
              <a:t>f $ x = f x</a:t>
            </a:r>
          </a:p>
          <a:p>
            <a:endParaRPr lang="en-IE" dirty="0"/>
          </a:p>
          <a:p>
            <a:endParaRPr lang="en-IE" dirty="0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F26998A1-D529-3E45-AAEA-5E1598B9441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98228" y="3445331"/>
            <a:ext cx="3488455" cy="461665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IE" sz="2400" dirty="0"/>
              <a:t>($) :: (a -&gt; b) -&gt; a -&gt; b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43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543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543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433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65433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65433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54339" grpId="0"/>
      <p:bldP spid="5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Black" charset="0"/>
                <a:ea typeface="ＭＳ Ｐゴシック" charset="0"/>
                <a:cs typeface="ＭＳ Ｐゴシック" charset="0"/>
              </a:rPr>
              <a:t>$ as function application </a:t>
            </a:r>
          </a:p>
        </p:txBody>
      </p:sp>
      <p:sp>
        <p:nvSpPr>
          <p:cNvPr id="16385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45EE633E-1D6D-CB4B-A30D-5EE721A82DDA}" type="slidenum">
              <a:rPr lang="en-US" sz="1400"/>
              <a:pPr/>
              <a:t>2</a:t>
            </a:fld>
            <a:endParaRPr lang="en-US" sz="1400"/>
          </a:p>
        </p:txBody>
      </p:sp>
      <p:sp>
        <p:nvSpPr>
          <p:cNvPr id="654339" name="Text Box 3"/>
          <p:cNvSpPr txBox="1">
            <a:spLocks noChangeArrowheads="1"/>
          </p:cNvSpPr>
          <p:nvPr/>
        </p:nvSpPr>
        <p:spPr bwMode="auto">
          <a:xfrm>
            <a:off x="484026" y="2134454"/>
            <a:ext cx="9810156" cy="3970318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ctr">
            <a:spAutoFit/>
          </a:bodyPr>
          <a:lstStyle/>
          <a:p>
            <a:r>
              <a:rPr lang="en-IE" sz="2800" dirty="0"/>
              <a:t>It’s function application but: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IE" sz="2800" dirty="0"/>
              <a:t>normal function application has high precedence, </a:t>
            </a:r>
          </a:p>
          <a:p>
            <a:pPr lvl="1"/>
            <a:r>
              <a:rPr lang="en-IE" sz="2800" dirty="0"/>
              <a:t>    $ has low precedence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endParaRPr lang="en-IE" sz="2800" dirty="0"/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IE" sz="2800" dirty="0"/>
              <a:t>normal function application is left associate, e.g.,</a:t>
            </a:r>
          </a:p>
          <a:p>
            <a:pPr lvl="2"/>
            <a:r>
              <a:rPr lang="en-IE" sz="2800" dirty="0"/>
              <a:t>      f a b c === ((f a) b) c</a:t>
            </a:r>
          </a:p>
          <a:p>
            <a:pPr lvl="2"/>
            <a:endParaRPr lang="en-IE" sz="2800" dirty="0"/>
          </a:p>
          <a:p>
            <a:pPr lvl="2"/>
            <a:endParaRPr lang="en-IE" sz="2800" dirty="0"/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IE" sz="2800" dirty="0"/>
              <a:t>$ is right associative</a:t>
            </a:r>
          </a:p>
        </p:txBody>
      </p:sp>
    </p:spTree>
    <p:extLst>
      <p:ext uri="{BB962C8B-B14F-4D97-AF65-F5344CB8AC3E}">
        <p14:creationId xmlns:p14="http://schemas.microsoft.com/office/powerpoint/2010/main" val="3184482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43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543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543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43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543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543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433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65433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65433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433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65433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65433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433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65433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65433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Black" charset="0"/>
                <a:ea typeface="ＭＳ Ｐゴシック" charset="0"/>
                <a:cs typeface="ＭＳ Ｐゴシック" charset="0"/>
              </a:rPr>
              <a:t>$ as function application </a:t>
            </a:r>
          </a:p>
        </p:txBody>
      </p:sp>
      <p:sp>
        <p:nvSpPr>
          <p:cNvPr id="16385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45EE633E-1D6D-CB4B-A30D-5EE721A82DDA}" type="slidenum">
              <a:rPr lang="en-US" sz="1400"/>
              <a:pPr/>
              <a:t>3</a:t>
            </a:fld>
            <a:endParaRPr lang="en-US" sz="1400"/>
          </a:p>
        </p:txBody>
      </p:sp>
      <p:sp>
        <p:nvSpPr>
          <p:cNvPr id="654339" name="Text Box 3"/>
          <p:cNvSpPr txBox="1">
            <a:spLocks noChangeArrowheads="1"/>
          </p:cNvSpPr>
          <p:nvPr/>
        </p:nvSpPr>
        <p:spPr bwMode="auto">
          <a:xfrm>
            <a:off x="1983581" y="2844469"/>
            <a:ext cx="8224838" cy="2677656"/>
          </a:xfrm>
          <a:prstGeom prst="rect">
            <a:avLst/>
          </a:prstGeom>
          <a:noFill/>
          <a:ln>
            <a:noFill/>
          </a:ln>
          <a:effectLst/>
        </p:spPr>
        <p:txBody>
          <a:bodyPr anchor="ctr">
            <a:spAutoFit/>
          </a:bodyPr>
          <a:lstStyle/>
          <a:p>
            <a:r>
              <a:rPr lang="en-IE" sz="2800" dirty="0"/>
              <a:t>*Main&gt; (^2) 4 + 3</a:t>
            </a:r>
          </a:p>
          <a:p>
            <a:r>
              <a:rPr lang="en-IE" sz="2800" dirty="0"/>
              <a:t>19</a:t>
            </a:r>
          </a:p>
          <a:p>
            <a:endParaRPr lang="en-IE" sz="2800" dirty="0"/>
          </a:p>
          <a:p>
            <a:endParaRPr lang="en-IE" sz="2800" dirty="0"/>
          </a:p>
          <a:p>
            <a:r>
              <a:rPr lang="en-IE" sz="2800" dirty="0"/>
              <a:t>*Main&gt; (^2) $ 4 + 3</a:t>
            </a:r>
          </a:p>
          <a:p>
            <a:r>
              <a:rPr lang="en-IE" sz="2800" dirty="0"/>
              <a:t>49</a:t>
            </a:r>
          </a:p>
        </p:txBody>
      </p:sp>
    </p:spTree>
    <p:extLst>
      <p:ext uri="{BB962C8B-B14F-4D97-AF65-F5344CB8AC3E}">
        <p14:creationId xmlns:p14="http://schemas.microsoft.com/office/powerpoint/2010/main" val="18058818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43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543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543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43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6543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6543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433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65433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65433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433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65433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65433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E1B33B99-B41A-9444-99A2-3C524186CF57}" type="slidenum">
              <a:rPr lang="en-US" sz="1400"/>
              <a:pPr/>
              <a:t>4</a:t>
            </a:fld>
            <a:endParaRPr lang="en-US" sz="1400"/>
          </a:p>
        </p:txBody>
      </p:sp>
      <p:sp>
        <p:nvSpPr>
          <p:cNvPr id="655362" name="Text Box 2"/>
          <p:cNvSpPr txBox="1">
            <a:spLocks noChangeArrowheads="1"/>
          </p:cNvSpPr>
          <p:nvPr/>
        </p:nvSpPr>
        <p:spPr bwMode="auto">
          <a:xfrm>
            <a:off x="130374" y="1844017"/>
            <a:ext cx="11558588" cy="4832092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ctr">
            <a:spAutoFit/>
          </a:bodyPr>
          <a:lstStyle/>
          <a:p>
            <a:r>
              <a:rPr lang="en-IE" sz="2800" dirty="0"/>
              <a:t>Most often it’s a convenience that lets us write fewer parentheses. </a:t>
            </a:r>
          </a:p>
          <a:p>
            <a:endParaRPr lang="en-IE" sz="2800" dirty="0"/>
          </a:p>
          <a:p>
            <a:r>
              <a:rPr lang="en-IE" sz="2800" dirty="0"/>
              <a:t>Example:</a:t>
            </a:r>
          </a:p>
          <a:p>
            <a:pPr lvl="1"/>
            <a:endParaRPr lang="en-IE" sz="2800" dirty="0"/>
          </a:p>
          <a:p>
            <a:pPr lvl="1"/>
            <a:endParaRPr lang="en-IE" sz="2800" dirty="0"/>
          </a:p>
          <a:p>
            <a:pPr lvl="1"/>
            <a:r>
              <a:rPr lang="en-IE" sz="2800" dirty="0"/>
              <a:t>Is better written as: </a:t>
            </a:r>
          </a:p>
          <a:p>
            <a:pPr lvl="1"/>
            <a:endParaRPr lang="en-IE" sz="2800" dirty="0"/>
          </a:p>
          <a:p>
            <a:endParaRPr lang="en-IE" sz="2800" dirty="0"/>
          </a:p>
          <a:p>
            <a:endParaRPr lang="en-IE" sz="2800" dirty="0"/>
          </a:p>
          <a:p>
            <a:r>
              <a:rPr lang="en-IE" sz="2800" dirty="0"/>
              <a:t>when $ is encountered, expression on right is used as parameter to function on left</a:t>
            </a: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CC9D53C1-F3EF-F841-8342-0288A811C0A9}"/>
              </a:ext>
            </a:extLst>
          </p:cNvPr>
          <p:cNvSpPr txBox="1">
            <a:spLocks noChangeArrowheads="1"/>
          </p:cNvSpPr>
          <p:nvPr/>
        </p:nvSpPr>
        <p:spPr>
          <a:xfrm>
            <a:off x="462720" y="612822"/>
            <a:ext cx="7772400" cy="685800"/>
          </a:xfrm>
          <a:prstGeom prst="rect">
            <a:avLst/>
          </a:prstGeom>
        </p:spPr>
        <p:txBody>
          <a:bodyPr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+mj-lt"/>
                <a:ea typeface="+mj-ea"/>
                <a:cs typeface="ＭＳ Ｐゴシック" pitchFamily="-1" charset="-128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9pPr>
          </a:lstStyle>
          <a:p>
            <a:r>
              <a:rPr lang="en-US" kern="0" dirty="0">
                <a:latin typeface="Arial Black" charset="0"/>
                <a:ea typeface="ＭＳ Ｐゴシック" charset="0"/>
                <a:cs typeface="ＭＳ Ｐゴシック" charset="0"/>
              </a:rPr>
              <a:t>Improved syntax with $</a:t>
            </a:r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64CEE9FD-0790-7B4A-B2D2-2EE0EE16252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32182" y="3019443"/>
            <a:ext cx="4033476" cy="523220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IE" dirty="0"/>
              <a:t>sum (map sqrt [1..130])</a:t>
            </a:r>
          </a:p>
        </p:txBody>
      </p:sp>
      <p:sp>
        <p:nvSpPr>
          <p:cNvPr id="6" name="Text Box 4">
            <a:extLst>
              <a:ext uri="{FF2B5EF4-FFF2-40B4-BE49-F238E27FC236}">
                <a16:creationId xmlns:a16="http://schemas.microsoft.com/office/drawing/2014/main" id="{6E4863BB-67E6-EC43-9828-52F22752657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92673" y="4639398"/>
            <a:ext cx="4065537" cy="523220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IE" dirty="0"/>
              <a:t>sum $ map sqrt [1..130]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36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5536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5536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36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65536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65536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E1B33B99-B41A-9444-99A2-3C524186CF57}" type="slidenum">
              <a:rPr lang="en-US" sz="1400"/>
              <a:pPr/>
              <a:t>5</a:t>
            </a:fld>
            <a:endParaRPr lang="en-US" sz="1400"/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CC9D53C1-F3EF-F841-8342-0288A811C0A9}"/>
              </a:ext>
            </a:extLst>
          </p:cNvPr>
          <p:cNvSpPr txBox="1">
            <a:spLocks noChangeArrowheads="1"/>
          </p:cNvSpPr>
          <p:nvPr/>
        </p:nvSpPr>
        <p:spPr>
          <a:xfrm>
            <a:off x="892088" y="806988"/>
            <a:ext cx="7772400" cy="685800"/>
          </a:xfrm>
          <a:prstGeom prst="rect">
            <a:avLst/>
          </a:prstGeom>
        </p:spPr>
        <p:txBody>
          <a:bodyPr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+mj-lt"/>
                <a:ea typeface="+mj-ea"/>
                <a:cs typeface="ＭＳ Ｐゴシック" pitchFamily="-1" charset="-128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9pPr>
          </a:lstStyle>
          <a:p>
            <a:r>
              <a:rPr lang="en-US" kern="0" dirty="0">
                <a:latin typeface="Arial Black" charset="0"/>
                <a:ea typeface="ＭＳ Ｐゴシック" charset="0"/>
                <a:cs typeface="ＭＳ Ｐゴシック" charset="0"/>
              </a:rPr>
              <a:t>More </a:t>
            </a:r>
            <a:r>
              <a:rPr lang="en-US" kern="0" dirty="0">
                <a:latin typeface="Arial Black" charset="0"/>
                <a:ea typeface="ＭＳ Ｐゴシック" charset="0"/>
              </a:rPr>
              <a:t>examples</a:t>
            </a:r>
          </a:p>
        </p:txBody>
      </p:sp>
      <p:sp>
        <p:nvSpPr>
          <p:cNvPr id="5" name="Text Box 2">
            <a:extLst>
              <a:ext uri="{FF2B5EF4-FFF2-40B4-BE49-F238E27FC236}">
                <a16:creationId xmlns:a16="http://schemas.microsoft.com/office/drawing/2014/main" id="{6AECEF5D-C4EE-8047-BDEB-7A6507D06DB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61444" y="3628167"/>
            <a:ext cx="8401756" cy="2800767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ctr">
            <a:spAutoFit/>
          </a:bodyPr>
          <a:lstStyle/>
          <a:p>
            <a:r>
              <a:rPr lang="en-IE" sz="2800" dirty="0"/>
              <a:t>80</a:t>
            </a:r>
          </a:p>
          <a:p>
            <a:endParaRPr lang="en-IE" dirty="0"/>
          </a:p>
          <a:p>
            <a:endParaRPr lang="en-IE" dirty="0"/>
          </a:p>
          <a:p>
            <a:r>
              <a:rPr lang="en-IE" sz="2800" dirty="0"/>
              <a:t>80</a:t>
            </a:r>
          </a:p>
          <a:p>
            <a:endParaRPr lang="en-IE" sz="2800" dirty="0"/>
          </a:p>
          <a:p>
            <a:endParaRPr lang="en-IE" sz="2800" dirty="0"/>
          </a:p>
          <a:p>
            <a:r>
              <a:rPr lang="en-IE" sz="2800" dirty="0"/>
              <a:t>80</a:t>
            </a:r>
          </a:p>
        </p:txBody>
      </p:sp>
      <p:sp>
        <p:nvSpPr>
          <p:cNvPr id="6" name="Text Box 4">
            <a:extLst>
              <a:ext uri="{FF2B5EF4-FFF2-40B4-BE49-F238E27FC236}">
                <a16:creationId xmlns:a16="http://schemas.microsoft.com/office/drawing/2014/main" id="{497516BC-E643-9945-83C8-ECB0E2F67AC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48362" y="1983710"/>
            <a:ext cx="2291012" cy="523220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IE" dirty="0"/>
              <a:t>sqrt (3+4+9)</a:t>
            </a:r>
          </a:p>
        </p:txBody>
      </p:sp>
      <p:sp>
        <p:nvSpPr>
          <p:cNvPr id="8" name="Text Box 4">
            <a:extLst>
              <a:ext uri="{FF2B5EF4-FFF2-40B4-BE49-F238E27FC236}">
                <a16:creationId xmlns:a16="http://schemas.microsoft.com/office/drawing/2014/main" id="{5D0AD62D-9270-3649-8DD1-B18DF420170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03640" y="2001084"/>
            <a:ext cx="2323072" cy="523220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IE" dirty="0"/>
              <a:t>sqrt $ 3+4+9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26C20755-A748-874A-A240-1AD01B9DEE63}"/>
              </a:ext>
            </a:extLst>
          </p:cNvPr>
          <p:cNvCxnSpPr>
            <a:cxnSpLocks/>
          </p:cNvCxnSpPr>
          <p:nvPr/>
        </p:nvCxnSpPr>
        <p:spPr bwMode="auto">
          <a:xfrm>
            <a:off x="4239374" y="2256640"/>
            <a:ext cx="1964266" cy="0"/>
          </a:xfrm>
          <a:prstGeom prst="straightConnector1">
            <a:avLst/>
          </a:prstGeom>
          <a:noFill/>
          <a:ln w="69850" cap="sq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10" name="Text Box 4">
            <a:extLst>
              <a:ext uri="{FF2B5EF4-FFF2-40B4-BE49-F238E27FC236}">
                <a16:creationId xmlns:a16="http://schemas.microsoft.com/office/drawing/2014/main" id="{837C0D8B-318E-2249-B794-610C7B8A41F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61444" y="2971419"/>
            <a:ext cx="7471341" cy="523220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IE" dirty="0"/>
              <a:t>*Main&gt; sum (filter (&gt; 10) (map (*2) [2..10]))</a:t>
            </a:r>
          </a:p>
        </p:txBody>
      </p:sp>
      <p:sp>
        <p:nvSpPr>
          <p:cNvPr id="11" name="Text Box 4">
            <a:extLst>
              <a:ext uri="{FF2B5EF4-FFF2-40B4-BE49-F238E27FC236}">
                <a16:creationId xmlns:a16="http://schemas.microsoft.com/office/drawing/2014/main" id="{C5E94B6D-DB6B-9249-A25A-20951ACB1CD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54007" y="4073573"/>
            <a:ext cx="7753469" cy="523220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IE" dirty="0"/>
              <a:t>*Main&gt; sum  $ filter (&gt; 10) (map (*2) [2..10])</a:t>
            </a:r>
          </a:p>
        </p:txBody>
      </p:sp>
      <p:sp>
        <p:nvSpPr>
          <p:cNvPr id="12" name="Text Box 4">
            <a:extLst>
              <a:ext uri="{FF2B5EF4-FFF2-40B4-BE49-F238E27FC236}">
                <a16:creationId xmlns:a16="http://schemas.microsoft.com/office/drawing/2014/main" id="{6A09B125-9802-6549-A6A1-AFDCCFAAA4E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48362" y="5149696"/>
            <a:ext cx="8009950" cy="523220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IE" dirty="0"/>
              <a:t>*Main&gt; sum  $ filter (&gt; 10) $  map (*2) [2..10]</a:t>
            </a:r>
          </a:p>
        </p:txBody>
      </p: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FE167FC0-E325-CCBE-61C2-5546206A3496}"/>
              </a:ext>
            </a:extLst>
          </p:cNvPr>
          <p:cNvCxnSpPr>
            <a:cxnSpLocks/>
          </p:cNvCxnSpPr>
          <p:nvPr/>
        </p:nvCxnSpPr>
        <p:spPr bwMode="auto">
          <a:xfrm>
            <a:off x="4866336" y="3519294"/>
            <a:ext cx="0" cy="554279"/>
          </a:xfrm>
          <a:prstGeom prst="straightConnector1">
            <a:avLst/>
          </a:prstGeom>
          <a:noFill/>
          <a:ln w="69850" cap="sq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B9617E1-2826-98B4-6911-DEB3CF044B68}"/>
              </a:ext>
            </a:extLst>
          </p:cNvPr>
          <p:cNvCxnSpPr>
            <a:cxnSpLocks/>
          </p:cNvCxnSpPr>
          <p:nvPr/>
        </p:nvCxnSpPr>
        <p:spPr bwMode="auto">
          <a:xfrm>
            <a:off x="6558169" y="4596793"/>
            <a:ext cx="0" cy="554279"/>
          </a:xfrm>
          <a:prstGeom prst="straightConnector1">
            <a:avLst/>
          </a:prstGeom>
          <a:noFill/>
          <a:ln w="69850" cap="sq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</p:spTree>
    <p:extLst>
      <p:ext uri="{BB962C8B-B14F-4D97-AF65-F5344CB8AC3E}">
        <p14:creationId xmlns:p14="http://schemas.microsoft.com/office/powerpoint/2010/main" val="37375703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10" grpId="0" animBg="1"/>
      <p:bldP spid="11" grpId="0" animBg="1"/>
      <p:bldP spid="12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E1B33B99-B41A-9444-99A2-3C524186CF57}" type="slidenum">
              <a:rPr lang="en-US" sz="1400"/>
              <a:pPr/>
              <a:t>6</a:t>
            </a:fld>
            <a:endParaRPr lang="en-US" sz="1400"/>
          </a:p>
        </p:txBody>
      </p:sp>
      <p:sp>
        <p:nvSpPr>
          <p:cNvPr id="5" name="Text Box 2">
            <a:extLst>
              <a:ext uri="{FF2B5EF4-FFF2-40B4-BE49-F238E27FC236}">
                <a16:creationId xmlns:a16="http://schemas.microsoft.com/office/drawing/2014/main" id="{6AECEF5D-C4EE-8047-BDEB-7A6507D06DB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30731" y="2501129"/>
            <a:ext cx="10056431" cy="4401205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ctr">
            <a:spAutoFit/>
          </a:bodyPr>
          <a:lstStyle/>
          <a:p>
            <a:r>
              <a:rPr lang="en-IE" sz="2800" dirty="0"/>
              <a:t>30</a:t>
            </a:r>
          </a:p>
          <a:p>
            <a:endParaRPr lang="en-IE" sz="2800" dirty="0"/>
          </a:p>
          <a:p>
            <a:r>
              <a:rPr lang="en-IE" sz="2800" dirty="0"/>
              <a:t>30</a:t>
            </a:r>
          </a:p>
          <a:p>
            <a:endParaRPr lang="en-IE" sz="2800" dirty="0"/>
          </a:p>
          <a:p>
            <a:endParaRPr lang="en-IE" sz="2800" dirty="0"/>
          </a:p>
          <a:p>
            <a:r>
              <a:rPr lang="en-IE" sz="2800" dirty="0"/>
              <a:t>[7.0,30.0,9.0,1.7320508075688772]</a:t>
            </a:r>
          </a:p>
          <a:p>
            <a:endParaRPr lang="en-IE" sz="2800" dirty="0"/>
          </a:p>
          <a:p>
            <a:r>
              <a:rPr lang="en-IE" sz="2800" dirty="0"/>
              <a:t>How does this work?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E" sz="2800" dirty="0"/>
              <a:t>expression on right is used as parameter to function on left</a:t>
            </a:r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2F72AE65-C1C2-C54C-98E3-0973874A5B16}"/>
              </a:ext>
            </a:extLst>
          </p:cNvPr>
          <p:cNvSpPr txBox="1">
            <a:spLocks noChangeArrowheads="1"/>
          </p:cNvSpPr>
          <p:nvPr/>
        </p:nvSpPr>
        <p:spPr>
          <a:xfrm>
            <a:off x="447675" y="743950"/>
            <a:ext cx="7772400" cy="685800"/>
          </a:xfrm>
          <a:prstGeom prst="rect">
            <a:avLst/>
          </a:prstGeom>
        </p:spPr>
        <p:txBody>
          <a:bodyPr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+mj-lt"/>
                <a:ea typeface="+mj-ea"/>
                <a:cs typeface="ＭＳ Ｐゴシック" pitchFamily="-1" charset="-128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9pPr>
          </a:lstStyle>
          <a:p>
            <a:r>
              <a:rPr lang="en-US" kern="0" dirty="0">
                <a:latin typeface="Arial Black" charset="0"/>
                <a:ea typeface="ＭＳ Ｐゴシック" charset="0"/>
                <a:cs typeface="ＭＳ Ｐゴシック" charset="0"/>
              </a:rPr>
              <a:t>Another </a:t>
            </a:r>
            <a:r>
              <a:rPr lang="en-US" kern="0" dirty="0">
                <a:latin typeface="Arial Black" charset="0"/>
                <a:ea typeface="ＭＳ Ｐゴシック" charset="0"/>
              </a:rPr>
              <a:t>example</a:t>
            </a:r>
          </a:p>
        </p:txBody>
      </p:sp>
      <p:sp>
        <p:nvSpPr>
          <p:cNvPr id="7" name="Text Box 4">
            <a:extLst>
              <a:ext uri="{FF2B5EF4-FFF2-40B4-BE49-F238E27FC236}">
                <a16:creationId xmlns:a16="http://schemas.microsoft.com/office/drawing/2014/main" id="{488C4DEC-3170-8D45-95C7-23CFEC88033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30730" y="2086862"/>
            <a:ext cx="2980303" cy="523220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IE" dirty="0"/>
              <a:t>*Main&gt; (10*) $ 3</a:t>
            </a:r>
          </a:p>
        </p:txBody>
      </p:sp>
      <p:sp>
        <p:nvSpPr>
          <p:cNvPr id="8" name="Text Box 4">
            <a:extLst>
              <a:ext uri="{FF2B5EF4-FFF2-40B4-BE49-F238E27FC236}">
                <a16:creationId xmlns:a16="http://schemas.microsoft.com/office/drawing/2014/main" id="{7C4427EC-52D8-7B40-BCE3-1C7C063DBB7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30730" y="2985596"/>
            <a:ext cx="3241593" cy="523220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IE" dirty="0"/>
              <a:t>*Main&gt; ($ 3) (10*)</a:t>
            </a:r>
          </a:p>
        </p:txBody>
      </p:sp>
      <p:sp>
        <p:nvSpPr>
          <p:cNvPr id="9" name="Text Box 4">
            <a:extLst>
              <a:ext uri="{FF2B5EF4-FFF2-40B4-BE49-F238E27FC236}">
                <a16:creationId xmlns:a16="http://schemas.microsoft.com/office/drawing/2014/main" id="{8CFEBA51-C0FF-334C-9B16-F080DE3D2B5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57602" y="3977559"/>
            <a:ext cx="5753498" cy="523220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IE" dirty="0"/>
              <a:t>map ($ 3) [(4+), (10*), (^2), sqrt]</a:t>
            </a:r>
          </a:p>
        </p:txBody>
      </p:sp>
    </p:spTree>
    <p:extLst>
      <p:ext uri="{BB962C8B-B14F-4D97-AF65-F5344CB8AC3E}">
        <p14:creationId xmlns:p14="http://schemas.microsoft.com/office/powerpoint/2010/main" val="27398429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865" name="Picture 41" descr="Text&#10;&#10;Description automatically generated">
            <a:extLst>
              <a:ext uri="{FF2B5EF4-FFF2-40B4-BE49-F238E27FC236}">
                <a16:creationId xmlns:a16="http://schemas.microsoft.com/office/drawing/2014/main" id="{141DDF3B-FD32-7F4E-952D-A3750E1798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51647" y="2482454"/>
            <a:ext cx="4888706" cy="37147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6866" name="Slide Number Placeholder 2">
            <a:extLst>
              <a:ext uri="{FF2B5EF4-FFF2-40B4-BE49-F238E27FC236}">
                <a16:creationId xmlns:a16="http://schemas.microsoft.com/office/drawing/2014/main" id="{DB04C08F-80B4-4D43-87D0-CE4F7D455D5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accent2"/>
              </a:buClr>
              <a:buFont typeface="Monotype Sorts" pitchFamily="2" charset="2"/>
              <a:buChar char="z"/>
              <a:defRPr kumimoji="1" sz="21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1pPr>
            <a:lvl2pPr marL="557213" indent="-214313">
              <a:spcBef>
                <a:spcPct val="20000"/>
              </a:spcBef>
              <a:buClr>
                <a:schemeClr val="accent2"/>
              </a:buClr>
              <a:buFont typeface="Monotype Sorts" pitchFamily="2" charset="2"/>
              <a:buChar char="y"/>
              <a:defRPr kumimoji="1" sz="18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2pPr>
            <a:lvl3pPr marL="857250" indent="-171450">
              <a:spcBef>
                <a:spcPct val="20000"/>
              </a:spcBef>
              <a:buClr>
                <a:schemeClr val="accent2"/>
              </a:buClr>
              <a:buFont typeface="Monotype Sorts" pitchFamily="2" charset="2"/>
              <a:buChar char="x"/>
              <a:defRPr kumimoji="1" sz="15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3pPr>
            <a:lvl4pPr marL="1200150" indent="-171450">
              <a:spcBef>
                <a:spcPct val="20000"/>
              </a:spcBef>
              <a:buClr>
                <a:schemeClr val="accent2"/>
              </a:buClr>
              <a:buChar char="•"/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4pPr>
            <a:lvl5pPr marL="1543050" indent="-171450">
              <a:spcBef>
                <a:spcPct val="20000"/>
              </a:spcBef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5pPr>
            <a:lvl6pPr marL="1885950" indent="-17145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6pPr>
            <a:lvl7pPr marL="2228850" indent="-17145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7pPr>
            <a:lvl8pPr marL="2571750" indent="-17145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8pPr>
            <a:lvl9pPr marL="2914650" indent="-17145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spcAft>
                <a:spcPts val="450"/>
              </a:spcAft>
              <a:buClrTx/>
              <a:buNone/>
            </a:pPr>
            <a:fld id="{350E24D9-8BBE-D14C-8545-85663EDC0EE7}" type="slidenum">
              <a:rPr kumimoji="0" lang="en-US" altLang="en-US" sz="1050"/>
              <a:pPr>
                <a:spcBef>
                  <a:spcPct val="0"/>
                </a:spcBef>
                <a:spcAft>
                  <a:spcPts val="450"/>
                </a:spcAft>
                <a:buClrTx/>
                <a:buNone/>
              </a:pPr>
              <a:t>7</a:t>
            </a:fld>
            <a:endParaRPr kumimoji="0" lang="en-US" altLang="en-US" sz="1050"/>
          </a:p>
        </p:txBody>
      </p:sp>
    </p:spTree>
    <p:extLst>
      <p:ext uri="{BB962C8B-B14F-4D97-AF65-F5344CB8AC3E}">
        <p14:creationId xmlns:p14="http://schemas.microsoft.com/office/powerpoint/2010/main" val="816998836"/>
      </p:ext>
    </p:extLst>
  </p:cSld>
  <p:clrMapOvr>
    <a:masterClrMapping/>
  </p:clrMapOvr>
</p:sld>
</file>

<file path=ppt/theme/theme1.xml><?xml version="1.0" encoding="utf-8"?>
<a:theme xmlns:a="http://schemas.openxmlformats.org/drawingml/2006/main" name="Berlin">
  <a:themeElements>
    <a:clrScheme name="Berlin">
      <a:dk1>
        <a:sysClr val="windowText" lastClr="000000"/>
      </a:dk1>
      <a:lt1>
        <a:sysClr val="window" lastClr="FFFFFF"/>
      </a:lt1>
      <a:dk2>
        <a:srgbClr val="1F8094"/>
      </a:dk2>
      <a:lt2>
        <a:srgbClr val="E7E6E6"/>
      </a:lt2>
      <a:accent1>
        <a:srgbClr val="39CDE7"/>
      </a:accent1>
      <a:accent2>
        <a:srgbClr val="60DE72"/>
      </a:accent2>
      <a:accent3>
        <a:srgbClr val="DDCC64"/>
      </a:accent3>
      <a:accent4>
        <a:srgbClr val="F49D50"/>
      </a:accent4>
      <a:accent5>
        <a:srgbClr val="E44951"/>
      </a:accent5>
      <a:accent6>
        <a:srgbClr val="D666F9"/>
      </a:accent6>
      <a:hlink>
        <a:srgbClr val="4BF7ED"/>
      </a:hlink>
      <a:folHlink>
        <a:srgbClr val="95E9F4"/>
      </a:folHlink>
    </a:clrScheme>
    <a:fontScheme name="Berlin">
      <a:maj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erlin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100000"/>
                <a:lumMod val="110000"/>
              </a:schemeClr>
            </a:gs>
            <a:gs pos="100000">
              <a:schemeClr val="phClr">
                <a:tint val="70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6000"/>
                <a:shade val="100000"/>
                <a:hueMod val="92000"/>
                <a:satMod val="200000"/>
                <a:lumMod val="128000"/>
              </a:schemeClr>
            </a:gs>
            <a:gs pos="50000">
              <a:schemeClr val="phClr">
                <a:shade val="100000"/>
                <a:hueMod val="100000"/>
                <a:satMod val="110000"/>
                <a:lumMod val="130000"/>
              </a:schemeClr>
            </a:gs>
            <a:gs pos="100000">
              <a:schemeClr val="phClr">
                <a:shade val="78000"/>
                <a:hueMod val="118000"/>
                <a:satMod val="120000"/>
                <a:lumMod val="69000"/>
              </a:schemeClr>
            </a:gs>
          </a:gsLst>
          <a:lin ang="252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erlin" id="{7B5DBA9E-B069-418E-9360-A61BDD0615A4}" vid="{C7DC10E3-4FF5-456B-A359-A0F378C1E5FB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a-functions</Template>
  <TotalTime>11635</TotalTime>
  <Words>297</Words>
  <Application>Microsoft Macintosh PowerPoint</Application>
  <PresentationFormat>Widescreen</PresentationFormat>
  <Paragraphs>74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5" baseType="lpstr">
      <vt:lpstr>Arial</vt:lpstr>
      <vt:lpstr>Arial Black</vt:lpstr>
      <vt:lpstr>Calibri</vt:lpstr>
      <vt:lpstr>Tahoma</vt:lpstr>
      <vt:lpstr>Times New Roman</vt:lpstr>
      <vt:lpstr>Trebuchet MS</vt:lpstr>
      <vt:lpstr>Berlin</vt:lpstr>
      <vt:lpstr>PowerPoint Presentation</vt:lpstr>
      <vt:lpstr>$ as function application </vt:lpstr>
      <vt:lpstr>$ as function application </vt:lpstr>
      <vt:lpstr>$ as function application </vt:lpstr>
      <vt:lpstr>PowerPoint Presentation</vt:lpstr>
      <vt:lpstr>PowerPoint Presentation</vt:lpstr>
      <vt:lpstr>PowerPoint Presentation</vt:lpstr>
      <vt:lpstr>PowerPoint Presentation</vt:lpstr>
    </vt:vector>
  </TitlesOfParts>
  <Company>University of Nottingham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Functional Programming</dc:title>
  <dc:creator>Dr. Graham Hutton</dc:creator>
  <cp:lastModifiedBy>Mairead Meagher</cp:lastModifiedBy>
  <cp:revision>912</cp:revision>
  <cp:lastPrinted>2019-03-05T06:58:17Z</cp:lastPrinted>
  <dcterms:created xsi:type="dcterms:W3CDTF">2000-11-20T11:40:19Z</dcterms:created>
  <dcterms:modified xsi:type="dcterms:W3CDTF">2026-03-09T15:46:26Z</dcterms:modified>
</cp:coreProperties>
</file>