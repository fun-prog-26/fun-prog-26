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13"/>
  </p:notesMasterIdLst>
  <p:sldIdLst>
    <p:sldId id="32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>
        <p:scale>
          <a:sx n="164" d="100"/>
          <a:sy n="164" d="100"/>
        </p:scale>
        <p:origin x="20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995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8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303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2" y="3295531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125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553F3B-B5E4-014D-856B-CF964DA80B47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pPr>
              <a:defRPr/>
            </a:pPr>
            <a:fld id="{6C1A8497-227B-A147-A35E-F20B512D154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717077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04E3FF-7AD7-4B48-9510-2F888209D81B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E3E25D-7147-4545-8FC6-7D29BC48FAA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24128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939370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3174130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C79FF3-C472-AD44-A731-0854478E68DA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3" y="2152423"/>
            <a:ext cx="865613" cy="818092"/>
          </a:xfrm>
        </p:spPr>
        <p:txBody>
          <a:bodyPr/>
          <a:lstStyle/>
          <a:p>
            <a:pPr>
              <a:defRPr/>
            </a:pPr>
            <a:fld id="{8615277E-17BA-0544-8D3C-57CD0AE9F19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27274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1" y="1752655"/>
            <a:ext cx="3523769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3" y="1752655"/>
            <a:ext cx="3525044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B27A86-9492-1A4C-B71C-C304174B6317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D7D2E1-6E93-6747-B9E5-4A4F773EDE1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2515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4"/>
            <a:ext cx="7210397" cy="81070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4" y="1752657"/>
            <a:ext cx="3354245" cy="519851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3" y="2272508"/>
            <a:ext cx="3523766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1752655"/>
            <a:ext cx="3355521" cy="519057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4" y="2272508"/>
            <a:ext cx="3525044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0D0E10-0C68-2243-8EE7-3D9521A4B932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954478-2D78-5E4A-AB13-E9B6FB7E006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7303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2C0760-190D-434A-8DA2-99E529858BF8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0B520B-0227-344E-B2B9-09AB9C3995E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44416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040D5B-8D0F-0D4C-BA1C-4C9EE60F29A4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503BA8-2468-AB44-8B07-1D073A68F4E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381851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7"/>
            <a:ext cx="4206252" cy="26994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6"/>
            <a:ext cx="2842559" cy="2699488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4FF3FE-9BF6-3441-A1AC-F82F76FF5AF8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A2EE41-F49A-B54A-9F44-80E15777CA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76833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3" cy="810704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1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7"/>
            <a:ext cx="2907192" cy="2699486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D91B7B-F5D0-904E-AECB-684CA2129484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9112BD-C6BF-2045-9788-A800E329A4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31510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4"/>
            <a:ext cx="7210394" cy="339788"/>
          </a:xfrm>
        </p:spPr>
        <p:txBody>
          <a:bodyPr anchor="b">
            <a:normAutofit/>
          </a:bodyPr>
          <a:lstStyle>
            <a:lvl1pPr>
              <a:defRPr sz="13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200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877189"/>
            <a:ext cx="7210397" cy="46722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BA69B9-8BCD-1743-A7EA-A87148D43D98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484"/>
            <a:ext cx="865613" cy="818092"/>
          </a:xfrm>
        </p:spPr>
        <p:txBody>
          <a:bodyPr/>
          <a:lstStyle/>
          <a:p>
            <a:pPr>
              <a:defRPr/>
            </a:pPr>
            <a:fld id="{FCE4EC0E-F0BA-9743-94AB-30575C262C2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18244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7"/>
            <a:ext cx="7210394" cy="2694563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3"/>
            <a:ext cx="7210394" cy="818092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3B821F-F50B-B24A-AA3C-F5A9B8822722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713"/>
            <a:ext cx="865613" cy="818092"/>
          </a:xfrm>
        </p:spPr>
        <p:txBody>
          <a:bodyPr/>
          <a:lstStyle/>
          <a:p>
            <a:pPr>
              <a:defRPr/>
            </a:pPr>
            <a:fld id="{A48E549A-BFD5-CA45-B65B-6AF2615F94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466935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3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2EBF0D-18C4-0348-AC98-3C5EA586D714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6"/>
            <a:ext cx="865613" cy="818092"/>
          </a:xfrm>
        </p:spPr>
        <p:txBody>
          <a:bodyPr/>
          <a:lstStyle/>
          <a:p>
            <a:pPr>
              <a:defRPr/>
            </a:pPr>
            <a:fld id="{851EAB7B-D94A-4F44-A743-EA9E70243C7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405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405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30497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3533713"/>
            <a:ext cx="7210397" cy="441401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4"/>
            <a:ext cx="7210397" cy="376691"/>
          </a:xfrm>
        </p:spPr>
        <p:txBody>
          <a:bodyPr anchor="t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178186-32BF-FA47-810E-787554D073F4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6"/>
            <a:ext cx="865613" cy="818092"/>
          </a:xfrm>
        </p:spPr>
        <p:txBody>
          <a:bodyPr/>
          <a:lstStyle/>
          <a:p>
            <a:pPr>
              <a:defRPr/>
            </a:pPr>
            <a:fld id="{2D39529C-0C62-AC40-BC41-A432AF9A1EC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29610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564921"/>
            <a:ext cx="7218720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2" y="2267006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6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8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8" y="2267006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4CAE55-0504-6C4B-9D1C-F7DDA16C4459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756C6E-C944-604E-8607-4CF6F94051F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817400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5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40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40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40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9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10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9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CD8F05-0F1C-F34F-BB46-6EFF1FC57164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07A0F4-D0AD-8D4E-94FD-3B938370633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885606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CD70A7-F553-0043-B575-3F8D67C58C20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E2E05E-56D5-624A-AF72-262359EA23E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235972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5" y="1402047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3" y="4029304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4" y="457198"/>
            <a:ext cx="805352" cy="326532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9"/>
            <a:ext cx="6652503" cy="399494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2"/>
            <a:ext cx="2057400" cy="273844"/>
          </a:xfrm>
        </p:spPr>
        <p:txBody>
          <a:bodyPr/>
          <a:lstStyle/>
          <a:p>
            <a:pPr>
              <a:defRPr/>
            </a:pPr>
            <a:fld id="{32E94331-9661-474D-B360-50A2564AE4C7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3"/>
            <a:ext cx="4595104" cy="27384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4" y="4048976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032EDDE4-274F-6344-934D-869911BB516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110496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B845E-7084-EC53-DEC0-D55CE275D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11BAE0-29F1-9FB8-C8DA-BEF4B32FF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D6170B-327F-AF4D-8FE0-BC6D94704B24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A5552C-4C59-1B08-B0A8-A00799DB8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8C5CC-2F04-A369-FA4B-E3C3E04C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6C416A-7973-DB47-8808-E6843CBC59D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4352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6D6170B-327F-AF4D-8FE0-BC6D94704B24}" type="datetimeFigureOut">
              <a:rPr lang="en-US" smtClean="0"/>
              <a:pPr>
                <a:defRPr/>
              </a:pPr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2" y="4452143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3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06C416A-7973-DB47-8808-E6843CBC59D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6794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7" r:id="rId18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0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1</a:t>
            </a:fld>
            <a:endParaRPr lang="en-US" sz="1050" dirty="0"/>
          </a:p>
        </p:txBody>
      </p:sp>
      <p:sp>
        <p:nvSpPr>
          <p:cNvPr id="291842" name="Text Box 2"/>
          <p:cNvSpPr txBox="1">
            <a:spLocks noChangeArrowheads="1"/>
          </p:cNvSpPr>
          <p:nvPr/>
        </p:nvSpPr>
        <p:spPr bwMode="auto">
          <a:xfrm>
            <a:off x="1229916" y="751285"/>
            <a:ext cx="6682978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291843" name="Rectangle 3"/>
          <p:cNvSpPr>
            <a:spLocks noChangeArrowheads="1"/>
          </p:cNvSpPr>
          <p:nvPr/>
        </p:nvSpPr>
        <p:spPr bwMode="auto">
          <a:xfrm>
            <a:off x="1275160" y="3873104"/>
            <a:ext cx="6593681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1" lang="en-US" sz="2400" dirty="0"/>
              <a:t>Topic 13 – XML Parsing in Haskell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391" y="1819275"/>
            <a:ext cx="2131219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XML?</a:t>
            </a:r>
          </a:p>
        </p:txBody>
      </p:sp>
      <p:sp>
        <p:nvSpPr>
          <p:cNvPr id="3" name="Rectangle 2"/>
          <p:cNvSpPr/>
          <p:nvPr/>
        </p:nvSpPr>
        <p:spPr>
          <a:xfrm>
            <a:off x="205740" y="1474470"/>
            <a:ext cx="3771900" cy="80924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288036" y="1522475"/>
            <a:ext cx="17219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 err="1">
                <a:solidFill>
                  <a:srgbClr val="4DD0E1"/>
                </a:solidFill>
                <a:latin typeface="Trebuchet MS"/>
              </a:rPr>
              <a:t>eXtensible</a:t>
            </a:r>
            <a:r>
              <a:rPr sz="900" b="1" dirty="0">
                <a:solidFill>
                  <a:srgbClr val="4DD0E1"/>
                </a:solidFill>
                <a:latin typeface="Trebuchet MS"/>
              </a:rPr>
              <a:t> Markup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" y="1776223"/>
            <a:ext cx="36347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 dirty="0">
                <a:solidFill>
                  <a:srgbClr val="FFFFFF"/>
                </a:solidFill>
                <a:latin typeface="Trebuchet MS"/>
              </a:rPr>
              <a:t>A text format for structured data — human-readable and machine-</a:t>
            </a:r>
            <a:r>
              <a:rPr sz="825" dirty="0" err="1">
                <a:solidFill>
                  <a:srgbClr val="FFFFFF"/>
                </a:solidFill>
                <a:latin typeface="Trebuchet MS"/>
              </a:rPr>
              <a:t>parseable</a:t>
            </a:r>
            <a:r>
              <a:rPr sz="825" dirty="0">
                <a:solidFill>
                  <a:srgbClr val="FFFFFF"/>
                </a:solidFill>
                <a:latin typeface="Trebuchet MS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" y="2352293"/>
            <a:ext cx="3771900" cy="80924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288037" y="2400299"/>
            <a:ext cx="107112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Tags &amp;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" y="2654046"/>
            <a:ext cx="36347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Data is wrapped in opening &lt;tag&gt; and closing &lt;/tag&gt; pairs, forming a tree.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" y="3230118"/>
            <a:ext cx="3771900" cy="80924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288036" y="3278124"/>
            <a:ext cx="7328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>
                <a:solidFill>
                  <a:srgbClr val="4DD0E1"/>
                </a:solidFill>
                <a:latin typeface="Trebuchet MS"/>
              </a:rPr>
              <a:t>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" y="3531871"/>
            <a:ext cx="363474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Extra metadata lives inside the opening tag as key="value" pairs.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" y="4107942"/>
            <a:ext cx="3771900" cy="80924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288036" y="4155948"/>
            <a:ext cx="58381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Nesting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" y="4409695"/>
            <a:ext cx="36347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Elements can contain other elements — a hierarchy of parent to child nodes.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474470"/>
            <a:ext cx="4800600" cy="288036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4197096" y="1543050"/>
            <a:ext cx="2236510" cy="10618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>
                <a:solidFill>
                  <a:srgbClr val="4DD0E1"/>
                </a:solidFill>
                <a:latin typeface="Consolas"/>
              </a:rPr>
              <a:t>&lt;?xml version="1.0"?&gt;</a:t>
            </a:r>
          </a:p>
          <a:p>
            <a:r>
              <a:rPr sz="900" b="1" dirty="0">
                <a:solidFill>
                  <a:srgbClr val="4DD0E1"/>
                </a:solidFill>
                <a:latin typeface="Consolas"/>
              </a:rPr>
              <a:t>&lt;catalogue&gt;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&lt;book </a:t>
            </a:r>
            <a:r>
              <a:rPr sz="900" b="1" dirty="0" err="1">
                <a:solidFill>
                  <a:srgbClr val="4DD0E1"/>
                </a:solidFill>
                <a:latin typeface="Consolas"/>
              </a:rPr>
              <a:t>isbn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="9780000000002"&gt;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&lt;title&gt;</a:t>
            </a:r>
            <a:r>
              <a:rPr sz="900" dirty="0">
                <a:solidFill>
                  <a:srgbClr val="FFFFFF"/>
                </a:solidFill>
                <a:latin typeface="Consolas"/>
              </a:rPr>
              <a:t>Learn Haskell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&lt;/title&gt;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  ...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&lt;/book&gt;</a:t>
            </a:r>
          </a:p>
          <a:p>
            <a:r>
              <a:rPr sz="900" b="1" dirty="0">
                <a:solidFill>
                  <a:srgbClr val="4DD0E1"/>
                </a:solidFill>
                <a:latin typeface="Consolas"/>
              </a:rPr>
              <a:t>&lt;/catalogue&gt;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423409"/>
            <a:ext cx="4800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solidFill>
                  <a:srgbClr val="4DD0E1"/>
                </a:solidFill>
              </a:rPr>
              <a:t>We'll use </a:t>
            </a:r>
            <a:r>
              <a:rPr sz="900" dirty="0" err="1">
                <a:solidFill>
                  <a:srgbClr val="4DD0E1"/>
                </a:solidFill>
              </a:rPr>
              <a:t>books.xml</a:t>
            </a:r>
            <a:r>
              <a:rPr sz="900" dirty="0">
                <a:solidFill>
                  <a:srgbClr val="4DD0E1"/>
                </a:solidFill>
              </a:rPr>
              <a:t> as our running example throughout.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8380A171-4C4E-B2F1-630C-DD1A7E4B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2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books.xml — Full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05740" y="1474470"/>
            <a:ext cx="4663440" cy="349758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288037" y="1543051"/>
            <a:ext cx="2839239" cy="27584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 dirty="0">
                <a:solidFill>
                  <a:srgbClr val="4DD0E1"/>
                </a:solidFill>
                <a:latin typeface="Consolas"/>
              </a:rPr>
              <a:t>&lt;catalogue&gt;</a:t>
            </a:r>
          </a:p>
          <a:p>
            <a:endParaRPr sz="825" b="1" dirty="0">
              <a:solidFill>
                <a:srgbClr val="4DD0E1"/>
              </a:solidFill>
              <a:latin typeface="Consolas"/>
            </a:endParaRP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&lt;book </a:t>
            </a:r>
            <a:r>
              <a:rPr sz="825" b="1" dirty="0" err="1">
                <a:solidFill>
                  <a:srgbClr val="4DD0E1"/>
                </a:solidFill>
                <a:latin typeface="Consolas"/>
              </a:rPr>
              <a:t>isbn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="9780000000002"&gt;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&lt;title&gt;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Learn Haskell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&lt;/title&gt;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&lt;subtitle&gt;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Type-safe wizardry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&lt;/subtitle&gt;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&lt;authors&gt;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&lt;author id="a1"&gt;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Mairead Example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&lt;/author&gt;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&lt;author id="a2"&gt;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Co Author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&lt;/author&gt;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&lt;/authors&gt;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&lt;published year="2024"/&gt;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&lt;/book&gt;</a:t>
            </a:r>
          </a:p>
          <a:p>
            <a:endParaRPr sz="825" b="1" dirty="0">
              <a:solidFill>
                <a:srgbClr val="4DD0E1"/>
              </a:solidFill>
              <a:latin typeface="Consolas"/>
            </a:endParaRP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&lt;book </a:t>
            </a:r>
            <a:r>
              <a:rPr sz="825" b="1" dirty="0" err="1">
                <a:solidFill>
                  <a:srgbClr val="4DD0E1"/>
                </a:solidFill>
                <a:latin typeface="Consolas"/>
              </a:rPr>
              <a:t>isbn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="9780000000003"&gt;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&lt;title&gt;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Streaming XML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&lt;/title&gt;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&lt;authors&gt;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&lt;author id="a3"&gt;</a:t>
            </a:r>
            <a:r>
              <a:rPr sz="825" dirty="0">
                <a:solidFill>
                  <a:srgbClr val="FFFFFF"/>
                </a:solidFill>
                <a:latin typeface="Consolas"/>
              </a:rPr>
              <a:t>Someone Else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&lt;/author&gt;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&lt;/authors&gt;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&lt;published year="2023"/&gt;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</a:t>
            </a:r>
            <a:r>
              <a:rPr sz="825" b="1" dirty="0">
                <a:solidFill>
                  <a:srgbClr val="4DD0E1"/>
                </a:solidFill>
                <a:latin typeface="Consolas"/>
              </a:rPr>
              <a:t>&lt;/book&gt;</a:t>
            </a:r>
          </a:p>
          <a:p>
            <a:endParaRPr sz="825" b="1" dirty="0">
              <a:solidFill>
                <a:srgbClr val="4DD0E1"/>
              </a:solidFill>
              <a:latin typeface="Consolas"/>
            </a:endParaRPr>
          </a:p>
          <a:p>
            <a:r>
              <a:rPr sz="825" b="1" dirty="0">
                <a:solidFill>
                  <a:srgbClr val="4DD0E1"/>
                </a:solidFill>
                <a:latin typeface="Consolas"/>
              </a:rPr>
              <a:t>&lt;/catalogue&gt;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1474470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5157216" y="1522476"/>
            <a:ext cx="849913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Root element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7217" y="1776222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FFFFFF"/>
                </a:solidFill>
                <a:latin typeface="Trebuchet MS"/>
              </a:rPr>
              <a:t>Every XML doc has exactly one root — here &lt;catalogue&gt;.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2050542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5157217" y="2098548"/>
            <a:ext cx="1173719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Element + Attribute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7" y="2352294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FFFFFF"/>
                </a:solidFill>
                <a:latin typeface="Trebuchet MS"/>
              </a:rPr>
              <a:t>&lt;book isbn="..."&gt; — book is the element; isbn is an attribute.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626614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5157216" y="2674621"/>
            <a:ext cx="920445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Child 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7217" y="2928366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FFFFFF"/>
                </a:solidFill>
                <a:latin typeface="Trebuchet MS"/>
              </a:rPr>
              <a:t>&lt;title&gt;, &lt;subtitle&gt;, &lt;authors&gt; are children of &lt;book&gt;.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3202686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/>
          <p:cNvSpPr txBox="1"/>
          <p:nvPr/>
        </p:nvSpPr>
        <p:spPr>
          <a:xfrm>
            <a:off x="5157216" y="3250693"/>
            <a:ext cx="824265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Text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7" y="3504438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FFFFFF"/>
                </a:solidFill>
                <a:latin typeface="Trebuchet MS"/>
              </a:rPr>
              <a:t>Text sits between tags: &lt;title&gt;Learn Haskell&lt;/title&gt;.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778758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TextBox 17"/>
          <p:cNvSpPr txBox="1"/>
          <p:nvPr/>
        </p:nvSpPr>
        <p:spPr>
          <a:xfrm>
            <a:off x="5157216" y="3826765"/>
            <a:ext cx="926857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Self-closing tag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7" y="4080510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FFFFFF"/>
                </a:solidFill>
                <a:latin typeface="Trebuchet MS"/>
              </a:rPr>
              <a:t>&lt;published year="2024"/&gt; — no children, closes immediately.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4354830"/>
            <a:ext cx="3840480" cy="528066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TextBox 20"/>
          <p:cNvSpPr txBox="1"/>
          <p:nvPr/>
        </p:nvSpPr>
        <p:spPr>
          <a:xfrm>
            <a:off x="5157216" y="4402837"/>
            <a:ext cx="1042273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b="1">
                <a:solidFill>
                  <a:srgbClr val="4DD0E1"/>
                </a:solidFill>
                <a:latin typeface="Trebuchet MS"/>
              </a:rPr>
              <a:t>Optional element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7" y="4656582"/>
            <a:ext cx="370331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FFFFFF"/>
                </a:solidFill>
                <a:latin typeface="Trebuchet MS"/>
              </a:rPr>
              <a:t>&lt;subtitle&gt; appears in book 1 but not book 2 — it is optional.</a:t>
            </a:r>
          </a:p>
        </p:txBody>
      </p:sp>
      <p:sp>
        <p:nvSpPr>
          <p:cNvPr id="23" name="Slide Number Placeholder 1">
            <a:extLst>
              <a:ext uri="{FF2B5EF4-FFF2-40B4-BE49-F238E27FC236}">
                <a16:creationId xmlns:a16="http://schemas.microsoft.com/office/drawing/2014/main" id="{06D51878-3586-4FBB-B69E-C8FD6B57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3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 as a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268729"/>
            <a:ext cx="8730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Every XML document is a tree. Understanding this makes parsing straightforward.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51811" y="1724263"/>
            <a:ext cx="960120" cy="308610"/>
          </a:xfrm>
          <a:prstGeom prst="rect">
            <a:avLst/>
          </a:prstGeom>
          <a:solidFill>
            <a:srgbClr val="00000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FFFFFF"/>
                </a:solidFill>
                <a:latin typeface="Consolas"/>
              </a:rPr>
              <a:t>catalogue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846" y="2204086"/>
            <a:ext cx="960120" cy="308610"/>
          </a:xfrm>
          <a:prstGeom prst="rect">
            <a:avLst/>
          </a:prstGeom>
          <a:solidFill>
            <a:srgbClr val="00000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FFFFFF"/>
                </a:solidFill>
                <a:latin typeface="Consolas"/>
              </a:rPr>
              <a:t>book [</a:t>
            </a:r>
            <a:r>
              <a:rPr sz="713" b="1" dirty="0" err="1">
                <a:solidFill>
                  <a:srgbClr val="FFFFFF"/>
                </a:solidFill>
                <a:latin typeface="Consolas"/>
              </a:rPr>
              <a:t>isbn</a:t>
            </a:r>
            <a:r>
              <a:rPr sz="713" b="1" dirty="0">
                <a:solidFill>
                  <a:srgbClr val="FFFFFF"/>
                </a:solidFill>
                <a:latin typeface="Consolas"/>
              </a:rPr>
              <a:t>=...]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5908" y="2204086"/>
            <a:ext cx="960120" cy="308610"/>
          </a:xfrm>
          <a:prstGeom prst="rect">
            <a:avLst/>
          </a:prstGeom>
          <a:solidFill>
            <a:srgbClr val="00000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FFFFFF"/>
                </a:solidFill>
                <a:latin typeface="Consolas"/>
              </a:rPr>
              <a:t>book [</a:t>
            </a:r>
            <a:r>
              <a:rPr sz="713" b="1" dirty="0" err="1">
                <a:solidFill>
                  <a:srgbClr val="FFFFFF"/>
                </a:solidFill>
                <a:latin typeface="Consolas"/>
              </a:rPr>
              <a:t>isbn</a:t>
            </a:r>
            <a:r>
              <a:rPr sz="713" b="1" dirty="0">
                <a:solidFill>
                  <a:srgbClr val="FFFFFF"/>
                </a:solidFill>
                <a:latin typeface="Consolas"/>
              </a:rPr>
              <a:t>=...]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0" y="2023110"/>
            <a:ext cx="0" cy="34290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023110"/>
            <a:ext cx="0" cy="34290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2871" y="3068439"/>
            <a:ext cx="684442" cy="288206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title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27343" y="3051585"/>
            <a:ext cx="582930" cy="288206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subtitle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781921" y="3034149"/>
            <a:ext cx="737716" cy="274319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>
                <a:solidFill>
                  <a:srgbClr val="000000"/>
                </a:solidFill>
                <a:latin typeface="Consolas"/>
              </a:rPr>
              <a:t>authors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708911" y="3028469"/>
            <a:ext cx="822960" cy="274319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published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26746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99291" y="3902119"/>
            <a:ext cx="960120" cy="308610"/>
          </a:xfrm>
          <a:prstGeom prst="rect">
            <a:avLst/>
          </a:prstGeom>
          <a:solidFill>
            <a:srgbClr val="00000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FFFFFF"/>
                </a:solidFill>
                <a:latin typeface="Consolas"/>
              </a:rPr>
              <a:t>author [id=a1]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07471" y="3885993"/>
            <a:ext cx="960120" cy="308610"/>
          </a:xfrm>
          <a:prstGeom prst="rect">
            <a:avLst/>
          </a:prstGeom>
          <a:solidFill>
            <a:srgbClr val="000000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>
                <a:solidFill>
                  <a:srgbClr val="FFFFFF"/>
                </a:solidFill>
                <a:latin typeface="Consolas"/>
              </a:rPr>
              <a:t>author [id=a2]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0" y="33604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360420"/>
            <a:ext cx="0" cy="377190"/>
          </a:xfrm>
          <a:prstGeom prst="line">
            <a:avLst/>
          </a:prstGeom>
          <a:ln w="1524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05740" y="4491991"/>
            <a:ext cx="873023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 dirty="0">
                <a:solidFill>
                  <a:srgbClr val="4DD0E1"/>
                </a:solidFill>
              </a:rPr>
              <a:t>Key insight: one root; every element has exactly one parent (except the root).</a:t>
            </a:r>
          </a:p>
        </p:txBody>
      </p:sp>
      <p:sp>
        <p:nvSpPr>
          <p:cNvPr id="28" name="Slide Number Placeholder 1">
            <a:extLst>
              <a:ext uri="{FF2B5EF4-FFF2-40B4-BE49-F238E27FC236}">
                <a16:creationId xmlns:a16="http://schemas.microsoft.com/office/drawing/2014/main" id="{29089A95-4218-DC42-52A7-75FF75E79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4</a:t>
            </a:fld>
            <a:endParaRPr lang="en-US" sz="105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426DA97-0DE8-0083-BC77-BC48E0CE32C3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V="1">
            <a:off x="1525906" y="2032873"/>
            <a:ext cx="2005965" cy="17121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61B7E5A-AB73-D24A-CD75-2BDAA692EBB5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3531871" y="2032873"/>
            <a:ext cx="1974097" cy="17121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2D628DF-D2C6-0739-24AA-BDA2A63A57D4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45092" y="2512696"/>
            <a:ext cx="1080814" cy="55574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3789E-94DE-4CFD-29E0-C8710E1A6179}"/>
              </a:ext>
            </a:extLst>
          </p:cNvPr>
          <p:cNvCxnSpPr>
            <a:cxnSpLocks/>
            <a:stCxn id="11" idx="0"/>
            <a:endCxn id="5" idx="2"/>
          </p:cNvCxnSpPr>
          <p:nvPr/>
        </p:nvCxnSpPr>
        <p:spPr>
          <a:xfrm flipV="1">
            <a:off x="1318808" y="2512696"/>
            <a:ext cx="207098" cy="538889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C16B17F-4C77-B130-1295-7AB7EBFE82AC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>
            <a:off x="1525906" y="2512696"/>
            <a:ext cx="624873" cy="52145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63CAD4D-8038-A0F1-7A64-50FF17BB6EEC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>
            <a:off x="1525906" y="2512696"/>
            <a:ext cx="1594485" cy="51577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9F58CF1-9259-4DA4-4E23-EE9CCCF91030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2150779" y="3355061"/>
            <a:ext cx="736752" cy="530932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403388E-16AE-FC06-25AF-978DD89676DC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1379351" y="3343986"/>
            <a:ext cx="778982" cy="55813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B3FA5D5D-F567-201F-4667-AF6AC1098438}"/>
              </a:ext>
            </a:extLst>
          </p:cNvPr>
          <p:cNvSpPr/>
          <p:nvPr/>
        </p:nvSpPr>
        <p:spPr>
          <a:xfrm>
            <a:off x="4090003" y="3068439"/>
            <a:ext cx="684442" cy="288206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title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4B800E7-15DD-A95A-2774-335968824792}"/>
              </a:ext>
            </a:extLst>
          </p:cNvPr>
          <p:cNvSpPr/>
          <p:nvPr/>
        </p:nvSpPr>
        <p:spPr>
          <a:xfrm>
            <a:off x="5025908" y="3075382"/>
            <a:ext cx="737716" cy="274319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authors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0D7F81A-E18D-D769-982F-2B2591F37E21}"/>
              </a:ext>
            </a:extLst>
          </p:cNvPr>
          <p:cNvSpPr/>
          <p:nvPr/>
        </p:nvSpPr>
        <p:spPr>
          <a:xfrm>
            <a:off x="5884608" y="3068439"/>
            <a:ext cx="656741" cy="253917"/>
          </a:xfrm>
          <a:prstGeom prst="rect">
            <a:avLst/>
          </a:prstGeom>
          <a:solidFill>
            <a:srgbClr val="4DD0E1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3" b="1" dirty="0">
                <a:solidFill>
                  <a:srgbClr val="000000"/>
                </a:solidFill>
                <a:latin typeface="Consolas"/>
              </a:rPr>
              <a:t>published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6C567DC-74B8-0620-0959-A70B8B5622F7}"/>
              </a:ext>
            </a:extLst>
          </p:cNvPr>
          <p:cNvCxnSpPr>
            <a:cxnSpLocks/>
          </p:cNvCxnSpPr>
          <p:nvPr/>
        </p:nvCxnSpPr>
        <p:spPr>
          <a:xfrm flipV="1">
            <a:off x="4457022" y="2495842"/>
            <a:ext cx="1048946" cy="55574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0690CC9-11AC-589D-664C-B62CD49B4DB9}"/>
              </a:ext>
            </a:extLst>
          </p:cNvPr>
          <p:cNvCxnSpPr>
            <a:cxnSpLocks/>
          </p:cNvCxnSpPr>
          <p:nvPr/>
        </p:nvCxnSpPr>
        <p:spPr>
          <a:xfrm flipV="1">
            <a:off x="5330738" y="2495842"/>
            <a:ext cx="175230" cy="538889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E536A85-C4A9-BEE3-0882-ED33C5C3CE3C}"/>
              </a:ext>
            </a:extLst>
          </p:cNvPr>
          <p:cNvCxnSpPr>
            <a:cxnSpLocks/>
          </p:cNvCxnSpPr>
          <p:nvPr/>
        </p:nvCxnSpPr>
        <p:spPr>
          <a:xfrm>
            <a:off x="5495119" y="2510472"/>
            <a:ext cx="656741" cy="521453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1" grpId="0" animBg="1"/>
      <p:bldP spid="13" grpId="0" animBg="1"/>
      <p:bldP spid="15" grpId="0" animBg="1"/>
      <p:bldP spid="23" grpId="0" animBg="1"/>
      <p:bldP spid="24" grpId="0" animBg="1"/>
      <p:bldP spid="72" grpId="0" animBg="1"/>
      <p:bldP spid="74" grpId="0" animBg="1"/>
      <p:bldP spid="7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xml-conduit Sees XML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Haskell library's view of the document tree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125C4AE-FF6A-837D-5E1A-162D28D2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0952" y="2152420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5</a:t>
            </a:fld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xml-conduit — Core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405889"/>
            <a:ext cx="8730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>
                <a:solidFill>
                  <a:srgbClr val="FFFFFF"/>
                </a:solidFill>
              </a:rPr>
              <a:t>xml-conduit models XML as Haskell data types. Every piece of an XML document maps to one of these: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" y="1762506"/>
            <a:ext cx="3771900" cy="92583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88036" y="1810511"/>
            <a:ext cx="7328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" y="2064259"/>
            <a:ext cx="363474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The whole file. Contains a prologue (&lt;?xml ...?&gt;) and the root Element.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" y="2777490"/>
            <a:ext cx="3771900" cy="92583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288036" y="2825496"/>
            <a:ext cx="63030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Element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" y="3079243"/>
            <a:ext cx="363474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A tag with a Name, a map of Attributes, and a list of Nodes as children.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" y="3792473"/>
            <a:ext cx="3771900" cy="92583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288036" y="3840480"/>
            <a:ext cx="4603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" y="4094227"/>
            <a:ext cx="36347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What lives inside an element: another Element, plain Text, or a Comment.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762506"/>
            <a:ext cx="4663440" cy="329184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4334256" y="1831086"/>
            <a:ext cx="2621230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  <a:latin typeface="Consolas"/>
              </a:rPr>
              <a:t>data Document = Document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{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documentPrologue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:: Prologue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,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documentRoot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    :: Element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}</a:t>
            </a: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endParaRPr lang="en-IE" sz="900" dirty="0">
              <a:solidFill>
                <a:srgbClr val="FFFFFF"/>
              </a:solidFill>
              <a:latin typeface="Consolas"/>
            </a:endParaRPr>
          </a:p>
          <a:p>
            <a:endParaRPr lang="en-IE"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data Element = Element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{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elementName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      :: Name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,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elementAttributes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:: Map Name Text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,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elementNodes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     :: [Node]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}</a:t>
            </a: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endParaRPr lang="en-IE"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data Node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=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NodeElement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Element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|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NodeContent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 Text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|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NodeComment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 Text</a:t>
            </a: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C8AC7E91-E8BE-BFF0-453B-5425DF4E4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6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Name Type — Handling Namespaces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405889"/>
            <a:ext cx="8730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>
                <a:solidFill>
                  <a:srgbClr val="FFFFFF"/>
                </a:solidFill>
              </a:rPr>
              <a:t>xml-conduit uses a Name type instead of a plain String for tag names. This handles XML namespaces correctly.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" y="1714500"/>
            <a:ext cx="8730234" cy="192024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88036" y="1783080"/>
            <a:ext cx="422423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Consolas"/>
              </a:rPr>
              <a:t>data Name = Name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{ nameLocalName  :: Text       -- e.g. "book"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, nameNamespace  :: Maybe Text -- e.g. Nothing (no namespace)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, namePrefix     :: Maybe Text -- e.g. Nothing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}</a:t>
            </a:r>
          </a:p>
          <a:p>
            <a:endParaRPr sz="900">
              <a:solidFill>
                <a:srgbClr val="FFFFFF"/>
              </a:solidFill>
              <a:latin typeface="Consolas"/>
            </a:endParaRPr>
          </a:p>
          <a:p>
            <a:r>
              <a:rPr sz="900">
                <a:solidFill>
                  <a:srgbClr val="FFFFFF"/>
                </a:solidFill>
                <a:latin typeface="Consolas"/>
              </a:rPr>
              <a:t>-- OverloadedStrings lets you write: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"book" :: Name   -- same as Name "book" Nothing Nothing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1" y="3737609"/>
            <a:ext cx="2811779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288036" y="3785616"/>
            <a:ext cx="153439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No namespace (our case)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7" y="4039362"/>
            <a:ext cx="267461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books.xml uses no namespace — nameNamespace = Nothing. Write tag names as plain strings.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8970" y="3737609"/>
            <a:ext cx="2811779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3271266" y="3785616"/>
            <a:ext cx="106952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With namespace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1267" y="4039362"/>
            <a:ext cx="2674619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XHTML and SOAP use namespaces like {http://www.w3.org/1999/xhtml}html — xml-conduit handles these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1" y="3737609"/>
            <a:ext cx="2811779" cy="102870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6254496" y="3785616"/>
            <a:ext cx="83869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Practical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4039362"/>
            <a:ext cx="2674619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Enable {-# LANGUAGE OverloadedStrings #-}. Then write "book" instead of Name "book" Nothing Nothing.</a:t>
            </a: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6993530B-67AE-A666-2C2B-41E02C30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7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books.xml Through xml-conduit's Eyes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440180"/>
            <a:ext cx="30861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DD0E1"/>
                </a:solidFill>
              </a:rPr>
              <a:t>XML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" y="1666493"/>
            <a:ext cx="3771900" cy="301752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88036" y="1735074"/>
            <a:ext cx="2108269" cy="13388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Consolas"/>
              </a:rPr>
              <a:t>&lt;book isbn="9780000000002"&gt;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&lt;title&gt;</a:t>
            </a:r>
            <a:r>
              <a:rPr sz="900">
                <a:solidFill>
                  <a:srgbClr val="FFFFFF"/>
                </a:solidFill>
                <a:latin typeface="Consolas"/>
              </a:rPr>
              <a:t>Learn Haskell</a:t>
            </a:r>
            <a:r>
              <a:rPr sz="900" b="1">
                <a:solidFill>
                  <a:srgbClr val="4DD0E1"/>
                </a:solidFill>
                <a:latin typeface="Consolas"/>
              </a:rPr>
              <a:t>&lt;/title&gt;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&lt;authors&gt;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&lt;author id="a1"&gt;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    Mairead Example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&lt;/author&gt;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&lt;/authors&gt;</a:t>
            </a:r>
          </a:p>
          <a:p>
            <a:r>
              <a:rPr sz="900">
                <a:solidFill>
                  <a:srgbClr val="FFFFFF"/>
                </a:solidFill>
                <a:latin typeface="Consolas"/>
              </a:rPr>
              <a:t>  </a:t>
            </a:r>
            <a:r>
              <a:rPr sz="900" b="1">
                <a:solidFill>
                  <a:srgbClr val="4DD0E1"/>
                </a:solidFill>
                <a:latin typeface="Consolas"/>
              </a:rPr>
              <a:t>&lt;published year="2024"/&gt;</a:t>
            </a:r>
          </a:p>
          <a:p>
            <a:r>
              <a:rPr sz="900" b="1">
                <a:solidFill>
                  <a:srgbClr val="4DD0E1"/>
                </a:solidFill>
                <a:latin typeface="Consolas"/>
              </a:rPr>
              <a:t>&lt;/book&gt;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80510" y="2983229"/>
            <a:ext cx="548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40180"/>
            <a:ext cx="4114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DD0E1"/>
                </a:solidFill>
              </a:rPr>
              <a:t>Haskell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666493"/>
            <a:ext cx="4251960" cy="336042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4745737" y="1735074"/>
            <a:ext cx="2839239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dirty="0">
                <a:solidFill>
                  <a:srgbClr val="FFFFFF"/>
                </a:solidFill>
                <a:latin typeface="Consolas"/>
              </a:rPr>
              <a:t>Element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{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elementName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= "book"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,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elementAttributes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=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Map.fromList</a:t>
            </a:r>
            <a:endParaRPr sz="825" dirty="0">
              <a:solidFill>
                <a:srgbClr val="FFFFFF"/>
              </a:solidFill>
              <a:latin typeface="Consolas"/>
            </a:endParaRP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[("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isbn</a:t>
            </a:r>
            <a:r>
              <a:rPr sz="825" dirty="0">
                <a:solidFill>
                  <a:srgbClr val="FFFFFF"/>
                </a:solidFill>
                <a:latin typeface="Consolas"/>
              </a:rPr>
              <a:t>", "9780000000002")]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,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elementNodes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=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[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NodeElement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(Element "title"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  [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NodeContent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"Learn Haskell"])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,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NodeElement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(Element "authors"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  [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NodeElement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(Element "author"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   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Map.fromList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[("id","a1")]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    [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NodeContent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"Mairead Example"])])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,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NodeElement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(Element "published"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    </a:t>
            </a:r>
            <a:r>
              <a:rPr sz="825" dirty="0" err="1">
                <a:solidFill>
                  <a:srgbClr val="FFFFFF"/>
                </a:solidFill>
                <a:latin typeface="Consolas"/>
              </a:rPr>
              <a:t>Map.fromList</a:t>
            </a:r>
            <a:r>
              <a:rPr sz="825" dirty="0">
                <a:solidFill>
                  <a:srgbClr val="FFFFFF"/>
                </a:solidFill>
                <a:latin typeface="Consolas"/>
              </a:rPr>
              <a:t> [("year","2024")] [])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    ]</a:t>
            </a:r>
          </a:p>
          <a:p>
            <a:r>
              <a:rPr sz="825" dirty="0">
                <a:solidFill>
                  <a:srgbClr val="FFFFFF"/>
                </a:solidFill>
                <a:latin typeface="Consolas"/>
              </a:rPr>
              <a:t>  }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2E80C55-8573-C0FA-37A9-696AC733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8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Navigating the Tree — Key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405889"/>
            <a:ext cx="8730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>
                <a:solidFill>
                  <a:srgbClr val="FFFFFF"/>
                </a:solidFill>
              </a:rPr>
              <a:t>xml-conduit provides cursor-based navigation. Import </a:t>
            </a:r>
            <a:r>
              <a:rPr sz="1050" dirty="0" err="1">
                <a:solidFill>
                  <a:srgbClr val="FFFFFF"/>
                </a:solidFill>
              </a:rPr>
              <a:t>Text.XML</a:t>
            </a:r>
            <a:r>
              <a:rPr sz="1050" dirty="0">
                <a:solidFill>
                  <a:srgbClr val="FFFFFF"/>
                </a:solidFill>
              </a:rPr>
              <a:t> and </a:t>
            </a:r>
            <a:r>
              <a:rPr sz="1050" dirty="0" err="1">
                <a:solidFill>
                  <a:srgbClr val="FFFFFF"/>
                </a:solidFill>
              </a:rPr>
              <a:t>Text.XML.Cursor</a:t>
            </a:r>
            <a:r>
              <a:rPr sz="105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" y="1693926"/>
            <a:ext cx="4800600" cy="3291840"/>
          </a:xfrm>
          <a:prstGeom prst="rect">
            <a:avLst/>
          </a:prstGeom>
          <a:solidFill>
            <a:srgbClr val="0D2137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88037" y="1762506"/>
            <a:ext cx="3070071" cy="2446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  <a:latin typeface="Consolas"/>
              </a:rPr>
              <a:t>import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Text.XML</a:t>
            </a:r>
            <a:endParaRPr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import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Text.XML.Cursor</a:t>
            </a:r>
            <a:endParaRPr sz="900" dirty="0">
              <a:solidFill>
                <a:srgbClr val="FFFFFF"/>
              </a:solidFill>
              <a:latin typeface="Consolas"/>
            </a:endParaRP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-- Parse the file into a Document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doc    &lt;-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Text.XML.readFile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def "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books.xml</a:t>
            </a:r>
            <a:r>
              <a:rPr sz="900" dirty="0">
                <a:solidFill>
                  <a:srgbClr val="FFFFFF"/>
                </a:solidFill>
                <a:latin typeface="Consolas"/>
              </a:rPr>
              <a:t>"</a:t>
            </a: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-- Turn the root element into a Cursor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let cursor = </a:t>
            </a:r>
            <a:r>
              <a:rPr sz="900" dirty="0" err="1">
                <a:solidFill>
                  <a:srgbClr val="FFFFFF"/>
                </a:solidFill>
                <a:latin typeface="Consolas"/>
              </a:rPr>
              <a:t>fromDocument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doc</a:t>
            </a: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-- Select all 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&lt;book&gt;</a:t>
            </a:r>
            <a:r>
              <a:rPr sz="900" dirty="0">
                <a:solidFill>
                  <a:srgbClr val="FFFFFF"/>
                </a:solidFill>
                <a:latin typeface="Consolas"/>
              </a:rPr>
              <a:t> children of root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let books  = cursor $// element "book"</a:t>
            </a:r>
          </a:p>
          <a:p>
            <a:endParaRPr sz="900" dirty="0">
              <a:solidFill>
                <a:srgbClr val="FFFFFF"/>
              </a:solidFill>
              <a:latin typeface="Consolas"/>
            </a:endParaRP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-- For each book, get the text inside </a:t>
            </a:r>
            <a:r>
              <a:rPr sz="900" b="1" dirty="0">
                <a:solidFill>
                  <a:srgbClr val="4DD0E1"/>
                </a:solidFill>
                <a:latin typeface="Consolas"/>
              </a:rPr>
              <a:t>&lt;title&gt;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let titles = books &gt;&gt;= child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                 &gt;&gt;= element "title"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                 &gt;&gt;= descendant</a:t>
            </a:r>
          </a:p>
          <a:p>
            <a:r>
              <a:rPr sz="900" dirty="0">
                <a:solidFill>
                  <a:srgbClr val="FFFFFF"/>
                </a:solidFill>
                <a:latin typeface="Consolas"/>
              </a:rPr>
              <a:t>                   &gt;&gt;=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1693926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5196865" y="1789013"/>
            <a:ext cx="39305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$//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2870" y="1823715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All descendants matching a predicate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9386" y="2173985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5209386" y="2243365"/>
            <a:ext cx="3337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$/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2870" y="2226629"/>
            <a:ext cx="34155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Immediate children matching a predicate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654045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5147444" y="2733585"/>
            <a:ext cx="102303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element "x"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8184" y="2744619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Match elements named 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3134105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5181282" y="3190054"/>
            <a:ext cx="53572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child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2870" y="3236516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Move to direct children (all nodes)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09386" y="3644945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5160524" y="3700224"/>
            <a:ext cx="101021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descendant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8184" y="3700224"/>
            <a:ext cx="2714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Move to all descendants recursively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4094226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TextBox 21"/>
          <p:cNvSpPr txBox="1"/>
          <p:nvPr/>
        </p:nvSpPr>
        <p:spPr>
          <a:xfrm>
            <a:off x="5180147" y="4150111"/>
            <a:ext cx="74251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8184" y="4143459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Extract text from </a:t>
            </a:r>
            <a:r>
              <a:rPr sz="1200" dirty="0" err="1">
                <a:solidFill>
                  <a:srgbClr val="FFFFFF"/>
                </a:solidFill>
                <a:latin typeface="Trebuchet MS"/>
              </a:rPr>
              <a:t>NodeContent</a:t>
            </a:r>
            <a:r>
              <a:rPr sz="1200" dirty="0">
                <a:solidFill>
                  <a:srgbClr val="FFFFFF"/>
                </a:solidFill>
                <a:latin typeface="Trebuchet MS"/>
              </a:rPr>
              <a:t> nodes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4574285"/>
            <a:ext cx="3703320" cy="43205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TextBox 24"/>
          <p:cNvSpPr txBox="1"/>
          <p:nvPr/>
        </p:nvSpPr>
        <p:spPr>
          <a:xfrm>
            <a:off x="5161117" y="4647268"/>
            <a:ext cx="10743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4DD0E1"/>
                </a:solidFill>
                <a:latin typeface="Trebuchet MS"/>
              </a:rPr>
              <a:t>attribute "k"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8184" y="4659288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Trebuchet MS"/>
              </a:rPr>
              <a:t>Extract the value of attribute k</a:t>
            </a:r>
          </a:p>
        </p:txBody>
      </p:sp>
      <p:sp>
        <p:nvSpPr>
          <p:cNvPr id="27" name="Slide Number Placeholder 1">
            <a:extLst>
              <a:ext uri="{FF2B5EF4-FFF2-40B4-BE49-F238E27FC236}">
                <a16:creationId xmlns:a16="http://schemas.microsoft.com/office/drawing/2014/main" id="{4C2C04DB-895C-9E12-E5F9-8B6D6C37F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9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xml-light vs xml-conduit — Which to Use?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" y="1540861"/>
            <a:ext cx="8730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FFFFF"/>
                </a:solidFill>
              </a:rPr>
              <a:t>Both libraries parse XML, but they make different trade-offs: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" y="1959419"/>
            <a:ext cx="1714500" cy="44577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1920240" y="1959419"/>
            <a:ext cx="3086100" cy="44577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4DD0E1"/>
                </a:solidFill>
                <a:latin typeface="Trebuchet MS"/>
              </a:rPr>
              <a:t>xml-light / xml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6340" y="1959419"/>
            <a:ext cx="3086100" cy="44577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4DD0E1"/>
                </a:solidFill>
                <a:latin typeface="Trebuchet MS"/>
              </a:rPr>
              <a:t>xml-conduit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" y="2405189"/>
            <a:ext cx="17145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 b="1" dirty="0">
                <a:solidFill>
                  <a:srgbClr val="4DD0E1"/>
                </a:solidFill>
                <a:latin typeface="Trebuchet MS"/>
              </a:rPr>
              <a:t>String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240518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String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6340" y="240518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Text (efficient)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" y="2850959"/>
            <a:ext cx="17145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 b="1" dirty="0">
                <a:solidFill>
                  <a:srgbClr val="4DD0E1"/>
                </a:solidFill>
                <a:latin typeface="Trebuchet MS"/>
              </a:rPr>
              <a:t>Namespaces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285095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Basic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6340" y="285095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Full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" y="3296729"/>
            <a:ext cx="17145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 b="1" dirty="0">
                <a:solidFill>
                  <a:srgbClr val="4DD0E1"/>
                </a:solidFill>
                <a:latin typeface="Trebuchet MS"/>
              </a:rPr>
              <a:t>Navigation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329672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find / findChild helpers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6340" y="329672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Cursor axes ($// $/)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" y="3742499"/>
            <a:ext cx="17145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 b="1">
                <a:solidFill>
                  <a:srgbClr val="4DD0E1"/>
                </a:solidFill>
                <a:latin typeface="Trebuchet MS"/>
              </a:rPr>
              <a:t>Streaming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74249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No (loads whole file)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6340" y="374249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Yes (conduit)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" y="4188269"/>
            <a:ext cx="17145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 b="1">
                <a:solidFill>
                  <a:srgbClr val="4DD0E1"/>
                </a:solidFill>
                <a:latin typeface="Trebuchet MS"/>
              </a:rPr>
              <a:t>Best for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418826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Teaching, small files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6340" y="4188269"/>
            <a:ext cx="3086100" cy="445770"/>
          </a:xfrm>
          <a:prstGeom prst="rect">
            <a:avLst/>
          </a:prstGeom>
          <a:solidFill>
            <a:srgbClr val="000000"/>
          </a:solidFill>
          <a:ln w="63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75">
                <a:solidFill>
                  <a:srgbClr val="FFFFFF"/>
                </a:solidFill>
                <a:latin typeface="Trebuchet MS"/>
              </a:rPr>
              <a:t>Production, large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472" y="4783320"/>
            <a:ext cx="873023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 dirty="0"/>
              <a:t>For this </a:t>
            </a:r>
            <a:r>
              <a:rPr lang="en-IE" sz="825" dirty="0"/>
              <a:t>assignment</a:t>
            </a:r>
            <a:r>
              <a:rPr sz="825" dirty="0"/>
              <a:t> we use the xml package)</a:t>
            </a:r>
            <a:r>
              <a:rPr lang="en-IE" sz="825" dirty="0"/>
              <a:t> </a:t>
            </a:r>
            <a:r>
              <a:rPr sz="825" dirty="0"/>
              <a:t> xml-conduit is shown here for completeness — it is the industry choice for production code.</a:t>
            </a:r>
          </a:p>
        </p:txBody>
      </p:sp>
      <p:sp>
        <p:nvSpPr>
          <p:cNvPr id="26" name="Slide Number Placeholder 1">
            <a:extLst>
              <a:ext uri="{FF2B5EF4-FFF2-40B4-BE49-F238E27FC236}">
                <a16:creationId xmlns:a16="http://schemas.microsoft.com/office/drawing/2014/main" id="{572B6018-9327-B10D-D8D9-41EB6022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10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474470"/>
            <a:ext cx="8593074" cy="60350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356616" y="1522475"/>
            <a:ext cx="88197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XML is a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1776223"/>
            <a:ext cx="84559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One root element; elements nest inside each other; text lives at the leaves.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46554"/>
            <a:ext cx="8593074" cy="60350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356616" y="2194559"/>
            <a:ext cx="133562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Tags, attributes,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" y="2448307"/>
            <a:ext cx="84559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Tags name elements; attributes add metadata; text content sits between tags.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818637"/>
            <a:ext cx="8593074" cy="60350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356616" y="2866643"/>
            <a:ext cx="115929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xml-conduit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" y="3120391"/>
            <a:ext cx="84559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Document -&gt; Element -&gt; [Node], where Node is Element | Text | Comment.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90722"/>
            <a:ext cx="8593074" cy="60350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356616" y="3538728"/>
            <a:ext cx="105509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Name not 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3792475"/>
            <a:ext cx="84559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Tag names are the Name type — this correctly handles XML namespaces.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162806"/>
            <a:ext cx="8593074" cy="603504"/>
          </a:xfrm>
          <a:prstGeom prst="rect">
            <a:avLst/>
          </a:prstGeom>
          <a:solidFill>
            <a:srgbClr val="000000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356616" y="4210812"/>
            <a:ext cx="113204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DD0E1"/>
                </a:solidFill>
                <a:latin typeface="Trebuchet MS"/>
              </a:rPr>
              <a:t>Cursor navigation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4464559"/>
            <a:ext cx="8455914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FFFFFF"/>
                </a:solidFill>
                <a:latin typeface="Trebuchet MS"/>
              </a:rPr>
              <a:t>$// and $/ traverse the tree; element, content, attribute extract values.</a:t>
            </a:r>
          </a:p>
        </p:txBody>
      </p: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4E4A2805-7E4D-F15B-57D8-829B2F51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7093" y="564921"/>
            <a:ext cx="865613" cy="81809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050"/>
              <a:pPr/>
              <a:t>11</a:t>
            </a:fld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</p:bld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a-recursion</Template>
  <TotalTime>633</TotalTime>
  <Words>1229</Words>
  <Application>Microsoft Macintosh PowerPoint</Application>
  <PresentationFormat>On-screen Show (16:9)</PresentationFormat>
  <Paragraphs>216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Consolas</vt:lpstr>
      <vt:lpstr>Trebuchet MS</vt:lpstr>
      <vt:lpstr>Berlin</vt:lpstr>
      <vt:lpstr>PowerPoint Presentation</vt:lpstr>
      <vt:lpstr>What is XML?</vt:lpstr>
      <vt:lpstr>books.xml — Full Structure</vt:lpstr>
      <vt:lpstr>XML as a Tree</vt:lpstr>
      <vt:lpstr>How xml-conduit Sees XML</vt:lpstr>
      <vt:lpstr>xml-conduit — Core Types</vt:lpstr>
      <vt:lpstr>The Name Type — Handling Namespaces</vt:lpstr>
      <vt:lpstr>books.xml Through xml-conduit's Eyes</vt:lpstr>
      <vt:lpstr>Navigating the Tree — Key Functions</vt:lpstr>
      <vt:lpstr>xml-light vs xml-conduit — Which to Use?</vt:lpstr>
      <vt:lpstr>Summary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 Parsing in Haskell</dc:title>
  <dc:subject>PptxGenJS Presentation</dc:subject>
  <dc:creator>PptxGenJS</dc:creator>
  <cp:lastModifiedBy>Mairead Meagher</cp:lastModifiedBy>
  <cp:revision>8</cp:revision>
  <dcterms:created xsi:type="dcterms:W3CDTF">2026-03-26T23:19:25Z</dcterms:created>
  <dcterms:modified xsi:type="dcterms:W3CDTF">2026-03-27T09:55:09Z</dcterms:modified>
</cp:coreProperties>
</file>