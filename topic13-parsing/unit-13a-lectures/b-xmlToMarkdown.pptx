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9" r:id="rId2"/>
  </p:sldMasterIdLst>
  <p:notesMasterIdLst>
    <p:notesMasterId r:id="rId15"/>
  </p:notesMasterIdLst>
  <p:sldIdLst>
    <p:sldId id="256" r:id="rId3"/>
    <p:sldId id="257" r:id="rId4"/>
    <p:sldId id="258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5"/>
  </p:normalViewPr>
  <p:slideViewPr>
    <p:cSldViewPr snapToGrid="0">
      <p:cViewPr varScale="1">
        <p:scale>
          <a:sx n="115" d="100"/>
          <a:sy n="115" d="100"/>
        </p:scale>
        <p:origin x="5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781662-63F7-F542-9481-DDDF56122A6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7070B-7593-B042-AD3E-1DC8EA61E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71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20D29-8C74-0803-B8AB-E6730C460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EBD7A-C4A3-151A-A997-57EA137A5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6B87F-8BCB-B3CE-2D2C-28EE66DF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A022B-4807-0F74-CC11-CDA85D9C0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EB835-9031-6533-EB64-30700B6FA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9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A8012-E194-AD48-66D8-2A4F38CD1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0BA54-3C0D-48E7-301F-12D3A9A34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126FA-D6F7-1AFA-ABE4-1D2EEC148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80B81-A1A1-69E1-DD5C-0AE8914A0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EDDC7-89E4-B98B-2D3F-6C238D7B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01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B3B44-57D7-1D24-B301-A9E1F5D4C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22057-C313-CA2D-B436-1BAA9C902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0A29E-4343-4AFE-EBBB-E2F50652B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EB633-F0D9-8EDA-29E0-FBECFE324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90F33-2F4C-7762-7D38-604ED6AF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1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3C4A-6514-B072-FCA2-D11AED581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0CD8A-304A-259B-E254-A4B4575D2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FF222-7CC9-9E58-26CC-ED3ABFBE1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5ADB0-CF09-29AE-9A38-ED5BB90D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558DC-6F96-3842-99FD-EC6EB46D6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244E0-0A4F-FEAA-8ECD-408E21532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7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EA3BC-C7B8-E075-C717-602C02962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29AD8-54C3-66FB-D837-BB79C6B88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67A89-4853-CDCC-6318-65939EF83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104DA-4943-76C6-94A2-A07AD8EE2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AC1609-8ED2-08B2-C15C-AFF96C45C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0A38D5-E1E4-E84F-E0F3-C0519AEA5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03AE99-12C0-54F8-EA95-8A1CE9CA5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A2EF3-FF76-B75A-D567-EB582985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57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59545-1C65-E120-481A-FC6F7809C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7E45ED-4D4D-080F-BEB3-7AFFA728B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4FF15D-DA4C-2B49-EF16-BF6DF47FA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1F475-AF45-EE3A-E55C-5B274D70F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90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B33D4D-D03D-F69C-4359-CE0BD3871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B081B5-ACF3-A1A7-85EA-953909912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10E87-61D3-1F58-14B5-863DD3AC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40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FEA5B-8B64-4714-711D-DB9DA98DF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7A471-C616-7235-BC1B-0CBC723FD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8C688-898D-62C8-0D32-B7CE365D2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5D94F-FC96-AAEE-1787-2089D2BCB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42380-79F2-968B-54DD-E1BBA824E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0D615-9DEA-A8E6-1AD8-ADA05685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5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F5420-6E83-36C1-D969-ED6276933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1C4246-584D-8ADE-0501-F366EB2BD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7366F-6775-4652-D85F-71561E1A2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24753-6FFB-67E7-EC59-823025B11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D8FDF-59DD-78CF-5A2A-CB966BEA7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ACD20-4BFA-E7F1-2876-003072BE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61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B7F1-F676-4570-C695-3F5CA9A3B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1DA33-8815-8CB8-D72D-26DC43FC4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2D10E-7FA3-917D-409C-E3586FC23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1DB99-4C18-7E6D-8134-50F70E134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563C2-5D7A-97C0-998B-0352DCFFB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64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2F583D-7ADF-EAD6-1E60-7FD83F7CD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069C0-4C81-099B-D5C7-627409CD4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B19DE-8BCC-D77D-FF91-0C39787E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AEB93-8C4D-AD32-35FB-0CA4EFBFD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2298E-616D-63CD-2E41-3F710BA4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27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18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E48298-5C55-AD0E-03DA-9089513DD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05394-E96B-3246-CBC6-52A20E8F9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D80A9-DD5C-C3C5-55E4-D3EF74322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29F9B-64E3-0346-90C6-4B53BA166523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BD976-C98A-296B-9292-E414BB68D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C513E-2EA6-CF02-B591-FD68DBE70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78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4877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B3B0A-F29F-C9A5-A879-A2E5E280A4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18188F-3B4D-8CDA-097B-0754436CA3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5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548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IN HASKELL</a:t>
            </a:r>
            <a:endParaRPr lang="en-US" sz="48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pic>
        <p:nvPicPr>
          <p:cNvPr id="6" name="Image 0" descr="/sessions/dazzling-youthful-einstein/haske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1767840"/>
            <a:ext cx="4267200" cy="2682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876800"/>
            <a:ext cx="104241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 13.2– XML to Markdown with xml-conduit</a:t>
            </a:r>
            <a:endParaRPr lang="en-US" sz="3200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78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5388864"/>
            <a:ext cx="1950720" cy="6096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books.xml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82240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50464" y="5388864"/>
            <a:ext cx="1950720" cy="6096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50464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01184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169408" y="5388864"/>
            <a:ext cx="1950720" cy="6096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69408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Types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20128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88352" y="5388864"/>
            <a:ext cx="1950720" cy="6096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88352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339072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607296" y="5388864"/>
            <a:ext cx="1950720" cy="6096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07296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books.md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54F9DF5-D0F6-B42D-95E6-6F2D4089D0E8}"/>
              </a:ext>
            </a:extLst>
          </p:cNvPr>
          <p:cNvSpPr/>
          <p:nvPr/>
        </p:nvSpPr>
        <p:spPr>
          <a:xfrm>
            <a:off x="901018" y="2712720"/>
            <a:ext cx="95097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 → Markdown   - Our workflow</a:t>
            </a:r>
            <a:endParaRPr lang="en-US" sz="3600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Building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3657600" cy="6096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103632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8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1645920"/>
            <a:ext cx="3657600" cy="463296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7680" y="1828800"/>
            <a:ext cx="3657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000" dirty="0">
                <a:solidFill>
                  <a:srgbClr val="000000"/>
                </a:solidFill>
                <a:latin typeface="Trebuchet MS" panose="020B0603020202020204"/>
              </a:rPr>
              <a:t>📄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80416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28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books.xml catalogue with nested authors, ISBNs &amp; publish dates.</a:t>
            </a:r>
            <a:endParaRPr lang="en-US" sz="28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0" y="1036320"/>
            <a:ext cx="3657600" cy="60960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0" y="103632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8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Haskell Pipeline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89120" y="1645920"/>
            <a:ext cx="3657600" cy="463296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89120" y="1828800"/>
            <a:ext cx="3657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000" dirty="0">
                <a:solidFill>
                  <a:srgbClr val="000000"/>
                </a:solidFill>
                <a:latin typeface="Trebuchet MS" panose="020B0603020202020204"/>
              </a:rPr>
              <a:t>⚙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32960" y="280416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24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 Cursors parse XML into typed records. Pure functions render each Book to Markdown.</a:t>
            </a:r>
            <a:endParaRPr lang="en-US" sz="2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90560" y="1036320"/>
            <a:ext cx="3657600" cy="60960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90560" y="103632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8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90560" y="1645920"/>
            <a:ext cx="3657600" cy="463296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90560" y="1828800"/>
            <a:ext cx="3657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000" dirty="0">
                <a:solidFill>
                  <a:srgbClr val="000000"/>
                </a:solidFill>
                <a:latin typeface="Trebuchet MS" panose="020B0603020202020204"/>
              </a:rPr>
              <a:t>📝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34400" y="280416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2400" dirty="0">
                <a:solidFill>
                  <a:srgbClr val="E7E6E6"/>
                </a:solidFill>
                <a:latin typeface="Trebuchet MS" pitchFamily="34" charset="0"/>
              </a:rPr>
              <a:t>One </a:t>
            </a:r>
            <a:r>
              <a:rPr lang="en-US" sz="2400" dirty="0" err="1">
                <a:solidFill>
                  <a:srgbClr val="E7E6E6"/>
                </a:solidFill>
                <a:latin typeface="Trebuchet MS" pitchFamily="34" charset="0"/>
              </a:rPr>
              <a:t>catalogue.md</a:t>
            </a:r>
            <a:r>
              <a:rPr lang="en-US" sz="2400" dirty="0">
                <a:solidFill>
                  <a:srgbClr val="E7E6E6"/>
                </a:solidFill>
                <a:latin typeface="Trebuchet MS" pitchFamily="34" charset="0"/>
              </a:rPr>
              <a:t> ready for rendering to pdfs etc</a:t>
            </a:r>
            <a:r>
              <a:rPr lang="en-US" sz="17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XML Catalogue Structure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5608320" cy="5486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181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5266944" cy="509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0560" y="1341120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&lt;catalogue&gt;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36320" y="1865376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&lt;book isbn="0-00-000"&gt;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02080" y="2389632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&lt;title&gt;...&lt;/title&gt;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02080" y="2913888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&lt;subtitle&gt;...&lt;/subtitle&gt;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02080" y="3438144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&lt;authors&gt;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67840" y="3962400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&lt;author id="a1"&gt;...&lt;/author&gt;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02080" y="4486656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&lt;published year="2024"/&gt;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36320" y="5010912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&lt;/book&gt;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0560" y="5535168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&lt;/catalogue&gt;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20640" y="1060704"/>
            <a:ext cx="87782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XML Tree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39840" y="1036320"/>
            <a:ext cx="5364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Parsing Notes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39840" y="1584960"/>
            <a:ext cx="5364480" cy="109728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39840" y="1584960"/>
            <a:ext cx="73152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2272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22720" y="204825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 on &lt;book&gt; — not a child element. Use attribute.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39840" y="2865120"/>
            <a:ext cx="5364480" cy="109728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39840" y="2865120"/>
            <a:ext cx="73152" cy="109728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2272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subtitle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22720" y="33284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Optional child — parse with childText + fmap.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39840" y="4145280"/>
            <a:ext cx="5364480" cy="109728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39840" y="4145280"/>
            <a:ext cx="73152" cy="109728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2272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authors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22720" y="460857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Nested container: element "author" inside &lt;authors&gt;.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39840" y="5425440"/>
            <a:ext cx="5364480" cy="109728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39840" y="5425440"/>
            <a:ext cx="73152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522720" y="5486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22720" y="58887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 on &lt;published&gt; — drill two levels then read attr.</a:t>
            </a:r>
            <a:endParaRPr lang="en-US" sz="1333" dirty="0"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Haskell Data Model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5364480" cy="213360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7433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5023104" cy="1743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Author = Author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authorId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authorName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deriving (Show)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036320"/>
            <a:ext cx="5364480" cy="268224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045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88608" y="1304544"/>
            <a:ext cx="5023104" cy="229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Book = Book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isbn   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title  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subtitle  :: Maybe String  -- optional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authors   :: [Author]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pubYear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deriving (Show)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7680" y="3267456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733" b="1" dirty="0">
                <a:solidFill>
                  <a:srgbClr val="39C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0" y="3816096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733" b="1" dirty="0">
                <a:solidFill>
                  <a:srgbClr val="60D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3718560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3718560"/>
            <a:ext cx="73152" cy="99974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0560" y="3779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record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0560" y="4181856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 is parsed from an XML attribute, name from element text content.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4815840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7680" y="4815840"/>
            <a:ext cx="73152" cy="999744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0560" y="4876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[Author] list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0560" y="5279136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fit for zero-or-more &lt;author&gt; children inside &lt;authors&gt;.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17920" y="4267200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17920" y="4267200"/>
            <a:ext cx="73152" cy="999744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0" y="4328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Maybe String for subtitle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0" y="4730496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Captures the optional &lt;subtitle&gt; element cleanly — Nothing if absent.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17920" y="5364480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17920" y="5364480"/>
            <a:ext cx="73152" cy="99974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0" y="5425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deriving (Show)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0" y="5827776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Show instances for quick debugging in GHCi.</a:t>
            </a:r>
            <a:endParaRPr lang="en-US" sz="1333" dirty="0"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xml-conduit: Core Concepts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3596640" cy="5120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1036320"/>
            <a:ext cx="359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&amp; Element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1548384"/>
            <a:ext cx="3596640" cy="2804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1609344"/>
            <a:ext cx="33528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Data.Map (Map)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Document contains the root Element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Element has: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Name, [Node],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Map Name Text (attributes)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4389120"/>
            <a:ext cx="3352800" cy="2438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7680" y="4389120"/>
            <a:ext cx="3596640" cy="2097024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4450080"/>
            <a:ext cx="33528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467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Text.XML is the high-level API. Elements carry attributes as a Map.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64736" y="1036320"/>
            <a:ext cx="3596640" cy="5120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64736" y="1036320"/>
            <a:ext cx="359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 API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64736" y="1548384"/>
            <a:ext cx="3596640" cy="2804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86656" y="1609344"/>
            <a:ext cx="33528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fromDocument :: Document -&gt; Cursor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element / content / attribute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($/) ($//)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composable axis operators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86656" y="4389120"/>
            <a:ext cx="3352800" cy="2438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64736" y="4389120"/>
            <a:ext cx="3596640" cy="2097024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86656" y="4450080"/>
            <a:ext cx="33528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467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Cursors let you navigate the tree with composable axis functions.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41792" y="1036320"/>
            <a:ext cx="3596640" cy="5120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41792" y="1036320"/>
            <a:ext cx="359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 Entry Points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241792" y="1548384"/>
            <a:ext cx="3596640" cy="2804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63712" y="1609344"/>
            <a:ext cx="33528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readFile def "books.xml"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IO Document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parseLBS def lazyBS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Either SomException Document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parseText def lazyText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Either SomeException Document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363712" y="4389120"/>
            <a:ext cx="3352800" cy="2438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41792" y="4389120"/>
            <a:ext cx="3596640" cy="2097024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63712" y="4450080"/>
            <a:ext cx="33528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467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 = default ParseSettings. Use readFile in IO, parseLBS for in-memory.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 the Catalogue with xml-conduit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6827520" cy="5754624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373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6486144" cy="536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          (readFile, def, Document)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   (fromDocument, Cursor, ($/)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, element, content, attribute)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Data.Text         (Text)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qualified Data.Text as 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Helper: text of first matching child element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childText :: Name -&gt; Cursor -&gt; Maybe Text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childText n cur =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listToMaybe $ cur $/ element n &amp;/ content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Parse one &lt;author&gt; cursor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parseAuthor :: Cursor -&gt; Author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parseAuthor cur = Author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authorId   = T.unpack . head . attribute "id" $ cur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authorName = T.unpack . T.concat $ cur $/ content }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Parse one &lt;book&gt; cursor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parseBook :: Cursor -&gt; Book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parseBook cur = Book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isbn     = T.unpack . head $ attribute "isbn" cur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title    = maybe "" T.unpack (childText "title" cur)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subtitle = fmap T.unpack   (childText "subtitle" cur)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authors  = map parseAuthor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(cur $/ element "authors" $/ element "author")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pubYear  = T.unpack . head $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cur $/ element "published" &gt;=&gt; attribute "year" }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Entry point: Document -&gt; [Book]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parseCatalogue :: Document -&gt; [Book]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parseCatalogue doc = map parseBook $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fromDocument doc $/ element "catalogue" &amp;/ element "book"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59040" y="103632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Operators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559040" y="1584960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59040" y="1584960"/>
            <a:ext cx="73152" cy="11216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4192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($/) axis op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41920" y="2048256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Descend into direct children matching the predicate. Composes naturally.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59040" y="2901696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59040" y="2901696"/>
            <a:ext cx="73152" cy="1121664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41920" y="29626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 "name"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41920" y="3364992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Selects child elements by local name — the core traversal primitive.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59040" y="4218432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559040" y="4218432"/>
            <a:ext cx="73152" cy="1121664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41920" y="4279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 "n"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41920" y="4681728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Reads a named attribute from the current element cursor.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559040" y="5535168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559040" y="5535168"/>
            <a:ext cx="73152" cy="11216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41920" y="5596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(&gt;=&gt;)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41920" y="5998464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Kleisli composition — chains steps: find child, then read attr.</a:t>
            </a:r>
            <a:endParaRPr lang="en-US" sz="1333" dirty="0"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Rendering Books to Markdown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5669280" cy="56083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7913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5327904" cy="521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Render a single Author inline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renderAuthor :: Author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renderAuthor a =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"- **[" ++ authorId a ++ "]** 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++ authorName a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Render one Book as a Markdown section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renderBook :: Book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renderBook b = unlines $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"## " ++ title b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Field | Value 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"|-------|-------|"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ISBN  | `" ++ isbn b ++ "` 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Year  | " ++ pubYear b ++ " 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 ++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maybe []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(\s -&gt; ["| Sub | " ++ s ++ " |"])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(subtitle b) ++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"", "### Authors" ] ++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 renderAuthor (authors b)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61760" y="1036320"/>
            <a:ext cx="5181600" cy="34137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6553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32448" y="1304544"/>
            <a:ext cx="4840224" cy="3023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Build catalogue.md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renderCatalogue :: [Book]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renderCatalogue books = unlines $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"# Book Catalogue"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show (length books)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++ " book(s)."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 ++ map renderBook books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Write to a file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writeCatalogue :: FilePath -&gt; [Book] -&gt;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writeCatalogue path books =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writeFile path (renderCatalogue books)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61760" y="4572000"/>
            <a:ext cx="5181600" cy="2133600"/>
          </a:xfrm>
          <a:prstGeom prst="rect">
            <a:avLst/>
          </a:prstGeom>
          <a:solidFill>
            <a:srgbClr val="F0FFFE">
              <a:alpha val="95000"/>
            </a:srgbClr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61760" y="4572000"/>
            <a:ext cx="5181600" cy="3048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r" defTabSz="609585"/>
            <a:r>
              <a:rPr lang="en-US" sz="1067" i="1" dirty="0">
                <a:solidFill>
                  <a:srgbClr val="60DE72"/>
                </a:solidFill>
                <a:latin typeface="Trebuchet MS" panose="020B0603020202020204"/>
              </a:rPr>
              <a:t>Sample Output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44640" y="4901184"/>
            <a:ext cx="4815840" cy="1743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Haskell Programming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ISBN | `978-1593272838` |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Year | 2010 |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Authors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**[a1]** Bryan O'Sullivan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It All Together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7071360" cy="414528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8121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6729984" cy="37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Main where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          (readFile, def)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   (fromDocument)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Prelude hiding    (readFile)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System.Environment (getArgs)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::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=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args &lt;- getArgs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args of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[xmlPath, mdPath] -&gt;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doc   &lt;- Text.XML.readFile def xmlPath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let books = parseCatalogue doc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$ "Parsed " ++ show (length books) ++ " book(s)."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writeCatalogue mdPath books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$ "Written to " ++ mdPath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 -&gt;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"Usage: parse-books &lt;input.xml&gt; &lt;output.md&gt;"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85760" y="1158240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85760" y="1158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56320" y="1170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XML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56320" y="1548384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readFile parses the file into a Document, throwing on malformed XML.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0" y="1743456"/>
            <a:ext cx="60960" cy="6705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85760" y="2523744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85760" y="2523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56320" y="2535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56320" y="2913888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parseCatalogue walks the cursor tree → [Book].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29600" y="3108960"/>
            <a:ext cx="60960" cy="6705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85760" y="3889248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85760" y="3889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56320" y="3901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56320" y="4279392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renderCatalogue converts [Book] → Markdown String.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29600" y="4474464"/>
            <a:ext cx="60960" cy="6705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85760" y="5254752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985760" y="525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656320" y="52669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56320" y="5644896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writeFile saves the result to the output path.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7680" y="5340096"/>
            <a:ext cx="707136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0560" y="5340096"/>
            <a:ext cx="670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733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stack run -- books.xml catalogue.md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Extension: One .md File per Book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6827520" cy="46939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373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6486144" cy="430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System.Directory (createDirectoryIfMissing)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System.FilePath  ((&lt;/&gt;), (&lt;.&gt;))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Sanitise a title for use as a filename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 :: String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 = map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(\c -&gt; if c `elem` " /\\:*?&lt;&gt;|" then '-' else c)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Write each book to its own Markdown file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writeBookFiles :: FilePath -&gt; [Book] -&gt;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writeBookFiles dir books =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createDirectoryIfMissing True dir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mapM_ (writeOne dir) books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writeOne :: FilePath -&gt; Book -&gt;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writeOne dir b =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name    = safeFileName (title b) &lt;.&gt; "md"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outPath = dir &lt;/&gt; name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writeFile outPath (renderBook b)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putStrLn $ "  Wrote: " ++ outPath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59040" y="103632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559040" y="1584960"/>
            <a:ext cx="4267200" cy="12192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59040" y="1584960"/>
            <a:ext cx="73152" cy="12192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4192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createDirectoryIfMissing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41920" y="2048256"/>
            <a:ext cx="4023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Creates the output directory (and parents) if it does not exist yet.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59040" y="3023616"/>
            <a:ext cx="4267200" cy="12192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59040" y="3023616"/>
            <a:ext cx="73152" cy="121920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41920" y="30845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41920" y="3486912"/>
            <a:ext cx="4023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Strips characters invalid in file paths across platforms.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59040" y="4462272"/>
            <a:ext cx="4267200" cy="12192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559040" y="4462272"/>
            <a:ext cx="73152" cy="121920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41920" y="4523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mapM_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41920" y="4925568"/>
            <a:ext cx="4023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Idiomatic way to perform an IO action for each item in a list.</a:t>
            </a:r>
            <a:endParaRPr lang="en-US" sz="1333" dirty="0"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5913120"/>
            <a:ext cx="11277600" cy="670560"/>
          </a:xfrm>
          <a:prstGeom prst="rect">
            <a:avLst/>
          </a:prstGeom>
          <a:solidFill>
            <a:srgbClr val="0D1B2A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0560" y="591312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267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output/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Haskell-Programming.md   Real-World-Haskell.md   Learn-You-a-Haskell.md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219456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26592"/>
            <a:ext cx="10972800" cy="4876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21920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121920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3984" y="134112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①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02080" y="143865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domain types (Book, Author) before writing any parser.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39840" y="121920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39840" y="121920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86144" y="134112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②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54240" y="143865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 Cursors give composable, type-safe XML traversal.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98704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298704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3984" y="310896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③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02080" y="320649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Separate parsing from rendering — pure functions, easy to test.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39840" y="298704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39840" y="298704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86144" y="310896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④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254240" y="320649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Maybe for optional fields; handle missing data at the type level.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475488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7680" y="475488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3984" y="487680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⑤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02080" y="497433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mapM_ / mapM make it trivial to process every book in the catalogue.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39840" y="475488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39840" y="475488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86144" y="487680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⑥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254240" y="497433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writeFile / createDirectoryIfMissing handle all file-system output.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09600" y="6522720"/>
            <a:ext cx="10972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067" dirty="0">
                <a:solidFill>
                  <a:srgbClr val="A0C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hackage.haskell.org/package/xml-conduit  ·  Trebuchet MS / Berlin theme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1506</Words>
  <Application>Microsoft Macintosh PowerPoint</Application>
  <PresentationFormat>Widescreen</PresentationFormat>
  <Paragraphs>278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Trebuchet MS</vt:lpstr>
      <vt:lpstr>Office Theme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Mairead Meagher</dc:creator>
  <cp:lastModifiedBy>Mairead Meagher</cp:lastModifiedBy>
  <cp:revision>1</cp:revision>
  <dcterms:created xsi:type="dcterms:W3CDTF">2026-03-27T10:48:50Z</dcterms:created>
  <dcterms:modified xsi:type="dcterms:W3CDTF">2026-03-27T11:38:18Z</dcterms:modified>
</cp:coreProperties>
</file>