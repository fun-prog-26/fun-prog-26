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19"/>
  </p:notesMasterIdLst>
  <p:sldIdLst>
    <p:sldId id="257" r:id="rId2"/>
    <p:sldId id="258" r:id="rId3"/>
    <p:sldId id="268" r:id="rId4"/>
    <p:sldId id="259" r:id="rId5"/>
    <p:sldId id="260" r:id="rId6"/>
    <p:sldId id="261" r:id="rId7"/>
    <p:sldId id="269" r:id="rId8"/>
    <p:sldId id="270" r:id="rId9"/>
    <p:sldId id="271" r:id="rId10"/>
    <p:sldId id="272" r:id="rId11"/>
    <p:sldId id="262" r:id="rId12"/>
    <p:sldId id="263" r:id="rId13"/>
    <p:sldId id="273" r:id="rId14"/>
    <p:sldId id="274" r:id="rId15"/>
    <p:sldId id="264" r:id="rId16"/>
    <p:sldId id="265" r:id="rId17"/>
    <p:sldId id="266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68"/>
    <p:restoredTop sz="94658"/>
  </p:normalViewPr>
  <p:slideViewPr>
    <p:cSldViewPr snapToGrid="0">
      <p:cViewPr>
        <p:scale>
          <a:sx n="148" d="100"/>
          <a:sy n="148" d="100"/>
        </p:scale>
        <p:origin x="80" y="-1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781662-63F7-F542-9481-DDDF56122A6C}" type="datetimeFigureOut">
              <a:rPr lang="en-US" smtClean="0"/>
              <a:t>4/3/26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E7070B-7593-B042-AD3E-1DC8EA61E8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05719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7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111716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5" cy="1373070"/>
          </a:xfrm>
        </p:spPr>
        <p:txBody>
          <a:bodyPr anchor="b">
            <a:noAutofit/>
          </a:bodyPr>
          <a:lstStyle>
            <a:lvl1pPr algn="r">
              <a:defRPr sz="405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41"/>
            <a:ext cx="8144135" cy="1117687"/>
          </a:xfrm>
        </p:spPr>
        <p:txBody>
          <a:bodyPr>
            <a:normAutofit/>
          </a:bodyPr>
          <a:lstStyle>
            <a:lvl1pPr marL="0" indent="0" algn="r">
              <a:buNone/>
              <a:defRPr sz="15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9EBBA-996F-894A-B54A-D6246ED52CEA}" type="datetimeFigureOut">
              <a:rPr lang="en-US" smtClean="0"/>
              <a:pPr/>
              <a:t>4/3/26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7" y="2750337"/>
            <a:ext cx="1171888" cy="1356442"/>
          </a:xfrm>
        </p:spPr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21485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sz="1800"/>
          </a:p>
        </p:txBody>
      </p:sp>
      <p:sp>
        <p:nvSpPr>
          <p:cNvPr id="18" name="Rectangle 17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68906A9-ADC8-F342-81A7-F9FDA948E9B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0224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6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3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A1846-DA80-1C48-A609-854EA85C59AD}" type="datetimeFigureOut">
              <a:rPr lang="en-US" smtClean="0"/>
              <a:pPr/>
              <a:t>4/3/26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7" y="2869897"/>
            <a:ext cx="1154151" cy="1090789"/>
          </a:xfrm>
        </p:spPr>
        <p:txBody>
          <a:bodyPr/>
          <a:lstStyle/>
          <a:p>
            <a:pPr>
              <a:defRPr/>
            </a:pPr>
            <a:fld id="{D34BF70C-D155-7D48-91BD-16746CB44B4C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5232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sz="1800"/>
          </a:p>
        </p:txBody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1" y="2336873"/>
            <a:ext cx="469835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C2B149C-5A7C-8A40-8B3B-ABD9D8FE082C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52877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0" y="753231"/>
            <a:ext cx="9613863" cy="108093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1" y="2336875"/>
            <a:ext cx="4472327" cy="69313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3" y="3030010"/>
            <a:ext cx="4698355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5" y="2336873"/>
            <a:ext cx="4474028" cy="69207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4" y="3030010"/>
            <a:ext cx="4700059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4/3/26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EA415B7-371A-3840-81B1-0A9B9BCF3B39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8809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sz="1800"/>
          </a:p>
        </p:txBody>
      </p:sp>
      <p:sp>
        <p:nvSpPr>
          <p:cNvPr id="9" name="Rectangle 8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34C8-038E-2045-AF43-DF7DBB8E0E9E}" type="datetimeFigureOut">
              <a:rPr lang="en-US" smtClean="0"/>
              <a:pPr/>
              <a:t>4/3/26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8FC1FA8-E849-9047-9722-D34601CB06C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5872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sz="180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8C68F-D26B-8F47-958C-23B49CF8A634}" type="datetimeFigureOut">
              <a:rPr lang="en-US" smtClean="0"/>
              <a:pPr/>
              <a:t>4/3/26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367834-1F6B-D04F-9A28-C67EB7881EF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96154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7" y="2336875"/>
            <a:ext cx="5608336" cy="359931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4"/>
            <a:ext cx="3790079" cy="3599317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0D4E9F-BF2E-394F-AFB8-DD3D501C297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9665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4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5"/>
            <a:ext cx="3876256" cy="3599315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02AC4A9-8955-664E-BB4E-51394A33929D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1373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8"/>
            <a:ext cx="9613859" cy="453051"/>
          </a:xfrm>
        </p:spPr>
        <p:txBody>
          <a:bodyPr anchor="b">
            <a:normAutofit/>
          </a:bodyPr>
          <a:lstStyle>
            <a:lvl1pPr>
              <a:defRPr sz="1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9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5"/>
            <a:ext cx="9613863" cy="62297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11311"/>
            <a:ext cx="1154151" cy="1090789"/>
          </a:xfrm>
        </p:spPr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3967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609597"/>
            <a:ext cx="9613859" cy="3592750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7"/>
            <a:ext cx="9613859" cy="1090789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11617"/>
            <a:ext cx="1154151" cy="1090789"/>
          </a:xfrm>
        </p:spPr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76285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9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7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09927"/>
            <a:ext cx="1154151" cy="1090789"/>
          </a:xfrm>
        </p:spPr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54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54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361000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7"/>
            <a:ext cx="9613863" cy="58853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51"/>
            <a:ext cx="9613863" cy="502255"/>
          </a:xfrm>
        </p:spPr>
        <p:txBody>
          <a:bodyPr anchor="t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09927"/>
            <a:ext cx="1154151" cy="1090789"/>
          </a:xfrm>
        </p:spPr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8743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1" y="753228"/>
            <a:ext cx="96249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5" y="2336873"/>
            <a:ext cx="307003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4"/>
            <a:ext cx="3049703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1" y="3022674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7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7" y="3022674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4/3/26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1285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20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20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20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1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8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80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8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4/3/26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46772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CA14927-CF9F-8643-99B0-6F2BBAFF855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07072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3" y="5372404"/>
            <a:ext cx="1602997" cy="13681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3" cy="435376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9"/>
            <a:ext cx="8870004" cy="532658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5" y="5936189"/>
            <a:ext cx="2743200" cy="365125"/>
          </a:xfrm>
        </p:spPr>
        <p:txBody>
          <a:bodyPr/>
          <a:lstStyle/>
          <a:p>
            <a:fld id="{09B482E8-6E0E-1B4F-B1FD-C69DB9E858D9}" type="datetimeFigureOut">
              <a:rPr lang="en-US" smtClean="0"/>
              <a:pPr/>
              <a:t>4/3/26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90"/>
            <a:ext cx="61268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1" y="5398635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DDE4DFA3-B759-4941-9F09-7CA811EFFC47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89585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153003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20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429F9B-64E3-0346-90C6-4B53BA166523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2" y="5936190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7" y="753228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F043CD-3C46-B846-B722-CCE25BB2D8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79542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  <p:sldLayoutId id="2147483688" r:id="rId7"/>
    <p:sldLayoutId id="2147483689" r:id="rId8"/>
    <p:sldLayoutId id="2147483690" r:id="rId9"/>
    <p:sldLayoutId id="2147483691" r:id="rId10"/>
    <p:sldLayoutId id="2147483692" r:id="rId11"/>
    <p:sldLayoutId id="2147483693" r:id="rId12"/>
    <p:sldLayoutId id="2147483694" r:id="rId13"/>
    <p:sldLayoutId id="2147483695" r:id="rId14"/>
    <p:sldLayoutId id="2147483696" r:id="rId15"/>
    <p:sldLayoutId id="2147483697" r:id="rId16"/>
    <p:sldLayoutId id="2147483698" r:id="rId17"/>
    <p:sldLayoutId id="2147483699" r:id="rId18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CBFCE"/>
              </a:gs>
              <a:gs pos="100000">
                <a:srgbClr val="1A3B6E"/>
              </a:gs>
            </a:gsLst>
            <a:lin ang="9000000" scaled="0"/>
          </a:gradFill>
          <a:ln w="12700"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2133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1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731520" y="54864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PROGRAMMING IN HASKELL</a:t>
            </a:r>
            <a:endParaRPr lang="en-US" sz="48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pic>
        <p:nvPicPr>
          <p:cNvPr id="6" name="Image 0" descr="/sessions/dazzling-youthful-einstein/haskell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400" y="1767840"/>
            <a:ext cx="4267200" cy="26822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4876800"/>
            <a:ext cx="1042416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3200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Topic 13.2– XML to Markdown with xml-conduit</a:t>
            </a:r>
            <a:endParaRPr lang="en-US" sz="3200" dirty="0">
              <a:solidFill>
                <a:prstClr val="white"/>
              </a:solidFill>
              <a:latin typeface="Trebuchet MS" panose="020B060302020202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78780"/>
            <a:ext cx="12192000" cy="6858000"/>
          </a:xfrm>
          <a:prstGeom prst="rect">
            <a:avLst/>
          </a:prstGeom>
          <a:gradFill>
            <a:gsLst>
              <a:gs pos="0">
                <a:srgbClr val="1CBFCE"/>
              </a:gs>
              <a:gs pos="100000">
                <a:srgbClr val="1A3B6E"/>
              </a:gs>
            </a:gsLst>
            <a:lin ang="9000000" scaled="0"/>
          </a:gradFill>
          <a:ln w="12700"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2133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1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31520" y="5388864"/>
            <a:ext cx="1950720" cy="60960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31520" y="5388864"/>
            <a:ext cx="195072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1467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books.xml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2682240" y="5644896"/>
            <a:ext cx="268224" cy="73152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2950464" y="5388864"/>
            <a:ext cx="1950720" cy="609600"/>
          </a:xfrm>
          <a:prstGeom prst="rect">
            <a:avLst/>
          </a:prstGeom>
          <a:solidFill>
            <a:srgbClr val="1A1A2E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2950464" y="5388864"/>
            <a:ext cx="195072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1467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Parse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901184" y="5644896"/>
            <a:ext cx="268224" cy="73152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5169408" y="5388864"/>
            <a:ext cx="1950720" cy="609600"/>
          </a:xfrm>
          <a:prstGeom prst="rect">
            <a:avLst/>
          </a:prstGeom>
          <a:solidFill>
            <a:srgbClr val="1A1A2E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5169408" y="5388864"/>
            <a:ext cx="195072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1467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Types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120128" y="5644896"/>
            <a:ext cx="268224" cy="73152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388352" y="5388864"/>
            <a:ext cx="1950720" cy="609600"/>
          </a:xfrm>
          <a:prstGeom prst="rect">
            <a:avLst/>
          </a:prstGeom>
          <a:solidFill>
            <a:srgbClr val="1A1A2E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388352" y="5388864"/>
            <a:ext cx="195072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1467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Render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9339072" y="5644896"/>
            <a:ext cx="268224" cy="73152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9607296" y="5388864"/>
            <a:ext cx="1950720" cy="60960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9607296" y="5388864"/>
            <a:ext cx="195072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1467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books.md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6" name="Text 6">
            <a:extLst>
              <a:ext uri="{FF2B5EF4-FFF2-40B4-BE49-F238E27FC236}">
                <a16:creationId xmlns:a16="http://schemas.microsoft.com/office/drawing/2014/main" id="{654F9DF5-D0F6-B42D-95E6-6F2D4089D0E8}"/>
              </a:ext>
            </a:extLst>
          </p:cNvPr>
          <p:cNvSpPr/>
          <p:nvPr/>
        </p:nvSpPr>
        <p:spPr>
          <a:xfrm>
            <a:off x="901018" y="2712720"/>
            <a:ext cx="950976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3600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XML → Markdown   - Our workflow</a:t>
            </a:r>
            <a:endParaRPr lang="en-US" sz="3600" dirty="0">
              <a:solidFill>
                <a:prstClr val="white"/>
              </a:solidFill>
              <a:latin typeface="Trebuchet MS" panose="020B0603020202020204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CBFCE"/>
              </a:gs>
              <a:gs pos="100000">
                <a:srgbClr val="1A3B6E"/>
              </a:gs>
            </a:gsLst>
            <a:lin ang="9000000" scaled="0"/>
          </a:gradFill>
          <a:ln w="12700"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1155680" cy="877824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487680" y="0"/>
            <a:ext cx="10607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2933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We're Building</a:t>
            </a:r>
            <a:endParaRPr lang="en-US" sz="29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6" name="Text 4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2133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1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87680" y="1036320"/>
            <a:ext cx="3657600" cy="60960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487680" y="1036320"/>
            <a:ext cx="3657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1867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Input</a:t>
            </a:r>
            <a:endParaRPr lang="en-US" sz="18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87680" y="1645920"/>
            <a:ext cx="3657600" cy="4632960"/>
          </a:xfrm>
          <a:prstGeom prst="rect">
            <a:avLst/>
          </a:prstGeom>
          <a:solidFill>
            <a:srgbClr val="1A1A2E">
              <a:alpha val="75000"/>
            </a:srgbClr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87680" y="1828800"/>
            <a:ext cx="3657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4000" dirty="0">
                <a:solidFill>
                  <a:srgbClr val="000000"/>
                </a:solidFill>
                <a:latin typeface="Trebuchet MS" panose="020B0603020202020204"/>
              </a:rPr>
              <a:t>📄</a:t>
            </a:r>
            <a:endParaRPr lang="en-US" sz="40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31520" y="2804160"/>
            <a:ext cx="3169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2800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books.xml catalogue with nested authors, ISBNs &amp; publish dates.</a:t>
            </a:r>
            <a:endParaRPr lang="en-US" sz="28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389120" y="1036320"/>
            <a:ext cx="3657600" cy="609600"/>
          </a:xfrm>
          <a:prstGeom prst="rect">
            <a:avLst/>
          </a:prstGeom>
          <a:solidFill>
            <a:srgbClr val="60DE72"/>
          </a:solidFill>
          <a:ln w="12700">
            <a:solidFill>
              <a:srgbClr val="60DE72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389120" y="1036320"/>
            <a:ext cx="3657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1867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Haskell Pipeline</a:t>
            </a:r>
            <a:endParaRPr lang="en-US" sz="18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389120" y="1645920"/>
            <a:ext cx="3657600" cy="4632960"/>
          </a:xfrm>
          <a:prstGeom prst="rect">
            <a:avLst/>
          </a:prstGeom>
          <a:solidFill>
            <a:srgbClr val="1A1A2E">
              <a:alpha val="75000"/>
            </a:srgbClr>
          </a:solidFill>
          <a:ln w="12700">
            <a:solidFill>
              <a:srgbClr val="60DE72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389120" y="1828800"/>
            <a:ext cx="3657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4000" dirty="0">
                <a:solidFill>
                  <a:srgbClr val="000000"/>
                </a:solidFill>
                <a:latin typeface="Trebuchet MS" panose="020B0603020202020204"/>
              </a:rPr>
              <a:t>⚙</a:t>
            </a:r>
            <a:endParaRPr lang="en-US" sz="40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632960" y="2804160"/>
            <a:ext cx="3169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2400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xml-conduit Cursors parse XML into typed records. Pure functions render each Book to Markdown.</a:t>
            </a:r>
            <a:endParaRPr lang="en-US" sz="24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8290560" y="1036320"/>
            <a:ext cx="3657600" cy="609600"/>
          </a:xfrm>
          <a:prstGeom prst="rect">
            <a:avLst/>
          </a:prstGeom>
          <a:solidFill>
            <a:srgbClr val="F49D50"/>
          </a:solidFill>
          <a:ln w="12700">
            <a:solidFill>
              <a:srgbClr val="F49D50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290560" y="1036320"/>
            <a:ext cx="3657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1867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Output</a:t>
            </a:r>
            <a:endParaRPr lang="en-US" sz="18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8290560" y="1645920"/>
            <a:ext cx="3657600" cy="4632960"/>
          </a:xfrm>
          <a:prstGeom prst="rect">
            <a:avLst/>
          </a:prstGeom>
          <a:solidFill>
            <a:srgbClr val="1A1A2E">
              <a:alpha val="75000"/>
            </a:srgbClr>
          </a:solidFill>
          <a:ln w="12700">
            <a:solidFill>
              <a:srgbClr val="F49D50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8290560" y="1828800"/>
            <a:ext cx="3657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4000" dirty="0">
                <a:solidFill>
                  <a:srgbClr val="000000"/>
                </a:solidFill>
                <a:latin typeface="Trebuchet MS" panose="020B0603020202020204"/>
              </a:rPr>
              <a:t>📝</a:t>
            </a:r>
            <a:endParaRPr lang="en-US" sz="40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534400" y="2804160"/>
            <a:ext cx="3169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2400" dirty="0">
                <a:solidFill>
                  <a:srgbClr val="E7E6E6"/>
                </a:solidFill>
                <a:latin typeface="Trebuchet MS" pitchFamily="34" charset="0"/>
              </a:rPr>
              <a:t>One </a:t>
            </a:r>
            <a:r>
              <a:rPr lang="en-US" sz="2400" dirty="0" err="1">
                <a:solidFill>
                  <a:srgbClr val="E7E6E6"/>
                </a:solidFill>
                <a:latin typeface="Trebuchet MS" pitchFamily="34" charset="0"/>
              </a:rPr>
              <a:t>catalogue.md</a:t>
            </a:r>
            <a:r>
              <a:rPr lang="en-US" sz="2400" dirty="0">
                <a:solidFill>
                  <a:srgbClr val="E7E6E6"/>
                </a:solidFill>
                <a:latin typeface="Trebuchet MS" pitchFamily="34" charset="0"/>
              </a:rPr>
              <a:t> ready for rendering to pdfs etc</a:t>
            </a:r>
            <a:r>
              <a:rPr lang="en-US" sz="1733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</a:t>
            </a:r>
            <a:endParaRPr lang="en-US" sz="1733" dirty="0">
              <a:solidFill>
                <a:prstClr val="white"/>
              </a:solidFill>
              <a:latin typeface="Trebuchet MS" panose="020B060302020202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CBFCE"/>
              </a:gs>
              <a:gs pos="100000">
                <a:srgbClr val="1A3B6E"/>
              </a:gs>
            </a:gsLst>
            <a:lin ang="9000000" scaled="0"/>
          </a:gradFill>
          <a:ln w="12700"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1155680" cy="877824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487680" y="0"/>
            <a:ext cx="10607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2933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XML Catalogue Structure</a:t>
            </a:r>
            <a:endParaRPr lang="en-US" sz="29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6" name="Text 4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2133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1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87680" y="1036320"/>
            <a:ext cx="5608320" cy="5486400"/>
          </a:xfrm>
          <a:prstGeom prst="rect">
            <a:avLst/>
          </a:prstGeom>
          <a:solidFill>
            <a:srgbClr val="0D1B2A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5218176" y="1085088"/>
            <a:ext cx="79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609585"/>
            <a:r>
              <a:rPr lang="en-US" sz="933" i="1" dirty="0">
                <a:solidFill>
                  <a:srgbClr val="39CDE7"/>
                </a:solidFill>
                <a:latin typeface="Trebuchet MS" panose="020B0603020202020204"/>
              </a:rPr>
              <a:t>Haskell</a:t>
            </a:r>
            <a:endParaRPr lang="en-US" sz="9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9" name="Text 7"/>
          <p:cNvSpPr/>
          <p:nvPr/>
        </p:nvSpPr>
        <p:spPr>
          <a:xfrm>
            <a:off x="658368" y="1304544"/>
            <a:ext cx="5266944" cy="5096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endParaRPr lang="en-US" sz="13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70560" y="1341120"/>
            <a:ext cx="536448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00" dirty="0">
                <a:solidFill>
                  <a:srgbClr val="39CD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&lt;catalogue&gt;</a:t>
            </a:r>
            <a:endParaRPr lang="en-US" sz="14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036320" y="1865376"/>
            <a:ext cx="536448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00" dirty="0">
                <a:solidFill>
                  <a:srgbClr val="60D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&lt;book isbn="0-00-000"&gt;</a:t>
            </a:r>
            <a:endParaRPr lang="en-US" sz="14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402080" y="2389632"/>
            <a:ext cx="536448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&lt;title&gt;...&lt;/title&gt;</a:t>
            </a:r>
            <a:endParaRPr lang="en-US" sz="14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402080" y="2913888"/>
            <a:ext cx="536448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00" dirty="0">
                <a:solidFill>
                  <a:srgbClr val="F49D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&lt;subtitle&gt;...&lt;/subtitle&gt;</a:t>
            </a:r>
            <a:endParaRPr lang="en-US" sz="14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402080" y="3438144"/>
            <a:ext cx="536448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&lt;authors&gt;</a:t>
            </a:r>
            <a:endParaRPr lang="en-US" sz="14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767840" y="3962400"/>
            <a:ext cx="536448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&lt;author id="a1"&gt;...&lt;/author&gt;</a:t>
            </a:r>
            <a:endParaRPr lang="en-US" sz="14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402080" y="4486656"/>
            <a:ext cx="536448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&lt;published year="2024"/&gt;</a:t>
            </a:r>
            <a:endParaRPr lang="en-US" sz="14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036320" y="5010912"/>
            <a:ext cx="536448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00" dirty="0">
                <a:solidFill>
                  <a:srgbClr val="60D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&lt;/book&gt;</a:t>
            </a:r>
            <a:endParaRPr lang="en-US" sz="14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70560" y="5535168"/>
            <a:ext cx="536448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00" dirty="0">
                <a:solidFill>
                  <a:srgbClr val="39CD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&lt;/catalogue&gt;</a:t>
            </a:r>
            <a:endParaRPr lang="en-US" sz="14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120640" y="1060704"/>
            <a:ext cx="877824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609585"/>
            <a:r>
              <a:rPr lang="en-US" sz="933" i="1" dirty="0">
                <a:solidFill>
                  <a:srgbClr val="39CDE7"/>
                </a:solidFill>
                <a:latin typeface="Trebuchet MS" panose="020B0603020202020204"/>
              </a:rPr>
              <a:t>XML Tree</a:t>
            </a:r>
            <a:endParaRPr lang="en-US" sz="9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339840" y="1036320"/>
            <a:ext cx="5364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867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Parsing Notes</a:t>
            </a:r>
            <a:endParaRPr lang="en-US" sz="18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339840" y="1584960"/>
            <a:ext cx="5364480" cy="109728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339840" y="1584960"/>
            <a:ext cx="73152" cy="109728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522720" y="16459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67" b="1" dirty="0">
                <a:solidFill>
                  <a:srgbClr val="39CD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isbn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522720" y="204825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Attribute on &lt;book&gt; — not a child element. Use attribute.</a:t>
            </a:r>
            <a:endParaRPr lang="en-US" sz="1333" dirty="0">
              <a:solidFill>
                <a:schemeClr val="bg1"/>
              </a:solidFill>
              <a:latin typeface="Trebuchet MS" panose="020B0603020202020204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339840" y="2865120"/>
            <a:ext cx="5364480" cy="109728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F49D50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339840" y="2865120"/>
            <a:ext cx="73152" cy="1097280"/>
          </a:xfrm>
          <a:prstGeom prst="rect">
            <a:avLst/>
          </a:prstGeom>
          <a:solidFill>
            <a:srgbClr val="F49D50"/>
          </a:solidFill>
          <a:ln w="12700">
            <a:solidFill>
              <a:srgbClr val="F49D50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522720" y="2926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67" b="1" dirty="0">
                <a:solidFill>
                  <a:srgbClr val="F49D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subtitle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522720" y="332841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Optional child — parse with childText + fmap.</a:t>
            </a:r>
            <a:endParaRPr lang="en-US" sz="1333" dirty="0">
              <a:solidFill>
                <a:schemeClr val="bg1"/>
              </a:solidFill>
              <a:latin typeface="Trebuchet MS" panose="020B0603020202020204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339840" y="4145280"/>
            <a:ext cx="5364480" cy="109728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60DE72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339840" y="4145280"/>
            <a:ext cx="73152" cy="1097280"/>
          </a:xfrm>
          <a:prstGeom prst="rect">
            <a:avLst/>
          </a:prstGeom>
          <a:solidFill>
            <a:srgbClr val="60DE72"/>
          </a:solidFill>
          <a:ln w="12700">
            <a:solidFill>
              <a:srgbClr val="60DE72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522720" y="42062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67" b="1" dirty="0">
                <a:solidFill>
                  <a:srgbClr val="60D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authors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522720" y="460857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Nested container: element "author" inside &lt;authors&gt;.</a:t>
            </a:r>
            <a:endParaRPr lang="en-US" sz="1333" dirty="0">
              <a:solidFill>
                <a:schemeClr val="bg1"/>
              </a:solidFill>
              <a:latin typeface="Trebuchet MS" panose="020B0603020202020204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339840" y="5425440"/>
            <a:ext cx="5364480" cy="109728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339840" y="5425440"/>
            <a:ext cx="73152" cy="109728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522720" y="54864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67" b="1" dirty="0">
                <a:solidFill>
                  <a:srgbClr val="39CD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6522720" y="588873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Attribute on &lt;published&gt; — drill two levels then read attr.</a:t>
            </a:r>
            <a:endParaRPr lang="en-US" sz="1333" dirty="0">
              <a:solidFill>
                <a:schemeClr val="bg1"/>
              </a:solidFill>
              <a:latin typeface="Trebuchet MS" panose="020B060302020202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560832"/>
            <a:ext cx="12192000" cy="6858000"/>
          </a:xfrm>
          <a:prstGeom prst="rect">
            <a:avLst/>
          </a:prstGeom>
          <a:gradFill>
            <a:gsLst>
              <a:gs pos="0">
                <a:srgbClr val="1CBFCE"/>
              </a:gs>
              <a:gs pos="100000">
                <a:srgbClr val="1A3B6E"/>
              </a:gs>
            </a:gsLst>
            <a:lin ang="9000000" scaled="0"/>
          </a:gradFill>
          <a:ln w="12700"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1155680" cy="877824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487680" y="0"/>
            <a:ext cx="10607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2933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Haskell Data Model</a:t>
            </a:r>
            <a:endParaRPr lang="en-US" sz="29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6" name="Text 4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2133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21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87680" y="1036320"/>
            <a:ext cx="5364480" cy="2133600"/>
          </a:xfrm>
          <a:prstGeom prst="rect">
            <a:avLst/>
          </a:prstGeom>
          <a:solidFill>
            <a:srgbClr val="0D1B2A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4974336" y="1085088"/>
            <a:ext cx="79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609585"/>
            <a:r>
              <a:rPr lang="en-US" sz="933" i="1" dirty="0">
                <a:solidFill>
                  <a:srgbClr val="39CDE7"/>
                </a:solidFill>
                <a:latin typeface="Trebuchet MS" panose="020B0603020202020204"/>
              </a:rPr>
              <a:t>Haskell</a:t>
            </a:r>
            <a:endParaRPr lang="en-US" sz="9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9" name="Text 7"/>
          <p:cNvSpPr/>
          <p:nvPr/>
        </p:nvSpPr>
        <p:spPr>
          <a:xfrm>
            <a:off x="658368" y="1304544"/>
            <a:ext cx="5023104" cy="1743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Author = Author</a:t>
            </a:r>
            <a:endParaRPr lang="en-US" sz="1333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333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authorId   :: String</a:t>
            </a:r>
            <a:endParaRPr lang="en-US" sz="1333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333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authorName :: String</a:t>
            </a:r>
            <a:endParaRPr lang="en-US" sz="1333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333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 deriving (Show)</a:t>
            </a:r>
            <a:endParaRPr lang="en-US" sz="13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17920" y="1036320"/>
            <a:ext cx="5364480" cy="2005584"/>
          </a:xfrm>
          <a:prstGeom prst="rect">
            <a:avLst/>
          </a:prstGeom>
          <a:solidFill>
            <a:srgbClr val="0D1B2A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0704576" y="1085088"/>
            <a:ext cx="79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609585"/>
            <a:r>
              <a:rPr lang="en-US" sz="933" i="1" dirty="0">
                <a:solidFill>
                  <a:srgbClr val="39CDE7"/>
                </a:solidFill>
                <a:latin typeface="Trebuchet MS" panose="020B0603020202020204"/>
              </a:rPr>
              <a:t>Haskell</a:t>
            </a:r>
            <a:endParaRPr lang="en-US" sz="9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388608" y="1304544"/>
            <a:ext cx="5023104" cy="2292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Book = Book</a:t>
            </a:r>
            <a:endParaRPr lang="en-US" sz="1333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333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isbn      :: String</a:t>
            </a:r>
            <a:endParaRPr lang="en-US" sz="1333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333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title     :: String</a:t>
            </a:r>
            <a:endParaRPr lang="en-US" sz="1333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333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subtitle  :: Maybe String  -- optional</a:t>
            </a:r>
            <a:endParaRPr lang="en-US" sz="1333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333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authors   :: [Author]</a:t>
            </a:r>
            <a:endParaRPr lang="en-US" sz="1333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333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pubYear   :: String</a:t>
            </a:r>
            <a:endParaRPr lang="en-US" sz="1333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333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 deriving (Show)</a:t>
            </a:r>
            <a:endParaRPr lang="en-US" sz="13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87680" y="3267456"/>
            <a:ext cx="53644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733" b="1" dirty="0">
                <a:solidFill>
                  <a:srgbClr val="39CDE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Author</a:t>
            </a:r>
            <a:endParaRPr lang="en-US" sz="17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217920" y="3255264"/>
            <a:ext cx="53644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733" b="1" dirty="0">
                <a:solidFill>
                  <a:srgbClr val="60DE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Book</a:t>
            </a:r>
            <a:endParaRPr lang="en-US" sz="17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87680" y="3718560"/>
            <a:ext cx="5364480" cy="999744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87680" y="3718560"/>
            <a:ext cx="73152" cy="999744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70560" y="37795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67" b="1" dirty="0">
                <a:solidFill>
                  <a:srgbClr val="39CD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Flat record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70560" y="4181856"/>
            <a:ext cx="5120640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id is parsed from an XML attribute, name from element text content.</a:t>
            </a:r>
            <a:endParaRPr lang="en-US" sz="1333" dirty="0">
              <a:solidFill>
                <a:schemeClr val="bg1"/>
              </a:solidFill>
              <a:latin typeface="Trebuchet MS" panose="020B060302020202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87680" y="4815840"/>
            <a:ext cx="5364480" cy="999744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60DE72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87680" y="4815840"/>
            <a:ext cx="73152" cy="999744"/>
          </a:xfrm>
          <a:prstGeom prst="rect">
            <a:avLst/>
          </a:prstGeom>
          <a:solidFill>
            <a:srgbClr val="60DE72"/>
          </a:solidFill>
          <a:ln w="12700">
            <a:solidFill>
              <a:srgbClr val="60DE72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70560" y="4876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67" b="1" dirty="0">
                <a:solidFill>
                  <a:srgbClr val="60D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[Author] list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70560" y="5279136"/>
            <a:ext cx="5120640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Natural fit for zero-or-more &lt;author&gt; children inside &lt;authors&gt;.</a:t>
            </a:r>
            <a:endParaRPr lang="en-US" sz="1333" dirty="0">
              <a:solidFill>
                <a:schemeClr val="bg1"/>
              </a:solidFill>
              <a:latin typeface="Trebuchet MS" panose="020B0603020202020204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217920" y="3706368"/>
            <a:ext cx="5364480" cy="999744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F49D50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181344" y="3718560"/>
            <a:ext cx="73152" cy="999744"/>
          </a:xfrm>
          <a:prstGeom prst="rect">
            <a:avLst/>
          </a:prstGeom>
          <a:solidFill>
            <a:srgbClr val="F49D50"/>
          </a:solidFill>
          <a:ln w="12700">
            <a:solidFill>
              <a:srgbClr val="F49D50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400800" y="37673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67" b="1" dirty="0">
                <a:solidFill>
                  <a:srgbClr val="F49D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Maybe String for subtitle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400800" y="4169664"/>
            <a:ext cx="5120640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Captures the optional &lt;subtitle&gt; element cleanly — Nothing if absent.</a:t>
            </a:r>
            <a:endParaRPr lang="en-US" sz="1333" dirty="0">
              <a:solidFill>
                <a:schemeClr val="bg1"/>
              </a:solidFill>
              <a:latin typeface="Trebuchet MS" panose="020B0603020202020204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217920" y="4803648"/>
            <a:ext cx="5364480" cy="999744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181344" y="4767072"/>
            <a:ext cx="73152" cy="999744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400800" y="48646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67" b="1" dirty="0">
                <a:solidFill>
                  <a:srgbClr val="39CD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deriving (Show)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6400800" y="5266944"/>
            <a:ext cx="5120640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Automatic Show instances for quick debugging in GHCi.</a:t>
            </a:r>
            <a:endParaRPr lang="en-US" sz="1333" dirty="0">
              <a:solidFill>
                <a:schemeClr val="bg1"/>
              </a:solidFill>
              <a:latin typeface="Trebuchet MS" panose="020B060302020202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CBFCE"/>
              </a:gs>
              <a:gs pos="100000">
                <a:srgbClr val="1A3B6E"/>
              </a:gs>
            </a:gsLst>
            <a:lin ang="9000000" scaled="0"/>
          </a:gradFill>
          <a:ln w="12700"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1155680" cy="877824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487680" y="0"/>
            <a:ext cx="10607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2933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xml-conduit: Core Concepts</a:t>
            </a:r>
            <a:endParaRPr lang="en-US" sz="29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6" name="Text 4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2133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21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87680" y="1036320"/>
            <a:ext cx="3596640" cy="512064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487680" y="1036320"/>
            <a:ext cx="359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1467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Document &amp; Element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87680" y="1548384"/>
            <a:ext cx="3596640" cy="2804160"/>
          </a:xfrm>
          <a:prstGeom prst="rect">
            <a:avLst/>
          </a:prstGeom>
          <a:solidFill>
            <a:srgbClr val="0D1B2A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09600" y="1609344"/>
            <a:ext cx="3352800" cy="2682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2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Text.XML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Data.Map (Map)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Document contains the root Element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Element has: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  Name, [Node],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  Map Name Text (attributes)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09600" y="4389120"/>
            <a:ext cx="3352800" cy="24384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87680" y="4389120"/>
            <a:ext cx="3596640" cy="2097024"/>
          </a:xfrm>
          <a:prstGeom prst="rect">
            <a:avLst/>
          </a:prstGeom>
          <a:solidFill>
            <a:srgbClr val="1A1A2E">
              <a:alpha val="75000"/>
            </a:srgbClr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09600" y="4450080"/>
            <a:ext cx="3352800" cy="1950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467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Text.XML is the high-level API. Elements carry attributes as a Map.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364736" y="1036320"/>
            <a:ext cx="3596640" cy="512064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364736" y="1036320"/>
            <a:ext cx="359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1467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Cursor API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364736" y="1548384"/>
            <a:ext cx="3596640" cy="2804160"/>
          </a:xfrm>
          <a:prstGeom prst="rect">
            <a:avLst/>
          </a:prstGeom>
          <a:solidFill>
            <a:srgbClr val="0D1B2A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486656" y="1609344"/>
            <a:ext cx="3352800" cy="2682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2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Text.XML.Cursor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fromDocument :: Document -&gt; Cursor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element / content / attribute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($/) ($//)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  composable axis operators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486656" y="4389120"/>
            <a:ext cx="3352800" cy="24384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364736" y="4389120"/>
            <a:ext cx="3596640" cy="2097024"/>
          </a:xfrm>
          <a:prstGeom prst="rect">
            <a:avLst/>
          </a:prstGeom>
          <a:solidFill>
            <a:srgbClr val="1A1A2E">
              <a:alpha val="75000"/>
            </a:srgbClr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486656" y="4450080"/>
            <a:ext cx="3352800" cy="1950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467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Cursors let you navigate the tree with composable axis functions.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8241792" y="1036320"/>
            <a:ext cx="3596640" cy="512064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8241792" y="1036320"/>
            <a:ext cx="359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1467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Parsing Entry Points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8241792" y="1548384"/>
            <a:ext cx="3596640" cy="2804160"/>
          </a:xfrm>
          <a:prstGeom prst="rect">
            <a:avLst/>
          </a:prstGeom>
          <a:solidFill>
            <a:srgbClr val="0D1B2A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8363712" y="1609344"/>
            <a:ext cx="3352800" cy="2682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2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readFile def "books.xml"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:: IO Document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parseLBS def lazyBS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:: Either SomException Document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parseText def lazyText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:: Either SomeException Document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8363712" y="4389120"/>
            <a:ext cx="3352800" cy="24384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8241792" y="4389120"/>
            <a:ext cx="3596640" cy="2097024"/>
          </a:xfrm>
          <a:prstGeom prst="rect">
            <a:avLst/>
          </a:prstGeom>
          <a:solidFill>
            <a:srgbClr val="1A1A2E">
              <a:alpha val="75000"/>
            </a:srgbClr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363712" y="4450080"/>
            <a:ext cx="3352800" cy="1950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467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 = default ParseSettings. Use readFile in IO, parseLBS for in-memory.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C76CC-37DA-B8AF-D3B9-4E1A479AF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Axis and cursor -&gt;  Axis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21FB39-1D15-BAE6-8AB1-69DE183565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3"/>
            <a:ext cx="9613861" cy="444427"/>
          </a:xfrm>
        </p:spPr>
        <p:txBody>
          <a:bodyPr/>
          <a:lstStyle/>
          <a:p>
            <a:r>
              <a:rPr lang="en-US" dirty="0"/>
              <a:t>Fundamental part of how the XML tree is traversed.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BEF610-CC7E-7BA8-EE1C-DF1DB4C2B985}"/>
              </a:ext>
            </a:extLst>
          </p:cNvPr>
          <p:cNvSpPr txBox="1"/>
          <p:nvPr/>
        </p:nvSpPr>
        <p:spPr>
          <a:xfrm>
            <a:off x="905525" y="2806088"/>
            <a:ext cx="6133474" cy="2031325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IE" dirty="0"/>
              <a:t>type Axis = </a:t>
            </a:r>
            <a:r>
              <a:rPr lang="en-IE" dirty="0" err="1"/>
              <a:t>XmlTree</a:t>
            </a:r>
            <a:r>
              <a:rPr lang="en-IE" dirty="0"/>
              <a:t> -&gt; [</a:t>
            </a:r>
            <a:r>
              <a:rPr lang="en-IE" dirty="0" err="1"/>
              <a:t>XmlTree</a:t>
            </a:r>
            <a:r>
              <a:rPr lang="en-IE" dirty="0"/>
              <a:t>]</a:t>
            </a:r>
          </a:p>
          <a:p>
            <a:endParaRPr lang="en-IE" dirty="0"/>
          </a:p>
          <a:p>
            <a:r>
              <a:rPr lang="en-IE" dirty="0"/>
              <a:t>.. Examples</a:t>
            </a:r>
          </a:p>
          <a:p>
            <a:endParaRPr lang="en-IE" dirty="0"/>
          </a:p>
          <a:p>
            <a:r>
              <a:rPr lang="en-IE" dirty="0" err="1"/>
              <a:t>getChildren</a:t>
            </a:r>
            <a:r>
              <a:rPr lang="en-IE" dirty="0"/>
              <a:t> :: Axis -- returns direct children of a node </a:t>
            </a:r>
          </a:p>
          <a:p>
            <a:r>
              <a:rPr lang="en-IE" dirty="0" err="1"/>
              <a:t>getParents</a:t>
            </a:r>
            <a:r>
              <a:rPr lang="en-IE" dirty="0"/>
              <a:t> :: Axis -- returns the parent </a:t>
            </a:r>
          </a:p>
          <a:p>
            <a:r>
              <a:rPr lang="en-IE" dirty="0" err="1"/>
              <a:t>getDescendants</a:t>
            </a:r>
            <a:r>
              <a:rPr lang="en-IE" dirty="0"/>
              <a:t> :: Axis -- returns all nodes below this one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AFBCBF-E0F5-F7F3-29C7-D621DE5B9650}"/>
              </a:ext>
            </a:extLst>
          </p:cNvPr>
          <p:cNvSpPr txBox="1"/>
          <p:nvPr/>
        </p:nvSpPr>
        <p:spPr>
          <a:xfrm>
            <a:off x="680320" y="5264835"/>
            <a:ext cx="832397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dirty="0"/>
              <a:t>Because an axis returns a list, you can compose them with </a:t>
            </a:r>
            <a:r>
              <a:rPr lang="en-IE" dirty="0">
                <a:latin typeface="Courier New" panose="02070309020205020404" pitchFamily="49" charset="0"/>
              </a:rPr>
              <a:t>&gt;&gt;=</a:t>
            </a:r>
            <a:r>
              <a:rPr lang="en-IE" dirty="0"/>
              <a:t> or use them with </a:t>
            </a:r>
            <a:r>
              <a:rPr lang="en-IE" dirty="0" err="1">
                <a:latin typeface="Courier New" panose="02070309020205020404" pitchFamily="49" charset="0"/>
              </a:rPr>
              <a:t>mapM</a:t>
            </a:r>
            <a:r>
              <a:rPr lang="en-IE" dirty="0"/>
              <a:t>. 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1CE145-1D01-DC0B-68F4-7244C533FEF2}"/>
              </a:ext>
            </a:extLst>
          </p:cNvPr>
          <p:cNvSpPr txBox="1"/>
          <p:nvPr/>
        </p:nvSpPr>
        <p:spPr>
          <a:xfrm>
            <a:off x="942999" y="6153922"/>
            <a:ext cx="6096000" cy="369332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/>
          <a:p>
            <a:r>
              <a:rPr lang="en-IE" dirty="0" err="1"/>
              <a:t>getChildren</a:t>
            </a:r>
            <a:r>
              <a:rPr lang="en-IE" dirty="0"/>
              <a:t> </a:t>
            </a:r>
            <a:r>
              <a:rPr lang="en-IE" dirty="0">
                <a:effectLst/>
              </a:rPr>
              <a:t>&gt;&gt;&gt;</a:t>
            </a:r>
            <a:r>
              <a:rPr lang="en-IE" dirty="0"/>
              <a:t> </a:t>
            </a:r>
            <a:r>
              <a:rPr lang="en-IE" dirty="0" err="1"/>
              <a:t>hasName</a:t>
            </a:r>
            <a:r>
              <a:rPr lang="en-IE" dirty="0"/>
              <a:t> </a:t>
            </a:r>
            <a:r>
              <a:rPr lang="en-IE" dirty="0">
                <a:effectLst/>
              </a:rPr>
              <a:t>"book"</a:t>
            </a:r>
            <a:r>
              <a:rPr lang="en-IE" dirty="0"/>
              <a:t> </a:t>
            </a:r>
            <a:r>
              <a:rPr lang="en-IE" dirty="0">
                <a:effectLst/>
              </a:rPr>
              <a:t>&gt;&gt;&gt;</a:t>
            </a:r>
            <a:r>
              <a:rPr lang="en-IE" dirty="0"/>
              <a:t> </a:t>
            </a:r>
            <a:r>
              <a:rPr lang="en-IE" dirty="0" err="1"/>
              <a:t>getAttrValue</a:t>
            </a:r>
            <a:r>
              <a:rPr lang="en-IE" dirty="0"/>
              <a:t> </a:t>
            </a:r>
            <a:r>
              <a:rPr lang="en-IE" dirty="0">
                <a:effectLst/>
              </a:rPr>
              <a:t>"</a:t>
            </a:r>
            <a:r>
              <a:rPr lang="en-IE" dirty="0" err="1">
                <a:solidFill>
                  <a:srgbClr val="008000"/>
                </a:solidFill>
                <a:effectLst/>
              </a:rPr>
              <a:t>isbn</a:t>
            </a:r>
            <a:r>
              <a:rPr lang="en-IE" dirty="0">
                <a:solidFill>
                  <a:srgbClr val="008000"/>
                </a:solidFill>
                <a:effectLst/>
              </a:rPr>
              <a:t>"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B234CB-84EE-638F-DA40-D5D2A1AB277D}"/>
              </a:ext>
            </a:extLst>
          </p:cNvPr>
          <p:cNvSpPr txBox="1"/>
          <p:nvPr/>
        </p:nvSpPr>
        <p:spPr>
          <a:xfrm>
            <a:off x="8770182" y="3957035"/>
            <a:ext cx="3048000" cy="1200329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IE" dirty="0"/>
              <a:t>The </a:t>
            </a:r>
            <a:r>
              <a:rPr lang="en-IE" dirty="0">
                <a:latin typeface="Courier New" panose="02070309020205020404" pitchFamily="49" charset="0"/>
              </a:rPr>
              <a:t>&gt;&gt;&gt;</a:t>
            </a:r>
            <a:r>
              <a:rPr lang="en-IE" dirty="0"/>
              <a:t> here is arrow composition — apply the first axis, then the second to each result, and so on</a:t>
            </a:r>
            <a:endParaRPr lang="en-US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7CB623B-EAA0-B5BA-AF0D-585A74BEC1B8}"/>
              </a:ext>
            </a:extLst>
          </p:cNvPr>
          <p:cNvCxnSpPr>
            <a:stCxn id="10" idx="2"/>
          </p:cNvCxnSpPr>
          <p:nvPr/>
        </p:nvCxnSpPr>
        <p:spPr>
          <a:xfrm flipH="1">
            <a:off x="7038999" y="5157364"/>
            <a:ext cx="3255183" cy="1181224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746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 animBg="1"/>
      <p:bldP spid="1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1AA70-002F-1BED-398B-99737AAD1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CCEF2-7BB4-7426-BEA0-1899DC1A7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Axis and cursor -&gt;  Cursor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6DFE6C-2A6D-0AA5-8C7C-57C69EABAD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0" y="2137326"/>
            <a:ext cx="10726234" cy="697622"/>
          </a:xfrm>
        </p:spPr>
        <p:txBody>
          <a:bodyPr>
            <a:normAutofit fontScale="92500" lnSpcReduction="20000"/>
          </a:bodyPr>
          <a:lstStyle/>
          <a:p>
            <a:r>
              <a:rPr lang="en-IE" dirty="0"/>
              <a:t>Rather than a function, a cursor is a data structure that remembers where you are in the tree and how you got there — it stores both the current node and the surrounding context (parents, siblings) needed to navigate back out.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151814-094F-B928-8836-26533D0649B5}"/>
              </a:ext>
            </a:extLst>
          </p:cNvPr>
          <p:cNvSpPr txBox="1"/>
          <p:nvPr/>
        </p:nvSpPr>
        <p:spPr>
          <a:xfrm>
            <a:off x="942999" y="2834948"/>
            <a:ext cx="4862228" cy="1477328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IE" dirty="0"/>
              <a:t>data Cursor = Cursor </a:t>
            </a:r>
          </a:p>
          <a:p>
            <a:r>
              <a:rPr lang="en-IE" dirty="0"/>
              <a:t>      { current :: Node , </a:t>
            </a:r>
          </a:p>
          <a:p>
            <a:r>
              <a:rPr lang="en-IE" dirty="0"/>
              <a:t>        lefts :: [Node] -- siblings to the left , </a:t>
            </a:r>
          </a:p>
          <a:p>
            <a:r>
              <a:rPr lang="en-IE" dirty="0"/>
              <a:t>        rights :: [Node] -- siblings to the right , </a:t>
            </a:r>
          </a:p>
          <a:p>
            <a:r>
              <a:rPr lang="en-IE" dirty="0"/>
              <a:t>        parents :: [...] -- the path back up }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0EA9ED-D41C-7CB8-6896-A7559EFD0AFA}"/>
              </a:ext>
            </a:extLst>
          </p:cNvPr>
          <p:cNvSpPr txBox="1"/>
          <p:nvPr/>
        </p:nvSpPr>
        <p:spPr>
          <a:xfrm>
            <a:off x="680320" y="4424028"/>
            <a:ext cx="83239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dirty="0"/>
              <a:t>With a cursor you can move in any direction and then move back: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62C0EF-F243-321D-363C-C467BFE4CEC1}"/>
              </a:ext>
            </a:extLst>
          </p:cNvPr>
          <p:cNvSpPr txBox="1"/>
          <p:nvPr/>
        </p:nvSpPr>
        <p:spPr>
          <a:xfrm>
            <a:off x="942999" y="4978026"/>
            <a:ext cx="6096000" cy="923330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/>
          <a:p>
            <a:r>
              <a:rPr lang="en-IE" dirty="0"/>
              <a:t>child 0 cursor       -- move to first child</a:t>
            </a:r>
          </a:p>
          <a:p>
            <a:r>
              <a:rPr lang="en-IE" dirty="0"/>
              <a:t>parent cursor        -- move back up</a:t>
            </a:r>
          </a:p>
          <a:p>
            <a:r>
              <a:rPr lang="en-IE" dirty="0" err="1"/>
              <a:t>nextSibling</a:t>
            </a:r>
            <a:r>
              <a:rPr lang="en-IE" dirty="0"/>
              <a:t> cursor   -- move 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650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B89DB-FCCA-DAC5-EAB3-27947348D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Cursor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3171E-4FAB-0CF9-DA75-BB8CE1ECDB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216952"/>
            <a:ext cx="4208202" cy="1367619"/>
          </a:xfrm>
          <a:solidFill>
            <a:schemeClr val="accent1"/>
          </a:solidFill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IE" dirty="0"/>
              <a:t>&lt;book&gt; </a:t>
            </a:r>
          </a:p>
          <a:p>
            <a:pPr marL="0" indent="0">
              <a:buNone/>
            </a:pPr>
            <a:r>
              <a:rPr lang="en-IE" dirty="0"/>
              <a:t>    &lt;title&gt;Haskell Programming&lt;/title&gt; </a:t>
            </a:r>
          </a:p>
          <a:p>
            <a:pPr marL="0" indent="0">
              <a:buNone/>
            </a:pPr>
            <a:r>
              <a:rPr lang="en-IE" dirty="0"/>
              <a:t>    &lt;author&gt;Someone&lt;/author&gt; </a:t>
            </a:r>
          </a:p>
          <a:p>
            <a:pPr marL="0" indent="0">
              <a:buNone/>
            </a:pPr>
            <a:r>
              <a:rPr lang="en-IE" dirty="0"/>
              <a:t>    &lt;price&gt;40&lt;/price&gt; </a:t>
            </a:r>
          </a:p>
          <a:p>
            <a:pPr marL="0" indent="0">
              <a:buNone/>
            </a:pPr>
            <a:r>
              <a:rPr lang="en-IE" dirty="0"/>
              <a:t>&lt;/book&gt;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93279E-6278-19F4-8A1A-3564F963F636}"/>
              </a:ext>
            </a:extLst>
          </p:cNvPr>
          <p:cNvSpPr txBox="1"/>
          <p:nvPr/>
        </p:nvSpPr>
        <p:spPr>
          <a:xfrm>
            <a:off x="680321" y="4423670"/>
            <a:ext cx="6666139" cy="1200329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IE" dirty="0"/>
              <a:t>child </a:t>
            </a:r>
            <a:r>
              <a:rPr lang="en-IE" dirty="0">
                <a:effectLst/>
              </a:rPr>
              <a:t>0</a:t>
            </a:r>
            <a:r>
              <a:rPr lang="en-IE" dirty="0"/>
              <a:t> cursor </a:t>
            </a:r>
            <a:r>
              <a:rPr lang="en-IE" dirty="0">
                <a:effectLst/>
              </a:rPr>
              <a:t>-- moves to &lt;title&gt;</a:t>
            </a:r>
            <a:r>
              <a:rPr lang="en-IE" dirty="0"/>
              <a:t> </a:t>
            </a:r>
          </a:p>
          <a:p>
            <a:r>
              <a:rPr lang="en-IE" dirty="0"/>
              <a:t>child </a:t>
            </a:r>
            <a:r>
              <a:rPr lang="en-IE" dirty="0">
                <a:effectLst/>
              </a:rPr>
              <a:t>1</a:t>
            </a:r>
            <a:r>
              <a:rPr lang="en-IE" dirty="0"/>
              <a:t> cursor </a:t>
            </a:r>
            <a:r>
              <a:rPr lang="en-IE" dirty="0">
                <a:effectLst/>
              </a:rPr>
              <a:t>-- moves to &lt;author&gt;</a:t>
            </a:r>
            <a:r>
              <a:rPr lang="en-IE" dirty="0"/>
              <a:t> </a:t>
            </a:r>
          </a:p>
          <a:p>
            <a:r>
              <a:rPr lang="en-IE" dirty="0"/>
              <a:t>child </a:t>
            </a:r>
            <a:r>
              <a:rPr lang="en-IE" dirty="0">
                <a:effectLst/>
              </a:rPr>
              <a:t>2</a:t>
            </a:r>
            <a:r>
              <a:rPr lang="en-IE" dirty="0"/>
              <a:t> cursor </a:t>
            </a:r>
            <a:r>
              <a:rPr lang="en-IE" dirty="0">
                <a:effectLst/>
              </a:rPr>
              <a:t>-- moves to &lt;price&gt;</a:t>
            </a:r>
            <a:r>
              <a:rPr lang="en-IE" dirty="0"/>
              <a:t> </a:t>
            </a:r>
          </a:p>
          <a:p>
            <a:r>
              <a:rPr lang="en-IE" dirty="0"/>
              <a:t>child </a:t>
            </a:r>
            <a:r>
              <a:rPr lang="en-IE" dirty="0">
                <a:effectLst/>
              </a:rPr>
              <a:t>3</a:t>
            </a:r>
            <a:r>
              <a:rPr lang="en-IE" dirty="0"/>
              <a:t> cursor </a:t>
            </a:r>
            <a:r>
              <a:rPr lang="en-IE" dirty="0">
                <a:effectLst/>
              </a:rPr>
              <a:t>-- returns Nothing (no fourth child)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C4A533-1A34-AE95-FF5B-4197BC5465DE}"/>
              </a:ext>
            </a:extLst>
          </p:cNvPr>
          <p:cNvSpPr txBox="1"/>
          <p:nvPr/>
        </p:nvSpPr>
        <p:spPr>
          <a:xfrm>
            <a:off x="680321" y="3782691"/>
            <a:ext cx="48985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dirty="0"/>
              <a:t>if your cursor is sitting on &lt;book&gt;, then: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5266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11157-5F79-A67A-FE24-441CA9E61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Difference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F8CB23C-F91F-E43D-FF7A-1B8CAFE0963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80321" y="2274134"/>
            <a:ext cx="9892516" cy="42473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 axis is a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query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— you ask "what nodes are reachable from here in this direction?”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and get a list back. It is stateless and functional.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cursor is a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position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— it is a value that represents where you are right now in the document,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and you move it around. It is more like a pointer or iterator, but immutable and safe because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full context is encoded in the data structure.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 practice, axes suit bulk queries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US" altLang="en-US" dirty="0">
                <a:latin typeface="Arial" panose="020B0604020202020204" pitchFamily="34" charset="0"/>
              </a:rPr>
              <a:t>("give me all &lt;price&gt; nodes in this document")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latin typeface="Arial" panose="020B0604020202020204" pitchFamily="34" charset="0"/>
              </a:rPr>
              <a:t>while cursors suit targeted navigation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latin typeface="Arial" panose="020B0604020202020204" pitchFamily="34" charset="0"/>
              </a:rPr>
              <a:t>("step into the third child, read its attribute, step back out").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latin typeface="Arial" panose="020B0604020202020204" pitchFamily="34" charset="0"/>
              </a:rPr>
              <a:t>Libraries like xml-conduit expose both styles and you often combine them.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5514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CBFCE"/>
              </a:gs>
              <a:gs pos="100000">
                <a:srgbClr val="1A3B6E"/>
              </a:gs>
            </a:gsLst>
            <a:lin ang="9000000" scaled="0"/>
          </a:gradFill>
          <a:ln w="12700"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1155680" cy="877824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487680" y="0"/>
            <a:ext cx="10607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2933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Parsing the Catalogue with xml-conduit</a:t>
            </a:r>
            <a:endParaRPr lang="en-US" sz="29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6" name="Text 4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2133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21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87680" y="1036320"/>
            <a:ext cx="6827520" cy="5754624"/>
          </a:xfrm>
          <a:prstGeom prst="rect">
            <a:avLst/>
          </a:prstGeom>
          <a:solidFill>
            <a:srgbClr val="0D1B2A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6437376" y="1085088"/>
            <a:ext cx="79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609585"/>
            <a:r>
              <a:rPr lang="en-US" sz="933" i="1" dirty="0">
                <a:solidFill>
                  <a:srgbClr val="39CDE7"/>
                </a:solidFill>
                <a:latin typeface="Trebuchet MS" panose="020B0603020202020204"/>
              </a:rPr>
              <a:t>Haskell</a:t>
            </a:r>
            <a:endParaRPr lang="en-US" sz="9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9" name="Text 7"/>
          <p:cNvSpPr/>
          <p:nvPr/>
        </p:nvSpPr>
        <p:spPr>
          <a:xfrm>
            <a:off x="658368" y="1304544"/>
            <a:ext cx="6486144" cy="536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Text.XML          (readFile, def, Document)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Text.XML.Cursor   (fromDocument, Cursor, ($/)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, element, content, attribute)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Data.Text         (Text)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qualified Data.Text as T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Helper: text of first matching child element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childText :: Name -&gt; Cursor -&gt; Maybe Text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childText n cur =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listToMaybe $ cur $/ element n &amp;/ content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Parse one &lt;author&gt; cursor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parseAuthor :: Cursor -&gt; Author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parseAuthor cur = Author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authorId   = T.unpack . head . attribute "id" $ cur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authorName = T.unpack . T.concat $ cur $/ content }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Parse one &lt;book&gt; cursor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parseBook :: Cursor -&gt; Book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parseBook cur = Book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isbn     = T.unpack . head $ attribute "isbn" cur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title    = maybe "" T.unpack (childText "title" cur)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subtitle = fmap T.unpack   (childText "subtitle" cur)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authors  = map parseAuthor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(cur $/ element "authors" $/ element "author")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pubYear  = T.unpack . head $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cur $/ element "published" &gt;=&gt; attribute "year" }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Entry point: Document -&gt; [Book]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parseCatalogue :: Document -&gt; [Book]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parseCatalogue doc = map parseBook $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fromDocument doc $/ element "catalogue" &amp;/ element "book"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559040" y="1036320"/>
            <a:ext cx="426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867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Operators</a:t>
            </a:r>
            <a:endParaRPr lang="en-US" sz="18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559040" y="1584960"/>
            <a:ext cx="4267200" cy="1121664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559040" y="1584960"/>
            <a:ext cx="73152" cy="1121664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741920" y="16459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67" b="1" dirty="0">
                <a:solidFill>
                  <a:srgbClr val="39CD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($/) axis op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741920" y="2048256"/>
            <a:ext cx="4023360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Descend into direct children matching the predicate. Composes naturally.</a:t>
            </a:r>
            <a:endParaRPr lang="en-US" sz="1333" dirty="0">
              <a:solidFill>
                <a:schemeClr val="bg1"/>
              </a:solidFill>
              <a:latin typeface="Trebuchet MS" panose="020B0603020202020204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559040" y="2901696"/>
            <a:ext cx="4267200" cy="1121664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60DE72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559040" y="2901696"/>
            <a:ext cx="73152" cy="1121664"/>
          </a:xfrm>
          <a:prstGeom prst="rect">
            <a:avLst/>
          </a:prstGeom>
          <a:solidFill>
            <a:srgbClr val="60DE72"/>
          </a:solidFill>
          <a:ln w="12700">
            <a:solidFill>
              <a:srgbClr val="60DE72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741920" y="296265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67" b="1" dirty="0">
                <a:solidFill>
                  <a:srgbClr val="60D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element "name"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7741920" y="3364992"/>
            <a:ext cx="4023360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Selects child elements by local name — the core traversal primitive.</a:t>
            </a:r>
            <a:endParaRPr lang="en-US" sz="1333" dirty="0">
              <a:solidFill>
                <a:schemeClr val="bg1"/>
              </a:solidFill>
              <a:latin typeface="Trebuchet MS" panose="020B060302020202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7559040" y="4218432"/>
            <a:ext cx="4267200" cy="1121664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F49D50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559040" y="4218432"/>
            <a:ext cx="73152" cy="1121664"/>
          </a:xfrm>
          <a:prstGeom prst="rect">
            <a:avLst/>
          </a:prstGeom>
          <a:solidFill>
            <a:srgbClr val="F49D50"/>
          </a:solidFill>
          <a:ln w="12700">
            <a:solidFill>
              <a:srgbClr val="F49D50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741920" y="427939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67" b="1" dirty="0">
                <a:solidFill>
                  <a:srgbClr val="F49D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attribute "n"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7741920" y="4681728"/>
            <a:ext cx="4023360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Reads a named attribute from the current element cursor.</a:t>
            </a:r>
            <a:endParaRPr lang="en-US" sz="1333" dirty="0">
              <a:solidFill>
                <a:schemeClr val="bg1"/>
              </a:solidFill>
              <a:latin typeface="Trebuchet MS" panose="020B0603020202020204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7559040" y="5535168"/>
            <a:ext cx="4267200" cy="1121664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559040" y="5535168"/>
            <a:ext cx="73152" cy="1121664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741920" y="559612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67" b="1" dirty="0">
                <a:solidFill>
                  <a:srgbClr val="39CD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(&gt;=&gt;)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7741920" y="5998464"/>
            <a:ext cx="4023360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composition — chains steps: find child, then read attr.</a:t>
            </a:r>
            <a:endParaRPr lang="en-US" sz="1333" dirty="0">
              <a:solidFill>
                <a:schemeClr val="bg1"/>
              </a:solidFill>
              <a:latin typeface="Trebuchet MS" panose="020B06030202020202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CBFCE"/>
              </a:gs>
              <a:gs pos="100000">
                <a:srgbClr val="1A3B6E"/>
              </a:gs>
            </a:gsLst>
            <a:lin ang="9000000" scaled="0"/>
          </a:gradFill>
          <a:ln w="12700"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1155680" cy="877824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487680" y="0"/>
            <a:ext cx="10607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2933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Rendering Books to Markdown</a:t>
            </a:r>
            <a:endParaRPr lang="en-US" sz="29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6" name="Text 4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2133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21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87680" y="1036320"/>
            <a:ext cx="5669280" cy="5608320"/>
          </a:xfrm>
          <a:prstGeom prst="rect">
            <a:avLst/>
          </a:prstGeom>
          <a:solidFill>
            <a:srgbClr val="0D1B2A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5279136" y="1085088"/>
            <a:ext cx="79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609585"/>
            <a:r>
              <a:rPr lang="en-US" sz="933" i="1" dirty="0">
                <a:solidFill>
                  <a:srgbClr val="39CDE7"/>
                </a:solidFill>
                <a:latin typeface="Trebuchet MS" panose="020B0603020202020204"/>
              </a:rPr>
              <a:t>Haskell</a:t>
            </a:r>
            <a:endParaRPr lang="en-US" sz="9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9" name="Text 7"/>
          <p:cNvSpPr/>
          <p:nvPr/>
        </p:nvSpPr>
        <p:spPr>
          <a:xfrm>
            <a:off x="658368" y="1304544"/>
            <a:ext cx="5327904" cy="521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Render a single Author inline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renderAuthor :: Author -&gt; String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renderAuthor a =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"- **[" ++ authorId a ++ "]** "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++ authorName a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Render one Book as a Markdown section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renderBook :: Book -&gt; String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renderBook b = unlines $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 "## " ++ title b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"| Field | Value |"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"|-------|-------|"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"| ISBN  | `" ++ isbn b ++ "` |"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"| Year  | " ++ pubYear b ++ " |"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 ++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maybe []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(\s -&gt; ["| Sub | " ++ s ++ " |"])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(subtitle b) ++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 "", "### Authors" ] ++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map renderAuthor (authors b)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461760" y="1036320"/>
            <a:ext cx="5181600" cy="3413760"/>
          </a:xfrm>
          <a:prstGeom prst="rect">
            <a:avLst/>
          </a:prstGeom>
          <a:solidFill>
            <a:srgbClr val="0D1B2A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0765536" y="1085088"/>
            <a:ext cx="79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609585"/>
            <a:r>
              <a:rPr lang="en-US" sz="933" i="1" dirty="0">
                <a:solidFill>
                  <a:srgbClr val="39CDE7"/>
                </a:solidFill>
                <a:latin typeface="Trebuchet MS" panose="020B0603020202020204"/>
              </a:rPr>
              <a:t>Haskell</a:t>
            </a:r>
            <a:endParaRPr lang="en-US" sz="9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632448" y="1304544"/>
            <a:ext cx="4840224" cy="3023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Build catalogue.md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renderCatalogue :: [Book] -&gt; String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renderCatalogue books = unlines $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 "# Book Catalogue"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""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show (length books)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++ " book(s)."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""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 ++ map renderBook books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Write to a file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writeCatalogue :: FilePath -&gt; [Book] -&gt; IO ()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writeCatalogue path books =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writeFile path (renderCatalogue books)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461760" y="4385901"/>
            <a:ext cx="5181600" cy="1167555"/>
          </a:xfrm>
          <a:prstGeom prst="rect">
            <a:avLst/>
          </a:prstGeom>
          <a:solidFill>
            <a:srgbClr val="F0FFFE">
              <a:alpha val="95000"/>
            </a:srgbClr>
          </a:solidFill>
          <a:ln w="12700">
            <a:solidFill>
              <a:srgbClr val="60DE72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461760" y="4572000"/>
            <a:ext cx="5181600" cy="304800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r" defTabSz="609585"/>
            <a:r>
              <a:rPr lang="en-US" sz="1067" i="1" dirty="0">
                <a:solidFill>
                  <a:srgbClr val="60DE72"/>
                </a:solidFill>
                <a:latin typeface="Trebuchet MS" panose="020B0603020202020204"/>
              </a:rPr>
              <a:t>Sample Output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552173" y="4415833"/>
            <a:ext cx="4815840" cy="1224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2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Haskell Programming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ISBN | `978-1593272838` |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Year | 2010 |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Authors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**[a1]** Bryan O'Sullivan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D43CF1-3268-AB4D-1CE9-FB496A2562A7}"/>
              </a:ext>
            </a:extLst>
          </p:cNvPr>
          <p:cNvSpPr txBox="1"/>
          <p:nvPr/>
        </p:nvSpPr>
        <p:spPr>
          <a:xfrm>
            <a:off x="6632448" y="5732980"/>
            <a:ext cx="4925568" cy="646331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maybe function- applies the supplied default value ([] in this case) if Nothing if returned 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8B34A36-66AD-4B6C-C94C-DF1B5B1E2F6B}"/>
              </a:ext>
            </a:extLst>
          </p:cNvPr>
          <p:cNvCxnSpPr>
            <a:stCxn id="16" idx="1"/>
          </p:cNvCxnSpPr>
          <p:nvPr/>
        </p:nvCxnSpPr>
        <p:spPr>
          <a:xfrm flipH="1" flipV="1">
            <a:off x="1191802" y="4415833"/>
            <a:ext cx="5440646" cy="1640313"/>
          </a:xfrm>
          <a:prstGeom prst="straightConnector1">
            <a:avLst/>
          </a:prstGeom>
          <a:ln w="2857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FD8BE0-017D-7887-B802-4F1E0B654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 on </a:t>
            </a:r>
            <a:r>
              <a:rPr lang="en-US" dirty="0" err="1"/>
              <a:t>NonEmpty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90187-F155-CBBC-A335-3686A4452D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1182" y="2060828"/>
            <a:ext cx="5504818" cy="2562931"/>
          </a:xfrm>
          <a:solidFill>
            <a:schemeClr val="bg2">
              <a:lumMod val="60000"/>
              <a:lumOff val="40000"/>
            </a:schemeClr>
          </a:solidFill>
        </p:spPr>
        <p:txBody>
          <a:bodyPr/>
          <a:lstStyle/>
          <a:p>
            <a:pPr marL="0" indent="0">
              <a:buNone/>
            </a:pPr>
            <a:r>
              <a:rPr lang="en-IE" dirty="0"/>
              <a:t>data Book = Book</a:t>
            </a:r>
          </a:p>
          <a:p>
            <a:pPr marL="0" indent="0">
              <a:buNone/>
            </a:pPr>
            <a:r>
              <a:rPr lang="en-IE" dirty="0"/>
              <a:t>     { </a:t>
            </a:r>
            <a:r>
              <a:rPr lang="en-IE" dirty="0" err="1"/>
              <a:t>bookIsbn</a:t>
            </a:r>
            <a:r>
              <a:rPr lang="en-IE" dirty="0"/>
              <a:t> :: ISBN</a:t>
            </a:r>
          </a:p>
          <a:p>
            <a:pPr marL="0" indent="0">
              <a:buNone/>
            </a:pPr>
            <a:r>
              <a:rPr lang="en-IE" dirty="0"/>
              <a:t>       , </a:t>
            </a:r>
            <a:r>
              <a:rPr lang="en-IE" dirty="0" err="1"/>
              <a:t>bookTitle</a:t>
            </a:r>
            <a:r>
              <a:rPr lang="en-IE" dirty="0"/>
              <a:t> :: Text</a:t>
            </a:r>
          </a:p>
          <a:p>
            <a:pPr marL="0" indent="0">
              <a:buNone/>
            </a:pPr>
            <a:r>
              <a:rPr lang="en-IE" dirty="0"/>
              <a:t>       , </a:t>
            </a:r>
            <a:r>
              <a:rPr lang="en-IE" dirty="0" err="1"/>
              <a:t>bookSubtitle</a:t>
            </a:r>
            <a:r>
              <a:rPr lang="en-IE" dirty="0"/>
              <a:t> :: Maybe Text</a:t>
            </a:r>
          </a:p>
          <a:p>
            <a:pPr marL="0" indent="0">
              <a:buNone/>
            </a:pPr>
            <a:r>
              <a:rPr lang="en-IE" dirty="0"/>
              <a:t>       , </a:t>
            </a:r>
            <a:r>
              <a:rPr lang="en-IE" dirty="0" err="1"/>
              <a:t>bookAuthors</a:t>
            </a:r>
            <a:r>
              <a:rPr lang="en-IE" dirty="0"/>
              <a:t> :: </a:t>
            </a:r>
            <a:r>
              <a:rPr lang="en-IE" dirty="0" err="1"/>
              <a:t>NonEmpty</a:t>
            </a:r>
            <a:r>
              <a:rPr lang="en-IE" dirty="0"/>
              <a:t> Author</a:t>
            </a:r>
          </a:p>
          <a:p>
            <a:pPr marL="0" indent="0">
              <a:buNone/>
            </a:pPr>
            <a:r>
              <a:rPr lang="en-IE" dirty="0"/>
              <a:t>      , </a:t>
            </a:r>
            <a:r>
              <a:rPr lang="en-IE" dirty="0" err="1"/>
              <a:t>bookYear</a:t>
            </a:r>
            <a:r>
              <a:rPr lang="en-IE" dirty="0"/>
              <a:t> :: Int</a:t>
            </a:r>
          </a:p>
          <a:p>
            <a:pPr marL="0" indent="0">
              <a:buNone/>
            </a:pPr>
            <a:r>
              <a:rPr lang="en-IE" dirty="0"/>
              <a:t>     } deriving (Show, </a:t>
            </a:r>
            <a:r>
              <a:rPr lang="en-IE" dirty="0" err="1"/>
              <a:t>Eq</a:t>
            </a:r>
            <a:r>
              <a:rPr lang="en-IE" dirty="0"/>
              <a:t>, Generic)</a:t>
            </a:r>
          </a:p>
          <a:p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C2ABFDE-D8F3-E94D-3DC0-33003D46FD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762" y="4842931"/>
            <a:ext cx="9081332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NonEmpty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 is a list that is </a:t>
            </a:r>
            <a:r>
              <a:rPr kumimoji="0" lang="en-US" altLang="en-US" sz="2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guaranteed at compile time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to have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at least one element. Its definition is essentially: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963352-86C5-55DC-94FD-CF639B26C400}"/>
              </a:ext>
            </a:extLst>
          </p:cNvPr>
          <p:cNvSpPr txBox="1"/>
          <p:nvPr/>
        </p:nvSpPr>
        <p:spPr>
          <a:xfrm>
            <a:off x="591182" y="6010358"/>
            <a:ext cx="7147582" cy="738664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IE" sz="1400" dirty="0"/>
              <a:t>data </a:t>
            </a:r>
            <a:r>
              <a:rPr lang="en-IE" sz="1400" dirty="0" err="1"/>
              <a:t>NonEmpty</a:t>
            </a:r>
            <a:r>
              <a:rPr lang="en-IE" sz="1400" dirty="0"/>
              <a:t> a = a :| [a]. –-- where :| constructor takes a </a:t>
            </a:r>
            <a:r>
              <a:rPr lang="en-IE" sz="1400" i="1" dirty="0"/>
              <a:t>head</a:t>
            </a:r>
            <a:r>
              <a:rPr lang="en-IE" sz="1400" dirty="0"/>
              <a:t> element and a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IE" sz="1400" dirty="0"/>
              <a:t>---(possibly empty) tail list. This means that a </a:t>
            </a:r>
            <a:r>
              <a:rPr lang="en-IE" sz="1400" dirty="0" err="1"/>
              <a:t>NonEmpty</a:t>
            </a:r>
            <a:r>
              <a:rPr lang="en-IE" sz="1400" dirty="0"/>
              <a:t> list can never be constructed as an empty list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4746702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9BA8C-A7E0-87EA-C61E-342E1AE44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does this help?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A663D8-9A7F-4DC3-F1A4-55CAC0AF88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528" y="2055126"/>
            <a:ext cx="9613861" cy="1174078"/>
          </a:xfrm>
        </p:spPr>
        <p:txBody>
          <a:bodyPr/>
          <a:lstStyle/>
          <a:p>
            <a:pPr marL="0" indent="0">
              <a:buNone/>
            </a:pPr>
            <a:r>
              <a:rPr lang="en-IE" dirty="0"/>
              <a:t>A book with zero authors is almost certainly a data error. </a:t>
            </a:r>
          </a:p>
          <a:p>
            <a:pPr marL="0" indent="0">
              <a:buNone/>
            </a:pPr>
            <a:r>
              <a:rPr lang="en-IE" dirty="0"/>
              <a:t>If you changed this to </a:t>
            </a:r>
            <a:r>
              <a:rPr lang="en-IE" dirty="0" err="1"/>
              <a:t>NonEmpty</a:t>
            </a:r>
            <a:r>
              <a:rPr lang="en-IE" dirty="0"/>
              <a:t> Author, the type itself would </a:t>
            </a:r>
            <a:r>
              <a:rPr lang="en-IE" i="1" dirty="0"/>
              <a:t>enforce</a:t>
            </a:r>
            <a:r>
              <a:rPr lang="en-IE" dirty="0"/>
              <a:t> that every Book has at least one author — no runtime check needed.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5506E3-6C8B-3797-E36E-6992B01465B0}"/>
              </a:ext>
            </a:extLst>
          </p:cNvPr>
          <p:cNvSpPr txBox="1"/>
          <p:nvPr/>
        </p:nvSpPr>
        <p:spPr>
          <a:xfrm>
            <a:off x="521898" y="3011266"/>
            <a:ext cx="7880230" cy="1477328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IE" dirty="0">
                <a:effectLst/>
              </a:rPr>
              <a:t>import</a:t>
            </a:r>
            <a:r>
              <a:rPr lang="en-IE" dirty="0"/>
              <a:t> </a:t>
            </a:r>
            <a:r>
              <a:rPr lang="en-IE" dirty="0" err="1"/>
              <a:t>Data</a:t>
            </a:r>
            <a:r>
              <a:rPr lang="en-IE" dirty="0" err="1">
                <a:effectLst/>
              </a:rPr>
              <a:t>.</a:t>
            </a:r>
            <a:r>
              <a:rPr lang="en-IE" dirty="0" err="1"/>
              <a:t>List</a:t>
            </a:r>
            <a:r>
              <a:rPr lang="en-IE" dirty="0" err="1">
                <a:effectLst/>
              </a:rPr>
              <a:t>.</a:t>
            </a:r>
            <a:r>
              <a:rPr lang="en-IE" dirty="0" err="1"/>
              <a:t>NonEmpty</a:t>
            </a:r>
            <a:r>
              <a:rPr lang="en-IE" dirty="0"/>
              <a:t> </a:t>
            </a:r>
            <a:r>
              <a:rPr lang="en-IE" dirty="0">
                <a:effectLst/>
              </a:rPr>
              <a:t>(</a:t>
            </a:r>
            <a:r>
              <a:rPr lang="en-IE" dirty="0" err="1">
                <a:effectLst/>
              </a:rPr>
              <a:t>NonEmpty</a:t>
            </a:r>
            <a:r>
              <a:rPr lang="en-IE" dirty="0">
                <a:effectLst/>
              </a:rPr>
              <a:t>,</a:t>
            </a:r>
            <a:r>
              <a:rPr lang="en-IE" dirty="0"/>
              <a:t> </a:t>
            </a:r>
            <a:r>
              <a:rPr lang="en-IE" dirty="0" err="1"/>
              <a:t>nonEmpty</a:t>
            </a:r>
            <a:r>
              <a:rPr lang="en-IE" dirty="0">
                <a:effectLst/>
              </a:rPr>
              <a:t>)</a:t>
            </a:r>
            <a:r>
              <a:rPr lang="en-IE" dirty="0"/>
              <a:t> </a:t>
            </a:r>
          </a:p>
          <a:p>
            <a:endParaRPr lang="en-IE" dirty="0">
              <a:effectLst/>
            </a:endParaRPr>
          </a:p>
          <a:p>
            <a:r>
              <a:rPr lang="en-IE" dirty="0">
                <a:effectLst/>
              </a:rPr>
              <a:t>data</a:t>
            </a:r>
            <a:r>
              <a:rPr lang="en-IE" dirty="0"/>
              <a:t> </a:t>
            </a:r>
            <a:r>
              <a:rPr lang="en-IE" dirty="0">
                <a:effectLst/>
              </a:rPr>
              <a:t>Book</a:t>
            </a:r>
            <a:r>
              <a:rPr lang="en-IE" dirty="0"/>
              <a:t> </a:t>
            </a:r>
            <a:r>
              <a:rPr lang="en-IE" dirty="0">
                <a:effectLst/>
              </a:rPr>
              <a:t>=</a:t>
            </a:r>
            <a:r>
              <a:rPr lang="en-IE" dirty="0"/>
              <a:t> </a:t>
            </a:r>
            <a:r>
              <a:rPr lang="en-IE" dirty="0">
                <a:effectLst/>
              </a:rPr>
              <a:t>Book</a:t>
            </a:r>
            <a:r>
              <a:rPr lang="en-IE" dirty="0"/>
              <a:t> </a:t>
            </a:r>
            <a:r>
              <a:rPr lang="en-IE" dirty="0">
                <a:effectLst/>
              </a:rPr>
              <a:t>{</a:t>
            </a:r>
            <a:r>
              <a:rPr lang="en-IE" dirty="0"/>
              <a:t> </a:t>
            </a:r>
            <a:r>
              <a:rPr lang="en-IE" dirty="0">
                <a:effectLst/>
              </a:rPr>
              <a:t>...</a:t>
            </a:r>
            <a:r>
              <a:rPr lang="en-IE" dirty="0"/>
              <a:t> </a:t>
            </a:r>
            <a:r>
              <a:rPr lang="en-IE" dirty="0">
                <a:effectLst/>
              </a:rPr>
              <a:t>,</a:t>
            </a:r>
            <a:r>
              <a:rPr lang="en-IE" dirty="0"/>
              <a:t> </a:t>
            </a:r>
          </a:p>
          <a:p>
            <a:r>
              <a:rPr lang="en-IE" dirty="0"/>
              <a:t>	authors </a:t>
            </a:r>
            <a:r>
              <a:rPr lang="en-IE" dirty="0">
                <a:effectLst/>
              </a:rPr>
              <a:t>::</a:t>
            </a:r>
            <a:r>
              <a:rPr lang="en-IE" dirty="0"/>
              <a:t> </a:t>
            </a:r>
            <a:r>
              <a:rPr lang="en-IE" dirty="0" err="1">
                <a:effectLst/>
              </a:rPr>
              <a:t>NonEmpty</a:t>
            </a:r>
            <a:r>
              <a:rPr lang="en-IE" dirty="0"/>
              <a:t> </a:t>
            </a:r>
            <a:r>
              <a:rPr lang="en-IE" dirty="0">
                <a:effectLst/>
              </a:rPr>
              <a:t>Author</a:t>
            </a:r>
            <a:r>
              <a:rPr lang="en-IE" dirty="0"/>
              <a:t> </a:t>
            </a:r>
            <a:r>
              <a:rPr lang="en-IE" dirty="0">
                <a:effectLst/>
              </a:rPr>
              <a:t>-- guaranteed non-empty</a:t>
            </a:r>
            <a:r>
              <a:rPr lang="en-IE" dirty="0"/>
              <a:t> </a:t>
            </a:r>
            <a:r>
              <a:rPr lang="en-IE" dirty="0">
                <a:effectLst/>
              </a:rPr>
              <a:t>,</a:t>
            </a:r>
          </a:p>
          <a:p>
            <a:r>
              <a:rPr lang="en-IE" dirty="0"/>
              <a:t>              </a:t>
            </a:r>
            <a:r>
              <a:rPr lang="en-IE" dirty="0">
                <a:effectLst/>
              </a:rPr>
              <a:t>...</a:t>
            </a:r>
            <a:r>
              <a:rPr lang="en-IE" dirty="0"/>
              <a:t> </a:t>
            </a:r>
            <a:r>
              <a:rPr lang="en-IE" dirty="0">
                <a:effectLst/>
              </a:rPr>
              <a:t>}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A6600D-D4CA-F164-C9D6-36897A24F03C}"/>
              </a:ext>
            </a:extLst>
          </p:cNvPr>
          <p:cNvSpPr txBox="1"/>
          <p:nvPr/>
        </p:nvSpPr>
        <p:spPr>
          <a:xfrm>
            <a:off x="521898" y="5739358"/>
            <a:ext cx="7086600" cy="92333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IE" dirty="0">
                <a:effectLst/>
              </a:rPr>
              <a:t>case</a:t>
            </a:r>
            <a:r>
              <a:rPr lang="en-IE" dirty="0"/>
              <a:t> </a:t>
            </a:r>
            <a:r>
              <a:rPr lang="en-IE" dirty="0" err="1"/>
              <a:t>nonEmpty</a:t>
            </a:r>
            <a:r>
              <a:rPr lang="en-IE" dirty="0"/>
              <a:t> </a:t>
            </a:r>
            <a:r>
              <a:rPr lang="en-IE" dirty="0">
                <a:effectLst/>
              </a:rPr>
              <a:t>(map</a:t>
            </a:r>
            <a:r>
              <a:rPr lang="en-IE" dirty="0"/>
              <a:t> </a:t>
            </a:r>
            <a:r>
              <a:rPr lang="en-IE" dirty="0" err="1"/>
              <a:t>parseAuthor</a:t>
            </a:r>
            <a:r>
              <a:rPr lang="en-IE" dirty="0"/>
              <a:t> </a:t>
            </a:r>
            <a:r>
              <a:rPr lang="en-IE" dirty="0" err="1"/>
              <a:t>authorEls</a:t>
            </a:r>
            <a:r>
              <a:rPr lang="en-IE" dirty="0">
                <a:effectLst/>
              </a:rPr>
              <a:t>)</a:t>
            </a:r>
            <a:r>
              <a:rPr lang="en-IE" dirty="0"/>
              <a:t> </a:t>
            </a:r>
            <a:r>
              <a:rPr lang="en-IE" dirty="0">
                <a:effectLst/>
              </a:rPr>
              <a:t>of</a:t>
            </a:r>
            <a:r>
              <a:rPr lang="en-IE" dirty="0"/>
              <a:t> </a:t>
            </a:r>
          </a:p>
          <a:p>
            <a:r>
              <a:rPr lang="en-IE" dirty="0">
                <a:effectLst/>
              </a:rPr>
              <a:t>Nothing</a:t>
            </a:r>
            <a:r>
              <a:rPr lang="en-IE" dirty="0"/>
              <a:t> </a:t>
            </a:r>
            <a:r>
              <a:rPr lang="en-IE" dirty="0">
                <a:effectLst/>
              </a:rPr>
              <a:t>-&gt;</a:t>
            </a:r>
            <a:r>
              <a:rPr lang="en-IE" dirty="0"/>
              <a:t> </a:t>
            </a:r>
            <a:r>
              <a:rPr lang="en-IE" dirty="0">
                <a:effectLst/>
              </a:rPr>
              <a:t>error</a:t>
            </a:r>
            <a:r>
              <a:rPr lang="en-IE" dirty="0"/>
              <a:t> </a:t>
            </a:r>
            <a:r>
              <a:rPr lang="en-IE" dirty="0">
                <a:effectLst/>
              </a:rPr>
              <a:t>"Book has no authors"</a:t>
            </a:r>
            <a:r>
              <a:rPr lang="en-IE" dirty="0"/>
              <a:t> </a:t>
            </a:r>
            <a:r>
              <a:rPr lang="en-IE" dirty="0">
                <a:effectLst/>
              </a:rPr>
              <a:t>-- or return a Left / Nothing</a:t>
            </a:r>
            <a:r>
              <a:rPr lang="en-IE" dirty="0"/>
              <a:t> </a:t>
            </a:r>
            <a:r>
              <a:rPr lang="en-IE" dirty="0">
                <a:effectLst/>
              </a:rPr>
              <a:t>Just</a:t>
            </a:r>
            <a:r>
              <a:rPr lang="en-IE" dirty="0"/>
              <a:t> as </a:t>
            </a:r>
            <a:r>
              <a:rPr lang="en-IE" dirty="0">
                <a:effectLst/>
              </a:rPr>
              <a:t>-&gt;</a:t>
            </a:r>
            <a:r>
              <a:rPr lang="en-IE" dirty="0"/>
              <a:t> </a:t>
            </a:r>
            <a:r>
              <a:rPr lang="en-IE" dirty="0">
                <a:effectLst/>
              </a:rPr>
              <a:t>...</a:t>
            </a:r>
            <a:r>
              <a:rPr lang="en-IE" dirty="0"/>
              <a:t> </a:t>
            </a:r>
            <a:r>
              <a:rPr lang="en-IE" dirty="0">
                <a:effectLst/>
              </a:rPr>
              <a:t>-- as :: </a:t>
            </a:r>
            <a:r>
              <a:rPr lang="en-IE" dirty="0" err="1">
                <a:effectLst/>
              </a:rPr>
              <a:t>NonEmpty</a:t>
            </a:r>
            <a:r>
              <a:rPr lang="en-IE" dirty="0">
                <a:effectLst/>
              </a:rPr>
              <a:t> Author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C0643B-FEC5-E943-1E75-A00328054B6D}"/>
              </a:ext>
            </a:extLst>
          </p:cNvPr>
          <p:cNvSpPr txBox="1"/>
          <p:nvPr/>
        </p:nvSpPr>
        <p:spPr>
          <a:xfrm>
            <a:off x="521898" y="4595840"/>
            <a:ext cx="765594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dirty="0"/>
              <a:t>Then in </a:t>
            </a:r>
            <a:r>
              <a:rPr lang="en-IE" dirty="0" err="1">
                <a:latin typeface="Courier New" panose="02070309020205020404" pitchFamily="49" charset="0"/>
              </a:rPr>
              <a:t>parseBook</a:t>
            </a:r>
            <a:r>
              <a:rPr lang="en-IE" dirty="0"/>
              <a:t>, instead of </a:t>
            </a:r>
            <a:r>
              <a:rPr lang="en-IE" dirty="0">
                <a:latin typeface="Courier New" panose="02070309020205020404" pitchFamily="49" charset="0"/>
              </a:rPr>
              <a:t>maybe [] (</a:t>
            </a:r>
            <a:r>
              <a:rPr lang="en-IE" dirty="0" err="1">
                <a:latin typeface="Courier New" panose="02070309020205020404" pitchFamily="49" charset="0"/>
              </a:rPr>
              <a:t>findChildren</a:t>
            </a:r>
            <a:r>
              <a:rPr lang="en-IE" dirty="0">
                <a:latin typeface="Courier New" panose="02070309020205020404" pitchFamily="49" charset="0"/>
              </a:rPr>
              <a:t> ...)</a:t>
            </a:r>
            <a:r>
              <a:rPr lang="en-IE" dirty="0"/>
              <a:t>, you'd use </a:t>
            </a:r>
            <a:r>
              <a:rPr lang="en-IE" dirty="0" err="1">
                <a:latin typeface="Courier New" panose="02070309020205020404" pitchFamily="49" charset="0"/>
              </a:rPr>
              <a:t>nonEmpty</a:t>
            </a:r>
            <a:r>
              <a:rPr lang="en-IE" dirty="0"/>
              <a:t> (which returns </a:t>
            </a:r>
            <a:r>
              <a:rPr lang="en-IE" dirty="0">
                <a:latin typeface="Courier New" panose="02070309020205020404" pitchFamily="49" charset="0"/>
              </a:rPr>
              <a:t>Maybe (</a:t>
            </a:r>
            <a:r>
              <a:rPr lang="en-IE" dirty="0" err="1">
                <a:latin typeface="Courier New" panose="02070309020205020404" pitchFamily="49" charset="0"/>
              </a:rPr>
              <a:t>NonEmpty</a:t>
            </a:r>
            <a:r>
              <a:rPr lang="en-IE" dirty="0">
                <a:latin typeface="Courier New" panose="02070309020205020404" pitchFamily="49" charset="0"/>
              </a:rPr>
              <a:t> a)</a:t>
            </a:r>
            <a:r>
              <a:rPr lang="en-IE" dirty="0"/>
              <a:t>) and handle the empty case explicitly: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05549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CBFCE"/>
              </a:gs>
              <a:gs pos="100000">
                <a:srgbClr val="1A3B6E"/>
              </a:gs>
            </a:gsLst>
            <a:lin ang="9000000" scaled="0"/>
          </a:gradFill>
          <a:ln w="12700"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1155680" cy="877824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487680" y="0"/>
            <a:ext cx="10607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2933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Wiring It All Together</a:t>
            </a:r>
            <a:endParaRPr lang="en-US" sz="29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6" name="Text 4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2133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21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87680" y="1036320"/>
            <a:ext cx="7071360" cy="3243072"/>
          </a:xfrm>
          <a:prstGeom prst="rect">
            <a:avLst/>
          </a:prstGeom>
          <a:solidFill>
            <a:srgbClr val="0D1B2A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6681216" y="1085088"/>
            <a:ext cx="79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609585"/>
            <a:r>
              <a:rPr lang="en-US" sz="933" i="1" dirty="0">
                <a:solidFill>
                  <a:srgbClr val="39CDE7"/>
                </a:solidFill>
                <a:latin typeface="Trebuchet MS" panose="020B0603020202020204"/>
              </a:rPr>
              <a:t>Haskell</a:t>
            </a:r>
            <a:endParaRPr lang="en-US" sz="9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9" name="Text 7"/>
          <p:cNvSpPr/>
          <p:nvPr/>
        </p:nvSpPr>
        <p:spPr>
          <a:xfrm>
            <a:off x="658368" y="1304544"/>
            <a:ext cx="6729984" cy="3755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 Main where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Text.XML          (readFile, def)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Text.XML.Cursor   (fromDocument)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Prelude hiding    (readFile)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System.Environment (getArgs)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 :: IO ()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 = do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doc   &lt;- </a:t>
            </a:r>
            <a:r>
              <a:rPr lang="en-US" sz="1267" dirty="0" err="1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Text.XML.readFile</a:t>
            </a:r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def “</a:t>
            </a:r>
            <a:r>
              <a:rPr lang="en-US" sz="1267" dirty="0" err="1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books.xml</a:t>
            </a:r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”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let books = parseCatalogue doc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putStrLn $ "Parsed " ++ show (length books) ++ " book(s)."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r>
              <a:rPr lang="en-US" sz="1267" dirty="0" err="1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writeCatalogue</a:t>
            </a:r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books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putStrLn $ "Written to " ++ mdPath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985760" y="1158240"/>
            <a:ext cx="548640" cy="548640"/>
          </a:xfrm>
          <a:prstGeom prst="ellipse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985760" y="1158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20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656320" y="11704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 XML</a:t>
            </a:r>
            <a:endParaRPr lang="en-US" sz="16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8656320" y="1548384"/>
            <a:ext cx="310896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readFile parses the file into a Document, throwing on malformed XML.</a:t>
            </a:r>
            <a:endParaRPr lang="en-US" sz="13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229600" y="1743456"/>
            <a:ext cx="60960" cy="67056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985760" y="2523744"/>
            <a:ext cx="548640" cy="548640"/>
          </a:xfrm>
          <a:prstGeom prst="ellipse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7985760" y="25237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20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656320" y="253593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Parse</a:t>
            </a:r>
            <a:endParaRPr lang="en-US" sz="16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656320" y="2913888"/>
            <a:ext cx="310896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parseCatalogue walks the cursor tree → [Book].</a:t>
            </a:r>
            <a:endParaRPr lang="en-US" sz="13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8229600" y="3108960"/>
            <a:ext cx="60960" cy="67056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985760" y="3889248"/>
            <a:ext cx="548640" cy="548640"/>
          </a:xfrm>
          <a:prstGeom prst="ellipse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985760" y="38892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20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8656320" y="3901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Render</a:t>
            </a:r>
            <a:endParaRPr lang="en-US" sz="16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656320" y="4279392"/>
            <a:ext cx="310896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renderCatalogue converts [Book] → Markdown String.</a:t>
            </a:r>
            <a:endParaRPr lang="en-US" sz="13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229600" y="4474464"/>
            <a:ext cx="60960" cy="67056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7985760" y="5254752"/>
            <a:ext cx="548640" cy="548640"/>
          </a:xfrm>
          <a:prstGeom prst="ellipse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7985760" y="52547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20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0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656320" y="526694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6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8656320" y="5644896"/>
            <a:ext cx="310896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writeFile saves the result to the output path.</a:t>
            </a:r>
            <a:endParaRPr lang="en-US" sz="13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670560" y="5340096"/>
            <a:ext cx="670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endParaRPr lang="en-US" sz="1733" dirty="0">
              <a:solidFill>
                <a:prstClr val="white"/>
              </a:solidFill>
              <a:latin typeface="Trebuchet MS" panose="020B0603020202020204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CBFCE"/>
              </a:gs>
              <a:gs pos="100000">
                <a:srgbClr val="1A3B6E"/>
              </a:gs>
            </a:gsLst>
            <a:lin ang="9000000" scaled="0"/>
          </a:gradFill>
          <a:ln w="12700"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1155680" cy="877824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487680" y="0"/>
            <a:ext cx="10607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2933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Extension: One .md File per Book</a:t>
            </a:r>
            <a:endParaRPr lang="en-US" sz="29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6" name="Text 4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2133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21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87680" y="1036320"/>
            <a:ext cx="6827520" cy="4693920"/>
          </a:xfrm>
          <a:prstGeom prst="rect">
            <a:avLst/>
          </a:prstGeom>
          <a:solidFill>
            <a:srgbClr val="0D1B2A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6437376" y="1085088"/>
            <a:ext cx="79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609585"/>
            <a:r>
              <a:rPr lang="en-US" sz="933" i="1" dirty="0">
                <a:solidFill>
                  <a:srgbClr val="39CDE7"/>
                </a:solidFill>
                <a:latin typeface="Trebuchet MS" panose="020B0603020202020204"/>
              </a:rPr>
              <a:t>Haskell</a:t>
            </a:r>
            <a:endParaRPr lang="en-US" sz="9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9" name="Text 7"/>
          <p:cNvSpPr/>
          <p:nvPr/>
        </p:nvSpPr>
        <p:spPr>
          <a:xfrm>
            <a:off x="658368" y="1304544"/>
            <a:ext cx="6486144" cy="430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System.Directory (createDirectoryIfMissing)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System.FilePath  ((&lt;/&gt;), (&lt;.&gt;))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Sanitise a title for use as a filename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safeFileName :: String -&gt; String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safeFileName = map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(\c -&gt; if c `elem` " /\\:*?&lt;&gt;|" then '-' else c)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Write each book to its own Markdown file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writeBookFiles :: FilePath -&gt; [Book] -&gt; IO ()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writeBookFiles dir books = do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createDirectoryIfMissing True dir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mapM_ (writeOne dir) books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writeOne :: FilePath -&gt; Book -&gt; IO ()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writeOne dir b = do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let name    = safeFileName (title b) &lt;.&gt; "md"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outPath = dir &lt;/&gt; name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writeFile outPath (renderBook b)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putStrLn $ "  Wrote: " ++ outPath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559040" y="1036320"/>
            <a:ext cx="426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867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Functions</a:t>
            </a:r>
            <a:endParaRPr lang="en-US" sz="18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559040" y="1584960"/>
            <a:ext cx="4267200" cy="12192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559040" y="1584960"/>
            <a:ext cx="73152" cy="121920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741920" y="16459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67" b="1" dirty="0">
                <a:solidFill>
                  <a:srgbClr val="39CD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createDirectoryIfMissing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741920" y="2048256"/>
            <a:ext cx="402336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Creates the output directory (and parents) if it does not exist yet.</a:t>
            </a:r>
            <a:endParaRPr lang="en-US" sz="1333" dirty="0">
              <a:solidFill>
                <a:schemeClr val="bg1"/>
              </a:solidFill>
              <a:latin typeface="Trebuchet MS" panose="020B0603020202020204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559040" y="3023616"/>
            <a:ext cx="4267200" cy="12192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60DE72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559040" y="3023616"/>
            <a:ext cx="73152" cy="1219200"/>
          </a:xfrm>
          <a:prstGeom prst="rect">
            <a:avLst/>
          </a:prstGeom>
          <a:solidFill>
            <a:srgbClr val="60DE72"/>
          </a:solidFill>
          <a:ln w="12700">
            <a:solidFill>
              <a:srgbClr val="60DE72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741920" y="308457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67" b="1" dirty="0">
                <a:solidFill>
                  <a:srgbClr val="60D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safeFileName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7741920" y="3486912"/>
            <a:ext cx="402336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Strips characters invalid in file paths across platforms.</a:t>
            </a:r>
            <a:endParaRPr lang="en-US" sz="1333" dirty="0">
              <a:solidFill>
                <a:schemeClr val="bg1"/>
              </a:solidFill>
              <a:latin typeface="Trebuchet MS" panose="020B060302020202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7559040" y="4462272"/>
            <a:ext cx="4267200" cy="12192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F49D50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559040" y="4462272"/>
            <a:ext cx="73152" cy="1219200"/>
          </a:xfrm>
          <a:prstGeom prst="rect">
            <a:avLst/>
          </a:prstGeom>
          <a:solidFill>
            <a:srgbClr val="F49D50"/>
          </a:solidFill>
          <a:ln w="12700">
            <a:solidFill>
              <a:srgbClr val="F49D50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741920" y="45232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67" b="1" dirty="0">
                <a:solidFill>
                  <a:srgbClr val="F49D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mapM_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7741920" y="4925568"/>
            <a:ext cx="402336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Idiomatic way to perform an IO action for each item in a list.</a:t>
            </a:r>
            <a:endParaRPr lang="en-US" sz="1333" dirty="0">
              <a:solidFill>
                <a:schemeClr val="bg1"/>
              </a:solidFill>
              <a:latin typeface="Trebuchet MS" panose="020B0603020202020204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87680" y="5913120"/>
            <a:ext cx="11277600" cy="670560"/>
          </a:xfrm>
          <a:prstGeom prst="rect">
            <a:avLst/>
          </a:prstGeom>
          <a:solidFill>
            <a:srgbClr val="0D1B2A"/>
          </a:solidFill>
          <a:ln w="12700">
            <a:solidFill>
              <a:srgbClr val="60DE72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70560" y="5913120"/>
            <a:ext cx="109728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267" dirty="0">
                <a:solidFill>
                  <a:srgbClr val="60D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 output/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60D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Haskell-Programming.md   Real-World-Haskell.md   Learn-You-a-Haskell.md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CBFCE"/>
              </a:gs>
              <a:gs pos="100000">
                <a:srgbClr val="1A3B6E"/>
              </a:gs>
            </a:gsLst>
            <a:lin ang="9000000" scaled="0"/>
          </a:gradFill>
          <a:ln w="12700"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2133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</a:t>
            </a:r>
            <a:endParaRPr lang="en-US" sz="21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609600" y="219456"/>
            <a:ext cx="103632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Summary</a:t>
            </a:r>
            <a:endParaRPr lang="en-US" sz="40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09600" y="926592"/>
            <a:ext cx="10972800" cy="48768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87680" y="1219200"/>
            <a:ext cx="5486400" cy="1463040"/>
          </a:xfrm>
          <a:prstGeom prst="rect">
            <a:avLst/>
          </a:prstGeom>
          <a:solidFill>
            <a:srgbClr val="1A1A2E">
              <a:alpha val="75000"/>
            </a:srgbClr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87680" y="1219200"/>
            <a:ext cx="73152" cy="146304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9" name="Text 7"/>
          <p:cNvSpPr/>
          <p:nvPr/>
        </p:nvSpPr>
        <p:spPr>
          <a:xfrm>
            <a:off x="633984" y="1341120"/>
            <a:ext cx="67056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3733" dirty="0">
                <a:solidFill>
                  <a:srgbClr val="39CDE7"/>
                </a:solidFill>
                <a:latin typeface="Trebuchet MS" panose="020B0603020202020204"/>
              </a:rPr>
              <a:t>①</a:t>
            </a:r>
            <a:endParaRPr lang="en-US" sz="37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402080" y="1438656"/>
            <a:ext cx="438912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600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Define domain types (Book, Author) before writing any parser.</a:t>
            </a:r>
            <a:endParaRPr lang="en-US" sz="16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339840" y="1219200"/>
            <a:ext cx="5486400" cy="1463040"/>
          </a:xfrm>
          <a:prstGeom prst="rect">
            <a:avLst/>
          </a:prstGeom>
          <a:solidFill>
            <a:srgbClr val="1A1A2E">
              <a:alpha val="75000"/>
            </a:srgbClr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339840" y="1219200"/>
            <a:ext cx="73152" cy="146304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486144" y="1341120"/>
            <a:ext cx="67056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3733" dirty="0">
                <a:solidFill>
                  <a:srgbClr val="39CDE7"/>
                </a:solidFill>
                <a:latin typeface="Trebuchet MS" panose="020B0603020202020204"/>
              </a:rPr>
              <a:t>②</a:t>
            </a:r>
            <a:endParaRPr lang="en-US" sz="37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254240" y="1438656"/>
            <a:ext cx="438912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600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xml-conduit Cursors give composable, type-safe XML traversal.</a:t>
            </a:r>
            <a:endParaRPr lang="en-US" sz="16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87680" y="2987040"/>
            <a:ext cx="5486400" cy="1463040"/>
          </a:xfrm>
          <a:prstGeom prst="rect">
            <a:avLst/>
          </a:prstGeom>
          <a:solidFill>
            <a:srgbClr val="1A1A2E">
              <a:alpha val="75000"/>
            </a:srgbClr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87680" y="2987040"/>
            <a:ext cx="73152" cy="146304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33984" y="3108960"/>
            <a:ext cx="67056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3733" dirty="0">
                <a:solidFill>
                  <a:srgbClr val="39CDE7"/>
                </a:solidFill>
                <a:latin typeface="Trebuchet MS" panose="020B0603020202020204"/>
              </a:rPr>
              <a:t>③</a:t>
            </a:r>
            <a:endParaRPr lang="en-US" sz="37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402080" y="3206496"/>
            <a:ext cx="438912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600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Separate parsing from rendering — pure functions, easy to test.</a:t>
            </a:r>
            <a:endParaRPr lang="en-US" sz="16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339840" y="2987040"/>
            <a:ext cx="5486400" cy="1463040"/>
          </a:xfrm>
          <a:prstGeom prst="rect">
            <a:avLst/>
          </a:prstGeom>
          <a:solidFill>
            <a:srgbClr val="1A1A2E">
              <a:alpha val="75000"/>
            </a:srgbClr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339840" y="2987040"/>
            <a:ext cx="73152" cy="146304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486144" y="3108960"/>
            <a:ext cx="67056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3733" dirty="0">
                <a:solidFill>
                  <a:srgbClr val="39CDE7"/>
                </a:solidFill>
                <a:latin typeface="Trebuchet MS" panose="020B0603020202020204"/>
              </a:rPr>
              <a:t>④</a:t>
            </a:r>
            <a:endParaRPr lang="en-US" sz="37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7254240" y="3206496"/>
            <a:ext cx="438912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600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Maybe for optional fields; handle missing data at the type level.</a:t>
            </a:r>
            <a:endParaRPr lang="en-US" sz="16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87680" y="4754880"/>
            <a:ext cx="5486400" cy="1463040"/>
          </a:xfrm>
          <a:prstGeom prst="rect">
            <a:avLst/>
          </a:prstGeom>
          <a:solidFill>
            <a:srgbClr val="1A1A2E">
              <a:alpha val="75000"/>
            </a:srgbClr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87680" y="4754880"/>
            <a:ext cx="73152" cy="146304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33984" y="4876800"/>
            <a:ext cx="67056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3733" dirty="0">
                <a:solidFill>
                  <a:srgbClr val="39CDE7"/>
                </a:solidFill>
                <a:latin typeface="Trebuchet MS" panose="020B0603020202020204"/>
              </a:rPr>
              <a:t>⑤</a:t>
            </a:r>
            <a:endParaRPr lang="en-US" sz="37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1402080" y="4974336"/>
            <a:ext cx="438912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600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mapM_ / mapM make it trivial to process every book in the catalogue.</a:t>
            </a:r>
            <a:endParaRPr lang="en-US" sz="16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339840" y="4754880"/>
            <a:ext cx="5486400" cy="1463040"/>
          </a:xfrm>
          <a:prstGeom prst="rect">
            <a:avLst/>
          </a:prstGeom>
          <a:solidFill>
            <a:srgbClr val="1A1A2E">
              <a:alpha val="75000"/>
            </a:srgbClr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339840" y="4754880"/>
            <a:ext cx="73152" cy="146304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486144" y="4876800"/>
            <a:ext cx="67056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3733" dirty="0">
                <a:solidFill>
                  <a:srgbClr val="39CDE7"/>
                </a:solidFill>
                <a:latin typeface="Trebuchet MS" panose="020B0603020202020204"/>
              </a:rPr>
              <a:t>⑥</a:t>
            </a:r>
            <a:endParaRPr lang="en-US" sz="37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7254240" y="4974336"/>
            <a:ext cx="438912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600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writeFile / createDirectoryIfMissing handle all file-system output.</a:t>
            </a:r>
            <a:endParaRPr lang="en-US" sz="1600" dirty="0">
              <a:solidFill>
                <a:prstClr val="white"/>
              </a:solidFill>
              <a:latin typeface="Trebuchet MS" panose="020B060302020202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1F8094"/>
      </a:dk2>
      <a:lt2>
        <a:srgbClr val="E7E6E6"/>
      </a:lt2>
      <a:accent1>
        <a:srgbClr val="39CDE7"/>
      </a:accent1>
      <a:accent2>
        <a:srgbClr val="60DE72"/>
      </a:accent2>
      <a:accent3>
        <a:srgbClr val="DDCC64"/>
      </a:accent3>
      <a:accent4>
        <a:srgbClr val="F49D50"/>
      </a:accent4>
      <a:accent5>
        <a:srgbClr val="E44951"/>
      </a:accent5>
      <a:accent6>
        <a:srgbClr val="D666F9"/>
      </a:accent6>
      <a:hlink>
        <a:srgbClr val="4BF7ED"/>
      </a:hlink>
      <a:folHlink>
        <a:srgbClr val="95E9F4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7DC10E3-4FF5-456B-A359-A0F378C1E5F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</TotalTime>
  <Words>2157</Words>
  <Application>Microsoft Macintosh PowerPoint</Application>
  <PresentationFormat>Widescreen</PresentationFormat>
  <Paragraphs>345</Paragraphs>
  <Slides>17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Aptos</vt:lpstr>
      <vt:lpstr>Arial</vt:lpstr>
      <vt:lpstr>Consolas</vt:lpstr>
      <vt:lpstr>Courier New</vt:lpstr>
      <vt:lpstr>Trebuchet MS</vt:lpstr>
      <vt:lpstr>Berlin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Axis and cursor -&gt;  Axis</vt:lpstr>
      <vt:lpstr>Axis and cursor -&gt;  Cursor</vt:lpstr>
      <vt:lpstr>Cursor</vt:lpstr>
      <vt:lpstr>Difference</vt:lpstr>
      <vt:lpstr>PowerPoint Presentation</vt:lpstr>
      <vt:lpstr>PowerPoint Presentation</vt:lpstr>
      <vt:lpstr>Note on NonEmpty</vt:lpstr>
      <vt:lpstr>Why does this help? 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Mairead Meagher</dc:creator>
  <cp:lastModifiedBy>Mairead Meagher</cp:lastModifiedBy>
  <cp:revision>8</cp:revision>
  <dcterms:created xsi:type="dcterms:W3CDTF">2026-03-27T10:48:50Z</dcterms:created>
  <dcterms:modified xsi:type="dcterms:W3CDTF">2026-04-03T18:54:12Z</dcterms:modified>
</cp:coreProperties>
</file>