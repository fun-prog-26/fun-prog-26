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17"/>
  </p:notesMasterIdLst>
  <p:sldIdLst>
    <p:sldId id="257" r:id="rId2"/>
    <p:sldId id="258" r:id="rId3"/>
    <p:sldId id="268" r:id="rId4"/>
    <p:sldId id="259" r:id="rId5"/>
    <p:sldId id="260" r:id="rId6"/>
    <p:sldId id="261" r:id="rId7"/>
    <p:sldId id="269" r:id="rId8"/>
    <p:sldId id="270" r:id="rId9"/>
    <p:sldId id="271" r:id="rId10"/>
    <p:sldId id="272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56"/>
    <p:restoredTop sz="94658"/>
  </p:normalViewPr>
  <p:slideViewPr>
    <p:cSldViewPr snapToGrid="0">
      <p:cViewPr varScale="1">
        <p:scale>
          <a:sx n="116" d="100"/>
          <a:sy n="116" d="100"/>
        </p:scale>
        <p:origin x="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781662-63F7-F542-9481-DDDF56122A6C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7070B-7593-B042-AD3E-1DC8EA61E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71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7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6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5" cy="1373070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41"/>
            <a:ext cx="8144135" cy="1117687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7" y="2750337"/>
            <a:ext cx="1171888" cy="1356442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148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8906A9-ADC8-F342-81A7-F9FDA948E9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022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6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3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7" y="2869897"/>
            <a:ext cx="1154151" cy="1090789"/>
          </a:xfrm>
        </p:spPr>
        <p:txBody>
          <a:bodyPr/>
          <a:lstStyle/>
          <a:p>
            <a:pPr>
              <a:defRPr/>
            </a:pPr>
            <a:fld id="{D34BF70C-D155-7D48-91BD-16746CB44B4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23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46983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2B149C-5A7C-8A40-8B3B-ABD9D8FE082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87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0" y="753231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1" y="2336875"/>
            <a:ext cx="4472327" cy="69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3" y="3030010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4" y="3030010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A415B7-371A-3840-81B1-0A9B9BCF3B3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0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FC1FA8-E849-9047-9722-D34601CB06C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87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367834-1F6B-D04F-9A28-C67EB7881EF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1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7" y="2336875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4"/>
            <a:ext cx="3790079" cy="359931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0D4E9F-BF2E-394F-AFB8-DD3D501C29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966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4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5"/>
            <a:ext cx="3876256" cy="3599315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2AC4A9-8955-664E-BB4E-51394A33929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137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8"/>
            <a:ext cx="9613859" cy="453051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9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5"/>
            <a:ext cx="9613863" cy="62297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311"/>
            <a:ext cx="1154151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96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617"/>
            <a:ext cx="1154151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628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6100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7"/>
            <a:ext cx="9613863" cy="5885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51"/>
            <a:ext cx="9613863" cy="50225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74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1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4"/>
            <a:ext cx="3049703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1" y="3022674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7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7" y="3022674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28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20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20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20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8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80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8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67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A14927-CF9F-8643-99B0-6F2BBAFF85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7072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3" y="5372404"/>
            <a:ext cx="1602997" cy="1368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3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9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5" y="5936189"/>
            <a:ext cx="2743200" cy="365125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90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1" y="5398635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DDE4DFA3-B759-4941-9F09-7CA811EFFC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958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530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29F9B-64E3-0346-90C6-4B53BA166523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2" y="5936190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7" y="753228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95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548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PROGRAMMING IN HASKELL</a:t>
            </a:r>
            <a:endParaRPr lang="en-US" sz="48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pic>
        <p:nvPicPr>
          <p:cNvPr id="6" name="Image 0" descr="/sessions/dazzling-youthful-einstein/haskel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1767840"/>
            <a:ext cx="4267200" cy="2682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4876800"/>
            <a:ext cx="104241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2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 13.2– XML to Markdown with xml-conduit</a:t>
            </a:r>
            <a:endParaRPr lang="en-US" sz="3200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878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5388864"/>
            <a:ext cx="1950720" cy="6096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books.xml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682240" y="5644896"/>
            <a:ext cx="268224" cy="731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950464" y="5388864"/>
            <a:ext cx="1950720" cy="609600"/>
          </a:xfrm>
          <a:prstGeom prst="rect">
            <a:avLst/>
          </a:prstGeom>
          <a:solidFill>
            <a:srgbClr val="1A1A2E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950464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901184" y="5644896"/>
            <a:ext cx="268224" cy="731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169408" y="5388864"/>
            <a:ext cx="1950720" cy="609600"/>
          </a:xfrm>
          <a:prstGeom prst="rect">
            <a:avLst/>
          </a:prstGeom>
          <a:solidFill>
            <a:srgbClr val="1A1A2E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69408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Types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120128" y="5644896"/>
            <a:ext cx="268224" cy="731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388352" y="5388864"/>
            <a:ext cx="1950720" cy="609600"/>
          </a:xfrm>
          <a:prstGeom prst="rect">
            <a:avLst/>
          </a:prstGeom>
          <a:solidFill>
            <a:srgbClr val="1A1A2E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88352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339072" y="5644896"/>
            <a:ext cx="268224" cy="731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607296" y="5388864"/>
            <a:ext cx="1950720" cy="6096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07296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books.md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654F9DF5-D0F6-B42D-95E6-6F2D4089D0E8}"/>
              </a:ext>
            </a:extLst>
          </p:cNvPr>
          <p:cNvSpPr/>
          <p:nvPr/>
        </p:nvSpPr>
        <p:spPr>
          <a:xfrm>
            <a:off x="901018" y="2712720"/>
            <a:ext cx="95097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 → Markdown   - Our workflow</a:t>
            </a:r>
            <a:endParaRPr lang="en-US" sz="3600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Building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3657600" cy="6096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103632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8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7680" y="1645920"/>
            <a:ext cx="3657600" cy="463296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7680" y="1828800"/>
            <a:ext cx="3657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4000" dirty="0">
                <a:solidFill>
                  <a:srgbClr val="000000"/>
                </a:solidFill>
                <a:latin typeface="Trebuchet MS" panose="020B0603020202020204"/>
              </a:rPr>
              <a:t>📄</a:t>
            </a:r>
            <a:endParaRPr lang="en-US" sz="4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2804160"/>
            <a:ext cx="316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28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books.xml catalogue with nested authors, ISBNs &amp; publish dates.</a:t>
            </a:r>
            <a:endParaRPr lang="en-US" sz="28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89120" y="1036320"/>
            <a:ext cx="3657600" cy="60960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9120" y="103632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8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Haskell Pipeline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89120" y="1645920"/>
            <a:ext cx="3657600" cy="463296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89120" y="1828800"/>
            <a:ext cx="3657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4000" dirty="0">
                <a:solidFill>
                  <a:srgbClr val="000000"/>
                </a:solidFill>
                <a:latin typeface="Trebuchet MS" panose="020B0603020202020204"/>
              </a:rPr>
              <a:t>⚙</a:t>
            </a:r>
            <a:endParaRPr lang="en-US" sz="4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32960" y="2804160"/>
            <a:ext cx="316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24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xml-conduit Cursors parse XML into typed records. Pure functions render each Book to Markdown.</a:t>
            </a:r>
            <a:endParaRPr lang="en-US" sz="2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90560" y="1036320"/>
            <a:ext cx="3657600" cy="609600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90560" y="103632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8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90560" y="1645920"/>
            <a:ext cx="3657600" cy="463296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90560" y="1828800"/>
            <a:ext cx="3657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4000" dirty="0">
                <a:solidFill>
                  <a:srgbClr val="000000"/>
                </a:solidFill>
                <a:latin typeface="Trebuchet MS" panose="020B0603020202020204"/>
              </a:rPr>
              <a:t>📝</a:t>
            </a:r>
            <a:endParaRPr lang="en-US" sz="4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34400" y="2804160"/>
            <a:ext cx="316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2400" dirty="0">
                <a:solidFill>
                  <a:srgbClr val="E7E6E6"/>
                </a:solidFill>
                <a:latin typeface="Trebuchet MS" pitchFamily="34" charset="0"/>
              </a:rPr>
              <a:t>One </a:t>
            </a:r>
            <a:r>
              <a:rPr lang="en-US" sz="2400" dirty="0" err="1">
                <a:solidFill>
                  <a:srgbClr val="E7E6E6"/>
                </a:solidFill>
                <a:latin typeface="Trebuchet MS" pitchFamily="34" charset="0"/>
              </a:rPr>
              <a:t>catalogue.md</a:t>
            </a:r>
            <a:r>
              <a:rPr lang="en-US" sz="2400" dirty="0">
                <a:solidFill>
                  <a:srgbClr val="E7E6E6"/>
                </a:solidFill>
                <a:latin typeface="Trebuchet MS" pitchFamily="34" charset="0"/>
              </a:rPr>
              <a:t> ready for rendering to pdfs etc</a:t>
            </a:r>
            <a:r>
              <a:rPr lang="en-US" sz="17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733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XML Catalogue Structure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5608320" cy="5486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1817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5266944" cy="509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0560" y="1341120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&lt;catalogue&gt;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36320" y="1865376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&lt;book isbn="0-00-000"&gt;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02080" y="2389632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&lt;title&gt;...&lt;/title&gt;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02080" y="2913888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&lt;subtitle&gt;...&lt;/subtitle&gt;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02080" y="3438144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&lt;authors&gt;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767840" y="3962400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&lt;author id="a1"&gt;...&lt;/author&gt;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02080" y="4486656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&lt;published year="2024"/&gt;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36320" y="5010912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&lt;/book&gt;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0560" y="5535168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&lt;/catalogue&gt;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20640" y="1060704"/>
            <a:ext cx="87782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XML Tree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39840" y="1036320"/>
            <a:ext cx="5364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8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Parsing Notes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39840" y="1584960"/>
            <a:ext cx="5364480" cy="109728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39840" y="1584960"/>
            <a:ext cx="73152" cy="109728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2272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22720" y="204825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Attribute on &lt;book&gt; — not a child element. Use attribute.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39840" y="2865120"/>
            <a:ext cx="5364480" cy="109728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39840" y="2865120"/>
            <a:ext cx="73152" cy="1097280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522720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subtitle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22720" y="33284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Optional child — parse with childText + fmap.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39840" y="4145280"/>
            <a:ext cx="5364480" cy="109728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39840" y="4145280"/>
            <a:ext cx="73152" cy="109728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52272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authors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522720" y="460857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Nested container: element "author" inside &lt;authors&gt;.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39840" y="5425440"/>
            <a:ext cx="5364480" cy="109728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39840" y="5425440"/>
            <a:ext cx="73152" cy="109728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522720" y="5486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522720" y="588873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Attribute on &lt;published&gt; — drill two levels then read attr.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560832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Haskell Data Model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5364480" cy="213360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97433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5023104" cy="1743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Author = Author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authorId  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authorName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deriving (Show)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036320"/>
            <a:ext cx="5364480" cy="2005584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70457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88608" y="1304544"/>
            <a:ext cx="5023104" cy="229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Book = Book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isbn     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title    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subtitle  :: Maybe String  -- optional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authors   :: [Author]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pubYear  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deriving (Show)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7680" y="3267456"/>
            <a:ext cx="5364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733" b="1" dirty="0">
                <a:solidFill>
                  <a:srgbClr val="39CD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</a:t>
            </a:r>
            <a:endParaRPr lang="en-US" sz="1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0" y="3255264"/>
            <a:ext cx="5364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733" b="1" dirty="0">
                <a:solidFill>
                  <a:srgbClr val="60D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</a:t>
            </a:r>
            <a:endParaRPr lang="en-US" sz="1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3718560"/>
            <a:ext cx="5364480" cy="99974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7680" y="3718560"/>
            <a:ext cx="73152" cy="99974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0560" y="3779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 record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0560" y="4181856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 is parsed from an XML attribute, name from element text content.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7680" y="4815840"/>
            <a:ext cx="5364480" cy="99974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7680" y="4815840"/>
            <a:ext cx="73152" cy="999744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0560" y="4876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[Author] list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0560" y="5279136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 fit for zero-or-more &lt;author&gt; children inside &lt;authors&gt;.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17920" y="3706368"/>
            <a:ext cx="5364480" cy="99974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81344" y="3718560"/>
            <a:ext cx="73152" cy="999744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0" y="3767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Maybe String for subtitle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0" y="4169664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Captures the optional &lt;subtitle&gt; element cleanly — Nothing if absent.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17920" y="4803648"/>
            <a:ext cx="5364480" cy="99974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181344" y="4767072"/>
            <a:ext cx="73152" cy="99974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0" y="48646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deriving (Show)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00800" y="5266944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Show instances for quick debugging in GHCi.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xml-conduit: Core Concepts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3596640" cy="5120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1036320"/>
            <a:ext cx="359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&amp; Element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7680" y="1548384"/>
            <a:ext cx="3596640" cy="28041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1609344"/>
            <a:ext cx="33528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Data.Map (Map)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Document contains the root Element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Element has: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Name, [Node],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Map Name Text (attributes)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600" y="4389120"/>
            <a:ext cx="3352800" cy="2438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7680" y="4389120"/>
            <a:ext cx="3596640" cy="2097024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4450080"/>
            <a:ext cx="335280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467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Text.XML is the high-level API. Elements carry attributes as a Map.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64736" y="1036320"/>
            <a:ext cx="3596640" cy="5120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64736" y="1036320"/>
            <a:ext cx="359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 API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64736" y="1548384"/>
            <a:ext cx="3596640" cy="28041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86656" y="1609344"/>
            <a:ext cx="33528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Text.XML.Cursor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fromDocument :: Document -&gt; Cursor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element / content / attribute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($/) ($//)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composable axis operators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486656" y="4389120"/>
            <a:ext cx="3352800" cy="2438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364736" y="4389120"/>
            <a:ext cx="3596640" cy="2097024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86656" y="4450080"/>
            <a:ext cx="335280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467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Cursors let you navigate the tree with composable axis functions.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41792" y="1036320"/>
            <a:ext cx="3596640" cy="5120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41792" y="1036320"/>
            <a:ext cx="359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Parsing Entry Points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241792" y="1548384"/>
            <a:ext cx="3596640" cy="28041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63712" y="1609344"/>
            <a:ext cx="33528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readFile def "books.xml"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 IO Document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parseLBS def lazyBS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 Either SomException Document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parseText def lazyText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 Either SomeException Document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363712" y="4389120"/>
            <a:ext cx="3352800" cy="2438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241792" y="4389120"/>
            <a:ext cx="3596640" cy="2097024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63712" y="4450080"/>
            <a:ext cx="335280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467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 = default ParseSettings. Use readFile in IO, parseLBS for in-memory.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C76CC-37DA-B8AF-D3B9-4E1A479AF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Axis and cursor -&gt;  Axis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1FB39-1D15-BAE6-8AB1-69DE18356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444427"/>
          </a:xfrm>
        </p:spPr>
        <p:txBody>
          <a:bodyPr/>
          <a:lstStyle/>
          <a:p>
            <a:r>
              <a:rPr lang="en-US" dirty="0"/>
              <a:t>Fundamental part of how the XML tree is traversed.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BEF610-CC7E-7BA8-EE1C-DF1DB4C2B985}"/>
              </a:ext>
            </a:extLst>
          </p:cNvPr>
          <p:cNvSpPr txBox="1"/>
          <p:nvPr/>
        </p:nvSpPr>
        <p:spPr>
          <a:xfrm>
            <a:off x="905525" y="2806088"/>
            <a:ext cx="6133474" cy="2031325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IE" dirty="0"/>
              <a:t>type Axis = </a:t>
            </a:r>
            <a:r>
              <a:rPr lang="en-IE" dirty="0" err="1"/>
              <a:t>XmlTree</a:t>
            </a:r>
            <a:r>
              <a:rPr lang="en-IE" dirty="0"/>
              <a:t> -&gt; [</a:t>
            </a:r>
            <a:r>
              <a:rPr lang="en-IE" dirty="0" err="1"/>
              <a:t>XmlTree</a:t>
            </a:r>
            <a:r>
              <a:rPr lang="en-IE" dirty="0"/>
              <a:t>]</a:t>
            </a:r>
          </a:p>
          <a:p>
            <a:endParaRPr lang="en-IE" dirty="0"/>
          </a:p>
          <a:p>
            <a:r>
              <a:rPr lang="en-IE" dirty="0"/>
              <a:t>.. Examples</a:t>
            </a:r>
          </a:p>
          <a:p>
            <a:endParaRPr lang="en-IE" dirty="0"/>
          </a:p>
          <a:p>
            <a:r>
              <a:rPr lang="en-IE" dirty="0" err="1"/>
              <a:t>getChildren</a:t>
            </a:r>
            <a:r>
              <a:rPr lang="en-IE" dirty="0"/>
              <a:t> :: Axis -- returns direct children of a node </a:t>
            </a:r>
          </a:p>
          <a:p>
            <a:r>
              <a:rPr lang="en-IE" dirty="0" err="1"/>
              <a:t>getParents</a:t>
            </a:r>
            <a:r>
              <a:rPr lang="en-IE" dirty="0"/>
              <a:t> :: Axis -- returns the parent </a:t>
            </a:r>
          </a:p>
          <a:p>
            <a:r>
              <a:rPr lang="en-IE" dirty="0" err="1"/>
              <a:t>getDescendants</a:t>
            </a:r>
            <a:r>
              <a:rPr lang="en-IE" dirty="0"/>
              <a:t> :: Axis -- returns all nodes below this one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AFBCBF-E0F5-F7F3-29C7-D621DE5B9650}"/>
              </a:ext>
            </a:extLst>
          </p:cNvPr>
          <p:cNvSpPr txBox="1"/>
          <p:nvPr/>
        </p:nvSpPr>
        <p:spPr>
          <a:xfrm>
            <a:off x="680320" y="5264835"/>
            <a:ext cx="83239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Because an axis returns a list, you can compose them with </a:t>
            </a:r>
            <a:r>
              <a:rPr lang="en-IE" dirty="0">
                <a:latin typeface="Courier New" panose="02070309020205020404" pitchFamily="49" charset="0"/>
              </a:rPr>
              <a:t>&gt;&gt;=</a:t>
            </a:r>
            <a:r>
              <a:rPr lang="en-IE" dirty="0"/>
              <a:t> or use them with </a:t>
            </a:r>
            <a:r>
              <a:rPr lang="en-IE" dirty="0" err="1">
                <a:latin typeface="Courier New" panose="02070309020205020404" pitchFamily="49" charset="0"/>
              </a:rPr>
              <a:t>mapM</a:t>
            </a:r>
            <a:r>
              <a:rPr lang="en-IE" dirty="0"/>
              <a:t>.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1CE145-1D01-DC0B-68F4-7244C533FEF2}"/>
              </a:ext>
            </a:extLst>
          </p:cNvPr>
          <p:cNvSpPr txBox="1"/>
          <p:nvPr/>
        </p:nvSpPr>
        <p:spPr>
          <a:xfrm>
            <a:off x="942999" y="6153922"/>
            <a:ext cx="60960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IE" dirty="0" err="1"/>
              <a:t>getChildren</a:t>
            </a:r>
            <a:r>
              <a:rPr lang="en-IE" dirty="0"/>
              <a:t> </a:t>
            </a:r>
            <a:r>
              <a:rPr lang="en-IE" dirty="0">
                <a:effectLst/>
              </a:rPr>
              <a:t>&gt;&gt;&gt;</a:t>
            </a:r>
            <a:r>
              <a:rPr lang="en-IE" dirty="0"/>
              <a:t> </a:t>
            </a:r>
            <a:r>
              <a:rPr lang="en-IE" dirty="0" err="1"/>
              <a:t>hasName</a:t>
            </a:r>
            <a:r>
              <a:rPr lang="en-IE" dirty="0"/>
              <a:t> </a:t>
            </a:r>
            <a:r>
              <a:rPr lang="en-IE" dirty="0">
                <a:effectLst/>
              </a:rPr>
              <a:t>"book"</a:t>
            </a:r>
            <a:r>
              <a:rPr lang="en-IE" dirty="0"/>
              <a:t> </a:t>
            </a:r>
            <a:r>
              <a:rPr lang="en-IE" dirty="0">
                <a:effectLst/>
              </a:rPr>
              <a:t>&gt;&gt;&gt;</a:t>
            </a:r>
            <a:r>
              <a:rPr lang="en-IE" dirty="0"/>
              <a:t> </a:t>
            </a:r>
            <a:r>
              <a:rPr lang="en-IE" dirty="0" err="1"/>
              <a:t>getAttrValue</a:t>
            </a:r>
            <a:r>
              <a:rPr lang="en-IE" dirty="0"/>
              <a:t> </a:t>
            </a:r>
            <a:r>
              <a:rPr lang="en-IE" dirty="0">
                <a:effectLst/>
              </a:rPr>
              <a:t>"</a:t>
            </a:r>
            <a:r>
              <a:rPr lang="en-IE" dirty="0" err="1">
                <a:solidFill>
                  <a:srgbClr val="008000"/>
                </a:solidFill>
                <a:effectLst/>
              </a:rPr>
              <a:t>isbn</a:t>
            </a:r>
            <a:r>
              <a:rPr lang="en-IE" dirty="0">
                <a:solidFill>
                  <a:srgbClr val="008000"/>
                </a:solidFill>
                <a:effectLst/>
              </a:rPr>
              <a:t>"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B234CB-84EE-638F-DA40-D5D2A1AB277D}"/>
              </a:ext>
            </a:extLst>
          </p:cNvPr>
          <p:cNvSpPr txBox="1"/>
          <p:nvPr/>
        </p:nvSpPr>
        <p:spPr>
          <a:xfrm>
            <a:off x="8770182" y="3957035"/>
            <a:ext cx="3048000" cy="1200329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IE" dirty="0"/>
              <a:t>The </a:t>
            </a:r>
            <a:r>
              <a:rPr lang="en-IE" dirty="0">
                <a:latin typeface="Courier New" panose="02070309020205020404" pitchFamily="49" charset="0"/>
              </a:rPr>
              <a:t>&gt;&gt;&gt;</a:t>
            </a:r>
            <a:r>
              <a:rPr lang="en-IE" dirty="0"/>
              <a:t> here is arrow composition — apply the first axis, then the second to each result, and so on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7CB623B-EAA0-B5BA-AF0D-585A74BEC1B8}"/>
              </a:ext>
            </a:extLst>
          </p:cNvPr>
          <p:cNvCxnSpPr>
            <a:stCxn id="10" idx="2"/>
          </p:cNvCxnSpPr>
          <p:nvPr/>
        </p:nvCxnSpPr>
        <p:spPr>
          <a:xfrm flipH="1">
            <a:off x="7038999" y="5157364"/>
            <a:ext cx="3255183" cy="1181224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746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1AA70-002F-1BED-398B-99737AAD1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CCEF2-7BB4-7426-BEA0-1899DC1A7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Axis and cursor -&gt;  Cursor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DFE6C-2A6D-0AA5-8C7C-57C69EABA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0" y="2137326"/>
            <a:ext cx="10726234" cy="697622"/>
          </a:xfrm>
        </p:spPr>
        <p:txBody>
          <a:bodyPr>
            <a:normAutofit fontScale="92500" lnSpcReduction="20000"/>
          </a:bodyPr>
          <a:lstStyle/>
          <a:p>
            <a:r>
              <a:rPr lang="en-IE" dirty="0"/>
              <a:t>Rather than a function, a cursor is a data structure that remembers where you are in the tree and how you got there — it stores both the current node and the surrounding context (parents, siblings) needed to navigate back out.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151814-094F-B928-8836-26533D0649B5}"/>
              </a:ext>
            </a:extLst>
          </p:cNvPr>
          <p:cNvSpPr txBox="1"/>
          <p:nvPr/>
        </p:nvSpPr>
        <p:spPr>
          <a:xfrm>
            <a:off x="942999" y="2834948"/>
            <a:ext cx="4862228" cy="1477328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IE" dirty="0"/>
              <a:t>data Cursor = Cursor </a:t>
            </a:r>
          </a:p>
          <a:p>
            <a:r>
              <a:rPr lang="en-IE" dirty="0"/>
              <a:t>      { current :: Node , </a:t>
            </a:r>
          </a:p>
          <a:p>
            <a:r>
              <a:rPr lang="en-IE" dirty="0"/>
              <a:t>        lefts :: [Node] -- siblings to the left , </a:t>
            </a:r>
          </a:p>
          <a:p>
            <a:r>
              <a:rPr lang="en-IE" dirty="0"/>
              <a:t>        rights :: [Node] -- siblings to the right , </a:t>
            </a:r>
          </a:p>
          <a:p>
            <a:r>
              <a:rPr lang="en-IE" dirty="0"/>
              <a:t>        parents :: [...] -- the path back up }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EA9ED-D41C-7CB8-6896-A7559EFD0AFA}"/>
              </a:ext>
            </a:extLst>
          </p:cNvPr>
          <p:cNvSpPr txBox="1"/>
          <p:nvPr/>
        </p:nvSpPr>
        <p:spPr>
          <a:xfrm>
            <a:off x="680320" y="4424028"/>
            <a:ext cx="8323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With a cursor you can move in any direction and then move back: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62C0EF-F243-321D-363C-C467BFE4CEC1}"/>
              </a:ext>
            </a:extLst>
          </p:cNvPr>
          <p:cNvSpPr txBox="1"/>
          <p:nvPr/>
        </p:nvSpPr>
        <p:spPr>
          <a:xfrm>
            <a:off x="942999" y="4978026"/>
            <a:ext cx="6096000" cy="92333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IE" dirty="0"/>
              <a:t>child 0 cursor       -- move to first child</a:t>
            </a:r>
          </a:p>
          <a:p>
            <a:r>
              <a:rPr lang="en-IE" dirty="0"/>
              <a:t>parent cursor        -- move back up</a:t>
            </a:r>
          </a:p>
          <a:p>
            <a:r>
              <a:rPr lang="en-IE" dirty="0" err="1"/>
              <a:t>nextSibling</a:t>
            </a:r>
            <a:r>
              <a:rPr lang="en-IE" dirty="0"/>
              <a:t> cursor   -- move 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50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B89DB-FCCA-DAC5-EAB3-27947348D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3171E-4FAB-0CF9-DA75-BB8CE1ECD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216952"/>
            <a:ext cx="4208202" cy="1367619"/>
          </a:xfrm>
          <a:solidFill>
            <a:schemeClr val="accent1"/>
          </a:solidFill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E" dirty="0"/>
              <a:t>&lt;book&gt; </a:t>
            </a:r>
          </a:p>
          <a:p>
            <a:pPr marL="0" indent="0">
              <a:buNone/>
            </a:pPr>
            <a:r>
              <a:rPr lang="en-IE" dirty="0"/>
              <a:t>    &lt;title&gt;Haskell Programming&lt;/title&gt; </a:t>
            </a:r>
          </a:p>
          <a:p>
            <a:pPr marL="0" indent="0">
              <a:buNone/>
            </a:pPr>
            <a:r>
              <a:rPr lang="en-IE" dirty="0"/>
              <a:t>    &lt;author&gt;Someone&lt;/author&gt; </a:t>
            </a:r>
          </a:p>
          <a:p>
            <a:pPr marL="0" indent="0">
              <a:buNone/>
            </a:pPr>
            <a:r>
              <a:rPr lang="en-IE" dirty="0"/>
              <a:t>    &lt;price&gt;40&lt;/price&gt; </a:t>
            </a:r>
          </a:p>
          <a:p>
            <a:pPr marL="0" indent="0">
              <a:buNone/>
            </a:pPr>
            <a:r>
              <a:rPr lang="en-IE" dirty="0"/>
              <a:t>&lt;/book&gt;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93279E-6278-19F4-8A1A-3564F963F636}"/>
              </a:ext>
            </a:extLst>
          </p:cNvPr>
          <p:cNvSpPr txBox="1"/>
          <p:nvPr/>
        </p:nvSpPr>
        <p:spPr>
          <a:xfrm>
            <a:off x="680321" y="4423670"/>
            <a:ext cx="6666139" cy="1200329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IE" dirty="0"/>
              <a:t>child </a:t>
            </a:r>
            <a:r>
              <a:rPr lang="en-IE" dirty="0">
                <a:effectLst/>
              </a:rPr>
              <a:t>0</a:t>
            </a:r>
            <a:r>
              <a:rPr lang="en-IE" dirty="0"/>
              <a:t> cursor </a:t>
            </a:r>
            <a:r>
              <a:rPr lang="en-IE" dirty="0">
                <a:effectLst/>
              </a:rPr>
              <a:t>-- moves to &lt;title&gt;</a:t>
            </a:r>
            <a:r>
              <a:rPr lang="en-IE" dirty="0"/>
              <a:t> </a:t>
            </a:r>
          </a:p>
          <a:p>
            <a:r>
              <a:rPr lang="en-IE" dirty="0"/>
              <a:t>child </a:t>
            </a:r>
            <a:r>
              <a:rPr lang="en-IE" dirty="0">
                <a:effectLst/>
              </a:rPr>
              <a:t>1</a:t>
            </a:r>
            <a:r>
              <a:rPr lang="en-IE" dirty="0"/>
              <a:t> cursor </a:t>
            </a:r>
            <a:r>
              <a:rPr lang="en-IE" dirty="0">
                <a:effectLst/>
              </a:rPr>
              <a:t>-- moves to &lt;author&gt;</a:t>
            </a:r>
            <a:r>
              <a:rPr lang="en-IE" dirty="0"/>
              <a:t> </a:t>
            </a:r>
          </a:p>
          <a:p>
            <a:r>
              <a:rPr lang="en-IE" dirty="0"/>
              <a:t>child </a:t>
            </a:r>
            <a:r>
              <a:rPr lang="en-IE" dirty="0">
                <a:effectLst/>
              </a:rPr>
              <a:t>2</a:t>
            </a:r>
            <a:r>
              <a:rPr lang="en-IE" dirty="0"/>
              <a:t> cursor </a:t>
            </a:r>
            <a:r>
              <a:rPr lang="en-IE" dirty="0">
                <a:effectLst/>
              </a:rPr>
              <a:t>-- moves to &lt;price&gt;</a:t>
            </a:r>
            <a:r>
              <a:rPr lang="en-IE" dirty="0"/>
              <a:t> </a:t>
            </a:r>
          </a:p>
          <a:p>
            <a:r>
              <a:rPr lang="en-IE" dirty="0"/>
              <a:t>child </a:t>
            </a:r>
            <a:r>
              <a:rPr lang="en-IE" dirty="0">
                <a:effectLst/>
              </a:rPr>
              <a:t>3</a:t>
            </a:r>
            <a:r>
              <a:rPr lang="en-IE" dirty="0"/>
              <a:t> cursor </a:t>
            </a:r>
            <a:r>
              <a:rPr lang="en-IE" dirty="0">
                <a:effectLst/>
              </a:rPr>
              <a:t>-- returns Nothing (no fourth child)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C4A533-1A34-AE95-FF5B-4197BC5465DE}"/>
              </a:ext>
            </a:extLst>
          </p:cNvPr>
          <p:cNvSpPr txBox="1"/>
          <p:nvPr/>
        </p:nvSpPr>
        <p:spPr>
          <a:xfrm>
            <a:off x="680321" y="3782691"/>
            <a:ext cx="489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if your cursor is sitting on &lt;book&gt;, then: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266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11157-5F79-A67A-FE24-441CA9E61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8CB23C-F91F-E43D-FF7A-1B8CAFE096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274134"/>
            <a:ext cx="989251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axis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you ask "what nodes are reachable from here in this direction?”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get a list back. It is stateless and functional.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cursor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it is a value that represents where you are right now in the document,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you move it around. It is more like a pointer or iterator, but immutable and safe because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full context is encoded in the data 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practice, axes suit bulk queries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("give me all &lt;price&gt; nodes in this document")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while cursors suit targeted navigation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("step into the third child, read its attribute, step back out").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Libraries like xml-conduit expose both styles and you often combine them.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5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Parsing the Catalogue with xml-conduit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6827520" cy="5754624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3737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6486144" cy="536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          (readFile, def, Document)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Text.XML.Cursor   (fromDocument, Cursor, ($/)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, element, content, attribute)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Data.Text         (Text)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qualified Data.Text as 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Helper: text of first matching child element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childText :: Name -&gt; Cursor -&gt; Maybe Text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childText n cur =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listToMaybe $ cur $/ element n &amp;/ content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Parse one &lt;author&gt; cursor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parseAuthor :: Cursor -&gt; Author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parseAuthor cur = Author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authorId   = T.unpack . head . attribute "id" $ cur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authorName = T.unpack . T.concat $ cur $/ content }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Parse one &lt;book&gt; cursor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parseBook :: Cursor -&gt; Book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parseBook cur = Book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isbn     = T.unpack . head $ attribute "isbn" cur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title    = maybe "" T.unpack (childText "title" cur)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subtitle = fmap T.unpack   (childText "subtitle" cur)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authors  = map parseAuthor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(cur $/ element "authors" $/ element "author")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pubYear  = T.unpack . head $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cur $/ element "published" &gt;=&gt; attribute "year" }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Entry point: Document -&gt; [Book]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parseCatalogue :: Document -&gt; [Book]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parseCatalogue doc = map parseBook $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fromDocument doc $/ element "catalogue" &amp;/ element "book"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59040" y="1036320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8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Operators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559040" y="1584960"/>
            <a:ext cx="4267200" cy="112166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559040" y="1584960"/>
            <a:ext cx="73152" cy="11216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4192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($/) axis op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41920" y="2048256"/>
            <a:ext cx="402336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Descend into direct children matching the predicate. Composes naturally.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559040" y="2901696"/>
            <a:ext cx="4267200" cy="112166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559040" y="2901696"/>
            <a:ext cx="73152" cy="1121664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41920" y="29626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 "name"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41920" y="3364992"/>
            <a:ext cx="402336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Selects child elements by local name — the core traversal primitive.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59040" y="4218432"/>
            <a:ext cx="4267200" cy="112166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559040" y="4218432"/>
            <a:ext cx="73152" cy="1121664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41920" y="4279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attribute "n"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41920" y="4681728"/>
            <a:ext cx="402336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Reads a named attribute from the current element cursor.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559040" y="5535168"/>
            <a:ext cx="4267200" cy="112166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559040" y="5535168"/>
            <a:ext cx="73152" cy="11216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41920" y="5596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(&gt;=&gt;)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741920" y="5998464"/>
            <a:ext cx="402336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composition — chains steps: find child, then read attr.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Rendering Books to Markdown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5669280" cy="560832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7913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5327904" cy="521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Render a single Author inline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renderAuthor :: Author -&gt; String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renderAuthor a =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"- **[" ++ authorId a ++ "]** 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++ authorName a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Render one Book as a Markdown section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renderBook :: Book -&gt; String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renderBook b = unlines $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"## " ++ title b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 Field | Value |"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"|-------|-------|"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 ISBN  | `" ++ isbn b ++ "` |"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 Year  | " ++ pubYear b ++ " |"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 ++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maybe []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(\s -&gt; ["| Sub | " ++ s ++ " |"])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(subtitle b) ++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"", "### Authors" ] ++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 renderAuthor (authors b)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61760" y="1036320"/>
            <a:ext cx="5181600" cy="34137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76553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32448" y="1304544"/>
            <a:ext cx="4840224" cy="3023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Build catalogue.md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renderCatalogue :: [Book] -&gt; String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renderCatalogue books = unlines $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"# Book Catalogue"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show (length books)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++ " book(s)."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 ++ map renderBook books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Write to a file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writeCatalogue :: FilePath -&gt; [Book] -&gt; IO ()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writeCatalogue path books =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writeFile path (renderCatalogue books)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61760" y="4385901"/>
            <a:ext cx="5181600" cy="1167555"/>
          </a:xfrm>
          <a:prstGeom prst="rect">
            <a:avLst/>
          </a:prstGeom>
          <a:solidFill>
            <a:srgbClr val="F0FFFE">
              <a:alpha val="95000"/>
            </a:srgbClr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61760" y="4572000"/>
            <a:ext cx="5181600" cy="3048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r" defTabSz="609585"/>
            <a:r>
              <a:rPr lang="en-US" sz="1067" i="1" dirty="0">
                <a:solidFill>
                  <a:srgbClr val="60DE72"/>
                </a:solidFill>
                <a:latin typeface="Trebuchet MS" panose="020B0603020202020204"/>
              </a:rPr>
              <a:t>Sample Output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52173" y="4415833"/>
            <a:ext cx="4815840" cy="1224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Haskell Programming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ISBN | `978-1593272838` |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Year | 2010 |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Authors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**[a1]** Bryan O'Sullivan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D43CF1-3268-AB4D-1CE9-FB496A2562A7}"/>
              </a:ext>
            </a:extLst>
          </p:cNvPr>
          <p:cNvSpPr txBox="1"/>
          <p:nvPr/>
        </p:nvSpPr>
        <p:spPr>
          <a:xfrm>
            <a:off x="6632448" y="5732980"/>
            <a:ext cx="4925568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maybe function- applies the supplied default value ([] in this case) if Nothing if returned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8B34A36-66AD-4B6C-C94C-DF1B5B1E2F6B}"/>
              </a:ext>
            </a:extLst>
          </p:cNvPr>
          <p:cNvCxnSpPr>
            <a:stCxn id="16" idx="1"/>
          </p:cNvCxnSpPr>
          <p:nvPr/>
        </p:nvCxnSpPr>
        <p:spPr>
          <a:xfrm flipH="1" flipV="1">
            <a:off x="1191802" y="4415833"/>
            <a:ext cx="5440646" cy="1640313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Wiring It All Together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7071360" cy="3243072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8121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6729984" cy="375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Main where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          (readFile, def)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Text.XML.Cursor   (fromDocument)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Prelude hiding    (readFile)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System.Environment (getArgs)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:: IO ()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= do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doc   &lt;- </a:t>
            </a:r>
            <a:r>
              <a:rPr lang="en-US" sz="1267" dirty="0" err="1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Text.XML.readFile</a:t>
            </a:r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def “</a:t>
            </a:r>
            <a:r>
              <a:rPr lang="en-US" sz="1267" dirty="0" err="1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books.xml</a:t>
            </a:r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”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let books = parseCatalogue doc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putStrLn $ "Parsed " ++ show (length books) ++ " book(s)."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267" dirty="0" err="1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writeCatalogue</a:t>
            </a:r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books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putStrLn $ "Written to " ++ mdPath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85760" y="1158240"/>
            <a:ext cx="548640" cy="54864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85760" y="1158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56320" y="1170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XML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56320" y="1548384"/>
            <a:ext cx="3108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readFile parses the file into a Document, throwing on malformed XML.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0" y="1743456"/>
            <a:ext cx="60960" cy="67056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85760" y="2523744"/>
            <a:ext cx="548640" cy="54864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85760" y="2523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56320" y="25359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56320" y="2913888"/>
            <a:ext cx="3108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parseCatalogue walks the cursor tree → [Book].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29600" y="3108960"/>
            <a:ext cx="60960" cy="67056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85760" y="3889248"/>
            <a:ext cx="548640" cy="54864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85760" y="3889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56320" y="3901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656320" y="4279392"/>
            <a:ext cx="3108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renderCatalogue converts [Book] → Markdown String.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229600" y="4474464"/>
            <a:ext cx="60960" cy="67056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985760" y="5254752"/>
            <a:ext cx="548640" cy="54864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985760" y="525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656320" y="52669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56320" y="5644896"/>
            <a:ext cx="3108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writeFile saves the result to the output path.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70560" y="5340096"/>
            <a:ext cx="670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endParaRPr lang="en-US" sz="1733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Extension: One .md File per Book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6827520" cy="469392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3737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6486144" cy="430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System.Directory (createDirectoryIfMissing)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System.FilePath  ((&lt;/&gt;), (&lt;.&gt;))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Sanitise a title for use as a filename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safeFileName :: String -&gt; String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safeFileName = map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(\c -&gt; if c `elem` " /\\:*?&lt;&gt;|" then '-' else c)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Write each book to its own Markdown file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writeBookFiles :: FilePath -&gt; [Book] -&gt; IO ()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writeBookFiles dir books = do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createDirectoryIfMissing True dir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mapM_ (writeOne dir) books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writeOne :: FilePath -&gt; Book -&gt; IO ()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writeOne dir b = do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name    = safeFileName (title b) &lt;.&gt; "md"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outPath = dir &lt;/&gt; name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writeFile outPath (renderBook b)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putStrLn $ "  Wrote: " ++ outPath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59040" y="1036320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8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Functions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559040" y="1584960"/>
            <a:ext cx="4267200" cy="12192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559040" y="1584960"/>
            <a:ext cx="73152" cy="12192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4192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createDirectoryIfMissing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41920" y="2048256"/>
            <a:ext cx="40233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Creates the output directory (and parents) if it does not exist yet.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559040" y="3023616"/>
            <a:ext cx="4267200" cy="12192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559040" y="3023616"/>
            <a:ext cx="73152" cy="121920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41920" y="30845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safeFileName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41920" y="3486912"/>
            <a:ext cx="40233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Strips characters invalid in file paths across platforms.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59040" y="4462272"/>
            <a:ext cx="4267200" cy="12192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559040" y="4462272"/>
            <a:ext cx="73152" cy="1219200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41920" y="4523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mapM_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41920" y="4925568"/>
            <a:ext cx="40233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Idiomatic way to perform an IO action for each item in a list.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7680" y="5913120"/>
            <a:ext cx="11277600" cy="670560"/>
          </a:xfrm>
          <a:prstGeom prst="rect">
            <a:avLst/>
          </a:prstGeom>
          <a:solidFill>
            <a:srgbClr val="0D1B2A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70560" y="591312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267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output/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Haskell-Programming.md   Real-World-Haskell.md   Learn-You-a-Haskell.md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219456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4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26592"/>
            <a:ext cx="10972800" cy="4876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21920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121920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3984" y="134112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①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02080" y="143865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domain types (Book, Author) before writing any parser.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39840" y="121920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39840" y="121920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86144" y="134112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②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254240" y="143865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xml-conduit Cursors give composable, type-safe XML traversal.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98704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7680" y="298704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3984" y="310896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③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02080" y="320649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Separate parsing from rendering — pure functions, easy to test.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39840" y="298704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39840" y="298704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86144" y="310896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④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254240" y="320649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Maybe for optional fields; handle missing data at the type level.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7680" y="475488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7680" y="475488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3984" y="487680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⑤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402080" y="497433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mapM_ / mapM make it trivial to process every book in the catalogue.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39840" y="475488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339840" y="475488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86144" y="487680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⑥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254240" y="497433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writeFile / createDirectoryIfMissing handle all file-system output.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1914</Words>
  <Application>Microsoft Macintosh PowerPoint</Application>
  <PresentationFormat>Widescreen</PresentationFormat>
  <Paragraphs>322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Consolas</vt:lpstr>
      <vt:lpstr>Courier New</vt:lpstr>
      <vt:lpstr>Trebuchet MS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Axis and cursor -&gt;  Axis</vt:lpstr>
      <vt:lpstr>Axis and cursor -&gt;  Cursor</vt:lpstr>
      <vt:lpstr>Cursor</vt:lpstr>
      <vt:lpstr>Difference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Mairead Meagher</dc:creator>
  <cp:lastModifiedBy>Mairead Meagher</cp:lastModifiedBy>
  <cp:revision>7</cp:revision>
  <dcterms:created xsi:type="dcterms:W3CDTF">2026-03-27T10:48:50Z</dcterms:created>
  <dcterms:modified xsi:type="dcterms:W3CDTF">2026-04-02T01:56:26Z</dcterms:modified>
</cp:coreProperties>
</file>