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1" r:id="rId2"/>
  </p:sldMasterIdLst>
  <p:notesMasterIdLst>
    <p:notesMasterId r:id="rId19"/>
  </p:notesMasterIdLst>
  <p:sldIdLst>
    <p:sldId id="256" r:id="rId3"/>
    <p:sldId id="257" r:id="rId4"/>
    <p:sldId id="258" r:id="rId5"/>
    <p:sldId id="268" r:id="rId6"/>
    <p:sldId id="259" r:id="rId7"/>
    <p:sldId id="260" r:id="rId8"/>
    <p:sldId id="261" r:id="rId9"/>
    <p:sldId id="269" r:id="rId10"/>
    <p:sldId id="270" r:id="rId11"/>
    <p:sldId id="271" r:id="rId12"/>
    <p:sldId id="272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6"/>
    <p:restoredTop sz="94643"/>
  </p:normalViewPr>
  <p:slideViewPr>
    <p:cSldViewPr snapToGrid="0">
      <p:cViewPr varScale="1">
        <p:scale>
          <a:sx n="145" d="100"/>
          <a:sy n="145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81662-63F7-F542-9481-DDDF56122A6C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7070B-7593-B042-AD3E-1DC8EA61E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0D29-8C74-0803-B8AB-E6730C460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EBD7A-C4A3-151A-A997-57EA137A5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6B87F-8BCB-B3CE-2D2C-28EE66DF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A022B-4807-0F74-CC11-CDA85D9C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EB835-9031-6533-EB64-30700B6F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9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8012-E194-AD48-66D8-2A4F38CD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0BA54-3C0D-48E7-301F-12D3A9A34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126FA-D6F7-1AFA-ABE4-1D2EEC14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80B81-A1A1-69E1-DD5C-0AE8914A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EDDC7-89E4-B98B-2D3F-6C238D7B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0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3B44-57D7-1D24-B301-A9E1F5D4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22057-C313-CA2D-B436-1BAA9C902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A29E-4343-4AFE-EBBB-E2F50652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EB633-F0D9-8EDA-29E0-FBECFE32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90F33-2F4C-7762-7D38-604ED6AF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1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3C4A-6514-B072-FCA2-D11AED58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CD8A-304A-259B-E254-A4B4575D2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FF222-7CC9-9E58-26CC-ED3ABFBE1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5ADB0-CF09-29AE-9A38-ED5BB90D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558DC-6F96-3842-99FD-EC6EB46D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244E0-0A4F-FEAA-8ECD-408E2153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A3BC-C7B8-E075-C717-602C0296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29AD8-54C3-66FB-D837-BB79C6B88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67A89-4853-CDCC-6318-65939EF83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104DA-4943-76C6-94A2-A07AD8EE2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C1609-8ED2-08B2-C15C-AFF96C45C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A38D5-E1E4-E84F-E0F3-C0519AEA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3AE99-12C0-54F8-EA95-8A1CE9CA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A2EF3-FF76-B75A-D567-EB582985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5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9545-1C65-E120-481A-FC6F7809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E45ED-4D4D-080F-BEB3-7AFFA728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FF15D-DA4C-2B49-EF16-BF6DF47F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1F475-AF45-EE3A-E55C-5B274D70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9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33D4D-D03D-F69C-4359-CE0BD387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081B5-ACF3-A1A7-85EA-95390991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10E87-61D3-1F58-14B5-863DD3AC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40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EA5B-8B64-4714-711D-DB9DA98D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7A471-C616-7235-BC1B-0CBC723F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8C688-898D-62C8-0D32-B7CE365D2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5D94F-FC96-AAEE-1787-2089D2BC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42380-79F2-968B-54DD-E1BBA824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0D615-9DEA-A8E6-1AD8-ADA05685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5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5420-6E83-36C1-D969-ED627693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C4246-584D-8ADE-0501-F366EB2BD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7366F-6775-4652-D85F-71561E1A2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24753-6FFB-67E7-EC59-823025B11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D8FDF-59DD-78CF-5A2A-CB966BEA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ACD20-4BFA-E7F1-2876-003072BE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6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B7F1-F676-4570-C695-3F5CA9A3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1DA33-8815-8CB8-D72D-26DC43FC4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2D10E-7FA3-917D-409C-E3586FC2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DB99-4C18-7E6D-8134-50F70E13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563C2-5D7A-97C0-998B-0352DCFFB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64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F583D-7ADF-EAD6-1E60-7FD83F7CD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069C0-4C81-099B-D5C7-627409CD4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B19DE-8BCC-D77D-FF91-0C39787E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AEB93-8C4D-AD32-35FB-0CA4EFBF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2298E-616D-63CD-2E41-3F710BA4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48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22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23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87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A415B7-371A-3840-81B1-0A9B9BCF3B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0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87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15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66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373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96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628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6100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74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285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67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072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958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30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48298-5C55-AD0E-03DA-9089513D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05394-E96B-3246-CBC6-52A20E8F9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D80A9-DD5C-C3C5-55E4-D3EF74322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BD976-C98A-296B-9292-E414BB68D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C513E-2EA6-CF02-B591-FD68DBE70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8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29F9B-64E3-0346-90C6-4B53BA166523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043CD-3C46-B846-B722-CCE25BB2D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5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3B0A-F29F-C9A5-A879-A2E5E280A4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8188F-3B4D-8CDA-097B-0754436CA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5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IN HASKELL</a:t>
            </a:r>
            <a:endParaRPr lang="en-US" sz="4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pic>
        <p:nvPicPr>
          <p:cNvPr id="6" name="Image 0" descr="/sessions/dazzling-youthful-einstein/haskel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767840"/>
            <a:ext cx="4267200" cy="2682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76800"/>
            <a:ext cx="10424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2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13.2– XML to Markdown with xml-conduit</a:t>
            </a:r>
            <a:endParaRPr lang="en-US" sz="32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78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books.xml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82240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50464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01184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9408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20128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88352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39072" y="5644896"/>
            <a:ext cx="268224" cy="73152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7296" y="5388864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books.md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54F9DF5-D0F6-B42D-95E6-6F2D4089D0E8}"/>
              </a:ext>
            </a:extLst>
          </p:cNvPr>
          <p:cNvSpPr/>
          <p:nvPr/>
        </p:nvSpPr>
        <p:spPr>
          <a:xfrm>
            <a:off x="901018" y="2712720"/>
            <a:ext cx="950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 → Markdown   - Our workflow</a:t>
            </a:r>
            <a:endParaRPr lang="en-US" sz="36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📄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8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books.xml catalogue with nested authors, ISBNs &amp; publish dates.</a:t>
            </a:r>
            <a:endParaRPr lang="en-US" sz="28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Pipeline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⚙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296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parse XML into typed records. Pure functions render each Book to Markdown.</a:t>
            </a:r>
            <a:endParaRPr lang="en-US" sz="2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90560" y="103632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8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90560" y="1645920"/>
            <a:ext cx="3657600" cy="463296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90560" y="1828800"/>
            <a:ext cx="3657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4000" dirty="0">
                <a:solidFill>
                  <a:srgbClr val="000000"/>
                </a:solidFill>
                <a:latin typeface="Trebuchet MS" panose="020B0603020202020204"/>
              </a:rPr>
              <a:t>📝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34400" y="280416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One </a:t>
            </a:r>
            <a:r>
              <a:rPr lang="en-US" sz="2400" dirty="0" err="1">
                <a:solidFill>
                  <a:srgbClr val="E7E6E6"/>
                </a:solidFill>
                <a:latin typeface="Trebuchet MS" pitchFamily="34" charset="0"/>
              </a:rPr>
              <a:t>catalogue.md</a:t>
            </a:r>
            <a:r>
              <a:rPr lang="en-US" sz="2400" dirty="0">
                <a:solidFill>
                  <a:srgbClr val="E7E6E6"/>
                </a:solidFill>
                <a:latin typeface="Trebuchet MS" pitchFamily="34" charset="0"/>
              </a:rPr>
              <a:t> ready for rendering to pdfs etc</a:t>
            </a:r>
            <a:r>
              <a:rPr lang="en-US" sz="17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XML Catalogue Structure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08320" cy="54864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81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266944" cy="509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0560" y="1341120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&lt;catalogue&gt;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36320" y="1865376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&lt;book isbn="0-00-000"&gt;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02080" y="2389632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&lt;title&gt;...&lt;/title&gt;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02080" y="2913888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&lt;subtitle&gt;...&lt;/subtitle&gt;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02080" y="3438144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&lt;authors&gt;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67840" y="3962400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&lt;author id="a1"&gt;...&lt;/author&gt;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02080" y="4486656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&lt;published year="2024"/&gt;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36320" y="5010912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&lt;/book&gt;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5535168"/>
            <a:ext cx="5364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00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&lt;/catalogue&gt;</a:t>
            </a:r>
            <a:endParaRPr lang="en-US" sz="14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0640" y="1060704"/>
            <a:ext cx="87782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XML Tree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1036320"/>
            <a:ext cx="5364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Parsing Notes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39840" y="158496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39840" y="1584960"/>
            <a:ext cx="73152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2720" y="204825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&lt;book&gt; — not a child element. Use attribute.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39840" y="286512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39840" y="2865120"/>
            <a:ext cx="73152" cy="109728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2272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2720" y="33284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Optional child — parse with childText + fmap.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39840" y="414528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39840" y="4145280"/>
            <a:ext cx="73152" cy="109728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227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22720" y="46085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container: element "author" inside &lt;authors&gt;.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39840" y="5425440"/>
            <a:ext cx="5364480" cy="109728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39840" y="5425440"/>
            <a:ext cx="73152" cy="109728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2272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22720" y="58887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on &lt;published&gt; — drill two levels then read attr.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60832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Haskell Data Model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364480" cy="213360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743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023104" cy="174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Author = Author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036320"/>
            <a:ext cx="5364480" cy="2005584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045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88608" y="1304544"/>
            <a:ext cx="5023104" cy="2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Book = Book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 :: Maybe String  -- optional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 :: [Author]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 :: String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333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deriving (Show)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326745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39CD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255264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733" b="1" dirty="0">
                <a:solidFill>
                  <a:srgbClr val="60DE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71856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718560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560" y="3779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record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0560" y="418185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 is parsed from an XML attribute, name from element text content.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815840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4815840"/>
            <a:ext cx="73152" cy="99974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560" y="4876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[Author] list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560" y="527913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fit for zero-or-more &lt;author&gt; children inside &lt;authors&gt;.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3706368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81344" y="3718560"/>
            <a:ext cx="73152" cy="99974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0" y="3767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Maybe String for subtitle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4169664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Captures the optional &lt;subtitle&gt; element cleanly — Nothing if absent.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4803648"/>
            <a:ext cx="5364480" cy="99974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81344" y="4767072"/>
            <a:ext cx="73152" cy="99974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4864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deriving (Show)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0" y="5266944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Show instances for quick debugging in GHCi.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xml-conduit: Core Concepts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Element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Data.Map (Map)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Document contains the root Element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has: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Name, [Node],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Map Name Text (attributes)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9600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Text.XML is the high-level API. Elements carry attributes as a Map.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64736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API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64736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6656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fromDocument :: Document -&gt; Cursor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element / content / attribute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($/) ($//)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composable axis operators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86656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64736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86656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Cursors let you navigate the tree with composable axis functions.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41792" y="1036320"/>
            <a:ext cx="359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1467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Entry Points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41792" y="1548384"/>
            <a:ext cx="3596640" cy="28041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63712" y="1609344"/>
            <a:ext cx="33528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 def "books.xml"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IO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parseLBS def lazyBS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parseText def lazyText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 Either SomeException Document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63712" y="4389120"/>
            <a:ext cx="3352800" cy="2438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41792" y="4389120"/>
            <a:ext cx="3596640" cy="2097024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63712" y="4450080"/>
            <a:ext cx="33528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467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 = default ParseSettings. Use readFile in IO, parseLBS for in-memory.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76CC-37DA-B8AF-D3B9-4E1A479A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 and cursor -&gt;  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FB39-1D15-BAE6-8AB1-69DE18356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44427"/>
          </a:xfrm>
        </p:spPr>
        <p:txBody>
          <a:bodyPr/>
          <a:lstStyle/>
          <a:p>
            <a:r>
              <a:rPr lang="en-US" dirty="0"/>
              <a:t>Fundamental part of how the XML tree is traversed.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EF610-CC7E-7BA8-EE1C-DF1DB4C2B985}"/>
              </a:ext>
            </a:extLst>
          </p:cNvPr>
          <p:cNvSpPr txBox="1"/>
          <p:nvPr/>
        </p:nvSpPr>
        <p:spPr>
          <a:xfrm>
            <a:off x="905525" y="2806088"/>
            <a:ext cx="6133474" cy="203132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E" dirty="0"/>
              <a:t>type Axis = </a:t>
            </a:r>
            <a:r>
              <a:rPr lang="en-IE" dirty="0" err="1"/>
              <a:t>XmlTree</a:t>
            </a:r>
            <a:r>
              <a:rPr lang="en-IE" dirty="0"/>
              <a:t> -&gt; [</a:t>
            </a:r>
            <a:r>
              <a:rPr lang="en-IE" dirty="0" err="1"/>
              <a:t>XmlTree</a:t>
            </a:r>
            <a:r>
              <a:rPr lang="en-IE" dirty="0"/>
              <a:t>]</a:t>
            </a:r>
          </a:p>
          <a:p>
            <a:endParaRPr lang="en-IE" dirty="0"/>
          </a:p>
          <a:p>
            <a:r>
              <a:rPr lang="en-IE" dirty="0"/>
              <a:t>.. Examples</a:t>
            </a:r>
          </a:p>
          <a:p>
            <a:endParaRPr lang="en-IE" dirty="0"/>
          </a:p>
          <a:p>
            <a:r>
              <a:rPr lang="en-IE" dirty="0" err="1"/>
              <a:t>getChildren</a:t>
            </a:r>
            <a:r>
              <a:rPr lang="en-IE" dirty="0"/>
              <a:t> :: Axis -- returns direct children of a node </a:t>
            </a:r>
          </a:p>
          <a:p>
            <a:r>
              <a:rPr lang="en-IE" dirty="0" err="1"/>
              <a:t>getParents</a:t>
            </a:r>
            <a:r>
              <a:rPr lang="en-IE" dirty="0"/>
              <a:t> :: Axis -- returns the parent </a:t>
            </a:r>
          </a:p>
          <a:p>
            <a:r>
              <a:rPr lang="en-IE" dirty="0" err="1"/>
              <a:t>getDescendants</a:t>
            </a:r>
            <a:r>
              <a:rPr lang="en-IE" dirty="0"/>
              <a:t> :: Axis -- returns all nodes below this one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FBCBF-E0F5-F7F3-29C7-D621DE5B9650}"/>
              </a:ext>
            </a:extLst>
          </p:cNvPr>
          <p:cNvSpPr txBox="1"/>
          <p:nvPr/>
        </p:nvSpPr>
        <p:spPr>
          <a:xfrm>
            <a:off x="680320" y="5264835"/>
            <a:ext cx="8323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Because an axis returns a list, you can compose them with </a:t>
            </a:r>
            <a:r>
              <a:rPr lang="en-IE" dirty="0">
                <a:latin typeface="Courier New" panose="02070309020205020404" pitchFamily="49" charset="0"/>
              </a:rPr>
              <a:t>&gt;&gt;=</a:t>
            </a:r>
            <a:r>
              <a:rPr lang="en-IE" dirty="0"/>
              <a:t> or use them with </a:t>
            </a:r>
            <a:r>
              <a:rPr lang="en-IE" dirty="0" err="1">
                <a:latin typeface="Courier New" panose="02070309020205020404" pitchFamily="49" charset="0"/>
              </a:rPr>
              <a:t>mapM</a:t>
            </a:r>
            <a:r>
              <a:rPr lang="en-IE" dirty="0"/>
              <a:t>.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CE145-1D01-DC0B-68F4-7244C533FEF2}"/>
              </a:ext>
            </a:extLst>
          </p:cNvPr>
          <p:cNvSpPr txBox="1"/>
          <p:nvPr/>
        </p:nvSpPr>
        <p:spPr>
          <a:xfrm>
            <a:off x="942999" y="6153922"/>
            <a:ext cx="6096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E" dirty="0" err="1"/>
              <a:t>getChildren</a:t>
            </a:r>
            <a:r>
              <a:rPr lang="en-IE" dirty="0"/>
              <a:t> </a:t>
            </a:r>
            <a:r>
              <a:rPr lang="en-IE" dirty="0">
                <a:effectLst/>
              </a:rPr>
              <a:t>&gt;&gt;&gt;</a:t>
            </a:r>
            <a:r>
              <a:rPr lang="en-IE" dirty="0"/>
              <a:t> </a:t>
            </a:r>
            <a:r>
              <a:rPr lang="en-IE" dirty="0" err="1"/>
              <a:t>hasName</a:t>
            </a:r>
            <a:r>
              <a:rPr lang="en-IE" dirty="0"/>
              <a:t> </a:t>
            </a:r>
            <a:r>
              <a:rPr lang="en-IE" dirty="0">
                <a:effectLst/>
              </a:rPr>
              <a:t>"book"</a:t>
            </a:r>
            <a:r>
              <a:rPr lang="en-IE" dirty="0"/>
              <a:t> </a:t>
            </a:r>
            <a:r>
              <a:rPr lang="en-IE" dirty="0">
                <a:effectLst/>
              </a:rPr>
              <a:t>&gt;&gt;&gt;</a:t>
            </a:r>
            <a:r>
              <a:rPr lang="en-IE" dirty="0"/>
              <a:t> </a:t>
            </a:r>
            <a:r>
              <a:rPr lang="en-IE" dirty="0" err="1"/>
              <a:t>getAttrValue</a:t>
            </a:r>
            <a:r>
              <a:rPr lang="en-IE" dirty="0"/>
              <a:t> </a:t>
            </a:r>
            <a:r>
              <a:rPr lang="en-IE" dirty="0">
                <a:effectLst/>
              </a:rPr>
              <a:t>"</a:t>
            </a:r>
            <a:r>
              <a:rPr lang="en-IE" dirty="0" err="1">
                <a:solidFill>
                  <a:srgbClr val="008000"/>
                </a:solidFill>
                <a:effectLst/>
              </a:rPr>
              <a:t>isbn</a:t>
            </a:r>
            <a:r>
              <a:rPr lang="en-IE" dirty="0">
                <a:solidFill>
                  <a:srgbClr val="008000"/>
                </a:solidFill>
                <a:effectLst/>
              </a:rPr>
              <a:t>"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234CB-84EE-638F-DA40-D5D2A1AB277D}"/>
              </a:ext>
            </a:extLst>
          </p:cNvPr>
          <p:cNvSpPr txBox="1"/>
          <p:nvPr/>
        </p:nvSpPr>
        <p:spPr>
          <a:xfrm>
            <a:off x="8770182" y="3957035"/>
            <a:ext cx="3048000" cy="1200329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IE" dirty="0"/>
              <a:t>The </a:t>
            </a:r>
            <a:r>
              <a:rPr lang="en-IE" dirty="0">
                <a:latin typeface="Courier New" panose="02070309020205020404" pitchFamily="49" charset="0"/>
              </a:rPr>
              <a:t>&gt;&gt;&gt;</a:t>
            </a:r>
            <a:r>
              <a:rPr lang="en-IE" dirty="0"/>
              <a:t> here is arrow composition — apply the first axis, then the second to each result, and so on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CB623B-EAA0-B5BA-AF0D-585A74BEC1B8}"/>
              </a:ext>
            </a:extLst>
          </p:cNvPr>
          <p:cNvCxnSpPr>
            <a:stCxn id="10" idx="2"/>
          </p:cNvCxnSpPr>
          <p:nvPr/>
        </p:nvCxnSpPr>
        <p:spPr>
          <a:xfrm flipH="1">
            <a:off x="7038999" y="5157364"/>
            <a:ext cx="3255183" cy="118122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74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1AA70-002F-1BED-398B-99737AAD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CEF2-7BB4-7426-BEA0-1899DC1A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Axis and cursor -&gt;  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FE6C-2A6D-0AA5-8C7C-57C69EAB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137326"/>
            <a:ext cx="10726234" cy="697622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Rather than a function, a cursor is a data structure that remembers where you are in the tree and how you got there — it stores both the current node and the surrounding context (parents, siblings) needed to navigate back out.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51814-094F-B928-8836-26533D0649B5}"/>
              </a:ext>
            </a:extLst>
          </p:cNvPr>
          <p:cNvSpPr txBox="1"/>
          <p:nvPr/>
        </p:nvSpPr>
        <p:spPr>
          <a:xfrm>
            <a:off x="942999" y="2834948"/>
            <a:ext cx="4862228" cy="1477328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IE" dirty="0"/>
              <a:t>data Cursor = Cursor </a:t>
            </a:r>
          </a:p>
          <a:p>
            <a:r>
              <a:rPr lang="en-IE" dirty="0"/>
              <a:t>      { current :: Node , </a:t>
            </a:r>
          </a:p>
          <a:p>
            <a:r>
              <a:rPr lang="en-IE" dirty="0"/>
              <a:t>        lefts :: [Node] -- siblings to the left , </a:t>
            </a:r>
          </a:p>
          <a:p>
            <a:r>
              <a:rPr lang="en-IE" dirty="0"/>
              <a:t>        rights :: [Node] -- siblings to the right , </a:t>
            </a:r>
          </a:p>
          <a:p>
            <a:r>
              <a:rPr lang="en-IE" dirty="0"/>
              <a:t>        parents :: [...] -- the path back up 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EA9ED-D41C-7CB8-6896-A7559EFD0AFA}"/>
              </a:ext>
            </a:extLst>
          </p:cNvPr>
          <p:cNvSpPr txBox="1"/>
          <p:nvPr/>
        </p:nvSpPr>
        <p:spPr>
          <a:xfrm>
            <a:off x="680320" y="4424028"/>
            <a:ext cx="8323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With a cursor you can move in any direction and then move back: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2C0EF-F243-321D-363C-C467BFE4CEC1}"/>
              </a:ext>
            </a:extLst>
          </p:cNvPr>
          <p:cNvSpPr txBox="1"/>
          <p:nvPr/>
        </p:nvSpPr>
        <p:spPr>
          <a:xfrm>
            <a:off x="942999" y="4978026"/>
            <a:ext cx="6096000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E" dirty="0"/>
              <a:t>child 0 cursor       -- move to first child</a:t>
            </a:r>
          </a:p>
          <a:p>
            <a:r>
              <a:rPr lang="en-IE" dirty="0"/>
              <a:t>parent cursor        -- move back up</a:t>
            </a:r>
          </a:p>
          <a:p>
            <a:r>
              <a:rPr lang="en-IE" dirty="0" err="1"/>
              <a:t>nextSibling</a:t>
            </a:r>
            <a:r>
              <a:rPr lang="en-IE" dirty="0"/>
              <a:t> cursor   -- move 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89DB-FCCA-DAC5-EAB3-27947348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171E-4FAB-0CF9-DA75-BB8CE1ECD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16952"/>
            <a:ext cx="4208202" cy="1367619"/>
          </a:xfrm>
          <a:solidFill>
            <a:schemeClr val="accent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E" dirty="0"/>
              <a:t>&lt;book&gt; </a:t>
            </a:r>
          </a:p>
          <a:p>
            <a:pPr marL="0" indent="0">
              <a:buNone/>
            </a:pPr>
            <a:r>
              <a:rPr lang="en-IE" dirty="0"/>
              <a:t>    &lt;title&gt;Haskell Programming&lt;/title&gt; </a:t>
            </a:r>
          </a:p>
          <a:p>
            <a:pPr marL="0" indent="0">
              <a:buNone/>
            </a:pPr>
            <a:r>
              <a:rPr lang="en-IE" dirty="0"/>
              <a:t>    &lt;author&gt;Someone&lt;/author&gt; </a:t>
            </a:r>
          </a:p>
          <a:p>
            <a:pPr marL="0" indent="0">
              <a:buNone/>
            </a:pPr>
            <a:r>
              <a:rPr lang="en-IE" dirty="0"/>
              <a:t>    &lt;price&gt;40&lt;/price&gt; </a:t>
            </a:r>
          </a:p>
          <a:p>
            <a:pPr marL="0" indent="0">
              <a:buNone/>
            </a:pPr>
            <a:r>
              <a:rPr lang="en-IE" dirty="0"/>
              <a:t>&lt;/book&gt;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3279E-6278-19F4-8A1A-3564F963F636}"/>
              </a:ext>
            </a:extLst>
          </p:cNvPr>
          <p:cNvSpPr txBox="1"/>
          <p:nvPr/>
        </p:nvSpPr>
        <p:spPr>
          <a:xfrm>
            <a:off x="680321" y="4423670"/>
            <a:ext cx="6666139" cy="1200329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IE" dirty="0"/>
              <a:t>child </a:t>
            </a:r>
            <a:r>
              <a:rPr lang="en-IE" dirty="0">
                <a:effectLst/>
              </a:rPr>
              <a:t>0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moves to &lt;title&gt;</a:t>
            </a:r>
            <a:r>
              <a:rPr lang="en-IE" dirty="0"/>
              <a:t> </a:t>
            </a:r>
          </a:p>
          <a:p>
            <a:r>
              <a:rPr lang="en-IE" dirty="0"/>
              <a:t>child </a:t>
            </a:r>
            <a:r>
              <a:rPr lang="en-IE" dirty="0">
                <a:effectLst/>
              </a:rPr>
              <a:t>1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moves to &lt;author&gt;</a:t>
            </a:r>
            <a:r>
              <a:rPr lang="en-IE" dirty="0"/>
              <a:t> </a:t>
            </a:r>
          </a:p>
          <a:p>
            <a:r>
              <a:rPr lang="en-IE" dirty="0"/>
              <a:t>child </a:t>
            </a:r>
            <a:r>
              <a:rPr lang="en-IE" dirty="0">
                <a:effectLst/>
              </a:rPr>
              <a:t>2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moves to &lt;price&gt;</a:t>
            </a:r>
            <a:r>
              <a:rPr lang="en-IE" dirty="0"/>
              <a:t> </a:t>
            </a:r>
          </a:p>
          <a:p>
            <a:r>
              <a:rPr lang="en-IE" dirty="0"/>
              <a:t>child </a:t>
            </a:r>
            <a:r>
              <a:rPr lang="en-IE" dirty="0">
                <a:effectLst/>
              </a:rPr>
              <a:t>3</a:t>
            </a:r>
            <a:r>
              <a:rPr lang="en-IE" dirty="0"/>
              <a:t> cursor </a:t>
            </a:r>
            <a:r>
              <a:rPr lang="en-IE" dirty="0">
                <a:effectLst/>
              </a:rPr>
              <a:t>-- returns Nothing (no fourth child)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4A533-1A34-AE95-FF5B-4197BC5465DE}"/>
              </a:ext>
            </a:extLst>
          </p:cNvPr>
          <p:cNvSpPr txBox="1"/>
          <p:nvPr/>
        </p:nvSpPr>
        <p:spPr>
          <a:xfrm>
            <a:off x="680321" y="3782691"/>
            <a:ext cx="489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if your cursor is sitting on &lt;book&gt;, then: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6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1157-5F79-A67A-FE24-441CA9E6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8CB23C-F91F-E43D-FF7A-1B8CAFE096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274134"/>
            <a:ext cx="989251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axis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you ask "what nodes are reachable from here in this direction?”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get a list back. It is stateless and functional.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cursor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it is a value that represents where you are right now in the document,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you move it around. It is more like a pointer or iterator, but immutable and safe because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full context is encoded in the data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practice, axes suit bulk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("give me all &lt;price&gt; nodes in this document")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while cursors suit targeted 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("step into the third child, read its attribute, step back out").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Libraries like xml-conduit expose both styles and you often combine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5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 the Catalogue with xml-conduit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5754624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536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def, Document)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(fromDocument, Cursor, ($/)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, element, content, attribute)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Data.Text         (Text)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qualified Data.Text as 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Helper: text of first matching child element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:: Name -&gt; Cursor -&gt; Maybe Text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childText n cur =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listToMaybe $ cur $/ element n &amp;/ content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&lt;author&gt;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:: Cursor -&gt;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parseAuthor cur = 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authorId   = T.unpack . head . attribute "id" $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authorName = T.unpack . T.concat $ cur $/ content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Parse one &lt;book&gt; cursor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:: Cursor -&gt;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parseBook cur = Book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isbn     = T.unpack . head $ attribute "isbn" cur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title    = maybe "" T.unpack (childText "title"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subtitle = fmap T.unpack   (childText "subtitle" cur)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authors  = map parseAuthor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(cur $/ element "authors" $/ element "author")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pubYear  = T.unpack . head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cur $/ element "published" &gt;=&gt; attribute "year" }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Entry point: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:: Document -&gt; [Book]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parseCatalogue doc = map parseBook $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0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fromDocument doc $/ element "catalogue" &amp;/ element "book"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Operators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($/) axis op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Descend into direct children matching the predicate. Composes naturally.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2901696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2901696"/>
            <a:ext cx="73152" cy="1121664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"name"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364992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Selects child elements by local name — the core traversal primitive.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218432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218432"/>
            <a:ext cx="73152" cy="1121664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279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 "n"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681728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a named attribute from the current element cursor.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59040" y="5535168"/>
            <a:ext cx="4267200" cy="1121664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59040" y="5535168"/>
            <a:ext cx="73152" cy="1121664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1920" y="5596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(&gt;=&gt;)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41920" y="5998464"/>
            <a:ext cx="402336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— chains steps: find child, then read attr.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Books to Markdown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5669280" cy="560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791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5327904" cy="521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a single Author inline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:: Author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renderAuthor a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 **[" ++ authorId a ++ "]** 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authorName a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Render one Book as a Markdown section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:: Book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renderBook b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"## " ++ title b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Field | Value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"|-------|-------|"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ISBN  | `" ++ isbn b ++ "`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"| Year  | " ++ pubYear b ++ " |"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maybe []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(\s -&gt; ["| Sub | " ++ s ++ " |"])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(subtitle b)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"", "### Authors" ] ++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 renderAuthor (authors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61760" y="1036320"/>
            <a:ext cx="5181600" cy="341376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6553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32448" y="1304544"/>
            <a:ext cx="4840224" cy="302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 catalogue.md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:: [Book]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renderCatalogue books = unlines $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"# Book Catalogue"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show (length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""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 ++ map renderBook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to a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 path books =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path (renderCatalogue books)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61760" y="4385901"/>
            <a:ext cx="5181600" cy="1167555"/>
          </a:xfrm>
          <a:prstGeom prst="rect">
            <a:avLst/>
          </a:prstGeom>
          <a:solidFill>
            <a:srgbClr val="F0FFFE">
              <a:alpha val="95000"/>
            </a:srgbClr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61760" y="4572000"/>
            <a:ext cx="5181600" cy="3048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r" defTabSz="609585"/>
            <a:r>
              <a:rPr lang="en-US" sz="1067" i="1" dirty="0">
                <a:solidFill>
                  <a:srgbClr val="60DE72"/>
                </a:solidFill>
                <a:latin typeface="Trebuchet MS" panose="020B0603020202020204"/>
              </a:rPr>
              <a:t>Sample Output</a:t>
            </a:r>
            <a:endParaRPr lang="en-US" sz="10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52173" y="4415833"/>
            <a:ext cx="4815840" cy="1224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Haskell Programming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ISBN | `978-1593272838`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Year | 2010 |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Authors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**[a1]** Bryan O'Sullivan</a:t>
            </a:r>
            <a:endParaRPr lang="en-US" sz="12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D43CF1-3268-AB4D-1CE9-FB496A2562A7}"/>
              </a:ext>
            </a:extLst>
          </p:cNvPr>
          <p:cNvSpPr txBox="1"/>
          <p:nvPr/>
        </p:nvSpPr>
        <p:spPr>
          <a:xfrm>
            <a:off x="6632448" y="5732980"/>
            <a:ext cx="4925568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maybe function- applies the supplied default value ([] in this case) if Nothing if returned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B34A36-66AD-4B6C-C94C-DF1B5B1E2F6B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1191802" y="4415833"/>
            <a:ext cx="5440646" cy="1640313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It All Together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7071360" cy="3243072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8121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729984" cy="37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Main where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          (readFile, def)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Text.XML.Cursor   (fromDocument)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Prelude hiding    (readFile)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System.Environment (getArgs)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::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doc   &lt;- </a:t>
            </a:r>
            <a:r>
              <a:rPr lang="en-US" sz="1267" dirty="0" err="1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Text.XML.readFile</a:t>
            </a:r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 “</a:t>
            </a:r>
            <a:r>
              <a:rPr lang="en-US" sz="1267" dirty="0" err="1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books.xml</a:t>
            </a:r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books = parseCatalogue doc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"Parsed " ++ show (length books) ++ " book(s)."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267" dirty="0" err="1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writeCatalogue</a:t>
            </a:r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putStrLn $ "Written to " ++ mdPath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85760" y="1158240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85760" y="1158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5632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XML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56320" y="1548384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readFile parses the file into a Document, throwing on malformed XML.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0" y="1743456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85760" y="2523744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8576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56320" y="2535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56320" y="2913888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parseCatalogue walks the cursor tree → [Book].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0" y="3108960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85760" y="3889248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85760" y="3889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56320" y="3901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56320" y="4279392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renderCatalogue converts [Book] → Markdown String.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0" y="4474464"/>
            <a:ext cx="60960" cy="67056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85760" y="5254752"/>
            <a:ext cx="548640" cy="548640"/>
          </a:xfrm>
          <a:prstGeom prst="ellipse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85760" y="525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56320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56320" y="5644896"/>
            <a:ext cx="31089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saves the result to the output path.</a:t>
            </a:r>
            <a:endParaRPr lang="en-US" sz="13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0560" y="5340096"/>
            <a:ext cx="670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endParaRPr lang="en-US" sz="1733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15568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0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2933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Extension: One .md File per Book</a:t>
            </a:r>
            <a:endParaRPr lang="en-US" sz="2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036320"/>
            <a:ext cx="6827520" cy="4693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37376" y="1085088"/>
            <a:ext cx="79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09585"/>
            <a:r>
              <a:rPr lang="en-US" sz="933" i="1" dirty="0">
                <a:solidFill>
                  <a:srgbClr val="39CDE7"/>
                </a:solidFill>
                <a:latin typeface="Trebuchet MS" panose="020B0603020202020204"/>
              </a:rPr>
              <a:t>Haskell</a:t>
            </a:r>
            <a:endParaRPr lang="en-US" sz="9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304544"/>
            <a:ext cx="6486144" cy="430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System.Directory (createDirectoryIfMissing)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System.FilePath  ((&lt;/&gt;), (&lt;.&gt;))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Sanitise a title for use as a filename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:: String -&gt; String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 = map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(\c -&gt; if c `elem` " /\\:*?&lt;&gt;|" then '-' else c)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Write each book to its own Markdown file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:: FilePath -&gt; [Book]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writeBookFiles dir books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createDirectoryIfMissing True dir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mapM_ (writeOne dir) books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:: FilePath -&gt; Book -&gt; IO ()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writeOne dir b = do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name    = safeFileName (title b) &lt;.&gt; "md"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outPath = dir &lt;/&gt; name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writeFile outPath (renderBook b)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putStrLn $ "  Wrote: " ++ outPath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9040" y="1036320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867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Functions</a:t>
            </a:r>
            <a:endParaRPr lang="en-US" sz="18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59040" y="1584960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59040" y="1584960"/>
            <a:ext cx="73152" cy="121920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1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39CD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createDirectoryIfMissing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1920" y="2048256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Creates the output directory (and parents) if it does not exist yet.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59040" y="3023616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59040" y="3023616"/>
            <a:ext cx="73152" cy="1219200"/>
          </a:xfrm>
          <a:prstGeom prst="rect">
            <a:avLst/>
          </a:prstGeom>
          <a:solidFill>
            <a:srgbClr val="60DE72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41920" y="3084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safeFileName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41920" y="3486912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Strips characters invalid in file paths across platforms.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4462272"/>
            <a:ext cx="4267200" cy="1219200"/>
          </a:xfrm>
          <a:prstGeom prst="rect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59040" y="4462272"/>
            <a:ext cx="73152" cy="1219200"/>
          </a:xfrm>
          <a:prstGeom prst="rect">
            <a:avLst/>
          </a:prstGeom>
          <a:solidFill>
            <a:srgbClr val="F49D50"/>
          </a:solidFill>
          <a:ln w="12700">
            <a:solidFill>
              <a:srgbClr val="F49D50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41920" y="452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467" b="1" dirty="0">
                <a:solidFill>
                  <a:srgbClr val="F49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mapM_</a:t>
            </a:r>
            <a:endParaRPr lang="en-US" sz="1467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41920" y="4925568"/>
            <a:ext cx="4023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09585"/>
            <a:r>
              <a:rPr lang="en-US" sz="1333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Idiomatic way to perform an IO action for each item in a list.</a:t>
            </a:r>
            <a:endParaRPr lang="en-US" sz="1333" dirty="0">
              <a:solidFill>
                <a:schemeClr val="bg1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5913120"/>
            <a:ext cx="11277600" cy="67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60DE72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0560" y="591312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output/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  <a:p>
            <a:pPr defTabSz="609585"/>
            <a:r>
              <a:rPr lang="en-US" sz="1267" dirty="0">
                <a:solidFill>
                  <a:srgbClr val="60D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Haskell-Programming.md   Real-World-Haskell.md   Learn-You-a-Haskell.md</a:t>
            </a:r>
            <a:endParaRPr lang="en-US" sz="1267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BFCE"/>
              </a:gs>
              <a:gs pos="100000">
                <a:srgbClr val="1A3B6E"/>
              </a:gs>
            </a:gsLst>
            <a:lin ang="9000000" scaled="0"/>
          </a:gradFill>
          <a:ln w="12700"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55680" y="0"/>
            <a:ext cx="10363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2133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1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19456"/>
            <a:ext cx="1036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40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26592"/>
            <a:ext cx="10972800" cy="48768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98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①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0208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domain types (Book, Author) before writing any parser.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39840" y="121920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39840" y="121920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86144" y="134112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②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4240" y="143865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xml-conduit Cursors give composable, type-safe XML traversal.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398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③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0208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parsing from rendering — pure functions, easy to test.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8704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39840" y="298704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86144" y="310896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④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54240" y="320649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Maybe for optional fields; handle missing data at the type level.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98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⑤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0208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mapM_ / mapM make it trivial to process every book in the catalogue.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39840" y="4754880"/>
            <a:ext cx="5486400" cy="1463040"/>
          </a:xfrm>
          <a:prstGeom prst="rect">
            <a:avLst/>
          </a:prstGeom>
          <a:solidFill>
            <a:srgbClr val="1A1A2E">
              <a:alpha val="75000"/>
            </a:srgbClr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39840" y="4754880"/>
            <a:ext cx="73152" cy="1463040"/>
          </a:xfrm>
          <a:prstGeom prst="rect">
            <a:avLst/>
          </a:prstGeom>
          <a:solidFill>
            <a:srgbClr val="39CDE7"/>
          </a:solidFill>
          <a:ln w="12700">
            <a:solidFill>
              <a:srgbClr val="39CDE7"/>
            </a:solidFill>
            <a:prstDash val="solid"/>
          </a:ln>
        </p:spPr>
        <p:txBody>
          <a:bodyPr/>
          <a:lstStyle/>
          <a:p>
            <a:pPr defTabSz="609585"/>
            <a:endParaRPr lang="en-US" sz="240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86144" y="4876800"/>
            <a:ext cx="6705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09585"/>
            <a:r>
              <a:rPr lang="en-US" sz="3733" dirty="0">
                <a:solidFill>
                  <a:srgbClr val="39CDE7"/>
                </a:solidFill>
                <a:latin typeface="Trebuchet MS" panose="020B0603020202020204"/>
              </a:rPr>
              <a:t>⑥</a:t>
            </a:r>
            <a:endParaRPr lang="en-US" sz="3733" dirty="0">
              <a:solidFill>
                <a:prstClr val="white"/>
              </a:solidFill>
              <a:latin typeface="Trebuchet MS" panose="020B0603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54240" y="4974336"/>
            <a:ext cx="438912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09585"/>
            <a:r>
              <a:rPr lang="en-US" sz="1600" dirty="0">
                <a:solidFill>
                  <a:srgbClr val="E7E6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writeFile / createDirectoryIfMissing handle all file-system output.</a:t>
            </a:r>
            <a:endParaRPr lang="en-US" sz="1600" dirty="0">
              <a:solidFill>
                <a:prstClr val="white"/>
              </a:solidFill>
              <a:latin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1914</Words>
  <Application>Microsoft Macintosh PowerPoint</Application>
  <PresentationFormat>Widescreen</PresentationFormat>
  <Paragraphs>322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Courier New</vt:lpstr>
      <vt:lpstr>Trebuchet MS</vt:lpstr>
      <vt:lpstr>Office Theme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Axis and cursor -&gt;  Axis</vt:lpstr>
      <vt:lpstr>Axis and cursor -&gt;  Cursor</vt:lpstr>
      <vt:lpstr>Cursor</vt:lpstr>
      <vt:lpstr>Difference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6</cp:revision>
  <dcterms:created xsi:type="dcterms:W3CDTF">2026-03-27T10:48:50Z</dcterms:created>
  <dcterms:modified xsi:type="dcterms:W3CDTF">2026-04-02T01:52:15Z</dcterms:modified>
</cp:coreProperties>
</file>