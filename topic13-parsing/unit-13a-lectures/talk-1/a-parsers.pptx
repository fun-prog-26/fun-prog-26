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29" r:id="rId1"/>
  </p:sldMasterIdLst>
  <p:notesMasterIdLst>
    <p:notesMasterId r:id="rId9"/>
  </p:notesMasterIdLst>
  <p:handoutMasterIdLst>
    <p:handoutMasterId r:id="rId10"/>
  </p:handoutMasterIdLst>
  <p:sldIdLst>
    <p:sldId id="308" r:id="rId2"/>
    <p:sldId id="278" r:id="rId3"/>
    <p:sldId id="309" r:id="rId4"/>
    <p:sldId id="310" r:id="rId5"/>
    <p:sldId id="311" r:id="rId6"/>
    <p:sldId id="313" r:id="rId7"/>
    <p:sldId id="312" r:id="rId8"/>
  </p:sldIdLst>
  <p:sldSz cx="9144000" cy="6858000" type="screen4x3"/>
  <p:notesSz cx="7089775" cy="102187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38"/>
    <p:restoredTop sz="94649"/>
  </p:normalViewPr>
  <p:slideViewPr>
    <p:cSldViewPr snapToGrid="0">
      <p:cViewPr varScale="1">
        <p:scale>
          <a:sx n="145" d="100"/>
          <a:sy n="145" d="100"/>
        </p:scale>
        <p:origin x="184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2051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2052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2053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F74290DC-920F-4F4F-928D-D9E78B9621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754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2051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2052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041400" y="762000"/>
            <a:ext cx="5080000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92165" name="Rectangle 2053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205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205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13514E8C-AAE0-5645-8347-9C02EFD9C06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723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6726063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4243845"/>
            <a:ext cx="2307831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6726064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2590078"/>
            <a:ext cx="2307832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733709"/>
            <a:ext cx="6108101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4394040"/>
            <a:ext cx="6108101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8746E87-F5CB-2947-9C43-6AD4847B896A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750337"/>
            <a:ext cx="878916" cy="1356442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03062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AD947AD-825A-F146-BBF9-54EA2008604E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13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4087901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726267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2869895"/>
            <a:ext cx="7210395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4232172"/>
            <a:ext cx="7210395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C0D36E-8206-564B-B2A1-1AAB2B32758F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869896"/>
            <a:ext cx="865613" cy="1090789"/>
          </a:xfrm>
        </p:spPr>
        <p:txBody>
          <a:bodyPr/>
          <a:lstStyle/>
          <a:p>
            <a:pPr>
              <a:defRPr/>
            </a:pPr>
            <a:fld id="{08AC770D-4187-B643-B651-7C2396F259F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181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2336873"/>
            <a:ext cx="352376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2336873"/>
            <a:ext cx="3525044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708CC03-50C4-124F-9CF3-D3293E51A4B6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A3F454-4803-BE4E-A4C9-D0AB6CC2A0C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49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753230"/>
            <a:ext cx="7210397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2336874"/>
            <a:ext cx="3354245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3030009"/>
            <a:ext cx="3523766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2336873"/>
            <a:ext cx="3355521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3030009"/>
            <a:ext cx="3525044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33325FF-0F5B-BB49-B69C-EFCF2084E94A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1125D7-0927-D54A-8169-F3C5D05E93D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4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16967E3-DF49-4044-89F4-CE2764162D95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2FD39C-9ADB-C245-9503-846EF8BEFA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830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AE39BF-D60A-6D45-9C6C-9CCC6328517E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F41AF7-5567-D741-8F34-DE634B40BB0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532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753227"/>
            <a:ext cx="7210394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2336874"/>
            <a:ext cx="4206252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2336873"/>
            <a:ext cx="284255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A9CC54-BBB1-5C4A-838D-AB744647544A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DF441E4-FAB9-C646-A3CA-EB59A4BA241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8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753228"/>
            <a:ext cx="7210393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2336874"/>
            <a:ext cx="4069387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2336874"/>
            <a:ext cx="2907192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1187542-FDF5-5246-AB78-5770354305AE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8A40A2D-3EAF-8C40-9E51-E3D1278D108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447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4711617"/>
            <a:ext cx="7210394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609598"/>
            <a:ext cx="7210394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5169584"/>
            <a:ext cx="7210397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310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4346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609597"/>
            <a:ext cx="7210394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1161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278702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609598"/>
            <a:ext cx="6539158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3653379"/>
            <a:ext cx="6117434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4711616"/>
            <a:ext cx="7210394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748116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3033524"/>
            <a:ext cx="4572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1905621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7828359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5929622"/>
            <a:ext cx="1202248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4567988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4711616"/>
            <a:ext cx="7210397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5300150"/>
            <a:ext cx="7210397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4709926"/>
            <a:ext cx="865613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670875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6" y="753228"/>
            <a:ext cx="721872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2336873"/>
            <a:ext cx="2302526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3022674"/>
            <a:ext cx="2287277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233687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3022674"/>
            <a:ext cx="229743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2336873"/>
            <a:ext cx="230251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3022674"/>
            <a:ext cx="2302519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633591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5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4297503"/>
            <a:ext cx="228727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2336873"/>
            <a:ext cx="228727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4873765"/>
            <a:ext cx="2287279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4297503"/>
            <a:ext cx="229743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2336873"/>
            <a:ext cx="229743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4873764"/>
            <a:ext cx="230047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4297503"/>
            <a:ext cx="2297629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2336873"/>
            <a:ext cx="2297629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4873762"/>
            <a:ext cx="2300672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21852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7828359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971234"/>
            <a:ext cx="1202248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7828359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609600"/>
            <a:ext cx="1202248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90BA56-BDCD-C643-80CF-58841B686DE9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9C0C35-3D7C-B541-A38B-FDC2B086A0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3888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5448782" y="2040420"/>
            <a:ext cx="5106988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200777" y="5543428"/>
            <a:ext cx="1602997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609597"/>
            <a:ext cx="80535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609598"/>
            <a:ext cx="6652503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5936188"/>
            <a:ext cx="2057400" cy="365125"/>
          </a:xfrm>
        </p:spPr>
        <p:txBody>
          <a:bodyPr/>
          <a:lstStyle/>
          <a:p>
            <a:pPr>
              <a:defRPr/>
            </a:pPr>
            <a:fld id="{812B3317-FDA4-6C49-B281-E0300FE30B29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5936189"/>
            <a:ext cx="4595104" cy="365125"/>
          </a:xfrm>
        </p:spPr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5398634"/>
            <a:ext cx="865613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8771FEFC-E74C-F640-BE0B-37559422D83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053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753228"/>
            <a:ext cx="7210396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2336873"/>
            <a:ext cx="7210396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593618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5936189"/>
            <a:ext cx="51529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753228"/>
            <a:ext cx="865613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9250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  <p:sldLayoutId id="2147483745" r:id="rId16"/>
    <p:sldLayoutId id="214748374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E08685F-6324-1642-88D7-16A6D01BA5BE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15888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 dirty="0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6213" y="5164137"/>
            <a:ext cx="8791575" cy="984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 dirty="0"/>
              <a:t>Topic 13 – Parsers in Haskell</a:t>
            </a:r>
          </a:p>
          <a:p>
            <a:pPr algn="ctr"/>
            <a:endParaRPr kumimoji="1" lang="en-US" sz="3200" dirty="0"/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188" y="24003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16">
            <a:extLst>
              <a:ext uri="{FF2B5EF4-FFF2-40B4-BE49-F238E27FC236}">
                <a16:creationId xmlns:a16="http://schemas.microsoft.com/office/drawing/2014/main" id="{769A2FA6-77CB-BBC0-7626-7599420BDB16}"/>
              </a:ext>
            </a:extLst>
          </p:cNvPr>
          <p:cNvSpPr/>
          <p:nvPr/>
        </p:nvSpPr>
        <p:spPr>
          <a:xfrm>
            <a:off x="625647" y="5815694"/>
            <a:ext cx="1664208" cy="68304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pPr marL="0" indent="0" algn="ctr">
              <a:buNone/>
            </a:pPr>
            <a:endParaRPr lang="en-US" sz="140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input</a:t>
            </a:r>
            <a:endParaRPr lang="en-US" sz="1400" dirty="0"/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3F5D9CDC-636F-7AFA-B5FD-CD4FA73366A4}"/>
              </a:ext>
            </a:extLst>
          </p:cNvPr>
          <p:cNvSpPr/>
          <p:nvPr/>
        </p:nvSpPr>
        <p:spPr>
          <a:xfrm>
            <a:off x="5788121" y="5737785"/>
            <a:ext cx="2331720" cy="74980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85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35990BC-941F-5B40-AA99-85A5C70022F6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46F4A5-0727-7928-02FD-4DA80F31A5D1}"/>
              </a:ext>
            </a:extLst>
          </p:cNvPr>
          <p:cNvSpPr txBox="1"/>
          <p:nvPr/>
        </p:nvSpPr>
        <p:spPr>
          <a:xfrm>
            <a:off x="510241" y="1065481"/>
            <a:ext cx="3276603" cy="4662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eaLnBrk="1" hangingPunct="1">
              <a:lnSpc>
                <a:spcPct val="90000"/>
              </a:lnSpc>
            </a:pPr>
            <a:r>
              <a:rPr lang="en-US" sz="2700" dirty="0">
                <a:latin typeface="Arial Black" charset="0"/>
                <a:cs typeface="+mj-cs"/>
              </a:rPr>
              <a:t>What is a parser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79778A61-1A54-315F-D67A-C73475FEE52C}"/>
              </a:ext>
            </a:extLst>
          </p:cNvPr>
          <p:cNvSpPr/>
          <p:nvPr/>
        </p:nvSpPr>
        <p:spPr>
          <a:xfrm>
            <a:off x="510241" y="21558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latin typeface="+mn-lt"/>
                <a:ea typeface="Calibri" pitchFamily="34" charset="-122"/>
                <a:cs typeface="Calibri" pitchFamily="34" charset="-120"/>
              </a:rPr>
              <a:t>A parser is a function that takes a String and returns one of two things:</a:t>
            </a:r>
            <a:endParaRPr lang="en-US" sz="2400" dirty="0">
              <a:latin typeface="+mn-lt"/>
            </a:endParaRPr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86BBEBCA-749A-5E4F-123C-9D637B2BB4D3}"/>
              </a:ext>
            </a:extLst>
          </p:cNvPr>
          <p:cNvSpPr/>
          <p:nvPr/>
        </p:nvSpPr>
        <p:spPr>
          <a:xfrm>
            <a:off x="359426" y="434425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return the remaining string?</a:t>
            </a:r>
            <a:endParaRPr lang="en-US" sz="2000" dirty="0"/>
          </a:p>
        </p:txBody>
      </p:sp>
      <p:sp>
        <p:nvSpPr>
          <p:cNvPr id="21" name="Shape 13">
            <a:extLst>
              <a:ext uri="{FF2B5EF4-FFF2-40B4-BE49-F238E27FC236}">
                <a16:creationId xmlns:a16="http://schemas.microsoft.com/office/drawing/2014/main" id="{96330A2A-989B-A8F9-FE8A-4E9121F5422C}"/>
              </a:ext>
            </a:extLst>
          </p:cNvPr>
          <p:cNvSpPr/>
          <p:nvPr/>
        </p:nvSpPr>
        <p:spPr>
          <a:xfrm>
            <a:off x="365759" y="4731382"/>
            <a:ext cx="8412480" cy="658368"/>
          </a:xfrm>
          <a:prstGeom prst="rect">
            <a:avLst/>
          </a:prstGeom>
          <a:solidFill>
            <a:srgbClr val="D8E4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Parsers can be chained: each picks up from where the previous one stopped. Running 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'a' on "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gives back "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which a next parser can consume.</a:t>
            </a:r>
            <a:endParaRPr lang="en-US" sz="1800" dirty="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C38415D1-EDDA-F2B6-5CF1-E7DF2E8B6238}"/>
              </a:ext>
            </a:extLst>
          </p:cNvPr>
          <p:cNvSpPr/>
          <p:nvPr/>
        </p:nvSpPr>
        <p:spPr>
          <a:xfrm>
            <a:off x="107966" y="3337670"/>
            <a:ext cx="3749040" cy="10515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1CB05BF5-92F7-939E-5865-025D279986AD}"/>
              </a:ext>
            </a:extLst>
          </p:cNvPr>
          <p:cNvSpPr/>
          <p:nvPr/>
        </p:nvSpPr>
        <p:spPr>
          <a:xfrm>
            <a:off x="359426" y="346111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 Error</a:t>
            </a:r>
            <a:endParaRPr lang="en-US" sz="16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5EE751F2-0198-DAEE-8666-147BA37E4A3C}"/>
              </a:ext>
            </a:extLst>
          </p:cNvPr>
          <p:cNvSpPr/>
          <p:nvPr/>
        </p:nvSpPr>
        <p:spPr>
          <a:xfrm>
            <a:off x="359426" y="384516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Parsing failed — an error message is returned instead of a value.</a:t>
            </a:r>
            <a:endParaRPr lang="en-US" sz="1300" dirty="0"/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558E5E01-FB65-8E1D-D9E0-85245762E4D2}"/>
              </a:ext>
            </a:extLst>
          </p:cNvPr>
          <p:cNvSpPr/>
          <p:nvPr/>
        </p:nvSpPr>
        <p:spPr>
          <a:xfrm>
            <a:off x="4990801" y="3346814"/>
            <a:ext cx="3749040" cy="10515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1509B82F-9307-CD01-2D6D-618B26FB4AC6}"/>
              </a:ext>
            </a:extLst>
          </p:cNvPr>
          <p:cNvSpPr/>
          <p:nvPr/>
        </p:nvSpPr>
        <p:spPr>
          <a:xfrm>
            <a:off x="5003472" y="33702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5E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  (String, a)</a:t>
            </a:r>
            <a:endParaRPr lang="en-US" sz="1550" dirty="0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825B9F57-A73F-934C-DEB6-B515A5F90033}"/>
              </a:ext>
            </a:extLst>
          </p:cNvPr>
          <p:cNvSpPr/>
          <p:nvPr/>
        </p:nvSpPr>
        <p:spPr>
          <a:xfrm>
            <a:off x="5003472" y="375432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Success — remaining input string plus the parsed value.</a:t>
            </a:r>
            <a:endParaRPr lang="en-US" sz="1300" dirty="0"/>
          </a:p>
        </p:txBody>
      </p:sp>
      <p:sp>
        <p:nvSpPr>
          <p:cNvPr id="38" name="Left Arrow 37">
            <a:extLst>
              <a:ext uri="{FF2B5EF4-FFF2-40B4-BE49-F238E27FC236}">
                <a16:creationId xmlns:a16="http://schemas.microsoft.com/office/drawing/2014/main" id="{23F0194B-1BA0-CFC5-742E-61A522DEC7CC}"/>
              </a:ext>
            </a:extLst>
          </p:cNvPr>
          <p:cNvSpPr/>
          <p:nvPr/>
        </p:nvSpPr>
        <p:spPr>
          <a:xfrm rot="19522172">
            <a:off x="3068555" y="2661153"/>
            <a:ext cx="1189822" cy="506776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Left Arrow 38">
            <a:extLst>
              <a:ext uri="{FF2B5EF4-FFF2-40B4-BE49-F238E27FC236}">
                <a16:creationId xmlns:a16="http://schemas.microsoft.com/office/drawing/2014/main" id="{58F3BDA7-4EFE-CD53-BE8A-BADCE578ECD8}"/>
              </a:ext>
            </a:extLst>
          </p:cNvPr>
          <p:cNvSpPr/>
          <p:nvPr/>
        </p:nvSpPr>
        <p:spPr>
          <a:xfrm rot="13377505">
            <a:off x="4585149" y="2654227"/>
            <a:ext cx="1189822" cy="506776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67EAD3-E925-67DF-386E-8B09ECABE8DD}"/>
              </a:ext>
            </a:extLst>
          </p:cNvPr>
          <p:cNvSpPr txBox="1"/>
          <p:nvPr/>
        </p:nvSpPr>
        <p:spPr>
          <a:xfrm>
            <a:off x="4132030" y="2823594"/>
            <a:ext cx="858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183DF34F-6BD7-0B79-172F-D7AE1D28C296}"/>
              </a:ext>
            </a:extLst>
          </p:cNvPr>
          <p:cNvSpPr/>
          <p:nvPr/>
        </p:nvSpPr>
        <p:spPr>
          <a:xfrm>
            <a:off x="2289855" y="5748932"/>
            <a:ext cx="79884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761"/>
                </a:solidFill>
              </a:rPr>
              <a:t>→</a:t>
            </a:r>
            <a:endParaRPr lang="en-US" sz="2400" dirty="0"/>
          </a:p>
        </p:txBody>
      </p:sp>
      <p:sp>
        <p:nvSpPr>
          <p:cNvPr id="48" name="Shape 19">
            <a:extLst>
              <a:ext uri="{FF2B5EF4-FFF2-40B4-BE49-F238E27FC236}">
                <a16:creationId xmlns:a16="http://schemas.microsoft.com/office/drawing/2014/main" id="{6CA56BEE-D415-7677-AD55-BFDE98DEF140}"/>
              </a:ext>
            </a:extLst>
          </p:cNvPr>
          <p:cNvSpPr/>
          <p:nvPr/>
        </p:nvSpPr>
        <p:spPr>
          <a:xfrm>
            <a:off x="2907223" y="5748932"/>
            <a:ext cx="1993392" cy="749808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2A0239E2-64F2-42E8-E9A0-DB5BF1C49EF9}"/>
              </a:ext>
            </a:extLst>
          </p:cNvPr>
          <p:cNvSpPr/>
          <p:nvPr/>
        </p:nvSpPr>
        <p:spPr>
          <a:xfrm>
            <a:off x="2872444" y="5804547"/>
            <a:ext cx="1828800" cy="6830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a</a:t>
            </a:r>
            <a:endParaRPr lang="en-US" sz="1300" dirty="0"/>
          </a:p>
        </p:txBody>
      </p:sp>
      <p:sp>
        <p:nvSpPr>
          <p:cNvPr id="50" name="Text 21">
            <a:extLst>
              <a:ext uri="{FF2B5EF4-FFF2-40B4-BE49-F238E27FC236}">
                <a16:creationId xmlns:a16="http://schemas.microsoft.com/office/drawing/2014/main" id="{BDAB5065-B08A-6DF1-C0DE-5ED2FF36A58B}"/>
              </a:ext>
            </a:extLst>
          </p:cNvPr>
          <p:cNvSpPr/>
          <p:nvPr/>
        </p:nvSpPr>
        <p:spPr>
          <a:xfrm>
            <a:off x="5003472" y="5748932"/>
            <a:ext cx="623943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761"/>
                </a:solidFill>
              </a:rPr>
              <a:t>→</a:t>
            </a:r>
            <a:endParaRPr lang="en-US" sz="2400" dirty="0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1A68C686-4A9B-5D2E-C536-584A6DB4AA25}"/>
              </a:ext>
            </a:extLst>
          </p:cNvPr>
          <p:cNvSpPr/>
          <p:nvPr/>
        </p:nvSpPr>
        <p:spPr>
          <a:xfrm>
            <a:off x="5627415" y="5748932"/>
            <a:ext cx="2331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Either Error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(String, a)</a:t>
            </a:r>
            <a:endParaRPr lang="en-US" sz="130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52" grpId="0" animBg="1"/>
      <p:bldP spid="10" grpId="0" animBg="1"/>
      <p:bldP spid="20" grpId="0" animBg="1"/>
      <p:bldP spid="2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B6413-46EB-255C-58EB-AD6845DC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Type v </a:t>
            </a:r>
            <a:r>
              <a:rPr lang="en-US" dirty="0" err="1">
                <a:latin typeface="Arial Black" charset="0"/>
                <a:ea typeface="ＭＳ Ｐゴシック" charset="0"/>
              </a:rPr>
              <a:t>newtype</a:t>
            </a:r>
            <a:r>
              <a:rPr lang="en-US" dirty="0">
                <a:latin typeface="Arial Black" charset="0"/>
                <a:ea typeface="ＭＳ Ｐゴシック" charset="0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85ADA-9656-0E2A-4A70-8D9B4ED6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46A00FF-7D40-13E2-DECE-DBFCEFD52144}"/>
              </a:ext>
            </a:extLst>
          </p:cNvPr>
          <p:cNvSpPr/>
          <p:nvPr/>
        </p:nvSpPr>
        <p:spPr>
          <a:xfrm>
            <a:off x="365760" y="3204587"/>
            <a:ext cx="384048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5153A5A-2EC5-5DBD-F5C0-E5E71FB606C9}"/>
              </a:ext>
            </a:extLst>
          </p:cNvPr>
          <p:cNvSpPr/>
          <p:nvPr/>
        </p:nvSpPr>
        <p:spPr>
          <a:xfrm>
            <a:off x="4937760" y="3204587"/>
            <a:ext cx="3840480" cy="3584448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32F7F343-5EF5-E5ED-1ED8-7D53BCE79ED1}"/>
              </a:ext>
            </a:extLst>
          </p:cNvPr>
          <p:cNvSpPr/>
          <p:nvPr/>
        </p:nvSpPr>
        <p:spPr>
          <a:xfrm>
            <a:off x="4206240" y="4247003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D4E8C"/>
                </a:solidFill>
              </a:rPr>
              <a:t>vs</a:t>
            </a:r>
            <a:endParaRPr lang="en-US" sz="26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1658331-5BD1-ACFB-77B0-41251875480B}"/>
              </a:ext>
            </a:extLst>
          </p:cNvPr>
          <p:cNvSpPr/>
          <p:nvPr/>
        </p:nvSpPr>
        <p:spPr>
          <a:xfrm>
            <a:off x="365760" y="3204587"/>
            <a:ext cx="3840480" cy="3584448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73F08B54-8794-0192-9CBA-C22562BB7D67}"/>
              </a:ext>
            </a:extLst>
          </p:cNvPr>
          <p:cNvSpPr/>
          <p:nvPr/>
        </p:nvSpPr>
        <p:spPr>
          <a:xfrm>
            <a:off x="566928" y="329602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Just a rename — no new type created</a:t>
            </a:r>
            <a:endParaRPr lang="en-US" sz="125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20392E6-197C-8091-3103-5ED903777E4A}"/>
              </a:ext>
            </a:extLst>
          </p:cNvPr>
          <p:cNvSpPr/>
          <p:nvPr/>
        </p:nvSpPr>
        <p:spPr>
          <a:xfrm>
            <a:off x="566928" y="3817235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Fully interchangeable with original</a:t>
            </a:r>
            <a:endParaRPr lang="en-US" sz="125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9D53F76B-037E-442D-F026-8B1D83B9D9C1}"/>
              </a:ext>
            </a:extLst>
          </p:cNvPr>
          <p:cNvSpPr/>
          <p:nvPr/>
        </p:nvSpPr>
        <p:spPr>
          <a:xfrm>
            <a:off x="566928" y="4338443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Cannot define typeclass instances</a:t>
            </a:r>
            <a:endParaRPr lang="en-US" sz="125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9CFDF1CA-363F-1648-21C8-337DCC3E24A1}"/>
              </a:ext>
            </a:extLst>
          </p:cNvPr>
          <p:cNvSpPr/>
          <p:nvPr/>
        </p:nvSpPr>
        <p:spPr>
          <a:xfrm>
            <a:off x="566928" y="4859651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runtime difference at all</a:t>
            </a:r>
            <a:endParaRPr lang="en-US" sz="125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E74D241-7A69-7AA0-2653-11CF2A95FB68}"/>
              </a:ext>
            </a:extLst>
          </p:cNvPr>
          <p:cNvSpPr/>
          <p:nvPr/>
        </p:nvSpPr>
        <p:spPr>
          <a:xfrm>
            <a:off x="566928" y="5380859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Useful only for readability</a:t>
            </a:r>
            <a:endParaRPr lang="en-US" sz="125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33D13D95-9194-C37F-812D-095554D33C8D}"/>
              </a:ext>
            </a:extLst>
          </p:cNvPr>
          <p:cNvSpPr/>
          <p:nvPr/>
        </p:nvSpPr>
        <p:spPr>
          <a:xfrm>
            <a:off x="566928" y="590206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Example:  type Error = String</a:t>
            </a:r>
            <a:endParaRPr lang="en-US" sz="1250" dirty="0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F240F989-E5E8-BB15-B831-FDC8983E8FA2}"/>
              </a:ext>
            </a:extLst>
          </p:cNvPr>
          <p:cNvSpPr/>
          <p:nvPr/>
        </p:nvSpPr>
        <p:spPr>
          <a:xfrm>
            <a:off x="374904" y="2747132"/>
            <a:ext cx="3840480" cy="475488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r>
              <a:rPr lang="en-US" dirty="0"/>
              <a:t>    type (alias) 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1C7EB587-F5EA-C441-C5EB-F6AB61B0DFEB}"/>
              </a:ext>
            </a:extLst>
          </p:cNvPr>
          <p:cNvSpPr/>
          <p:nvPr/>
        </p:nvSpPr>
        <p:spPr>
          <a:xfrm>
            <a:off x="5312664" y="334174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Creates a genuinely distinct type</a:t>
            </a:r>
            <a:endParaRPr lang="en-US" sz="125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AFFEFC3E-A7AD-A625-9481-C58810DDBA61}"/>
              </a:ext>
            </a:extLst>
          </p:cNvPr>
          <p:cNvSpPr/>
          <p:nvPr/>
        </p:nvSpPr>
        <p:spPr>
          <a:xfrm>
            <a:off x="5312664" y="3862955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Compiler treats them as separate types</a:t>
            </a:r>
            <a:endParaRPr lang="en-US" sz="125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FA5994CA-71ED-64B5-668D-73701AFBCB71}"/>
              </a:ext>
            </a:extLst>
          </p:cNvPr>
          <p:cNvSpPr/>
          <p:nvPr/>
        </p:nvSpPr>
        <p:spPr>
          <a:xfrm>
            <a:off x="5312664" y="4384163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Can implement Functor, Monad, etc.</a:t>
            </a:r>
            <a:endParaRPr lang="en-US" sz="125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261C727D-9922-572E-2659-4E0AAF3E056A}"/>
              </a:ext>
            </a:extLst>
          </p:cNvPr>
          <p:cNvSpPr/>
          <p:nvPr/>
        </p:nvSpPr>
        <p:spPr>
          <a:xfrm>
            <a:off x="5312664" y="4905371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Zero runtime cost (erased at compile)</a:t>
            </a:r>
            <a:endParaRPr lang="en-US" sz="125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04152A79-8D86-8FAC-F7FE-D0D59E46F2C5}"/>
              </a:ext>
            </a:extLst>
          </p:cNvPr>
          <p:cNvSpPr/>
          <p:nvPr/>
        </p:nvSpPr>
        <p:spPr>
          <a:xfrm>
            <a:off x="5312664" y="5426579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Enables safe abstraction &amp; wrapping</a:t>
            </a:r>
            <a:endParaRPr lang="en-US" sz="125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FCBFD48A-8D48-D9FE-0CD3-80BF0FDC9E97}"/>
              </a:ext>
            </a:extLst>
          </p:cNvPr>
          <p:cNvSpPr/>
          <p:nvPr/>
        </p:nvSpPr>
        <p:spPr>
          <a:xfrm>
            <a:off x="5312664" y="594778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Example:  newtype Parser a = ...</a:t>
            </a:r>
            <a:endParaRPr lang="en-US" sz="125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10654408-6A23-1415-BD3D-2B9016855E03}"/>
              </a:ext>
            </a:extLst>
          </p:cNvPr>
          <p:cNvSpPr/>
          <p:nvPr/>
        </p:nvSpPr>
        <p:spPr>
          <a:xfrm>
            <a:off x="4928616" y="2719955"/>
            <a:ext cx="3840480" cy="47548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/>
              <a:t>newtype  (wrapper)</a:t>
            </a:r>
          </a:p>
        </p:txBody>
      </p:sp>
    </p:spTree>
    <p:extLst>
      <p:ext uri="{BB962C8B-B14F-4D97-AF65-F5344CB8AC3E}">
        <p14:creationId xmlns:p14="http://schemas.microsoft.com/office/powerpoint/2010/main" val="2633874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169C6-29A7-49B7-95A6-D91AE02C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22" y="800211"/>
            <a:ext cx="7210396" cy="1080938"/>
          </a:xfrm>
        </p:spPr>
        <p:txBody>
          <a:bodyPr/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Our three types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89B41-8D41-8D29-AFBF-B905B4C0F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B2B696-B85C-CD80-30BC-8EEFEA1340D4}"/>
              </a:ext>
            </a:extLst>
          </p:cNvPr>
          <p:cNvSpPr txBox="1"/>
          <p:nvPr/>
        </p:nvSpPr>
        <p:spPr>
          <a:xfrm>
            <a:off x="638978" y="2434728"/>
            <a:ext cx="80643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Error – what we return when parsing fails</a:t>
            </a: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41033108-3710-ACA4-96D2-B85443FF38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9392" y="3049862"/>
            <a:ext cx="3717684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type Error =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3A64FE-7A41-4DCC-C5AA-B0748BA250BF}"/>
              </a:ext>
            </a:extLst>
          </p:cNvPr>
          <p:cNvSpPr txBox="1"/>
          <p:nvPr/>
        </p:nvSpPr>
        <p:spPr>
          <a:xfrm>
            <a:off x="638978" y="3638443"/>
            <a:ext cx="80643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Result a – the outcome of any parser</a:t>
            </a:r>
          </a:p>
        </p:txBody>
      </p:sp>
      <p:sp>
        <p:nvSpPr>
          <p:cNvPr id="9" name="Text Box 5">
            <a:extLst>
              <a:ext uri="{FF2B5EF4-FFF2-40B4-BE49-F238E27FC236}">
                <a16:creationId xmlns:a16="http://schemas.microsoft.com/office/drawing/2014/main" id="{5E9EEC18-1789-F184-530D-92457DDA02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9392" y="4288579"/>
            <a:ext cx="7808548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type Result a  = Either Error (String, a)</a:t>
            </a:r>
          </a:p>
        </p:txBody>
      </p:sp>
      <p:sp>
        <p:nvSpPr>
          <p:cNvPr id="10" name="Text Box 5">
            <a:extLst>
              <a:ext uri="{FF2B5EF4-FFF2-40B4-BE49-F238E27FC236}">
                <a16:creationId xmlns:a16="http://schemas.microsoft.com/office/drawing/2014/main" id="{37F84350-861F-CA49-E39C-4249076288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9392" y="5504607"/>
            <a:ext cx="7622600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newtype</a:t>
            </a:r>
            <a:r>
              <a:rPr lang="en-US" sz="2400" dirty="0">
                <a:latin typeface="Lucida Sans Typewriter" charset="0"/>
                <a:cs typeface="+mn-cs"/>
              </a:rPr>
              <a:t> Parser a = Parser </a:t>
            </a: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{ </a:t>
            </a:r>
            <a:r>
              <a:rPr lang="en-US" sz="2400" dirty="0" err="1">
                <a:latin typeface="Lucida Sans Typewriter" charset="0"/>
                <a:cs typeface="+mn-cs"/>
              </a:rPr>
              <a:t>runParser</a:t>
            </a:r>
            <a:r>
              <a:rPr lang="en-US" sz="2400" dirty="0">
                <a:latin typeface="Lucida Sans Typewriter" charset="0"/>
                <a:cs typeface="+mn-cs"/>
              </a:rPr>
              <a:t> :: String -&gt; Result a }</a:t>
            </a:r>
          </a:p>
          <a:p>
            <a:pPr>
              <a:defRPr/>
            </a:pP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4B9574-9ABE-EFCA-9BDE-D4D5666A9833}"/>
              </a:ext>
            </a:extLst>
          </p:cNvPr>
          <p:cNvSpPr txBox="1"/>
          <p:nvPr/>
        </p:nvSpPr>
        <p:spPr>
          <a:xfrm>
            <a:off x="638978" y="4981387"/>
            <a:ext cx="85160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Parser a – wraps a function from String to Result</a:t>
            </a:r>
          </a:p>
        </p:txBody>
      </p:sp>
    </p:spTree>
    <p:extLst>
      <p:ext uri="{BB962C8B-B14F-4D97-AF65-F5344CB8AC3E}">
        <p14:creationId xmlns:p14="http://schemas.microsoft.com/office/powerpoint/2010/main" val="639765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C0129-2825-2ADC-0771-5C9E8FC6E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Parsing one character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39F62-6467-FC46-5556-DE55275D8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458" y="2085519"/>
            <a:ext cx="8193084" cy="2686962"/>
          </a:xfrm>
          <a:solidFill>
            <a:schemeClr val="accent1"/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8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 :: Char -&gt; Parser Char</a:t>
            </a:r>
            <a:endParaRPr lang="en-US" sz="2800" dirty="0"/>
          </a:p>
          <a:p>
            <a:pPr marL="0" indent="0">
              <a:buNone/>
            </a:pPr>
            <a:r>
              <a:rPr lang="en-US" sz="28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 c =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Parser $ \input -&gt;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   case input of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       (</a:t>
            </a:r>
            <a:r>
              <a:rPr lang="en-US" sz="2800" dirty="0" err="1">
                <a:ea typeface="Consolas" pitchFamily="34" charset="-122"/>
                <a:cs typeface="Consolas" pitchFamily="34" charset="-120"/>
              </a:rPr>
              <a:t>x:xs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) | x == c  -&gt;  Right (</a:t>
            </a:r>
            <a:r>
              <a:rPr lang="en-US" sz="2800" dirty="0" err="1">
                <a:ea typeface="Consolas" pitchFamily="34" charset="-122"/>
                <a:cs typeface="Consolas" pitchFamily="34" charset="-120"/>
              </a:rPr>
              <a:t>xs</a:t>
            </a:r>
            <a:r>
              <a:rPr lang="en-US" sz="2800" dirty="0">
                <a:ea typeface="Consolas" pitchFamily="34" charset="-122"/>
                <a:cs typeface="Consolas" pitchFamily="34" charset="-120"/>
              </a:rPr>
              <a:t>, x)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nsolas" pitchFamily="34" charset="-122"/>
                <a:cs typeface="Consolas" pitchFamily="34" charset="-120"/>
              </a:rPr>
              <a:t>           _                     -&gt;  Left "character not found"</a:t>
            </a:r>
            <a:endParaRPr lang="en-US" sz="28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F3F41-E99B-9290-14A4-56D24CC88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9814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0EC2F-6D0E-0779-ADC5-BACDACE3A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779E6-20DF-2913-1995-04B2CA23B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Parsing one character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DBAA2-F4B3-1469-C70F-BE45250B6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41" y="1994903"/>
            <a:ext cx="3391128" cy="1530892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0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 :: Char -&gt; Parser Char</a:t>
            </a:r>
            <a:endParaRPr lang="en-US" sz="1000" dirty="0"/>
          </a:p>
          <a:p>
            <a:pPr marL="0" indent="0">
              <a:buNone/>
            </a:pPr>
            <a:r>
              <a:rPr lang="en-US" sz="1000" dirty="0" err="1"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 c =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Parser $ \input -&gt;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   case input of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       (</a:t>
            </a:r>
            <a:r>
              <a:rPr lang="en-US" sz="1000" dirty="0" err="1">
                <a:ea typeface="Consolas" pitchFamily="34" charset="-122"/>
                <a:cs typeface="Consolas" pitchFamily="34" charset="-120"/>
              </a:rPr>
              <a:t>x:xs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) | x == c  -&gt;  Right (</a:t>
            </a:r>
            <a:r>
              <a:rPr lang="en-US" sz="1000" dirty="0" err="1">
                <a:ea typeface="Consolas" pitchFamily="34" charset="-122"/>
                <a:cs typeface="Consolas" pitchFamily="34" charset="-120"/>
              </a:rPr>
              <a:t>xs</a:t>
            </a:r>
            <a:r>
              <a:rPr lang="en-US" sz="1000" dirty="0">
                <a:ea typeface="Consolas" pitchFamily="34" charset="-122"/>
                <a:cs typeface="Consolas" pitchFamily="34" charset="-120"/>
              </a:rPr>
              <a:t>, x)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ea typeface="Consolas" pitchFamily="34" charset="-122"/>
                <a:cs typeface="Consolas" pitchFamily="34" charset="-120"/>
              </a:rPr>
              <a:t>           _                     -&gt;  Left "character not found"</a:t>
            </a:r>
            <a:endParaRPr lang="en-US" sz="1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0FA79-C342-6AD0-9B5A-21417BC5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492EB2E2-1BC7-0EC4-0576-080606708816}"/>
              </a:ext>
            </a:extLst>
          </p:cNvPr>
          <p:cNvSpPr/>
          <p:nvPr/>
        </p:nvSpPr>
        <p:spPr>
          <a:xfrm>
            <a:off x="242686" y="3776719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Signature:  </a:t>
            </a: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 :: Char -&gt; Parser Char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takes a target character c, returns a Parser Char that looks for it.</a:t>
            </a:r>
            <a:endParaRPr lang="en-US" sz="12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CF451F53-7577-12EC-2851-A8126ABCC722}"/>
              </a:ext>
            </a:extLst>
          </p:cNvPr>
          <p:cNvSpPr/>
          <p:nvPr/>
        </p:nvSpPr>
        <p:spPr>
          <a:xfrm>
            <a:off x="242686" y="4201379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$ \input -&gt;: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Wraps a lambda inside the Parser newtype. The lambda receives the full input string when the parser is run.</a:t>
            </a:r>
            <a:endParaRPr lang="en-US" sz="1250" dirty="0"/>
          </a:p>
        </p:txBody>
      </p:sp>
      <p:sp>
        <p:nvSpPr>
          <p:cNvPr id="7" name="Text 12">
            <a:extLst>
              <a:ext uri="{FF2B5EF4-FFF2-40B4-BE49-F238E27FC236}">
                <a16:creationId xmlns:a16="http://schemas.microsoft.com/office/drawing/2014/main" id="{5EADB9B2-B9E4-2520-C89B-A6C6615AF48F}"/>
              </a:ext>
            </a:extLst>
          </p:cNvPr>
          <p:cNvSpPr/>
          <p:nvPr/>
        </p:nvSpPr>
        <p:spPr>
          <a:xfrm>
            <a:off x="242686" y="4666512"/>
            <a:ext cx="87209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(x:xs) pattern</a:t>
            </a:r>
            <a:r>
              <a:rPr lang="en-US" sz="1250" b="1" dirty="0">
                <a:solidFill>
                  <a:srgbClr val="006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Deconstructs the input: x is the first character (head), xs is the remainder (tail). Fails if input is empty.</a:t>
            </a:r>
            <a:endParaRPr lang="en-US" sz="125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158D5A70-BD33-314B-6474-3A6A12A1C866}"/>
              </a:ext>
            </a:extLst>
          </p:cNvPr>
          <p:cNvSpPr/>
          <p:nvPr/>
        </p:nvSpPr>
        <p:spPr>
          <a:xfrm>
            <a:off x="242686" y="5131645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x == c  guard </a:t>
            </a:r>
            <a:r>
              <a:rPr lang="en-US" sz="12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Only succeeds if x equals the target c. If not, Haskell falls through to the catch-all clause.</a:t>
            </a:r>
            <a:endParaRPr lang="en-US" sz="1250" dirty="0"/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B4299CA3-9A4F-9C61-B3AC-66CF087ADECC}"/>
              </a:ext>
            </a:extLst>
          </p:cNvPr>
          <p:cNvSpPr/>
          <p:nvPr/>
        </p:nvSpPr>
        <p:spPr>
          <a:xfrm>
            <a:off x="242686" y="559677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 (xs, x) </a:t>
            </a:r>
            <a:r>
              <a:rPr lang="en-US" sz="125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Success — returns the remaining string xs and the matched character x, wrapped in Right.</a:t>
            </a:r>
            <a:endParaRPr lang="en-US" sz="1250" dirty="0"/>
          </a:p>
        </p:txBody>
      </p:sp>
      <p:sp>
        <p:nvSpPr>
          <p:cNvPr id="10" name="Text 21">
            <a:extLst>
              <a:ext uri="{FF2B5EF4-FFF2-40B4-BE49-F238E27FC236}">
                <a16:creationId xmlns:a16="http://schemas.microsoft.com/office/drawing/2014/main" id="{3367ED7C-2672-ADC5-C474-658E2C9E4B08}"/>
              </a:ext>
            </a:extLst>
          </p:cNvPr>
          <p:cNvSpPr/>
          <p:nvPr/>
        </p:nvSpPr>
        <p:spPr>
          <a:xfrm>
            <a:off x="242686" y="604206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  -&gt;  Left ...: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Catch-all — if x ≠ c (or input is empty) parsing fails: Left "character not found".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2073962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2446F-103F-8611-F101-120897ED7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Using </a:t>
            </a:r>
            <a:r>
              <a:rPr lang="en-US" sz="2800" b="1" dirty="0" err="1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runParser</a:t>
            </a:r>
            <a:r>
              <a:rPr lang="en-US" sz="28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— Worked Examples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4DEB4-99FC-7D18-7BB5-F3BEB30A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7" name="Text 12">
            <a:extLst>
              <a:ext uri="{FF2B5EF4-FFF2-40B4-BE49-F238E27FC236}">
                <a16:creationId xmlns:a16="http://schemas.microsoft.com/office/drawing/2014/main" id="{7B9DD8DE-EF98-CBCE-662B-1871587ACEB8}"/>
              </a:ext>
            </a:extLst>
          </p:cNvPr>
          <p:cNvSpPr/>
          <p:nvPr/>
        </p:nvSpPr>
        <p:spPr>
          <a:xfrm>
            <a:off x="5394312" y="2152881"/>
            <a:ext cx="3349638" cy="438912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Find 'x' in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 —  Failure</a:t>
            </a:r>
            <a:endParaRPr lang="en-US" sz="16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7698B6BA-F83F-47BA-913A-A2E0A29AF2A6}"/>
              </a:ext>
            </a:extLst>
          </p:cNvPr>
          <p:cNvSpPr/>
          <p:nvPr/>
        </p:nvSpPr>
        <p:spPr>
          <a:xfrm>
            <a:off x="294121" y="2767478"/>
            <a:ext cx="2725862" cy="502920"/>
          </a:xfrm>
          <a:prstGeom prst="rect">
            <a:avLst/>
          </a:prstGeom>
          <a:solidFill>
            <a:srgbClr val="1A1F3A"/>
          </a:solidFill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runParser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charP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'a')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</a:t>
            </a: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9D3EF993-9604-4315-1C52-B6D7727127B0}"/>
              </a:ext>
            </a:extLst>
          </p:cNvPr>
          <p:cNvSpPr/>
          <p:nvPr/>
        </p:nvSpPr>
        <p:spPr>
          <a:xfrm>
            <a:off x="294121" y="3639896"/>
            <a:ext cx="2358843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-&gt;  Right ("bc", 'a')</a:t>
            </a: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4A82BA90-0797-23B1-606C-CBCA96AB5D4B}"/>
              </a:ext>
            </a:extLst>
          </p:cNvPr>
          <p:cNvSpPr/>
          <p:nvPr/>
        </p:nvSpPr>
        <p:spPr>
          <a:xfrm>
            <a:off x="294121" y="4512314"/>
            <a:ext cx="3513381" cy="1235477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char of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is 'a'.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'a' == 'a'  ✓  guard passes.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Right ("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'a'):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remaining =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 value = 'a'.</a:t>
            </a:r>
            <a:endParaRPr lang="en-US" sz="140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41CB4C1B-F543-B66B-35AC-69234A61D904}"/>
              </a:ext>
            </a:extLst>
          </p:cNvPr>
          <p:cNvSpPr/>
          <p:nvPr/>
        </p:nvSpPr>
        <p:spPr>
          <a:xfrm>
            <a:off x="294121" y="2187952"/>
            <a:ext cx="3138627" cy="4389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a.  Find 'a' in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  —  Success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6EAF66A-C709-763C-92F9-5527BB7D11B2}"/>
              </a:ext>
            </a:extLst>
          </p:cNvPr>
          <p:cNvSpPr/>
          <p:nvPr/>
        </p:nvSpPr>
        <p:spPr>
          <a:xfrm>
            <a:off x="5394312" y="2790335"/>
            <a:ext cx="3463136" cy="502920"/>
          </a:xfrm>
          <a:prstGeom prst="rect">
            <a:avLst/>
          </a:prstGeom>
          <a:solidFill>
            <a:srgbClr val="1A1F3A"/>
          </a:solidFill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runParser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charP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'x')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endParaRPr lang="en-US" sz="1600" b="1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F7A824C9-DCBF-84FF-0125-794EDBE09BA9}"/>
              </a:ext>
            </a:extLst>
          </p:cNvPr>
          <p:cNvSpPr/>
          <p:nvPr/>
        </p:nvSpPr>
        <p:spPr>
          <a:xfrm>
            <a:off x="5511372" y="3639896"/>
            <a:ext cx="2968526" cy="502920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-&gt;  Left "character not found"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E4207D99-903C-80FA-C58A-AC819B0CBF30}"/>
              </a:ext>
            </a:extLst>
          </p:cNvPr>
          <p:cNvSpPr/>
          <p:nvPr/>
        </p:nvSpPr>
        <p:spPr>
          <a:xfrm>
            <a:off x="5482466" y="4515496"/>
            <a:ext cx="3026338" cy="1235477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First char of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" is 'a'.</a:t>
            </a: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'a' == 'x'  ✗  guard fails.</a:t>
            </a:r>
          </a:p>
          <a:p>
            <a:endParaRPr lang="en-US" sz="1400" dirty="0">
              <a:solidFill>
                <a:srgbClr val="1E2761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Catch-all _ fires.</a:t>
            </a: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Returns Left "character not found".</a:t>
            </a:r>
          </a:p>
        </p:txBody>
      </p:sp>
      <p:sp>
        <p:nvSpPr>
          <p:cNvPr id="18" name="Text 20">
            <a:extLst>
              <a:ext uri="{FF2B5EF4-FFF2-40B4-BE49-F238E27FC236}">
                <a16:creationId xmlns:a16="http://schemas.microsoft.com/office/drawing/2014/main" id="{611F105F-570C-D512-0099-3D9035118E7B}"/>
              </a:ext>
            </a:extLst>
          </p:cNvPr>
          <p:cNvSpPr/>
          <p:nvPr/>
        </p:nvSpPr>
        <p:spPr>
          <a:xfrm>
            <a:off x="343050" y="6028266"/>
            <a:ext cx="8229600" cy="594360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runParser unwraps the Parser newtype and applies the inner function. The result is always an Either — Left for failure, Right for (remaining, value).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19619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-first-steps" id="{114FA3A5-54B0-F648-8A82-5F4E33E8EA9F}" vid="{544CB0E1-D8E5-D147-98C3-612C8FAB38E7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339</TotalTime>
  <Words>684</Words>
  <Application>Microsoft Macintosh PowerPoint</Application>
  <PresentationFormat>On-screen Show (4:3)</PresentationFormat>
  <Paragraphs>87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Arial</vt:lpstr>
      <vt:lpstr>Arial Black</vt:lpstr>
      <vt:lpstr>Calibri</vt:lpstr>
      <vt:lpstr>Consolas</vt:lpstr>
      <vt:lpstr>Lucida Sans Typewriter</vt:lpstr>
      <vt:lpstr>Tahoma</vt:lpstr>
      <vt:lpstr>Times New Roman</vt:lpstr>
      <vt:lpstr>Trebuchet MS</vt:lpstr>
      <vt:lpstr>Berlin</vt:lpstr>
      <vt:lpstr>PowerPoint Presentation</vt:lpstr>
      <vt:lpstr>PowerPoint Presentation</vt:lpstr>
      <vt:lpstr>Type v newtype </vt:lpstr>
      <vt:lpstr>Our three types </vt:lpstr>
      <vt:lpstr>Parsing one character</vt:lpstr>
      <vt:lpstr>Parsing one character</vt:lpstr>
      <vt:lpstr>Using runParser — Worked Examples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Mairead Meagher</dc:creator>
  <cp:lastModifiedBy>Mairead Meagher</cp:lastModifiedBy>
  <cp:revision>4</cp:revision>
  <cp:lastPrinted>2001-01-05T12:55:38Z</cp:lastPrinted>
  <dcterms:created xsi:type="dcterms:W3CDTF">2026-04-01T15:50:22Z</dcterms:created>
  <dcterms:modified xsi:type="dcterms:W3CDTF">2026-04-01T21:29:57Z</dcterms:modified>
</cp:coreProperties>
</file>