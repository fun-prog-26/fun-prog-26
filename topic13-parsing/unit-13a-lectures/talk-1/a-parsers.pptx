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29" r:id="rId1"/>
  </p:sldMasterIdLst>
  <p:notesMasterIdLst>
    <p:notesMasterId r:id="rId17"/>
  </p:notesMasterIdLst>
  <p:handoutMasterIdLst>
    <p:handoutMasterId r:id="rId18"/>
  </p:handoutMasterIdLst>
  <p:sldIdLst>
    <p:sldId id="308" r:id="rId2"/>
    <p:sldId id="278" r:id="rId3"/>
    <p:sldId id="309" r:id="rId4"/>
    <p:sldId id="310" r:id="rId5"/>
    <p:sldId id="344" r:id="rId6"/>
    <p:sldId id="311" r:id="rId7"/>
    <p:sldId id="313" r:id="rId8"/>
    <p:sldId id="312" r:id="rId9"/>
    <p:sldId id="314" r:id="rId10"/>
    <p:sldId id="345" r:id="rId11"/>
    <p:sldId id="346" r:id="rId12"/>
    <p:sldId id="315" r:id="rId13"/>
    <p:sldId id="316" r:id="rId14"/>
    <p:sldId id="317" r:id="rId15"/>
    <p:sldId id="343" r:id="rId16"/>
  </p:sldIdLst>
  <p:sldSz cx="12192000" cy="6858000"/>
  <p:notesSz cx="7089775" cy="102187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14"/>
    <p:restoredTop sz="94659"/>
  </p:normalViewPr>
  <p:slideViewPr>
    <p:cSldViewPr snapToGrid="0">
      <p:cViewPr varScale="1">
        <p:scale>
          <a:sx n="142" d="100"/>
          <a:sy n="142" d="100"/>
        </p:scale>
        <p:origin x="1648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2051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205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2053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F74290DC-920F-4F4F-928D-D9E78B962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75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2051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205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165" name="Rectangle 205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205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205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3514E8C-AAE0-5645-8347-9C02EFD9C0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723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746E87-F5CB-2947-9C43-6AD4847B896A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3062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800"/>
          </a:p>
        </p:txBody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D947AD-825A-F146-BBF9-54EA2008604E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C0D36E-8206-564B-B2A1-1AAB2B32758F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08AC770D-4187-B643-B651-7C2396F259F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8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08CC03-50C4-124F-9CF3-D3293E51A4B6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A3F454-4803-BE4E-A4C9-D0AB6CC2A0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9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3325FF-0F5B-BB49-B69C-EFCF2084E94A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1125D7-0927-D54A-8169-F3C5D05E93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800"/>
          </a:p>
        </p:txBody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6967E3-DF49-4044-89F4-CE2764162D95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2FD39C-9ADB-C245-9503-846EF8BEFA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3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AE39BF-D60A-6D45-9C6C-9CCC6328517E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F41AF7-5567-D741-8F34-DE634B40BB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32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A9CC54-BBB1-5C4A-838D-AB744647544A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F441E4-FAB9-C646-A3CA-EB59A4BA241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187542-FDF5-5246-AB78-5770354305AE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A40A2D-3EAF-8C40-9E51-E3D1278D108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4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4346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7870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190562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7087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3359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1852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90BA56-BDCD-C643-80CF-58841B686DE9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C0C35-3D7C-B541-A38B-FDC2B086A0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88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pPr>
              <a:defRPr/>
            </a:pPr>
            <a:fld id="{812B3317-FDA4-6C49-B281-E0300FE30B29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8771FEFC-E74C-F640-BE0B-37559422D8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5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4/3/26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250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E08685F-6324-1642-88D7-16A6D01BA5BE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3600" b="1" dirty="0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700214" y="5164138"/>
            <a:ext cx="8791575" cy="98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kumimoji="1" lang="en-US" sz="3200" dirty="0"/>
              <a:t>Topic 13.1 – Parsers in Haskell</a:t>
            </a:r>
          </a:p>
          <a:p>
            <a:pPr algn="ctr"/>
            <a:endParaRPr kumimoji="1" lang="en-US" sz="3200" dirty="0"/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003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16">
            <a:extLst>
              <a:ext uri="{FF2B5EF4-FFF2-40B4-BE49-F238E27FC236}">
                <a16:creationId xmlns:a16="http://schemas.microsoft.com/office/drawing/2014/main" id="{769A2FA6-77CB-BBC0-7626-7599420BDB16}"/>
              </a:ext>
            </a:extLst>
          </p:cNvPr>
          <p:cNvSpPr/>
          <p:nvPr/>
        </p:nvSpPr>
        <p:spPr>
          <a:xfrm>
            <a:off x="2149647" y="5815694"/>
            <a:ext cx="1664208" cy="68304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algn="ctr"/>
            <a:endParaRPr lang="en-US" sz="1400" b="1" dirty="0">
              <a:solidFill>
                <a:srgbClr val="FFFF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input</a:t>
            </a:r>
            <a:endParaRPr lang="en-US" sz="1400" dirty="0"/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3F5D9CDC-636F-7AFA-B5FD-CD4FA73366A4}"/>
              </a:ext>
            </a:extLst>
          </p:cNvPr>
          <p:cNvSpPr/>
          <p:nvPr/>
        </p:nvSpPr>
        <p:spPr>
          <a:xfrm>
            <a:off x="7312121" y="5737785"/>
            <a:ext cx="2331720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8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35990BC-941F-5B40-AA99-85A5C70022F6}" type="slidenum">
              <a:rPr lang="en-US" sz="1400"/>
              <a:pPr/>
              <a:t>1</a:t>
            </a:fld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46F4A5-0727-7928-02FD-4DA80F31A5D1}"/>
              </a:ext>
            </a:extLst>
          </p:cNvPr>
          <p:cNvSpPr txBox="1"/>
          <p:nvPr/>
        </p:nvSpPr>
        <p:spPr>
          <a:xfrm>
            <a:off x="2034242" y="1065482"/>
            <a:ext cx="3276603" cy="466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hangingPunct="1">
              <a:lnSpc>
                <a:spcPct val="90000"/>
              </a:lnSpc>
            </a:pPr>
            <a:r>
              <a:rPr lang="en-US" sz="2700" dirty="0">
                <a:latin typeface="Arial Black" charset="0"/>
                <a:cs typeface="+mj-cs"/>
              </a:rPr>
              <a:t>What is a parser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79778A61-1A54-315F-D67A-C73475FEE52C}"/>
              </a:ext>
            </a:extLst>
          </p:cNvPr>
          <p:cNvSpPr/>
          <p:nvPr/>
        </p:nvSpPr>
        <p:spPr>
          <a:xfrm>
            <a:off x="2034241" y="215582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latin typeface="+mn-lt"/>
                <a:ea typeface="Calibri" pitchFamily="34" charset="-122"/>
                <a:cs typeface="Calibri" pitchFamily="34" charset="-120"/>
              </a:rPr>
              <a:t>A parser is a function that takes a String and returns one of two things:</a:t>
            </a:r>
            <a:endParaRPr lang="en-US" sz="2400" dirty="0">
              <a:latin typeface="+mn-lt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6BBEBCA-749A-5E4F-123C-9D637B2BB4D3}"/>
              </a:ext>
            </a:extLst>
          </p:cNvPr>
          <p:cNvSpPr/>
          <p:nvPr/>
        </p:nvSpPr>
        <p:spPr>
          <a:xfrm>
            <a:off x="1883426" y="434425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return the remaining string?</a:t>
            </a:r>
            <a:endParaRPr lang="en-US" sz="200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96330A2A-989B-A8F9-FE8A-4E9121F5422C}"/>
              </a:ext>
            </a:extLst>
          </p:cNvPr>
          <p:cNvSpPr/>
          <p:nvPr/>
        </p:nvSpPr>
        <p:spPr>
          <a:xfrm>
            <a:off x="1889759" y="4731382"/>
            <a:ext cx="8412480" cy="658368"/>
          </a:xfrm>
          <a:prstGeom prst="rect">
            <a:avLst/>
          </a:prstGeom>
          <a:solidFill>
            <a:srgbClr val="D8E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 can be chained: each picks up from where the previous one stopped. Running </a:t>
            </a:r>
            <a:r>
              <a:rPr lang="en-US" sz="18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charP</a:t>
            </a: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'a' on "</a:t>
            </a:r>
            <a:r>
              <a:rPr lang="en-US" sz="18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</a:t>
            </a: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gives back "</a:t>
            </a:r>
            <a:r>
              <a:rPr lang="en-US" sz="18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</a:t>
            </a: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", which a next parser can consume.</a:t>
            </a:r>
            <a:endParaRPr lang="en-US" sz="180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C38415D1-EDDA-F2B6-5CF1-E7DF2E8B6238}"/>
              </a:ext>
            </a:extLst>
          </p:cNvPr>
          <p:cNvSpPr/>
          <p:nvPr/>
        </p:nvSpPr>
        <p:spPr>
          <a:xfrm>
            <a:off x="1631966" y="3337670"/>
            <a:ext cx="3749040" cy="10515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1CB05BF5-92F7-939E-5865-025D279986AD}"/>
              </a:ext>
            </a:extLst>
          </p:cNvPr>
          <p:cNvSpPr/>
          <p:nvPr/>
        </p:nvSpPr>
        <p:spPr>
          <a:xfrm>
            <a:off x="1883426" y="346111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 Error</a:t>
            </a:r>
            <a:endParaRPr lang="en-US" sz="16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5EE751F2-0198-DAEE-8666-147BA37E4A3C}"/>
              </a:ext>
            </a:extLst>
          </p:cNvPr>
          <p:cNvSpPr/>
          <p:nvPr/>
        </p:nvSpPr>
        <p:spPr>
          <a:xfrm>
            <a:off x="1883426" y="384516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Parsing failed — an error message is returned instead of a value.</a:t>
            </a:r>
            <a:endParaRPr lang="en-US" sz="130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558E5E01-FB65-8E1D-D9E0-85245762E4D2}"/>
              </a:ext>
            </a:extLst>
          </p:cNvPr>
          <p:cNvSpPr/>
          <p:nvPr/>
        </p:nvSpPr>
        <p:spPr>
          <a:xfrm>
            <a:off x="6514801" y="3346814"/>
            <a:ext cx="3749040" cy="10515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1509B82F-9307-CD01-2D6D-618B26FB4AC6}"/>
              </a:ext>
            </a:extLst>
          </p:cNvPr>
          <p:cNvSpPr/>
          <p:nvPr/>
        </p:nvSpPr>
        <p:spPr>
          <a:xfrm>
            <a:off x="6527472" y="3370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5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 (String, a)</a:t>
            </a:r>
            <a:endParaRPr lang="en-US" sz="155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825B9F57-A73F-934C-DEB6-B515A5F90033}"/>
              </a:ext>
            </a:extLst>
          </p:cNvPr>
          <p:cNvSpPr/>
          <p:nvPr/>
        </p:nvSpPr>
        <p:spPr>
          <a:xfrm>
            <a:off x="6527472" y="37543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remaining input string plus the parsed value.</a:t>
            </a:r>
            <a:endParaRPr lang="en-US" sz="1300" dirty="0"/>
          </a:p>
        </p:txBody>
      </p:sp>
      <p:sp>
        <p:nvSpPr>
          <p:cNvPr id="38" name="Left Arrow 37">
            <a:extLst>
              <a:ext uri="{FF2B5EF4-FFF2-40B4-BE49-F238E27FC236}">
                <a16:creationId xmlns:a16="http://schemas.microsoft.com/office/drawing/2014/main" id="{23F0194B-1BA0-CFC5-742E-61A522DEC7CC}"/>
              </a:ext>
            </a:extLst>
          </p:cNvPr>
          <p:cNvSpPr/>
          <p:nvPr/>
        </p:nvSpPr>
        <p:spPr>
          <a:xfrm rot="19522172">
            <a:off x="4592555" y="2661153"/>
            <a:ext cx="1189822" cy="506776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eft Arrow 38">
            <a:extLst>
              <a:ext uri="{FF2B5EF4-FFF2-40B4-BE49-F238E27FC236}">
                <a16:creationId xmlns:a16="http://schemas.microsoft.com/office/drawing/2014/main" id="{58F3BDA7-4EFE-CD53-BE8A-BADCE578ECD8}"/>
              </a:ext>
            </a:extLst>
          </p:cNvPr>
          <p:cNvSpPr/>
          <p:nvPr/>
        </p:nvSpPr>
        <p:spPr>
          <a:xfrm rot="13377505">
            <a:off x="6109149" y="2654227"/>
            <a:ext cx="1189822" cy="506776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67EAD3-E925-67DF-386E-8B09ECABE8DD}"/>
              </a:ext>
            </a:extLst>
          </p:cNvPr>
          <p:cNvSpPr txBox="1"/>
          <p:nvPr/>
        </p:nvSpPr>
        <p:spPr>
          <a:xfrm>
            <a:off x="5656031" y="2823594"/>
            <a:ext cx="858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183DF34F-6BD7-0B79-172F-D7AE1D28C296}"/>
              </a:ext>
            </a:extLst>
          </p:cNvPr>
          <p:cNvSpPr/>
          <p:nvPr/>
        </p:nvSpPr>
        <p:spPr>
          <a:xfrm>
            <a:off x="3813855" y="5748932"/>
            <a:ext cx="79884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1E2761"/>
                </a:solidFill>
              </a:rPr>
              <a:t>→</a:t>
            </a:r>
            <a:endParaRPr lang="en-US" sz="2400" dirty="0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6CA56BEE-D415-7677-AD55-BFDE98DEF140}"/>
              </a:ext>
            </a:extLst>
          </p:cNvPr>
          <p:cNvSpPr/>
          <p:nvPr/>
        </p:nvSpPr>
        <p:spPr>
          <a:xfrm>
            <a:off x="4431223" y="5748932"/>
            <a:ext cx="1993392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2A0239E2-64F2-42E8-E9A0-DB5BF1C49EF9}"/>
              </a:ext>
            </a:extLst>
          </p:cNvPr>
          <p:cNvSpPr/>
          <p:nvPr/>
        </p:nvSpPr>
        <p:spPr>
          <a:xfrm>
            <a:off x="4396444" y="5804547"/>
            <a:ext cx="1828800" cy="683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a</a:t>
            </a:r>
            <a:endParaRPr lang="en-US" sz="13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BDAB5065-B08A-6DF1-C0DE-5ED2FF36A58B}"/>
              </a:ext>
            </a:extLst>
          </p:cNvPr>
          <p:cNvSpPr/>
          <p:nvPr/>
        </p:nvSpPr>
        <p:spPr>
          <a:xfrm>
            <a:off x="6527473" y="5748932"/>
            <a:ext cx="623943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1E2761"/>
                </a:solidFill>
              </a:rPr>
              <a:t>→</a:t>
            </a:r>
            <a:endParaRPr lang="en-US" sz="24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1A68C686-4A9B-5D2E-C536-584A6DB4AA25}"/>
              </a:ext>
            </a:extLst>
          </p:cNvPr>
          <p:cNvSpPr/>
          <p:nvPr/>
        </p:nvSpPr>
        <p:spPr>
          <a:xfrm>
            <a:off x="7151415" y="574893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Either Error</a:t>
            </a:r>
            <a:endParaRPr lang="en-US" sz="1300" dirty="0"/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(String, a)</a:t>
            </a:r>
            <a:endParaRPr lang="en-US" sz="13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2" grpId="0" animBg="1"/>
      <p:bldP spid="10" grpId="0" animBg="1"/>
      <p:bldP spid="20" grpId="0" animBg="1"/>
      <p:bldP spid="2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B6413-46EB-255C-58EB-AD6845DC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US" dirty="0">
                <a:latin typeface="Arial Black" charset="0"/>
                <a:ea typeface="ＭＳ Ｐゴシック" charset="0"/>
              </a:rPr>
              <a:t>Type v </a:t>
            </a:r>
            <a:r>
              <a:rPr lang="en-US" dirty="0" err="1">
                <a:latin typeface="Arial Black" charset="0"/>
                <a:ea typeface="ＭＳ Ｐゴシック" charset="0"/>
              </a:rPr>
              <a:t>newtype</a:t>
            </a:r>
            <a:r>
              <a:rPr lang="en-US" dirty="0">
                <a:latin typeface="Arial Black" charset="0"/>
                <a:ea typeface="ＭＳ Ｐゴシック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85ADA-9656-0E2A-4A70-8D9B4ED6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46A00FF-7D40-13E2-DECE-DBFCEFD52144}"/>
              </a:ext>
            </a:extLst>
          </p:cNvPr>
          <p:cNvSpPr/>
          <p:nvPr/>
        </p:nvSpPr>
        <p:spPr>
          <a:xfrm>
            <a:off x="1889760" y="3204587"/>
            <a:ext cx="38404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5153A5A-2EC5-5DBD-F5C0-E5E71FB606C9}"/>
              </a:ext>
            </a:extLst>
          </p:cNvPr>
          <p:cNvSpPr/>
          <p:nvPr/>
        </p:nvSpPr>
        <p:spPr>
          <a:xfrm>
            <a:off x="6461760" y="3204587"/>
            <a:ext cx="3840480" cy="3584448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32F7F343-5EF5-E5ED-1ED8-7D53BCE79ED1}"/>
              </a:ext>
            </a:extLst>
          </p:cNvPr>
          <p:cNvSpPr/>
          <p:nvPr/>
        </p:nvSpPr>
        <p:spPr>
          <a:xfrm>
            <a:off x="5730240" y="4247003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rgbClr val="3D4E8C"/>
                </a:solidFill>
              </a:rPr>
              <a:t>vs</a:t>
            </a:r>
            <a:endParaRPr lang="en-US" sz="2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1658331-5BD1-ACFB-77B0-41251875480B}"/>
              </a:ext>
            </a:extLst>
          </p:cNvPr>
          <p:cNvSpPr/>
          <p:nvPr/>
        </p:nvSpPr>
        <p:spPr>
          <a:xfrm>
            <a:off x="1889760" y="3204587"/>
            <a:ext cx="3840480" cy="35844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3F08B54-8794-0192-9CBA-C22562BB7D67}"/>
              </a:ext>
            </a:extLst>
          </p:cNvPr>
          <p:cNvSpPr/>
          <p:nvPr/>
        </p:nvSpPr>
        <p:spPr>
          <a:xfrm>
            <a:off x="2090928" y="3296027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Just a rename — no new type created</a:t>
            </a:r>
            <a:endParaRPr lang="en-US" sz="125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20392E6-197C-8091-3103-5ED903777E4A}"/>
              </a:ext>
            </a:extLst>
          </p:cNvPr>
          <p:cNvSpPr/>
          <p:nvPr/>
        </p:nvSpPr>
        <p:spPr>
          <a:xfrm>
            <a:off x="2090928" y="3817235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interchangeable with original</a:t>
            </a:r>
            <a:endParaRPr lang="en-US" sz="125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9D53F76B-037E-442D-F026-8B1D83B9D9C1}"/>
              </a:ext>
            </a:extLst>
          </p:cNvPr>
          <p:cNvSpPr/>
          <p:nvPr/>
        </p:nvSpPr>
        <p:spPr>
          <a:xfrm>
            <a:off x="2090928" y="4338443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Cannot define typeclass instances</a:t>
            </a:r>
            <a:endParaRPr lang="en-US" sz="125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CFDF1CA-363F-1648-21C8-337DCC3E24A1}"/>
              </a:ext>
            </a:extLst>
          </p:cNvPr>
          <p:cNvSpPr/>
          <p:nvPr/>
        </p:nvSpPr>
        <p:spPr>
          <a:xfrm>
            <a:off x="2090928" y="4859651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runtime difference at all</a:t>
            </a:r>
            <a:endParaRPr lang="en-US" sz="125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E74D241-7A69-7AA0-2653-11CF2A95FB68}"/>
              </a:ext>
            </a:extLst>
          </p:cNvPr>
          <p:cNvSpPr/>
          <p:nvPr/>
        </p:nvSpPr>
        <p:spPr>
          <a:xfrm>
            <a:off x="2090928" y="5380859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Useful only for readability</a:t>
            </a:r>
            <a:endParaRPr lang="en-US" sz="125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33D13D95-9194-C37F-812D-095554D33C8D}"/>
              </a:ext>
            </a:extLst>
          </p:cNvPr>
          <p:cNvSpPr/>
          <p:nvPr/>
        </p:nvSpPr>
        <p:spPr>
          <a:xfrm>
            <a:off x="2090928" y="5902067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 type Error = String</a:t>
            </a:r>
            <a:endParaRPr lang="en-US" sz="125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F240F989-E5E8-BB15-B831-FDC8983E8FA2}"/>
              </a:ext>
            </a:extLst>
          </p:cNvPr>
          <p:cNvSpPr/>
          <p:nvPr/>
        </p:nvSpPr>
        <p:spPr>
          <a:xfrm>
            <a:off x="1898904" y="2747132"/>
            <a:ext cx="3840480" cy="47548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r>
              <a:rPr lang="en-US" dirty="0"/>
              <a:t>    type (alias) 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C7EB587-F5EA-C441-C5EB-F6AB61B0DFEB}"/>
              </a:ext>
            </a:extLst>
          </p:cNvPr>
          <p:cNvSpPr/>
          <p:nvPr/>
        </p:nvSpPr>
        <p:spPr>
          <a:xfrm>
            <a:off x="6836664" y="3341747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Creates a genuinely distinct type</a:t>
            </a:r>
            <a:endParaRPr lang="en-US" sz="12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FFEFC3E-A7AD-A625-9481-C58810DDBA61}"/>
              </a:ext>
            </a:extLst>
          </p:cNvPr>
          <p:cNvSpPr/>
          <p:nvPr/>
        </p:nvSpPr>
        <p:spPr>
          <a:xfrm>
            <a:off x="6836664" y="3862955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Compiler treats them as separate types</a:t>
            </a:r>
            <a:endParaRPr lang="en-US" sz="12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FA5994CA-71ED-64B5-668D-73701AFBCB71}"/>
              </a:ext>
            </a:extLst>
          </p:cNvPr>
          <p:cNvSpPr/>
          <p:nvPr/>
        </p:nvSpPr>
        <p:spPr>
          <a:xfrm>
            <a:off x="6836664" y="4384163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 implement Functor, Monad, etc.</a:t>
            </a:r>
            <a:endParaRPr lang="en-US" sz="125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261C727D-9922-572E-2659-4E0AAF3E056A}"/>
              </a:ext>
            </a:extLst>
          </p:cNvPr>
          <p:cNvSpPr/>
          <p:nvPr/>
        </p:nvSpPr>
        <p:spPr>
          <a:xfrm>
            <a:off x="6836664" y="4905371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runtime cost (erased at compile)</a:t>
            </a:r>
            <a:endParaRPr lang="en-US" sz="125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04152A79-8D86-8FAC-F7FE-D0D59E46F2C5}"/>
              </a:ext>
            </a:extLst>
          </p:cNvPr>
          <p:cNvSpPr/>
          <p:nvPr/>
        </p:nvSpPr>
        <p:spPr>
          <a:xfrm>
            <a:off x="6836664" y="5426579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Enables safe abstraction &amp; wrapping</a:t>
            </a:r>
            <a:endParaRPr lang="en-US" sz="125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FCBFD48A-8D48-D9FE-0CD3-80BF0FDC9E97}"/>
              </a:ext>
            </a:extLst>
          </p:cNvPr>
          <p:cNvSpPr/>
          <p:nvPr/>
        </p:nvSpPr>
        <p:spPr>
          <a:xfrm>
            <a:off x="6836664" y="5947787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 newtype Parser a = ...</a:t>
            </a:r>
            <a:endParaRPr lang="en-US" sz="125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10654408-6A23-1415-BD3D-2B9016855E03}"/>
              </a:ext>
            </a:extLst>
          </p:cNvPr>
          <p:cNvSpPr/>
          <p:nvPr/>
        </p:nvSpPr>
        <p:spPr>
          <a:xfrm>
            <a:off x="6452616" y="2719955"/>
            <a:ext cx="3840480" cy="475488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algn="ctr"/>
            <a:r>
              <a:rPr lang="en-US" dirty="0"/>
              <a:t>newtype  (wrapper)</a:t>
            </a:r>
          </a:p>
        </p:txBody>
      </p:sp>
    </p:spTree>
    <p:extLst>
      <p:ext uri="{BB962C8B-B14F-4D97-AF65-F5344CB8AC3E}">
        <p14:creationId xmlns:p14="http://schemas.microsoft.com/office/powerpoint/2010/main" val="2633874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169C6-29A7-49B7-95A6-D91AE02C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7122" y="800211"/>
            <a:ext cx="7210396" cy="1080938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dirty="0">
                <a:latin typeface="Arial Black" charset="0"/>
                <a:ea typeface="ＭＳ Ｐゴシック" charset="0"/>
              </a:rPr>
              <a:t>Our three types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89B41-8D41-8D29-AFBF-B905B4C0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2B696-B85C-CD80-30BC-8EEFEA1340D4}"/>
              </a:ext>
            </a:extLst>
          </p:cNvPr>
          <p:cNvSpPr txBox="1"/>
          <p:nvPr/>
        </p:nvSpPr>
        <p:spPr>
          <a:xfrm>
            <a:off x="2162979" y="2434728"/>
            <a:ext cx="8064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Error – what we return when parsing fails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41033108-3710-ACA4-96D2-B85443FF3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3392" y="3049863"/>
            <a:ext cx="3717684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400" dirty="0">
                <a:latin typeface="Lucida Sans Typewriter" charset="0"/>
                <a:cs typeface="+mn-cs"/>
              </a:rPr>
              <a:t>type Error =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3A64FE-7A41-4DCC-C5AA-B0748BA250BF}"/>
              </a:ext>
            </a:extLst>
          </p:cNvPr>
          <p:cNvSpPr txBox="1"/>
          <p:nvPr/>
        </p:nvSpPr>
        <p:spPr>
          <a:xfrm>
            <a:off x="2162979" y="3638443"/>
            <a:ext cx="8064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Result a – the outcome of any parser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5E9EEC18-1789-F184-530D-92457DDA0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3392" y="4288580"/>
            <a:ext cx="7808548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400" dirty="0">
                <a:latin typeface="Lucida Sans Typewriter" charset="0"/>
                <a:cs typeface="+mn-cs"/>
              </a:rPr>
              <a:t>type Result a  = Either Error (String, a)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37F84350-861F-CA49-E39C-424907628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3392" y="5504608"/>
            <a:ext cx="7622600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400" dirty="0" err="1">
                <a:latin typeface="Lucida Sans Typewriter" charset="0"/>
                <a:cs typeface="+mn-cs"/>
              </a:rPr>
              <a:t>newtype</a:t>
            </a:r>
            <a:r>
              <a:rPr lang="en-US" sz="2400" dirty="0">
                <a:latin typeface="Lucida Sans Typewriter" charset="0"/>
                <a:cs typeface="+mn-cs"/>
              </a:rPr>
              <a:t> Parser a = Parser </a:t>
            </a:r>
          </a:p>
          <a:p>
            <a:pPr>
              <a:defRPr/>
            </a:pPr>
            <a:r>
              <a:rPr lang="en-US" sz="2400" dirty="0">
                <a:latin typeface="Lucida Sans Typewriter" charset="0"/>
                <a:cs typeface="+mn-cs"/>
              </a:rPr>
              <a:t>     { </a:t>
            </a:r>
            <a:r>
              <a:rPr lang="en-US" sz="2400" dirty="0" err="1">
                <a:latin typeface="Lucida Sans Typewriter" charset="0"/>
                <a:cs typeface="+mn-cs"/>
              </a:rPr>
              <a:t>runParser</a:t>
            </a:r>
            <a:r>
              <a:rPr lang="en-US" sz="2400" dirty="0">
                <a:latin typeface="Lucida Sans Typewriter" charset="0"/>
                <a:cs typeface="+mn-cs"/>
              </a:rPr>
              <a:t> :: String -&gt; Result a }</a:t>
            </a:r>
          </a:p>
          <a:p>
            <a:pPr>
              <a:defRPr/>
            </a:pPr>
            <a:endParaRPr lang="en-US" sz="2400" dirty="0">
              <a:latin typeface="Lucida Sans Typewriter" charset="0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4B9574-9ABE-EFCA-9BDE-D4D5666A9833}"/>
              </a:ext>
            </a:extLst>
          </p:cNvPr>
          <p:cNvSpPr txBox="1"/>
          <p:nvPr/>
        </p:nvSpPr>
        <p:spPr>
          <a:xfrm>
            <a:off x="2162979" y="4981387"/>
            <a:ext cx="8516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Parser a – wraps a function from String to Result</a:t>
            </a:r>
          </a:p>
        </p:txBody>
      </p:sp>
    </p:spTree>
    <p:extLst>
      <p:ext uri="{BB962C8B-B14F-4D97-AF65-F5344CB8AC3E}">
        <p14:creationId xmlns:p14="http://schemas.microsoft.com/office/powerpoint/2010/main" val="63976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F025-AA69-A7C3-F53C-CB907841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F5A9B-48AF-EA68-056A-F5B621C0D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4241" y="2336874"/>
            <a:ext cx="7210396" cy="2006527"/>
          </a:xfrm>
        </p:spPr>
        <p:txBody>
          <a:bodyPr/>
          <a:lstStyle/>
          <a:p>
            <a:r>
              <a:rPr lang="en-US" dirty="0"/>
              <a:t>This Slide Deck – we look at building a minimal version of a primitive parser (parser for character </a:t>
            </a:r>
            <a:r>
              <a:rPr lang="en-US" dirty="0" err="1"/>
              <a:t>etc</a:t>
            </a:r>
            <a:r>
              <a:rPr lang="en-US" dirty="0"/>
              <a:t>) </a:t>
            </a:r>
          </a:p>
          <a:p>
            <a:endParaRPr lang="en-US" dirty="0"/>
          </a:p>
          <a:p>
            <a:r>
              <a:rPr lang="en-US" dirty="0"/>
              <a:t>Next Slide Deck -&gt; Having seen a primitive parser, we will look at the use of a library Parser and see how this works on an XML File.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FC791-9212-AD84-B11A-027AEC9F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0129-2825-2ADC-0771-5C9E8FC6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dirty="0">
                <a:latin typeface="Arial Black" charset="0"/>
                <a:ea typeface="ＭＳ Ｐゴシック" charset="0"/>
              </a:rPr>
              <a:t>Parsing one character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39F62-6467-FC46-5556-DE55275D8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9458" y="2085519"/>
            <a:ext cx="8193084" cy="2686962"/>
          </a:xfrm>
          <a:solidFill>
            <a:schemeClr val="accent1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 err="1">
                <a:ea typeface="Consolas" pitchFamily="34" charset="-122"/>
                <a:cs typeface="Consolas" pitchFamily="34" charset="-120"/>
              </a:rPr>
              <a:t>charP</a:t>
            </a:r>
            <a:r>
              <a:rPr lang="en-US" sz="2800" dirty="0">
                <a:ea typeface="Consolas" pitchFamily="34" charset="-122"/>
                <a:cs typeface="Consolas" pitchFamily="34" charset="-120"/>
              </a:rPr>
              <a:t> :: Char -&gt; Parser Char</a:t>
            </a:r>
            <a:endParaRPr lang="en-US" sz="2800" dirty="0"/>
          </a:p>
          <a:p>
            <a:pPr marL="0" indent="0">
              <a:buNone/>
            </a:pPr>
            <a:r>
              <a:rPr lang="en-US" sz="2800" dirty="0" err="1">
                <a:ea typeface="Consolas" pitchFamily="34" charset="-122"/>
                <a:cs typeface="Consolas" pitchFamily="34" charset="-120"/>
              </a:rPr>
              <a:t>charP</a:t>
            </a:r>
            <a:r>
              <a:rPr lang="en-US" sz="2800" dirty="0">
                <a:ea typeface="Consolas" pitchFamily="34" charset="-122"/>
                <a:cs typeface="Consolas" pitchFamily="34" charset="-120"/>
              </a:rPr>
              <a:t> c =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ea typeface="Consolas" pitchFamily="34" charset="-122"/>
                <a:cs typeface="Consolas" pitchFamily="34" charset="-120"/>
              </a:rPr>
              <a:t>    Parser $ \input -&gt;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ea typeface="Consolas" pitchFamily="34" charset="-122"/>
                <a:cs typeface="Consolas" pitchFamily="34" charset="-120"/>
              </a:rPr>
              <a:t>       case input of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ea typeface="Consolas" pitchFamily="34" charset="-122"/>
                <a:cs typeface="Consolas" pitchFamily="34" charset="-120"/>
              </a:rPr>
              <a:t>           (</a:t>
            </a:r>
            <a:r>
              <a:rPr lang="en-US" sz="2800" dirty="0" err="1">
                <a:ea typeface="Consolas" pitchFamily="34" charset="-122"/>
                <a:cs typeface="Consolas" pitchFamily="34" charset="-120"/>
              </a:rPr>
              <a:t>x:xs</a:t>
            </a:r>
            <a:r>
              <a:rPr lang="en-US" sz="2800" dirty="0">
                <a:ea typeface="Consolas" pitchFamily="34" charset="-122"/>
                <a:cs typeface="Consolas" pitchFamily="34" charset="-120"/>
              </a:rPr>
              <a:t>) | x == c  -&gt;  Right (</a:t>
            </a:r>
            <a:r>
              <a:rPr lang="en-US" sz="2800" dirty="0" err="1">
                <a:ea typeface="Consolas" pitchFamily="34" charset="-122"/>
                <a:cs typeface="Consolas" pitchFamily="34" charset="-120"/>
              </a:rPr>
              <a:t>xs</a:t>
            </a:r>
            <a:r>
              <a:rPr lang="en-US" sz="2800" dirty="0">
                <a:ea typeface="Consolas" pitchFamily="34" charset="-122"/>
                <a:cs typeface="Consolas" pitchFamily="34" charset="-120"/>
              </a:rPr>
              <a:t>, x)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ea typeface="Consolas" pitchFamily="34" charset="-122"/>
                <a:cs typeface="Consolas" pitchFamily="34" charset="-120"/>
              </a:rPr>
              <a:t>           _                     -&gt;  Left "character not found"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F3F41-E99B-9290-14A4-56D24CC8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81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0EC2F-6D0E-0779-ADC5-BACDACE3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779E6-20DF-2913-1995-04B2CA23B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US" dirty="0">
                <a:latin typeface="Arial Black" charset="0"/>
                <a:ea typeface="ＭＳ Ｐゴシック" charset="0"/>
              </a:rPr>
              <a:t>Parsing one character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DBAA2-F4B3-1469-C70F-BE45250B6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041" y="1994903"/>
            <a:ext cx="3391128" cy="1530892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 err="1">
                <a:ea typeface="Consolas" pitchFamily="34" charset="-122"/>
                <a:cs typeface="Consolas" pitchFamily="34" charset="-120"/>
              </a:rPr>
              <a:t>charP</a:t>
            </a:r>
            <a:r>
              <a:rPr lang="en-US" sz="1000" dirty="0">
                <a:ea typeface="Consolas" pitchFamily="34" charset="-122"/>
                <a:cs typeface="Consolas" pitchFamily="34" charset="-120"/>
              </a:rPr>
              <a:t> :: Char -&gt; Parser Char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 err="1">
                <a:ea typeface="Consolas" pitchFamily="34" charset="-122"/>
                <a:cs typeface="Consolas" pitchFamily="34" charset="-120"/>
              </a:rPr>
              <a:t>charP</a:t>
            </a:r>
            <a:r>
              <a:rPr lang="en-US" sz="1000" dirty="0">
                <a:ea typeface="Consolas" pitchFamily="34" charset="-122"/>
                <a:cs typeface="Consolas" pitchFamily="34" charset="-120"/>
              </a:rPr>
              <a:t> c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ea typeface="Consolas" pitchFamily="34" charset="-122"/>
                <a:cs typeface="Consolas" pitchFamily="34" charset="-120"/>
              </a:rPr>
              <a:t>    Parser $ \input 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ea typeface="Consolas" pitchFamily="34" charset="-122"/>
                <a:cs typeface="Consolas" pitchFamily="34" charset="-120"/>
              </a:rPr>
              <a:t>       case input of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ea typeface="Consolas" pitchFamily="34" charset="-122"/>
                <a:cs typeface="Consolas" pitchFamily="34" charset="-120"/>
              </a:rPr>
              <a:t>           (</a:t>
            </a:r>
            <a:r>
              <a:rPr lang="en-US" sz="1000" dirty="0" err="1">
                <a:ea typeface="Consolas" pitchFamily="34" charset="-122"/>
                <a:cs typeface="Consolas" pitchFamily="34" charset="-120"/>
              </a:rPr>
              <a:t>x:xs</a:t>
            </a:r>
            <a:r>
              <a:rPr lang="en-US" sz="1000" dirty="0">
                <a:ea typeface="Consolas" pitchFamily="34" charset="-122"/>
                <a:cs typeface="Consolas" pitchFamily="34" charset="-120"/>
              </a:rPr>
              <a:t>) | x == c  -&gt;  Right (</a:t>
            </a:r>
            <a:r>
              <a:rPr lang="en-US" sz="1000" dirty="0" err="1">
                <a:ea typeface="Consolas" pitchFamily="34" charset="-122"/>
                <a:cs typeface="Consolas" pitchFamily="34" charset="-120"/>
              </a:rPr>
              <a:t>xs</a:t>
            </a:r>
            <a:r>
              <a:rPr lang="en-US" sz="1000" dirty="0">
                <a:ea typeface="Consolas" pitchFamily="34" charset="-122"/>
                <a:cs typeface="Consolas" pitchFamily="34" charset="-120"/>
              </a:rPr>
              <a:t>, 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ea typeface="Consolas" pitchFamily="34" charset="-122"/>
                <a:cs typeface="Consolas" pitchFamily="34" charset="-120"/>
              </a:rPr>
              <a:t>           _                     -&gt;  Left "character not found"</a:t>
            </a:r>
            <a:endParaRPr lang="en-US" sz="1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0FA79-C342-6AD0-9B5A-21417BC5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492EB2E2-1BC7-0EC4-0576-080606708816}"/>
              </a:ext>
            </a:extLst>
          </p:cNvPr>
          <p:cNvSpPr/>
          <p:nvPr/>
        </p:nvSpPr>
        <p:spPr>
          <a:xfrm>
            <a:off x="1766686" y="3776719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Signature:  </a:t>
            </a: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charP :: Char -&gt; Parser Char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takes a target character c, returns a Parser Char that looks for it.</a:t>
            </a:r>
            <a:endParaRPr lang="en-US" sz="125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CF451F53-7577-12EC-2851-A8126ABCC722}"/>
              </a:ext>
            </a:extLst>
          </p:cNvPr>
          <p:cNvSpPr/>
          <p:nvPr/>
        </p:nvSpPr>
        <p:spPr>
          <a:xfrm>
            <a:off x="1766686" y="4201379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$ \input -&gt;: 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Wraps a lambda inside the Parser newtype. The lambda receives the full input string when the parser is run.</a:t>
            </a:r>
            <a:endParaRPr lang="en-US" sz="1250" dirty="0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5EADB9B2-B9E4-2520-C89B-A6C6615AF48F}"/>
              </a:ext>
            </a:extLst>
          </p:cNvPr>
          <p:cNvSpPr/>
          <p:nvPr/>
        </p:nvSpPr>
        <p:spPr>
          <a:xfrm>
            <a:off x="1766686" y="4666512"/>
            <a:ext cx="87209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(x:xs) pattern</a:t>
            </a:r>
            <a:r>
              <a:rPr lang="en-US" sz="125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Deconstructs the input: x is the first character (head), xs is the remainder (tail). Fails if input is empty.</a:t>
            </a:r>
            <a:endParaRPr lang="en-US" sz="1250" dirty="0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158D5A70-BD33-314B-6474-3A6A12A1C866}"/>
              </a:ext>
            </a:extLst>
          </p:cNvPr>
          <p:cNvSpPr/>
          <p:nvPr/>
        </p:nvSpPr>
        <p:spPr>
          <a:xfrm>
            <a:off x="1766686" y="5131645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x == c  guard </a:t>
            </a:r>
            <a:r>
              <a:rPr lang="en-US" sz="12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Only succeeds if x equals the target c. If not, Haskell falls through to the catch-all clause.</a:t>
            </a:r>
            <a:endParaRPr lang="en-US" sz="1250" dirty="0"/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B4299CA3-9A4F-9C61-B3AC-66CF087ADECC}"/>
              </a:ext>
            </a:extLst>
          </p:cNvPr>
          <p:cNvSpPr/>
          <p:nvPr/>
        </p:nvSpPr>
        <p:spPr>
          <a:xfrm>
            <a:off x="1766686" y="559677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(xs, x) </a:t>
            </a:r>
            <a:r>
              <a:rPr lang="en-US" sz="12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returns the remaining string xs and the matched character x, wrapped in Right.</a:t>
            </a:r>
            <a:endParaRPr lang="en-US" sz="1250" dirty="0"/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3367ED7C-2672-ADC5-C474-658E2C9E4B08}"/>
              </a:ext>
            </a:extLst>
          </p:cNvPr>
          <p:cNvSpPr/>
          <p:nvPr/>
        </p:nvSpPr>
        <p:spPr>
          <a:xfrm>
            <a:off x="1766686" y="60420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-&gt;  Left ...: 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Catch-all — if x ≠ c (or input is empty) parsing fails: Left "character not found".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207396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446F-103F-8611-F101-120897ED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Using </a:t>
            </a:r>
            <a:r>
              <a:rPr lang="en-US" sz="2800" b="1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runParser</a:t>
            </a:r>
            <a:r>
              <a:rPr lang="en-US" sz="28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— Worked Examples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4DEB4-99FC-7D18-7BB5-F3BEB30A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7B9DD8DE-EF98-CBCE-662B-1871587ACEB8}"/>
              </a:ext>
            </a:extLst>
          </p:cNvPr>
          <p:cNvSpPr/>
          <p:nvPr/>
        </p:nvSpPr>
        <p:spPr>
          <a:xfrm>
            <a:off x="6918312" y="2152881"/>
            <a:ext cx="3349638" cy="438912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Find 'x' in "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 —  Failure</a:t>
            </a:r>
            <a:endParaRPr lang="en-US" sz="16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698B6BA-F83F-47BA-913A-A2E0A29AF2A6}"/>
              </a:ext>
            </a:extLst>
          </p:cNvPr>
          <p:cNvSpPr/>
          <p:nvPr/>
        </p:nvSpPr>
        <p:spPr>
          <a:xfrm>
            <a:off x="1818121" y="2767478"/>
            <a:ext cx="2725862" cy="502920"/>
          </a:xfrm>
          <a:prstGeom prst="rect">
            <a:avLst/>
          </a:prstGeom>
          <a:solidFill>
            <a:srgbClr val="1A1F3A"/>
          </a:solidFill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runParser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charP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'a') "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abc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"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D3EF993-9604-4315-1C52-B6D7727127B0}"/>
              </a:ext>
            </a:extLst>
          </p:cNvPr>
          <p:cNvSpPr/>
          <p:nvPr/>
        </p:nvSpPr>
        <p:spPr>
          <a:xfrm>
            <a:off x="1818122" y="3639896"/>
            <a:ext cx="2358843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-&gt;  Right ("bc", 'a')</a:t>
            </a: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4A82BA90-0797-23B1-606C-CBCA96AB5D4B}"/>
              </a:ext>
            </a:extLst>
          </p:cNvPr>
          <p:cNvSpPr/>
          <p:nvPr/>
        </p:nvSpPr>
        <p:spPr>
          <a:xfrm>
            <a:off x="1818122" y="4512315"/>
            <a:ext cx="3513381" cy="1235477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char of "</a:t>
            </a:r>
            <a:r>
              <a:rPr lang="en-US" sz="14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is 'a'.</a:t>
            </a:r>
            <a:endParaRPr lang="en-US" sz="1400" dirty="0"/>
          </a:p>
          <a:p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'a' == 'a'  ✓  guard passes.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Right ("</a:t>
            </a:r>
            <a:r>
              <a:rPr lang="en-US" sz="14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", 'a'):</a:t>
            </a:r>
            <a:endParaRPr lang="en-US" sz="1400" dirty="0"/>
          </a:p>
          <a:p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remaining = "</a:t>
            </a:r>
            <a:r>
              <a:rPr lang="en-US" sz="14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",  value = 'a'.</a:t>
            </a:r>
            <a:endParaRPr lang="en-US" sz="14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41CB4C1B-F543-B66B-35AC-69234A61D904}"/>
              </a:ext>
            </a:extLst>
          </p:cNvPr>
          <p:cNvSpPr/>
          <p:nvPr/>
        </p:nvSpPr>
        <p:spPr>
          <a:xfrm>
            <a:off x="1818122" y="2187952"/>
            <a:ext cx="3138627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a.  Find 'a' in "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abc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"  —  Success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6EAF66A-C709-763C-92F9-5527BB7D11B2}"/>
              </a:ext>
            </a:extLst>
          </p:cNvPr>
          <p:cNvSpPr/>
          <p:nvPr/>
        </p:nvSpPr>
        <p:spPr>
          <a:xfrm>
            <a:off x="6918312" y="2790335"/>
            <a:ext cx="3463136" cy="502920"/>
          </a:xfrm>
          <a:prstGeom prst="rect">
            <a:avLst/>
          </a:prstGeom>
          <a:solidFill>
            <a:srgbClr val="1A1F3A"/>
          </a:solidFill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"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runParser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charP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'x') "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abc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F7A824C9-DCBF-84FF-0125-794EDBE09BA9}"/>
              </a:ext>
            </a:extLst>
          </p:cNvPr>
          <p:cNvSpPr/>
          <p:nvPr/>
        </p:nvSpPr>
        <p:spPr>
          <a:xfrm>
            <a:off x="7035372" y="3639896"/>
            <a:ext cx="2968526" cy="50292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-&gt;  Left "character not found"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E4207D99-903C-80FA-C58A-AC819B0CBF30}"/>
              </a:ext>
            </a:extLst>
          </p:cNvPr>
          <p:cNvSpPr/>
          <p:nvPr/>
        </p:nvSpPr>
        <p:spPr>
          <a:xfrm>
            <a:off x="7006466" y="4515497"/>
            <a:ext cx="3026338" cy="1235477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First char of "</a:t>
            </a:r>
            <a:r>
              <a:rPr lang="en-US" sz="1400" dirty="0" err="1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abc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" is 'a'.</a:t>
            </a:r>
          </a:p>
          <a:p>
            <a:r>
              <a:rPr lang="en-US" sz="1400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'a' == 'x'  ✗  guard fails.</a:t>
            </a:r>
          </a:p>
          <a:p>
            <a:endParaRPr lang="en-US" sz="1400" dirty="0">
              <a:solidFill>
                <a:srgbClr val="1E2761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Catch-all _ fires.</a:t>
            </a:r>
          </a:p>
          <a:p>
            <a:r>
              <a:rPr lang="en-US" sz="1400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Returns Left "character not found".</a:t>
            </a:r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611F105F-570C-D512-0099-3D9035118E7B}"/>
              </a:ext>
            </a:extLst>
          </p:cNvPr>
          <p:cNvSpPr/>
          <p:nvPr/>
        </p:nvSpPr>
        <p:spPr>
          <a:xfrm>
            <a:off x="1867050" y="6028266"/>
            <a:ext cx="8229600" cy="59436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runParser unwraps the Parser newtype and applies the inner function. The result is always an Either — Left for failure, Right for (remaining, value).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1961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CB2F2-52FE-C0F0-002C-5BE03EFA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53228"/>
            <a:ext cx="8047092" cy="108093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 charset="0"/>
                <a:ea typeface="ＭＳ Ｐゴシック" charset="0"/>
              </a:rPr>
              <a:t>Alternative -  Trying One Parser, Then Another</a:t>
            </a:r>
            <a:br>
              <a:rPr lang="en-US" sz="28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2AA33-FD74-9925-4B87-DD29FF74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14481B5-7E3F-B0C6-4BE7-E9A550C147D5}"/>
              </a:ext>
            </a:extLst>
          </p:cNvPr>
          <p:cNvSpPr/>
          <p:nvPr/>
        </p:nvSpPr>
        <p:spPr>
          <a:xfrm>
            <a:off x="3760483" y="199225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 typeclass adds two operations to a parser:</a:t>
            </a:r>
            <a:endParaRPr lang="en-US" sz="15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6D1DCCCE-D096-FB6F-9AA8-58C397CCF7A8}"/>
              </a:ext>
            </a:extLst>
          </p:cNvPr>
          <p:cNvSpPr/>
          <p:nvPr/>
        </p:nvSpPr>
        <p:spPr>
          <a:xfrm>
            <a:off x="1880334" y="3132528"/>
            <a:ext cx="3794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D6772EE-9D87-D39B-CF68-7E8645CF979D}"/>
              </a:ext>
            </a:extLst>
          </p:cNvPr>
          <p:cNvSpPr/>
          <p:nvPr/>
        </p:nvSpPr>
        <p:spPr>
          <a:xfrm>
            <a:off x="1948914" y="31531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20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C2AAFC0-C95E-6CAE-FA29-2C3E5E6793DF}"/>
              </a:ext>
            </a:extLst>
          </p:cNvPr>
          <p:cNvSpPr/>
          <p:nvPr/>
        </p:nvSpPr>
        <p:spPr>
          <a:xfrm>
            <a:off x="1948914" y="3524219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parser that always fails, regardless of input. It is the identity element for (&lt;|&gt;) — combining anything with empty gives back the original parser.</a:t>
            </a:r>
            <a:endParaRPr lang="en-US" sz="12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7DBD8DC6-558B-09B3-C49E-BD6A60E2CEC9}"/>
              </a:ext>
            </a:extLst>
          </p:cNvPr>
          <p:cNvSpPr/>
          <p:nvPr/>
        </p:nvSpPr>
        <p:spPr>
          <a:xfrm>
            <a:off x="6516908" y="3132528"/>
            <a:ext cx="3794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4E72B4A-90F5-0A85-FAB0-12C736C921C3}"/>
              </a:ext>
            </a:extLst>
          </p:cNvPr>
          <p:cNvSpPr/>
          <p:nvPr/>
        </p:nvSpPr>
        <p:spPr>
          <a:xfrm>
            <a:off x="6745508" y="32239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(&lt;|&gt;)</a:t>
            </a:r>
            <a:endParaRPr lang="en-US" sz="20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F62E0EF5-DA30-4B07-D39D-EFC81DE7EE94}"/>
              </a:ext>
            </a:extLst>
          </p:cNvPr>
          <p:cNvSpPr/>
          <p:nvPr/>
        </p:nvSpPr>
        <p:spPr>
          <a:xfrm>
            <a:off x="6745508" y="363544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left parser. If it fails, run the right parser on the same input. If the left succeeds, the right is never tried.</a:t>
            </a:r>
            <a:endParaRPr lang="en-US" sz="1250" dirty="0"/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93B4CED1-533C-9523-2121-0B1002CA3B42}"/>
              </a:ext>
            </a:extLst>
          </p:cNvPr>
          <p:cNvSpPr/>
          <p:nvPr/>
        </p:nvSpPr>
        <p:spPr>
          <a:xfrm rot="19522172">
            <a:off x="4600360" y="2474228"/>
            <a:ext cx="1189822" cy="465947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Arrow 16">
            <a:extLst>
              <a:ext uri="{FF2B5EF4-FFF2-40B4-BE49-F238E27FC236}">
                <a16:creationId xmlns:a16="http://schemas.microsoft.com/office/drawing/2014/main" id="{5EC29EFF-6C40-C2A9-AE73-D17B8B4BB75E}"/>
              </a:ext>
            </a:extLst>
          </p:cNvPr>
          <p:cNvSpPr/>
          <p:nvPr/>
        </p:nvSpPr>
        <p:spPr>
          <a:xfrm rot="13377505">
            <a:off x="6219085" y="2515670"/>
            <a:ext cx="1042414" cy="465947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16BD2C-8722-4740-74D6-DB38D2BF0CAD}"/>
              </a:ext>
            </a:extLst>
          </p:cNvPr>
          <p:cNvSpPr txBox="1"/>
          <p:nvPr/>
        </p:nvSpPr>
        <p:spPr>
          <a:xfrm>
            <a:off x="5652235" y="2599457"/>
            <a:ext cx="858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ED67DA-6098-E209-DE39-740098B7CAC6}"/>
              </a:ext>
            </a:extLst>
          </p:cNvPr>
          <p:cNvSpPr txBox="1"/>
          <p:nvPr/>
        </p:nvSpPr>
        <p:spPr>
          <a:xfrm>
            <a:off x="1740650" y="4481552"/>
            <a:ext cx="8918866" cy="243143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defTabSz="685800" eaLnBrk="1" hangingPunct="1">
              <a:lnSpc>
                <a:spcPct val="80000"/>
              </a:lnSpc>
              <a:spcBef>
                <a:spcPts val="750"/>
              </a:spcBef>
            </a:pPr>
            <a:r>
              <a:rPr lang="en-US" sz="2000" dirty="0">
                <a:latin typeface="+mn-lt"/>
                <a:cs typeface="Consolas" pitchFamily="34" charset="-120"/>
              </a:rPr>
              <a:t>instance Alternative Parser where</a:t>
            </a:r>
          </a:p>
          <a:p>
            <a:pPr defTabSz="685800" eaLnBrk="1" hangingPunct="1">
              <a:lnSpc>
                <a:spcPct val="80000"/>
              </a:lnSpc>
              <a:spcBef>
                <a:spcPts val="750"/>
              </a:spcBef>
            </a:pPr>
            <a:r>
              <a:rPr lang="en-US" sz="2000" dirty="0">
                <a:latin typeface="+mn-lt"/>
                <a:cs typeface="Consolas" pitchFamily="34" charset="-120"/>
              </a:rPr>
              <a:t>  empty = Parser $ \_ -&gt; Left "no parse"</a:t>
            </a:r>
          </a:p>
          <a:p>
            <a:pPr defTabSz="685800" eaLnBrk="1" hangingPunct="1">
              <a:lnSpc>
                <a:spcPct val="80000"/>
              </a:lnSpc>
              <a:spcBef>
                <a:spcPts val="750"/>
              </a:spcBef>
            </a:pPr>
            <a:endParaRPr lang="en-US" sz="2000" dirty="0">
              <a:latin typeface="+mn-lt"/>
              <a:cs typeface="Consolas" pitchFamily="34" charset="-120"/>
            </a:endParaRPr>
          </a:p>
          <a:p>
            <a:pPr defTabSz="685800" eaLnBrk="1" hangingPunct="1">
              <a:lnSpc>
                <a:spcPct val="80000"/>
              </a:lnSpc>
              <a:spcBef>
                <a:spcPts val="750"/>
              </a:spcBef>
            </a:pPr>
            <a:r>
              <a:rPr lang="en-US" sz="2000" dirty="0">
                <a:latin typeface="+mn-lt"/>
                <a:cs typeface="Consolas" pitchFamily="34" charset="-120"/>
              </a:rPr>
              <a:t>  Parser p1 &lt;|&gt; Parser p2 = Parser $ \input -&gt;</a:t>
            </a:r>
          </a:p>
          <a:p>
            <a:pPr defTabSz="685800" eaLnBrk="1" hangingPunct="1">
              <a:lnSpc>
                <a:spcPct val="80000"/>
              </a:lnSpc>
              <a:spcBef>
                <a:spcPts val="750"/>
              </a:spcBef>
            </a:pPr>
            <a:r>
              <a:rPr lang="en-US" sz="2000" dirty="0">
                <a:latin typeface="+mn-lt"/>
                <a:cs typeface="Consolas" pitchFamily="34" charset="-120"/>
              </a:rPr>
              <a:t>    case p1 input of</a:t>
            </a:r>
          </a:p>
          <a:p>
            <a:pPr defTabSz="685800" eaLnBrk="1" hangingPunct="1">
              <a:lnSpc>
                <a:spcPct val="80000"/>
              </a:lnSpc>
              <a:spcBef>
                <a:spcPts val="750"/>
              </a:spcBef>
            </a:pPr>
            <a:r>
              <a:rPr lang="en-US" sz="2000" dirty="0">
                <a:latin typeface="+mn-lt"/>
                <a:cs typeface="Consolas" pitchFamily="34" charset="-120"/>
              </a:rPr>
              <a:t>      Left  _      -&gt; p2 input   -- first failed: try second on same input</a:t>
            </a:r>
          </a:p>
          <a:p>
            <a:pPr defTabSz="685800" eaLnBrk="1" hangingPunct="1">
              <a:lnSpc>
                <a:spcPct val="80000"/>
              </a:lnSpc>
              <a:spcBef>
                <a:spcPts val="750"/>
              </a:spcBef>
            </a:pPr>
            <a:r>
              <a:rPr lang="en-US" sz="2000" dirty="0">
                <a:latin typeface="+mn-lt"/>
                <a:cs typeface="Consolas" pitchFamily="34" charset="-120"/>
              </a:rPr>
              <a:t>      Right result -&gt; Right result -- first succeeded: done</a:t>
            </a:r>
          </a:p>
        </p:txBody>
      </p:sp>
    </p:spTree>
    <p:extLst>
      <p:ext uri="{BB962C8B-B14F-4D97-AF65-F5344CB8AC3E}">
        <p14:creationId xmlns:p14="http://schemas.microsoft.com/office/powerpoint/2010/main" val="58423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1" animBg="1"/>
      <p:bldP spid="17" grpId="1" animBg="1"/>
      <p:bldP spid="18" grpId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29CCB-AEE6-1141-38DC-FD557563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empty and &lt;|&gt;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17669-EC73-1149-BF46-C9E8C2564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2129" y="5130453"/>
            <a:ext cx="6734621" cy="1419816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b="1" dirty="0"/>
              <a:t>--- List</a:t>
            </a:r>
            <a:r>
              <a:rPr lang="en-IE" dirty="0"/>
              <a:t> — failure is [], choice is concatenation:</a:t>
            </a:r>
          </a:p>
          <a:p>
            <a:pPr marL="0" indent="0">
              <a:buNone/>
            </a:pPr>
            <a:r>
              <a:rPr lang="en-IE" dirty="0"/>
              <a:t>[] &lt;|&gt; [] = [] </a:t>
            </a:r>
          </a:p>
          <a:p>
            <a:pPr marL="0" indent="0">
              <a:buNone/>
            </a:pPr>
            <a:r>
              <a:rPr lang="en-IE" dirty="0"/>
              <a:t>[] &lt;|&gt; [2] = [2] </a:t>
            </a:r>
          </a:p>
          <a:p>
            <a:pPr marL="0" indent="0">
              <a:buNone/>
            </a:pPr>
            <a:r>
              <a:rPr lang="en-IE" dirty="0"/>
              <a:t>[1] &lt;|&gt; [2] = [1, 2] -- both branches kept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70807-1C93-36AC-60F1-3CDF22290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9EDEF8-8CE9-2E92-A6F8-753F5E07AC86}"/>
              </a:ext>
            </a:extLst>
          </p:cNvPr>
          <p:cNvSpPr txBox="1">
            <a:spLocks/>
          </p:cNvSpPr>
          <p:nvPr/>
        </p:nvSpPr>
        <p:spPr>
          <a:xfrm>
            <a:off x="2186642" y="1986566"/>
            <a:ext cx="6734621" cy="117125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IE" dirty="0"/>
              <a:t>class Applicative f =&gt; Alternative f where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IE" dirty="0"/>
              <a:t>empty :: f a -- failure / the identity element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IE" dirty="0"/>
              <a:t>(&lt;|&gt;) ::  f a -&gt; f a -&gt; f a -- "or" / choice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EA6B6F-A4CA-EE2E-6841-286EB87CADB2}"/>
              </a:ext>
            </a:extLst>
          </p:cNvPr>
          <p:cNvSpPr txBox="1"/>
          <p:nvPr/>
        </p:nvSpPr>
        <p:spPr>
          <a:xfrm>
            <a:off x="1782666" y="3167390"/>
            <a:ext cx="8626668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IE" dirty="0"/>
              <a:t>Think of it as: </a:t>
            </a:r>
            <a:r>
              <a:rPr lang="en-IE" i="1" dirty="0"/>
              <a:t>"try the left, if it fails, try the right."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6EC40A3-9A10-C5FE-4117-08A246798885}"/>
              </a:ext>
            </a:extLst>
          </p:cNvPr>
          <p:cNvSpPr txBox="1">
            <a:spLocks/>
          </p:cNvSpPr>
          <p:nvPr/>
        </p:nvSpPr>
        <p:spPr>
          <a:xfrm>
            <a:off x="2186642" y="3822743"/>
            <a:ext cx="6734621" cy="117125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IE" dirty="0"/>
              <a:t>--- Maybe – failure is Nothing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IE" dirty="0"/>
              <a:t>Nothing &lt;|&gt; Nothing = Nothing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IE" dirty="0"/>
              <a:t>Nothing &lt;|&gt; Just 2 = Just 2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IE" dirty="0"/>
              <a:t>Just 1 &lt;|&gt; Just 2 = Just 1 -- left succeeds, so use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8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3286A-F7CC-4DDD-C2E6-772D18C91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BFFB-86DB-CB9C-7B73-C9C56E329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empty and &lt;|&gt;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F09B3-0943-D0DA-0412-2CB9E1ADC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27AABB-F17C-B5E3-47B9-685DA663D6C6}"/>
              </a:ext>
            </a:extLst>
          </p:cNvPr>
          <p:cNvSpPr txBox="1">
            <a:spLocks/>
          </p:cNvSpPr>
          <p:nvPr/>
        </p:nvSpPr>
        <p:spPr>
          <a:xfrm>
            <a:off x="4020246" y="2848458"/>
            <a:ext cx="3249936" cy="45769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IE" dirty="0" err="1"/>
              <a:t>parseTrue</a:t>
            </a:r>
            <a:r>
              <a:rPr lang="en-IE" dirty="0"/>
              <a:t> &lt;|&gt; </a:t>
            </a:r>
            <a:r>
              <a:rPr lang="en-IE" dirty="0" err="1"/>
              <a:t>parseFalse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08252-EBCB-6EDD-2C17-B86EB478C26A}"/>
              </a:ext>
            </a:extLst>
          </p:cNvPr>
          <p:cNvSpPr txBox="1"/>
          <p:nvPr/>
        </p:nvSpPr>
        <p:spPr>
          <a:xfrm>
            <a:off x="1899684" y="3780694"/>
            <a:ext cx="8626668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IE" i="1" dirty="0"/>
              <a:t>"try </a:t>
            </a:r>
            <a:r>
              <a:rPr lang="en-IE" i="1" dirty="0" err="1"/>
              <a:t>parseTrue</a:t>
            </a:r>
            <a:r>
              <a:rPr lang="en-IE" i="1" dirty="0"/>
              <a:t>, and if that fails, try </a:t>
            </a:r>
            <a:r>
              <a:rPr lang="en-IE" i="1" dirty="0" err="1"/>
              <a:t>parseFalse</a:t>
            </a:r>
            <a:r>
              <a:rPr lang="en-IE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95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3FD9-D314-3406-8E4D-44F02A32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Helper function - satisfy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E0EA5-E81C-7B0F-08BC-4EEBD3635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4241" y="2336874"/>
            <a:ext cx="7210396" cy="3120651"/>
          </a:xfrm>
          <a:solidFill>
            <a:schemeClr val="accent1"/>
          </a:solidFill>
        </p:spPr>
        <p:txBody>
          <a:bodyPr/>
          <a:lstStyle/>
          <a:p>
            <a:pPr marL="0" indent="0">
              <a:buNone/>
            </a:pPr>
            <a:r>
              <a:rPr lang="en-IE" dirty="0"/>
              <a:t>--  Parse one character satisfying a predicate.</a:t>
            </a:r>
          </a:p>
          <a:p>
            <a:pPr marL="0" indent="0">
              <a:buNone/>
            </a:pPr>
            <a:r>
              <a:rPr lang="en-IE" dirty="0"/>
              <a:t>-- This is the most general primitive; everything else is built on it.</a:t>
            </a:r>
          </a:p>
          <a:p>
            <a:pPr marL="0" indent="0">
              <a:buNone/>
            </a:pPr>
            <a:r>
              <a:rPr lang="en-IE" dirty="0"/>
              <a:t>satisfy :: (Char -&gt; Bool) -&gt; String -&gt; Parser Char</a:t>
            </a:r>
          </a:p>
          <a:p>
            <a:pPr marL="0" indent="0">
              <a:buNone/>
            </a:pPr>
            <a:r>
              <a:rPr lang="en-IE" dirty="0"/>
              <a:t>satisfy p </a:t>
            </a:r>
            <a:r>
              <a:rPr lang="en-IE" dirty="0" err="1"/>
              <a:t>desc</a:t>
            </a:r>
            <a:r>
              <a:rPr lang="en-IE" dirty="0"/>
              <a:t> = Parser $ \input -&gt;</a:t>
            </a:r>
          </a:p>
          <a:p>
            <a:pPr marL="0" indent="0">
              <a:buNone/>
            </a:pPr>
            <a:r>
              <a:rPr lang="en-IE" dirty="0"/>
              <a:t>      case input of</a:t>
            </a:r>
          </a:p>
          <a:p>
            <a:pPr marL="0" indent="0">
              <a:buNone/>
            </a:pPr>
            <a:r>
              <a:rPr lang="en-IE" dirty="0"/>
              <a:t>           (</a:t>
            </a:r>
            <a:r>
              <a:rPr lang="en-IE" dirty="0" err="1"/>
              <a:t>x:xs</a:t>
            </a:r>
            <a:r>
              <a:rPr lang="en-IE" dirty="0"/>
              <a:t>) | p x -&gt; Right (</a:t>
            </a:r>
            <a:r>
              <a:rPr lang="en-IE" dirty="0" err="1"/>
              <a:t>xs</a:t>
            </a:r>
            <a:r>
              <a:rPr lang="en-IE" dirty="0"/>
              <a:t>, x)</a:t>
            </a:r>
          </a:p>
          <a:p>
            <a:pPr marL="0" indent="0">
              <a:buNone/>
            </a:pPr>
            <a:r>
              <a:rPr lang="en-IE" dirty="0"/>
              <a:t>           [] -&gt; Left ("unexpected end of input, expected " ++ </a:t>
            </a:r>
            <a:r>
              <a:rPr lang="en-IE" dirty="0" err="1"/>
              <a:t>desc</a:t>
            </a:r>
            <a:r>
              <a:rPr lang="en-IE" dirty="0"/>
              <a:t>)</a:t>
            </a:r>
          </a:p>
          <a:p>
            <a:pPr marL="0" indent="0">
              <a:buNone/>
            </a:pPr>
            <a:r>
              <a:rPr lang="en-IE" dirty="0"/>
              <a:t>           (x:_) -&gt; Left ("unexpected '" ++ [x] ++ "', expected " ++ </a:t>
            </a:r>
            <a:r>
              <a:rPr lang="en-IE" dirty="0" err="1"/>
              <a:t>desc</a:t>
            </a:r>
            <a:r>
              <a:rPr lang="en-IE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4B49B-AD6F-B565-04C9-8563FCB1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74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BC9-231D-3FA1-6514-D24AAB85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Examples of use of satisfy </a:t>
            </a:r>
            <a:br>
              <a:rPr lang="en-IE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EFC35-E3D8-F7B6-4BEF-20F31282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0DE2C7-F4F1-15CB-4CAF-5A5E9B2A8D8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860194" y="2302658"/>
            <a:ext cx="8229498" cy="48332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dirty="0" err="1"/>
              <a:t>charP</a:t>
            </a:r>
            <a:r>
              <a:rPr lang="en-IE" dirty="0"/>
              <a:t> c = satisfy (== c) ("'" ++ [c] ++ "'") -- equivalent one-liner to previous def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10A650-6946-54B7-9CD1-92E5A3AD9DE9}"/>
              </a:ext>
            </a:extLst>
          </p:cNvPr>
          <p:cNvSpPr txBox="1">
            <a:spLocks/>
          </p:cNvSpPr>
          <p:nvPr/>
        </p:nvSpPr>
        <p:spPr>
          <a:xfrm>
            <a:off x="1909114" y="3155514"/>
            <a:ext cx="3940702" cy="108093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IE" dirty="0"/>
              <a:t>-- | Parse a digit character ('0'..'9').</a:t>
            </a:r>
            <a:endParaRPr lang="en-US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en-US" dirty="0"/>
              <a:t>digit :: Parser Char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dirty="0"/>
              <a:t>digit = satisfy </a:t>
            </a:r>
            <a:r>
              <a:rPr lang="en-US" dirty="0" err="1"/>
              <a:t>isdigit</a:t>
            </a:r>
            <a:r>
              <a:rPr lang="en-US" dirty="0"/>
              <a:t> ”digit”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15ACD4-DF88-29DF-937C-9B29C11738C5}"/>
              </a:ext>
            </a:extLst>
          </p:cNvPr>
          <p:cNvSpPr txBox="1">
            <a:spLocks/>
          </p:cNvSpPr>
          <p:nvPr/>
        </p:nvSpPr>
        <p:spPr>
          <a:xfrm>
            <a:off x="1981251" y="4695093"/>
            <a:ext cx="3604796" cy="1336431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10000"/>
              </a:lnSpc>
              <a:spcAft>
                <a:spcPts val="0"/>
              </a:spcAft>
              <a:buNone/>
            </a:pPr>
            <a:r>
              <a:rPr lang="en-IE" dirty="0"/>
              <a:t>-- | Parse a letter (a-z, A-Z).</a:t>
            </a:r>
          </a:p>
          <a:p>
            <a:pPr marL="0" indent="0" fontAlgn="auto">
              <a:lnSpc>
                <a:spcPct val="110000"/>
              </a:lnSpc>
              <a:spcAft>
                <a:spcPts val="0"/>
              </a:spcAft>
              <a:buNone/>
            </a:pPr>
            <a:r>
              <a:rPr lang="en-IE" dirty="0"/>
              <a:t>letter :: Parser Char</a:t>
            </a:r>
          </a:p>
          <a:p>
            <a:pPr marL="0" indent="0" fontAlgn="auto">
              <a:lnSpc>
                <a:spcPct val="110000"/>
              </a:lnSpc>
              <a:spcAft>
                <a:spcPts val="0"/>
              </a:spcAft>
              <a:buNone/>
            </a:pPr>
            <a:r>
              <a:rPr lang="en-IE" dirty="0"/>
              <a:t>letter = satisfy </a:t>
            </a:r>
            <a:r>
              <a:rPr lang="en-IE" dirty="0" err="1"/>
              <a:t>isAlpha</a:t>
            </a:r>
            <a:r>
              <a:rPr lang="en-IE" dirty="0"/>
              <a:t> "letter"</a:t>
            </a:r>
          </a:p>
        </p:txBody>
      </p:sp>
    </p:spTree>
    <p:extLst>
      <p:ext uri="{BB962C8B-B14F-4D97-AF65-F5344CB8AC3E}">
        <p14:creationId xmlns:p14="http://schemas.microsoft.com/office/powerpoint/2010/main" val="47649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64606-1AF0-41A1-5D68-31F2ACEA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a parser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97D49-6C16-D9CA-140C-60101718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19A8E-081E-482D-5A5F-5F40C901CAA9}"/>
              </a:ext>
            </a:extLst>
          </p:cNvPr>
          <p:cNvSpPr txBox="1"/>
          <p:nvPr/>
        </p:nvSpPr>
        <p:spPr>
          <a:xfrm>
            <a:off x="2754923" y="2762945"/>
            <a:ext cx="5908431" cy="95410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E" dirty="0"/>
              <a:t>print $ </a:t>
            </a:r>
            <a:r>
              <a:rPr lang="en-IE" dirty="0" err="1"/>
              <a:t>runParser</a:t>
            </a:r>
            <a:r>
              <a:rPr lang="en-IE" dirty="0"/>
              <a:t> (</a:t>
            </a:r>
            <a:r>
              <a:rPr lang="en-IE" dirty="0" err="1"/>
              <a:t>charP</a:t>
            </a:r>
            <a:r>
              <a:rPr lang="en-IE" dirty="0"/>
              <a:t> 'a') "</a:t>
            </a:r>
            <a:r>
              <a:rPr lang="en-IE" dirty="0" err="1"/>
              <a:t>abc</a:t>
            </a:r>
            <a:r>
              <a:rPr lang="en-IE" dirty="0"/>
              <a:t>"</a:t>
            </a:r>
          </a:p>
          <a:p>
            <a:r>
              <a:rPr lang="en-IE" dirty="0"/>
              <a:t>print $ </a:t>
            </a:r>
            <a:r>
              <a:rPr lang="en-IE" dirty="0" err="1"/>
              <a:t>runParser</a:t>
            </a:r>
            <a:r>
              <a:rPr lang="en-IE" dirty="0"/>
              <a:t> (</a:t>
            </a:r>
            <a:r>
              <a:rPr lang="en-IE" dirty="0" err="1"/>
              <a:t>charP</a:t>
            </a:r>
            <a:r>
              <a:rPr lang="en-IE" dirty="0"/>
              <a:t> 'x') "</a:t>
            </a:r>
            <a:r>
              <a:rPr lang="en-IE" dirty="0" err="1"/>
              <a:t>abc</a:t>
            </a:r>
            <a:r>
              <a:rPr lang="en-IE" dirty="0"/>
              <a:t>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C4FCD7-5269-D08D-D56B-03E2F690C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923" y="4602080"/>
            <a:ext cx="4579155" cy="7565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A5822E-D349-FED9-F8B6-E09CC202D67D}"/>
              </a:ext>
            </a:extLst>
          </p:cNvPr>
          <p:cNvSpPr txBox="1"/>
          <p:nvPr/>
        </p:nvSpPr>
        <p:spPr>
          <a:xfrm>
            <a:off x="2860431" y="3897955"/>
            <a:ext cx="1820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returns:</a:t>
            </a:r>
          </a:p>
        </p:txBody>
      </p:sp>
    </p:spTree>
    <p:extLst>
      <p:ext uri="{BB962C8B-B14F-4D97-AF65-F5344CB8AC3E}">
        <p14:creationId xmlns:p14="http://schemas.microsoft.com/office/powerpoint/2010/main" val="421136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136" y="1012380"/>
            <a:ext cx="6359526" cy="483324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450"/>
              </a:spcAft>
            </a:pPr>
            <a:fld id="{CC73A6B6-49ED-C641-8D95-0A84FA800C15}" type="slidenum">
              <a:rPr lang="en-US" sz="1050"/>
              <a:pPr>
                <a:spcAft>
                  <a:spcPts val="450"/>
                </a:spcAft>
              </a:pPr>
              <a:t>14</a:t>
            </a:fld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-first-steps" id="{114FA3A5-54B0-F648-8A82-5F4E33E8EA9F}" vid="{544CB0E1-D8E5-D147-98C3-612C8FAB38E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2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450</TotalTime>
  <Words>1226</Words>
  <Application>Microsoft Macintosh PowerPoint</Application>
  <PresentationFormat>Widescreen</PresentationFormat>
  <Paragraphs>150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Black</vt:lpstr>
      <vt:lpstr>Calibri</vt:lpstr>
      <vt:lpstr>Consolas</vt:lpstr>
      <vt:lpstr>Lucida Sans Typewriter</vt:lpstr>
      <vt:lpstr>Tahoma</vt:lpstr>
      <vt:lpstr>Times New Roman</vt:lpstr>
      <vt:lpstr>Trebuchet MS</vt:lpstr>
      <vt:lpstr>Berlin</vt:lpstr>
      <vt:lpstr>PowerPoint Presentation</vt:lpstr>
      <vt:lpstr>PowerPoint Presentation</vt:lpstr>
      <vt:lpstr>Type v newtype </vt:lpstr>
      <vt:lpstr>Our three types </vt:lpstr>
      <vt:lpstr>Our agenda</vt:lpstr>
      <vt:lpstr>Parsing one character</vt:lpstr>
      <vt:lpstr>Parsing one character</vt:lpstr>
      <vt:lpstr>Using runParser — Worked Examples </vt:lpstr>
      <vt:lpstr>Alternative -  Trying One Parser, Then Another </vt:lpstr>
      <vt:lpstr>empty and &lt;|&gt; </vt:lpstr>
      <vt:lpstr>empty and &lt;|&gt; </vt:lpstr>
      <vt:lpstr>Helper function - satisfy</vt:lpstr>
      <vt:lpstr>Examples of use of satisfy  </vt:lpstr>
      <vt:lpstr>Run a parser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9</cp:revision>
  <cp:lastPrinted>2001-01-05T12:55:38Z</cp:lastPrinted>
  <dcterms:created xsi:type="dcterms:W3CDTF">2026-04-01T15:50:22Z</dcterms:created>
  <dcterms:modified xsi:type="dcterms:W3CDTF">2026-04-03T23:14:35Z</dcterms:modified>
</cp:coreProperties>
</file>