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813" r:id="rId1"/>
  </p:sldMasterIdLst>
  <p:notesMasterIdLst>
    <p:notesMasterId r:id="rId20"/>
  </p:notesMasterIdLst>
  <p:handoutMasterIdLst>
    <p:handoutMasterId r:id="rId21"/>
  </p:handoutMasterIdLst>
  <p:sldIdLst>
    <p:sldId id="328" r:id="rId2"/>
    <p:sldId id="347" r:id="rId3"/>
    <p:sldId id="348" r:id="rId4"/>
    <p:sldId id="290" r:id="rId5"/>
    <p:sldId id="346" r:id="rId6"/>
    <p:sldId id="349" r:id="rId7"/>
    <p:sldId id="350" r:id="rId8"/>
    <p:sldId id="351" r:id="rId9"/>
    <p:sldId id="352" r:id="rId10"/>
    <p:sldId id="356" r:id="rId11"/>
    <p:sldId id="353" r:id="rId12"/>
    <p:sldId id="354" r:id="rId13"/>
    <p:sldId id="310" r:id="rId14"/>
    <p:sldId id="320" r:id="rId15"/>
    <p:sldId id="355" r:id="rId16"/>
    <p:sldId id="338" r:id="rId17"/>
    <p:sldId id="357" r:id="rId18"/>
    <p:sldId id="343" r:id="rId19"/>
  </p:sldIdLst>
  <p:sldSz cx="12192000" cy="6858000"/>
  <p:notesSz cx="7089775" cy="102187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18">
          <p15:clr>
            <a:srgbClr val="A4A3A4"/>
          </p15:clr>
        </p15:guide>
        <p15:guide id="2" pos="223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clrMode="bw" frameSlides="1"/>
  <p:showPr showNarration="1">
    <p:browse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8000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311"/>
  </p:normalViewPr>
  <p:slideViewPr>
    <p:cSldViewPr snapToGrid="0">
      <p:cViewPr varScale="1">
        <p:scale>
          <a:sx n="81" d="100"/>
          <a:sy n="81" d="100"/>
        </p:scale>
        <p:origin x="200" y="5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1866" y="-78"/>
      </p:cViewPr>
      <p:guideLst>
        <p:guide orient="horz" pos="3218"/>
        <p:guide pos="223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7963" y="0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t" anchorCtr="0" compatLnSpc="1">
            <a:prstTxWarp prst="textNoShape">
              <a:avLst/>
            </a:prstTxWarp>
          </a:bodyPr>
          <a:lstStyle>
            <a:lvl1pPr algn="r"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07563"/>
            <a:ext cx="3071813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defTabSz="989013">
              <a:defRPr sz="13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7963" y="9707563"/>
            <a:ext cx="3071812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8902" tIns="49451" rIns="98902" bIns="49451" numCol="1" anchor="b" anchorCtr="0" compatLnSpc="1">
            <a:prstTxWarp prst="textNoShape">
              <a:avLst/>
            </a:prstTxWarp>
          </a:bodyPr>
          <a:lstStyle>
            <a:lvl1pPr algn="r" defTabSz="989013">
              <a:defRPr sz="1300"/>
            </a:lvl1pPr>
          </a:lstStyle>
          <a:p>
            <a:pPr>
              <a:defRPr/>
            </a:pPr>
            <a:fld id="{05CEB389-31E8-AB46-A69E-5E6395AF6B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795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4098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3" name="Rectangle 4099"/>
          <p:cNvSpPr>
            <a:spLocks noGrp="1" noChangeArrowheads="1"/>
          </p:cNvSpPr>
          <p:nvPr>
            <p:ph type="dt" idx="1"/>
          </p:nvPr>
        </p:nvSpPr>
        <p:spPr bwMode="auto">
          <a:xfrm>
            <a:off x="4038600" y="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100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95263" y="762000"/>
            <a:ext cx="6772275" cy="3810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92165" name="Rectangle 4101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876800"/>
            <a:ext cx="5257800" cy="4572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2166" name="Rectangle 4102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167" name="Rectangle 4103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38600" y="9677400"/>
            <a:ext cx="3048000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9C613AF-66BC-8C45-8FFC-81938FBA41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2864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ＭＳ Ｐゴシック" pitchFamily="-1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7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6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5" cy="1373070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41"/>
            <a:ext cx="8144135" cy="1117687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7" y="2750337"/>
            <a:ext cx="1171888" cy="1356442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3018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8906A9-ADC8-F342-81A7-F9FDA948E9B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2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6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3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7" y="2869897"/>
            <a:ext cx="1154151" cy="1090789"/>
          </a:xfrm>
        </p:spPr>
        <p:txBody>
          <a:bodyPr/>
          <a:lstStyle/>
          <a:p>
            <a:pPr>
              <a:defRPr/>
            </a:pPr>
            <a:fld id="{D34BF70C-D155-7D48-91BD-16746CB44B4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1" y="2336873"/>
            <a:ext cx="46983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9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C2B149C-5A7C-8A40-8B3B-ABD9D8FE082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9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0" y="753231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1" y="2336875"/>
            <a:ext cx="4472327" cy="69313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3" y="3030010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5" y="2336873"/>
            <a:ext cx="4474028" cy="69207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4" y="3030010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6666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FC1FA8-E849-9047-9722-D34601CB06C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79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367834-1F6B-D04F-9A28-C67EB7881E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268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7" y="2336875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4"/>
            <a:ext cx="3790079" cy="3599317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0D4E9F-BF2E-394F-AFB8-DD3D501C29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525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4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5"/>
            <a:ext cx="3876256" cy="3599315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2AC4A9-8955-664E-BB4E-51394A3392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70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8"/>
            <a:ext cx="9613859" cy="453051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9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5"/>
            <a:ext cx="9613863" cy="62297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311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1727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609597"/>
            <a:ext cx="9613859" cy="3592750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1161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13519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9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7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9816590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1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8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7"/>
            <a:ext cx="9613863" cy="5885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51"/>
            <a:ext cx="9613863" cy="502255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7" y="4709927"/>
            <a:ext cx="1154151" cy="1090789"/>
          </a:xfrm>
        </p:spPr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16984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1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5" y="2336873"/>
            <a:ext cx="307003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4"/>
            <a:ext cx="3049703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1" y="3022674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7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7" y="3022674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6302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20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20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20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1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8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80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8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7032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7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1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8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14927-CF9F-8643-99B0-6F2BBAFF855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174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3" y="5372404"/>
            <a:ext cx="1602997" cy="13681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3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9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5" y="5936189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90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1" y="5398635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pPr>
              <a:defRPr/>
            </a:pPr>
            <a:fld id="{DDE4DFA3-B759-4941-9F09-7CA811EFFC4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73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2" y="5936190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7" y="753228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43456DB-3654-384B-BBA9-4F0AD13B431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5484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4" r:id="rId1"/>
    <p:sldLayoutId id="2147483815" r:id="rId2"/>
    <p:sldLayoutId id="2147483816" r:id="rId3"/>
    <p:sldLayoutId id="2147483817" r:id="rId4"/>
    <p:sldLayoutId id="2147483818" r:id="rId5"/>
    <p:sldLayoutId id="2147483819" r:id="rId6"/>
    <p:sldLayoutId id="2147483820" r:id="rId7"/>
    <p:sldLayoutId id="2147483821" r:id="rId8"/>
    <p:sldLayoutId id="2147483822" r:id="rId9"/>
    <p:sldLayoutId id="2147483823" r:id="rId10"/>
    <p:sldLayoutId id="2147483824" r:id="rId11"/>
    <p:sldLayoutId id="2147483825" r:id="rId12"/>
    <p:sldLayoutId id="2147483826" r:id="rId13"/>
    <p:sldLayoutId id="2147483827" r:id="rId14"/>
    <p:sldLayoutId id="2147483828" r:id="rId15"/>
    <p:sldLayoutId id="2147483829" r:id="rId16"/>
    <p:sldLayoutId id="2147483830" r:id="rId1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1"/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fld id="{BE7B5135-177D-EE42-9C5F-82759AF30F9B}" type="slidenum">
              <a:rPr lang="en-US" sz="1400"/>
              <a:pPr/>
              <a:t>0</a:t>
            </a:fld>
            <a:endParaRPr lang="en-US" sz="1400" dirty="0"/>
          </a:p>
        </p:txBody>
      </p:sp>
      <p:sp>
        <p:nvSpPr>
          <p:cNvPr id="291842" name="Text Box 2"/>
          <p:cNvSpPr txBox="1">
            <a:spLocks noChangeArrowheads="1"/>
          </p:cNvSpPr>
          <p:nvPr/>
        </p:nvSpPr>
        <p:spPr bwMode="auto">
          <a:xfrm>
            <a:off x="1639889" y="1001713"/>
            <a:ext cx="8910637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3600" b="1" dirty="0">
                <a:solidFill>
                  <a:schemeClr val="tx2"/>
                </a:solidFill>
                <a:latin typeface="Arial Black" charset="0"/>
                <a:cs typeface="+mn-cs"/>
              </a:rPr>
              <a:t>PROGRAMMING IN HASKELL</a:t>
            </a: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auto">
          <a:xfrm>
            <a:off x="1700214" y="5164138"/>
            <a:ext cx="8791575" cy="60960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algn="ctr">
              <a:defRPr/>
            </a:pPr>
            <a:r>
              <a:rPr kumimoji="1" lang="en-US" sz="3200">
                <a:cs typeface="+mn-cs"/>
              </a:rPr>
              <a:t>Topic </a:t>
            </a:r>
            <a:r>
              <a:rPr kumimoji="1" lang="en-US" sz="3200" dirty="0">
                <a:cs typeface="+mn-cs"/>
              </a:rPr>
              <a:t>4.3 – First Class Functions</a:t>
            </a:r>
          </a:p>
        </p:txBody>
      </p:sp>
      <p:pic>
        <p:nvPicPr>
          <p:cNvPr id="15364" name="Picture 5" descr="2000px-Haskell-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189" y="2425700"/>
            <a:ext cx="2841625" cy="200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ea typeface="+mj-ea"/>
                <a:cs typeface="ＭＳ Ｐゴシック" pitchFamily="-1" charset="-128"/>
              </a:rPr>
              <a:t>Lambdas, let and </a:t>
            </a:r>
            <a:r>
              <a:rPr lang="en-US" sz="3200" b="1" dirty="0"/>
              <a:t>w</a:t>
            </a:r>
            <a:r>
              <a:rPr kumimoji="1" lang="en-US" sz="3200" b="1" dirty="0">
                <a:ea typeface="+mj-ea"/>
                <a:cs typeface="ＭＳ Ｐゴシック" pitchFamily="-1" charset="-128"/>
              </a:rPr>
              <a:t>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F4B965-065C-1F4A-8EF5-C8F085988394}"/>
              </a:ext>
            </a:extLst>
          </p:cNvPr>
          <p:cNvSpPr txBox="1"/>
          <p:nvPr/>
        </p:nvSpPr>
        <p:spPr>
          <a:xfrm>
            <a:off x="758591" y="2143224"/>
            <a:ext cx="10414234" cy="3826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wish to write a function that takes two numbers, and returns the greater of the sum of the squares of the numbers  (x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+ y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or the square of the sums of the numbers (</a:t>
            </a:r>
            <a:r>
              <a:rPr lang="en-US" sz="28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x+y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US" sz="2800" baseline="30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</a:p>
          <a:p>
            <a:endParaRPr lang="en-US" sz="2800" baseline="30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call it </a:t>
            </a:r>
            <a:r>
              <a:rPr lang="en-IE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sumSquareOrSquareSum </a:t>
            </a: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will write this using : 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where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lambda functions, and finally </a:t>
            </a:r>
          </a:p>
          <a:p>
            <a:pPr marL="901700" indent="508000">
              <a:buFont typeface="Arial" panose="020B0604020202020204" pitchFamily="34" charset="0"/>
              <a:buChar char="•"/>
            </a:pPr>
            <a:r>
              <a:rPr lang="en-IE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let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117CA7CD-56D3-D901-CD06-2DA69880DB18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5614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853216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Starting point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EB8C70CD-83E8-FA40-933B-BC0602D0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3490" y="2462967"/>
            <a:ext cx="8317735" cy="193899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x^2 + y^2 &gt; (x + y)^2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x^2 + y^2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(x + y)^2 </a:t>
            </a:r>
          </a:p>
        </p:txBody>
      </p:sp>
      <p:sp>
        <p:nvSpPr>
          <p:cNvPr id="2" name="Oval Callout 1">
            <a:extLst>
              <a:ext uri="{FF2B5EF4-FFF2-40B4-BE49-F238E27FC236}">
                <a16:creationId xmlns:a16="http://schemas.microsoft.com/office/drawing/2014/main" id="{FF090E0A-9E1B-9544-832F-80F198FC0124}"/>
              </a:ext>
            </a:extLst>
          </p:cNvPr>
          <p:cNvSpPr/>
          <p:nvPr/>
        </p:nvSpPr>
        <p:spPr bwMode="auto">
          <a:xfrm>
            <a:off x="7616329" y="197360"/>
            <a:ext cx="3128791" cy="1341656"/>
          </a:xfrm>
          <a:prstGeom prst="wedgeEllipseCallout">
            <a:avLst>
              <a:gd name="adj1" fmla="val -98845"/>
              <a:gd name="adj2" fmla="val 186747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Repetition of terms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02F0D-8D80-7C4A-94F3-5FC390EFB945}"/>
              </a:ext>
            </a:extLst>
          </p:cNvPr>
          <p:cNvSpPr txBox="1"/>
          <p:nvPr/>
        </p:nvSpPr>
        <p:spPr>
          <a:xfrm>
            <a:off x="4311268" y="5541485"/>
            <a:ext cx="3453875" cy="523220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do better…. 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0542B869-EE14-D295-2BBA-D94F7107D277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2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22901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8392" y="846366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</a:t>
            </a:r>
            <a:r>
              <a:rPr lang="en-US" sz="3200" b="1" dirty="0"/>
              <a:t>w</a:t>
            </a:r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here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EB8C70CD-83E8-FA40-933B-BC0602D0B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3180" y="2456205"/>
            <a:ext cx="8372820" cy="2677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sumSquareOrSquareSum’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sumSquareOrSquareSum’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else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where 	sumSquare = x^2 + y^2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squareSum = (x + y)^2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A3F85D-9296-8049-A84A-BE78CB45E45E}"/>
              </a:ext>
            </a:extLst>
          </p:cNvPr>
          <p:cNvSpPr txBox="1"/>
          <p:nvPr/>
        </p:nvSpPr>
        <p:spPr>
          <a:xfrm>
            <a:off x="3989023" y="5446693"/>
            <a:ext cx="34592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Cleaner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Easier to read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FA02D3-B426-4C12-CEF3-269FDD08F91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3</a:t>
            </a:fld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30629" y="852954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200" b="1" dirty="0"/>
              <a:t>Towards lambda functions</a:t>
            </a:r>
            <a:endParaRPr kumimoji="1" lang="en-US" sz="3200" b="1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BAC6E61-63C2-F344-90C4-802D3CA436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790" y="2245826"/>
            <a:ext cx="8163324" cy="34163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body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body sumSquare squareSum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else squareSum</a:t>
            </a:r>
          </a:p>
          <a:p>
            <a:br>
              <a:rPr lang="en-IE" sz="2400" dirty="0">
                <a:latin typeface="Lucida Sans Typewriter" panose="020B0509030504030204" pitchFamily="49" charset="77"/>
              </a:rPr>
            </a:br>
            <a:r>
              <a:rPr lang="en-IE" sz="2400" b="1" dirty="0">
                <a:latin typeface="Lucida Sans Typewriter" panose="020B0509030504030204" pitchFamily="49" charset="77"/>
              </a:rPr>
              <a:t>sumSquareOrSquareSum''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body (x^2 + y^2) ((x + y)^2)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5BEB15-7C89-8D4A-BD57-738E6938A911}"/>
              </a:ext>
            </a:extLst>
          </p:cNvPr>
          <p:cNvSpPr txBox="1"/>
          <p:nvPr/>
        </p:nvSpPr>
        <p:spPr>
          <a:xfrm>
            <a:off x="1604790" y="6093705"/>
            <a:ext cx="7877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Next, we will rewrite body as a lambda function.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447442F-7088-B2F4-5D61-2FD223C94D6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657473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884838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lambda functions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4341CBCD-8ED9-324F-A71D-B3D0A6121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2722" y="3355819"/>
            <a:ext cx="8372820" cy="267765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sumSquareOrSquareSum'''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(\sumSquare squareSum -&gt;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sumSquare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squareSum )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	(x^2 + y^2) ((x + y)^2)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836182C4-01EB-3C49-94A8-FCAE7165463B}"/>
              </a:ext>
            </a:extLst>
          </p:cNvPr>
          <p:cNvSpPr/>
          <p:nvPr/>
        </p:nvSpPr>
        <p:spPr bwMode="auto">
          <a:xfrm>
            <a:off x="6856164" y="884838"/>
            <a:ext cx="3734719" cy="1341656"/>
          </a:xfrm>
          <a:prstGeom prst="wedgeEllipseCallout">
            <a:avLst>
              <a:gd name="adj1" fmla="val -80556"/>
              <a:gd name="adj2" fmla="val 180178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Rewrite ‘body as lambda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B424E8-C4D3-9532-B07F-131DADAA16C6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5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1244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160" y="806368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let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B5898C76-B5DC-7745-A18D-BB1A86C92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202" y="2432004"/>
            <a:ext cx="9011798" cy="3046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400" b="1" dirty="0">
                <a:latin typeface="Lucida Sans Typewriter" panose="020B0509030504030204" pitchFamily="49" charset="77"/>
              </a:rPr>
              <a:t>sumSquareOrSquareSum''''</a:t>
            </a:r>
            <a:r>
              <a:rPr lang="en-IE" sz="2400" dirty="0">
                <a:latin typeface="Lucida Sans Typewriter" panose="020B0509030504030204" pitchFamily="49" charset="77"/>
              </a:rPr>
              <a:t> :: Int -&gt; Int -&gt; Int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sumSquareOrSquareSum'''' x y =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let 	sumSquare = (x^2 + y^2) 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squareSum = (x + y)^2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in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if sumSquare &gt; squareSum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then sumSquare</a:t>
            </a:r>
          </a:p>
          <a:p>
            <a:r>
              <a:rPr lang="en-IE" sz="2400" dirty="0">
                <a:latin typeface="Lucida Sans Typewriter" panose="020B0509030504030204" pitchFamily="49" charset="77"/>
              </a:rPr>
              <a:t>			else squareSum</a:t>
            </a:r>
          </a:p>
        </p:txBody>
      </p:sp>
      <p:sp>
        <p:nvSpPr>
          <p:cNvPr id="5" name="Oval Callout 4">
            <a:extLst>
              <a:ext uri="{FF2B5EF4-FFF2-40B4-BE49-F238E27FC236}">
                <a16:creationId xmlns:a16="http://schemas.microsoft.com/office/drawing/2014/main" id="{2F05A6C6-EE15-E04D-9514-EBF61C3BE6A0}"/>
              </a:ext>
            </a:extLst>
          </p:cNvPr>
          <p:cNvSpPr/>
          <p:nvPr/>
        </p:nvSpPr>
        <p:spPr bwMode="auto">
          <a:xfrm>
            <a:off x="6856164" y="389514"/>
            <a:ext cx="3734719" cy="1168539"/>
          </a:xfrm>
          <a:prstGeom prst="wedgeEllipseCallout">
            <a:avLst>
              <a:gd name="adj1" fmla="val -120969"/>
              <a:gd name="adj2" fmla="val 127862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Readability of the where clause</a:t>
            </a:r>
          </a:p>
        </p:txBody>
      </p:sp>
      <p:sp>
        <p:nvSpPr>
          <p:cNvPr id="6" name="Oval Callout 5">
            <a:extLst>
              <a:ext uri="{FF2B5EF4-FFF2-40B4-BE49-F238E27FC236}">
                <a16:creationId xmlns:a16="http://schemas.microsoft.com/office/drawing/2014/main" id="{8EC56994-8695-7E42-89B7-D257F722EC2C}"/>
              </a:ext>
            </a:extLst>
          </p:cNvPr>
          <p:cNvSpPr/>
          <p:nvPr/>
        </p:nvSpPr>
        <p:spPr bwMode="auto">
          <a:xfrm>
            <a:off x="1524000" y="5692592"/>
            <a:ext cx="4450814" cy="1168539"/>
          </a:xfrm>
          <a:prstGeom prst="wedgeEllipseCallout">
            <a:avLst>
              <a:gd name="adj1" fmla="val 15649"/>
              <a:gd name="adj2" fmla="val -144039"/>
            </a:avLst>
          </a:prstGeom>
          <a:solidFill>
            <a:schemeClr val="accent4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With the power of the lambda function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BD6783C-DEB6-D05B-5E7B-F8A7B66BF8F5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6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02554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0337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933D-FCA9-F24D-B189-487D89336AD2}"/>
              </a:ext>
            </a:extLst>
          </p:cNvPr>
          <p:cNvSpPr txBox="1"/>
          <p:nvPr/>
        </p:nvSpPr>
        <p:spPr>
          <a:xfrm>
            <a:off x="371475" y="2853019"/>
            <a:ext cx="10001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First class functions are functions that can be passed around like any other values, including as arguments to functions.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37BDC0-5C3E-72B3-5E82-5D32CC2F64CE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7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385796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8726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 - </a:t>
            </a:r>
            <a:r>
              <a:rPr kumimoji="1" lang="en-US" sz="3200" b="1" dirty="0">
                <a:cs typeface="ＭＳ Ｐゴシック" pitchFamily="-1" charset="-128"/>
              </a:rPr>
              <a:t>E</a:t>
            </a:r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xample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FC234-C1D6-514A-9C93-F078D599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7432" y="2437201"/>
            <a:ext cx="3778786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ifEvenInc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ifEvenInc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 + 1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C3291ED-39B4-F048-944F-B6E4CE61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0310" y="2440370"/>
            <a:ext cx="4441633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ifEvenDouble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b="1" dirty="0">
                <a:latin typeface="Lucida Sans Typewriter" panose="020B0509030504030204" pitchFamily="49" charset="77"/>
              </a:rPr>
              <a:t>ifEvenDouble</a:t>
            </a:r>
            <a:r>
              <a:rPr lang="en-IE" sz="2000" dirty="0">
                <a:latin typeface="Lucida Sans Typewriter" panose="020B0509030504030204" pitchFamily="49" charset="77"/>
              </a:rPr>
              <a:t>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n*2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12ACBD0-8E06-E649-9BE8-A2863F82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579" y="4782306"/>
            <a:ext cx="4320447" cy="161849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b="1" dirty="0">
                <a:latin typeface="Lucida Sans Typewriter" panose="020B0509030504030204" pitchFamily="49" charset="77"/>
              </a:rPr>
              <a:t>ifEvenSquare</a:t>
            </a:r>
            <a:r>
              <a:rPr lang="en-IE" sz="2000" dirty="0">
                <a:latin typeface="Lucida Sans Typewriter" panose="020B0509030504030204" pitchFamily="49" charset="77"/>
              </a:rPr>
              <a:t> :: Int -&gt; Int</a:t>
            </a:r>
          </a:p>
          <a:p>
            <a:r>
              <a:rPr lang="en-IE" sz="2000" b="1" dirty="0">
                <a:latin typeface="Lucida Sans Typewriter" panose="020B0509030504030204" pitchFamily="49" charset="77"/>
              </a:rPr>
              <a:t>ifEvenSquare</a:t>
            </a:r>
            <a:r>
              <a:rPr lang="en-IE" sz="2000" dirty="0">
                <a:latin typeface="Lucida Sans Typewriter" panose="020B0509030504030204" pitchFamily="49" charset="77"/>
              </a:rPr>
              <a:t>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n^2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627A90-69BF-0A44-A058-324534E9EF08}"/>
              </a:ext>
            </a:extLst>
          </p:cNvPr>
          <p:cNvSpPr txBox="1"/>
          <p:nvPr/>
        </p:nvSpPr>
        <p:spPr>
          <a:xfrm>
            <a:off x="7644655" y="5136835"/>
            <a:ext cx="2094431" cy="400110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Only differences</a:t>
            </a:r>
          </a:p>
        </p:txBody>
      </p:sp>
      <p:sp>
        <p:nvSpPr>
          <p:cNvPr id="5" name="Doughnut 4">
            <a:extLst>
              <a:ext uri="{FF2B5EF4-FFF2-40B4-BE49-F238E27FC236}">
                <a16:creationId xmlns:a16="http://schemas.microsoft.com/office/drawing/2014/main" id="{F41F3F83-7DBB-944B-A5F1-DED1D35CC37E}"/>
              </a:ext>
            </a:extLst>
          </p:cNvPr>
          <p:cNvSpPr/>
          <p:nvPr/>
        </p:nvSpPr>
        <p:spPr bwMode="auto">
          <a:xfrm>
            <a:off x="2202849" y="5542678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1" name="Doughnut 10">
            <a:extLst>
              <a:ext uri="{FF2B5EF4-FFF2-40B4-BE49-F238E27FC236}">
                <a16:creationId xmlns:a16="http://schemas.microsoft.com/office/drawing/2014/main" id="{EAEFDC0B-7BE6-9D40-889B-2A16A900EE92}"/>
              </a:ext>
            </a:extLst>
          </p:cNvPr>
          <p:cNvSpPr/>
          <p:nvPr/>
        </p:nvSpPr>
        <p:spPr bwMode="auto">
          <a:xfrm>
            <a:off x="2311181" y="3205265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Doughnut 11">
            <a:extLst>
              <a:ext uri="{FF2B5EF4-FFF2-40B4-BE49-F238E27FC236}">
                <a16:creationId xmlns:a16="http://schemas.microsoft.com/office/drawing/2014/main" id="{F0A59CDE-96E5-414E-8A18-127DF2CF886D}"/>
              </a:ext>
            </a:extLst>
          </p:cNvPr>
          <p:cNvSpPr/>
          <p:nvPr/>
        </p:nvSpPr>
        <p:spPr bwMode="auto">
          <a:xfrm>
            <a:off x="6638974" y="3203429"/>
            <a:ext cx="1575412" cy="735747"/>
          </a:xfrm>
          <a:prstGeom prst="donut">
            <a:avLst/>
          </a:prstGeom>
          <a:solidFill>
            <a:schemeClr val="tx2"/>
          </a:solidFill>
          <a:ln w="12700" cap="sq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17638D8-1EFD-B14E-92CD-75D0389B4BC8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402810" y="3899972"/>
            <a:ext cx="187287" cy="1145755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B5351F8-5861-0342-BA4C-0D6D4BA48C2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820492" y="3743899"/>
            <a:ext cx="3769604" cy="1345894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71E9BE9-A71D-634B-B5AC-653B0615B7F0}"/>
              </a:ext>
            </a:extLst>
          </p:cNvPr>
          <p:cNvCxnSpPr>
            <a:cxnSpLocks/>
          </p:cNvCxnSpPr>
          <p:nvPr/>
        </p:nvCxnSpPr>
        <p:spPr bwMode="auto">
          <a:xfrm flipH="1">
            <a:off x="3734194" y="5155895"/>
            <a:ext cx="3822852" cy="638979"/>
          </a:xfrm>
          <a:prstGeom prst="straightConnector1">
            <a:avLst/>
          </a:prstGeom>
          <a:noFill/>
          <a:ln w="60325" cap="sq" cmpd="sng" algn="ctr">
            <a:solidFill>
              <a:schemeClr val="tx2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50651B-B13E-DFD4-225A-E0136ED35329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8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9081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3" grpId="0" animBg="1"/>
      <p:bldP spid="5" grpId="0" animBg="1"/>
      <p:bldP spid="11" grpId="0" animBg="1"/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63558" y="955722"/>
            <a:ext cx="9326686" cy="957236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 - Introduce a function as an argument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FF8FC234-C1D6-514A-9C93-F078D599C9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3379" y="2302554"/>
            <a:ext cx="3778786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inc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inc n = n + 1</a:t>
            </a: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DC3291ED-39B4-F048-944F-B6E4CE61D7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1172" y="2360808"/>
            <a:ext cx="4441633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double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double n = n * 2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212ACBD0-8E06-E649-9BE8-A2863F822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595" y="3546313"/>
            <a:ext cx="4177229" cy="70788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square :: Num a =&gt;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square n = n ^ 2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CC7148B4-ADFE-AE4F-B916-8D5190D2A2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7155" y="4702049"/>
            <a:ext cx="7131586" cy="163121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ifEven :: Integral a =&gt; (a-&gt;a) -&gt; a -&gt; a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ifEven f n =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if even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then f n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else 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5EF7B65-25D2-AD45-8039-B9C66DD0FDB7}"/>
              </a:ext>
            </a:extLst>
          </p:cNvPr>
          <p:cNvCxnSpPr/>
          <p:nvPr/>
        </p:nvCxnSpPr>
        <p:spPr bwMode="auto">
          <a:xfrm flipH="1">
            <a:off x="3409634" y="5000260"/>
            <a:ext cx="980501" cy="495759"/>
          </a:xfrm>
          <a:prstGeom prst="straightConnector1">
            <a:avLst/>
          </a:prstGeom>
          <a:noFill/>
          <a:ln w="31750" cap="sq" cmpd="sng" algn="ctr">
            <a:solidFill>
              <a:schemeClr val="accent4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" name="Oval Callout 12">
            <a:extLst>
              <a:ext uri="{FF2B5EF4-FFF2-40B4-BE49-F238E27FC236}">
                <a16:creationId xmlns:a16="http://schemas.microsoft.com/office/drawing/2014/main" id="{892D764C-B9A7-9547-A442-E775588B7D5D}"/>
              </a:ext>
            </a:extLst>
          </p:cNvPr>
          <p:cNvSpPr/>
          <p:nvPr/>
        </p:nvSpPr>
        <p:spPr bwMode="auto">
          <a:xfrm>
            <a:off x="9490244" y="4916803"/>
            <a:ext cx="2985571" cy="995422"/>
          </a:xfrm>
          <a:prstGeom prst="wedgeEllipseCallout">
            <a:avLst>
              <a:gd name="adj1" fmla="val -216886"/>
              <a:gd name="adj2" fmla="val -39005"/>
            </a:avLst>
          </a:prstGeom>
          <a:solidFill>
            <a:schemeClr val="accent4"/>
          </a:solidFill>
          <a:ln w="12700" cap="sq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even only works on integers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006C59-1D03-0977-C478-4B270E4B2F1C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9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2442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6" grpId="0" animBg="1"/>
      <p:bldP spid="1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6434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First Class 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462DEA8-0829-7C45-AFA4-13DD674DB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0268" y="2876253"/>
            <a:ext cx="5158703" cy="36769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2B58F6-0579-2D47-BAFA-E7C58617856D}"/>
              </a:ext>
            </a:extLst>
          </p:cNvPr>
          <p:cNvSpPr txBox="1"/>
          <p:nvPr/>
        </p:nvSpPr>
        <p:spPr>
          <a:xfrm>
            <a:off x="1553029" y="2127336"/>
            <a:ext cx="62758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can call these functions thus: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AE244C3D-D1A3-CEFE-C175-92D4980A0DD6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10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544851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73079" y="955722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kumimoji="1" lang="en-US" sz="3200" b="1" dirty="0">
                <a:latin typeface="+mj-lt"/>
                <a:ea typeface="+mj-ea"/>
                <a:cs typeface="ＭＳ Ｐゴシック" pitchFamily="-1" charset="-128"/>
              </a:rPr>
              <a:t>Using lambdas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53C3DF-7C99-9E43-8978-2A527B010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613" y="2601569"/>
            <a:ext cx="8594387" cy="28755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9FB05B-08AA-8F42-BC06-C50189F44108}"/>
              </a:ext>
            </a:extLst>
          </p:cNvPr>
          <p:cNvSpPr txBox="1"/>
          <p:nvPr/>
        </p:nvSpPr>
        <p:spPr>
          <a:xfrm>
            <a:off x="2230479" y="5877580"/>
            <a:ext cx="1828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etc. </a:t>
            </a:r>
          </a:p>
        </p:txBody>
      </p:sp>
      <p:sp>
        <p:nvSpPr>
          <p:cNvPr id="4" name="Slide Number Placeholder 1">
            <a:extLst>
              <a:ext uri="{FF2B5EF4-FFF2-40B4-BE49-F238E27FC236}">
                <a16:creationId xmlns:a16="http://schemas.microsoft.com/office/drawing/2014/main" id="{093480DB-59AB-DE5F-4A29-9542EF9F4B1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11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5347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99B92BEF-FF35-A8A9-1E6B-B680B1F135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 Black" panose="020B0604020202020204" pitchFamily="34" charset="0"/>
              </a:rPr>
              <a:t>The map Function</a:t>
            </a:r>
          </a:p>
        </p:txBody>
      </p:sp>
      <p:sp>
        <p:nvSpPr>
          <p:cNvPr id="5122" name="Slide Number Placeholder 2">
            <a:extLst>
              <a:ext uri="{FF2B5EF4-FFF2-40B4-BE49-F238E27FC236}">
                <a16:creationId xmlns:a16="http://schemas.microsoft.com/office/drawing/2014/main" id="{EF3A86BE-C211-EC50-5AA7-C865EA292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FF4EC63-AE68-D44F-8354-6B5FAE4251DB}" type="slidenum">
              <a:rPr lang="en-US" altLang="en-US" sz="1400">
                <a:latin typeface="Tahoma" panose="020B060403050404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 altLang="en-US" sz="140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23" name="Text Box 3">
            <a:extLst>
              <a:ext uri="{FF2B5EF4-FFF2-40B4-BE49-F238E27FC236}">
                <a16:creationId xmlns:a16="http://schemas.microsoft.com/office/drawing/2014/main" id="{5C1BBAAD-8761-E0C8-7293-FACC766732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8613" y="2192338"/>
            <a:ext cx="83470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ＭＳ Ｐゴシック" panose="020B0600070205080204" pitchFamily="34" charset="-128"/>
              </a:rPr>
              <a:t>The higher-order library function called </a:t>
            </a:r>
            <a:r>
              <a:rPr lang="en-US" altLang="en-US" sz="2800" u="sng">
                <a:latin typeface="Tahoma" panose="020B0604030504040204" pitchFamily="34" charset="0"/>
                <a:ea typeface="ＭＳ Ｐゴシック" panose="020B0600070205080204" pitchFamily="34" charset="-128"/>
              </a:rPr>
              <a:t>map</a:t>
            </a:r>
            <a:r>
              <a:rPr lang="en-US" altLang="en-US" sz="2800">
                <a:latin typeface="Tahoma" panose="020B0604030504040204" pitchFamily="34" charset="0"/>
                <a:ea typeface="ＭＳ Ｐゴシック" panose="020B0600070205080204" pitchFamily="34" charset="-128"/>
              </a:rPr>
              <a:t> applies a function to every element of a list.</a:t>
            </a:r>
          </a:p>
        </p:txBody>
      </p:sp>
      <p:sp>
        <p:nvSpPr>
          <p:cNvPr id="5124" name="Text Box 4">
            <a:extLst>
              <a:ext uri="{FF2B5EF4-FFF2-40B4-BE49-F238E27FC236}">
                <a16:creationId xmlns:a16="http://schemas.microsoft.com/office/drawing/2014/main" id="{2DD51A45-311B-EEA6-F811-56C6B86B3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1175" y="3373438"/>
            <a:ext cx="5319713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map :: (a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b)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[a]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[b]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D02E5EEF-3390-1643-0285-71CE41AD1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7225" y="4117975"/>
            <a:ext cx="2273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ＭＳ Ｐゴシック" panose="020B0600070205080204" pitchFamily="34" charset="-128"/>
              </a:rPr>
              <a:t>For example: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A5B70627-534A-76B0-03AA-E6B5AEE09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3088" y="5153025"/>
            <a:ext cx="3903662" cy="12001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&gt; map (+1) [1,3,5,7]</a:t>
            </a:r>
          </a:p>
          <a:p>
            <a:pPr eaLnBrk="1" hangingPunct="1"/>
            <a:endParaRPr lang="en-US" altLang="en-US" sz="2400">
              <a:latin typeface="Lucida Sans Typewriter" panose="020B0509030504030204" pitchFamily="49" charset="77"/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[2,4,6,8]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>
            <a:extLst>
              <a:ext uri="{FF2B5EF4-FFF2-40B4-BE49-F238E27FC236}">
                <a16:creationId xmlns:a16="http://schemas.microsoft.com/office/drawing/2014/main" id="{1CA0E17A-591A-3457-CA87-69A1AD01FD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 Black" panose="020B0604020202020204" pitchFamily="34" charset="0"/>
              </a:rPr>
              <a:t>The map Function</a:t>
            </a:r>
          </a:p>
        </p:txBody>
      </p:sp>
      <p:sp>
        <p:nvSpPr>
          <p:cNvPr id="6146" name="Slide Number Placeholder 2">
            <a:extLst>
              <a:ext uri="{FF2B5EF4-FFF2-40B4-BE49-F238E27FC236}">
                <a16:creationId xmlns:a16="http://schemas.microsoft.com/office/drawing/2014/main" id="{234FC7E2-F013-74A8-5230-5AD62F7049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C25259F-9397-474E-AF94-FB6FD2E0EE35}" type="slidenum">
              <a:rPr lang="en-US" altLang="en-US" sz="1400">
                <a:latin typeface="Tahoma" panose="020B0604030504040204" pitchFamily="34" charset="0"/>
                <a:ea typeface="ＭＳ Ｐゴシック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z="1400">
              <a:latin typeface="Tahom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C37DAA8C-D8CA-190F-3C13-8CA435BC0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2447925"/>
            <a:ext cx="83470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ＭＳ Ｐゴシック" panose="020B0600070205080204" pitchFamily="34" charset="-128"/>
              </a:rPr>
              <a:t>We will examine more higher-order functions later</a:t>
            </a:r>
          </a:p>
        </p:txBody>
      </p:sp>
      <p:sp>
        <p:nvSpPr>
          <p:cNvPr id="6148" name="Text Box 4">
            <a:extLst>
              <a:ext uri="{FF2B5EF4-FFF2-40B4-BE49-F238E27FC236}">
                <a16:creationId xmlns:a16="http://schemas.microsoft.com/office/drawing/2014/main" id="{6692F23B-D8E9-8738-A4C8-1ABAFB5F78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3451225"/>
            <a:ext cx="5319712" cy="457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map :: (a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b)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[a] 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  <a:sym typeface="Symbol" pitchFamily="2" charset="2"/>
              </a:rPr>
              <a:t></a:t>
            </a:r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 [b]</a:t>
            </a:r>
          </a:p>
        </p:txBody>
      </p:sp>
      <p:sp>
        <p:nvSpPr>
          <p:cNvPr id="18437" name="Text Box 5">
            <a:extLst>
              <a:ext uri="{FF2B5EF4-FFF2-40B4-BE49-F238E27FC236}">
                <a16:creationId xmlns:a16="http://schemas.microsoft.com/office/drawing/2014/main" id="{B9EBB944-206B-8C67-6DA7-1990BE9433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2613" y="4505325"/>
            <a:ext cx="2273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800">
                <a:latin typeface="Tahoma" panose="020B0604030504040204" pitchFamily="34" charset="0"/>
                <a:ea typeface="ＭＳ Ｐゴシック" panose="020B0600070205080204" pitchFamily="34" charset="-128"/>
              </a:rPr>
              <a:t>For example: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4671A60A-87CB-63AE-76AF-62FF14867D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600" y="5502275"/>
            <a:ext cx="3717925" cy="8318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703020202090204" pitchFamily="34" charset="0"/>
              </a:defRPr>
            </a:lvl9pPr>
          </a:lstStyle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&gt; map toUpper ”cat”</a:t>
            </a:r>
          </a:p>
          <a:p>
            <a:pPr eaLnBrk="1" hangingPunct="1"/>
            <a:r>
              <a:rPr lang="en-US" altLang="en-US" sz="2400">
                <a:latin typeface="Lucida Sans Typewriter" panose="020B0509030504030204" pitchFamily="49" charset="77"/>
                <a:ea typeface="ＭＳ Ｐゴシック" panose="020B0600070205080204" pitchFamily="34" charset="-128"/>
              </a:rPr>
              <a:t>&gt;”CAT”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/>
      <p:bldP spid="1843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63" y="792081"/>
            <a:ext cx="7772400" cy="685800"/>
          </a:xfr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r>
              <a:rPr lang="en-US" sz="3200" b="1" dirty="0"/>
              <a:t>Example – sorting 1/3</a:t>
            </a:r>
            <a:endParaRPr kumimoji="1" lang="en-US" sz="3200" b="1" dirty="0">
              <a:latin typeface="+mj-lt"/>
              <a:ea typeface="+mj-ea"/>
              <a:cs typeface="ＭＳ Ｐゴシック" pitchFamily="-1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BD933D-FCA9-F24D-B189-487D89336AD2}"/>
              </a:ext>
            </a:extLst>
          </p:cNvPr>
          <p:cNvSpPr txBox="1"/>
          <p:nvPr/>
        </p:nvSpPr>
        <p:spPr>
          <a:xfrm>
            <a:off x="642938" y="2539611"/>
            <a:ext cx="98726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 this sorting example we use: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built in functions and also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pass functions into other (sortBy)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A788EF-DC34-5F4F-B73F-6A85294739DE}"/>
              </a:ext>
            </a:extLst>
          </p:cNvPr>
          <p:cNvSpPr txBox="1"/>
          <p:nvPr/>
        </p:nvSpPr>
        <p:spPr>
          <a:xfrm>
            <a:off x="781224" y="4358818"/>
            <a:ext cx="94057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We use: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Pairs/Tuples (fst and snd return the first and second element of the tuples respectively) 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Form (“firstname”, “lastname”)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5D9F8020-C330-78EF-A625-ED7C55835F32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14</a:t>
            </a:fld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7539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906000" y="6400800"/>
            <a:ext cx="609600" cy="304800"/>
          </a:xfr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  <a:defRPr/>
            </a:pPr>
            <a:fld id="{22DBF1FA-C6C4-7A46-BC08-C9A71A940756}" type="slidenum">
              <a:rPr lang="en-US" sz="1400"/>
              <a:pPr>
                <a:spcAft>
                  <a:spcPts val="600"/>
                </a:spcAft>
                <a:defRPr/>
              </a:pPr>
              <a:t>15</a:t>
            </a:fld>
            <a:endParaRPr lang="en-US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0444153-9164-AB4A-B01A-E796514A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90661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pPr defTabSz="685800" eaLnBrk="1" hangingPunct="1"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cs typeface="+mj-cs"/>
              </a:rPr>
              <a:t>Example – sorting 2/3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8A86399-6C75-CF4A-9B78-67ED835D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7572" y="2419217"/>
            <a:ext cx="8558028" cy="28623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dirty="0"/>
              <a:t>names :: [(String, String)]</a:t>
            </a:r>
          </a:p>
          <a:p>
            <a:r>
              <a:rPr lang="en-IE" dirty="0"/>
              <a:t>names = [	("Hugo", "Keenan"),</a:t>
            </a:r>
          </a:p>
          <a:p>
            <a:r>
              <a:rPr lang="en-IE" dirty="0"/>
              <a:t>               	("Mack", "Hansen"),</a:t>
            </a:r>
          </a:p>
          <a:p>
            <a:r>
              <a:rPr lang="en-IE" dirty="0"/>
              <a:t>               	("James", "Lowe"),</a:t>
            </a:r>
          </a:p>
          <a:p>
            <a:r>
              <a:rPr lang="en-IE" dirty="0"/>
              <a:t>			("</a:t>
            </a:r>
            <a:r>
              <a:rPr lang="en-IE" dirty="0" err="1"/>
              <a:t>Bundee</a:t>
            </a:r>
            <a:r>
              <a:rPr lang="en-IE" dirty="0"/>
              <a:t>", "Aki"),</a:t>
            </a:r>
          </a:p>
          <a:p>
            <a:r>
              <a:rPr lang="en-IE" dirty="0"/>
              <a:t>			("Robbie", "Henshaw"),</a:t>
            </a:r>
          </a:p>
          <a:p>
            <a:r>
              <a:rPr lang="en-IE" dirty="0"/>
              <a:t>			("Sam", "Prendergast"),</a:t>
            </a:r>
          </a:p>
          <a:p>
            <a:r>
              <a:rPr lang="en-IE" dirty="0"/>
              <a:t>			("Dan", "Sheehan"),</a:t>
            </a:r>
          </a:p>
          <a:p>
            <a:r>
              <a:rPr lang="en-IE" dirty="0"/>
              <a:t>			("Jack ", "Crowley") ,</a:t>
            </a:r>
          </a:p>
          <a:p>
            <a:r>
              <a:rPr lang="en-IE" dirty="0"/>
              <a:t>			("</a:t>
            </a:r>
            <a:r>
              <a:rPr lang="en-IE" dirty="0" err="1"/>
              <a:t>Caelan</a:t>
            </a:r>
            <a:r>
              <a:rPr lang="en-IE" dirty="0"/>
              <a:t>", "Doris").  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622E4-7E79-9E4F-8774-4790969EB92E}"/>
              </a:ext>
            </a:extLst>
          </p:cNvPr>
          <p:cNvSpPr txBox="1"/>
          <p:nvPr/>
        </p:nvSpPr>
        <p:spPr>
          <a:xfrm>
            <a:off x="265279" y="5805970"/>
            <a:ext cx="242371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Called as </a:t>
            </a:r>
          </a:p>
        </p:txBody>
      </p:sp>
      <p:sp>
        <p:nvSpPr>
          <p:cNvPr id="11" name="Oval Callout 10">
            <a:extLst>
              <a:ext uri="{FF2B5EF4-FFF2-40B4-BE49-F238E27FC236}">
                <a16:creationId xmlns:a16="http://schemas.microsoft.com/office/drawing/2014/main" id="{12FCD44A-58C3-EE49-8172-74E42FB40438}"/>
              </a:ext>
            </a:extLst>
          </p:cNvPr>
          <p:cNvSpPr/>
          <p:nvPr/>
        </p:nvSpPr>
        <p:spPr bwMode="auto">
          <a:xfrm>
            <a:off x="8156154" y="3603670"/>
            <a:ext cx="1972019" cy="1861006"/>
          </a:xfrm>
          <a:prstGeom prst="wedgeEllipseCallout">
            <a:avLst>
              <a:gd name="adj1" fmla="val -310218"/>
              <a:gd name="adj2" fmla="val 77300"/>
            </a:avLst>
          </a:prstGeom>
          <a:solidFill>
            <a:schemeClr val="accent4"/>
          </a:solidFill>
          <a:ln w="12700" cap="sq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Default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sort is on first element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B4EA69-C1DE-D345-74D9-AF8AB0FD705D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15</a:t>
            </a:fld>
            <a:endParaRPr lang="en-US" sz="1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C75D97-9255-BF76-C428-035837155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739" y="5989107"/>
            <a:ext cx="9802290" cy="567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6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30444153-9164-AB4A-B01A-E796514A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25554"/>
            <a:ext cx="77724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+mj-lt"/>
                <a:ea typeface="+mj-ea"/>
                <a:cs typeface="ＭＳ Ｐゴシック" pitchFamily="-1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  <a:cs typeface="ＭＳ Ｐゴシック" pitchFamily="-1" charset="-128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3600">
                <a:solidFill>
                  <a:schemeClr val="tx2"/>
                </a:solidFill>
                <a:latin typeface="Arial Black" charset="0"/>
                <a:ea typeface="ＭＳ Ｐゴシック" charset="0"/>
              </a:defRPr>
            </a:lvl9pPr>
          </a:lstStyle>
          <a:p>
            <a:pPr defTabSz="685800" eaLnBrk="1" hangingPunct="1">
              <a:lnSpc>
                <a:spcPct val="90000"/>
              </a:lnSpc>
            </a:pPr>
            <a:r>
              <a:rPr lang="en-US" sz="3200" b="1" dirty="0">
                <a:solidFill>
                  <a:schemeClr val="tx1"/>
                </a:solidFill>
                <a:cs typeface="+mj-cs"/>
              </a:rPr>
              <a:t>Example – sorting 3/3</a:t>
            </a:r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18A86399-6C75-CF4A-9B78-67ED835DF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9650" y="1536174"/>
            <a:ext cx="9391150" cy="378565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spAutoFit/>
          </a:bodyPr>
          <a:lstStyle/>
          <a:p>
            <a:r>
              <a:rPr lang="en-IE" sz="2000" dirty="0">
                <a:latin typeface="Lucida Sans Typewriter" panose="020B0509030504030204" pitchFamily="49" charset="77"/>
              </a:rPr>
              <a:t>import </a:t>
            </a:r>
            <a:r>
              <a:rPr lang="en-IE" sz="2000" b="1" dirty="0">
                <a:latin typeface="Lucida Sans Typewriter" panose="020B0509030504030204" pitchFamily="49" charset="77"/>
              </a:rPr>
              <a:t>Data.List</a:t>
            </a:r>
            <a:r>
              <a:rPr lang="en-IE" sz="2000" dirty="0">
                <a:latin typeface="Lucida Sans Typewriter" panose="020B0509030504030204" pitchFamily="49" charset="77"/>
              </a:rPr>
              <a:t> ( </a:t>
            </a:r>
            <a:r>
              <a:rPr lang="en-IE" sz="2000" b="1" dirty="0">
                <a:latin typeface="Lucida Sans Typewriter" panose="020B0509030504030204" pitchFamily="49" charset="77"/>
              </a:rPr>
              <a:t>sort, sortBy</a:t>
            </a:r>
            <a:r>
              <a:rPr lang="en-IE" sz="2000" dirty="0">
                <a:latin typeface="Lucida Sans Typewriter" panose="020B0509030504030204" pitchFamily="49" charset="77"/>
              </a:rPr>
              <a:t> )</a:t>
            </a:r>
          </a:p>
          <a:p>
            <a:br>
              <a:rPr lang="en-IE" sz="2000" dirty="0">
                <a:latin typeface="Lucida Sans Typewriter" panose="020B0509030504030204" pitchFamily="49" charset="77"/>
              </a:rPr>
            </a:br>
            <a:r>
              <a:rPr lang="en-IE" sz="2000" dirty="0">
                <a:latin typeface="Lucida Sans Typewriter" panose="020B0509030504030204" pitchFamily="49" charset="77"/>
              </a:rPr>
              <a:t>names :: [(String, String)]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names = “as before”</a:t>
            </a:r>
          </a:p>
          <a:p>
            <a:endParaRPr lang="en-IE" sz="2000" dirty="0">
              <a:latin typeface="Lucida Sans Typewriter" panose="020B0509030504030204" pitchFamily="49" charset="77"/>
            </a:endParaRPr>
          </a:p>
          <a:p>
            <a:r>
              <a:rPr lang="en-IE" sz="2000" dirty="0">
                <a:latin typeface="Lucida Sans Typewriter" panose="020B0509030504030204" pitchFamily="49" charset="77"/>
              </a:rPr>
              <a:t>compareLastNames :: Ord a =&gt; (a, a) -&gt; (a, a) -&gt; Ordering</a:t>
            </a:r>
            <a:br>
              <a:rPr lang="en-IE" sz="2000" dirty="0">
                <a:latin typeface="Lucida Sans Typewriter" panose="020B0509030504030204" pitchFamily="49" charset="77"/>
              </a:rPr>
            </a:br>
            <a:r>
              <a:rPr lang="en-IE" sz="2000" dirty="0">
                <a:latin typeface="Lucida Sans Typewriter" panose="020B0509030504030204" pitchFamily="49" charset="77"/>
              </a:rPr>
              <a:t>compareLastNames name1 name2 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lastName1 &gt; lastName2 = GT 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lastName1 &lt; lastName2 = LT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| otherwise = EQ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where lastName1 = snd name1</a:t>
            </a:r>
          </a:p>
          <a:p>
            <a:r>
              <a:rPr lang="en-IE" sz="2000" dirty="0">
                <a:latin typeface="Lucida Sans Typewriter" panose="020B0509030504030204" pitchFamily="49" charset="77"/>
              </a:rPr>
              <a:t>        lastName2 = </a:t>
            </a:r>
            <a:r>
              <a:rPr lang="en-IE" sz="2000" dirty="0" err="1">
                <a:latin typeface="Lucida Sans Typewriter" panose="020B0509030504030204" pitchFamily="49" charset="77"/>
              </a:rPr>
              <a:t>snd</a:t>
            </a:r>
            <a:r>
              <a:rPr lang="en-IE" sz="2000" dirty="0">
                <a:latin typeface="Lucida Sans Typewriter" panose="020B0509030504030204" pitchFamily="49" charset="77"/>
              </a:rPr>
              <a:t> name2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7622E4-7E79-9E4F-8774-4790969EB92E}"/>
              </a:ext>
            </a:extLst>
          </p:cNvPr>
          <p:cNvSpPr txBox="1"/>
          <p:nvPr/>
        </p:nvSpPr>
        <p:spPr>
          <a:xfrm>
            <a:off x="0" y="5544973"/>
            <a:ext cx="2423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Called as </a:t>
            </a:r>
          </a:p>
        </p:txBody>
      </p:sp>
      <p:sp>
        <p:nvSpPr>
          <p:cNvPr id="3" name="Slide Number Placeholder 1">
            <a:extLst>
              <a:ext uri="{FF2B5EF4-FFF2-40B4-BE49-F238E27FC236}">
                <a16:creationId xmlns:a16="http://schemas.microsoft.com/office/drawing/2014/main" id="{16A33A1F-9E5D-EF91-441A-B3C3C5B9B601}"/>
              </a:ext>
            </a:extLst>
          </p:cNvPr>
          <p:cNvSpPr txBox="1">
            <a:spLocks/>
          </p:cNvSpPr>
          <p:nvPr/>
        </p:nvSpPr>
        <p:spPr>
          <a:xfrm>
            <a:off x="10729457" y="753228"/>
            <a:ext cx="1154151" cy="109078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2pPr>
            <a:lvl3pPr marL="11430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3pPr>
            <a:lvl4pPr marL="16002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4pPr>
            <a:lvl5pPr marL="2057400" indent="-228600" algn="l" defTabSz="457200" rtl="0" eaLnBrk="1" latinLnBrk="0" hangingPunct="1"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2800" kern="1200">
                <a:solidFill>
                  <a:schemeClr val="tx1"/>
                </a:solidFill>
                <a:latin typeface="Tahoma" charset="0"/>
                <a:ea typeface="ＭＳ Ｐゴシック" charset="0"/>
                <a:cs typeface="+mn-cs"/>
              </a:defRPr>
            </a:lvl9pPr>
          </a:lstStyle>
          <a:p>
            <a:fld id="{BE7B5135-177D-EE42-9C5F-82759AF30F9B}" type="slidenum">
              <a:rPr lang="en-US" sz="1400" smtClean="0"/>
              <a:pPr/>
              <a:t>16</a:t>
            </a:fld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E6F90F-01D1-4D47-59B8-3A20B5244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4" y="5867173"/>
            <a:ext cx="11401612" cy="84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0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Text&#10;&#10;Description automatically generated">
            <a:extLst>
              <a:ext uri="{FF2B5EF4-FFF2-40B4-BE49-F238E27FC236}">
                <a16:creationId xmlns:a16="http://schemas.microsoft.com/office/drawing/2014/main" id="{2C6DED11-E24C-1747-9B8B-24AF63DE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447" y="857538"/>
            <a:ext cx="6517105" cy="4953000"/>
          </a:xfrm>
          <a:prstGeom prst="rect">
            <a:avLst/>
          </a:prstGeom>
          <a:noFill/>
        </p:spPr>
      </p:pic>
      <p:sp>
        <p:nvSpPr>
          <p:cNvPr id="16385" name="Slide Number Placeholder 2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normAutofit/>
          </a:bodyPr>
          <a:lstStyle>
            <a:lvl1pPr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>
              <a:spcAft>
                <a:spcPts val="600"/>
              </a:spcAft>
            </a:pPr>
            <a:fld id="{CC73A6B6-49ED-C641-8D95-0A84FA800C15}" type="slidenum">
              <a:rPr lang="en-US" sz="1400"/>
              <a:pPr>
                <a:spcAft>
                  <a:spcPts val="600"/>
                </a:spcAft>
              </a:pPr>
              <a:t>17</a:t>
            </a:fld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205145016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a-functions</Template>
  <TotalTime>11175</TotalTime>
  <Words>931</Words>
  <Application>Microsoft Macintosh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ＭＳ Ｐゴシック</vt:lpstr>
      <vt:lpstr>Arial</vt:lpstr>
      <vt:lpstr>Arial Black</vt:lpstr>
      <vt:lpstr>Calibri</vt:lpstr>
      <vt:lpstr>Lucida Sans Typewriter</vt:lpstr>
      <vt:lpstr>Tahoma</vt:lpstr>
      <vt:lpstr>Times New Roman</vt:lpstr>
      <vt:lpstr>Trebuchet MS</vt:lpstr>
      <vt:lpstr>Berlin</vt:lpstr>
      <vt:lpstr>PowerPoint Presentation</vt:lpstr>
      <vt:lpstr>Lambdas, let and where</vt:lpstr>
      <vt:lpstr>Starting point</vt:lpstr>
      <vt:lpstr>Using where</vt:lpstr>
      <vt:lpstr>Towards lambda functions</vt:lpstr>
      <vt:lpstr>Using lambda functions</vt:lpstr>
      <vt:lpstr>Using let</vt:lpstr>
      <vt:lpstr>First Class  Functions</vt:lpstr>
      <vt:lpstr>First Class  Functions - Example</vt:lpstr>
      <vt:lpstr>First Class  Functions - Introduce a function as an argument</vt:lpstr>
      <vt:lpstr>First Class  Functions</vt:lpstr>
      <vt:lpstr>Using lambdas</vt:lpstr>
      <vt:lpstr>The map Function</vt:lpstr>
      <vt:lpstr>The map Function</vt:lpstr>
      <vt:lpstr>Example – sorting 1/3</vt:lpstr>
      <vt:lpstr>PowerPoint Presentation</vt:lpstr>
      <vt:lpstr>PowerPoint Presentation</vt:lpstr>
      <vt:lpstr>PowerPoint Presentation</vt:lpstr>
    </vt:vector>
  </TitlesOfParts>
  <Company>University of Nottingham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Programming</dc:title>
  <dc:creator>Dr. Graham Hutton</dc:creator>
  <cp:lastModifiedBy>Mairead Meagher</cp:lastModifiedBy>
  <cp:revision>423</cp:revision>
  <cp:lastPrinted>2016-01-08T09:11:08Z</cp:lastPrinted>
  <dcterms:created xsi:type="dcterms:W3CDTF">2000-11-20T11:40:19Z</dcterms:created>
  <dcterms:modified xsi:type="dcterms:W3CDTF">2026-02-05T19:41:29Z</dcterms:modified>
</cp:coreProperties>
</file>