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53" r:id="rId1"/>
  </p:sldMasterIdLst>
  <p:notesMasterIdLst>
    <p:notesMasterId r:id="rId33"/>
  </p:notesMasterIdLst>
  <p:handoutMasterIdLst>
    <p:handoutMasterId r:id="rId34"/>
  </p:handoutMasterIdLst>
  <p:sldIdLst>
    <p:sldId id="328" r:id="rId2"/>
    <p:sldId id="290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36" r:id="rId12"/>
    <p:sldId id="303" r:id="rId13"/>
    <p:sldId id="291" r:id="rId14"/>
    <p:sldId id="304" r:id="rId15"/>
    <p:sldId id="345" r:id="rId16"/>
    <p:sldId id="308" r:id="rId17"/>
    <p:sldId id="306" r:id="rId18"/>
    <p:sldId id="294" r:id="rId19"/>
    <p:sldId id="307" r:id="rId20"/>
    <p:sldId id="331" r:id="rId21"/>
    <p:sldId id="332" r:id="rId22"/>
    <p:sldId id="333" r:id="rId23"/>
    <p:sldId id="334" r:id="rId24"/>
    <p:sldId id="316" r:id="rId25"/>
    <p:sldId id="313" r:id="rId26"/>
    <p:sldId id="314" r:id="rId27"/>
    <p:sldId id="330" r:id="rId28"/>
    <p:sldId id="309" r:id="rId29"/>
    <p:sldId id="320" r:id="rId30"/>
    <p:sldId id="323" r:id="rId31"/>
    <p:sldId id="346" r:id="rId32"/>
  </p:sldIdLst>
  <p:sldSz cx="9144000" cy="6858000" type="screen4x3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8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489"/>
  </p:normalViewPr>
  <p:slideViewPr>
    <p:cSldViewPr snapToGrid="0">
      <p:cViewPr varScale="1">
        <p:scale>
          <a:sx n="97" d="100"/>
          <a:sy n="97" d="100"/>
        </p:scale>
        <p:origin x="130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05CEB389-31E8-AB46-A69E-5E6395AF6B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79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1400" y="762000"/>
            <a:ext cx="5080000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9C613AF-66BC-8C45-8FFC-81938FBA41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864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410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01EB86E-CCC9-C548-84B5-1610E1C68693}" type="slidenum">
              <a:rPr lang="en-US" sz="1200"/>
              <a:pPr/>
              <a:t>25</a:t>
            </a:fld>
            <a:endParaRPr lang="en-US" sz="1200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GB"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410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01EB86E-CCC9-C548-84B5-1610E1C68693}" type="slidenum">
              <a:rPr lang="en-US" sz="1200"/>
              <a:pPr/>
              <a:t>26</a:t>
            </a:fld>
            <a:endParaRPr lang="en-US" sz="1200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GB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258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733709"/>
            <a:ext cx="6108101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750337"/>
            <a:ext cx="878916" cy="1356442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451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906A9-ADC8-F342-81A7-F9FDA948E9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4087901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726267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869895"/>
            <a:ext cx="7210395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4232172"/>
            <a:ext cx="7210395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2" y="2869896"/>
            <a:ext cx="865613" cy="1090789"/>
          </a:xfrm>
        </p:spPr>
        <p:txBody>
          <a:bodyPr/>
          <a:lstStyle/>
          <a:p>
            <a:pPr>
              <a:defRPr/>
            </a:pPr>
            <a:fld id="{D34BF70C-D155-7D48-91BD-16746CB44B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8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2336873"/>
            <a:ext cx="352376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2336873"/>
            <a:ext cx="3525044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2B149C-5A7C-8A40-8B3B-ABD9D8FE08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86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30"/>
            <a:ext cx="7210397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2336874"/>
            <a:ext cx="3354245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3030009"/>
            <a:ext cx="3523766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2336873"/>
            <a:ext cx="3355521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3030009"/>
            <a:ext cx="3525044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A415B7-371A-3840-81B1-0A9B9BCF3B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28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FC1FA8-E849-9047-9722-D34601CB06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8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367834-1F6B-D04F-9A28-C67EB7881E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99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753227"/>
            <a:ext cx="7210394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4206252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2336873"/>
            <a:ext cx="284255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0D4E9F-BF2E-394F-AFB8-DD3D501C29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9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753228"/>
            <a:ext cx="7210393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2336874"/>
            <a:ext cx="406938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2336874"/>
            <a:ext cx="2907192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2AC4A9-8955-664E-BB4E-51394A3392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4711617"/>
            <a:ext cx="7210394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609598"/>
            <a:ext cx="721039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5169584"/>
            <a:ext cx="7210397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11310"/>
            <a:ext cx="865613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7350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609597"/>
            <a:ext cx="7210394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16"/>
            <a:ext cx="7210394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11616"/>
            <a:ext cx="865613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9392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609598"/>
            <a:ext cx="6539158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3653379"/>
            <a:ext cx="611743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16"/>
            <a:ext cx="7210394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09926"/>
            <a:ext cx="865613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74811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30335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297817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4711616"/>
            <a:ext cx="7210397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5300150"/>
            <a:ext cx="7210397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09926"/>
            <a:ext cx="865613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8779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753228"/>
            <a:ext cx="721872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2336873"/>
            <a:ext cx="2302526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3022674"/>
            <a:ext cx="2287277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233687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3022674"/>
            <a:ext cx="229743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7" y="2336873"/>
            <a:ext cx="230251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7" y="3022674"/>
            <a:ext cx="2302519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967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5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39" y="4297503"/>
            <a:ext cx="228727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39" y="2336873"/>
            <a:ext cx="228727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39" y="4873765"/>
            <a:ext cx="228727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429750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2336873"/>
            <a:ext cx="229743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8" y="4873764"/>
            <a:ext cx="230047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09" y="4297503"/>
            <a:ext cx="229762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8" y="2336873"/>
            <a:ext cx="229762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4873762"/>
            <a:ext cx="2300672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392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A14927-CF9F-8643-99B0-6F2BBAFF85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41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5448782" y="2040420"/>
            <a:ext cx="5106988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200777" y="5543428"/>
            <a:ext cx="1602997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609597"/>
            <a:ext cx="805352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652503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5936188"/>
            <a:ext cx="20574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9510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3" y="5398634"/>
            <a:ext cx="865613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DDE4DFA3-B759-4941-9F09-7CA811EFFC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4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6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2336873"/>
            <a:ext cx="7210396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1" y="5936189"/>
            <a:ext cx="51529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2" y="753228"/>
            <a:ext cx="865613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996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291842" name="Text Box 2"/>
          <p:cNvSpPr txBox="1">
            <a:spLocks noChangeArrowheads="1"/>
          </p:cNvSpPr>
          <p:nvPr/>
        </p:nvSpPr>
        <p:spPr bwMode="auto">
          <a:xfrm>
            <a:off x="115888" y="1001713"/>
            <a:ext cx="8910637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auto">
          <a:xfrm>
            <a:off x="176213" y="5164138"/>
            <a:ext cx="8791575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3200">
                <a:cs typeface="+mn-cs"/>
              </a:rPr>
              <a:t>Topic </a:t>
            </a:r>
            <a:r>
              <a:rPr kumimoji="1" lang="en-US" sz="3200" dirty="0">
                <a:cs typeface="+mn-cs"/>
              </a:rPr>
              <a:t>4 - Defining Functions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ea typeface="+mj-ea"/>
                <a:cs typeface="ＭＳ Ｐゴシック" pitchFamily="-1" charset="-128"/>
              </a:rPr>
              <a:t>The nature of functions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 sz="1400" kern="120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D94BADC0-E197-DF40-96FE-628064D13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2" y="2417312"/>
            <a:ext cx="3223352" cy="2543194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F81B6C-31D9-9249-87A5-C7821CBD4BAB}"/>
              </a:ext>
            </a:extLst>
          </p:cNvPr>
          <p:cNvSpPr txBox="1"/>
          <p:nvPr/>
        </p:nvSpPr>
        <p:spPr bwMode="auto">
          <a:xfrm>
            <a:off x="456282" y="664549"/>
            <a:ext cx="4775507" cy="679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dirty="0">
                <a:latin typeface="+mn-lt"/>
                <a:ea typeface="+mn-ea"/>
              </a:rPr>
              <a:t>You may remember …..</a:t>
            </a: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sz="3200" b="1" dirty="0">
              <a:latin typeface="+mj-lt"/>
              <a:ea typeface="+mj-ea"/>
              <a:cs typeface="+mj-cs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E2D245AB-3CC4-1E40-B18F-B7D7C7E33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604" y="2365106"/>
            <a:ext cx="3215012" cy="2536615"/>
          </a:xfrm>
          <a:prstGeom prst="rect">
            <a:avLst/>
          </a:prstGeom>
        </p:spPr>
      </p:pic>
      <p:sp>
        <p:nvSpPr>
          <p:cNvPr id="13" name="Doughnut 12">
            <a:extLst>
              <a:ext uri="{FF2B5EF4-FFF2-40B4-BE49-F238E27FC236}">
                <a16:creationId xmlns:a16="http://schemas.microsoft.com/office/drawing/2014/main" id="{FD508A64-55CA-CF44-8FB5-E43EEC9A5C54}"/>
              </a:ext>
            </a:extLst>
          </p:cNvPr>
          <p:cNvSpPr/>
          <p:nvPr/>
        </p:nvSpPr>
        <p:spPr bwMode="auto">
          <a:xfrm>
            <a:off x="672029" y="2544895"/>
            <a:ext cx="1167788" cy="1002535"/>
          </a:xfrm>
          <a:prstGeom prst="donut">
            <a:avLst/>
          </a:prstGeom>
          <a:solidFill>
            <a:srgbClr val="FF00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  <a:ea typeface="ＭＳ Ｐゴシック" charset="0"/>
            </a:endParaRPr>
          </a:p>
        </p:txBody>
      </p:sp>
      <p:sp>
        <p:nvSpPr>
          <p:cNvPr id="20" name="Doughnut 19">
            <a:extLst>
              <a:ext uri="{FF2B5EF4-FFF2-40B4-BE49-F238E27FC236}">
                <a16:creationId xmlns:a16="http://schemas.microsoft.com/office/drawing/2014/main" id="{18417D22-B8F4-B14C-845A-A83038EC4B38}"/>
              </a:ext>
            </a:extLst>
          </p:cNvPr>
          <p:cNvSpPr/>
          <p:nvPr/>
        </p:nvSpPr>
        <p:spPr bwMode="auto">
          <a:xfrm>
            <a:off x="5242193" y="2454924"/>
            <a:ext cx="1167788" cy="1002535"/>
          </a:xfrm>
          <a:prstGeom prst="donut">
            <a:avLst/>
          </a:prstGeom>
          <a:solidFill>
            <a:srgbClr val="FF00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  <a:ea typeface="ＭＳ Ｐゴシック" charset="0"/>
            </a:endParaRPr>
          </a:p>
        </p:txBody>
      </p:sp>
      <p:sp>
        <p:nvSpPr>
          <p:cNvPr id="21" name="AutoShape 11">
            <a:extLst>
              <a:ext uri="{FF2B5EF4-FFF2-40B4-BE49-F238E27FC236}">
                <a16:creationId xmlns:a16="http://schemas.microsoft.com/office/drawing/2014/main" id="{BA9DE96E-63BC-554B-BF53-ECBE6E513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226" y="5239540"/>
            <a:ext cx="3189199" cy="1464231"/>
          </a:xfrm>
          <a:prstGeom prst="wedgeRoundRectCallout">
            <a:avLst>
              <a:gd name="adj1" fmla="val -26638"/>
              <a:gd name="adj2" fmla="val -168828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2000" dirty="0"/>
              <a:t>f = { .. (1,2), (3, 6), ..}</a:t>
            </a:r>
          </a:p>
          <a:p>
            <a:r>
              <a:rPr lang="en-US" sz="2000" dirty="0"/>
              <a:t>A function has one</a:t>
            </a:r>
          </a:p>
          <a:p>
            <a:r>
              <a:rPr lang="en-US" sz="2000" dirty="0"/>
              <a:t>mapping from each element in the  domain</a:t>
            </a:r>
          </a:p>
        </p:txBody>
      </p:sp>
      <p:sp>
        <p:nvSpPr>
          <p:cNvPr id="23" name="AutoShape 11">
            <a:extLst>
              <a:ext uri="{FF2B5EF4-FFF2-40B4-BE49-F238E27FC236}">
                <a16:creationId xmlns:a16="http://schemas.microsoft.com/office/drawing/2014/main" id="{CB5528B6-D87A-1C4E-91EB-BCBB7DDDB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661" y="5358889"/>
            <a:ext cx="3189199" cy="1464231"/>
          </a:xfrm>
          <a:prstGeom prst="wedgeRoundRectCallout">
            <a:avLst>
              <a:gd name="adj1" fmla="val -26638"/>
              <a:gd name="adj2" fmla="val -168828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2000" dirty="0"/>
              <a:t>R = { .. (1,2), (1, 6), ..}</a:t>
            </a:r>
          </a:p>
          <a:p>
            <a:r>
              <a:rPr lang="en-US" sz="2000" dirty="0"/>
              <a:t>A relation may have many mappings from the domain.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20" grpId="0" animBg="1"/>
      <p:bldP spid="21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64467" y="660407"/>
            <a:ext cx="7210396" cy="1080938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/>
              <a:t>The nature of functions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400" kern="120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F81B6C-31D9-9249-87A5-C7821CBD4BAB}"/>
              </a:ext>
            </a:extLst>
          </p:cNvPr>
          <p:cNvSpPr txBox="1"/>
          <p:nvPr/>
        </p:nvSpPr>
        <p:spPr bwMode="auto">
          <a:xfrm>
            <a:off x="510241" y="2018581"/>
            <a:ext cx="7683961" cy="679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So, in mathematical terms, we apply a function to a value of type A and it returns a value of type B.  </a:t>
            </a: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E2D245AB-3CC4-1E40-B18F-B7D7C7E33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011" y="2674404"/>
            <a:ext cx="3215012" cy="2536615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BFF16E96-898A-E14C-B484-75793E777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661" y="6074807"/>
            <a:ext cx="3189199" cy="783193"/>
          </a:xfrm>
          <a:prstGeom prst="wedgeRoundRectCallout">
            <a:avLst>
              <a:gd name="adj1" fmla="val 47632"/>
              <a:gd name="adj2" fmla="val -164608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2000" dirty="0"/>
              <a:t>f: A -&gt; B</a:t>
            </a:r>
          </a:p>
          <a:p>
            <a:r>
              <a:rPr lang="en-US" sz="2000" dirty="0"/>
              <a:t>f = {..(1,2) .. }</a:t>
            </a:r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F67EB1E3-FB06-B24D-A45D-815BE62D7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965" y="6144078"/>
            <a:ext cx="3189199" cy="442674"/>
          </a:xfrm>
          <a:prstGeom prst="wedgeRoundRectCallout">
            <a:avLst>
              <a:gd name="adj1" fmla="val -59455"/>
              <a:gd name="adj2" fmla="val -692214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2000" dirty="0"/>
              <a:t>f (1) = 2</a:t>
            </a: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B62F6E41-2465-1842-AA15-801C67F45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8301" y="4015983"/>
            <a:ext cx="2304514" cy="783193"/>
          </a:xfrm>
          <a:prstGeom prst="wedgeRoundRectCallout">
            <a:avLst>
              <a:gd name="adj1" fmla="val -107277"/>
              <a:gd name="adj2" fmla="val -143508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2000" dirty="0"/>
              <a:t>One unique value returned</a:t>
            </a:r>
          </a:p>
        </p:txBody>
      </p:sp>
    </p:spTree>
    <p:extLst>
      <p:ext uri="{BB962C8B-B14F-4D97-AF65-F5344CB8AC3E}">
        <p14:creationId xmlns:p14="http://schemas.microsoft.com/office/powerpoint/2010/main" val="3103804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12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10241" y="1017643"/>
            <a:ext cx="7210396" cy="561957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The nature of functions.. </a:t>
            </a:r>
            <a:r>
              <a:rPr kumimoji="1" lang="en-US" sz="3200" b="1" dirty="0" err="1">
                <a:latin typeface="+mj-lt"/>
                <a:ea typeface="+mj-ea"/>
                <a:cs typeface="ＭＳ Ｐゴシック" pitchFamily="-1" charset="-128"/>
              </a:rPr>
              <a:t>maths</a:t>
            </a:r>
            <a:endParaRPr kumimoji="1" lang="en-US" sz="3200" b="1" dirty="0">
              <a:latin typeface="+mj-lt"/>
              <a:ea typeface="+mj-ea"/>
              <a:cs typeface="ＭＳ Ｐゴシック" pitchFamily="-1" charset="-128"/>
            </a:endParaRP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 sz="1400" kern="120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F81B6C-31D9-9249-87A5-C7821CBD4BAB}"/>
              </a:ext>
            </a:extLst>
          </p:cNvPr>
          <p:cNvSpPr txBox="1"/>
          <p:nvPr/>
        </p:nvSpPr>
        <p:spPr bwMode="auto">
          <a:xfrm>
            <a:off x="402420" y="2452695"/>
            <a:ext cx="7805146" cy="4259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So, 2 being returned from the application of f to 1 is the </a:t>
            </a:r>
            <a:r>
              <a:rPr kumimoji="1" lang="en-US" sz="2800" b="1" i="1" dirty="0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the function </a:t>
            </a:r>
            <a:r>
              <a:rPr kumimoji="1" lang="en-US" sz="2800" dirty="0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mathematical functions, nothing else happens when f is called/applied. 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say ‘</a:t>
            </a:r>
            <a:r>
              <a:rPr kumimoji="1" lang="en-US" sz="2800" dirty="0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no side-effects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0476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458" y="748757"/>
            <a:ext cx="7870634" cy="109526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The nature of functions.. Programming, e.g. Java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 sz="1400" kern="120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F81B6C-31D9-9249-87A5-C7821CBD4BAB}"/>
              </a:ext>
            </a:extLst>
          </p:cNvPr>
          <p:cNvSpPr txBox="1"/>
          <p:nvPr/>
        </p:nvSpPr>
        <p:spPr bwMode="auto">
          <a:xfrm>
            <a:off x="446488" y="2376495"/>
            <a:ext cx="7805146" cy="4259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use the term </a:t>
            </a:r>
            <a:r>
              <a:rPr kumimoji="1"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 can be </a:t>
            </a:r>
          </a:p>
          <a:p>
            <a:pPr marL="914400" lvl="1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Accessors/read (e.g. getters) 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Mutators/ read/write (e.g. setters) 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65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89651" y="599306"/>
            <a:ext cx="7870634" cy="109526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The nature of functions.. </a:t>
            </a:r>
            <a:r>
              <a:rPr lang="en-US" sz="3200" b="1" dirty="0"/>
              <a:t>a</a:t>
            </a:r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ccessors and mutators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5</a:t>
            </a:fld>
            <a:endParaRPr lang="en-US" sz="1400" kern="120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60" y="2316401"/>
            <a:ext cx="7326217" cy="30469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class Spot{</a:t>
            </a:r>
          </a:p>
          <a:p>
            <a:r>
              <a:rPr lang="en-IE" sz="2400" dirty="0"/>
              <a:t>  float </a:t>
            </a:r>
            <a:r>
              <a:rPr lang="en-IE" sz="2400" dirty="0" err="1"/>
              <a:t>xCoord</a:t>
            </a:r>
            <a:r>
              <a:rPr lang="en-IE" sz="2400" dirty="0"/>
              <a:t>, </a:t>
            </a:r>
            <a:r>
              <a:rPr lang="en-IE" sz="2400" dirty="0" err="1"/>
              <a:t>yCoord</a:t>
            </a:r>
            <a:r>
              <a:rPr lang="en-IE" sz="2400" dirty="0"/>
              <a:t>;</a:t>
            </a:r>
          </a:p>
          <a:p>
            <a:r>
              <a:rPr lang="en-IE" sz="2400" dirty="0"/>
              <a:t>  </a:t>
            </a:r>
          </a:p>
          <a:p>
            <a:r>
              <a:rPr lang="en-IE" sz="2400" dirty="0"/>
              <a:t>  </a:t>
            </a:r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// constructors…</a:t>
            </a: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 // display method…</a:t>
            </a: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 // colour methods…</a:t>
            </a: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 // move methods…</a:t>
            </a:r>
            <a:endParaRPr lang="en-IE" sz="2400" dirty="0"/>
          </a:p>
          <a:p>
            <a:r>
              <a:rPr lang="en-IE" sz="2400" dirty="0"/>
              <a:t>}</a:t>
            </a:r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E21A9A3F-273D-7647-913A-B660F2E42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8964" y="4247817"/>
            <a:ext cx="2442225" cy="1532334"/>
          </a:xfrm>
          <a:prstGeom prst="wedgeRoundRectCallout">
            <a:avLst>
              <a:gd name="adj1" fmla="val -247990"/>
              <a:gd name="adj2" fmla="val -152266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Simple class with two fields! </a:t>
            </a:r>
          </a:p>
        </p:txBody>
      </p:sp>
    </p:spTree>
    <p:extLst>
      <p:ext uri="{BB962C8B-B14F-4D97-AF65-F5344CB8AC3E}">
        <p14:creationId xmlns:p14="http://schemas.microsoft.com/office/powerpoint/2010/main" val="144345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7870634" cy="109526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The nature of functions.. accessors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6</a:t>
            </a:fld>
            <a:endParaRPr lang="en-US" sz="1400" kern="120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15" y="2358381"/>
            <a:ext cx="7326217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public float </a:t>
            </a:r>
            <a:r>
              <a:rPr lang="en-IE" sz="2400" dirty="0" err="1"/>
              <a:t>getXCoord</a:t>
            </a:r>
            <a:r>
              <a:rPr lang="en-IE" sz="2400" dirty="0"/>
              <a:t>(){</a:t>
            </a:r>
          </a:p>
          <a:p>
            <a:r>
              <a:rPr lang="en-IE" sz="2400" dirty="0"/>
              <a:t>      return </a:t>
            </a:r>
            <a:r>
              <a:rPr lang="en-IE" sz="2400" dirty="0" err="1"/>
              <a:t>xCoord</a:t>
            </a:r>
            <a:r>
              <a:rPr lang="en-IE" sz="2400" dirty="0"/>
              <a:t>;</a:t>
            </a:r>
          </a:p>
          <a:p>
            <a:r>
              <a:rPr lang="en-IE" sz="2400" dirty="0"/>
              <a:t>   }</a:t>
            </a:r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E21A9A3F-273D-7647-913A-B660F2E42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965" y="2192378"/>
            <a:ext cx="2971035" cy="1532334"/>
          </a:xfrm>
          <a:prstGeom prst="wedgeRoundRectCallout">
            <a:avLst>
              <a:gd name="adj1" fmla="val -139270"/>
              <a:gd name="adj2" fmla="val -24193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This changes no state and simply returns a value</a:t>
            </a:r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48E8622A-3AD8-E042-99E1-CDE3A3F19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52" y="5364975"/>
            <a:ext cx="2952520" cy="1532334"/>
          </a:xfrm>
          <a:prstGeom prst="wedgeRoundRectCallout">
            <a:avLst>
              <a:gd name="adj1" fmla="val 17641"/>
              <a:gd name="adj2" fmla="val -225289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This is the </a:t>
            </a:r>
            <a:r>
              <a:rPr lang="en-US" b="1" dirty="0">
                <a:cs typeface="+mn-cs"/>
              </a:rPr>
              <a:t>effect</a:t>
            </a:r>
            <a:r>
              <a:rPr lang="en-US" dirty="0">
                <a:cs typeface="+mn-cs"/>
              </a:rPr>
              <a:t> of the function</a:t>
            </a:r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38DDC6B4-70AA-3740-9E63-30D70EEC1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555" y="4821062"/>
            <a:ext cx="2971035" cy="2009061"/>
          </a:xfrm>
          <a:prstGeom prst="wedgeRoundRectCallout">
            <a:avLst>
              <a:gd name="adj1" fmla="val -133798"/>
              <a:gd name="adj2" fmla="val -152549"/>
              <a:gd name="adj3" fmla="val 16667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This function has no </a:t>
            </a:r>
            <a:r>
              <a:rPr lang="en-US" b="1" dirty="0">
                <a:cs typeface="+mn-cs"/>
              </a:rPr>
              <a:t>side-effects</a:t>
            </a:r>
            <a:r>
              <a:rPr lang="en-US" dirty="0">
                <a:cs typeface="+mn-cs"/>
              </a:rPr>
              <a:t>. It is </a:t>
            </a:r>
            <a:r>
              <a:rPr lang="en-US" b="1" i="1" dirty="0">
                <a:cs typeface="+mn-cs"/>
              </a:rPr>
              <a:t>pure</a:t>
            </a:r>
          </a:p>
        </p:txBody>
      </p:sp>
    </p:spTree>
    <p:extLst>
      <p:ext uri="{BB962C8B-B14F-4D97-AF65-F5344CB8AC3E}">
        <p14:creationId xmlns:p14="http://schemas.microsoft.com/office/powerpoint/2010/main" val="107598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7870634" cy="109526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The nature of functions.. </a:t>
            </a:r>
            <a:r>
              <a:rPr lang="en-US" sz="3200" b="1" dirty="0"/>
              <a:t>m</a:t>
            </a:r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utators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7</a:t>
            </a:fld>
            <a:endParaRPr lang="en-US" sz="1400" kern="120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15" y="2964308"/>
            <a:ext cx="7326217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 public void  </a:t>
            </a:r>
            <a:r>
              <a:rPr lang="en-IE" sz="2400" dirty="0" err="1"/>
              <a:t>setXCoord</a:t>
            </a:r>
            <a:r>
              <a:rPr lang="en-IE" sz="2400" dirty="0"/>
              <a:t> (float </a:t>
            </a:r>
            <a:r>
              <a:rPr lang="en-IE" sz="2400" dirty="0" err="1"/>
              <a:t>xCoord</a:t>
            </a:r>
            <a:r>
              <a:rPr lang="en-IE" sz="2400" dirty="0"/>
              <a:t>){</a:t>
            </a:r>
          </a:p>
          <a:p>
            <a:r>
              <a:rPr lang="en-IE" sz="2400" dirty="0"/>
              <a:t>     </a:t>
            </a:r>
            <a:r>
              <a:rPr lang="en-IE" sz="2400" dirty="0" err="1"/>
              <a:t>this.xCoord</a:t>
            </a:r>
            <a:r>
              <a:rPr lang="en-IE" sz="2400" dirty="0"/>
              <a:t> = </a:t>
            </a:r>
            <a:r>
              <a:rPr lang="en-IE" sz="2400" dirty="0" err="1"/>
              <a:t>xCoord</a:t>
            </a:r>
            <a:r>
              <a:rPr lang="en-IE" sz="2400" dirty="0"/>
              <a:t>;</a:t>
            </a:r>
          </a:p>
          <a:p>
            <a:r>
              <a:rPr lang="en-IE" sz="2400" dirty="0"/>
              <a:t>  } </a:t>
            </a:r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E21A9A3F-273D-7647-913A-B660F2E42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965" y="828901"/>
            <a:ext cx="2971035" cy="2009061"/>
          </a:xfrm>
          <a:prstGeom prst="wedgeRoundRectCallout">
            <a:avLst>
              <a:gd name="adj1" fmla="val -140104"/>
              <a:gd name="adj2" fmla="val 62401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This only changes state and returns no value</a:t>
            </a:r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48E8622A-3AD8-E042-99E1-CDE3A3F19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55" y="5564029"/>
            <a:ext cx="2971035" cy="1055608"/>
          </a:xfrm>
          <a:prstGeom prst="wedgeRoundRectCallout">
            <a:avLst>
              <a:gd name="adj1" fmla="val 33806"/>
              <a:gd name="adj2" fmla="val -197760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This function has no </a:t>
            </a:r>
            <a:r>
              <a:rPr lang="en-US" b="1" dirty="0">
                <a:cs typeface="+mn-cs"/>
              </a:rPr>
              <a:t>effect</a:t>
            </a:r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DB4F6395-CA45-D04E-8893-FA4E5F624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622" y="4839087"/>
            <a:ext cx="2971035" cy="1532334"/>
          </a:xfrm>
          <a:prstGeom prst="wedgeRoundRectCallout">
            <a:avLst>
              <a:gd name="adj1" fmla="val -140102"/>
              <a:gd name="adj2" fmla="val -145030"/>
              <a:gd name="adj3" fmla="val 16667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This function has only </a:t>
            </a:r>
            <a:r>
              <a:rPr lang="en-US" b="1" dirty="0">
                <a:cs typeface="+mn-cs"/>
              </a:rPr>
              <a:t>side-effects</a:t>
            </a:r>
            <a:r>
              <a:rPr lang="en-US" dirty="0">
                <a:cs typeface="+mn-cs"/>
              </a:rPr>
              <a:t>. </a:t>
            </a:r>
            <a:endParaRPr lang="en-US" b="1" i="1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936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7870634" cy="109526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The nature of functions.. mutators ++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8</a:t>
            </a:fld>
            <a:endParaRPr lang="en-US" sz="1400" kern="120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15" y="2779643"/>
            <a:ext cx="7326217" cy="15696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 public float  </a:t>
            </a:r>
            <a:r>
              <a:rPr lang="en-IE" sz="2400" dirty="0" err="1"/>
              <a:t>setXCoord</a:t>
            </a:r>
            <a:r>
              <a:rPr lang="en-IE" sz="2400" dirty="0"/>
              <a:t> (float </a:t>
            </a:r>
            <a:r>
              <a:rPr lang="en-IE" sz="2400" dirty="0" err="1"/>
              <a:t>xCoord</a:t>
            </a:r>
            <a:r>
              <a:rPr lang="en-IE" sz="2400" dirty="0"/>
              <a:t>){</a:t>
            </a:r>
          </a:p>
          <a:p>
            <a:r>
              <a:rPr lang="en-IE" sz="2400" dirty="0"/>
              <a:t>     </a:t>
            </a:r>
            <a:r>
              <a:rPr lang="en-IE" sz="2400" dirty="0" err="1"/>
              <a:t>this.xCoord</a:t>
            </a:r>
            <a:r>
              <a:rPr lang="en-IE" sz="2400" dirty="0"/>
              <a:t> = </a:t>
            </a:r>
            <a:r>
              <a:rPr lang="en-IE" sz="2400" dirty="0" err="1"/>
              <a:t>xCoord</a:t>
            </a:r>
            <a:r>
              <a:rPr lang="en-IE" sz="2400" dirty="0"/>
              <a:t>;</a:t>
            </a:r>
          </a:p>
          <a:p>
            <a:r>
              <a:rPr lang="en-IE" sz="2400" dirty="0"/>
              <a:t>     return </a:t>
            </a:r>
            <a:r>
              <a:rPr lang="en-IE" sz="2400" dirty="0" err="1"/>
              <a:t>this.xCoord</a:t>
            </a:r>
            <a:r>
              <a:rPr lang="en-IE" sz="2400" dirty="0"/>
              <a:t>;</a:t>
            </a:r>
          </a:p>
          <a:p>
            <a:r>
              <a:rPr lang="en-IE" sz="2400" dirty="0"/>
              <a:t>  } </a:t>
            </a:r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E21A9A3F-273D-7647-913A-B660F2E42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965" y="1067264"/>
            <a:ext cx="2971035" cy="1532334"/>
          </a:xfrm>
          <a:prstGeom prst="wedgeRoundRectCallout">
            <a:avLst>
              <a:gd name="adj1" fmla="val -140104"/>
              <a:gd name="adj2" fmla="val 62401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This changes state and returns a value</a:t>
            </a:r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48E8622A-3AD8-E042-99E1-CDE3A3F19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55" y="5564029"/>
            <a:ext cx="2971035" cy="1055608"/>
          </a:xfrm>
          <a:prstGeom prst="wedgeRoundRectCallout">
            <a:avLst>
              <a:gd name="adj1" fmla="val 10445"/>
              <a:gd name="adj2" fmla="val -205066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This function has an  </a:t>
            </a:r>
            <a:r>
              <a:rPr lang="en-US" b="1" dirty="0">
                <a:cs typeface="+mn-cs"/>
              </a:rPr>
              <a:t>effect</a:t>
            </a:r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DB4F6395-CA45-D04E-8893-FA4E5F624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622" y="4839087"/>
            <a:ext cx="2971035" cy="1532334"/>
          </a:xfrm>
          <a:prstGeom prst="wedgeRoundRectCallout">
            <a:avLst>
              <a:gd name="adj1" fmla="val -140102"/>
              <a:gd name="adj2" fmla="val -145030"/>
              <a:gd name="adj3" fmla="val 16667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This function also has </a:t>
            </a:r>
            <a:r>
              <a:rPr lang="en-US" b="1" dirty="0">
                <a:cs typeface="+mn-cs"/>
              </a:rPr>
              <a:t>side-effects</a:t>
            </a:r>
            <a:r>
              <a:rPr lang="en-US" dirty="0">
                <a:cs typeface="+mn-cs"/>
              </a:rPr>
              <a:t>. </a:t>
            </a:r>
            <a:endParaRPr lang="en-US" b="1" i="1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32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0999" y="753228"/>
            <a:ext cx="7815549" cy="614235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Purity in Haskell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600"/>
                </a:spcAft>
                <a:defRPr/>
              </a:pPr>
              <a:t>9</a:t>
            </a:fld>
            <a:endParaRPr lang="en-US" sz="1400" kern="120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58FB9C-FBFD-D947-80C7-09E0574CFAF3}"/>
              </a:ext>
            </a:extLst>
          </p:cNvPr>
          <p:cNvSpPr txBox="1"/>
          <p:nvPr/>
        </p:nvSpPr>
        <p:spPr>
          <a:xfrm>
            <a:off x="454904" y="2116157"/>
            <a:ext cx="76677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Haskell, functions are pure. This means that functions have only effects, no side-effects. </a:t>
            </a:r>
          </a:p>
          <a:p>
            <a:endParaRPr lang="en-US" sz="2800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Thus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do not deal with state.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Functions simply take arguments and return a value. The application or running of a function does not change the </a:t>
            </a:r>
            <a:r>
              <a:rPr lang="en-US" sz="28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outside world</a:t>
            </a:r>
            <a:r>
              <a:rPr lang="en-US" sz="2800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any way.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8FE299E2-FD22-DC4F-9D8C-24A209D3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305" y="5171938"/>
            <a:ext cx="1422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4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a typeface="ＭＳ Ｐゴシック" charset="0"/>
                <a:cs typeface="ＭＳ Ｐゴシック" charset="0"/>
              </a:rPr>
              <a:t>Conditional Expressions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2DBF1FA-C6C4-7A46-BC08-C9A71A940756}" type="slidenum">
              <a:rPr lang="en-US" sz="1400"/>
              <a:pPr/>
              <a:t>10</a:t>
            </a:fld>
            <a:endParaRPr lang="en-US" sz="1400"/>
          </a:p>
        </p:txBody>
      </p:sp>
      <p:sp>
        <p:nvSpPr>
          <p:cNvPr id="220163" name="Text Box 3"/>
          <p:cNvSpPr txBox="1">
            <a:spLocks noChangeArrowheads="1"/>
          </p:cNvSpPr>
          <p:nvPr/>
        </p:nvSpPr>
        <p:spPr bwMode="auto">
          <a:xfrm>
            <a:off x="365673" y="1910719"/>
            <a:ext cx="8088313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in most programming languages, functions can be defined using </a:t>
            </a:r>
            <a:r>
              <a:rPr lang="en-US" sz="28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conditional expressions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20164" name="Text Box 4"/>
          <p:cNvSpPr txBox="1">
            <a:spLocks noChangeArrowheads="1"/>
          </p:cNvSpPr>
          <p:nvPr/>
        </p:nvSpPr>
        <p:spPr bwMode="auto">
          <a:xfrm>
            <a:off x="1249348" y="3025377"/>
            <a:ext cx="6320961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 err="1">
                <a:latin typeface="Lucida Sans Typewriter" charset="0"/>
                <a:cs typeface="+mn-cs"/>
              </a:rPr>
              <a:t>myAbs</a:t>
            </a:r>
            <a:r>
              <a:rPr lang="en-US" sz="2400" dirty="0">
                <a:latin typeface="Lucida Sans Typewriter" charset="0"/>
                <a:cs typeface="+mn-cs"/>
              </a:rPr>
              <a:t> :: </a:t>
            </a:r>
            <a:r>
              <a:rPr lang="en-US" sz="2400" dirty="0" err="1">
                <a:latin typeface="Lucida Sans Typewriter" charset="0"/>
                <a:cs typeface="+mn-cs"/>
              </a:rPr>
              <a:t>Int</a:t>
            </a:r>
            <a:r>
              <a:rPr lang="en-US" sz="2400" dirty="0">
                <a:latin typeface="Lucida Sans Typewriter" charset="0"/>
                <a:cs typeface="+mn-cs"/>
              </a:rPr>
              <a:t> </a:t>
            </a:r>
            <a:r>
              <a:rPr lang="en-US" sz="2400" dirty="0">
                <a:latin typeface="Times New Roman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</a:t>
            </a:r>
            <a:r>
              <a:rPr lang="en-US" sz="2400" dirty="0" err="1">
                <a:latin typeface="Lucida Sans Typewriter" charset="0"/>
                <a:cs typeface="+mn-cs"/>
              </a:rPr>
              <a:t>Int</a:t>
            </a:r>
            <a:endParaRPr lang="en-US" sz="2400" dirty="0">
              <a:latin typeface="Lucida Sans Typewriter" charset="0"/>
              <a:cs typeface="+mn-cs"/>
            </a:endParaRPr>
          </a:p>
          <a:p>
            <a:pPr>
              <a:lnSpc>
                <a:spcPct val="110000"/>
              </a:lnSpc>
              <a:defRPr/>
            </a:pPr>
            <a:r>
              <a:rPr lang="en-US" sz="2400" dirty="0" err="1">
                <a:latin typeface="Lucida Sans Typewriter" charset="0"/>
                <a:cs typeface="+mn-cs"/>
              </a:rPr>
              <a:t>myAbs</a:t>
            </a:r>
            <a:r>
              <a:rPr lang="en-US" sz="2400" dirty="0">
                <a:latin typeface="Lucida Sans Typewriter" charset="0"/>
                <a:cs typeface="+mn-cs"/>
              </a:rPr>
              <a:t> n = if n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≥</a:t>
            </a:r>
            <a:r>
              <a:rPr lang="en-US" sz="2400" dirty="0">
                <a:latin typeface="Lucida Sans Typewriter" charset="0"/>
                <a:cs typeface="+mn-cs"/>
              </a:rPr>
              <a:t> 0 then n else -n</a:t>
            </a:r>
          </a:p>
        </p:txBody>
      </p:sp>
      <p:sp>
        <p:nvSpPr>
          <p:cNvPr id="220171" name="AutoShape 11"/>
          <p:cNvSpPr>
            <a:spLocks noChangeArrowheads="1"/>
          </p:cNvSpPr>
          <p:nvPr/>
        </p:nvSpPr>
        <p:spPr bwMode="auto">
          <a:xfrm>
            <a:off x="300975" y="5110860"/>
            <a:ext cx="2888539" cy="1328023"/>
          </a:xfrm>
          <a:prstGeom prst="wedgeRoundRectCallout">
            <a:avLst>
              <a:gd name="adj1" fmla="val 6085"/>
              <a:gd name="adj2" fmla="val -142183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 err="1">
                <a:cs typeface="+mn-cs"/>
              </a:rPr>
              <a:t>myAbs</a:t>
            </a:r>
            <a:r>
              <a:rPr lang="en-US" dirty="0">
                <a:cs typeface="+mn-cs"/>
              </a:rPr>
              <a:t> takes an integer n and returns n if it is non-negative and -n otherwise.</a:t>
            </a:r>
          </a:p>
        </p:txBody>
      </p:sp>
      <p:sp>
        <p:nvSpPr>
          <p:cNvPr id="9" name="AutoShape 11">
            <a:extLst>
              <a:ext uri="{FF2B5EF4-FFF2-40B4-BE49-F238E27FC236}">
                <a16:creationId xmlns:a16="http://schemas.microsoft.com/office/drawing/2014/main" id="{09AF70AB-A210-8247-88B6-67202F6D9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318" y="5110860"/>
            <a:ext cx="3165580" cy="1328023"/>
          </a:xfrm>
          <a:prstGeom prst="wedgeRoundRectCallout">
            <a:avLst>
              <a:gd name="adj1" fmla="val -136119"/>
              <a:gd name="adj2" fmla="val -148995"/>
              <a:gd name="adj3" fmla="val 16667"/>
            </a:avLst>
          </a:prstGeom>
          <a:solidFill>
            <a:srgbClr val="00B05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When calling this on a negative number we need to </a:t>
            </a:r>
            <a:r>
              <a:rPr lang="en-US" dirty="0" err="1">
                <a:cs typeface="+mn-cs"/>
              </a:rPr>
              <a:t>parenthesise</a:t>
            </a:r>
            <a:endParaRPr lang="en-US" dirty="0">
              <a:cs typeface="+mn-cs"/>
            </a:endParaRPr>
          </a:p>
          <a:p>
            <a:pPr algn="ctr">
              <a:defRPr/>
            </a:pPr>
            <a:r>
              <a:rPr lang="en-US" dirty="0">
                <a:cs typeface="+mn-cs"/>
              </a:rPr>
              <a:t>e.g. </a:t>
            </a:r>
            <a:r>
              <a:rPr lang="en-US" dirty="0" err="1">
                <a:cs typeface="+mn-cs"/>
              </a:rPr>
              <a:t>myAbs</a:t>
            </a:r>
            <a:r>
              <a:rPr lang="en-US" dirty="0">
                <a:cs typeface="+mn-cs"/>
              </a:rPr>
              <a:t> (-7)  </a:t>
            </a:r>
          </a:p>
        </p:txBody>
      </p:sp>
    </p:spTree>
    <p:extLst>
      <p:ext uri="{BB962C8B-B14F-4D97-AF65-F5344CB8AC3E}">
        <p14:creationId xmlns:p14="http://schemas.microsoft.com/office/powerpoint/2010/main" val="233500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71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AFDB725-D472-AE45-8097-1611321250B7}" type="slidenum">
              <a:rPr lang="en-US" sz="1400"/>
              <a:pPr/>
              <a:t>11</a:t>
            </a:fld>
            <a:endParaRPr lang="en-US" sz="1400"/>
          </a:p>
        </p:txBody>
      </p:sp>
      <p:sp>
        <p:nvSpPr>
          <p:cNvPr id="236547" name="Text Box 3"/>
          <p:cNvSpPr txBox="1">
            <a:spLocks noChangeArrowheads="1"/>
          </p:cNvSpPr>
          <p:nvPr/>
        </p:nvSpPr>
        <p:spPr bwMode="auto">
          <a:xfrm>
            <a:off x="58792" y="1006235"/>
            <a:ext cx="7988300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3200" b="1" dirty="0">
                <a:latin typeface="+mj-lt"/>
                <a:cs typeface="Arial" panose="020B0604020202020204" pitchFamily="34" charset="0"/>
              </a:rPr>
              <a:t>Conditional expressions can be nested:</a:t>
            </a:r>
          </a:p>
        </p:txBody>
      </p:sp>
      <p:sp>
        <p:nvSpPr>
          <p:cNvPr id="236548" name="Text Box 4"/>
          <p:cNvSpPr txBox="1">
            <a:spLocks noChangeArrowheads="1"/>
          </p:cNvSpPr>
          <p:nvPr/>
        </p:nvSpPr>
        <p:spPr bwMode="auto">
          <a:xfrm>
            <a:off x="652221" y="2132012"/>
            <a:ext cx="6997700" cy="12969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 err="1">
                <a:latin typeface="Lucida Sans Typewriter" charset="0"/>
                <a:cs typeface="+mn-cs"/>
              </a:rPr>
              <a:t>mySignum</a:t>
            </a:r>
            <a:r>
              <a:rPr lang="en-US" sz="2400" dirty="0">
                <a:latin typeface="Lucida Sans Typewriter" charset="0"/>
                <a:cs typeface="+mn-cs"/>
              </a:rPr>
              <a:t> :: </a:t>
            </a:r>
            <a:r>
              <a:rPr lang="en-US" sz="2400" dirty="0" err="1">
                <a:latin typeface="Lucida Sans Typewriter" charset="0"/>
                <a:cs typeface="+mn-cs"/>
              </a:rPr>
              <a:t>Int</a:t>
            </a:r>
            <a:r>
              <a:rPr lang="en-US" sz="2400" dirty="0">
                <a:latin typeface="Lucida Sans Typewriter" charset="0"/>
                <a:cs typeface="+mn-cs"/>
              </a:rPr>
              <a:t> </a:t>
            </a:r>
            <a:r>
              <a:rPr lang="en-US" sz="2400" dirty="0">
                <a:latin typeface="Times New Roman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</a:t>
            </a:r>
            <a:r>
              <a:rPr lang="en-US" sz="2400" dirty="0" err="1">
                <a:latin typeface="Lucida Sans Typewriter" charset="0"/>
                <a:cs typeface="+mn-cs"/>
              </a:rPr>
              <a:t>Int</a:t>
            </a:r>
            <a:endParaRPr lang="en-US" sz="2400" dirty="0">
              <a:latin typeface="Lucida Sans Typewriter" charset="0"/>
              <a:cs typeface="+mn-cs"/>
            </a:endParaRPr>
          </a:p>
          <a:p>
            <a:pPr>
              <a:lnSpc>
                <a:spcPct val="110000"/>
              </a:lnSpc>
              <a:defRPr/>
            </a:pPr>
            <a:r>
              <a:rPr lang="en-US" sz="2400" dirty="0" err="1">
                <a:latin typeface="Lucida Sans Typewriter" charset="0"/>
                <a:cs typeface="+mn-cs"/>
              </a:rPr>
              <a:t>mySignum</a:t>
            </a:r>
            <a:r>
              <a:rPr lang="en-US" sz="2400" dirty="0">
                <a:latin typeface="Lucida Sans Typewriter" charset="0"/>
                <a:cs typeface="+mn-cs"/>
              </a:rPr>
              <a:t> n = if n &lt; 0 then -1 else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             if n == 0 then 0 else 1</a:t>
            </a:r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2674DAB1-9D1C-1D4A-B35C-E3F74647A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35" y="4514453"/>
            <a:ext cx="6445265" cy="2009061"/>
          </a:xfrm>
          <a:prstGeom prst="wedgeRoundRectCallout">
            <a:avLst>
              <a:gd name="adj1" fmla="val 43491"/>
              <a:gd name="adj2" fmla="val -122913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dirty="0">
                <a:sym typeface="Symbol" charset="0"/>
              </a:rPr>
              <a:t>In Haskell, conditional expressions must </a:t>
            </a:r>
            <a:r>
              <a:rPr kumimoji="1" lang="en-US" u="sng" dirty="0">
                <a:sym typeface="Symbol" charset="0"/>
              </a:rPr>
              <a:t>always</a:t>
            </a:r>
            <a:r>
              <a:rPr kumimoji="1" lang="en-US" dirty="0">
                <a:sym typeface="Symbol" charset="0"/>
              </a:rPr>
              <a:t> have an else branch, which avoids any possible ambiguity problems with nested conditionals.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5190" y="763079"/>
            <a:ext cx="7210396" cy="1080938"/>
          </a:xfrm>
        </p:spPr>
        <p:txBody>
          <a:bodyPr>
            <a:normAutofit/>
          </a:bodyPr>
          <a:lstStyle/>
          <a:p>
            <a:r>
              <a:rPr lang="en-US" sz="3200" b="1" dirty="0">
                <a:ea typeface="ＭＳ Ｐゴシック" charset="0"/>
                <a:cs typeface="ＭＳ Ｐゴシック" charset="0"/>
              </a:rPr>
              <a:t>Guarded Equations</a:t>
            </a:r>
          </a:p>
        </p:txBody>
      </p:sp>
      <p:sp>
        <p:nvSpPr>
          <p:cNvPr id="1843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18E22F3-81F5-4E4B-8180-1F1F3CF49106}" type="slidenum">
              <a:rPr lang="en-US" sz="1400"/>
              <a:pPr/>
              <a:t>12</a:t>
            </a:fld>
            <a:endParaRPr lang="en-US" sz="1400"/>
          </a:p>
        </p:txBody>
      </p:sp>
      <p:sp>
        <p:nvSpPr>
          <p:cNvPr id="221192" name="Text Box 8"/>
          <p:cNvSpPr txBox="1">
            <a:spLocks noChangeArrowheads="1"/>
          </p:cNvSpPr>
          <p:nvPr/>
        </p:nvSpPr>
        <p:spPr bwMode="auto">
          <a:xfrm>
            <a:off x="349091" y="2102275"/>
            <a:ext cx="8261350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an alternative to conditionals, functions can also be defined using </a:t>
            </a:r>
            <a:r>
              <a:rPr lang="en-US" sz="28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guarded equations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sp>
        <p:nvSpPr>
          <p:cNvPr id="221193" name="Text Box 9"/>
          <p:cNvSpPr txBox="1">
            <a:spLocks noChangeArrowheads="1"/>
          </p:cNvSpPr>
          <p:nvPr/>
        </p:nvSpPr>
        <p:spPr bwMode="auto">
          <a:xfrm>
            <a:off x="1336675" y="3389233"/>
            <a:ext cx="4647426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 err="1">
                <a:latin typeface="Lucida Sans Typewriter" charset="0"/>
                <a:cs typeface="+mn-cs"/>
              </a:rPr>
              <a:t>myAbs</a:t>
            </a:r>
            <a:r>
              <a:rPr lang="en-US" sz="2400" dirty="0">
                <a:latin typeface="Lucida Sans Typewriter" charset="0"/>
                <a:cs typeface="+mn-cs"/>
              </a:rPr>
              <a:t> n | n </a:t>
            </a:r>
            <a:r>
              <a:rPr lang="en-US" sz="2400" dirty="0">
                <a:latin typeface="Lucida Sans Typewriter" charset="0"/>
                <a:sym typeface="Symbol" charset="0"/>
              </a:rPr>
              <a:t>≥</a:t>
            </a:r>
            <a:r>
              <a:rPr lang="en-US" sz="2400" dirty="0">
                <a:latin typeface="Lucida Sans Typewriter" charset="0"/>
                <a:cs typeface="+mn-cs"/>
              </a:rPr>
              <a:t> 0     = n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        | otherwise = -n</a:t>
            </a:r>
          </a:p>
        </p:txBody>
      </p:sp>
      <p:sp>
        <p:nvSpPr>
          <p:cNvPr id="221194" name="AutoShape 10"/>
          <p:cNvSpPr>
            <a:spLocks noChangeArrowheads="1"/>
          </p:cNvSpPr>
          <p:nvPr/>
        </p:nvSpPr>
        <p:spPr bwMode="auto">
          <a:xfrm>
            <a:off x="548323" y="5160328"/>
            <a:ext cx="7862887" cy="566737"/>
          </a:xfrm>
          <a:prstGeom prst="wedgeRoundRectCallout">
            <a:avLst>
              <a:gd name="adj1" fmla="val -24176"/>
              <a:gd name="adj2" fmla="val -190056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As previously, but using guarded equations.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9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88E1CAE-71F6-A443-9956-60C5769B1FEA}" type="slidenum">
              <a:rPr lang="en-US" sz="1400"/>
              <a:pPr/>
              <a:t>13</a:t>
            </a:fld>
            <a:endParaRPr lang="en-US" sz="1400"/>
          </a:p>
        </p:txBody>
      </p:sp>
      <p:sp>
        <p:nvSpPr>
          <p:cNvPr id="237570" name="Text Box 2"/>
          <p:cNvSpPr txBox="1">
            <a:spLocks noChangeArrowheads="1"/>
          </p:cNvSpPr>
          <p:nvPr/>
        </p:nvSpPr>
        <p:spPr bwMode="auto">
          <a:xfrm>
            <a:off x="301308" y="1976043"/>
            <a:ext cx="8272462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Guarded equations can be used to make definitions involving multiple conditions easier to read:</a:t>
            </a:r>
          </a:p>
        </p:txBody>
      </p:sp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504825" y="5238750"/>
            <a:ext cx="8215313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kumimoji="1" lang="en-US" dirty="0">
              <a:sym typeface="Symbol" charset="0"/>
            </a:endParaRPr>
          </a:p>
        </p:txBody>
      </p:sp>
      <p:sp>
        <p:nvSpPr>
          <p:cNvPr id="237574" name="Text Box 6"/>
          <p:cNvSpPr txBox="1">
            <a:spLocks noChangeArrowheads="1"/>
          </p:cNvSpPr>
          <p:nvPr/>
        </p:nvSpPr>
        <p:spPr bwMode="auto">
          <a:xfrm>
            <a:off x="1644424" y="3057693"/>
            <a:ext cx="5205271" cy="12763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 err="1">
                <a:latin typeface="Lucida Sans Typewriter" charset="0"/>
                <a:cs typeface="+mn-cs"/>
              </a:rPr>
              <a:t>mySignum</a:t>
            </a:r>
            <a:r>
              <a:rPr lang="en-US" sz="2400" dirty="0">
                <a:latin typeface="Lucida Sans Typewriter" charset="0"/>
                <a:cs typeface="+mn-cs"/>
              </a:rPr>
              <a:t> n | n &lt; 0     = -1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           | n == 0    = 0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           | otherwise = 1</a:t>
            </a:r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14C58B14-89D7-3340-8D3F-CA54E3905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83" y="5403573"/>
            <a:ext cx="7862887" cy="1055608"/>
          </a:xfrm>
          <a:prstGeom prst="wedgeRoundRectCallout">
            <a:avLst>
              <a:gd name="adj1" fmla="val 4149"/>
              <a:gd name="adj2" fmla="val -153275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dirty="0">
                <a:sym typeface="Symbol" charset="0"/>
              </a:rPr>
              <a:t>The catch all condition </a:t>
            </a:r>
            <a:r>
              <a:rPr kumimoji="1" lang="en-US" u="sng" dirty="0">
                <a:sym typeface="Symbol" charset="0"/>
              </a:rPr>
              <a:t>otherwise</a:t>
            </a:r>
            <a:r>
              <a:rPr kumimoji="1" lang="en-US" dirty="0">
                <a:sym typeface="Symbol" charset="0"/>
              </a:rPr>
              <a:t> is defined in the prelude by otherwise = True.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FF8D4E48-7E2F-1E59-3ED9-F378286B9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00482"/>
            <a:ext cx="8272462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b="1" dirty="0">
                <a:ea typeface="ＭＳ Ｐゴシック" charset="0"/>
                <a:cs typeface="ＭＳ Ｐゴシック" charset="0"/>
              </a:rPr>
              <a:t>Guarded Equations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9424" y="753228"/>
            <a:ext cx="7210396" cy="1080938"/>
          </a:xfrm>
        </p:spPr>
        <p:txBody>
          <a:bodyPr>
            <a:normAutofit/>
          </a:bodyPr>
          <a:lstStyle/>
          <a:p>
            <a:r>
              <a:rPr lang="en-US" sz="3200" b="1" dirty="0">
                <a:ea typeface="ＭＳ Ｐゴシック" charset="0"/>
                <a:cs typeface="ＭＳ Ｐゴシック" charset="0"/>
              </a:rPr>
              <a:t>Case statement</a:t>
            </a:r>
          </a:p>
        </p:txBody>
      </p:sp>
      <p:sp>
        <p:nvSpPr>
          <p:cNvPr id="1843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18E22F3-81F5-4E4B-8180-1F1F3CF49106}" type="slidenum">
              <a:rPr lang="en-US" sz="1400"/>
              <a:pPr/>
              <a:t>14</a:t>
            </a:fld>
            <a:endParaRPr lang="en-US" sz="1400"/>
          </a:p>
        </p:txBody>
      </p:sp>
      <p:sp>
        <p:nvSpPr>
          <p:cNvPr id="221192" name="Text Box 8"/>
          <p:cNvSpPr txBox="1">
            <a:spLocks noChangeArrowheads="1"/>
          </p:cNvSpPr>
          <p:nvPr/>
        </p:nvSpPr>
        <p:spPr bwMode="auto">
          <a:xfrm>
            <a:off x="437226" y="1966217"/>
            <a:ext cx="8261350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an alternative to conditionals, functions can also be defined using </a:t>
            </a:r>
            <a:r>
              <a:rPr lang="en-US" sz="28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case statements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1193" name="Text Box 9"/>
          <p:cNvSpPr txBox="1">
            <a:spLocks noChangeArrowheads="1"/>
          </p:cNvSpPr>
          <p:nvPr/>
        </p:nvSpPr>
        <p:spPr bwMode="auto">
          <a:xfrm>
            <a:off x="1230013" y="3331028"/>
            <a:ext cx="5367175" cy="18158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r>
              <a:rPr lang="en-IE" dirty="0" err="1"/>
              <a:t>addOneIfOdd</a:t>
            </a:r>
            <a:r>
              <a:rPr lang="en-IE" dirty="0"/>
              <a:t> n = case odd n of </a:t>
            </a:r>
          </a:p>
          <a:p>
            <a:r>
              <a:rPr lang="en-IE" dirty="0"/>
              <a:t>	True -&gt; f n </a:t>
            </a:r>
          </a:p>
          <a:p>
            <a:r>
              <a:rPr lang="en-IE" dirty="0"/>
              <a:t>	False -&gt; n </a:t>
            </a:r>
          </a:p>
          <a:p>
            <a:r>
              <a:rPr lang="en-IE" dirty="0"/>
              <a:t>	where f n = n+1</a:t>
            </a:r>
          </a:p>
        </p:txBody>
      </p:sp>
      <p:sp>
        <p:nvSpPr>
          <p:cNvPr id="221194" name="AutoShape 10"/>
          <p:cNvSpPr>
            <a:spLocks noChangeArrowheads="1"/>
          </p:cNvSpPr>
          <p:nvPr/>
        </p:nvSpPr>
        <p:spPr bwMode="auto">
          <a:xfrm>
            <a:off x="4691743" y="6067441"/>
            <a:ext cx="4006833" cy="715089"/>
          </a:xfrm>
          <a:prstGeom prst="wedgeRoundRectCallout">
            <a:avLst>
              <a:gd name="adj1" fmla="val -80991"/>
              <a:gd name="adj2" fmla="val -342101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Use if this will return one of small number of  possible values.</a:t>
            </a:r>
          </a:p>
        </p:txBody>
      </p:sp>
    </p:spTree>
    <p:extLst>
      <p:ext uri="{BB962C8B-B14F-4D97-AF65-F5344CB8AC3E}">
        <p14:creationId xmlns:p14="http://schemas.microsoft.com/office/powerpoint/2010/main" val="311795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9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31295" y="753228"/>
            <a:ext cx="7210396" cy="1080938"/>
          </a:xfrm>
        </p:spPr>
        <p:txBody>
          <a:bodyPr>
            <a:normAutofit/>
          </a:bodyPr>
          <a:lstStyle/>
          <a:p>
            <a:r>
              <a:rPr lang="en-US" sz="3200" b="1" dirty="0">
                <a:ea typeface="ＭＳ Ｐゴシック" charset="0"/>
                <a:cs typeface="ＭＳ Ｐゴシック" charset="0"/>
              </a:rPr>
              <a:t>Pattern Matching</a:t>
            </a:r>
          </a:p>
        </p:txBody>
      </p:sp>
      <p:sp>
        <p:nvSpPr>
          <p:cNvPr id="2048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84961F1-8805-DB42-BE73-57067439D1BB}" type="slidenum">
              <a:rPr lang="en-US" sz="1400"/>
              <a:pPr/>
              <a:t>15</a:t>
            </a:fld>
            <a:endParaRPr lang="en-US" sz="1400"/>
          </a:p>
        </p:txBody>
      </p:sp>
      <p:sp>
        <p:nvSpPr>
          <p:cNvPr id="241667" name="Text Box 3"/>
          <p:cNvSpPr txBox="1">
            <a:spLocks noChangeArrowheads="1"/>
          </p:cNvSpPr>
          <p:nvPr/>
        </p:nvSpPr>
        <p:spPr bwMode="auto">
          <a:xfrm>
            <a:off x="441325" y="2025941"/>
            <a:ext cx="8261350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functions have a particularly clear definition using </a:t>
            </a:r>
            <a:r>
              <a:rPr lang="en-US" sz="28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pattern matching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on their arguments.</a:t>
            </a:r>
          </a:p>
        </p:txBody>
      </p:sp>
      <p:sp>
        <p:nvSpPr>
          <p:cNvPr id="241668" name="Text Box 4"/>
          <p:cNvSpPr txBox="1">
            <a:spLocks noChangeArrowheads="1"/>
          </p:cNvSpPr>
          <p:nvPr/>
        </p:nvSpPr>
        <p:spPr bwMode="auto">
          <a:xfrm>
            <a:off x="1401990" y="3594255"/>
            <a:ext cx="3641725" cy="13065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not :: </a:t>
            </a:r>
            <a:r>
              <a:rPr lang="en-US" sz="2400" dirty="0" err="1">
                <a:latin typeface="Lucida Sans Typewriter" charset="0"/>
                <a:cs typeface="+mn-cs"/>
              </a:rPr>
              <a:t>Bool</a:t>
            </a:r>
            <a:r>
              <a:rPr lang="en-US" sz="2400" dirty="0">
                <a:latin typeface="Lucida Sans Typewriter" charset="0"/>
                <a:cs typeface="+mn-cs"/>
              </a:rPr>
              <a:t> </a:t>
            </a:r>
            <a:r>
              <a:rPr lang="en-US" sz="2400" dirty="0">
                <a:latin typeface="Times New Roman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</a:t>
            </a:r>
            <a:r>
              <a:rPr lang="en-US" sz="2400" dirty="0" err="1">
                <a:latin typeface="Lucida Sans Typewriter" charset="0"/>
                <a:cs typeface="+mn-cs"/>
              </a:rPr>
              <a:t>Bool</a:t>
            </a:r>
            <a:endParaRPr lang="en-US" sz="2400" dirty="0">
              <a:latin typeface="Lucida Sans Typewriter" charset="0"/>
              <a:cs typeface="+mn-cs"/>
            </a:endParaRP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not False = True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not True  = False</a:t>
            </a:r>
          </a:p>
        </p:txBody>
      </p:sp>
      <p:sp>
        <p:nvSpPr>
          <p:cNvPr id="241669" name="AutoShape 5"/>
          <p:cNvSpPr>
            <a:spLocks noChangeArrowheads="1"/>
          </p:cNvSpPr>
          <p:nvPr/>
        </p:nvSpPr>
        <p:spPr bwMode="auto">
          <a:xfrm>
            <a:off x="755123" y="5906861"/>
            <a:ext cx="7724775" cy="566738"/>
          </a:xfrm>
          <a:prstGeom prst="wedgeRoundRectCallout">
            <a:avLst>
              <a:gd name="adj1" fmla="val -35788"/>
              <a:gd name="adj2" fmla="val -242158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not maps False to True, and True to False.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F1EF-E4AB-238C-1A9D-EA8E64E7A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23" y="763079"/>
            <a:ext cx="7210396" cy="1080938"/>
          </a:xfrm>
        </p:spPr>
        <p:txBody>
          <a:bodyPr/>
          <a:lstStyle/>
          <a:p>
            <a:r>
              <a:rPr lang="en-US" sz="2800" b="1" dirty="0">
                <a:ea typeface="ＭＳ Ｐゴシック" charset="0"/>
                <a:cs typeface="ＭＳ Ｐゴシック" charset="0"/>
              </a:rPr>
              <a:t> Pattern Matching</a:t>
            </a:r>
            <a:b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</a:br>
            <a:endParaRPr lang="en-US" dirty="0"/>
          </a:p>
        </p:txBody>
      </p:sp>
      <p:sp>
        <p:nvSpPr>
          <p:cNvPr id="2150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C3B8617-9C69-BF46-9957-05156AD4DA32}" type="slidenum">
              <a:rPr lang="en-US" sz="1400"/>
              <a:pPr/>
              <a:t>16</a:t>
            </a:fld>
            <a:endParaRPr lang="en-US" sz="1400"/>
          </a:p>
        </p:txBody>
      </p:sp>
      <p:sp>
        <p:nvSpPr>
          <p:cNvPr id="239618" name="Text Box 2"/>
          <p:cNvSpPr txBox="1">
            <a:spLocks noChangeArrowheads="1"/>
          </p:cNvSpPr>
          <p:nvPr/>
        </p:nvSpPr>
        <p:spPr bwMode="auto">
          <a:xfrm>
            <a:off x="424656" y="1966882"/>
            <a:ext cx="8294687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Functions can often be defined in many different ways using pattern matching.  For example</a:t>
            </a:r>
          </a:p>
        </p:txBody>
      </p:sp>
      <p:sp>
        <p:nvSpPr>
          <p:cNvPr id="239619" name="Text Box 3"/>
          <p:cNvSpPr txBox="1">
            <a:spLocks noChangeArrowheads="1"/>
          </p:cNvSpPr>
          <p:nvPr/>
        </p:nvSpPr>
        <p:spPr bwMode="auto">
          <a:xfrm>
            <a:off x="1390015" y="2954020"/>
            <a:ext cx="5427663" cy="21161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(&amp;&amp;) :: </a:t>
            </a:r>
            <a:r>
              <a:rPr lang="en-US" sz="2400" dirty="0" err="1">
                <a:latin typeface="Lucida Sans Typewriter" charset="0"/>
                <a:cs typeface="+mn-cs"/>
              </a:rPr>
              <a:t>Bool</a:t>
            </a:r>
            <a:r>
              <a:rPr lang="en-US" sz="2400" dirty="0">
                <a:latin typeface="Lucida Sans Typewriter" charset="0"/>
                <a:cs typeface="+mn-cs"/>
              </a:rPr>
              <a:t> </a:t>
            </a:r>
            <a:r>
              <a:rPr lang="en-US" sz="2400" dirty="0">
                <a:latin typeface="Times New Roman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</a:t>
            </a:r>
            <a:r>
              <a:rPr lang="en-US" sz="2400" dirty="0" err="1">
                <a:latin typeface="Lucida Sans Typewriter" charset="0"/>
                <a:cs typeface="+mn-cs"/>
              </a:rPr>
              <a:t>Bool</a:t>
            </a:r>
            <a:r>
              <a:rPr lang="en-US" sz="2400" dirty="0">
                <a:latin typeface="Lucida Sans Typewriter" charset="0"/>
                <a:cs typeface="+mn-cs"/>
              </a:rPr>
              <a:t> </a:t>
            </a:r>
            <a:r>
              <a:rPr lang="en-US" sz="2400" dirty="0">
                <a:latin typeface="Times New Roman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</a:t>
            </a:r>
            <a:r>
              <a:rPr lang="en-US" sz="2400" dirty="0" err="1">
                <a:latin typeface="Lucida Sans Typewriter" charset="0"/>
                <a:cs typeface="+mn-cs"/>
              </a:rPr>
              <a:t>Bool</a:t>
            </a:r>
            <a:endParaRPr lang="en-US" sz="2400" dirty="0">
              <a:latin typeface="Lucida Sans Typewriter" charset="0"/>
              <a:cs typeface="+mn-cs"/>
            </a:endParaRP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True  &amp;&amp; True  = True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True  &amp;&amp; False = False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False &amp;&amp; True  = False 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False &amp;&amp; False = False</a:t>
            </a:r>
          </a:p>
        </p:txBody>
      </p:sp>
      <p:sp>
        <p:nvSpPr>
          <p:cNvPr id="239622" name="Text Box 6"/>
          <p:cNvSpPr txBox="1">
            <a:spLocks noChangeArrowheads="1"/>
          </p:cNvSpPr>
          <p:nvPr/>
        </p:nvSpPr>
        <p:spPr bwMode="auto">
          <a:xfrm>
            <a:off x="1390015" y="5827452"/>
            <a:ext cx="3867150" cy="895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True &amp;&amp; True = True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_    &amp;&amp; _    = False</a:t>
            </a:r>
          </a:p>
        </p:txBody>
      </p:sp>
      <p:sp>
        <p:nvSpPr>
          <p:cNvPr id="239623" name="Text Box 7"/>
          <p:cNvSpPr txBox="1">
            <a:spLocks noChangeArrowheads="1"/>
          </p:cNvSpPr>
          <p:nvPr/>
        </p:nvSpPr>
        <p:spPr bwMode="auto">
          <a:xfrm>
            <a:off x="707498" y="5230909"/>
            <a:ext cx="5648469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defined more compactly by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51847DEE-504D-A942-A55A-4C40CBCE5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6077863"/>
            <a:ext cx="2867660" cy="578882"/>
          </a:xfrm>
          <a:prstGeom prst="wedgeRoundRectCallout">
            <a:avLst>
              <a:gd name="adj1" fmla="val -155664"/>
              <a:gd name="adj2" fmla="val -24525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Using wildcard _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076F5CB-3306-C84D-8C6A-A113602D0C46}"/>
              </a:ext>
            </a:extLst>
          </p:cNvPr>
          <p:cNvSpPr txBox="1">
            <a:spLocks noChangeArrowheads="1"/>
          </p:cNvSpPr>
          <p:nvPr/>
        </p:nvSpPr>
        <p:spPr>
          <a:xfrm>
            <a:off x="707498" y="0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endParaRPr lang="en-US" kern="0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2" grpId="0" animBg="1"/>
      <p:bldP spid="2396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4D10-7D39-2BE8-E861-EAF5EA79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5" y="763079"/>
            <a:ext cx="7210396" cy="1080938"/>
          </a:xfrm>
        </p:spPr>
        <p:txBody>
          <a:bodyPr/>
          <a:lstStyle/>
          <a:p>
            <a:r>
              <a:rPr lang="en-US" sz="2800" b="1" dirty="0">
                <a:ea typeface="ＭＳ Ｐゴシック" charset="0"/>
                <a:cs typeface="ＭＳ Ｐゴシック" charset="0"/>
              </a:rPr>
              <a:t>Pattern Matching</a:t>
            </a:r>
            <a:b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</a:br>
            <a:endParaRPr lang="en-US" dirty="0"/>
          </a:p>
        </p:txBody>
      </p:sp>
      <p:sp>
        <p:nvSpPr>
          <p:cNvPr id="2252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F27DBEB-6A9D-6545-8C3C-154B0905114E}" type="slidenum">
              <a:rPr lang="en-US" sz="1400"/>
              <a:pPr/>
              <a:t>17</a:t>
            </a:fld>
            <a:endParaRPr lang="en-US" sz="1400"/>
          </a:p>
        </p:txBody>
      </p:sp>
      <p:sp>
        <p:nvSpPr>
          <p:cNvPr id="226309" name="Text Box 5"/>
          <p:cNvSpPr txBox="1">
            <a:spLocks noChangeArrowheads="1"/>
          </p:cNvSpPr>
          <p:nvPr/>
        </p:nvSpPr>
        <p:spPr bwMode="auto">
          <a:xfrm>
            <a:off x="1974533" y="3524405"/>
            <a:ext cx="3498850" cy="895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True  &amp;&amp; b = b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False &amp;&amp; _ = False</a:t>
            </a:r>
          </a:p>
        </p:txBody>
      </p:sp>
      <p:sp>
        <p:nvSpPr>
          <p:cNvPr id="226311" name="Text Box 7"/>
          <p:cNvSpPr txBox="1">
            <a:spLocks noChangeArrowheads="1"/>
          </p:cNvSpPr>
          <p:nvPr/>
        </p:nvSpPr>
        <p:spPr bwMode="auto">
          <a:xfrm>
            <a:off x="379571" y="1858431"/>
            <a:ext cx="7504293" cy="181588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However, the following definition is more efficient, because it avoids evaluating the second argument if the first argument is False: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CAA51F36-9B01-2D4B-A865-615A8744D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197" y="5710952"/>
            <a:ext cx="7724775" cy="1055608"/>
          </a:xfrm>
          <a:prstGeom prst="wedgeRoundRectCallout">
            <a:avLst>
              <a:gd name="adj1" fmla="val -15007"/>
              <a:gd name="adj2" fmla="val -170935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dirty="0">
                <a:sym typeface="Symbol" charset="0"/>
              </a:rPr>
              <a:t>The underscore symbol _ is a </a:t>
            </a:r>
            <a:r>
              <a:rPr kumimoji="1" lang="en-US" u="sng" dirty="0">
                <a:sym typeface="Symbol" charset="0"/>
              </a:rPr>
              <a:t>wildcard</a:t>
            </a:r>
            <a:r>
              <a:rPr kumimoji="1" lang="en-US" dirty="0">
                <a:sym typeface="Symbol" charset="0"/>
              </a:rPr>
              <a:t> pattern that matches any argument value.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E8980DF-F9F7-0F48-83F8-33FAC6C3BF1B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381000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endParaRPr lang="en-US" kern="0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9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1F6B7FB-1AA4-5048-9514-C6FA6213F601}" type="slidenum">
              <a:rPr lang="en-US" sz="1400"/>
              <a:pPr/>
              <a:t>18</a:t>
            </a:fld>
            <a:endParaRPr lang="en-US" sz="140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465138" y="4287610"/>
            <a:ext cx="8226425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Patterns may not </a:t>
            </a:r>
            <a:r>
              <a:rPr kumimoji="1" lang="en-US" sz="28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repeat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 variables.  For example, the following definition gives an error:</a:t>
            </a:r>
          </a:p>
        </p:txBody>
      </p:sp>
      <p:sp>
        <p:nvSpPr>
          <p:cNvPr id="240643" name="Text Box 3"/>
          <p:cNvSpPr txBox="1">
            <a:spLocks noChangeArrowheads="1"/>
          </p:cNvSpPr>
          <p:nvPr/>
        </p:nvSpPr>
        <p:spPr bwMode="auto">
          <a:xfrm>
            <a:off x="1733550" y="5386388"/>
            <a:ext cx="2762250" cy="895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b &amp;&amp; b = b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_ &amp;&amp; _ = False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381000" y="2027238"/>
            <a:ext cx="8226425" cy="106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Patterns are matched </a:t>
            </a:r>
            <a:r>
              <a:rPr kumimoji="1" lang="en-US" sz="28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in order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.  For example, the following definition always returns False:</a:t>
            </a:r>
          </a:p>
        </p:txBody>
      </p:sp>
      <p:sp>
        <p:nvSpPr>
          <p:cNvPr id="240645" name="Text Box 5"/>
          <p:cNvSpPr txBox="1">
            <a:spLocks noChangeArrowheads="1"/>
          </p:cNvSpPr>
          <p:nvPr/>
        </p:nvSpPr>
        <p:spPr bwMode="auto">
          <a:xfrm>
            <a:off x="1814830" y="3114675"/>
            <a:ext cx="3867150" cy="895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_    &amp;&amp; _    = False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True &amp;&amp; True = True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3F6C546-55C9-8942-8C9D-FB9C7F844CE6}"/>
              </a:ext>
            </a:extLst>
          </p:cNvPr>
          <p:cNvSpPr txBox="1">
            <a:spLocks noChangeArrowheads="1"/>
          </p:cNvSpPr>
          <p:nvPr/>
        </p:nvSpPr>
        <p:spPr>
          <a:xfrm>
            <a:off x="231295" y="987426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sz="3200" b="1" kern="0" dirty="0">
                <a:ea typeface="ＭＳ Ｐゴシック" charset="0"/>
                <a:cs typeface="ＭＳ Ｐゴシック" charset="0"/>
              </a:rPr>
              <a:t>Pattern Matching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0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0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240643" grpId="0" animBg="1"/>
      <p:bldP spid="24064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200" b="1" dirty="0"/>
              <a:t>Use of where with Guards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906A9-ADC8-F342-81A7-F9FDA948E9B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6128" y="2508046"/>
            <a:ext cx="863041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Want to avoid calculating the same value over and over.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Calculate this intermediate value once, store and use often</a:t>
            </a:r>
          </a:p>
          <a:p>
            <a:endParaRPr lang="en-IE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where clause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scope of the variables defined in the where section of a function is the function itself. (clean)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also use where bindings to pattern match </a:t>
            </a:r>
          </a:p>
        </p:txBody>
      </p:sp>
    </p:spTree>
    <p:extLst>
      <p:ext uri="{BB962C8B-B14F-4D97-AF65-F5344CB8AC3E}">
        <p14:creationId xmlns:p14="http://schemas.microsoft.com/office/powerpoint/2010/main" val="2538879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200" b="1" dirty="0"/>
              <a:t>Use of where with Guards(2) </a:t>
            </a:r>
          </a:p>
        </p:txBody>
      </p:sp>
      <p:sp>
        <p:nvSpPr>
          <p:cNvPr id="5" name="Text Box 6"/>
          <p:cNvSpPr txBox="1">
            <a:spLocks noGrp="1" noChangeArrowheads="1"/>
          </p:cNvSpPr>
          <p:nvPr>
            <p:ph idx="1"/>
          </p:nvPr>
        </p:nvSpPr>
        <p:spPr bwMode="auto">
          <a:xfrm>
            <a:off x="388803" y="3149632"/>
            <a:ext cx="8366393" cy="18067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 dirty="0" err="1">
                <a:latin typeface="Lucida Sans Typewriter" charset="0"/>
                <a:cs typeface="+mn-cs"/>
              </a:rPr>
              <a:t>annualSalaryCalc</a:t>
            </a:r>
            <a:r>
              <a:rPr lang="en-US" sz="1200" dirty="0">
                <a:latin typeface="Lucida Sans Typewriter" charset="0"/>
                <a:cs typeface="+mn-cs"/>
              </a:rPr>
              <a:t> :: (</a:t>
            </a:r>
            <a:r>
              <a:rPr lang="en-US" sz="1200" dirty="0" err="1">
                <a:latin typeface="Lucida Sans Typewriter" charset="0"/>
                <a:cs typeface="+mn-cs"/>
              </a:rPr>
              <a:t>RealFloat</a:t>
            </a:r>
            <a:r>
              <a:rPr lang="en-US" sz="1200" dirty="0">
                <a:latin typeface="Lucida Sans Typewriter" charset="0"/>
                <a:cs typeface="+mn-cs"/>
              </a:rPr>
              <a:t> a) =&gt; a -&gt; a -&gt; String</a:t>
            </a:r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 dirty="0" err="1">
                <a:latin typeface="Lucida Sans Typewriter" charset="0"/>
                <a:cs typeface="+mn-cs"/>
              </a:rPr>
              <a:t>annualSalaryCalc</a:t>
            </a:r>
            <a:r>
              <a:rPr lang="en-US" sz="1200" dirty="0">
                <a:latin typeface="Lucida Sans Typewriter" charset="0"/>
                <a:cs typeface="+mn-cs"/>
              </a:rPr>
              <a:t> </a:t>
            </a:r>
            <a:r>
              <a:rPr lang="en-US" sz="1200" dirty="0" err="1">
                <a:latin typeface="Lucida Sans Typewriter" charset="0"/>
                <a:cs typeface="+mn-cs"/>
              </a:rPr>
              <a:t>hourlyRate</a:t>
            </a:r>
            <a:r>
              <a:rPr lang="en-US" sz="1200" dirty="0">
                <a:latin typeface="Lucida Sans Typewriter" charset="0"/>
                <a:cs typeface="+mn-cs"/>
              </a:rPr>
              <a:t> </a:t>
            </a:r>
            <a:r>
              <a:rPr lang="en-US" sz="1200" dirty="0" err="1">
                <a:latin typeface="Lucida Sans Typewriter" charset="0"/>
                <a:cs typeface="+mn-cs"/>
              </a:rPr>
              <a:t>weekHoursOfWork</a:t>
            </a:r>
            <a:endParaRPr lang="en-US" sz="1200" dirty="0">
              <a:latin typeface="Lucida Sans Typewriter" charset="0"/>
              <a:cs typeface="+mn-cs"/>
            </a:endParaRPr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 dirty="0">
                <a:latin typeface="Lucida Sans Typewriter" charset="0"/>
                <a:cs typeface="+mn-cs"/>
              </a:rPr>
              <a:t>   | </a:t>
            </a:r>
            <a:r>
              <a:rPr lang="en-US" sz="1200" dirty="0" err="1">
                <a:latin typeface="Lucida Sans Typewriter" charset="0"/>
                <a:cs typeface="+mn-cs"/>
              </a:rPr>
              <a:t>hourlyRate</a:t>
            </a:r>
            <a:r>
              <a:rPr lang="en-US" sz="1200" dirty="0">
                <a:latin typeface="Lucida Sans Typewriter" charset="0"/>
                <a:cs typeface="+mn-cs"/>
              </a:rPr>
              <a:t> * (</a:t>
            </a:r>
            <a:r>
              <a:rPr lang="en-US" sz="1200" dirty="0" err="1">
                <a:latin typeface="Lucida Sans Typewriter" charset="0"/>
                <a:cs typeface="+mn-cs"/>
              </a:rPr>
              <a:t>weekHoursOfWork</a:t>
            </a:r>
            <a:r>
              <a:rPr lang="en-US" sz="1200" dirty="0">
                <a:latin typeface="Lucida Sans Typewriter" charset="0"/>
                <a:cs typeface="+mn-cs"/>
              </a:rPr>
              <a:t> * 52) &lt;= 40000 = "Poor child, try to get another job"</a:t>
            </a:r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 dirty="0">
                <a:latin typeface="Lucida Sans Typewriter" charset="0"/>
                <a:cs typeface="+mn-cs"/>
              </a:rPr>
              <a:t>   | </a:t>
            </a:r>
            <a:r>
              <a:rPr lang="en-US" sz="1200" dirty="0" err="1">
                <a:latin typeface="Lucida Sans Typewriter" charset="0"/>
                <a:cs typeface="+mn-cs"/>
              </a:rPr>
              <a:t>hourlyRate</a:t>
            </a:r>
            <a:r>
              <a:rPr lang="en-US" sz="1200" dirty="0">
                <a:latin typeface="Lucida Sans Typewriter" charset="0"/>
                <a:cs typeface="+mn-cs"/>
              </a:rPr>
              <a:t> * (</a:t>
            </a:r>
            <a:r>
              <a:rPr lang="en-US" sz="1200" dirty="0" err="1">
                <a:latin typeface="Lucida Sans Typewriter" charset="0"/>
                <a:cs typeface="+mn-cs"/>
              </a:rPr>
              <a:t>weekHoursOfWork</a:t>
            </a:r>
            <a:r>
              <a:rPr lang="en-US" sz="1200" dirty="0">
                <a:latin typeface="Lucida Sans Typewriter" charset="0"/>
                <a:cs typeface="+mn-cs"/>
              </a:rPr>
              <a:t> * 52) &lt;= 120000 = "Money, Money, Money!"</a:t>
            </a:r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 dirty="0">
                <a:latin typeface="Lucida Sans Typewriter" charset="0"/>
                <a:cs typeface="+mn-cs"/>
              </a:rPr>
              <a:t>   | </a:t>
            </a:r>
            <a:r>
              <a:rPr lang="en-US" sz="1200" dirty="0" err="1">
                <a:latin typeface="Lucida Sans Typewriter" charset="0"/>
                <a:cs typeface="+mn-cs"/>
              </a:rPr>
              <a:t>hourlyRate</a:t>
            </a:r>
            <a:r>
              <a:rPr lang="en-US" sz="1200" dirty="0">
                <a:latin typeface="Lucida Sans Typewriter" charset="0"/>
                <a:cs typeface="+mn-cs"/>
              </a:rPr>
              <a:t> * (</a:t>
            </a:r>
            <a:r>
              <a:rPr lang="en-US" sz="1200" dirty="0" err="1">
                <a:latin typeface="Lucida Sans Typewriter" charset="0"/>
                <a:cs typeface="+mn-cs"/>
              </a:rPr>
              <a:t>weekHoursOfWork</a:t>
            </a:r>
            <a:r>
              <a:rPr lang="en-US" sz="1200" dirty="0">
                <a:latin typeface="Lucida Sans Typewriter" charset="0"/>
                <a:cs typeface="+mn-cs"/>
              </a:rPr>
              <a:t> * 52) &lt;= 200000 = "</a:t>
            </a:r>
            <a:r>
              <a:rPr lang="en-US" sz="1200" dirty="0" err="1">
                <a:latin typeface="Lucida Sans Typewriter" charset="0"/>
                <a:cs typeface="+mn-cs"/>
              </a:rPr>
              <a:t>Ri¢hie</a:t>
            </a:r>
            <a:r>
              <a:rPr lang="en-US" sz="1200" dirty="0">
                <a:latin typeface="Lucida Sans Typewriter" charset="0"/>
                <a:cs typeface="+mn-cs"/>
              </a:rPr>
              <a:t> </a:t>
            </a:r>
            <a:r>
              <a:rPr lang="en-US" sz="1200" dirty="0" err="1">
                <a:latin typeface="Lucida Sans Typewriter" charset="0"/>
                <a:cs typeface="+mn-cs"/>
              </a:rPr>
              <a:t>Ri¢h</a:t>
            </a:r>
            <a:r>
              <a:rPr lang="en-US" sz="1200" dirty="0">
                <a:latin typeface="Lucida Sans Typewriter" charset="0"/>
                <a:cs typeface="+mn-cs"/>
              </a:rPr>
              <a:t>"</a:t>
            </a:r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 dirty="0">
                <a:latin typeface="Lucida Sans Typewriter" charset="0"/>
                <a:cs typeface="+mn-cs"/>
              </a:rPr>
              <a:t>   | otherwise = "Hello Elon Musk!"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906A9-ADC8-F342-81A7-F9FDA948E9B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8803" y="2335453"/>
            <a:ext cx="8145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Look at a function to ‘calculate’ your annual salary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0246" y="5089539"/>
            <a:ext cx="71595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Would be useful to name the </a:t>
            </a:r>
          </a:p>
          <a:p>
            <a:endParaRPr lang="en-US" sz="2000" dirty="0">
              <a:latin typeface="Lucida Sans Typewriter" charset="0"/>
            </a:endParaRPr>
          </a:p>
          <a:p>
            <a:pPr algn="ctr"/>
            <a:r>
              <a:rPr lang="en-US" sz="2400" dirty="0" err="1">
                <a:solidFill>
                  <a:srgbClr val="FF0000"/>
                </a:solidFill>
                <a:latin typeface="Lucida Sans Typewriter" charset="0"/>
              </a:rPr>
              <a:t>hourlyRate</a:t>
            </a:r>
            <a:r>
              <a:rPr lang="en-US" sz="2400" dirty="0">
                <a:solidFill>
                  <a:srgbClr val="FF0000"/>
                </a:solidFill>
                <a:latin typeface="Lucida Sans Typewriter" charset="0"/>
              </a:rPr>
              <a:t>* </a:t>
            </a:r>
            <a:r>
              <a:rPr lang="en-US" sz="2400" dirty="0" err="1">
                <a:solidFill>
                  <a:srgbClr val="FF0000"/>
                </a:solidFill>
                <a:latin typeface="Lucida Sans Typewriter" charset="0"/>
              </a:rPr>
              <a:t>weekHoursOfWork</a:t>
            </a:r>
            <a:r>
              <a:rPr lang="en-US" sz="2400" dirty="0">
                <a:solidFill>
                  <a:srgbClr val="FF0000"/>
                </a:solidFill>
                <a:latin typeface="Lucida Sans Typewriter" charset="0"/>
              </a:rPr>
              <a:t> * 52</a:t>
            </a:r>
          </a:p>
          <a:p>
            <a:endParaRPr lang="en-US" sz="2000" dirty="0">
              <a:latin typeface="Lucida Sans Typewriter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</a:t>
            </a:r>
            <a:endParaRPr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 flipV="1">
            <a:off x="2921124" y="3897529"/>
            <a:ext cx="499730" cy="1950541"/>
          </a:xfrm>
          <a:prstGeom prst="straightConnector1">
            <a:avLst/>
          </a:prstGeom>
          <a:noFill/>
          <a:ln w="12700" cap="sq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/>
          <p:nvPr/>
        </p:nvCxnSpPr>
        <p:spPr bwMode="auto">
          <a:xfrm flipH="1" flipV="1">
            <a:off x="2219375" y="4104331"/>
            <a:ext cx="1201479" cy="1743739"/>
          </a:xfrm>
          <a:prstGeom prst="straightConnector1">
            <a:avLst/>
          </a:prstGeom>
          <a:noFill/>
          <a:ln w="12700" cap="sq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/>
          <p:nvPr/>
        </p:nvCxnSpPr>
        <p:spPr bwMode="auto">
          <a:xfrm flipH="1" flipV="1">
            <a:off x="1953561" y="4391410"/>
            <a:ext cx="1339702" cy="1456660"/>
          </a:xfrm>
          <a:prstGeom prst="straightConnector1">
            <a:avLst/>
          </a:prstGeom>
          <a:noFill/>
          <a:ln w="12700" cap="sq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8032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3296"/>
            <a:ext cx="8047092" cy="1160721"/>
          </a:xfrm>
        </p:spPr>
        <p:txBody>
          <a:bodyPr>
            <a:normAutofit/>
          </a:bodyPr>
          <a:lstStyle/>
          <a:p>
            <a:r>
              <a:rPr lang="en-IE" sz="3200" dirty="0"/>
              <a:t>Use of where with Guards and patterns (3) </a:t>
            </a:r>
          </a:p>
        </p:txBody>
      </p:sp>
      <p:sp>
        <p:nvSpPr>
          <p:cNvPr id="5" name="Text Box 6"/>
          <p:cNvSpPr txBox="1">
            <a:spLocks noGrp="1" noChangeArrowheads="1"/>
          </p:cNvSpPr>
          <p:nvPr>
            <p:ph idx="1"/>
          </p:nvPr>
        </p:nvSpPr>
        <p:spPr bwMode="auto">
          <a:xfrm>
            <a:off x="304800" y="2750007"/>
            <a:ext cx="8714245" cy="33547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indent="0">
              <a:buNone/>
            </a:pPr>
            <a:r>
              <a:rPr lang="en-IE" sz="2000" dirty="0" err="1"/>
              <a:t>annualSalaryCalc</a:t>
            </a:r>
            <a:r>
              <a:rPr lang="en-IE" sz="2000" dirty="0"/>
              <a:t>' </a:t>
            </a:r>
            <a:r>
              <a:rPr lang="en-IE" sz="2000" b="1" dirty="0"/>
              <a:t>:: </a:t>
            </a:r>
            <a:r>
              <a:rPr lang="en-IE" sz="2000" dirty="0"/>
              <a:t>(</a:t>
            </a:r>
            <a:r>
              <a:rPr lang="en-IE" sz="2000" b="1" dirty="0" err="1"/>
              <a:t>RealFloat</a:t>
            </a:r>
            <a:r>
              <a:rPr lang="en-IE" sz="2000" b="1" dirty="0"/>
              <a:t> </a:t>
            </a:r>
            <a:r>
              <a:rPr lang="en-IE" sz="2000" dirty="0"/>
              <a:t>a) </a:t>
            </a:r>
            <a:r>
              <a:rPr lang="en-IE" sz="2000" b="1" dirty="0"/>
              <a:t>=&gt; </a:t>
            </a:r>
            <a:r>
              <a:rPr lang="en-IE" sz="2000" dirty="0"/>
              <a:t>a </a:t>
            </a:r>
            <a:r>
              <a:rPr lang="en-IE" sz="2000" b="1" dirty="0"/>
              <a:t>-&gt; </a:t>
            </a:r>
            <a:r>
              <a:rPr lang="en-IE" sz="2000" dirty="0"/>
              <a:t>a </a:t>
            </a:r>
            <a:r>
              <a:rPr lang="en-IE" sz="2000" b="1" dirty="0"/>
              <a:t>-&gt; String</a:t>
            </a:r>
          </a:p>
          <a:p>
            <a:pPr marL="0" indent="0">
              <a:buNone/>
            </a:pPr>
            <a:r>
              <a:rPr lang="en-IE" sz="2000" dirty="0" err="1"/>
              <a:t>annualSalaryCalc</a:t>
            </a:r>
            <a:r>
              <a:rPr lang="en-IE" sz="2000" dirty="0"/>
              <a:t>' </a:t>
            </a:r>
            <a:r>
              <a:rPr lang="en-IE" sz="2000" dirty="0" err="1"/>
              <a:t>hourlyRate</a:t>
            </a:r>
            <a:r>
              <a:rPr lang="en-IE" sz="2000" dirty="0"/>
              <a:t> </a:t>
            </a:r>
            <a:r>
              <a:rPr lang="en-IE" sz="2000" dirty="0" err="1"/>
              <a:t>weekHoursOfWork</a:t>
            </a:r>
            <a:r>
              <a:rPr lang="en-IE" sz="2000" b="1" dirty="0"/>
              <a:t>	</a:t>
            </a:r>
          </a:p>
          <a:p>
            <a:pPr marL="0" indent="0">
              <a:buNone/>
            </a:pPr>
            <a:r>
              <a:rPr lang="en-IE" sz="2000" b="1" dirty="0"/>
              <a:t>     | </a:t>
            </a:r>
            <a:r>
              <a:rPr lang="en-IE" sz="2000" dirty="0" err="1"/>
              <a:t>annualSalary</a:t>
            </a:r>
            <a:r>
              <a:rPr lang="en-IE" sz="2000" dirty="0"/>
              <a:t> </a:t>
            </a:r>
            <a:r>
              <a:rPr lang="en-IE" sz="2000" b="1" dirty="0"/>
              <a:t>&lt;= </a:t>
            </a:r>
            <a:r>
              <a:rPr lang="en-IE" sz="2000" dirty="0" err="1"/>
              <a:t>smallSalary</a:t>
            </a:r>
            <a:r>
              <a:rPr lang="en-IE" sz="2000" dirty="0"/>
              <a:t> </a:t>
            </a:r>
            <a:r>
              <a:rPr lang="en-IE" sz="2000" b="1" dirty="0"/>
              <a:t>= </a:t>
            </a:r>
            <a:r>
              <a:rPr lang="en-IE" sz="2000" dirty="0"/>
              <a:t>"Poor child, try to get another job"</a:t>
            </a:r>
          </a:p>
          <a:p>
            <a:pPr marL="0" indent="0">
              <a:buNone/>
            </a:pPr>
            <a:r>
              <a:rPr lang="en-IE" sz="2000" b="1" dirty="0"/>
              <a:t>     | </a:t>
            </a:r>
            <a:r>
              <a:rPr lang="en-IE" sz="2000" dirty="0" err="1"/>
              <a:t>annualSalary</a:t>
            </a:r>
            <a:r>
              <a:rPr lang="en-IE" sz="2000" dirty="0"/>
              <a:t> </a:t>
            </a:r>
            <a:r>
              <a:rPr lang="en-IE" sz="2000" b="1" dirty="0"/>
              <a:t>&lt;= </a:t>
            </a:r>
            <a:r>
              <a:rPr lang="en-IE" sz="2000" dirty="0" err="1"/>
              <a:t>mediumSalary</a:t>
            </a:r>
            <a:r>
              <a:rPr lang="en-IE" sz="2000" dirty="0"/>
              <a:t> </a:t>
            </a:r>
            <a:r>
              <a:rPr lang="en-IE" sz="2000" b="1" dirty="0"/>
              <a:t>= </a:t>
            </a:r>
            <a:r>
              <a:rPr lang="en-IE" sz="2000" dirty="0"/>
              <a:t>"Money, Money, Money!”</a:t>
            </a:r>
          </a:p>
          <a:p>
            <a:pPr marL="0" indent="0">
              <a:buNone/>
            </a:pPr>
            <a:r>
              <a:rPr lang="en-IE" sz="2000" b="1" dirty="0"/>
              <a:t>     | </a:t>
            </a:r>
            <a:r>
              <a:rPr lang="en-IE" sz="2000" dirty="0" err="1"/>
              <a:t>annualSalary</a:t>
            </a:r>
            <a:r>
              <a:rPr lang="en-IE" sz="2000" dirty="0"/>
              <a:t> </a:t>
            </a:r>
            <a:r>
              <a:rPr lang="en-IE" sz="2000" b="1" dirty="0"/>
              <a:t>&lt;= </a:t>
            </a:r>
            <a:r>
              <a:rPr lang="en-IE" sz="2000" dirty="0" err="1"/>
              <a:t>highSalary</a:t>
            </a:r>
            <a:r>
              <a:rPr lang="en-IE" sz="2000" dirty="0"/>
              <a:t> </a:t>
            </a:r>
            <a:r>
              <a:rPr lang="en-IE" sz="2000" b="1" dirty="0"/>
              <a:t>= </a:t>
            </a:r>
            <a:r>
              <a:rPr lang="en-IE" sz="2000" dirty="0"/>
              <a:t>"</a:t>
            </a:r>
            <a:r>
              <a:rPr lang="en-IE" sz="2000" dirty="0" err="1"/>
              <a:t>Ri￠hie</a:t>
            </a:r>
            <a:r>
              <a:rPr lang="en-IE" sz="2000" dirty="0"/>
              <a:t> </a:t>
            </a:r>
            <a:r>
              <a:rPr lang="en-IE" sz="2000" dirty="0" err="1"/>
              <a:t>Ri￠h</a:t>
            </a:r>
            <a:r>
              <a:rPr lang="en-IE" sz="2000" dirty="0"/>
              <a:t>"</a:t>
            </a:r>
          </a:p>
          <a:p>
            <a:pPr marL="0" indent="0">
              <a:buNone/>
            </a:pPr>
            <a:r>
              <a:rPr lang="en-IE" sz="2000" b="1" dirty="0"/>
              <a:t>     | otherwise = </a:t>
            </a:r>
            <a:r>
              <a:rPr lang="en-IE" sz="2000" dirty="0"/>
              <a:t>"Hello Elon Musk!"</a:t>
            </a:r>
          </a:p>
          <a:p>
            <a:pPr marL="0" indent="0">
              <a:buNone/>
            </a:pPr>
            <a:r>
              <a:rPr lang="en-IE" sz="2000" b="1" dirty="0"/>
              <a:t>      where</a:t>
            </a:r>
          </a:p>
          <a:p>
            <a:pPr marL="0" indent="0">
              <a:buNone/>
            </a:pPr>
            <a:r>
              <a:rPr lang="en-IE" sz="2000" dirty="0"/>
              <a:t>         </a:t>
            </a:r>
            <a:r>
              <a:rPr lang="en-IE" sz="2000" dirty="0" err="1"/>
              <a:t>annualSalary</a:t>
            </a:r>
            <a:r>
              <a:rPr lang="en-IE" sz="2000" dirty="0"/>
              <a:t> </a:t>
            </a:r>
            <a:r>
              <a:rPr lang="en-IE" sz="2000" b="1" dirty="0"/>
              <a:t>= </a:t>
            </a:r>
            <a:r>
              <a:rPr lang="en-IE" sz="2000" dirty="0" err="1"/>
              <a:t>hourlyRate</a:t>
            </a:r>
            <a:r>
              <a:rPr lang="en-IE" sz="2000" dirty="0"/>
              <a:t> </a:t>
            </a:r>
            <a:r>
              <a:rPr lang="en-IE" sz="2000" b="1" dirty="0"/>
              <a:t>* </a:t>
            </a:r>
            <a:r>
              <a:rPr lang="en-IE" sz="2000" dirty="0"/>
              <a:t>(</a:t>
            </a:r>
            <a:r>
              <a:rPr lang="en-IE" sz="2000" dirty="0" err="1"/>
              <a:t>weekHoursOfWork</a:t>
            </a:r>
            <a:r>
              <a:rPr lang="en-IE" sz="2000" dirty="0"/>
              <a:t> </a:t>
            </a:r>
            <a:r>
              <a:rPr lang="en-IE" sz="2000" b="1" dirty="0"/>
              <a:t>* </a:t>
            </a:r>
            <a:r>
              <a:rPr lang="en-IE" sz="2000" dirty="0"/>
              <a:t>52)</a:t>
            </a:r>
          </a:p>
          <a:p>
            <a:pPr marL="0" indent="0">
              <a:buNone/>
            </a:pPr>
            <a:r>
              <a:rPr lang="en-IE" sz="2000" dirty="0"/>
              <a:t>         (</a:t>
            </a:r>
            <a:r>
              <a:rPr lang="en-IE" sz="2000" dirty="0" err="1"/>
              <a:t>smallSalary</a:t>
            </a:r>
            <a:r>
              <a:rPr lang="en-IE" sz="2000" dirty="0"/>
              <a:t>, </a:t>
            </a:r>
            <a:r>
              <a:rPr lang="en-IE" sz="2000" dirty="0" err="1"/>
              <a:t>mediumSalary</a:t>
            </a:r>
            <a:r>
              <a:rPr lang="en-IE" sz="2000" dirty="0"/>
              <a:t>, </a:t>
            </a:r>
            <a:r>
              <a:rPr lang="en-IE" sz="2000" dirty="0" err="1"/>
              <a:t>highSalary</a:t>
            </a:r>
            <a:r>
              <a:rPr lang="en-IE" sz="2000" dirty="0"/>
              <a:t>) </a:t>
            </a:r>
            <a:r>
              <a:rPr lang="en-IE" sz="2000" b="1" dirty="0"/>
              <a:t>= </a:t>
            </a:r>
            <a:r>
              <a:rPr lang="en-IE" sz="2000" dirty="0"/>
              <a:t>(40000, 120000, 200000)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906A9-ADC8-F342-81A7-F9FDA948E9B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05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295" y="763079"/>
            <a:ext cx="7210396" cy="1080938"/>
          </a:xfrm>
        </p:spPr>
        <p:txBody>
          <a:bodyPr>
            <a:normAutofit/>
          </a:bodyPr>
          <a:lstStyle/>
          <a:p>
            <a:r>
              <a:rPr lang="en-IE" sz="3200" dirty="0"/>
              <a:t>The let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372" y="2068285"/>
            <a:ext cx="81788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 expressions are similar to where bindings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906A9-ADC8-F342-81A7-F9FDA948E9B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936255" y="4888383"/>
            <a:ext cx="4658648" cy="18774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z"/>
              <a:defRPr kumimoji="1" sz="2800">
                <a:solidFill>
                  <a:schemeClr val="tx1"/>
                </a:solidFill>
                <a:latin typeface="+mn-lt"/>
                <a:ea typeface="+mn-ea"/>
                <a:cs typeface="ＭＳ Ｐゴシック" pitchFamily="-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y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x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IE" sz="2000" kern="0" dirty="0"/>
              <a:t>cylinder :: Double -&gt; Double -&gt; Double</a:t>
            </a:r>
          </a:p>
          <a:p>
            <a:pPr marL="0" indent="0">
              <a:buNone/>
            </a:pPr>
            <a:r>
              <a:rPr lang="en-IE" sz="2000" kern="0" dirty="0"/>
              <a:t>cylinder r h =</a:t>
            </a:r>
          </a:p>
          <a:p>
            <a:pPr marL="0" indent="0">
              <a:buNone/>
            </a:pPr>
            <a:r>
              <a:rPr lang="en-IE" sz="2000" kern="0" dirty="0"/>
              <a:t>    </a:t>
            </a:r>
            <a:r>
              <a:rPr lang="en-IE" sz="2000" kern="0" dirty="0" err="1"/>
              <a:t>sideArea</a:t>
            </a:r>
            <a:r>
              <a:rPr lang="en-IE" sz="2000" kern="0" dirty="0"/>
              <a:t> + 2 * </a:t>
            </a:r>
            <a:r>
              <a:rPr lang="en-IE" sz="2000" kern="0" dirty="0" err="1"/>
              <a:t>topArea</a:t>
            </a:r>
            <a:endParaRPr lang="en-IE" sz="2000" kern="0" dirty="0"/>
          </a:p>
          <a:p>
            <a:pPr marL="0" indent="0">
              <a:buNone/>
            </a:pPr>
            <a:r>
              <a:rPr lang="en-IE" sz="2000" kern="0" dirty="0"/>
              <a:t>    where </a:t>
            </a:r>
            <a:r>
              <a:rPr lang="en-IE" sz="2000" kern="0" dirty="0" err="1"/>
              <a:t>sideArea</a:t>
            </a:r>
            <a:r>
              <a:rPr lang="en-IE" sz="2000" kern="0" dirty="0"/>
              <a:t> = 2 * pi * r * h</a:t>
            </a:r>
          </a:p>
          <a:p>
            <a:pPr marL="0" indent="0">
              <a:buNone/>
            </a:pPr>
            <a:r>
              <a:rPr lang="en-IE" sz="2000" kern="0" dirty="0"/>
              <a:t>              </a:t>
            </a:r>
            <a:r>
              <a:rPr lang="en-IE" sz="2000" kern="0" dirty="0" err="1"/>
              <a:t>topArea</a:t>
            </a:r>
            <a:r>
              <a:rPr lang="en-IE" sz="2000" kern="0" dirty="0"/>
              <a:t> = pi * r ^ 2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936255" y="2705384"/>
            <a:ext cx="4658648" cy="1877437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z"/>
              <a:defRPr kumimoji="1" sz="2800">
                <a:solidFill>
                  <a:schemeClr val="tx1"/>
                </a:solidFill>
                <a:latin typeface="+mn-lt"/>
                <a:ea typeface="+mn-ea"/>
                <a:cs typeface="ＭＳ Ｐゴシック" pitchFamily="-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y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x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IE" sz="2000" kern="0" dirty="0"/>
              <a:t>cylinder :: Double -&gt; Double -&gt; Double</a:t>
            </a:r>
          </a:p>
          <a:p>
            <a:pPr marL="0" indent="0">
              <a:buNone/>
            </a:pPr>
            <a:r>
              <a:rPr lang="en-IE" sz="2000" kern="0" dirty="0"/>
              <a:t>cylinder r h =</a:t>
            </a:r>
          </a:p>
          <a:p>
            <a:pPr marL="0" indent="0">
              <a:buNone/>
            </a:pPr>
            <a:r>
              <a:rPr lang="en-IE" sz="2000" kern="0" dirty="0"/>
              <a:t>   let  </a:t>
            </a:r>
            <a:r>
              <a:rPr lang="en-IE" sz="2000" kern="0" dirty="0" err="1"/>
              <a:t>sideArea</a:t>
            </a:r>
            <a:r>
              <a:rPr lang="en-IE" sz="2000" kern="0" dirty="0"/>
              <a:t> = 2 * pi * r * h</a:t>
            </a:r>
          </a:p>
          <a:p>
            <a:pPr marL="0" indent="0">
              <a:buNone/>
            </a:pPr>
            <a:r>
              <a:rPr lang="en-IE" sz="2000" kern="0" dirty="0"/>
              <a:t>         </a:t>
            </a:r>
            <a:r>
              <a:rPr lang="en-IE" sz="2000" kern="0" dirty="0" err="1"/>
              <a:t>topArea</a:t>
            </a:r>
            <a:r>
              <a:rPr lang="en-IE" sz="2000" kern="0" dirty="0"/>
              <a:t> = pi * r ^ 2</a:t>
            </a:r>
          </a:p>
          <a:p>
            <a:pPr marL="0" indent="0">
              <a:buNone/>
            </a:pPr>
            <a:r>
              <a:rPr lang="en-IE" sz="2000" kern="0" dirty="0"/>
              <a:t>   in </a:t>
            </a:r>
            <a:r>
              <a:rPr lang="en-IE" sz="2000" kern="0" dirty="0" err="1"/>
              <a:t>sideArea</a:t>
            </a:r>
            <a:r>
              <a:rPr lang="en-IE" sz="2000" kern="0" dirty="0"/>
              <a:t> + 2 * </a:t>
            </a:r>
            <a:r>
              <a:rPr lang="en-IE" sz="2000" kern="0" dirty="0" err="1"/>
              <a:t>topArea</a:t>
            </a:r>
            <a:endParaRPr lang="en-IE" sz="2000" kern="0" dirty="0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1819964E-D1D7-6F40-A448-7AFA8A52B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840" y="3030921"/>
            <a:ext cx="2990215" cy="1055608"/>
          </a:xfrm>
          <a:prstGeom prst="wedgeRoundRectCallout">
            <a:avLst>
              <a:gd name="adj1" fmla="val -71168"/>
              <a:gd name="adj2" fmla="val -2445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lang="en-IE" kern="0" dirty="0"/>
              <a:t>Example using let </a:t>
            </a: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B73143AD-5C6B-E547-9D23-287C4BE9F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85" y="5049164"/>
            <a:ext cx="2990215" cy="1055608"/>
          </a:xfrm>
          <a:prstGeom prst="wedgeRoundRectCallout">
            <a:avLst>
              <a:gd name="adj1" fmla="val -71168"/>
              <a:gd name="adj2" fmla="val -2445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lang="en-IE" kern="0" dirty="0"/>
              <a:t>Example using where </a:t>
            </a:r>
          </a:p>
        </p:txBody>
      </p:sp>
    </p:spTree>
    <p:extLst>
      <p:ext uri="{BB962C8B-B14F-4D97-AF65-F5344CB8AC3E}">
        <p14:creationId xmlns:p14="http://schemas.microsoft.com/office/powerpoint/2010/main" val="167308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31295" y="753228"/>
            <a:ext cx="7210396" cy="1080938"/>
          </a:xfrm>
        </p:spPr>
        <p:txBody>
          <a:bodyPr>
            <a:normAutofit/>
          </a:bodyPr>
          <a:lstStyle/>
          <a:p>
            <a:r>
              <a:rPr lang="en-US" sz="3200" b="1" dirty="0">
                <a:ea typeface="ＭＳ Ｐゴシック" charset="0"/>
                <a:cs typeface="ＭＳ Ｐゴシック" charset="0"/>
              </a:rPr>
              <a:t>List Patterns  - the (</a:t>
            </a:r>
            <a:r>
              <a:rPr lang="en-US" sz="3200" b="1" dirty="0">
                <a:ea typeface="ＭＳ Ｐゴシック" charset="0"/>
                <a:cs typeface="ＭＳ Ｐゴシック" charset="0"/>
                <a:sym typeface="Wingdings" pitchFamily="2" charset="2"/>
              </a:rPr>
              <a:t>: ) operator</a:t>
            </a:r>
            <a:endParaRPr lang="en-US" sz="3200" b="1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457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253BFFB-19A9-414B-938D-0C6D67EBEC15}" type="slidenum">
              <a:rPr lang="en-US" sz="1400"/>
              <a:pPr/>
              <a:t>23</a:t>
            </a:fld>
            <a:endParaRPr lang="en-US" sz="1400"/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353485" y="2119614"/>
            <a:ext cx="8126413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Internally, every non-empty list is constructed by repeated use of an operator (:) called </a:t>
            </a:r>
            <a:r>
              <a:rPr lang="ja-JP" altLang="en-US">
                <a:latin typeface="Arial" charset="0"/>
              </a:rPr>
              <a:t>“</a:t>
            </a:r>
            <a:r>
              <a:rPr lang="en-US" altLang="ja-JP" u="sng" dirty="0"/>
              <a:t>cons</a:t>
            </a:r>
            <a:r>
              <a:rPr lang="ja-JP" altLang="en-US">
                <a:latin typeface="Arial" charset="0"/>
              </a:rPr>
              <a:t>”</a:t>
            </a:r>
            <a:r>
              <a:rPr lang="en-US" altLang="ja-JP" dirty="0"/>
              <a:t> that adds an element to the start of a list.</a:t>
            </a:r>
            <a:endParaRPr lang="en-US" dirty="0"/>
          </a:p>
        </p:txBody>
      </p:sp>
      <p:sp>
        <p:nvSpPr>
          <p:cNvPr id="259076" name="Text Box 4"/>
          <p:cNvSpPr txBox="1">
            <a:spLocks noChangeArrowheads="1"/>
          </p:cNvSpPr>
          <p:nvPr/>
        </p:nvSpPr>
        <p:spPr bwMode="auto">
          <a:xfrm>
            <a:off x="6963456" y="3546183"/>
            <a:ext cx="1841500" cy="5302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[1,2,3,4]</a:t>
            </a:r>
          </a:p>
        </p:txBody>
      </p:sp>
      <p:sp>
        <p:nvSpPr>
          <p:cNvPr id="259077" name="AutoShape 5"/>
          <p:cNvSpPr>
            <a:spLocks noChangeArrowheads="1"/>
          </p:cNvSpPr>
          <p:nvPr/>
        </p:nvSpPr>
        <p:spPr bwMode="auto">
          <a:xfrm>
            <a:off x="5742624" y="5059203"/>
            <a:ext cx="3404042" cy="408623"/>
          </a:xfrm>
          <a:prstGeom prst="wedgeRoundRectCallout">
            <a:avLst>
              <a:gd name="adj1" fmla="val -20796"/>
              <a:gd name="adj2" fmla="val -137394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Is the same as  1:(2:(3:(4:[]))).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71B237FC-13EC-4F2F-9955-3D015DE0D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1" y="3806924"/>
            <a:ext cx="742511" cy="49154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[1]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E04F20B7-1267-B33E-6D29-8BD652505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485" y="4854892"/>
            <a:ext cx="2332591" cy="408623"/>
          </a:xfrm>
          <a:prstGeom prst="wedgeRoundRectCallout">
            <a:avLst>
              <a:gd name="adj1" fmla="val -20796"/>
              <a:gd name="adj2" fmla="val -137394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Is the same as  1</a:t>
            </a:r>
            <a:r>
              <a:rPr lang="en-US" dirty="0"/>
              <a:t>: </a:t>
            </a:r>
            <a:r>
              <a:rPr lang="en-US" dirty="0">
                <a:cs typeface="+mn-cs"/>
              </a:rPr>
              <a:t>[]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4B9A2421-B2A2-DEDF-3E18-711821FA0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6115" y="6041998"/>
            <a:ext cx="2643344" cy="408623"/>
          </a:xfrm>
          <a:prstGeom prst="wedgeRoundRectCallout">
            <a:avLst>
              <a:gd name="adj1" fmla="val -15442"/>
              <a:gd name="adj2" fmla="val -334530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Is the same as  1:(2:[]).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917C9FE0-78C2-6871-C8AB-ACA7C1733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941" y="4367719"/>
            <a:ext cx="1114408" cy="49154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[1,2]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 animBg="1"/>
      <p:bldP spid="259077" grpId="0" animBg="1"/>
      <p:bldP spid="2" grpId="0" animBg="1"/>
      <p:bldP spid="3" grpId="0" animBg="1"/>
      <p:bldP spid="4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00CF-D3BB-5E00-D644-C3E717C7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Patterns in functions</a:t>
            </a:r>
          </a:p>
        </p:txBody>
      </p:sp>
      <p:sp>
        <p:nvSpPr>
          <p:cNvPr id="2560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A81FB65-2AA2-3C40-83E5-E4CAB9464C6D}" type="slidenum">
              <a:rPr lang="en-US" sz="1400"/>
              <a:pPr/>
              <a:t>24</a:t>
            </a:fld>
            <a:endParaRPr lang="en-US" sz="1400"/>
          </a:p>
        </p:txBody>
      </p:sp>
      <p:sp>
        <p:nvSpPr>
          <p:cNvPr id="252930" name="Text Box 2"/>
          <p:cNvSpPr txBox="1">
            <a:spLocks noChangeArrowheads="1"/>
          </p:cNvSpPr>
          <p:nvPr/>
        </p:nvSpPr>
        <p:spPr bwMode="auto">
          <a:xfrm>
            <a:off x="510241" y="2069874"/>
            <a:ext cx="858837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Functions on lists can be defined using </a:t>
            </a:r>
            <a:r>
              <a:rPr lang="en-US" sz="2800" u="sn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x:xs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patterns.</a:t>
            </a:r>
          </a:p>
        </p:txBody>
      </p:sp>
      <p:sp>
        <p:nvSpPr>
          <p:cNvPr id="252931" name="Text Box 3"/>
          <p:cNvSpPr txBox="1">
            <a:spLocks noChangeArrowheads="1"/>
          </p:cNvSpPr>
          <p:nvPr/>
        </p:nvSpPr>
        <p:spPr bwMode="auto">
          <a:xfrm>
            <a:off x="1630363" y="2617993"/>
            <a:ext cx="3455987" cy="21161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head :: [a] </a:t>
            </a:r>
            <a:r>
              <a:rPr lang="en-US" sz="2400" dirty="0">
                <a:latin typeface="Times New Roman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a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head (x:_) = x</a:t>
            </a:r>
          </a:p>
          <a:p>
            <a:pPr>
              <a:lnSpc>
                <a:spcPct val="110000"/>
              </a:lnSpc>
              <a:defRPr/>
            </a:pPr>
            <a:endParaRPr lang="en-US" sz="2400" dirty="0">
              <a:latin typeface="Lucida Sans Typewriter" charset="0"/>
              <a:cs typeface="+mn-cs"/>
            </a:endParaRP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tail :: [a] </a:t>
            </a:r>
            <a:r>
              <a:rPr lang="en-US" sz="2400" dirty="0">
                <a:latin typeface="Times New Roman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tail (_:</a:t>
            </a:r>
            <a:r>
              <a:rPr lang="en-US" sz="2400" dirty="0" err="1">
                <a:latin typeface="Lucida Sans Typewriter" charset="0"/>
                <a:cs typeface="+mn-cs"/>
              </a:rPr>
              <a:t>xs</a:t>
            </a:r>
            <a:r>
              <a:rPr lang="en-US" sz="2400" dirty="0">
                <a:latin typeface="Lucida Sans Typewriter" charset="0"/>
                <a:cs typeface="+mn-cs"/>
              </a:rPr>
              <a:t>) = </a:t>
            </a:r>
            <a:r>
              <a:rPr lang="en-US" sz="2400" dirty="0" err="1">
                <a:latin typeface="Lucida Sans Typewriter" charset="0"/>
                <a:cs typeface="+mn-cs"/>
              </a:rPr>
              <a:t>xs</a:t>
            </a:r>
            <a:endParaRPr lang="en-US" sz="2400" dirty="0">
              <a:latin typeface="Lucida Sans Typewriter" charset="0"/>
              <a:cs typeface="+mn-cs"/>
            </a:endParaRPr>
          </a:p>
        </p:txBody>
      </p:sp>
      <p:sp>
        <p:nvSpPr>
          <p:cNvPr id="252932" name="AutoShape 4"/>
          <p:cNvSpPr>
            <a:spLocks noChangeArrowheads="1"/>
          </p:cNvSpPr>
          <p:nvPr/>
        </p:nvSpPr>
        <p:spPr bwMode="auto">
          <a:xfrm>
            <a:off x="905839" y="5688648"/>
            <a:ext cx="6765925" cy="1028700"/>
          </a:xfrm>
          <a:prstGeom prst="wedgeRoundRectCallout">
            <a:avLst>
              <a:gd name="adj1" fmla="val -26311"/>
              <a:gd name="adj2" fmla="val -150834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dirty="0">
                <a:cs typeface="+mn-cs"/>
              </a:rPr>
              <a:t>head and tail map any non-empty list to its first and remaining elements.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B5CE521-49E8-C04D-90F7-618E06603F5E}" type="slidenum">
              <a:rPr lang="en-US" sz="1400"/>
              <a:pPr/>
              <a:t>25</a:t>
            </a:fld>
            <a:endParaRPr lang="en-US" sz="1400"/>
          </a:p>
        </p:txBody>
      </p:sp>
      <p:sp>
        <p:nvSpPr>
          <p:cNvPr id="254978" name="Text Box 2"/>
          <p:cNvSpPr txBox="1">
            <a:spLocks noChangeArrowheads="1"/>
          </p:cNvSpPr>
          <p:nvPr/>
        </p:nvSpPr>
        <p:spPr bwMode="auto">
          <a:xfrm>
            <a:off x="629734" y="931288"/>
            <a:ext cx="1417376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3200" b="1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Notes: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458787" y="2126358"/>
            <a:ext cx="822642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x:xs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 patterns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 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match </a:t>
            </a:r>
            <a:r>
              <a:rPr kumimoji="1" lang="en-US" sz="28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non-empty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 lists:</a:t>
            </a:r>
          </a:p>
        </p:txBody>
      </p:sp>
      <p:sp>
        <p:nvSpPr>
          <p:cNvPr id="254981" name="Text Box 5"/>
          <p:cNvSpPr txBox="1">
            <a:spLocks noChangeArrowheads="1"/>
          </p:cNvSpPr>
          <p:nvPr/>
        </p:nvSpPr>
        <p:spPr bwMode="auto">
          <a:xfrm>
            <a:off x="585842" y="2976568"/>
            <a:ext cx="7781925" cy="9048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&gt; head []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*** Exception: </a:t>
            </a:r>
            <a:r>
              <a:rPr lang="en-US" sz="2400" dirty="0">
                <a:latin typeface="Lucida Sans Typewriter" charset="0"/>
              </a:rPr>
              <a:t>No head for empty lists!</a:t>
            </a:r>
            <a:endParaRPr lang="en-US" sz="2400" dirty="0">
              <a:latin typeface="Lucida Sans Typewriter" charset="0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5842" y="4169366"/>
            <a:ext cx="7461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</a:pP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can be effected by writing as part of the function def: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600074" y="5405814"/>
            <a:ext cx="7808548" cy="131112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head :: [a] </a:t>
            </a:r>
            <a:r>
              <a:rPr lang="en-US" sz="2400" dirty="0">
                <a:latin typeface="Times New Roman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a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head[] = error “No head for empty lists!”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head (x:_) =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  <p:bldP spid="254981" grpId="0" animBg="1"/>
      <p:bldP spid="2" grpId="0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54324-2718-C405-803B-34E0B825B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5" y="763079"/>
            <a:ext cx="7210396" cy="1080938"/>
          </a:xfrm>
        </p:spPr>
        <p:txBody>
          <a:bodyPr>
            <a:normAutofit/>
          </a:bodyPr>
          <a:lstStyle/>
          <a:p>
            <a:r>
              <a:rPr lang="en-US" sz="3200" b="1" dirty="0"/>
              <a:t>Note – </a:t>
            </a:r>
            <a:r>
              <a:rPr lang="en-US" sz="3200" b="1" dirty="0" err="1"/>
              <a:t>parenthesise</a:t>
            </a:r>
            <a:r>
              <a:rPr lang="en-US" sz="3200" b="1" dirty="0"/>
              <a:t>! </a:t>
            </a:r>
          </a:p>
        </p:txBody>
      </p:sp>
      <p:sp>
        <p:nvSpPr>
          <p:cNvPr id="2662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B5CE521-49E8-C04D-90F7-618E06603F5E}" type="slidenum">
              <a:rPr lang="en-US" sz="1400"/>
              <a:pPr/>
              <a:t>26</a:t>
            </a:fld>
            <a:endParaRPr lang="en-US" sz="1400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339725" y="2470150"/>
            <a:ext cx="8226425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x:xs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 patterns must be </a:t>
            </a:r>
            <a:r>
              <a:rPr kumimoji="1" lang="en-US" sz="2800" u="sn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parenthesised</a:t>
            </a:r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, because application has priority over (:).  For example, the following definition gives an error:</a:t>
            </a:r>
          </a:p>
        </p:txBody>
      </p:sp>
      <p:sp>
        <p:nvSpPr>
          <p:cNvPr id="254982" name="Text Box 6"/>
          <p:cNvSpPr txBox="1">
            <a:spLocks noChangeArrowheads="1"/>
          </p:cNvSpPr>
          <p:nvPr/>
        </p:nvSpPr>
        <p:spPr bwMode="auto">
          <a:xfrm>
            <a:off x="2631621" y="4763407"/>
            <a:ext cx="2798763" cy="4937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head x:_ = x</a:t>
            </a:r>
          </a:p>
        </p:txBody>
      </p:sp>
    </p:spTree>
    <p:extLst>
      <p:ext uri="{BB962C8B-B14F-4D97-AF65-F5344CB8AC3E}">
        <p14:creationId xmlns:p14="http://schemas.microsoft.com/office/powerpoint/2010/main" val="2129083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31295" y="753228"/>
            <a:ext cx="7210396" cy="1080938"/>
          </a:xfrm>
        </p:spPr>
        <p:txBody>
          <a:bodyPr>
            <a:normAutofit/>
          </a:bodyPr>
          <a:lstStyle/>
          <a:p>
            <a:r>
              <a:rPr lang="en-US" sz="3200" b="1" dirty="0">
                <a:ea typeface="ＭＳ Ｐゴシック" charset="0"/>
                <a:cs typeface="ＭＳ Ｐゴシック" charset="0"/>
              </a:rPr>
              <a:t>Operator Sections</a:t>
            </a:r>
          </a:p>
        </p:txBody>
      </p:sp>
      <p:sp>
        <p:nvSpPr>
          <p:cNvPr id="3379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BF66AB8-ECC4-9D41-8D53-73C2931AB0B0}" type="slidenum">
              <a:rPr lang="en-US" sz="1400"/>
              <a:pPr/>
              <a:t>27</a:t>
            </a:fld>
            <a:endParaRPr lang="en-US" sz="1400"/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>
            <a:off x="415925" y="1554163"/>
            <a:ext cx="8318500" cy="222726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dirty="0">
                <a:cs typeface="+mn-cs"/>
              </a:rPr>
              <a:t>An operator written </a:t>
            </a:r>
            <a:r>
              <a:rPr lang="en-US" u="sng" dirty="0">
                <a:cs typeface="+mn-cs"/>
              </a:rPr>
              <a:t>between</a:t>
            </a:r>
            <a:r>
              <a:rPr lang="en-US" dirty="0">
                <a:cs typeface="+mn-cs"/>
              </a:rPr>
              <a:t> its two arguments can be converted into a curried function written </a:t>
            </a:r>
            <a:r>
              <a:rPr lang="en-US" u="sng" dirty="0">
                <a:cs typeface="+mn-cs"/>
              </a:rPr>
              <a:t>before</a:t>
            </a:r>
            <a:r>
              <a:rPr lang="en-US" dirty="0">
                <a:cs typeface="+mn-cs"/>
              </a:rPr>
              <a:t> its two arguments by using parentheses.</a:t>
            </a: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For example:</a:t>
            </a:r>
          </a:p>
        </p:txBody>
      </p:sp>
      <p:sp>
        <p:nvSpPr>
          <p:cNvPr id="242694" name="Text Box 6"/>
          <p:cNvSpPr txBox="1">
            <a:spLocks noChangeArrowheads="1"/>
          </p:cNvSpPr>
          <p:nvPr/>
        </p:nvSpPr>
        <p:spPr bwMode="auto">
          <a:xfrm>
            <a:off x="1749425" y="4232275"/>
            <a:ext cx="1841500" cy="21002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&gt; 1+2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3</a:t>
            </a:r>
          </a:p>
          <a:p>
            <a:pPr>
              <a:lnSpc>
                <a:spcPct val="110000"/>
              </a:lnSpc>
              <a:defRPr/>
            </a:pPr>
            <a:endParaRPr lang="en-US" sz="2400" dirty="0">
              <a:latin typeface="Lucida Sans Typewriter" charset="0"/>
              <a:cs typeface="+mn-cs"/>
              <a:sym typeface="Symbol" charset="0"/>
            </a:endParaRP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&gt; (+) 1 2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2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2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4A28E30-7429-2F40-A047-4826135B3E3D}" type="slidenum">
              <a:rPr lang="en-US" sz="1400"/>
              <a:pPr/>
              <a:t>28</a:t>
            </a:fld>
            <a:endParaRPr lang="en-US" sz="1400"/>
          </a:p>
        </p:txBody>
      </p:sp>
      <p:sp>
        <p:nvSpPr>
          <p:cNvPr id="274434" name="Text Box 2"/>
          <p:cNvSpPr txBox="1">
            <a:spLocks noChangeArrowheads="1"/>
          </p:cNvSpPr>
          <p:nvPr/>
        </p:nvSpPr>
        <p:spPr bwMode="auto">
          <a:xfrm>
            <a:off x="527051" y="2392511"/>
            <a:ext cx="8231187" cy="156966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convention also allows one of the arguments of the operator to be included in the parentheses.</a:t>
            </a:r>
          </a:p>
          <a:p>
            <a:pPr>
              <a:defRPr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example:</a:t>
            </a:r>
          </a:p>
        </p:txBody>
      </p:sp>
      <p:sp>
        <p:nvSpPr>
          <p:cNvPr id="274435" name="Text Box 3"/>
          <p:cNvSpPr txBox="1">
            <a:spLocks noChangeArrowheads="1"/>
          </p:cNvSpPr>
          <p:nvPr/>
        </p:nvSpPr>
        <p:spPr bwMode="auto">
          <a:xfrm>
            <a:off x="3465513" y="3441700"/>
            <a:ext cx="1657350" cy="1917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&gt; (1+) 2</a:t>
            </a:r>
          </a:p>
          <a:p>
            <a:pPr>
              <a:defRPr/>
            </a:pP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3</a:t>
            </a:r>
          </a:p>
          <a:p>
            <a:pPr>
              <a:defRPr/>
            </a:pPr>
            <a:endParaRPr lang="en-US" sz="2400" dirty="0">
              <a:latin typeface="Lucida Sans Typewriter" charset="0"/>
              <a:cs typeface="+mn-cs"/>
              <a:sym typeface="Symbol" charset="0"/>
            </a:endParaRPr>
          </a:p>
          <a:p>
            <a:pPr>
              <a:defRPr/>
            </a:pP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&gt; (+2) 1</a:t>
            </a:r>
          </a:p>
          <a:p>
            <a:pPr>
              <a:defRPr/>
            </a:pP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3</a:t>
            </a:r>
          </a:p>
        </p:txBody>
      </p:sp>
      <p:sp>
        <p:nvSpPr>
          <p:cNvPr id="274438" name="Text Box 6"/>
          <p:cNvSpPr txBox="1">
            <a:spLocks noChangeArrowheads="1"/>
          </p:cNvSpPr>
          <p:nvPr/>
        </p:nvSpPr>
        <p:spPr bwMode="auto">
          <a:xfrm>
            <a:off x="404813" y="5627718"/>
            <a:ext cx="8353425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general, if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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an operator then functions of the form (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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(x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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and (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charset="0"/>
              </a:rPr>
              <a:t>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y) are called </a:t>
            </a:r>
            <a:r>
              <a:rPr lang="en-US" sz="28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593705B-818D-1D51-4F67-5C0AC775EC33}"/>
              </a:ext>
            </a:extLst>
          </p:cNvPr>
          <p:cNvSpPr txBox="1">
            <a:spLocks noChangeArrowheads="1"/>
          </p:cNvSpPr>
          <p:nvPr/>
        </p:nvSpPr>
        <p:spPr>
          <a:xfrm>
            <a:off x="231295" y="764575"/>
            <a:ext cx="7210396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ea typeface="ＭＳ Ｐゴシック" charset="0"/>
                <a:cs typeface="ＭＳ Ｐゴシック" charset="0"/>
              </a:rPr>
              <a:t>Operator Sections</a:t>
            </a:r>
            <a:endParaRPr lang="en-US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31295" y="804863"/>
            <a:ext cx="8081963" cy="685800"/>
          </a:xfrm>
        </p:spPr>
        <p:txBody>
          <a:bodyPr>
            <a:normAutofit/>
          </a:bodyPr>
          <a:lstStyle/>
          <a:p>
            <a:r>
              <a:rPr lang="en-US" sz="3200" b="1" dirty="0">
                <a:ea typeface="ＭＳ Ｐゴシック" charset="0"/>
                <a:cs typeface="ＭＳ Ｐゴシック" charset="0"/>
              </a:rPr>
              <a:t>Why Are </a:t>
            </a:r>
            <a:r>
              <a:rPr lang="en-US" sz="3200" b="1" dirty="0">
                <a:ea typeface="ＭＳ Ｐゴシック" charset="0"/>
                <a:cs typeface="ＭＳ Ｐゴシック" charset="0"/>
                <a:sym typeface="Symbol" charset="0"/>
              </a:rPr>
              <a:t>Sections</a:t>
            </a:r>
            <a:r>
              <a:rPr lang="en-US" sz="3200" b="1" dirty="0">
                <a:ea typeface="ＭＳ Ｐゴシック" charset="0"/>
                <a:cs typeface="ＭＳ Ｐゴシック" charset="0"/>
              </a:rPr>
              <a:t> Useful?</a:t>
            </a:r>
          </a:p>
        </p:txBody>
      </p:sp>
      <p:sp>
        <p:nvSpPr>
          <p:cNvPr id="3584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A294EE9-3473-5A4B-ACCE-870AB4E3FBCD}" type="slidenum">
              <a:rPr lang="en-US" sz="1400"/>
              <a:pPr/>
              <a:t>29</a:t>
            </a:fld>
            <a:endParaRPr lang="en-US" sz="1400"/>
          </a:p>
        </p:txBody>
      </p:sp>
      <p:sp>
        <p:nvSpPr>
          <p:cNvPr id="278531" name="Text Box 3"/>
          <p:cNvSpPr txBox="1">
            <a:spLocks noChangeArrowheads="1"/>
          </p:cNvSpPr>
          <p:nvPr/>
        </p:nvSpPr>
        <p:spPr bwMode="auto">
          <a:xfrm>
            <a:off x="448468" y="2158196"/>
            <a:ext cx="8221663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Useful functions can sometimes be constructed in a simple way using sections.  For example:</a:t>
            </a:r>
          </a:p>
        </p:txBody>
      </p:sp>
      <p:grpSp>
        <p:nvGrpSpPr>
          <p:cNvPr id="35844" name="Group 23"/>
          <p:cNvGrpSpPr>
            <a:grpSpLocks/>
          </p:cNvGrpSpPr>
          <p:nvPr/>
        </p:nvGrpSpPr>
        <p:grpSpPr bwMode="auto">
          <a:xfrm>
            <a:off x="1762125" y="3203578"/>
            <a:ext cx="5049838" cy="2952751"/>
            <a:chOff x="1110" y="2018"/>
            <a:chExt cx="3181" cy="1860"/>
          </a:xfrm>
        </p:grpSpPr>
        <p:grpSp>
          <p:nvGrpSpPr>
            <p:cNvPr id="35845" name="Group 22"/>
            <p:cNvGrpSpPr>
              <a:grpSpLocks/>
            </p:cNvGrpSpPr>
            <p:nvPr/>
          </p:nvGrpSpPr>
          <p:grpSpPr bwMode="auto">
            <a:xfrm>
              <a:off x="1794" y="2018"/>
              <a:ext cx="2497" cy="1860"/>
              <a:chOff x="1794" y="2042"/>
              <a:chExt cx="2497" cy="1860"/>
            </a:xfrm>
          </p:grpSpPr>
          <p:sp>
            <p:nvSpPr>
              <p:cNvPr id="278537" name="Text Box 9"/>
              <p:cNvSpPr txBox="1">
                <a:spLocks noChangeArrowheads="1"/>
              </p:cNvSpPr>
              <p:nvPr/>
            </p:nvSpPr>
            <p:spPr bwMode="auto">
              <a:xfrm>
                <a:off x="1794" y="2042"/>
                <a:ext cx="2173" cy="3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r>
                  <a:rPr lang="en-US" sz="2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-  successor function</a:t>
                </a:r>
              </a:p>
            </p:txBody>
          </p:sp>
          <p:sp>
            <p:nvSpPr>
              <p:cNvPr id="278538" name="Text Box 10"/>
              <p:cNvSpPr txBox="1">
                <a:spLocks noChangeArrowheads="1"/>
              </p:cNvSpPr>
              <p:nvPr/>
            </p:nvSpPr>
            <p:spPr bwMode="auto">
              <a:xfrm>
                <a:off x="1794" y="2548"/>
                <a:ext cx="2497" cy="3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r>
                  <a:rPr lang="en-US" sz="2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-  reciprocation function</a:t>
                </a:r>
              </a:p>
            </p:txBody>
          </p:sp>
          <p:sp>
            <p:nvSpPr>
              <p:cNvPr id="278539" name="Text Box 11"/>
              <p:cNvSpPr txBox="1">
                <a:spLocks noChangeArrowheads="1"/>
              </p:cNvSpPr>
              <p:nvPr/>
            </p:nvSpPr>
            <p:spPr bwMode="auto">
              <a:xfrm>
                <a:off x="1794" y="3062"/>
                <a:ext cx="2067" cy="3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r>
                  <a:rPr lang="en-US" sz="2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-  doubling function</a:t>
                </a:r>
              </a:p>
            </p:txBody>
          </p:sp>
          <p:sp>
            <p:nvSpPr>
              <p:cNvPr id="278540" name="Text Box 12"/>
              <p:cNvSpPr txBox="1">
                <a:spLocks noChangeArrowheads="1"/>
              </p:cNvSpPr>
              <p:nvPr/>
            </p:nvSpPr>
            <p:spPr bwMode="auto">
              <a:xfrm>
                <a:off x="1794" y="3572"/>
                <a:ext cx="1926" cy="3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r>
                  <a:rPr lang="en-US" sz="2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-  halving function</a:t>
                </a:r>
              </a:p>
            </p:txBody>
          </p:sp>
        </p:grpSp>
        <p:grpSp>
          <p:nvGrpSpPr>
            <p:cNvPr id="35846" name="Group 21"/>
            <p:cNvGrpSpPr>
              <a:grpSpLocks/>
            </p:cNvGrpSpPr>
            <p:nvPr/>
          </p:nvGrpSpPr>
          <p:grpSpPr bwMode="auto">
            <a:xfrm>
              <a:off x="1110" y="2043"/>
              <a:ext cx="580" cy="1818"/>
              <a:chOff x="1110" y="2043"/>
              <a:chExt cx="580" cy="1818"/>
            </a:xfrm>
          </p:grpSpPr>
          <p:sp>
            <p:nvSpPr>
              <p:cNvPr id="278542" name="Text Box 14"/>
              <p:cNvSpPr txBox="1">
                <a:spLocks noChangeArrowheads="1"/>
              </p:cNvSpPr>
              <p:nvPr/>
            </p:nvSpPr>
            <p:spPr bwMode="auto">
              <a:xfrm>
                <a:off x="1110" y="2043"/>
                <a:ext cx="580" cy="2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Lucida Sans Typewriter" charset="0"/>
                    <a:cs typeface="+mn-cs"/>
                  </a:rPr>
                  <a:t>(1+)</a:t>
                </a:r>
              </a:p>
            </p:txBody>
          </p:sp>
          <p:sp>
            <p:nvSpPr>
              <p:cNvPr id="278543" name="Text Box 15"/>
              <p:cNvSpPr txBox="1">
                <a:spLocks noChangeArrowheads="1"/>
              </p:cNvSpPr>
              <p:nvPr/>
            </p:nvSpPr>
            <p:spPr bwMode="auto">
              <a:xfrm>
                <a:off x="1110" y="3063"/>
                <a:ext cx="580" cy="2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r>
                  <a:rPr lang="en-US" sz="2400">
                    <a:latin typeface="Lucida Sans Typewriter" charset="0"/>
                    <a:cs typeface="+mn-cs"/>
                  </a:rPr>
                  <a:t>(*2)</a:t>
                </a:r>
              </a:p>
            </p:txBody>
          </p:sp>
          <p:sp>
            <p:nvSpPr>
              <p:cNvPr id="278544" name="Text Box 16"/>
              <p:cNvSpPr txBox="1">
                <a:spLocks noChangeArrowheads="1"/>
              </p:cNvSpPr>
              <p:nvPr/>
            </p:nvSpPr>
            <p:spPr bwMode="auto">
              <a:xfrm>
                <a:off x="1110" y="3573"/>
                <a:ext cx="580" cy="2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r>
                  <a:rPr lang="en-US" sz="2400">
                    <a:latin typeface="Lucida Sans Typewriter" charset="0"/>
                    <a:cs typeface="+mn-cs"/>
                  </a:rPr>
                  <a:t>(/2)</a:t>
                </a:r>
              </a:p>
            </p:txBody>
          </p:sp>
          <p:sp>
            <p:nvSpPr>
              <p:cNvPr id="278545" name="Text Box 17"/>
              <p:cNvSpPr txBox="1">
                <a:spLocks noChangeArrowheads="1"/>
              </p:cNvSpPr>
              <p:nvPr/>
            </p:nvSpPr>
            <p:spPr bwMode="auto">
              <a:xfrm>
                <a:off x="1110" y="2549"/>
                <a:ext cx="580" cy="2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r>
                  <a:rPr lang="en-US" sz="2400">
                    <a:latin typeface="Lucida Sans Typewriter" charset="0"/>
                    <a:cs typeface="+mn-cs"/>
                  </a:rPr>
                  <a:t>(1/)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459" y="813995"/>
            <a:ext cx="6517105" cy="495300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fld id="{CC73A6B6-49ED-C641-8D95-0A84FA800C15}" type="slidenum">
              <a:rPr lang="en-US" sz="1400"/>
              <a:pPr>
                <a:spcAft>
                  <a:spcPts val="600"/>
                </a:spcAft>
              </a:pPr>
              <a:t>30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a-types-and-classes</Template>
  <TotalTime>6681</TotalTime>
  <Words>1683</Words>
  <Application>Microsoft Macintosh PowerPoint</Application>
  <PresentationFormat>On-screen Show (4:3)</PresentationFormat>
  <Paragraphs>280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MS PGothic</vt:lpstr>
      <vt:lpstr>Arial</vt:lpstr>
      <vt:lpstr>Arial Black</vt:lpstr>
      <vt:lpstr>Calibri</vt:lpstr>
      <vt:lpstr>Lucida Sans Typewriter</vt:lpstr>
      <vt:lpstr>Symbol</vt:lpstr>
      <vt:lpstr>Tahoma</vt:lpstr>
      <vt:lpstr>Times New Roman</vt:lpstr>
      <vt:lpstr>Trebuchet MS</vt:lpstr>
      <vt:lpstr>Wingdings</vt:lpstr>
      <vt:lpstr>Berlin</vt:lpstr>
      <vt:lpstr>PowerPoint Presentation</vt:lpstr>
      <vt:lpstr>The nature of functions</vt:lpstr>
      <vt:lpstr>The nature of functions</vt:lpstr>
      <vt:lpstr>The nature of functions.. maths</vt:lpstr>
      <vt:lpstr>The nature of functions.. Programming, e.g. Java</vt:lpstr>
      <vt:lpstr>The nature of functions.. accessors and mutators</vt:lpstr>
      <vt:lpstr>The nature of functions.. accessors</vt:lpstr>
      <vt:lpstr>The nature of functions.. mutators</vt:lpstr>
      <vt:lpstr>The nature of functions.. mutators ++</vt:lpstr>
      <vt:lpstr>Purity in Haskell</vt:lpstr>
      <vt:lpstr>Conditional Expressions</vt:lpstr>
      <vt:lpstr>PowerPoint Presentation</vt:lpstr>
      <vt:lpstr>Guarded Equations</vt:lpstr>
      <vt:lpstr>PowerPoint Presentation</vt:lpstr>
      <vt:lpstr>Case statement</vt:lpstr>
      <vt:lpstr>Pattern Matching</vt:lpstr>
      <vt:lpstr> Pattern Matching </vt:lpstr>
      <vt:lpstr>Pattern Matching </vt:lpstr>
      <vt:lpstr>PowerPoint Presentation</vt:lpstr>
      <vt:lpstr>Use of where with Guards</vt:lpstr>
      <vt:lpstr>Use of where with Guards(2) </vt:lpstr>
      <vt:lpstr>Use of where with Guards and patterns (3) </vt:lpstr>
      <vt:lpstr>The let expression</vt:lpstr>
      <vt:lpstr>List Patterns  - the (: ) operator</vt:lpstr>
      <vt:lpstr>Patterns in functions</vt:lpstr>
      <vt:lpstr>PowerPoint Presentation</vt:lpstr>
      <vt:lpstr>Note – parenthesise! </vt:lpstr>
      <vt:lpstr>Operator Sections</vt:lpstr>
      <vt:lpstr>PowerPoint Presentation</vt:lpstr>
      <vt:lpstr>Why Are Sections Useful?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376</cp:revision>
  <cp:lastPrinted>2016-01-08T09:11:08Z</cp:lastPrinted>
  <dcterms:created xsi:type="dcterms:W3CDTF">2000-11-20T11:40:19Z</dcterms:created>
  <dcterms:modified xsi:type="dcterms:W3CDTF">2026-03-27T00:17:29Z</dcterms:modified>
</cp:coreProperties>
</file>