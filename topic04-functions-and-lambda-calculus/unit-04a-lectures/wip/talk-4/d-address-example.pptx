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813" r:id="rId1"/>
  </p:sldMasterIdLst>
  <p:notesMasterIdLst>
    <p:notesMasterId r:id="rId17"/>
  </p:notesMasterIdLst>
  <p:handoutMasterIdLst>
    <p:handoutMasterId r:id="rId18"/>
  </p:handoutMasterIdLst>
  <p:sldIdLst>
    <p:sldId id="328" r:id="rId2"/>
    <p:sldId id="339" r:id="rId3"/>
    <p:sldId id="358" r:id="rId4"/>
    <p:sldId id="366" r:id="rId5"/>
    <p:sldId id="367" r:id="rId6"/>
    <p:sldId id="360" r:id="rId7"/>
    <p:sldId id="340" r:id="rId8"/>
    <p:sldId id="361" r:id="rId9"/>
    <p:sldId id="341" r:id="rId10"/>
    <p:sldId id="342" r:id="rId11"/>
    <p:sldId id="362" r:id="rId12"/>
    <p:sldId id="363" r:id="rId13"/>
    <p:sldId id="364" r:id="rId14"/>
    <p:sldId id="365" r:id="rId15"/>
    <p:sldId id="343" r:id="rId16"/>
  </p:sldIdLst>
  <p:sldSz cx="12192000" cy="6858000"/>
  <p:notesSz cx="7089775" cy="102187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18">
          <p15:clr>
            <a:srgbClr val="A4A3A4"/>
          </p15:clr>
        </p15:guide>
        <p15:guide id="2" pos="22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bw" frameSlides="1"/>
  <p:showPr showNarration="1">
    <p:browse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080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306"/>
  </p:normalViewPr>
  <p:slideViewPr>
    <p:cSldViewPr snapToGrid="0">
      <p:cViewPr varScale="1">
        <p:scale>
          <a:sx n="98" d="100"/>
          <a:sy n="98" d="100"/>
        </p:scale>
        <p:origin x="200" y="5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1866" y="-78"/>
      </p:cViewPr>
      <p:guideLst>
        <p:guide orient="horz" pos="3218"/>
        <p:guide pos="223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1813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7963" y="0"/>
            <a:ext cx="3071812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algn="r" defTabSz="989013">
              <a:defRPr sz="13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07563"/>
            <a:ext cx="3071813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7963" y="9707563"/>
            <a:ext cx="3071812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algn="r" defTabSz="989013">
              <a:defRPr sz="1300"/>
            </a:lvl1pPr>
          </a:lstStyle>
          <a:p>
            <a:pPr>
              <a:defRPr/>
            </a:pPr>
            <a:fld id="{05CEB389-31E8-AB46-A69E-5E6395AF6B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6795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409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4099"/>
          <p:cNvSpPr>
            <a:spLocks noGrp="1" noChangeArrowheads="1"/>
          </p:cNvSpPr>
          <p:nvPr>
            <p:ph type="dt" idx="1"/>
          </p:nvPr>
        </p:nvSpPr>
        <p:spPr bwMode="auto">
          <a:xfrm>
            <a:off x="4038600" y="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100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95263" y="762000"/>
            <a:ext cx="6772275" cy="3810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2165" name="Rectangle 4101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876800"/>
            <a:ext cx="5257800" cy="4572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4102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67740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410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38600" y="967740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9C613AF-66BC-8C45-8FFC-81938FBA41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2864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ＭＳ Ｐゴシック" pitchFamily="-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7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6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5" cy="1373070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41"/>
            <a:ext cx="8144135" cy="1117687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7" y="2750337"/>
            <a:ext cx="1171888" cy="1356442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3018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8906A9-ADC8-F342-81A7-F9FDA948E9B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21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6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3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7" y="2869897"/>
            <a:ext cx="1154151" cy="1090789"/>
          </a:xfrm>
        </p:spPr>
        <p:txBody>
          <a:bodyPr/>
          <a:lstStyle/>
          <a:p>
            <a:pPr>
              <a:defRPr/>
            </a:pPr>
            <a:fld id="{D34BF70C-D155-7D48-91BD-16746CB44B4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87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1" y="2336873"/>
            <a:ext cx="46983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2B149C-5A7C-8A40-8B3B-ABD9D8FE082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991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0" y="753231"/>
            <a:ext cx="9613863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1" y="2336875"/>
            <a:ext cx="4472327" cy="69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3" y="3030010"/>
            <a:ext cx="469835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5" y="2336873"/>
            <a:ext cx="4474028" cy="69207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4" y="3030010"/>
            <a:ext cx="4700059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36666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FC1FA8-E849-9047-9722-D34601CB06C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79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367834-1F6B-D04F-9A28-C67EB7881EF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268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7" y="2336875"/>
            <a:ext cx="5608336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4"/>
            <a:ext cx="3790079" cy="3599317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0D4E9F-BF2E-394F-AFB8-DD3D501C297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25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4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5"/>
            <a:ext cx="3876256" cy="3599315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2AC4A9-8955-664E-BB4E-51394A33929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570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8"/>
            <a:ext cx="9613859" cy="453051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9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5"/>
            <a:ext cx="9613863" cy="62297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311"/>
            <a:ext cx="1154151" cy="1090789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1727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609597"/>
            <a:ext cx="9613859" cy="3592750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617"/>
            <a:ext cx="1154151" cy="1090789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13519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9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81659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7"/>
            <a:ext cx="9613863" cy="58853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51"/>
            <a:ext cx="9613863" cy="502255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116984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1" y="753228"/>
            <a:ext cx="96249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5" y="2336873"/>
            <a:ext cx="307003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4"/>
            <a:ext cx="3049703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1" y="3022674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7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7" y="3022674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6302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20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20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20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1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8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80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8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170321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A14927-CF9F-8643-99B0-6F2BBAFF855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1174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3" y="5372404"/>
            <a:ext cx="1602997" cy="13681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3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9"/>
            <a:ext cx="8870004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5" y="5936189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90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1" y="5398635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DDE4DFA3-B759-4941-9F09-7CA811EFFC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737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2" y="5936190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7" y="753228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5484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  <p:sldLayoutId id="2147483830" r:id="rId1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400"/>
              <a:pPr/>
              <a:t>0</a:t>
            </a:fld>
            <a:endParaRPr lang="en-US" sz="1400" dirty="0"/>
          </a:p>
        </p:txBody>
      </p:sp>
      <p:sp>
        <p:nvSpPr>
          <p:cNvPr id="291842" name="Text Box 2"/>
          <p:cNvSpPr txBox="1">
            <a:spLocks noChangeArrowheads="1"/>
          </p:cNvSpPr>
          <p:nvPr/>
        </p:nvSpPr>
        <p:spPr bwMode="auto">
          <a:xfrm>
            <a:off x="1639889" y="1001713"/>
            <a:ext cx="8910637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chemeClr val="tx2"/>
                </a:solidFill>
                <a:latin typeface="Arial Black" charset="0"/>
                <a:cs typeface="+mn-cs"/>
              </a:rPr>
              <a:t>PROGRAMMING IN HASKELL</a:t>
            </a:r>
          </a:p>
        </p:txBody>
      </p:sp>
      <p:sp>
        <p:nvSpPr>
          <p:cNvPr id="291843" name="Rectangle 3"/>
          <p:cNvSpPr>
            <a:spLocks noChangeArrowheads="1"/>
          </p:cNvSpPr>
          <p:nvPr/>
        </p:nvSpPr>
        <p:spPr bwMode="auto">
          <a:xfrm>
            <a:off x="1700214" y="5164137"/>
            <a:ext cx="8791575" cy="1132159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algn="ctr">
              <a:defRPr/>
            </a:pPr>
            <a:r>
              <a:rPr kumimoji="1" lang="en-US" sz="3200" dirty="0">
                <a:cs typeface="+mn-cs"/>
              </a:rPr>
              <a:t>Topic 4.4 – Structuring a solution </a:t>
            </a:r>
            <a:r>
              <a:rPr kumimoji="1" lang="en-US" sz="3200">
                <a:cs typeface="+mn-cs"/>
              </a:rPr>
              <a:t>on addresses </a:t>
            </a:r>
            <a:r>
              <a:rPr kumimoji="1" lang="en-US" sz="3200" dirty="0">
                <a:cs typeface="+mn-cs"/>
              </a:rPr>
              <a:t>using First Class Functions</a:t>
            </a:r>
          </a:p>
        </p:txBody>
      </p:sp>
      <p:pic>
        <p:nvPicPr>
          <p:cNvPr id="15364" name="Picture 5" descr="2000px-Haskell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189" y="2425700"/>
            <a:ext cx="2841625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42421" y="993363"/>
            <a:ext cx="7727414" cy="610518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Example – structuring a 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4B18FF-A2D2-164B-AA1D-379ED9A726CA}"/>
              </a:ext>
            </a:extLst>
          </p:cNvPr>
          <p:cNvSpPr txBox="1"/>
          <p:nvPr/>
        </p:nvSpPr>
        <p:spPr>
          <a:xfrm>
            <a:off x="263027" y="1982883"/>
            <a:ext cx="1090934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Problem: We want to write an address generating function. </a:t>
            </a:r>
          </a:p>
          <a:p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function is to take names and addresses from the three different SETU campuses: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Waterford Campus 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Carlow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Campus 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Wexford Campus</a:t>
            </a:r>
          </a:p>
          <a:p>
            <a:endParaRPr kumimoji="1"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 slightly different rules for different colleges.</a:t>
            </a:r>
          </a:p>
          <a:p>
            <a:endParaRPr kumimoji="1"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wish to structure a solution that generalises as much as possible, but also allows for differences. </a:t>
            </a:r>
          </a:p>
          <a:p>
            <a:endParaRPr kumimoji="1"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will pass functions into other functions to help! 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C60E75-DDCB-41D0-7DB7-8D341A53D6FE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1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02653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50" y="879063"/>
            <a:ext cx="7727414" cy="610518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Example – structuring a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52EF2E-598D-F141-AAEB-286DCB22A59D}"/>
              </a:ext>
            </a:extLst>
          </p:cNvPr>
          <p:cNvSpPr txBox="1"/>
          <p:nvPr/>
        </p:nvSpPr>
        <p:spPr>
          <a:xfrm>
            <a:off x="869963" y="2072899"/>
            <a:ext cx="9859494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SETU (Waterford Campus):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Staff are allocated offices based (only) on their last 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name, i.e.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&lt; “L” – they are in the “Lower Floor, Main Building”,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otherwise, they are in the “Middle Floor, Science Building”. 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remaining part of the address is </a:t>
            </a:r>
          </a:p>
          <a:p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”SETU, Cork Road, Waterford, Ireland, X91 K0EK."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ED62334A-0099-405A-4A0C-DDCD3BA47CC7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2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46643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08392" y="993363"/>
            <a:ext cx="7727414" cy="610518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Example – structuring a solution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78A5F4-EA86-E64A-8190-A283A54AC25A}"/>
              </a:ext>
            </a:extLst>
          </p:cNvPr>
          <p:cNvSpPr txBox="1"/>
          <p:nvPr/>
        </p:nvSpPr>
        <p:spPr>
          <a:xfrm>
            <a:off x="885826" y="2456100"/>
            <a:ext cx="9629774" cy="181588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 “Adam Able” from SETU (Waterford)  would be given the address : 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“Adam Able , Lower Floor, Main Building,</a:t>
            </a: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SETU, Cork Road, Waterford, Ireland, X91 K0EK."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4B28FD-334A-4C43-B04E-F8D072C6E3DB}"/>
              </a:ext>
            </a:extLst>
          </p:cNvPr>
          <p:cNvSpPr txBox="1"/>
          <p:nvPr/>
        </p:nvSpPr>
        <p:spPr>
          <a:xfrm>
            <a:off x="885826" y="4458831"/>
            <a:ext cx="9472612" cy="181588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 “Sean Stack” from SETU (Waterford) would be given the address : 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“Sean Stack , Middle Floor, Science Building,</a:t>
            </a: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SETU, Cork Road, Waterford, Ireland, X91 K0EK."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ED62334A-0099-405A-4A0C-DDCD3BA47CC7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3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38022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52EF2E-598D-F141-AAEB-286DCB22A59D}"/>
              </a:ext>
            </a:extLst>
          </p:cNvPr>
          <p:cNvSpPr txBox="1"/>
          <p:nvPr/>
        </p:nvSpPr>
        <p:spPr>
          <a:xfrm>
            <a:off x="1821458" y="2188314"/>
            <a:ext cx="767184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SETU (</a:t>
            </a:r>
            <a:r>
              <a:rPr lang="en-US" sz="3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Carlow</a:t>
            </a: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Campus):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staff SETU (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Carlow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Campus)  have the 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same address: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"SETU (Carlow Campus), Dublin Road, Carlow, </a:t>
            </a:r>
          </a:p>
          <a:p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Ireland, R93 V960."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19DDA6D3-0A94-5AE5-08B7-B29DF8D43F9C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4</a:t>
            </a:fld>
            <a:endParaRPr lang="en-US" sz="14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A0C890-19FE-B08A-9030-D209AD8F20FD}"/>
              </a:ext>
            </a:extLst>
          </p:cNvPr>
          <p:cNvSpPr txBox="1">
            <a:spLocks noChangeArrowheads="1"/>
          </p:cNvSpPr>
          <p:nvPr/>
        </p:nvSpPr>
        <p:spPr>
          <a:xfrm>
            <a:off x="308392" y="993363"/>
            <a:ext cx="7727414" cy="610518"/>
          </a:xfrm>
          <a:prstGeom prst="rect">
            <a:avLst/>
          </a:prstGeom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sz="3200" b="1">
                <a:cs typeface="ＭＳ Ｐゴシック" pitchFamily="-1" charset="-128"/>
              </a:rPr>
              <a:t>Example – structuring a solution</a:t>
            </a:r>
            <a:endParaRPr kumimoji="1" lang="en-US" sz="3200" b="1" dirty="0">
              <a:cs typeface="ＭＳ Ｐゴシック" pitchFamily="-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62939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33350" y="945419"/>
            <a:ext cx="7727414" cy="610518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Example – structuring a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52EF2E-598D-F141-AAEB-286DCB22A59D}"/>
              </a:ext>
            </a:extLst>
          </p:cNvPr>
          <p:cNvSpPr txBox="1"/>
          <p:nvPr/>
        </p:nvSpPr>
        <p:spPr>
          <a:xfrm>
            <a:off x="0" y="1878375"/>
            <a:ext cx="1170146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SETU (Wexford Campus):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staff in the Wexford Campus have the same address: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"SETU (Wexford Campus), Summerhill Rd, </a:t>
            </a:r>
            <a:r>
              <a:rPr lang="en-IE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Townparks</a:t>
            </a: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Wexford, Y35 KA07."</a:t>
            </a:r>
          </a:p>
          <a:p>
            <a:r>
              <a:rPr lang="en-IE" sz="28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the address, however, the last name is before the first name.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78A5F4-EA86-E64A-8190-A283A54AC25A}"/>
              </a:ext>
            </a:extLst>
          </p:cNvPr>
          <p:cNvSpPr txBox="1"/>
          <p:nvPr/>
        </p:nvSpPr>
        <p:spPr>
          <a:xfrm>
            <a:off x="1200150" y="5021276"/>
            <a:ext cx="8886825" cy="15696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e.g. “Adam Able” from SETU (Wexford Campus)  would be given the address : </a:t>
            </a:r>
          </a:p>
          <a:p>
            <a:r>
              <a:rPr lang="en-US" sz="2400" dirty="0"/>
              <a:t>“Able, Adam, </a:t>
            </a:r>
            <a:r>
              <a:rPr lang="en-IE" sz="2400" dirty="0"/>
              <a:t>SETU (Wexford Campus), Summerhill Rd, </a:t>
            </a:r>
            <a:r>
              <a:rPr lang="en-IE" sz="2400" dirty="0" err="1"/>
              <a:t>Townparks</a:t>
            </a:r>
            <a:r>
              <a:rPr lang="en-IE" sz="2400" dirty="0"/>
              <a:t>, Wexford, Y35 KA07.”</a:t>
            </a:r>
            <a:endParaRPr lang="en-IE" sz="2000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5CAB06F0-C881-A947-A62A-4952E09591CE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5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34413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>
            <a:extLst>
              <a:ext uri="{FF2B5EF4-FFF2-40B4-BE49-F238E27FC236}">
                <a16:creationId xmlns:a16="http://schemas.microsoft.com/office/drawing/2014/main" id="{556F0988-5661-924F-AE61-BF33457C6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8027" y="4183605"/>
            <a:ext cx="5535015" cy="36933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dirty="0"/>
              <a:t>type Name = (String, String)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CDC471-68F6-AA48-BC03-410C3B4E6CF2}"/>
              </a:ext>
            </a:extLst>
          </p:cNvPr>
          <p:cNvSpPr txBox="1"/>
          <p:nvPr/>
        </p:nvSpPr>
        <p:spPr>
          <a:xfrm>
            <a:off x="635961" y="2402407"/>
            <a:ext cx="106705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use the (“Tom”, “Hanks”) structure to model a name  and use a type synonym Name to encapsulate this structure.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E27671-5756-5F47-BCD1-4B40C8780618}"/>
              </a:ext>
            </a:extLst>
          </p:cNvPr>
          <p:cNvSpPr txBox="1"/>
          <p:nvPr/>
        </p:nvSpPr>
        <p:spPr>
          <a:xfrm>
            <a:off x="635961" y="5049941"/>
            <a:ext cx="100934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we write a function, we write the arguments in the order (left to right) from most general to least general. This allows maximum reuse of these functions. 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2923C15E-AB9F-CCA9-2CB7-D96F88AEAD11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6</a:t>
            </a:fld>
            <a:endParaRPr lang="en-US" sz="14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095A929-477D-B1D7-7A51-374F8D0174B2}"/>
              </a:ext>
            </a:extLst>
          </p:cNvPr>
          <p:cNvSpPr txBox="1">
            <a:spLocks noChangeArrowheads="1"/>
          </p:cNvSpPr>
          <p:nvPr/>
        </p:nvSpPr>
        <p:spPr>
          <a:xfrm>
            <a:off x="308392" y="753228"/>
            <a:ext cx="9294286" cy="1148608"/>
          </a:xfrm>
          <a:prstGeom prst="rect">
            <a:avLst/>
          </a:prstGeom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sz="3200" b="1" dirty="0">
                <a:cs typeface="ＭＳ Ｐゴシック" pitchFamily="-1" charset="-128"/>
              </a:rPr>
              <a:t>Example – structuring a </a:t>
            </a:r>
            <a:r>
              <a:rPr kumimoji="1" lang="en-US" sz="3200" b="1" dirty="0"/>
              <a:t>solution - A few notes: </a:t>
            </a:r>
          </a:p>
          <a:p>
            <a:endParaRPr kumimoji="1" lang="en-US" sz="3200" b="1" dirty="0">
              <a:cs typeface="ＭＳ Ｐゴシック" pitchFamily="-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4345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CDC471-68F6-AA48-BC03-410C3B4E6CF2}"/>
              </a:ext>
            </a:extLst>
          </p:cNvPr>
          <p:cNvSpPr txBox="1"/>
          <p:nvPr/>
        </p:nvSpPr>
        <p:spPr>
          <a:xfrm>
            <a:off x="-1" y="1995130"/>
            <a:ext cx="11604171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Each location needs a different address structure. To calculate the full (String) address we need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/>
              <a:t>location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/>
              <a:t>name (not so obvious but in case of SETU ( Waterford Campus) , the address depends also on name)</a:t>
            </a:r>
          </a:p>
          <a:p>
            <a:endParaRPr lang="en-US" dirty="0"/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will use the following ‘key’s to indicate the locations: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err="1"/>
              <a:t>WatSETU</a:t>
            </a:r>
            <a:r>
              <a:rPr lang="en-US" sz="2400" dirty="0"/>
              <a:t>”,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/>
              <a:t>“</a:t>
            </a:r>
            <a:r>
              <a:rPr lang="en-US" sz="2400" dirty="0" err="1"/>
              <a:t>CarSETU</a:t>
            </a:r>
            <a:r>
              <a:rPr lang="en-US" sz="2400" dirty="0"/>
              <a:t>” and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/>
              <a:t>“</a:t>
            </a:r>
            <a:r>
              <a:rPr lang="en-US" sz="2400" dirty="0" err="1"/>
              <a:t>WexSETU</a:t>
            </a:r>
            <a:r>
              <a:rPr lang="en-US" sz="2400" dirty="0"/>
              <a:t>”   </a:t>
            </a:r>
          </a:p>
          <a:p>
            <a:r>
              <a:rPr lang="en-US" dirty="0"/>
              <a:t> 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(depending on the key, we will call a different function) </a:t>
            </a:r>
          </a:p>
          <a:p>
            <a:endParaRPr lang="en-US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61BFF7A5-7525-DA5D-C30E-6359E20F6422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7</a:t>
            </a:fld>
            <a:endParaRPr lang="en-US" sz="14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F597EEC-3A9A-DD42-1E58-70A4DE78E963}"/>
              </a:ext>
            </a:extLst>
          </p:cNvPr>
          <p:cNvSpPr txBox="1">
            <a:spLocks noChangeArrowheads="1"/>
          </p:cNvSpPr>
          <p:nvPr/>
        </p:nvSpPr>
        <p:spPr>
          <a:xfrm>
            <a:off x="133350" y="945419"/>
            <a:ext cx="7727414" cy="610518"/>
          </a:xfrm>
          <a:prstGeom prst="rect">
            <a:avLst/>
          </a:prstGeom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sz="3200" b="1" dirty="0">
                <a:cs typeface="ＭＳ Ｐゴシック" pitchFamily="-1" charset="-128"/>
              </a:rPr>
              <a:t>Example – structuring a solution</a:t>
            </a:r>
          </a:p>
        </p:txBody>
      </p:sp>
    </p:spTree>
    <p:extLst>
      <p:ext uri="{BB962C8B-B14F-4D97-AF65-F5344CB8AC3E}">
        <p14:creationId xmlns:p14="http://schemas.microsoft.com/office/powerpoint/2010/main" val="4158523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>
            <a:extLst>
              <a:ext uri="{FF2B5EF4-FFF2-40B4-BE49-F238E27FC236}">
                <a16:creationId xmlns:a16="http://schemas.microsoft.com/office/drawing/2014/main" id="{556F0988-5661-924F-AE61-BF33457C6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343" y="2385617"/>
            <a:ext cx="10549465" cy="95410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addressLetter</a:t>
            </a: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:: Name -&gt; String -&gt; String</a:t>
            </a:r>
          </a:p>
          <a:p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addressLetter name location = getLocation location name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53197C-03A4-1842-B108-FA95B27076DC}"/>
              </a:ext>
            </a:extLst>
          </p:cNvPr>
          <p:cNvSpPr txBox="1"/>
          <p:nvPr/>
        </p:nvSpPr>
        <p:spPr>
          <a:xfrm>
            <a:off x="6716257" y="1526221"/>
            <a:ext cx="4013200" cy="524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Top-down approach: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63AD42-EC51-1345-863F-776068BCEE98}"/>
              </a:ext>
            </a:extLst>
          </p:cNvPr>
          <p:cNvSpPr txBox="1"/>
          <p:nvPr/>
        </p:nvSpPr>
        <p:spPr>
          <a:xfrm>
            <a:off x="1049867" y="3429000"/>
            <a:ext cx="504613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 of running addressLetter: 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5EE112-884F-9AFF-9B79-80EDAF0B0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43" y="4286464"/>
            <a:ext cx="10276114" cy="2190536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850937A3-E4C7-BC1D-1DE4-81743C267DB1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8</a:t>
            </a:fld>
            <a:endParaRPr lang="en-US" sz="140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06A322D-E157-D99E-F4DB-0ABE42292442}"/>
              </a:ext>
            </a:extLst>
          </p:cNvPr>
          <p:cNvSpPr txBox="1">
            <a:spLocks noChangeArrowheads="1"/>
          </p:cNvSpPr>
          <p:nvPr/>
        </p:nvSpPr>
        <p:spPr>
          <a:xfrm>
            <a:off x="308392" y="543491"/>
            <a:ext cx="7727414" cy="954107"/>
          </a:xfrm>
          <a:prstGeom prst="rect">
            <a:avLst/>
          </a:prstGeom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sz="3200" b="1" dirty="0">
                <a:cs typeface="ＭＳ Ｐゴシック" pitchFamily="-1" charset="-128"/>
              </a:rPr>
              <a:t>Example – structuring a solution</a:t>
            </a:r>
          </a:p>
        </p:txBody>
      </p:sp>
    </p:spTree>
    <p:extLst>
      <p:ext uri="{BB962C8B-B14F-4D97-AF65-F5344CB8AC3E}">
        <p14:creationId xmlns:p14="http://schemas.microsoft.com/office/powerpoint/2010/main" val="1075982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>
            <a:extLst>
              <a:ext uri="{FF2B5EF4-FFF2-40B4-BE49-F238E27FC236}">
                <a16:creationId xmlns:a16="http://schemas.microsoft.com/office/drawing/2014/main" id="{556F0988-5661-924F-AE61-BF33457C6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54779"/>
            <a:ext cx="12310533" cy="230832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b="1" dirty="0" err="1"/>
              <a:t>getLocation</a:t>
            </a:r>
            <a:r>
              <a:rPr lang="en-IE" sz="2400" dirty="0"/>
              <a:t> :: String -&gt; (Name -&gt; String)</a:t>
            </a:r>
          </a:p>
          <a:p>
            <a:r>
              <a:rPr lang="en-IE" sz="2400" dirty="0" err="1"/>
              <a:t>getLocation</a:t>
            </a:r>
            <a:r>
              <a:rPr lang="en-IE" sz="2400" dirty="0"/>
              <a:t> location   = case location  of </a:t>
            </a:r>
          </a:p>
          <a:p>
            <a:r>
              <a:rPr lang="en-IE" sz="2400" dirty="0"/>
              <a:t>        "Wat(SETU)" -&gt; </a:t>
            </a:r>
            <a:r>
              <a:rPr lang="en-IE" sz="2400" dirty="0" err="1"/>
              <a:t>watOffice</a:t>
            </a:r>
            <a:r>
              <a:rPr lang="en-IE" sz="2400" dirty="0"/>
              <a:t> </a:t>
            </a:r>
          </a:p>
          <a:p>
            <a:r>
              <a:rPr lang="en-IE" sz="2400" dirty="0"/>
              <a:t>        "Car(SETU)" -&gt; </a:t>
            </a:r>
            <a:r>
              <a:rPr lang="en-IE" sz="2400" dirty="0" err="1"/>
              <a:t>carOffice</a:t>
            </a:r>
            <a:endParaRPr lang="en-IE" sz="2400" dirty="0"/>
          </a:p>
          <a:p>
            <a:r>
              <a:rPr lang="en-IE" sz="2400" dirty="0"/>
              <a:t>        "</a:t>
            </a:r>
            <a:r>
              <a:rPr lang="en-IE" sz="2400" dirty="0" err="1"/>
              <a:t>Wex</a:t>
            </a:r>
            <a:r>
              <a:rPr lang="en-IE" sz="2400" dirty="0"/>
              <a:t>(SETU)" -&gt; </a:t>
            </a:r>
            <a:r>
              <a:rPr lang="en-IE" sz="2400" dirty="0" err="1"/>
              <a:t>wexOffice</a:t>
            </a:r>
            <a:r>
              <a:rPr lang="en-IE" sz="2400" dirty="0"/>
              <a:t> </a:t>
            </a:r>
          </a:p>
          <a:p>
            <a:r>
              <a:rPr lang="en-IE" sz="2400" dirty="0"/>
              <a:t>                _     -&gt; (\name -&gt; </a:t>
            </a:r>
            <a:r>
              <a:rPr lang="en-IE" sz="2400" dirty="0" err="1"/>
              <a:t>fst</a:t>
            </a:r>
            <a:r>
              <a:rPr lang="en-IE" sz="2400" dirty="0"/>
              <a:t> name ++ "  " ++ </a:t>
            </a:r>
            <a:r>
              <a:rPr lang="en-IE" sz="2400" dirty="0" err="1"/>
              <a:t>snd</a:t>
            </a:r>
            <a:r>
              <a:rPr lang="en-IE" sz="2400" dirty="0"/>
              <a:t> name ++ ": Address unknown" )</a:t>
            </a:r>
          </a:p>
        </p:txBody>
      </p:sp>
      <p:sp>
        <p:nvSpPr>
          <p:cNvPr id="2" name="Oval Callout 1">
            <a:extLst>
              <a:ext uri="{FF2B5EF4-FFF2-40B4-BE49-F238E27FC236}">
                <a16:creationId xmlns:a16="http://schemas.microsoft.com/office/drawing/2014/main" id="{D743BF5C-DA38-0647-9D05-1E89E5BEA474}"/>
              </a:ext>
            </a:extLst>
          </p:cNvPr>
          <p:cNvSpPr/>
          <p:nvPr/>
        </p:nvSpPr>
        <p:spPr bwMode="auto">
          <a:xfrm>
            <a:off x="8703733" y="1491420"/>
            <a:ext cx="3488267" cy="2207240"/>
          </a:xfrm>
          <a:prstGeom prst="wedgeEllipseCallout">
            <a:avLst>
              <a:gd name="adj1" fmla="val -139046"/>
              <a:gd name="adj2" fmla="val 13637"/>
            </a:avLst>
          </a:prstGeom>
          <a:solidFill>
            <a:schemeClr val="accent4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bg2"/>
                </a:solidFill>
              </a:rPr>
              <a:t>Returns the appropriate String producing function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ahoma" charset="0"/>
              <a:ea typeface="ＭＳ Ｐゴシック" charset="0"/>
            </a:endParaRPr>
          </a:p>
        </p:txBody>
      </p:sp>
      <p:sp>
        <p:nvSpPr>
          <p:cNvPr id="12" name="Oval Callout 11">
            <a:extLst>
              <a:ext uri="{FF2B5EF4-FFF2-40B4-BE49-F238E27FC236}">
                <a16:creationId xmlns:a16="http://schemas.microsoft.com/office/drawing/2014/main" id="{F525B222-40A4-4242-82B2-6B758A723F8A}"/>
              </a:ext>
            </a:extLst>
          </p:cNvPr>
          <p:cNvSpPr/>
          <p:nvPr/>
        </p:nvSpPr>
        <p:spPr bwMode="auto">
          <a:xfrm>
            <a:off x="7162800" y="5095760"/>
            <a:ext cx="5029200" cy="1687890"/>
          </a:xfrm>
          <a:prstGeom prst="wedgeEllipseCallout">
            <a:avLst>
              <a:gd name="adj1" fmla="val -129715"/>
              <a:gd name="adj2" fmla="val -58386"/>
            </a:avLst>
          </a:prstGeom>
          <a:solidFill>
            <a:schemeClr val="accent4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bg2"/>
                </a:solidFill>
              </a:rPr>
              <a:t>Uses lambda function, expecting another argument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ahoma" charset="0"/>
              <a:ea typeface="ＭＳ Ｐゴシック" charset="0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ACE25CE1-45B6-9CF6-02AC-BFB7A364AF14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9</a:t>
            </a:fld>
            <a:endParaRPr lang="en-US" sz="14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BB26514-FF4E-9867-B310-9EA5B484A66B}"/>
              </a:ext>
            </a:extLst>
          </p:cNvPr>
          <p:cNvSpPr txBox="1">
            <a:spLocks noChangeArrowheads="1"/>
          </p:cNvSpPr>
          <p:nvPr/>
        </p:nvSpPr>
        <p:spPr>
          <a:xfrm>
            <a:off x="308392" y="543491"/>
            <a:ext cx="7727414" cy="954107"/>
          </a:xfrm>
          <a:prstGeom prst="rect">
            <a:avLst/>
          </a:prstGeom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sz="3200" b="1" dirty="0">
                <a:cs typeface="ＭＳ Ｐゴシック" pitchFamily="-1" charset="-128"/>
              </a:rPr>
              <a:t>Example – structuring a solution</a:t>
            </a:r>
          </a:p>
        </p:txBody>
      </p:sp>
    </p:spTree>
    <p:extLst>
      <p:ext uri="{BB962C8B-B14F-4D97-AF65-F5344CB8AC3E}">
        <p14:creationId xmlns:p14="http://schemas.microsoft.com/office/powerpoint/2010/main" val="147936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>
            <a:extLst>
              <a:ext uri="{FF2B5EF4-FFF2-40B4-BE49-F238E27FC236}">
                <a16:creationId xmlns:a16="http://schemas.microsoft.com/office/drawing/2014/main" id="{556F0988-5661-924F-AE61-BF33457C6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139226"/>
            <a:ext cx="12310533" cy="35394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watOffice</a:t>
            </a:r>
            <a:r>
              <a:rPr lang="en-IE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:: Name -&gt; String</a:t>
            </a:r>
          </a:p>
          <a:p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watOffice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name =</a:t>
            </a:r>
          </a:p>
          <a:p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 if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lastName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&lt; "L"</a:t>
            </a:r>
          </a:p>
          <a:p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   then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nametext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++ ",  Lower Floor, Main Building  " ++ office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WatSETU</a:t>
            </a:r>
            <a:endParaRPr lang="en-IE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   else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nametext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++ ",  Top Floor, Main Building  " ++ office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WatSETU</a:t>
            </a:r>
            <a:endParaRPr lang="en-IE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 where</a:t>
            </a:r>
          </a:p>
          <a:p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nametext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fst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name ++ "  " ++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snd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name</a:t>
            </a:r>
          </a:p>
          <a:p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lastName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snd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name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DA8EB7-4133-6AFA-4D75-1031DDFA509C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10</a:t>
            </a:fld>
            <a:endParaRPr lang="en-US" sz="14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3AEC6C-23EE-2E7C-D39C-44E9B82537F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60461"/>
            <a:ext cx="7727414" cy="954107"/>
          </a:xfrm>
          <a:prstGeom prst="rect">
            <a:avLst/>
          </a:prstGeom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sz="3200" b="1" dirty="0">
                <a:cs typeface="ＭＳ Ｐゴシック" pitchFamily="-1" charset="-128"/>
              </a:rPr>
              <a:t>Example – structuring a solution</a:t>
            </a:r>
          </a:p>
        </p:txBody>
      </p:sp>
    </p:spTree>
    <p:extLst>
      <p:ext uri="{BB962C8B-B14F-4D97-AF65-F5344CB8AC3E}">
        <p14:creationId xmlns:p14="http://schemas.microsoft.com/office/powerpoint/2010/main" val="3974140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>
            <a:extLst>
              <a:ext uri="{FF2B5EF4-FFF2-40B4-BE49-F238E27FC236}">
                <a16:creationId xmlns:a16="http://schemas.microsoft.com/office/drawing/2014/main" id="{556F0988-5661-924F-AE61-BF33457C6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6682" y="4542518"/>
            <a:ext cx="9547980" cy="181588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wexOffice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:: Name -&gt; String</a:t>
            </a:r>
          </a:p>
          <a:p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wexOffice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name = 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nametext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++ ",  " ++ office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WexSETU</a:t>
            </a:r>
            <a:endParaRPr lang="en-IE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 where</a:t>
            </a:r>
          </a:p>
          <a:p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nametext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snd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name ++ ", " ++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fst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name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4A17250F-3C45-F040-9DA4-3EA553135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9480" y="2120602"/>
            <a:ext cx="9275838" cy="181588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carOffice</a:t>
            </a:r>
            <a:r>
              <a:rPr lang="en-IE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:: Name -&gt; String</a:t>
            </a:r>
          </a:p>
          <a:p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carOffice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name =  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nametext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++ ",  " ++ office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CarSETU</a:t>
            </a:r>
            <a:endParaRPr lang="en-IE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 where</a:t>
            </a:r>
          </a:p>
          <a:p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nametext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fst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name ++ "  " ++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snd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name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7DC481-25F5-EE22-0C31-F896C766254D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11</a:t>
            </a:fld>
            <a:endParaRPr lang="en-US" sz="14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E565184-41C9-5748-3C09-4B97E0B47FF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60461"/>
            <a:ext cx="7727414" cy="954107"/>
          </a:xfrm>
          <a:prstGeom prst="rect">
            <a:avLst/>
          </a:prstGeom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sz="3200" b="1" dirty="0">
                <a:cs typeface="ＭＳ Ｐゴシック" pitchFamily="-1" charset="-128"/>
              </a:rPr>
              <a:t>Example – structuring a solution</a:t>
            </a:r>
          </a:p>
        </p:txBody>
      </p:sp>
    </p:spTree>
    <p:extLst>
      <p:ext uri="{BB962C8B-B14F-4D97-AF65-F5344CB8AC3E}">
        <p14:creationId xmlns:p14="http://schemas.microsoft.com/office/powerpoint/2010/main" val="1119828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4A17250F-3C45-F040-9DA4-3EA553135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90" y="2226082"/>
            <a:ext cx="11432419" cy="440120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data  Location =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WatSETU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|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CarSETU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|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WexSETU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IE" sz="28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IE" sz="28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IE" sz="2800" b="1" dirty="0">
                <a:latin typeface="Arial" panose="020B0604020202020204" pitchFamily="34" charset="0"/>
                <a:cs typeface="Arial" panose="020B0604020202020204" pitchFamily="34" charset="0"/>
              </a:rPr>
              <a:t>office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:: Location -&gt; String</a:t>
            </a:r>
          </a:p>
          <a:p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office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WatSETU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= "SETU (Waterford Campus), Cork Road, Waterford, Ireland, X91 K0EK."</a:t>
            </a:r>
          </a:p>
          <a:p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office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CarSETU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= "SETU (Carlow Campus), Dublin Road, Carlow, Ireland, R93 V960."</a:t>
            </a:r>
          </a:p>
          <a:p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office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WexSETU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= "SETU (Wexford Campus), Summerhill Rd,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Townparks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, Wexford, Y35 KA07."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71B445-8F82-7042-C930-D30A2F882425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12</a:t>
            </a:fld>
            <a:endParaRPr lang="en-US" sz="14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8B269BF-DD8A-95D0-6C98-8B72FFAD724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60461"/>
            <a:ext cx="7727414" cy="954107"/>
          </a:xfrm>
          <a:prstGeom prst="rect">
            <a:avLst/>
          </a:prstGeom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sz="3200" b="1" dirty="0">
                <a:cs typeface="ＭＳ Ｐゴシック" pitchFamily="-1" charset="-128"/>
              </a:rPr>
              <a:t>Example – structuring a solution</a:t>
            </a:r>
          </a:p>
        </p:txBody>
      </p:sp>
    </p:spTree>
    <p:extLst>
      <p:ext uri="{BB962C8B-B14F-4D97-AF65-F5344CB8AC3E}">
        <p14:creationId xmlns:p14="http://schemas.microsoft.com/office/powerpoint/2010/main" val="2692138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08392" y="972655"/>
            <a:ext cx="8407401" cy="651934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r>
              <a:rPr lang="en-US" sz="3200" b="1" dirty="0"/>
              <a:t>Example – Overall solution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15BB9E-00B9-1741-A1EB-E5BCAFA85D89}"/>
              </a:ext>
            </a:extLst>
          </p:cNvPr>
          <p:cNvSpPr txBox="1"/>
          <p:nvPr/>
        </p:nvSpPr>
        <p:spPr>
          <a:xfrm>
            <a:off x="1248228" y="3429000"/>
            <a:ext cx="76538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full text of the solution is available in the associated lab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66DD4B9D-037A-49F8-C612-842F04878263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13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80562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Text&#10;&#10;Description automatically generated">
            <a:extLst>
              <a:ext uri="{FF2B5EF4-FFF2-40B4-BE49-F238E27FC236}">
                <a16:creationId xmlns:a16="http://schemas.microsoft.com/office/drawing/2014/main" id="{2C6DED11-E24C-1747-9B8B-24AF63DEA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447" y="857538"/>
            <a:ext cx="6517105" cy="4953000"/>
          </a:xfrm>
          <a:prstGeom prst="rect">
            <a:avLst/>
          </a:prstGeom>
          <a:noFill/>
        </p:spPr>
      </p:pic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</a:pPr>
            <a:fld id="{CC73A6B6-49ED-C641-8D95-0A84FA800C15}" type="slidenum">
              <a:rPr lang="en-US" sz="1400"/>
              <a:pPr>
                <a:spcAft>
                  <a:spcPts val="600"/>
                </a:spcAft>
              </a:pPr>
              <a:t>14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20514501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a-functions</Template>
  <TotalTime>11176</TotalTime>
  <Words>884</Words>
  <Application>Microsoft Macintosh PowerPoint</Application>
  <PresentationFormat>Widescreen</PresentationFormat>
  <Paragraphs>118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ＭＳ Ｐゴシック</vt:lpstr>
      <vt:lpstr>Arial</vt:lpstr>
      <vt:lpstr>Arial Black</vt:lpstr>
      <vt:lpstr>Calibri</vt:lpstr>
      <vt:lpstr>Tahoma</vt:lpstr>
      <vt:lpstr>Times New Roman</vt:lpstr>
      <vt:lpstr>Trebuchet MS</vt:lpstr>
      <vt:lpstr>Berlin</vt:lpstr>
      <vt:lpstr>PowerPoint Presentation</vt:lpstr>
      <vt:lpstr>Example – structuring a solution</vt:lpstr>
      <vt:lpstr>Example – structuring a solution</vt:lpstr>
      <vt:lpstr>Example – structuring a solution</vt:lpstr>
      <vt:lpstr>PowerPoint Presentation</vt:lpstr>
      <vt:lpstr>Example – structuring a 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– Overall solution </vt:lpstr>
      <vt:lpstr>PowerPoint Presentation</vt:lpstr>
    </vt:vector>
  </TitlesOfParts>
  <Company>University of Nottingham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Programming</dc:title>
  <dc:creator>Dr. Graham Hutton</dc:creator>
  <cp:lastModifiedBy>Mairead Meagher</cp:lastModifiedBy>
  <cp:revision>422</cp:revision>
  <cp:lastPrinted>2016-01-08T09:11:08Z</cp:lastPrinted>
  <dcterms:created xsi:type="dcterms:W3CDTF">2000-11-20T11:40:19Z</dcterms:created>
  <dcterms:modified xsi:type="dcterms:W3CDTF">2026-01-29T15:04:25Z</dcterms:modified>
</cp:coreProperties>
</file>