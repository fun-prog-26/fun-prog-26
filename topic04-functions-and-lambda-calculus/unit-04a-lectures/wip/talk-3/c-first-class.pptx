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813" r:id="rId1"/>
  </p:sldMasterIdLst>
  <p:notesMasterIdLst>
    <p:notesMasterId r:id="rId32"/>
  </p:notesMasterIdLst>
  <p:handoutMasterIdLst>
    <p:handoutMasterId r:id="rId33"/>
  </p:handoutMasterIdLst>
  <p:sldIdLst>
    <p:sldId id="328" r:id="rId2"/>
    <p:sldId id="347" r:id="rId3"/>
    <p:sldId id="348" r:id="rId4"/>
    <p:sldId id="290" r:id="rId5"/>
    <p:sldId id="346" r:id="rId6"/>
    <p:sldId id="349" r:id="rId7"/>
    <p:sldId id="350" r:id="rId8"/>
    <p:sldId id="351" r:id="rId9"/>
    <p:sldId id="352" r:id="rId10"/>
    <p:sldId id="356" r:id="rId11"/>
    <p:sldId id="353" r:id="rId12"/>
    <p:sldId id="354" r:id="rId13"/>
    <p:sldId id="355" r:id="rId14"/>
    <p:sldId id="338" r:id="rId15"/>
    <p:sldId id="357" r:id="rId16"/>
    <p:sldId id="339" r:id="rId17"/>
    <p:sldId id="358" r:id="rId18"/>
    <p:sldId id="366" r:id="rId19"/>
    <p:sldId id="359" r:id="rId20"/>
    <p:sldId id="367" r:id="rId21"/>
    <p:sldId id="360" r:id="rId22"/>
    <p:sldId id="340" r:id="rId23"/>
    <p:sldId id="361" r:id="rId24"/>
    <p:sldId id="341" r:id="rId25"/>
    <p:sldId id="342" r:id="rId26"/>
    <p:sldId id="362" r:id="rId27"/>
    <p:sldId id="363" r:id="rId28"/>
    <p:sldId id="364" r:id="rId29"/>
    <p:sldId id="365" r:id="rId30"/>
    <p:sldId id="343" r:id="rId31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63"/>
    <p:restoredTop sz="94347"/>
  </p:normalViewPr>
  <p:slideViewPr>
    <p:cSldViewPr snapToGrid="0">
      <p:cViewPr varScale="1">
        <p:scale>
          <a:sx n="78" d="100"/>
          <a:sy n="78" d="100"/>
        </p:scale>
        <p:origin x="176" y="10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5CEB389-31E8-AB46-A69E-5E6395AF6B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9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09C613AF-66BC-8C45-8FFC-81938FBA41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8647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3018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2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991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6666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79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268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5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570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727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3519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981659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116984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6302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70321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174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37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2/7/25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484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4" r:id="rId1"/>
    <p:sldLayoutId id="2147483815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4" r:id="rId11"/>
    <p:sldLayoutId id="2147483825" r:id="rId12"/>
    <p:sldLayoutId id="2147483826" r:id="rId13"/>
    <p:sldLayoutId id="2147483827" r:id="rId14"/>
    <p:sldLayoutId id="2147483828" r:id="rId15"/>
    <p:sldLayoutId id="2147483829" r:id="rId16"/>
    <p:sldLayoutId id="2147483830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E7B5135-177D-EE42-9C5F-82759AF30F9B}" type="slidenum">
              <a:rPr lang="en-US" sz="1400"/>
              <a:pPr/>
              <a:t>0</a:t>
            </a:fld>
            <a:endParaRPr lang="en-US" sz="1400" dirty="0"/>
          </a:p>
        </p:txBody>
      </p:sp>
      <p:sp>
        <p:nvSpPr>
          <p:cNvPr id="29184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29184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4.3 – First Class Functions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93372" y="95794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Lambdas, let and </a:t>
            </a:r>
            <a:r>
              <a:rPr lang="en-US" dirty="0"/>
              <a:t>w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</a:t>
            </a:fld>
            <a:endParaRPr 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4B965-065C-1F4A-8EF5-C8F085988394}"/>
              </a:ext>
            </a:extLst>
          </p:cNvPr>
          <p:cNvSpPr txBox="1"/>
          <p:nvPr/>
        </p:nvSpPr>
        <p:spPr>
          <a:xfrm>
            <a:off x="758591" y="2143224"/>
            <a:ext cx="8042313" cy="4257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wish to write a function that takes two numbers, and returns the greater of the sum of the squares of the numbers  (x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+ y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or the square of the sums of the numbers (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x+y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  <a:r>
              <a:rPr lang="en-US" sz="2800" baseline="30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r>
          </a:p>
          <a:p>
            <a:endParaRPr lang="en-US" sz="2800" baseline="30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call it </a:t>
            </a: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sumSquareOrSquareSum 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write this using 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lambda functions, and finally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let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7CA7CD-56D3-D901-CD06-2DA69880DB18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561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Starting point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</a:t>
            </a:fld>
            <a:endParaRPr lang="en-US" sz="1400"/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3490" y="2462967"/>
            <a:ext cx="8317735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x^2 + y^2 &gt;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(x + y)^2 </a:t>
            </a:r>
          </a:p>
        </p:txBody>
      </p:sp>
      <p:sp>
        <p:nvSpPr>
          <p:cNvPr id="2" name="Oval Callout 1">
            <a:extLst>
              <a:ext uri="{FF2B5EF4-FFF2-40B4-BE49-F238E27FC236}">
                <a16:creationId xmlns:a16="http://schemas.microsoft.com/office/drawing/2014/main" id="{FF090E0A-9E1B-9544-832F-80F198FC0124}"/>
              </a:ext>
            </a:extLst>
          </p:cNvPr>
          <p:cNvSpPr/>
          <p:nvPr/>
        </p:nvSpPr>
        <p:spPr bwMode="auto">
          <a:xfrm>
            <a:off x="7616329" y="197360"/>
            <a:ext cx="3128791" cy="1341656"/>
          </a:xfrm>
          <a:prstGeom prst="wedgeEllipseCallout">
            <a:avLst>
              <a:gd name="adj1" fmla="val -98845"/>
              <a:gd name="adj2" fmla="val 186747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Repetition of terms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C02F0D-8D80-7C4A-94F3-5FC390EFB945}"/>
              </a:ext>
            </a:extLst>
          </p:cNvPr>
          <p:cNvSpPr txBox="1"/>
          <p:nvPr/>
        </p:nvSpPr>
        <p:spPr>
          <a:xfrm>
            <a:off x="4311268" y="5541485"/>
            <a:ext cx="3453875" cy="523220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do better….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0542B869-EE14-D295-2BBA-D94F7107D27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2290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32472" y="770032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Using </a:t>
            </a:r>
            <a:r>
              <a:rPr lang="en-US" dirty="0"/>
              <a:t>w</a:t>
            </a:r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here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3</a:t>
            </a:fld>
            <a:endParaRPr lang="en-US" sz="1400"/>
          </a:p>
        </p:txBody>
      </p:sp>
      <p:sp>
        <p:nvSpPr>
          <p:cNvPr id="12" name="Text Box 4">
            <a:extLst>
              <a:ext uri="{FF2B5EF4-FFF2-40B4-BE49-F238E27FC236}">
                <a16:creationId xmlns:a16="http://schemas.microsoft.com/office/drawing/2014/main" id="{EB8C70CD-83E8-FA40-933B-BC0602D0B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3180" y="2456205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sumSquareOrSquareSum’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sumSquareOrSquareSum’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where 	sumSquare = x^2 + y^2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3F85D-9296-8049-A84A-BE78CB45E45E}"/>
              </a:ext>
            </a:extLst>
          </p:cNvPr>
          <p:cNvSpPr txBox="1"/>
          <p:nvPr/>
        </p:nvSpPr>
        <p:spPr>
          <a:xfrm>
            <a:off x="3989023" y="5446693"/>
            <a:ext cx="34592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Cleaner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Easier to read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FA02D3-B426-4C12-CEF3-269FDD08F91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3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30829" y="764295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Towards lambda functions</a:t>
            </a:r>
            <a:endParaRPr kumimoji="1" lang="en-US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4</a:t>
            </a:fld>
            <a:endParaRPr lang="en-US" sz="140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ABAC6E61-63C2-F344-90C4-802D3CA436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790" y="2245826"/>
            <a:ext cx="8163324" cy="34163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body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body sumSquare squareSum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else squareSum</a:t>
            </a:r>
          </a:p>
          <a:p>
            <a:br>
              <a:rPr lang="en-IE" sz="2400" dirty="0">
                <a:latin typeface="Lucida Sans Typewriter" panose="020B0509030504030204" pitchFamily="49" charset="77"/>
              </a:rPr>
            </a:br>
            <a:r>
              <a:rPr lang="en-IE" sz="2400" b="1" dirty="0">
                <a:latin typeface="Lucida Sans Typewriter" panose="020B0509030504030204" pitchFamily="49" charset="77"/>
              </a:rPr>
              <a:t>sumSquareOrSquareSum''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body (x^2 + y^2) ((x + y)^2)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5BEB15-7C89-8D4A-BD57-738E6938A911}"/>
              </a:ext>
            </a:extLst>
          </p:cNvPr>
          <p:cNvSpPr txBox="1"/>
          <p:nvPr/>
        </p:nvSpPr>
        <p:spPr>
          <a:xfrm>
            <a:off x="1604790" y="6093705"/>
            <a:ext cx="787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Next, we will rewrite body as a lambda function.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447442F-7088-B2F4-5D61-2FD223C94D6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57473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193800" y="1099979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Using lambda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5</a:t>
            </a:fld>
            <a:endParaRPr lang="en-US" sz="140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341CBCD-8ED9-324F-A71D-B3D0A6121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722" y="3355819"/>
            <a:ext cx="8372820" cy="26776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(\sumSquare squareSum -&gt;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 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	(x^2 + y^2) ((x + y)^2)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836182C4-01EB-3C49-94A8-FCAE7165463B}"/>
              </a:ext>
            </a:extLst>
          </p:cNvPr>
          <p:cNvSpPr/>
          <p:nvPr/>
        </p:nvSpPr>
        <p:spPr bwMode="auto">
          <a:xfrm>
            <a:off x="6856164" y="884838"/>
            <a:ext cx="3734719" cy="1341656"/>
          </a:xfrm>
          <a:prstGeom prst="wedgeEllipseCallout">
            <a:avLst>
              <a:gd name="adj1" fmla="val -80556"/>
              <a:gd name="adj2" fmla="val 180178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Rewrite ‘body as lambda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B424E8-C4D3-9532-B07F-131DADAA16C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124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51123" y="69320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Using let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6</a:t>
            </a:fld>
            <a:endParaRPr lang="en-US" sz="140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B5898C76-B5DC-7745-A18D-BB1A86C92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6202" y="2432004"/>
            <a:ext cx="9011798" cy="304698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sumSquareOrSquareSum''''</a:t>
            </a:r>
            <a:r>
              <a:rPr lang="en-IE" sz="2400" dirty="0">
                <a:latin typeface="Lucida Sans Typewriter" panose="020B0509030504030204" pitchFamily="49" charset="77"/>
              </a:rPr>
              <a:t> :: Int -&gt; 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sumSquareOrSquareSum'''' x y =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let 	sumSquare = (x^2 + y^2)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squareSum = (x + y)^2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in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if sumSquare &gt; squareSum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then sumSquare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			else squareSum</a:t>
            </a:r>
          </a:p>
        </p:txBody>
      </p:sp>
      <p:sp>
        <p:nvSpPr>
          <p:cNvPr id="5" name="Oval Callout 4">
            <a:extLst>
              <a:ext uri="{FF2B5EF4-FFF2-40B4-BE49-F238E27FC236}">
                <a16:creationId xmlns:a16="http://schemas.microsoft.com/office/drawing/2014/main" id="{2F05A6C6-EE15-E04D-9514-EBF61C3BE6A0}"/>
              </a:ext>
            </a:extLst>
          </p:cNvPr>
          <p:cNvSpPr/>
          <p:nvPr/>
        </p:nvSpPr>
        <p:spPr bwMode="auto">
          <a:xfrm>
            <a:off x="6856164" y="389514"/>
            <a:ext cx="3734719" cy="1168539"/>
          </a:xfrm>
          <a:prstGeom prst="wedgeEllipseCallout">
            <a:avLst>
              <a:gd name="adj1" fmla="val -120969"/>
              <a:gd name="adj2" fmla="val 127862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Readability of the where clause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EC56994-8695-7E42-89B7-D257F722EC2C}"/>
              </a:ext>
            </a:extLst>
          </p:cNvPr>
          <p:cNvSpPr/>
          <p:nvPr/>
        </p:nvSpPr>
        <p:spPr bwMode="auto">
          <a:xfrm>
            <a:off x="1524000" y="5692592"/>
            <a:ext cx="4450814" cy="1168539"/>
          </a:xfrm>
          <a:prstGeom prst="wedgeEllipseCallout">
            <a:avLst>
              <a:gd name="adj1" fmla="val 15649"/>
              <a:gd name="adj2" fmla="val -144039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With the power of the lambda function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D6783C-DEB6-D05B-5E7B-F8A7B66BF8F5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2554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03400" y="75322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7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1513115" y="2853019"/>
            <a:ext cx="766773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First class functions are functions that can be passed around like any other values, including as arguments to functions.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37BDC0-5C3E-72B3-5E82-5D32CC2F64C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38579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36076" y="673399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First Class  Functions. example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8</a:t>
            </a:fld>
            <a:endParaRPr lang="en-US" sz="1400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7432" y="2437201"/>
            <a:ext cx="37787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ifEvenInc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ifEvenInc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 + 1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0310" y="2440370"/>
            <a:ext cx="4441633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ifEvenDouble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n*2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4579" y="4782306"/>
            <a:ext cx="4320447" cy="161849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000" b="1" dirty="0">
                <a:latin typeface="Lucida Sans Typewriter" panose="020B0509030504030204" pitchFamily="49" charset="77"/>
              </a:rPr>
              <a:t>ifEvenSquare</a:t>
            </a:r>
            <a:r>
              <a:rPr lang="en-IE" sz="2000" dirty="0">
                <a:latin typeface="Lucida Sans Typewriter" panose="020B0509030504030204" pitchFamily="49" charset="77"/>
              </a:rPr>
              <a:t>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n^2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27A90-69BF-0A44-A058-324534E9EF08}"/>
              </a:ext>
            </a:extLst>
          </p:cNvPr>
          <p:cNvSpPr txBox="1"/>
          <p:nvPr/>
        </p:nvSpPr>
        <p:spPr>
          <a:xfrm>
            <a:off x="7644655" y="5136835"/>
            <a:ext cx="2094431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Only differences</a:t>
            </a: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F41F3F83-7DBB-944B-A5F1-DED1D35CC37E}"/>
              </a:ext>
            </a:extLst>
          </p:cNvPr>
          <p:cNvSpPr/>
          <p:nvPr/>
        </p:nvSpPr>
        <p:spPr bwMode="auto">
          <a:xfrm>
            <a:off x="2202849" y="5542678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EAEFDC0B-7BE6-9D40-889B-2A16A900EE92}"/>
              </a:ext>
            </a:extLst>
          </p:cNvPr>
          <p:cNvSpPr/>
          <p:nvPr/>
        </p:nvSpPr>
        <p:spPr bwMode="auto">
          <a:xfrm>
            <a:off x="2311181" y="3205265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Doughnut 11">
            <a:extLst>
              <a:ext uri="{FF2B5EF4-FFF2-40B4-BE49-F238E27FC236}">
                <a16:creationId xmlns:a16="http://schemas.microsoft.com/office/drawing/2014/main" id="{F0A59CDE-96E5-414E-8A18-127DF2CF886D}"/>
              </a:ext>
            </a:extLst>
          </p:cNvPr>
          <p:cNvSpPr/>
          <p:nvPr/>
        </p:nvSpPr>
        <p:spPr bwMode="auto">
          <a:xfrm>
            <a:off x="6638974" y="3203429"/>
            <a:ext cx="1575412" cy="735747"/>
          </a:xfrm>
          <a:prstGeom prst="donut">
            <a:avLst/>
          </a:prstGeom>
          <a:solidFill>
            <a:schemeClr val="tx2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7638D8-1EFD-B14E-92CD-75D0389B4BC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402810" y="3899972"/>
            <a:ext cx="187287" cy="1145755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5351F8-5861-0342-BA4C-0D6D4BA48C2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820492" y="3743899"/>
            <a:ext cx="3769604" cy="1345894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1E9BE9-A71D-634B-B5AC-653B0615B7F0}"/>
              </a:ext>
            </a:extLst>
          </p:cNvPr>
          <p:cNvCxnSpPr>
            <a:cxnSpLocks/>
          </p:cNvCxnSpPr>
          <p:nvPr/>
        </p:nvCxnSpPr>
        <p:spPr bwMode="auto">
          <a:xfrm flipH="1">
            <a:off x="3734194" y="5155895"/>
            <a:ext cx="3822852" cy="638979"/>
          </a:xfrm>
          <a:prstGeom prst="straightConnector1">
            <a:avLst/>
          </a:prstGeom>
          <a:noFill/>
          <a:ln w="60325" cap="sq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50651B-B13E-DFD4-225A-E0136ED35329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2908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" grpId="0" animBg="1"/>
      <p:bldP spid="5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478009" y="77950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First Class  Functions. Introduce a function as an argument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9</a:t>
            </a:fld>
            <a:endParaRPr lang="en-US" sz="1400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F8FC234-C1D6-514A-9C93-F078D599C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3379" y="2302554"/>
            <a:ext cx="3778786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inc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inc n = n + 1</a:t>
            </a: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DC3291ED-39B4-F048-944F-B6E4CE61D7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1172" y="2360808"/>
            <a:ext cx="4441633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double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double n = n * 2</a:t>
            </a: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212ACBD0-8E06-E649-9BE8-A2863F822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595" y="3546313"/>
            <a:ext cx="4177229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square :: Num a =&gt;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square n = n ^ 2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CC7148B4-ADFE-AE4F-B916-8D5190D2A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155" y="4702049"/>
            <a:ext cx="7131586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ifEven :: Integral a =&gt; (a-&gt;a) -&gt; a -&gt; a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ifEven f n =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if even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then f n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else 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EF7B65-25D2-AD45-8039-B9C66DD0FDB7}"/>
              </a:ext>
            </a:extLst>
          </p:cNvPr>
          <p:cNvCxnSpPr/>
          <p:nvPr/>
        </p:nvCxnSpPr>
        <p:spPr bwMode="auto">
          <a:xfrm flipH="1">
            <a:off x="3409634" y="5000260"/>
            <a:ext cx="980501" cy="495759"/>
          </a:xfrm>
          <a:prstGeom prst="straightConnector1">
            <a:avLst/>
          </a:prstGeom>
          <a:noFill/>
          <a:ln w="31750" cap="sq" cmpd="sng" algn="ctr">
            <a:solidFill>
              <a:schemeClr val="accent4"/>
            </a:solidFill>
            <a:prstDash val="solid"/>
            <a:round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Oval Callout 12">
            <a:extLst>
              <a:ext uri="{FF2B5EF4-FFF2-40B4-BE49-F238E27FC236}">
                <a16:creationId xmlns:a16="http://schemas.microsoft.com/office/drawing/2014/main" id="{892D764C-B9A7-9547-A442-E775588B7D5D}"/>
              </a:ext>
            </a:extLst>
          </p:cNvPr>
          <p:cNvSpPr/>
          <p:nvPr/>
        </p:nvSpPr>
        <p:spPr bwMode="auto">
          <a:xfrm>
            <a:off x="9490244" y="4916803"/>
            <a:ext cx="2985571" cy="995422"/>
          </a:xfrm>
          <a:prstGeom prst="wedgeEllipseCallout">
            <a:avLst>
              <a:gd name="adj1" fmla="val -216886"/>
              <a:gd name="adj2" fmla="val -39005"/>
            </a:avLst>
          </a:prstGeom>
          <a:solidFill>
            <a:schemeClr val="accent4"/>
          </a:solidFill>
          <a:ln w="12700" cap="sq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even only works on integers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006C59-1D03-0977-C478-4B270E4B2F1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2442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6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56844" y="75322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First Class  Functions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10</a:t>
            </a:fld>
            <a:endParaRPr lang="en-US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62DEA8-0829-7C45-AFA4-13DD674DB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68" y="2876253"/>
            <a:ext cx="5158703" cy="36769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B58F6-0579-2D47-BAFA-E7C58617856D}"/>
              </a:ext>
            </a:extLst>
          </p:cNvPr>
          <p:cNvSpPr txBox="1"/>
          <p:nvPr/>
        </p:nvSpPr>
        <p:spPr>
          <a:xfrm>
            <a:off x="1553029" y="2127336"/>
            <a:ext cx="62758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call these functions thus: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E244C3D-D1A3-CEFE-C175-92D4980A0DD6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448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722606" y="75322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Using lambdas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11</a:t>
            </a:fld>
            <a:endParaRPr lang="en-US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A53C3DF-7C99-9E43-8978-2A527B010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13" y="2601569"/>
            <a:ext cx="8594387" cy="2875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9FB05B-08AA-8F42-BC06-C50189F44108}"/>
              </a:ext>
            </a:extLst>
          </p:cNvPr>
          <p:cNvSpPr txBox="1"/>
          <p:nvPr/>
        </p:nvSpPr>
        <p:spPr>
          <a:xfrm>
            <a:off x="2230479" y="5877580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etc.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93480DB-59AB-DE5F-4A29-9542EF9F4B1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3478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48150" y="753228"/>
            <a:ext cx="7772400" cy="6858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Example – sorting 1/3</a:t>
            </a:r>
            <a:endParaRPr kumimoji="1" lang="en-US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12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933D-FCA9-F24D-B189-487D89336AD2}"/>
              </a:ext>
            </a:extLst>
          </p:cNvPr>
          <p:cNvSpPr txBox="1"/>
          <p:nvPr/>
        </p:nvSpPr>
        <p:spPr>
          <a:xfrm>
            <a:off x="2052811" y="2539611"/>
            <a:ext cx="766773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this sorting example we use: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built in functions and also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pass functions into other (sortBy)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A788EF-DC34-5F4F-B73F-6A85294739DE}"/>
              </a:ext>
            </a:extLst>
          </p:cNvPr>
          <p:cNvSpPr txBox="1"/>
          <p:nvPr/>
        </p:nvSpPr>
        <p:spPr>
          <a:xfrm>
            <a:off x="2052811" y="4458831"/>
            <a:ext cx="7772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use: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Pairs/Tuples (fst and snd return the first and second element of the tuples respectively)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Form (“firstname”, “lastname”)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D9F8020-C330-78EF-A625-ED7C55835F3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539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13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7378" y="653928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/>
              <a:t>Example – sorting 2/3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7572" y="2419217"/>
            <a:ext cx="8558028" cy="28623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names :: [(String, String)]</a:t>
            </a:r>
          </a:p>
          <a:p>
            <a:r>
              <a:rPr lang="en-IE" dirty="0"/>
              <a:t>names = [	("Hugo", "Keenan"),</a:t>
            </a:r>
          </a:p>
          <a:p>
            <a:r>
              <a:rPr lang="en-IE" dirty="0"/>
              <a:t>               	("Mack", "Hansen"),</a:t>
            </a:r>
          </a:p>
          <a:p>
            <a:r>
              <a:rPr lang="en-IE" dirty="0"/>
              <a:t>               	("James", "Lowe"),</a:t>
            </a:r>
          </a:p>
          <a:p>
            <a:r>
              <a:rPr lang="en-IE" dirty="0"/>
              <a:t>			("</a:t>
            </a:r>
            <a:r>
              <a:rPr lang="en-IE" dirty="0" err="1"/>
              <a:t>Bundee</a:t>
            </a:r>
            <a:r>
              <a:rPr lang="en-IE" dirty="0"/>
              <a:t>", "Aki"),</a:t>
            </a:r>
          </a:p>
          <a:p>
            <a:r>
              <a:rPr lang="en-IE" dirty="0"/>
              <a:t>			("Robbie", "Henshaw"),</a:t>
            </a:r>
          </a:p>
          <a:p>
            <a:r>
              <a:rPr lang="en-IE" dirty="0"/>
              <a:t>			("Sam", "Prendergast"),</a:t>
            </a:r>
          </a:p>
          <a:p>
            <a:r>
              <a:rPr lang="en-IE" dirty="0"/>
              <a:t>			("Dan", "Sheehan"),</a:t>
            </a:r>
          </a:p>
          <a:p>
            <a:r>
              <a:rPr lang="en-IE" dirty="0"/>
              <a:t>			("Jack ", "Crowley") ,</a:t>
            </a:r>
          </a:p>
          <a:p>
            <a:r>
              <a:rPr lang="en-IE" dirty="0"/>
              <a:t>			("</a:t>
            </a:r>
            <a:r>
              <a:rPr lang="en-IE" dirty="0" err="1"/>
              <a:t>Caelan</a:t>
            </a:r>
            <a:r>
              <a:rPr lang="en-IE" dirty="0"/>
              <a:t>", "Doris").  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265279" y="5805970"/>
            <a:ext cx="242371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Called as </a:t>
            </a:r>
          </a:p>
        </p:txBody>
      </p:sp>
      <p:sp>
        <p:nvSpPr>
          <p:cNvPr id="11" name="Oval Callout 10">
            <a:extLst>
              <a:ext uri="{FF2B5EF4-FFF2-40B4-BE49-F238E27FC236}">
                <a16:creationId xmlns:a16="http://schemas.microsoft.com/office/drawing/2014/main" id="{12FCD44A-58C3-EE49-8172-74E42FB40438}"/>
              </a:ext>
            </a:extLst>
          </p:cNvPr>
          <p:cNvSpPr/>
          <p:nvPr/>
        </p:nvSpPr>
        <p:spPr bwMode="auto">
          <a:xfrm>
            <a:off x="8156154" y="3603670"/>
            <a:ext cx="1972019" cy="1861006"/>
          </a:xfrm>
          <a:prstGeom prst="wedgeEllipseCallout">
            <a:avLst>
              <a:gd name="adj1" fmla="val -310218"/>
              <a:gd name="adj2" fmla="val 77300"/>
            </a:avLst>
          </a:prstGeom>
          <a:solidFill>
            <a:schemeClr val="accent4"/>
          </a:solidFill>
          <a:ln w="12700" cap="sq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Default</a:t>
            </a:r>
            <a:r>
              <a:rPr lang="en-US" sz="2000" dirty="0">
                <a:solidFill>
                  <a:schemeClr val="accent4"/>
                </a:solidFill>
              </a:rPr>
              <a:t> </a:t>
            </a:r>
            <a:r>
              <a:rPr lang="en-US" sz="2000" dirty="0"/>
              <a:t>sort is on first element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B4EA69-C1DE-D345-74D9-AF8AB0FD705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13</a:t>
            </a:fld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75D97-9255-BF76-C428-035837155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739" y="5989107"/>
            <a:ext cx="9802290" cy="56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764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14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444153-9164-AB4A-B01A-E796514A8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3870" y="87443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/>
              <a:t>Example – sorting 3/3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18A86399-6C75-CF4A-9B78-67ED835DFA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688" y="1921388"/>
            <a:ext cx="11007600" cy="37856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dirty="0">
                <a:latin typeface="Lucida Sans Typewriter" panose="020B0509030504030204" pitchFamily="49" charset="77"/>
              </a:rPr>
              <a:t>import </a:t>
            </a:r>
            <a:r>
              <a:rPr lang="en-IE" sz="2000" b="1" dirty="0">
                <a:latin typeface="Lucida Sans Typewriter" panose="020B0509030504030204" pitchFamily="49" charset="77"/>
              </a:rPr>
              <a:t>Data.List</a:t>
            </a:r>
            <a:r>
              <a:rPr lang="en-IE" sz="2000" dirty="0">
                <a:latin typeface="Lucida Sans Typewriter" panose="020B0509030504030204" pitchFamily="49" charset="77"/>
              </a:rPr>
              <a:t> ( </a:t>
            </a:r>
            <a:r>
              <a:rPr lang="en-IE" sz="2000" b="1" dirty="0">
                <a:latin typeface="Lucida Sans Typewriter" panose="020B0509030504030204" pitchFamily="49" charset="77"/>
              </a:rPr>
              <a:t>sort, sortBy</a:t>
            </a:r>
            <a:r>
              <a:rPr lang="en-IE" sz="2000" dirty="0">
                <a:latin typeface="Lucida Sans Typewriter" panose="020B0509030504030204" pitchFamily="49" charset="77"/>
              </a:rPr>
              <a:t> )</a:t>
            </a:r>
          </a:p>
          <a:p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names :: [(String, String)]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names = “as before”</a:t>
            </a:r>
          </a:p>
          <a:p>
            <a:endParaRPr lang="en-IE" sz="2000" dirty="0">
              <a:latin typeface="Lucida Sans Typewriter" panose="020B0509030504030204" pitchFamily="49" charset="77"/>
            </a:endParaRPr>
          </a:p>
          <a:p>
            <a:r>
              <a:rPr lang="en-IE" sz="2000" dirty="0">
                <a:latin typeface="Lucida Sans Typewriter" panose="020B0509030504030204" pitchFamily="49" charset="77"/>
              </a:rPr>
              <a:t>compareLastNames :: Ord a =&gt; (a, a) -&gt; (a, a) -&gt; Ordering</a:t>
            </a:r>
            <a:br>
              <a:rPr lang="en-IE" sz="2000" dirty="0">
                <a:latin typeface="Lucida Sans Typewriter" panose="020B0509030504030204" pitchFamily="49" charset="77"/>
              </a:rPr>
            </a:br>
            <a:r>
              <a:rPr lang="en-IE" sz="2000" dirty="0">
                <a:latin typeface="Lucida Sans Typewriter" panose="020B0509030504030204" pitchFamily="49" charset="77"/>
              </a:rPr>
              <a:t>compareLastNames name1 name2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&gt; lastName2 = GT 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lastName1 &lt; lastName2 = LT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| otherwise = EQ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where lastName1 = snd name1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       lastName2 = </a:t>
            </a:r>
            <a:r>
              <a:rPr lang="en-IE" sz="2000" dirty="0" err="1">
                <a:latin typeface="Lucida Sans Typewriter" panose="020B0509030504030204" pitchFamily="49" charset="77"/>
              </a:rPr>
              <a:t>snd</a:t>
            </a:r>
            <a:r>
              <a:rPr lang="en-IE" sz="2000" dirty="0">
                <a:latin typeface="Lucida Sans Typewriter" panose="020B0509030504030204" pitchFamily="49" charset="77"/>
              </a:rPr>
              <a:t> name2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7622E4-7E79-9E4F-8774-4790969EB92E}"/>
              </a:ext>
            </a:extLst>
          </p:cNvPr>
          <p:cNvSpPr txBox="1"/>
          <p:nvPr/>
        </p:nvSpPr>
        <p:spPr>
          <a:xfrm>
            <a:off x="0" y="5544973"/>
            <a:ext cx="2423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Called as 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6A33A1F-9E5D-EF91-441A-B3C3C5B9B60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14</a:t>
            </a:fld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E6F90F-01D1-4D47-59B8-3A20B5244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64" y="5857266"/>
            <a:ext cx="11401612" cy="84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80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571171" y="99336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15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B18FF-A2D2-164B-AA1D-379ED9A726CA}"/>
              </a:ext>
            </a:extLst>
          </p:cNvPr>
          <p:cNvSpPr txBox="1"/>
          <p:nvPr/>
        </p:nvSpPr>
        <p:spPr>
          <a:xfrm>
            <a:off x="563521" y="1999648"/>
            <a:ext cx="9742714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Problem: We want to write an address generating function. </a:t>
            </a: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function is to take names and addresses from the three different SETU campuses: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Waterford Campus ,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 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Wexford Campus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with slightly different rules for different colleges.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wish to structure a solution that generalises as much as possible, but also allows for differences. </a:t>
            </a:r>
          </a:p>
          <a:p>
            <a:endParaRPr kumimoji="1"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kumimoji="1"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pass functions into other functions to help! 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C60E75-DDCB-41D0-7DB7-8D341A53D6F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02653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68737" y="51320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16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869963" y="2072899"/>
            <a:ext cx="9859494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(Waterford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Staff are allocated offices based (only) on their last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name, i.e.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 “L” – they are in the “Lower Floor, Main Building”,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otherwise, they are in the “Middle Floor, Science Building”. 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remaining part of the address is 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”SETU, Cork Road, Waterford, Ireland, X91 K0EK."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ED62334A-0099-405A-4A0C-DDCD3BA47CC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46643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68737" y="513203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17</a:t>
            </a:fld>
            <a:endParaRPr 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78A5F4-EA86-E64A-8190-A283A54AC25A}"/>
              </a:ext>
            </a:extLst>
          </p:cNvPr>
          <p:cNvSpPr txBox="1"/>
          <p:nvPr/>
        </p:nvSpPr>
        <p:spPr>
          <a:xfrm>
            <a:off x="1414532" y="2456100"/>
            <a:ext cx="791011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“Adam Able” from SETU (Waterford)  would be given the address :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“Adam Able , Lower Floor, Main Building,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SETU, Cork Road, Waterford, Ireland, X91 K0EK."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4B28FD-334A-4C43-B04E-F8D072C6E3DB}"/>
              </a:ext>
            </a:extLst>
          </p:cNvPr>
          <p:cNvSpPr txBox="1"/>
          <p:nvPr/>
        </p:nvSpPr>
        <p:spPr>
          <a:xfrm>
            <a:off x="1529337" y="4670367"/>
            <a:ext cx="791011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“Sean Stack” from SETU (Waterford) would be given the address :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“Sean Stack , Middle Floor, Science Building,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SETU, Cork Road, Waterford, Ireland, X91 K0EK."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ED62334A-0099-405A-4A0C-DDCD3BA47CC7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38022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18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1821458" y="1564199"/>
            <a:ext cx="767184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SETU (</a:t>
            </a:r>
            <a:r>
              <a:rPr lang="en-US" b="1" dirty="0" err="1"/>
              <a:t>Carlow</a:t>
            </a:r>
            <a:r>
              <a:rPr lang="en-US" b="1" dirty="0"/>
              <a:t> Campus):</a:t>
            </a:r>
          </a:p>
          <a:p>
            <a:endParaRPr lang="en-US" dirty="0"/>
          </a:p>
          <a:p>
            <a:r>
              <a:rPr lang="en-US" dirty="0"/>
              <a:t>All staff SETU (</a:t>
            </a:r>
            <a:r>
              <a:rPr lang="en-US" dirty="0" err="1"/>
              <a:t>Carlow</a:t>
            </a:r>
            <a:r>
              <a:rPr lang="en-US" dirty="0"/>
              <a:t> Campus)  have the </a:t>
            </a:r>
          </a:p>
          <a:p>
            <a:r>
              <a:rPr lang="en-US" dirty="0"/>
              <a:t>same address:</a:t>
            </a:r>
          </a:p>
          <a:p>
            <a:endParaRPr lang="en-US" dirty="0"/>
          </a:p>
          <a:p>
            <a:r>
              <a:rPr lang="en-IE" dirty="0"/>
              <a:t>"SETU (Carlow Campus), Dublin Road, Carlow, </a:t>
            </a:r>
          </a:p>
          <a:p>
            <a:r>
              <a:rPr lang="en-IE" dirty="0"/>
              <a:t>Ireland, R93 V960."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78A5F4-EA86-E64A-8190-A283A54AC25A}"/>
              </a:ext>
            </a:extLst>
          </p:cNvPr>
          <p:cNvSpPr txBox="1"/>
          <p:nvPr/>
        </p:nvSpPr>
        <p:spPr>
          <a:xfrm>
            <a:off x="1821458" y="4979625"/>
            <a:ext cx="7910111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e.g. “Adam Able” from SETU (</a:t>
            </a:r>
            <a:r>
              <a:rPr lang="en-US" sz="2400" dirty="0" err="1"/>
              <a:t>Carlow</a:t>
            </a:r>
            <a:r>
              <a:rPr lang="en-US" sz="2400" dirty="0"/>
              <a:t>)  would be given the address : </a:t>
            </a:r>
          </a:p>
          <a:p>
            <a:r>
              <a:rPr lang="en-US" sz="2400" dirty="0"/>
              <a:t>“Adam Able , </a:t>
            </a:r>
            <a:r>
              <a:rPr lang="en-IE" sz="2400" dirty="0"/>
              <a:t>SETU, Dublin Road, Carlow, Ireland, R93 V960."</a:t>
            </a:r>
          </a:p>
          <a:p>
            <a:endParaRPr lang="en-IE" sz="2000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9DDA6D3-0A94-5AE5-08B7-B29DF8D43F9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6837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19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1821458" y="2188314"/>
            <a:ext cx="7671844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</a:t>
            </a:r>
            <a:r>
              <a:rPr lang="en-US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lang="en-US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staff SETU (</a:t>
            </a:r>
            <a:r>
              <a:rPr lang="en-US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Carlow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Campus)  have the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same address: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"SETU (Carlow Campus), Dublin Road, Carlow, 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Ireland, R93 V960."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19DDA6D3-0A94-5AE5-08B7-B29DF8D43F9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19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6293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5000" y="381000"/>
            <a:ext cx="7727414" cy="610518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kumimoji="1" lang="en-US" dirty="0">
                <a:latin typeface="+mj-lt"/>
                <a:ea typeface="+mj-ea"/>
                <a:cs typeface="ＭＳ Ｐゴシック" pitchFamily="-1" charset="-128"/>
              </a:rPr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20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2EF2E-598D-F141-AAEB-286DCB22A59D}"/>
              </a:ext>
            </a:extLst>
          </p:cNvPr>
          <p:cNvSpPr txBox="1"/>
          <p:nvPr/>
        </p:nvSpPr>
        <p:spPr>
          <a:xfrm>
            <a:off x="1400628" y="1878375"/>
            <a:ext cx="939074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SETU (Wexford Campus):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staff in the Wexford Campus have the same address: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"SETU (Wexford Campus), Summerhill Rd,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Townparks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Wexford, Y35 KA07."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the address, however, the last name is before the first name.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78A5F4-EA86-E64A-8190-A283A54AC25A}"/>
              </a:ext>
            </a:extLst>
          </p:cNvPr>
          <p:cNvSpPr txBox="1"/>
          <p:nvPr/>
        </p:nvSpPr>
        <p:spPr>
          <a:xfrm>
            <a:off x="3679546" y="5288340"/>
            <a:ext cx="79101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e.g. “Adam Able” from SETU (Wexford Campus)  would be given the address : </a:t>
            </a:r>
          </a:p>
          <a:p>
            <a:r>
              <a:rPr lang="en-US" sz="2400" dirty="0"/>
              <a:t>“Able, Adam, </a:t>
            </a:r>
            <a:r>
              <a:rPr lang="en-IE" sz="2400" dirty="0"/>
              <a:t>SETU (Wexford Campus), Summerhill Rd, </a:t>
            </a:r>
            <a:r>
              <a:rPr lang="en-IE" sz="2400" dirty="0" err="1"/>
              <a:t>Townparks</a:t>
            </a:r>
            <a:r>
              <a:rPr lang="en-IE" sz="2400" dirty="0"/>
              <a:t>, Wexford, Y35 KA07.”</a:t>
            </a:r>
            <a:endParaRPr lang="en-IE" sz="2000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CAB06F0-C881-A947-A62A-4952E09591CE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3441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21</a:t>
            </a:fld>
            <a:endParaRPr lang="en-US" sz="140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76871" y="4380656"/>
            <a:ext cx="5023691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dirty="0"/>
              <a:t>type Name = (String, String)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CDC471-68F6-AA48-BC03-410C3B4E6CF2}"/>
              </a:ext>
            </a:extLst>
          </p:cNvPr>
          <p:cNvSpPr txBox="1"/>
          <p:nvPr/>
        </p:nvSpPr>
        <p:spPr>
          <a:xfrm>
            <a:off x="1760599" y="1884947"/>
            <a:ext cx="7678757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few notes: </a:t>
            </a:r>
          </a:p>
          <a:p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use the (“Tom”, “Hanks”) structure to model a name  and use a type synonym Name to encapsulate this structure.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27671-5756-5F47-BCD1-4B40C8780618}"/>
              </a:ext>
            </a:extLst>
          </p:cNvPr>
          <p:cNvSpPr txBox="1"/>
          <p:nvPr/>
        </p:nvSpPr>
        <p:spPr>
          <a:xfrm>
            <a:off x="1760599" y="5049941"/>
            <a:ext cx="78420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When we write a function, we write the arguments in the order (left to right) from most general to least general. This allows maximum reuse of these functions. 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0160D67-4ADB-4A40-9486-A20885D9BB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7371" y="910202"/>
            <a:ext cx="7727414" cy="6105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 fontScale="97500" lnSpcReduction="10000"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kern="0" dirty="0"/>
              <a:t>Example – structuring a solution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923C15E-AB9F-CCA9-2CB7-D96F88AEAD1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345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90485" y="798273"/>
            <a:ext cx="7892667" cy="500349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22</a:t>
            </a:fld>
            <a:endParaRPr 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CDC471-68F6-AA48-BC03-410C3B4E6CF2}"/>
              </a:ext>
            </a:extLst>
          </p:cNvPr>
          <p:cNvSpPr txBox="1"/>
          <p:nvPr/>
        </p:nvSpPr>
        <p:spPr>
          <a:xfrm>
            <a:off x="884162" y="2027687"/>
            <a:ext cx="9326638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Each location needs a different address structure. To calculate the full (String) address we need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location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name (not so obvious but in case of SETU ( Waterford Campus) , the address depends also on name)</a:t>
            </a:r>
          </a:p>
          <a:p>
            <a:endParaRPr lang="en-US" dirty="0"/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will use the following ‘key’s to indicate the locations: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WatSETU</a:t>
            </a:r>
            <a:r>
              <a:rPr lang="en-US" sz="2400" dirty="0"/>
              <a:t>”,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“</a:t>
            </a:r>
            <a:r>
              <a:rPr lang="en-US" sz="2400" dirty="0" err="1"/>
              <a:t>CarSETU</a:t>
            </a:r>
            <a:r>
              <a:rPr lang="en-US" sz="2400" dirty="0"/>
              <a:t>” and 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400" dirty="0"/>
              <a:t>“</a:t>
            </a:r>
            <a:r>
              <a:rPr lang="en-US" sz="2400" dirty="0" err="1"/>
              <a:t>WexSETU</a:t>
            </a:r>
            <a:r>
              <a:rPr lang="en-US" sz="2400" dirty="0"/>
              <a:t>”   </a:t>
            </a:r>
          </a:p>
          <a:p>
            <a:r>
              <a:rPr lang="en-US" dirty="0"/>
              <a:t> </a:t>
            </a:r>
          </a:p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(depending on the key, we will call a different function) </a:t>
            </a:r>
          </a:p>
          <a:p>
            <a:endParaRPr lang="en-US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1BFF7A5-7525-DA5D-C30E-6359E20F6422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58523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04999" y="381000"/>
            <a:ext cx="7916333" cy="668867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Example – structuring a solution</a:t>
            </a:r>
            <a:endParaRPr kumimoji="1" lang="en-US" dirty="0">
              <a:latin typeface="+mj-lt"/>
              <a:ea typeface="+mj-ea"/>
              <a:cs typeface="ＭＳ Ｐゴシック" pitchFamily="-1" charset="-128"/>
            </a:endParaRP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23</a:t>
            </a:fld>
            <a:endParaRPr lang="en-US" sz="140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9867" y="2137219"/>
            <a:ext cx="10549465" cy="9541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addressLetter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:: Name -&gt; String -&gt; String</a:t>
            </a: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addressLetter name location = getLocation location name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53197C-03A4-1842-B108-FA95B27076DC}"/>
              </a:ext>
            </a:extLst>
          </p:cNvPr>
          <p:cNvSpPr txBox="1"/>
          <p:nvPr/>
        </p:nvSpPr>
        <p:spPr>
          <a:xfrm>
            <a:off x="1540933" y="1083733"/>
            <a:ext cx="4013200" cy="524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Top-down approach: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63AD42-EC51-1345-863F-776068BCEE98}"/>
              </a:ext>
            </a:extLst>
          </p:cNvPr>
          <p:cNvSpPr txBox="1"/>
          <p:nvPr/>
        </p:nvSpPr>
        <p:spPr>
          <a:xfrm>
            <a:off x="1049867" y="3429000"/>
            <a:ext cx="504613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 of running addressLetter: 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5EE112-884F-9AFF-9B79-80EDAF0B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57" y="4359342"/>
            <a:ext cx="10276114" cy="2190536"/>
          </a:xfrm>
          <a:prstGeom prst="rect">
            <a:avLst/>
          </a:prstGeom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850937A3-E4C7-BC1D-1DE4-81743C267DB1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7598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03399" y="646688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24</a:t>
            </a:fld>
            <a:endParaRPr lang="en-US" sz="140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54779"/>
            <a:ext cx="12310533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 err="1"/>
              <a:t>getLocation</a:t>
            </a:r>
            <a:r>
              <a:rPr lang="en-IE" sz="2400" dirty="0"/>
              <a:t> :: String -&gt; (Name -&gt; String)</a:t>
            </a:r>
          </a:p>
          <a:p>
            <a:r>
              <a:rPr lang="en-IE" sz="2400" dirty="0" err="1"/>
              <a:t>getLocation</a:t>
            </a:r>
            <a:r>
              <a:rPr lang="en-IE" sz="2400" dirty="0"/>
              <a:t> location   = case location  of </a:t>
            </a:r>
          </a:p>
          <a:p>
            <a:r>
              <a:rPr lang="en-IE" sz="2400" dirty="0"/>
              <a:t>        "Wat(SETU)" -&gt; </a:t>
            </a:r>
            <a:r>
              <a:rPr lang="en-IE" sz="2400" dirty="0" err="1"/>
              <a:t>watOffice</a:t>
            </a:r>
            <a:r>
              <a:rPr lang="en-IE" sz="2400" dirty="0"/>
              <a:t> </a:t>
            </a:r>
          </a:p>
          <a:p>
            <a:r>
              <a:rPr lang="en-IE" sz="2400" dirty="0"/>
              <a:t>        "Car(SETU)" -&gt; </a:t>
            </a:r>
            <a:r>
              <a:rPr lang="en-IE" sz="2400" dirty="0" err="1"/>
              <a:t>carOffice</a:t>
            </a:r>
            <a:endParaRPr lang="en-IE" sz="2400" dirty="0"/>
          </a:p>
          <a:p>
            <a:r>
              <a:rPr lang="en-IE" sz="2400" dirty="0"/>
              <a:t>        "</a:t>
            </a:r>
            <a:r>
              <a:rPr lang="en-IE" sz="2400" dirty="0" err="1"/>
              <a:t>Wex</a:t>
            </a:r>
            <a:r>
              <a:rPr lang="en-IE" sz="2400" dirty="0"/>
              <a:t>(SETU)" -&gt; </a:t>
            </a:r>
            <a:r>
              <a:rPr lang="en-IE" sz="2400" dirty="0" err="1"/>
              <a:t>wexOffice</a:t>
            </a:r>
            <a:r>
              <a:rPr lang="en-IE" sz="2400" dirty="0"/>
              <a:t> </a:t>
            </a:r>
          </a:p>
          <a:p>
            <a:r>
              <a:rPr lang="en-IE" sz="2400" dirty="0"/>
              <a:t>                _     -&gt; (\name -&gt; </a:t>
            </a:r>
            <a:r>
              <a:rPr lang="en-IE" sz="2400" dirty="0" err="1"/>
              <a:t>fst</a:t>
            </a:r>
            <a:r>
              <a:rPr lang="en-IE" sz="2400" dirty="0"/>
              <a:t> name ++ "  " ++ </a:t>
            </a:r>
            <a:r>
              <a:rPr lang="en-IE" sz="2400" dirty="0" err="1"/>
              <a:t>snd</a:t>
            </a:r>
            <a:r>
              <a:rPr lang="en-IE" sz="2400" dirty="0"/>
              <a:t> name ++ ": Address unknown" )</a:t>
            </a:r>
          </a:p>
        </p:txBody>
      </p:sp>
      <p:sp>
        <p:nvSpPr>
          <p:cNvPr id="2" name="Oval Callout 1">
            <a:extLst>
              <a:ext uri="{FF2B5EF4-FFF2-40B4-BE49-F238E27FC236}">
                <a16:creationId xmlns:a16="http://schemas.microsoft.com/office/drawing/2014/main" id="{D743BF5C-DA38-0647-9D05-1E89E5BEA474}"/>
              </a:ext>
            </a:extLst>
          </p:cNvPr>
          <p:cNvSpPr/>
          <p:nvPr/>
        </p:nvSpPr>
        <p:spPr bwMode="auto">
          <a:xfrm>
            <a:off x="8703733" y="1491420"/>
            <a:ext cx="3488267" cy="2207240"/>
          </a:xfrm>
          <a:prstGeom prst="wedgeEllipseCallout">
            <a:avLst>
              <a:gd name="adj1" fmla="val -139046"/>
              <a:gd name="adj2" fmla="val 13637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chemeClr val="bg2"/>
                </a:solidFill>
              </a:rPr>
              <a:t>Returns the appropriate String producing function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12" name="Oval Callout 11">
            <a:extLst>
              <a:ext uri="{FF2B5EF4-FFF2-40B4-BE49-F238E27FC236}">
                <a16:creationId xmlns:a16="http://schemas.microsoft.com/office/drawing/2014/main" id="{F525B222-40A4-4242-82B2-6B758A723F8A}"/>
              </a:ext>
            </a:extLst>
          </p:cNvPr>
          <p:cNvSpPr/>
          <p:nvPr/>
        </p:nvSpPr>
        <p:spPr bwMode="auto">
          <a:xfrm>
            <a:off x="7298268" y="5170110"/>
            <a:ext cx="5029200" cy="1687890"/>
          </a:xfrm>
          <a:prstGeom prst="wedgeEllipseCallout">
            <a:avLst>
              <a:gd name="adj1" fmla="val -129715"/>
              <a:gd name="adj2" fmla="val -58386"/>
            </a:avLst>
          </a:prstGeom>
          <a:solidFill>
            <a:schemeClr val="accent4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chemeClr val="bg2"/>
                </a:solidFill>
              </a:rPr>
              <a:t>Uses lambda function, expecting another argument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ACE25CE1-45B6-9CF6-02AC-BFB7A364AF14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7936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92299" y="753228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25</a:t>
            </a:fld>
            <a:endParaRPr lang="en-US" sz="140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139226"/>
            <a:ext cx="12310533" cy="35394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watOffice</a:t>
            </a:r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if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lastName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&lt; "L"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then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Lower Floor, Main Building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else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Top Floor, Main Building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 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lastName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DA8EB7-4133-6AFA-4D75-1031DDFA509C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74140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92299" y="646688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26</a:t>
            </a:fld>
            <a:endParaRPr lang="en-US" sz="140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56F0988-5661-924F-AE61-BF33457C6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9480" y="4584918"/>
            <a:ext cx="9547980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wexOffice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",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A17250F-3C45-F040-9DA4-3EA553135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9480" y="2120602"/>
            <a:ext cx="9275838" cy="181588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carOffice</a:t>
            </a:r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:: Name -&gt; String</a:t>
            </a:r>
          </a:p>
          <a:p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=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++ ",  " ++ 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endParaRPr lang="en-IE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where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nametext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fst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 ++ "  " ++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snd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7DC481-25F5-EE22-0C31-F896C766254D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198287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92299" y="677586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– structuring a solution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27</a:t>
            </a:fld>
            <a:endParaRPr lang="en-US" sz="1400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A17250F-3C45-F040-9DA4-3EA553135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189" y="2151995"/>
            <a:ext cx="11432419" cy="440120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data  Location =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|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IE" sz="2800" b="1" dirty="0">
                <a:latin typeface="Arial" panose="020B0604020202020204" pitchFamily="34" charset="0"/>
                <a:cs typeface="Arial" panose="020B0604020202020204" pitchFamily="34" charset="0"/>
              </a:rPr>
              <a:t>office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:: Location -&gt; String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WatSETU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"SETU (Waterford Campus), Cork Road, Waterford, Ireland, X91 K0EK."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CarSETU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= "SETU (Carlow Campus), Dublin Road, Carlow, Ireland, R93 V960."</a:t>
            </a:r>
          </a:p>
          <a:p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office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WexSETU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 = "SETU (Wexford Campus), Summerhill Rd, </a:t>
            </a:r>
            <a:r>
              <a:rPr lang="en-IE" sz="2800" dirty="0" err="1">
                <a:latin typeface="Arial" panose="020B0604020202020204" pitchFamily="34" charset="0"/>
                <a:cs typeface="Arial" panose="020B0604020202020204" pitchFamily="34" charset="0"/>
              </a:rPr>
              <a:t>Townparks</a:t>
            </a:r>
            <a:r>
              <a:rPr lang="en-IE" sz="2800" dirty="0">
                <a:latin typeface="Arial" panose="020B0604020202020204" pitchFamily="34" charset="0"/>
                <a:cs typeface="Arial" panose="020B0604020202020204" pitchFamily="34" charset="0"/>
              </a:rPr>
              <a:t>, Wexford, Y35 KA07."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71B445-8F82-7042-C930-D30A2F882425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92138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614713" y="972655"/>
            <a:ext cx="8407401" cy="651934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– Overall solution 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  <a:defRPr/>
            </a:pPr>
            <a:fld id="{22DBF1FA-C6C4-7A46-BC08-C9A71A940756}" type="slidenum">
              <a:rPr lang="en-US" sz="1400"/>
              <a:pPr>
                <a:spcAft>
                  <a:spcPts val="600"/>
                </a:spcAft>
                <a:defRPr/>
              </a:pPr>
              <a:t>28</a:t>
            </a:fld>
            <a:endParaRPr 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15BB9E-00B9-1741-A1EB-E5BCAFA85D89}"/>
              </a:ext>
            </a:extLst>
          </p:cNvPr>
          <p:cNvSpPr txBox="1"/>
          <p:nvPr/>
        </p:nvSpPr>
        <p:spPr>
          <a:xfrm>
            <a:off x="1248228" y="3429000"/>
            <a:ext cx="76538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full text of the solution is available in the associated lab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6DD4B9D-037A-49F8-C612-842F04878263}"/>
              </a:ext>
            </a:extLst>
          </p:cNvPr>
          <p:cNvSpPr txBox="1">
            <a:spLocks/>
          </p:cNvSpPr>
          <p:nvPr/>
        </p:nvSpPr>
        <p:spPr>
          <a:xfrm>
            <a:off x="10729457" y="753228"/>
            <a:ext cx="1154151" cy="10907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2pPr>
            <a:lvl3pPr marL="11430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3pPr>
            <a:lvl4pPr marL="16002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4pPr>
            <a:lvl5pPr marL="2057400" indent="-228600" algn="l" defTabSz="457200" rtl="0" eaLnBrk="1" latinLnBrk="0" hangingPunct="1"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5pPr>
            <a:lvl6pPr marL="25146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6pPr>
            <a:lvl7pPr marL="29718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7pPr>
            <a:lvl8pPr marL="34290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8pPr>
            <a:lvl9pPr marL="3886200" indent="-228600" algn="l" defTabSz="457200" rtl="0" eaLnBrk="0" fontAlgn="base" latinLnBrk="0" hangingPunct="0">
              <a:spcBef>
                <a:spcPct val="0"/>
              </a:spcBef>
              <a:spcAft>
                <a:spcPct val="0"/>
              </a:spcAft>
              <a:defRPr sz="2800" kern="1200">
                <a:solidFill>
                  <a:schemeClr val="tx1"/>
                </a:solidFill>
                <a:latin typeface="Tahoma" charset="0"/>
                <a:ea typeface="ＭＳ Ｐゴシック" charset="0"/>
                <a:cs typeface="+mn-cs"/>
              </a:defRPr>
            </a:lvl9pPr>
          </a:lstStyle>
          <a:p>
            <a:fld id="{BE7B5135-177D-EE42-9C5F-82759AF30F9B}" type="slidenum">
              <a:rPr lang="en-US" sz="1400" smtClean="0"/>
              <a:pPr/>
              <a:t>28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0562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447" y="857538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29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11143</TotalTime>
  <Words>1811</Words>
  <Application>Microsoft Macintosh PowerPoint</Application>
  <PresentationFormat>Widescreen</PresentationFormat>
  <Paragraphs>296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Lambdas, let and where</vt:lpstr>
      <vt:lpstr>Starting point</vt:lpstr>
      <vt:lpstr>Using where</vt:lpstr>
      <vt:lpstr>Towards lambda functions</vt:lpstr>
      <vt:lpstr>Using lambda functions</vt:lpstr>
      <vt:lpstr>Using let</vt:lpstr>
      <vt:lpstr>First Class  Functions</vt:lpstr>
      <vt:lpstr>First Class  Functions. example</vt:lpstr>
      <vt:lpstr>First Class  Functions. Introduce a function as an argument</vt:lpstr>
      <vt:lpstr>First Class  Functions</vt:lpstr>
      <vt:lpstr>Using lambdas</vt:lpstr>
      <vt:lpstr>Example – sorting 1/3</vt:lpstr>
      <vt:lpstr>PowerPoint Presentation</vt:lpstr>
      <vt:lpstr>PowerPoint Presentation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PowerPoint Presentation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Example – structuring a solution</vt:lpstr>
      <vt:lpstr>Example – Overall solution 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418</cp:revision>
  <cp:lastPrinted>2016-01-08T09:11:08Z</cp:lastPrinted>
  <dcterms:created xsi:type="dcterms:W3CDTF">2000-11-20T11:40:19Z</dcterms:created>
  <dcterms:modified xsi:type="dcterms:W3CDTF">2025-02-07T17:49:42Z</dcterms:modified>
</cp:coreProperties>
</file>