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813" r:id="rId1"/>
  </p:sldMasterIdLst>
  <p:notesMasterIdLst>
    <p:notesMasterId r:id="rId20"/>
  </p:notesMasterIdLst>
  <p:handoutMasterIdLst>
    <p:handoutMasterId r:id="rId21"/>
  </p:handoutMasterIdLst>
  <p:sldIdLst>
    <p:sldId id="328" r:id="rId2"/>
    <p:sldId id="347" r:id="rId3"/>
    <p:sldId id="348" r:id="rId4"/>
    <p:sldId id="290" r:id="rId5"/>
    <p:sldId id="346" r:id="rId6"/>
    <p:sldId id="349" r:id="rId7"/>
    <p:sldId id="350" r:id="rId8"/>
    <p:sldId id="351" r:id="rId9"/>
    <p:sldId id="352" r:id="rId10"/>
    <p:sldId id="356" r:id="rId11"/>
    <p:sldId id="353" r:id="rId12"/>
    <p:sldId id="354" r:id="rId13"/>
    <p:sldId id="310" r:id="rId14"/>
    <p:sldId id="320" r:id="rId15"/>
    <p:sldId id="355" r:id="rId16"/>
    <p:sldId id="338" r:id="rId17"/>
    <p:sldId id="357" r:id="rId18"/>
    <p:sldId id="343" r:id="rId19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178"/>
    <p:restoredTop sz="94316"/>
  </p:normalViewPr>
  <p:slideViewPr>
    <p:cSldViewPr snapToGrid="0">
      <p:cViewPr varScale="1">
        <p:scale>
          <a:sx n="81" d="100"/>
          <a:sy n="81" d="100"/>
        </p:scale>
        <p:origin x="200" y="4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3018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2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991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6666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79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268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5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570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727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3519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981659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116984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6302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70321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174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37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484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4" r:id="rId1"/>
    <p:sldLayoutId id="2147483815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4" r:id="rId11"/>
    <p:sldLayoutId id="2147483825" r:id="rId12"/>
    <p:sldLayoutId id="2147483826" r:id="rId13"/>
    <p:sldLayoutId id="2147483827" r:id="rId14"/>
    <p:sldLayoutId id="2147483828" r:id="rId15"/>
    <p:sldLayoutId id="2147483829" r:id="rId16"/>
    <p:sldLayoutId id="214748383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 dirty="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4.3 – First Class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ea typeface="+mj-ea"/>
                <a:cs typeface="ＭＳ Ｐゴシック" pitchFamily="-1" charset="-128"/>
              </a:rPr>
              <a:t>Lambdas, let and </a:t>
            </a:r>
            <a:r>
              <a:rPr lang="en-US" sz="3200" b="1" dirty="0"/>
              <a:t>w</a:t>
            </a:r>
            <a:r>
              <a:rPr kumimoji="1" lang="en-US" sz="3200" b="1" dirty="0"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4B965-065C-1F4A-8EF5-C8F085988394}"/>
              </a:ext>
            </a:extLst>
          </p:cNvPr>
          <p:cNvSpPr txBox="1"/>
          <p:nvPr/>
        </p:nvSpPr>
        <p:spPr>
          <a:xfrm>
            <a:off x="758591" y="2143224"/>
            <a:ext cx="10414234" cy="3826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wish to write a function that takes two numbers, and returns the greater of the sum of the squares of the numbers  (x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+ y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or the square of the sums of the numbers (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x+y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</a:p>
          <a:p>
            <a:endParaRPr lang="en-US" sz="2800" baseline="30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call it </a:t>
            </a: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sumSquareOrSquareSum 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write this using : 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where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lambda functions, and finally </a:t>
            </a:r>
          </a:p>
          <a:p>
            <a:pPr marL="901700" indent="5080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7CA7CD-56D3-D901-CD06-2DA69880DB18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561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853216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Starting point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3490" y="2462967"/>
            <a:ext cx="8317735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x^2 + y^2 &gt;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(x + y)^2 </a:t>
            </a:r>
          </a:p>
        </p:txBody>
      </p:sp>
      <p:sp>
        <p:nvSpPr>
          <p:cNvPr id="2" name="Oval Callout 1">
            <a:extLst>
              <a:ext uri="{FF2B5EF4-FFF2-40B4-BE49-F238E27FC236}">
                <a16:creationId xmlns:a16="http://schemas.microsoft.com/office/drawing/2014/main" id="{FF090E0A-9E1B-9544-832F-80F198FC0124}"/>
              </a:ext>
            </a:extLst>
          </p:cNvPr>
          <p:cNvSpPr/>
          <p:nvPr/>
        </p:nvSpPr>
        <p:spPr bwMode="auto">
          <a:xfrm>
            <a:off x="7616329" y="197360"/>
            <a:ext cx="3128791" cy="1341656"/>
          </a:xfrm>
          <a:prstGeom prst="wedgeEllipseCallout">
            <a:avLst>
              <a:gd name="adj1" fmla="val -98845"/>
              <a:gd name="adj2" fmla="val 186747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Repetition of terms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C02F0D-8D80-7C4A-94F3-5FC390EFB945}"/>
              </a:ext>
            </a:extLst>
          </p:cNvPr>
          <p:cNvSpPr txBox="1"/>
          <p:nvPr/>
        </p:nvSpPr>
        <p:spPr>
          <a:xfrm>
            <a:off x="4311268" y="5541485"/>
            <a:ext cx="3453875" cy="523220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do better….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0542B869-EE14-D295-2BBA-D94F7107D27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2290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846366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</a:t>
            </a:r>
            <a:r>
              <a:rPr lang="en-US" sz="3200" b="1" dirty="0"/>
              <a:t>w</a:t>
            </a:r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3180" y="2456205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sumSquareOrSquareSum’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sumSquareOrSquareSum’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where 	sumSquare =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3F85D-9296-8049-A84A-BE78CB45E45E}"/>
              </a:ext>
            </a:extLst>
          </p:cNvPr>
          <p:cNvSpPr txBox="1"/>
          <p:nvPr/>
        </p:nvSpPr>
        <p:spPr>
          <a:xfrm>
            <a:off x="3989023" y="5446693"/>
            <a:ext cx="34592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Cleaner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Easier to read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FA02D3-B426-4C12-CEF3-269FDD08F91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3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0629" y="852954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sz="3200" b="1" dirty="0"/>
              <a:t>Towards lambda functions</a:t>
            </a:r>
            <a:endParaRPr kumimoji="1" lang="en-US" sz="3200" b="1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ABAC6E61-63C2-F344-90C4-802D3CA436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790" y="2245826"/>
            <a:ext cx="8163324" cy="3416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body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body sumSquare squareSum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br>
              <a:rPr lang="en-IE" sz="2400" dirty="0">
                <a:latin typeface="Lucida Sans Typewriter" panose="020B0509030504030204" pitchFamily="49" charset="77"/>
              </a:rPr>
            </a:br>
            <a:r>
              <a:rPr lang="en-IE" sz="2400" b="1" dirty="0">
                <a:latin typeface="Lucida Sans Typewriter" panose="020B0509030504030204" pitchFamily="49" charset="77"/>
              </a:rPr>
              <a:t>sumSquareOrSquareSum''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body (x^2 + y^2) ((x + y)^2)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5BEB15-7C89-8D4A-BD57-738E6938A911}"/>
              </a:ext>
            </a:extLst>
          </p:cNvPr>
          <p:cNvSpPr txBox="1"/>
          <p:nvPr/>
        </p:nvSpPr>
        <p:spPr>
          <a:xfrm>
            <a:off x="1604790" y="6093705"/>
            <a:ext cx="787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Next, we will rewrite body as a lambda function.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447442F-7088-B2F4-5D61-2FD223C94D6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57473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7950" y="88483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lambda functions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341CBCD-8ED9-324F-A71D-B3D0A6121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722" y="3355819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(\sumSquare squareSum -&gt;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 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	(x^2 + y^2) ((x + y)^2)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836182C4-01EB-3C49-94A8-FCAE7165463B}"/>
              </a:ext>
            </a:extLst>
          </p:cNvPr>
          <p:cNvSpPr/>
          <p:nvPr/>
        </p:nvSpPr>
        <p:spPr bwMode="auto">
          <a:xfrm>
            <a:off x="6856164" y="884838"/>
            <a:ext cx="3734719" cy="1341656"/>
          </a:xfrm>
          <a:prstGeom prst="wedgeEllipseCallout">
            <a:avLst>
              <a:gd name="adj1" fmla="val -80556"/>
              <a:gd name="adj2" fmla="val 180178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Rewrite ‘body as lambda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B424E8-C4D3-9532-B07F-131DADAA16C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124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8160" y="80636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let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B5898C76-B5DC-7745-A18D-BB1A86C92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6202" y="2432004"/>
            <a:ext cx="9011798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let 	sumSquare = (x^2 + y^2)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in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2F05A6C6-EE15-E04D-9514-EBF61C3BE6A0}"/>
              </a:ext>
            </a:extLst>
          </p:cNvPr>
          <p:cNvSpPr/>
          <p:nvPr/>
        </p:nvSpPr>
        <p:spPr bwMode="auto">
          <a:xfrm>
            <a:off x="6856164" y="389514"/>
            <a:ext cx="3734719" cy="1168539"/>
          </a:xfrm>
          <a:prstGeom prst="wedgeEllipseCallout">
            <a:avLst>
              <a:gd name="adj1" fmla="val -120969"/>
              <a:gd name="adj2" fmla="val 127862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Readability of the where clause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EC56994-8695-7E42-89B7-D257F722EC2C}"/>
              </a:ext>
            </a:extLst>
          </p:cNvPr>
          <p:cNvSpPr/>
          <p:nvPr/>
        </p:nvSpPr>
        <p:spPr bwMode="auto">
          <a:xfrm>
            <a:off x="1524000" y="5692592"/>
            <a:ext cx="4450814" cy="1168539"/>
          </a:xfrm>
          <a:prstGeom prst="wedgeEllipseCallout">
            <a:avLst>
              <a:gd name="adj1" fmla="val 15649"/>
              <a:gd name="adj2" fmla="val -144039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With the power of the lambda function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D6783C-DEB6-D05B-5E7B-F8A7B66BF8F5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2554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60337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371475" y="2853019"/>
            <a:ext cx="100012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First class functions are functions that can be passed around like any other values, including as arguments to functions.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7BDC0-5C3E-72B3-5E82-5D32CC2F64C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3857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8726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Functions. example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7432" y="2437201"/>
            <a:ext cx="37787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ifEvenInc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ifEvenInc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 + 1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0310" y="2440370"/>
            <a:ext cx="4441633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n*2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4579" y="4782306"/>
            <a:ext cx="4320447" cy="16184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n^2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27A90-69BF-0A44-A058-324534E9EF08}"/>
              </a:ext>
            </a:extLst>
          </p:cNvPr>
          <p:cNvSpPr txBox="1"/>
          <p:nvPr/>
        </p:nvSpPr>
        <p:spPr>
          <a:xfrm>
            <a:off x="7644655" y="5136835"/>
            <a:ext cx="2094431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Only differences</a:t>
            </a: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F41F3F83-7DBB-944B-A5F1-DED1D35CC37E}"/>
              </a:ext>
            </a:extLst>
          </p:cNvPr>
          <p:cNvSpPr/>
          <p:nvPr/>
        </p:nvSpPr>
        <p:spPr bwMode="auto">
          <a:xfrm>
            <a:off x="2202849" y="5542678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EAEFDC0B-7BE6-9D40-889B-2A16A900EE92}"/>
              </a:ext>
            </a:extLst>
          </p:cNvPr>
          <p:cNvSpPr/>
          <p:nvPr/>
        </p:nvSpPr>
        <p:spPr bwMode="auto">
          <a:xfrm>
            <a:off x="2311181" y="3205265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Doughnut 11">
            <a:extLst>
              <a:ext uri="{FF2B5EF4-FFF2-40B4-BE49-F238E27FC236}">
                <a16:creationId xmlns:a16="http://schemas.microsoft.com/office/drawing/2014/main" id="{F0A59CDE-96E5-414E-8A18-127DF2CF886D}"/>
              </a:ext>
            </a:extLst>
          </p:cNvPr>
          <p:cNvSpPr/>
          <p:nvPr/>
        </p:nvSpPr>
        <p:spPr bwMode="auto">
          <a:xfrm>
            <a:off x="6638974" y="3203429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7638D8-1EFD-B14E-92CD-75D0389B4BC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402810" y="3899972"/>
            <a:ext cx="187287" cy="1145755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5351F8-5861-0342-BA4C-0D6D4BA48C2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820492" y="3743899"/>
            <a:ext cx="3769604" cy="1345894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1E9BE9-A71D-634B-B5AC-653B0615B7F0}"/>
              </a:ext>
            </a:extLst>
          </p:cNvPr>
          <p:cNvCxnSpPr>
            <a:cxnSpLocks/>
          </p:cNvCxnSpPr>
          <p:nvPr/>
        </p:nvCxnSpPr>
        <p:spPr bwMode="auto">
          <a:xfrm flipH="1">
            <a:off x="3734194" y="5155895"/>
            <a:ext cx="3822852" cy="638979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50651B-B13E-DFD4-225A-E0136ED35329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2908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" grpId="0" animBg="1"/>
      <p:bldP spid="5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63558" y="955722"/>
            <a:ext cx="9326686" cy="95723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 - Introduce a function as an argument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3379" y="2302554"/>
            <a:ext cx="3778786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inc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inc n = n + 1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1172" y="2360808"/>
            <a:ext cx="4441633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double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double n = n * 2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595" y="3546313"/>
            <a:ext cx="4177229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square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square n = n ^ 2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CC7148B4-ADFE-AE4F-B916-8D5190D2A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155" y="4702049"/>
            <a:ext cx="71315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ifEven :: Integral a =&gt; (a-&gt;a) -&gt;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 f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f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EF7B65-25D2-AD45-8039-B9C66DD0FDB7}"/>
              </a:ext>
            </a:extLst>
          </p:cNvPr>
          <p:cNvCxnSpPr/>
          <p:nvPr/>
        </p:nvCxnSpPr>
        <p:spPr bwMode="auto">
          <a:xfrm flipH="1">
            <a:off x="3409634" y="5000260"/>
            <a:ext cx="980501" cy="495759"/>
          </a:xfrm>
          <a:prstGeom prst="straightConnector1">
            <a:avLst/>
          </a:prstGeom>
          <a:noFill/>
          <a:ln w="31750" cap="sq" cmpd="sng" algn="ctr">
            <a:solidFill>
              <a:schemeClr val="accent4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Oval Callout 12">
            <a:extLst>
              <a:ext uri="{FF2B5EF4-FFF2-40B4-BE49-F238E27FC236}">
                <a16:creationId xmlns:a16="http://schemas.microsoft.com/office/drawing/2014/main" id="{892D764C-B9A7-9547-A442-E775588B7D5D}"/>
              </a:ext>
            </a:extLst>
          </p:cNvPr>
          <p:cNvSpPr/>
          <p:nvPr/>
        </p:nvSpPr>
        <p:spPr bwMode="auto">
          <a:xfrm>
            <a:off x="9490244" y="4916803"/>
            <a:ext cx="2985571" cy="995422"/>
          </a:xfrm>
          <a:prstGeom prst="wedgeEllipseCallout">
            <a:avLst>
              <a:gd name="adj1" fmla="val -216886"/>
              <a:gd name="adj2" fmla="val -39005"/>
            </a:avLst>
          </a:prstGeom>
          <a:solidFill>
            <a:schemeClr val="accent4"/>
          </a:solidFill>
          <a:ln w="12700" cap="sq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even only works on integers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006C59-1D03-0977-C478-4B270E4B2F1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2442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6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6434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62DEA8-0829-7C45-AFA4-13DD674DB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68" y="2876253"/>
            <a:ext cx="5158703" cy="36769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B58F6-0579-2D47-BAFA-E7C58617856D}"/>
              </a:ext>
            </a:extLst>
          </p:cNvPr>
          <p:cNvSpPr txBox="1"/>
          <p:nvPr/>
        </p:nvSpPr>
        <p:spPr>
          <a:xfrm>
            <a:off x="1553029" y="2127336"/>
            <a:ext cx="62758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call these functions thus: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E244C3D-D1A3-CEFE-C175-92D4980A0DD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448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3079" y="95572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Using lambdas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53C3DF-7C99-9E43-8978-2A527B010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13" y="2601569"/>
            <a:ext cx="8594387" cy="2875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9FB05B-08AA-8F42-BC06-C50189F44108}"/>
              </a:ext>
            </a:extLst>
          </p:cNvPr>
          <p:cNvSpPr txBox="1"/>
          <p:nvPr/>
        </p:nvSpPr>
        <p:spPr>
          <a:xfrm>
            <a:off x="2230479" y="5877580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etc.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93480DB-59AB-DE5F-4A29-9542EF9F4B1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347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>
            <a:extLst>
              <a:ext uri="{FF2B5EF4-FFF2-40B4-BE49-F238E27FC236}">
                <a16:creationId xmlns:a16="http://schemas.microsoft.com/office/drawing/2014/main" id="{99B92BEF-FF35-A8A9-1E6B-B680B1F135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Arial Black" panose="020B0604020202020204" pitchFamily="34" charset="0"/>
              </a:rPr>
              <a:t>The map Function</a:t>
            </a:r>
          </a:p>
        </p:txBody>
      </p:sp>
      <p:sp>
        <p:nvSpPr>
          <p:cNvPr id="5122" name="Slide Number Placeholder 2">
            <a:extLst>
              <a:ext uri="{FF2B5EF4-FFF2-40B4-BE49-F238E27FC236}">
                <a16:creationId xmlns:a16="http://schemas.microsoft.com/office/drawing/2014/main" id="{EF3A86BE-C211-EC50-5AA7-C865EA2927E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EFF4EC63-AE68-D44F-8354-6B5FAE4251DB}" type="slidenum">
              <a:rPr lang="en-US" altLang="en-US" sz="1400">
                <a:latin typeface="Tahoma" panose="020B0604030504040204" pitchFamily="34" charset="0"/>
                <a:ea typeface="ＭＳ Ｐゴシック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 altLang="en-US" sz="1400">
              <a:latin typeface="Tahoma" panose="020B060403050404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23" name="Text Box 3">
            <a:extLst>
              <a:ext uri="{FF2B5EF4-FFF2-40B4-BE49-F238E27FC236}">
                <a16:creationId xmlns:a16="http://schemas.microsoft.com/office/drawing/2014/main" id="{5C1BBAAD-8761-E0C8-7293-FACC766732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8613" y="2192338"/>
            <a:ext cx="8347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ＭＳ Ｐゴシック" panose="020B0600070205080204" pitchFamily="34" charset="-128"/>
              </a:rPr>
              <a:t>The higher-order library function called </a:t>
            </a:r>
            <a:r>
              <a:rPr lang="en-US" altLang="en-US" sz="2800" u="sng">
                <a:latin typeface="Tahoma" panose="020B0604030504040204" pitchFamily="34" charset="0"/>
                <a:ea typeface="ＭＳ Ｐゴシック" panose="020B0600070205080204" pitchFamily="34" charset="-128"/>
              </a:rPr>
              <a:t>map</a:t>
            </a:r>
            <a:r>
              <a:rPr lang="en-US" altLang="en-US" sz="2800">
                <a:latin typeface="Tahoma" panose="020B0604030504040204" pitchFamily="34" charset="0"/>
                <a:ea typeface="ＭＳ Ｐゴシック" panose="020B0600070205080204" pitchFamily="34" charset="-128"/>
              </a:rPr>
              <a:t> applies a function to every element of a list.</a:t>
            </a:r>
          </a:p>
        </p:txBody>
      </p:sp>
      <p:sp>
        <p:nvSpPr>
          <p:cNvPr id="5124" name="Text Box 4">
            <a:extLst>
              <a:ext uri="{FF2B5EF4-FFF2-40B4-BE49-F238E27FC236}">
                <a16:creationId xmlns:a16="http://schemas.microsoft.com/office/drawing/2014/main" id="{2DD51A45-311B-EEA6-F811-56C6B86B30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1175" y="3373438"/>
            <a:ext cx="5319713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map :: (a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b)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[a]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[b]</a:t>
            </a:r>
          </a:p>
        </p:txBody>
      </p:sp>
      <p:sp>
        <p:nvSpPr>
          <p:cNvPr id="18437" name="Text Box 5">
            <a:extLst>
              <a:ext uri="{FF2B5EF4-FFF2-40B4-BE49-F238E27FC236}">
                <a16:creationId xmlns:a16="http://schemas.microsoft.com/office/drawing/2014/main" id="{D02E5EEF-3390-1643-0285-71CE41AD17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7225" y="4117975"/>
            <a:ext cx="22733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ＭＳ Ｐゴシック" panose="020B0600070205080204" pitchFamily="34" charset="-128"/>
              </a:rPr>
              <a:t>For example:</a:t>
            </a:r>
          </a:p>
        </p:txBody>
      </p:sp>
      <p:sp>
        <p:nvSpPr>
          <p:cNvPr id="18438" name="Text Box 6">
            <a:extLst>
              <a:ext uri="{FF2B5EF4-FFF2-40B4-BE49-F238E27FC236}">
                <a16:creationId xmlns:a16="http://schemas.microsoft.com/office/drawing/2014/main" id="{A5B70627-534A-76B0-03AA-E6B5AEE09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3088" y="5153025"/>
            <a:ext cx="3903662" cy="12001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&gt; map (+1) [1,3,5,7]</a:t>
            </a:r>
          </a:p>
          <a:p>
            <a:pPr eaLnBrk="1" hangingPunct="1"/>
            <a:endParaRPr lang="en-US" altLang="en-US" sz="2400">
              <a:latin typeface="Lucida Sans Typewriter" panose="020B0509030504030204" pitchFamily="49" charset="77"/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[2,4,6,8]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>
            <a:extLst>
              <a:ext uri="{FF2B5EF4-FFF2-40B4-BE49-F238E27FC236}">
                <a16:creationId xmlns:a16="http://schemas.microsoft.com/office/drawing/2014/main" id="{1CA0E17A-591A-3457-CA87-69A1AD01FD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latin typeface="Arial Black" panose="020B0604020202020204" pitchFamily="34" charset="0"/>
              </a:rPr>
              <a:t>The map Function</a:t>
            </a:r>
          </a:p>
        </p:txBody>
      </p:sp>
      <p:sp>
        <p:nvSpPr>
          <p:cNvPr id="6146" name="Slide Number Placeholder 2">
            <a:extLst>
              <a:ext uri="{FF2B5EF4-FFF2-40B4-BE49-F238E27FC236}">
                <a16:creationId xmlns:a16="http://schemas.microsoft.com/office/drawing/2014/main" id="{234FC7E2-F013-74A8-5230-5AD62F70492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0C25259F-9397-474E-AF94-FB6FD2E0EE35}" type="slidenum">
              <a:rPr lang="en-US" altLang="en-US" sz="1400">
                <a:latin typeface="Tahoma" panose="020B0604030504040204" pitchFamily="34" charset="0"/>
                <a:ea typeface="ＭＳ Ｐゴシック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147" name="Text Box 3">
            <a:extLst>
              <a:ext uri="{FF2B5EF4-FFF2-40B4-BE49-F238E27FC236}">
                <a16:creationId xmlns:a16="http://schemas.microsoft.com/office/drawing/2014/main" id="{C37DAA8C-D8CA-190F-3C13-8CA435BC0A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2613" y="2447925"/>
            <a:ext cx="83470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ＭＳ Ｐゴシック" panose="020B0600070205080204" pitchFamily="34" charset="-128"/>
              </a:rPr>
              <a:t>We will examine more higher-order functions later</a:t>
            </a:r>
          </a:p>
        </p:txBody>
      </p:sp>
      <p:sp>
        <p:nvSpPr>
          <p:cNvPr id="6148" name="Text Box 4">
            <a:extLst>
              <a:ext uri="{FF2B5EF4-FFF2-40B4-BE49-F238E27FC236}">
                <a16:creationId xmlns:a16="http://schemas.microsoft.com/office/drawing/2014/main" id="{6692F23B-D8E9-8738-A4C8-1ABAFB5F7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3188" y="3451225"/>
            <a:ext cx="5319712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map :: (a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b)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[a] 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  <a:sym typeface="Symbol" pitchFamily="2" charset="2"/>
              </a:rPr>
              <a:t></a:t>
            </a:r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 [b]</a:t>
            </a:r>
          </a:p>
        </p:txBody>
      </p:sp>
      <p:sp>
        <p:nvSpPr>
          <p:cNvPr id="18437" name="Text Box 5">
            <a:extLst>
              <a:ext uri="{FF2B5EF4-FFF2-40B4-BE49-F238E27FC236}">
                <a16:creationId xmlns:a16="http://schemas.microsoft.com/office/drawing/2014/main" id="{B9EBB944-206B-8C67-6DA7-1990BE9433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2613" y="4505325"/>
            <a:ext cx="22733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ＭＳ Ｐゴシック" panose="020B0600070205080204" pitchFamily="34" charset="-128"/>
              </a:rPr>
              <a:t>For example:</a:t>
            </a:r>
          </a:p>
        </p:txBody>
      </p:sp>
      <p:sp>
        <p:nvSpPr>
          <p:cNvPr id="18438" name="Text Box 6">
            <a:extLst>
              <a:ext uri="{FF2B5EF4-FFF2-40B4-BE49-F238E27FC236}">
                <a16:creationId xmlns:a16="http://schemas.microsoft.com/office/drawing/2014/main" id="{4671A60A-87CB-63AE-76AF-62FF14867D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2600" y="5502275"/>
            <a:ext cx="3717925" cy="8318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&gt; map toUpper ”cat”</a:t>
            </a:r>
          </a:p>
          <a:p>
            <a:pPr eaLnBrk="1" hangingPunct="1"/>
            <a:r>
              <a:rPr lang="en-US" altLang="en-US" sz="2400">
                <a:latin typeface="Lucida Sans Typewriter" panose="020B0509030504030204" pitchFamily="49" charset="77"/>
                <a:ea typeface="ＭＳ Ｐゴシック" panose="020B0600070205080204" pitchFamily="34" charset="-128"/>
              </a:rPr>
              <a:t>&gt;”CAT”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7" grpId="0"/>
      <p:bldP spid="184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5063" y="792081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sz="3200" b="1" dirty="0"/>
              <a:t>Example – sorting 1/3</a:t>
            </a:r>
            <a:endParaRPr kumimoji="1" lang="en-US" sz="3200" b="1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642938" y="2539611"/>
            <a:ext cx="987266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this sorting example we use: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built in functions and also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pass functions into other (sortBy)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A788EF-DC34-5F4F-B73F-6A85294739DE}"/>
              </a:ext>
            </a:extLst>
          </p:cNvPr>
          <p:cNvSpPr txBox="1"/>
          <p:nvPr/>
        </p:nvSpPr>
        <p:spPr>
          <a:xfrm>
            <a:off x="781224" y="4358818"/>
            <a:ext cx="94057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Pairs/Tuples (fst and snd return the first and second element of the tuples respectively)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Form (“firstname”, “lastname”)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D9F8020-C330-78EF-A625-ED7C55835F3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539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15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90661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pPr defTabSz="685800" eaLnBrk="1" hangingPunct="1">
              <a:lnSpc>
                <a:spcPct val="90000"/>
              </a:lnSpc>
            </a:pPr>
            <a:r>
              <a:rPr lang="en-US" sz="3200" b="1" dirty="0">
                <a:solidFill>
                  <a:schemeClr val="tx1"/>
                </a:solidFill>
                <a:cs typeface="+mj-cs"/>
              </a:rPr>
              <a:t>Example – sorting 2/3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7572" y="2419217"/>
            <a:ext cx="8558028" cy="28623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names :: [(String, String)]</a:t>
            </a:r>
          </a:p>
          <a:p>
            <a:r>
              <a:rPr lang="en-IE" dirty="0"/>
              <a:t>names = [	("Hugo", "Keenan"),</a:t>
            </a:r>
          </a:p>
          <a:p>
            <a:r>
              <a:rPr lang="en-IE" dirty="0"/>
              <a:t>               	("Mack", "Hansen"),</a:t>
            </a:r>
          </a:p>
          <a:p>
            <a:r>
              <a:rPr lang="en-IE" dirty="0"/>
              <a:t>               	("James", "Lowe"),</a:t>
            </a:r>
          </a:p>
          <a:p>
            <a:r>
              <a:rPr lang="en-IE" dirty="0"/>
              <a:t>			("</a:t>
            </a:r>
            <a:r>
              <a:rPr lang="en-IE" dirty="0" err="1"/>
              <a:t>Bundee</a:t>
            </a:r>
            <a:r>
              <a:rPr lang="en-IE" dirty="0"/>
              <a:t>", "Aki"),</a:t>
            </a:r>
          </a:p>
          <a:p>
            <a:r>
              <a:rPr lang="en-IE" dirty="0"/>
              <a:t>			("Robbie", "Henshaw"),</a:t>
            </a:r>
          </a:p>
          <a:p>
            <a:r>
              <a:rPr lang="en-IE" dirty="0"/>
              <a:t>			("Sam", "Prendergast"),</a:t>
            </a:r>
          </a:p>
          <a:p>
            <a:r>
              <a:rPr lang="en-IE" dirty="0"/>
              <a:t>			("Dan", "Sheehan"),</a:t>
            </a:r>
          </a:p>
          <a:p>
            <a:r>
              <a:rPr lang="en-IE" dirty="0"/>
              <a:t>			("Jack ", "Crowley") ,</a:t>
            </a:r>
          </a:p>
          <a:p>
            <a:r>
              <a:rPr lang="en-IE" dirty="0"/>
              <a:t>			("</a:t>
            </a:r>
            <a:r>
              <a:rPr lang="en-IE" dirty="0" err="1"/>
              <a:t>Caelan</a:t>
            </a:r>
            <a:r>
              <a:rPr lang="en-IE" dirty="0"/>
              <a:t>", "Doris").  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265279" y="5805970"/>
            <a:ext cx="242371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Called as 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12FCD44A-58C3-EE49-8172-74E42FB40438}"/>
              </a:ext>
            </a:extLst>
          </p:cNvPr>
          <p:cNvSpPr/>
          <p:nvPr/>
        </p:nvSpPr>
        <p:spPr bwMode="auto">
          <a:xfrm>
            <a:off x="8156154" y="3603670"/>
            <a:ext cx="1972019" cy="1861006"/>
          </a:xfrm>
          <a:prstGeom prst="wedgeEllipseCallout">
            <a:avLst>
              <a:gd name="adj1" fmla="val -310218"/>
              <a:gd name="adj2" fmla="val 77300"/>
            </a:avLst>
          </a:prstGeom>
          <a:solidFill>
            <a:schemeClr val="accent4"/>
          </a:solidFill>
          <a:ln w="12700" cap="sq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Default</a:t>
            </a:r>
            <a:r>
              <a:rPr lang="en-US" sz="2000" dirty="0">
                <a:solidFill>
                  <a:schemeClr val="accent4"/>
                </a:solidFill>
              </a:rPr>
              <a:t> </a:t>
            </a:r>
            <a:r>
              <a:rPr lang="en-US" sz="2000" dirty="0"/>
              <a:t>sort is on first element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B4EA69-C1DE-D345-74D9-AF8AB0FD705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15</a:t>
            </a:fld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75D97-9255-BF76-C428-035837155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739" y="5989107"/>
            <a:ext cx="9802290" cy="56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25554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pPr defTabSz="685800" eaLnBrk="1" hangingPunct="1">
              <a:lnSpc>
                <a:spcPct val="90000"/>
              </a:lnSpc>
            </a:pPr>
            <a:r>
              <a:rPr lang="en-US" sz="3200" b="1" dirty="0">
                <a:solidFill>
                  <a:schemeClr val="tx1"/>
                </a:solidFill>
                <a:cs typeface="+mj-cs"/>
              </a:rPr>
              <a:t>Example – sorting 3/3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650" y="1536174"/>
            <a:ext cx="9391150" cy="37856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import </a:t>
            </a:r>
            <a:r>
              <a:rPr lang="en-IE" sz="2000" b="1" dirty="0">
                <a:latin typeface="Lucida Sans Typewriter" panose="020B0509030504030204" pitchFamily="49" charset="77"/>
              </a:rPr>
              <a:t>Data.List</a:t>
            </a:r>
            <a:r>
              <a:rPr lang="en-IE" sz="2000" dirty="0">
                <a:latin typeface="Lucida Sans Typewriter" panose="020B0509030504030204" pitchFamily="49" charset="77"/>
              </a:rPr>
              <a:t> ( </a:t>
            </a:r>
            <a:r>
              <a:rPr lang="en-IE" sz="2000" b="1" dirty="0">
                <a:latin typeface="Lucida Sans Typewriter" panose="020B0509030504030204" pitchFamily="49" charset="77"/>
              </a:rPr>
              <a:t>sort, sortBy</a:t>
            </a:r>
            <a:r>
              <a:rPr lang="en-IE" sz="2000" dirty="0">
                <a:latin typeface="Lucida Sans Typewriter" panose="020B0509030504030204" pitchFamily="49" charset="77"/>
              </a:rPr>
              <a:t> )</a:t>
            </a:r>
          </a:p>
          <a:p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names :: [(String, String)]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names = “as before”</a:t>
            </a:r>
          </a:p>
          <a:p>
            <a:endParaRPr lang="en-IE" sz="2000" dirty="0">
              <a:latin typeface="Lucida Sans Typewriter" panose="020B0509030504030204" pitchFamily="49" charset="77"/>
            </a:endParaRPr>
          </a:p>
          <a:p>
            <a:r>
              <a:rPr lang="en-IE" sz="2000" dirty="0">
                <a:latin typeface="Lucida Sans Typewriter" panose="020B0509030504030204" pitchFamily="49" charset="77"/>
              </a:rPr>
              <a:t>compareLastNames :: Ord a =&gt; (a, a) -&gt; (a, a) -&gt; Ordering</a:t>
            </a:r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compareLastNames name1 name2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&gt; lastName2 = GT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&lt; lastName2 = LT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otherwise = EQ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where lastName1 = snd name1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    lastName2 = </a:t>
            </a:r>
            <a:r>
              <a:rPr lang="en-IE" sz="2000" dirty="0" err="1">
                <a:latin typeface="Lucida Sans Typewriter" panose="020B0509030504030204" pitchFamily="49" charset="77"/>
              </a:rPr>
              <a:t>snd</a:t>
            </a:r>
            <a:r>
              <a:rPr lang="en-IE" sz="2000" dirty="0">
                <a:latin typeface="Lucida Sans Typewriter" panose="020B0509030504030204" pitchFamily="49" charset="77"/>
              </a:rPr>
              <a:t> name2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0" y="5544973"/>
            <a:ext cx="2423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Called as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6A33A1F-9E5D-EF91-441A-B3C3C5B9B60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16</a:t>
            </a:fld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E6F90F-01D1-4D47-59B8-3A20B5244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14" y="5867173"/>
            <a:ext cx="11401612" cy="84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80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447" y="857538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17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11174</TotalTime>
  <Words>931</Words>
  <Application>Microsoft Macintosh PowerPoint</Application>
  <PresentationFormat>Widescreen</PresentationFormat>
  <Paragraphs>157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Lambdas, let and where</vt:lpstr>
      <vt:lpstr>Starting point</vt:lpstr>
      <vt:lpstr>Using where</vt:lpstr>
      <vt:lpstr>Towards lambda functions</vt:lpstr>
      <vt:lpstr>Using lambda functions</vt:lpstr>
      <vt:lpstr>Using let</vt:lpstr>
      <vt:lpstr>First Class  Functions</vt:lpstr>
      <vt:lpstr>First Class  Functions. example</vt:lpstr>
      <vt:lpstr>First Class  Functions - Introduce a function as an argument</vt:lpstr>
      <vt:lpstr>First Class  Functions</vt:lpstr>
      <vt:lpstr>Using lambdas</vt:lpstr>
      <vt:lpstr>The map Function</vt:lpstr>
      <vt:lpstr>The map Function</vt:lpstr>
      <vt:lpstr>Example – sorting 1/3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421</cp:revision>
  <cp:lastPrinted>2016-01-08T09:11:08Z</cp:lastPrinted>
  <dcterms:created xsi:type="dcterms:W3CDTF">2000-11-20T11:40:19Z</dcterms:created>
  <dcterms:modified xsi:type="dcterms:W3CDTF">2026-01-29T15:03:23Z</dcterms:modified>
</cp:coreProperties>
</file>