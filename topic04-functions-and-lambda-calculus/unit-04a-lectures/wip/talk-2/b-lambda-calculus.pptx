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3"/>
  </p:notesMasterIdLst>
  <p:sldIdLst>
    <p:sldId id="304" r:id="rId2"/>
    <p:sldId id="257" r:id="rId3"/>
    <p:sldId id="344" r:id="rId4"/>
    <p:sldId id="259" r:id="rId5"/>
    <p:sldId id="260" r:id="rId6"/>
    <p:sldId id="305" r:id="rId7"/>
    <p:sldId id="306" r:id="rId8"/>
    <p:sldId id="271" r:id="rId9"/>
    <p:sldId id="275" r:id="rId10"/>
    <p:sldId id="346" r:id="rId11"/>
    <p:sldId id="347" r:id="rId12"/>
    <p:sldId id="348" r:id="rId13"/>
    <p:sldId id="278" r:id="rId14"/>
    <p:sldId id="282" r:id="rId15"/>
    <p:sldId id="284" r:id="rId16"/>
    <p:sldId id="287" r:id="rId17"/>
    <p:sldId id="349" r:id="rId18"/>
    <p:sldId id="350" r:id="rId19"/>
    <p:sldId id="351" r:id="rId20"/>
    <p:sldId id="352" r:id="rId21"/>
    <p:sldId id="343" r:id="rId22"/>
  </p:sldIdLst>
  <p:sldSz cx="4610100" cy="3460750"/>
  <p:notesSz cx="4610100" cy="34607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57"/>
    <p:restoredTop sz="94649"/>
  </p:normalViewPr>
  <p:slideViewPr>
    <p:cSldViewPr>
      <p:cViewPr varScale="1">
        <p:scale>
          <a:sx n="193" d="100"/>
          <a:sy n="193" d="100"/>
        </p:scale>
        <p:origin x="264" y="1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9FFF4-1735-2D4F-B84F-F6C1BAB36A7E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0AB8EE-0D64-164D-A882-88332F28D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8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AB8EE-0D64-164D-A882-88332F28D6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06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41068"/>
            <a:ext cx="3391057" cy="139249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368" y="2141570"/>
            <a:ext cx="1163531" cy="1397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307030"/>
            <a:ext cx="3391057" cy="83785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3445368" y="1307030"/>
            <a:ext cx="1163532" cy="837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247" y="1379510"/>
            <a:ext cx="3059923" cy="692892"/>
          </a:xfrm>
        </p:spPr>
        <p:txBody>
          <a:bodyPr anchor="b">
            <a:noAutofit/>
          </a:bodyPr>
          <a:lstStyle>
            <a:lvl1pPr algn="r">
              <a:defRPr sz="24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7247" y="2217363"/>
            <a:ext cx="3079501" cy="564018"/>
          </a:xfrm>
        </p:spPr>
        <p:txBody>
          <a:bodyPr>
            <a:normAutofit/>
          </a:bodyPr>
          <a:lstStyle>
            <a:lvl1pPr marL="0" indent="0" algn="r">
              <a:buNone/>
              <a:defRPr sz="1008"/>
            </a:lvl1pPr>
            <a:lvl2pPr marL="230520" indent="0" algn="ctr">
              <a:buNone/>
              <a:defRPr sz="1008"/>
            </a:lvl2pPr>
            <a:lvl3pPr marL="461040" indent="0" algn="ctr">
              <a:buNone/>
              <a:defRPr sz="908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96809" y="2995577"/>
            <a:ext cx="1037273" cy="18425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923" y="2995577"/>
            <a:ext cx="2027590" cy="184253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34410" y="1387901"/>
            <a:ext cx="690856" cy="684501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430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988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1376848"/>
            <a:ext cx="4619159" cy="846282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5" y="1448234"/>
            <a:ext cx="3473280" cy="550444"/>
          </a:xfrm>
        </p:spPr>
        <p:txBody>
          <a:bodyPr anchor="ctr">
            <a:normAutofit/>
          </a:bodyPr>
          <a:lstStyle>
            <a:lvl1pPr algn="r">
              <a:defRPr sz="181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8035" y="2135680"/>
            <a:ext cx="3473280" cy="859897"/>
          </a:xfrm>
        </p:spPr>
        <p:txBody>
          <a:bodyPr>
            <a:normAutofit/>
          </a:bodyPr>
          <a:lstStyle>
            <a:lvl1pPr marL="0" indent="0" algn="r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1pPr>
            <a:lvl2pPr marL="230520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705262" y="2995577"/>
            <a:ext cx="1037273" cy="18425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923" y="2995577"/>
            <a:ext cx="2437481" cy="184253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60954" y="1448235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9634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23" y="380101"/>
            <a:ext cx="3472392" cy="5454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923" y="1179255"/>
            <a:ext cx="1692941" cy="18163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47486" y="1179255"/>
            <a:ext cx="1693829" cy="18163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89463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380102"/>
            <a:ext cx="3477003" cy="5454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665" y="1179256"/>
            <a:ext cx="1585645" cy="349776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8034" y="1529033"/>
            <a:ext cx="1697552" cy="146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59168" y="1179255"/>
            <a:ext cx="1585870" cy="349242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47486" y="1529033"/>
            <a:ext cx="1697551" cy="146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87488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848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3890763" y="995766"/>
            <a:ext cx="728396" cy="728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887513" y="307622"/>
            <a:ext cx="722587" cy="6904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3138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4"/>
          </a:xfrm>
        </p:spPr>
        <p:txBody>
          <a:bodyPr anchor="ctr">
            <a:normAutofit/>
          </a:bodyPr>
          <a:lstStyle>
            <a:lvl1pPr>
              <a:defRPr sz="181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1836" y="1179256"/>
            <a:ext cx="1973201" cy="18163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23" y="1179256"/>
            <a:ext cx="1409771" cy="1816322"/>
          </a:xfrm>
        </p:spPr>
        <p:txBody>
          <a:bodyPr anchor="ctr"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11138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</p:spPr>
        <p:txBody>
          <a:bodyPr anchor="ctr">
            <a:normAutofit/>
          </a:bodyPr>
          <a:lstStyle>
            <a:lvl1pPr>
              <a:defRPr sz="181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70107" y="1179256"/>
            <a:ext cx="1974930" cy="1816319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034" y="1179256"/>
            <a:ext cx="1410904" cy="1816321"/>
          </a:xfrm>
        </p:spPr>
        <p:txBody>
          <a:bodyPr anchor="ctr"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46367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2307167"/>
            <a:ext cx="4619159" cy="846282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24" y="2377621"/>
            <a:ext cx="3476113" cy="274762"/>
          </a:xfrm>
        </p:spPr>
        <p:txBody>
          <a:bodyPr anchor="b">
            <a:normAutofit/>
          </a:bodyPr>
          <a:lstStyle>
            <a:lvl1pPr>
              <a:defRPr sz="12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8034" y="307621"/>
            <a:ext cx="3477003" cy="1811406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23" y="2652383"/>
            <a:ext cx="3476114" cy="276446"/>
          </a:xfrm>
        </p:spPr>
        <p:txBody>
          <a:bodyPr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60954" y="2377467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4238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2307167"/>
            <a:ext cx="4619159" cy="846282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312" y="307621"/>
            <a:ext cx="3477003" cy="1813008"/>
          </a:xfrm>
        </p:spPr>
        <p:txBody>
          <a:bodyPr anchor="ctr"/>
          <a:lstStyle>
            <a:lvl1pPr>
              <a:defRPr sz="16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035" y="2376977"/>
            <a:ext cx="3473280" cy="555983"/>
          </a:xfrm>
        </p:spPr>
        <p:txBody>
          <a:bodyPr anchor="ctr"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60954" y="2377622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37757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2307167"/>
            <a:ext cx="4619159" cy="846282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160" y="311348"/>
            <a:ext cx="3239345" cy="1532086"/>
          </a:xfrm>
        </p:spPr>
        <p:txBody>
          <a:bodyPr anchor="ctr"/>
          <a:lstStyle>
            <a:lvl1pPr>
              <a:defRPr sz="16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98842" y="1847329"/>
            <a:ext cx="3018814" cy="277026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034" y="2376977"/>
            <a:ext cx="3480726" cy="555983"/>
          </a:xfrm>
        </p:spPr>
        <p:txBody>
          <a:bodyPr anchor="ctr"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60954" y="2376769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  <p:sp>
        <p:nvSpPr>
          <p:cNvPr id="27" name="TextBox 26"/>
          <p:cNvSpPr txBox="1"/>
          <p:nvPr/>
        </p:nvSpPr>
        <p:spPr>
          <a:xfrm>
            <a:off x="136595" y="377522"/>
            <a:ext cx="268923" cy="295095"/>
          </a:xfrm>
          <a:prstGeom prst="rect">
            <a:avLst/>
          </a:prstGeom>
        </p:spPr>
        <p:txBody>
          <a:bodyPr vert="horz" lIns="46101" tIns="23051" rIns="46101" bIns="23051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363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2625" y="1513169"/>
            <a:ext cx="230505" cy="295096"/>
          </a:xfrm>
          <a:prstGeom prst="rect">
            <a:avLst/>
          </a:prstGeom>
        </p:spPr>
        <p:txBody>
          <a:bodyPr vert="horz" lIns="46101" tIns="23051" rIns="46101" bIns="23051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363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412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2307167"/>
            <a:ext cx="4619159" cy="846282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2376977"/>
            <a:ext cx="3477003" cy="297637"/>
          </a:xfrm>
        </p:spPr>
        <p:txBody>
          <a:bodyPr anchor="b"/>
          <a:lstStyle>
            <a:lvl1pPr>
              <a:defRPr sz="16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034" y="2674613"/>
            <a:ext cx="3477003" cy="258347"/>
          </a:xfrm>
        </p:spPr>
        <p:txBody>
          <a:bodyPr anchor="t"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60954" y="2376769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4105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268534" y="1175529"/>
            <a:ext cx="110642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272138" y="1521605"/>
            <a:ext cx="1106424" cy="1470245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1200" y="1179255"/>
            <a:ext cx="110642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1451854" y="1517879"/>
            <a:ext cx="1106424" cy="1470245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34844" y="1179255"/>
            <a:ext cx="110642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2638566" y="1517878"/>
            <a:ext cx="1106424" cy="1470245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1334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268414" y="2168647"/>
            <a:ext cx="1105263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268414" y="1179255"/>
            <a:ext cx="1105263" cy="769056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807"/>
            </a:lvl1pPr>
            <a:lvl2pPr marL="230520" indent="0">
              <a:buNone/>
              <a:defRPr sz="807"/>
            </a:lvl2pPr>
            <a:lvl3pPr marL="461040" indent="0">
              <a:buNone/>
              <a:defRPr sz="807"/>
            </a:lvl3pPr>
            <a:lvl4pPr marL="691561" indent="0">
              <a:buNone/>
              <a:defRPr sz="807"/>
            </a:lvl4pPr>
            <a:lvl5pPr marL="922081" indent="0">
              <a:buNone/>
              <a:defRPr sz="807"/>
            </a:lvl5pPr>
            <a:lvl6pPr marL="1152601" indent="0">
              <a:buNone/>
              <a:defRPr sz="807"/>
            </a:lvl6pPr>
            <a:lvl7pPr marL="1383121" indent="0">
              <a:buNone/>
              <a:defRPr sz="807"/>
            </a:lvl7pPr>
            <a:lvl8pPr marL="1613642" indent="0">
              <a:buNone/>
              <a:defRPr sz="807"/>
            </a:lvl8pPr>
            <a:lvl9pPr marL="1844162" indent="0">
              <a:buNone/>
              <a:defRPr sz="80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268414" y="2459446"/>
            <a:ext cx="1105263" cy="536130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47209" y="2168647"/>
            <a:ext cx="111676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1447209" y="1179255"/>
            <a:ext cx="1116764" cy="769056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807"/>
            </a:lvl1pPr>
            <a:lvl2pPr marL="230520" indent="0">
              <a:buNone/>
              <a:defRPr sz="807"/>
            </a:lvl2pPr>
            <a:lvl3pPr marL="461040" indent="0">
              <a:buNone/>
              <a:defRPr sz="807"/>
            </a:lvl3pPr>
            <a:lvl4pPr marL="691561" indent="0">
              <a:buNone/>
              <a:defRPr sz="807"/>
            </a:lvl4pPr>
            <a:lvl5pPr marL="922081" indent="0">
              <a:buNone/>
              <a:defRPr sz="807"/>
            </a:lvl5pPr>
            <a:lvl6pPr marL="1152601" indent="0">
              <a:buNone/>
              <a:defRPr sz="807"/>
            </a:lvl6pPr>
            <a:lvl7pPr marL="1383121" indent="0">
              <a:buNone/>
              <a:defRPr sz="807"/>
            </a:lvl7pPr>
            <a:lvl8pPr marL="1613642" indent="0">
              <a:buNone/>
              <a:defRPr sz="807"/>
            </a:lvl8pPr>
            <a:lvl9pPr marL="1844162" indent="0">
              <a:buNone/>
              <a:defRPr sz="80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1446698" y="2459446"/>
            <a:ext cx="1118244" cy="536130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37310" y="2168647"/>
            <a:ext cx="1106310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637309" y="1179255"/>
            <a:ext cx="1106310" cy="769056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807"/>
            </a:lvl1pPr>
            <a:lvl2pPr marL="230520" indent="0">
              <a:buNone/>
              <a:defRPr sz="807"/>
            </a:lvl2pPr>
            <a:lvl3pPr marL="461040" indent="0">
              <a:buNone/>
              <a:defRPr sz="807"/>
            </a:lvl3pPr>
            <a:lvl4pPr marL="691561" indent="0">
              <a:buNone/>
              <a:defRPr sz="807"/>
            </a:lvl4pPr>
            <a:lvl5pPr marL="922081" indent="0">
              <a:buNone/>
              <a:defRPr sz="807"/>
            </a:lvl5pPr>
            <a:lvl6pPr marL="1152601" indent="0">
              <a:buNone/>
              <a:defRPr sz="807"/>
            </a:lvl6pPr>
            <a:lvl7pPr marL="1383121" indent="0">
              <a:buNone/>
              <a:defRPr sz="807"/>
            </a:lvl7pPr>
            <a:lvl8pPr marL="1613642" indent="0">
              <a:buNone/>
              <a:defRPr sz="807"/>
            </a:lvl8pPr>
            <a:lvl9pPr marL="1844162" indent="0">
              <a:buNone/>
              <a:defRPr sz="80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2637263" y="2459445"/>
            <a:ext cx="1107775" cy="536130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85851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37767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2305128" y="1386625"/>
            <a:ext cx="3463049" cy="689800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63502" y="307621"/>
            <a:ext cx="539258" cy="22516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247" y="307621"/>
            <a:ext cx="3315581" cy="268795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35527" y="2995577"/>
            <a:ext cx="1037273" cy="18425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7247" y="2995577"/>
            <a:ext cx="2278308" cy="184253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746539" y="2741400"/>
            <a:ext cx="579608" cy="642444"/>
          </a:xfrm>
        </p:spPr>
        <p:txBody>
          <a:bodyPr anchor="t"/>
          <a:lstStyle>
            <a:lvl1pPr algn="ctr">
              <a:defRPr/>
            </a:lvl1pPr>
          </a:lstStyle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769858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6336" y="62405"/>
            <a:ext cx="3597427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F2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8333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4610100" cy="34607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8923" y="1179255"/>
            <a:ext cx="3472392" cy="1816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06306" y="2995577"/>
            <a:ext cx="1037273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8923" y="2995577"/>
            <a:ext cx="2437481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57002" y="380102"/>
            <a:ext cx="583661" cy="550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54093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txStyles>
    <p:titleStyle>
      <a:lvl1pPr algn="l" defTabSz="461040" rtl="0" eaLnBrk="1" latinLnBrk="0" hangingPunct="1">
        <a:lnSpc>
          <a:spcPct val="90000"/>
        </a:lnSpc>
        <a:spcBef>
          <a:spcPct val="0"/>
        </a:spcBef>
        <a:buNone/>
        <a:defRPr sz="18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260" indent="-115260" algn="l" defTabSz="461040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210" kern="1200">
          <a:solidFill>
            <a:schemeClr val="tx1"/>
          </a:solidFill>
          <a:latin typeface="+mn-lt"/>
          <a:ea typeface="+mn-ea"/>
          <a:cs typeface="+mn-cs"/>
        </a:defRPr>
      </a:lvl1pPr>
      <a:lvl2pPr marL="345780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576301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806821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807" kern="1200">
          <a:solidFill>
            <a:schemeClr val="tx1"/>
          </a:solidFill>
          <a:latin typeface="+mn-lt"/>
          <a:ea typeface="+mn-ea"/>
          <a:cs typeface="+mn-cs"/>
        </a:defRPr>
      </a:lvl4pPr>
      <a:lvl5pPr marL="1037341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807" kern="1200">
          <a:solidFill>
            <a:schemeClr val="tx1"/>
          </a:solidFill>
          <a:latin typeface="+mn-lt"/>
          <a:ea typeface="+mn-ea"/>
          <a:cs typeface="+mn-cs"/>
        </a:defRPr>
      </a:lvl5pPr>
      <a:lvl6pPr marL="1267861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6pPr>
      <a:lvl7pPr marL="1498382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7pPr>
      <a:lvl8pPr marL="1728902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8pPr>
      <a:lvl9pPr marL="1959422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-lambda-calcu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42" y="1038860"/>
            <a:ext cx="4299847" cy="13830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4241" y="2645191"/>
            <a:ext cx="3128742" cy="3405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lang="en-IE" sz="1613" dirty="0"/>
              <a:t>Topic</a:t>
            </a:r>
            <a:r>
              <a:rPr sz="1613" dirty="0"/>
              <a:t> 4.2 The Lambda Calculus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A0C85D2-1612-77DD-D5AA-38BE13611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7613" y="376958"/>
            <a:ext cx="4492446" cy="37164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815" b="1" dirty="0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E61D7E5-F50F-4302-98E4-3DA68696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57076" y="381340"/>
            <a:ext cx="436413" cy="549939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6101" tIns="23051" rIns="46101" bIns="23051" numCol="1" rtlCol="0" anchor="t" anchorCtr="0" compatLnSpc="1">
            <a:prstTxWarp prst="textNoShape">
              <a:avLst/>
            </a:prstTxWarp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  <a:defRPr/>
            </a:pPr>
            <a:fld id="{22DBF1FA-C6C4-7A46-BC08-C9A71A940756}" type="slidenum">
              <a:rPr lang="en-US" sz="706"/>
              <a:pPr>
                <a:spcAft>
                  <a:spcPts val="303"/>
                </a:spcAft>
                <a:defRPr/>
              </a:pPr>
              <a:t>1</a:t>
            </a:fld>
            <a:endParaRPr lang="en-US" sz="70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519532"/>
            <a:ext cx="3477003" cy="2666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36625" defTabSz="685800"/>
            <a:r>
              <a:rPr lang="en-IE" sz="1800" b="1" dirty="0">
                <a:latin typeface="+mn-lt"/>
                <a:ea typeface="ＭＳ Ｐゴシック" charset="0"/>
              </a:rPr>
              <a:t>Lambda Calculus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F56B0-AA68-030C-9358-72D6C1AD2A4A}"/>
              </a:ext>
            </a:extLst>
          </p:cNvPr>
          <p:cNvSpPr txBox="1"/>
          <p:nvPr/>
        </p:nvSpPr>
        <p:spPr>
          <a:xfrm>
            <a:off x="0" y="1044575"/>
            <a:ext cx="45842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904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1400" b="1" dirty="0">
                <a:ea typeface="Tahoma" panose="020B0604030504040204" pitchFamily="34" charset="0"/>
                <a:cs typeface="Tahoma" panose="020B0604030504040204" pitchFamily="34" charset="0"/>
              </a:rPr>
              <a:t>lambda calculus </a:t>
            </a: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is a</a:t>
            </a:r>
            <a:r>
              <a:rPr kumimoji="1" lang="en-IE" sz="140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model of computation devised in the 1930s by Alonzo Church.</a:t>
            </a: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Functional programming languages are all </a:t>
            </a:r>
            <a:endParaRPr kumimoji="1" lang="en-IE" sz="14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based on the lambda calculus.</a:t>
            </a: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Haskell is a </a:t>
            </a:r>
            <a:r>
              <a:rPr kumimoji="1" sz="1400" b="1" dirty="0">
                <a:ea typeface="Tahoma" panose="020B0604030504040204" pitchFamily="34" charset="0"/>
                <a:cs typeface="Tahoma" panose="020B0604030504040204" pitchFamily="34" charset="0"/>
              </a:rPr>
              <a:t>pure</a:t>
            </a: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 functional language because all its features are translatable into lambda expressions.</a:t>
            </a: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Allows a higher degree of abstraction and </a:t>
            </a:r>
            <a:endParaRPr kumimoji="1" lang="en-IE" sz="14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composability.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02B0EC9-1455-7CBD-CA9A-51C85B9A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2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AA22-6471-5D74-6C71-E2CAAB598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1800" b="1" spc="145" dirty="0"/>
              <a:t>The structure of lambda terms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74BB6B-6E47-AAF7-6725-858F0A4D30D8}"/>
              </a:ext>
            </a:extLst>
          </p:cNvPr>
          <p:cNvSpPr txBox="1"/>
          <p:nvPr/>
        </p:nvSpPr>
        <p:spPr>
          <a:xfrm>
            <a:off x="171450" y="1120775"/>
            <a:ext cx="4038600" cy="178510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dirty="0"/>
              <a:t>┌─────────────── Lambda abstraction ───────┐</a:t>
            </a:r>
          </a:p>
          <a:p>
            <a:r>
              <a:rPr lang="en-US" sz="1100" dirty="0"/>
              <a:t>│                                                                                  │</a:t>
            </a:r>
          </a:p>
          <a:p>
            <a:r>
              <a:rPr lang="en-US" sz="1100" dirty="0"/>
              <a:t>│   </a:t>
            </a:r>
            <a:r>
              <a:rPr lang="en-US" sz="1100" dirty="0" err="1"/>
              <a:t>λ</a:t>
            </a:r>
            <a:r>
              <a:rPr lang="en-US" sz="1100" dirty="0"/>
              <a:t> x .       x + 1                                                          │</a:t>
            </a:r>
          </a:p>
          <a:p>
            <a:r>
              <a:rPr lang="en-US" sz="1100" dirty="0"/>
              <a:t>│   │ │         │                                                           │</a:t>
            </a:r>
          </a:p>
          <a:p>
            <a:r>
              <a:rPr lang="en-US" sz="1100" dirty="0"/>
              <a:t>│   │ │         └── Body (expression)          		│</a:t>
            </a:r>
          </a:p>
          <a:p>
            <a:r>
              <a:rPr lang="en-US" sz="1100" dirty="0"/>
              <a:t>│   │ │                                          ┌─ uses x 		│</a:t>
            </a:r>
          </a:p>
          <a:p>
            <a:r>
              <a:rPr lang="en-US" sz="1100" dirty="0"/>
              <a:t>│   │ └── Bound variable (parameter)               	│</a:t>
            </a:r>
          </a:p>
          <a:p>
            <a:r>
              <a:rPr lang="en-US" sz="1100" dirty="0"/>
              <a:t>│   └── Lambda symbol (introduces a function)      	│</a:t>
            </a:r>
          </a:p>
          <a:p>
            <a:r>
              <a:rPr lang="en-US" sz="1100" dirty="0"/>
              <a:t>│                                                  				│</a:t>
            </a:r>
          </a:p>
          <a:p>
            <a:r>
              <a:rPr lang="en-US" sz="1100" dirty="0"/>
              <a:t>└────────────────────────────  ───────┘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227DE8D-52A3-ACC3-2D85-7F545CFF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3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3626512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504527"/>
            <a:ext cx="3477003" cy="296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60425">
              <a:lnSpc>
                <a:spcPct val="100000"/>
              </a:lnSpc>
              <a:spcBef>
                <a:spcPts val="135"/>
              </a:spcBef>
            </a:pPr>
            <a:r>
              <a:rPr sz="1800" b="1" spc="204" dirty="0"/>
              <a:t>Alpha</a:t>
            </a:r>
            <a:r>
              <a:rPr b="1" spc="190" dirty="0"/>
              <a:t> </a:t>
            </a:r>
            <a:r>
              <a:rPr b="1" spc="170" dirty="0"/>
              <a:t>Equivalence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097" y="1120775"/>
            <a:ext cx="3698875" cy="2195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10" dirty="0">
                <a:solidFill>
                  <a:srgbClr val="FFFFFF"/>
                </a:solidFill>
                <a:latin typeface="Arial"/>
                <a:cs typeface="Arial"/>
              </a:rPr>
              <a:t>seen</a:t>
            </a:r>
            <a:r>
              <a:rPr sz="11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endParaRPr sz="1100" dirty="0">
              <a:latin typeface="Arial"/>
              <a:cs typeface="Arial"/>
            </a:endParaRPr>
          </a:p>
          <a:p>
            <a:pPr marL="201295" algn="ctr">
              <a:lnSpc>
                <a:spcPct val="100000"/>
              </a:lnSpc>
              <a:spcBef>
                <a:spcPts val="930"/>
              </a:spcBef>
            </a:pP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sz="1100" dirty="0">
              <a:latin typeface="Arial"/>
              <a:cs typeface="Arial"/>
            </a:endParaRPr>
          </a:p>
          <a:p>
            <a:pPr marL="12700" marR="5080" algn="just">
              <a:lnSpc>
                <a:spcPct val="102600"/>
              </a:lnSpc>
              <a:spcBef>
                <a:spcPts val="90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here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semantically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meaningful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except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its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role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expression.</a:t>
            </a:r>
            <a:r>
              <a:rPr sz="1100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FFFFFF"/>
                </a:solidFill>
                <a:latin typeface="Arial"/>
                <a:cs typeface="Arial"/>
              </a:rPr>
              <a:t>Because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this,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there’s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form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equivalence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between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terms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called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alpha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equivalence.</a:t>
            </a:r>
            <a:r>
              <a:rPr sz="1100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words,</a:t>
            </a:r>
            <a:endParaRPr sz="1100" dirty="0">
              <a:latin typeface="Arial"/>
              <a:cs typeface="Arial"/>
            </a:endParaRPr>
          </a:p>
          <a:p>
            <a:pPr marL="1505585" marR="1292860" indent="-3810" algn="ctr">
              <a:lnSpc>
                <a:spcPct val="102600"/>
              </a:lnSpc>
              <a:spcBef>
                <a:spcPts val="894"/>
              </a:spcBef>
            </a:pP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x </a:t>
            </a:r>
            <a:r>
              <a:rPr sz="11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apple</a:t>
            </a:r>
            <a:r>
              <a:rPr sz="11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apple </a:t>
            </a:r>
            <a:r>
              <a:rPr sz="1100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-50" dirty="0">
                <a:solidFill>
                  <a:srgbClr val="FFFFFF"/>
                </a:solidFill>
                <a:latin typeface="Arial"/>
                <a:cs typeface="Arial"/>
              </a:rPr>
              <a:t>orange</a:t>
            </a:r>
            <a:r>
              <a:rPr sz="1100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-50" dirty="0">
                <a:solidFill>
                  <a:srgbClr val="FFFFFF"/>
                </a:solidFill>
                <a:latin typeface="Arial"/>
                <a:cs typeface="Arial"/>
              </a:rPr>
              <a:t>orange</a:t>
            </a:r>
            <a:endParaRPr sz="11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mean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sz="1100" spc="-100" dirty="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thing.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A97B6C7-7105-F3A8-5044-EA663D269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4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504527"/>
            <a:ext cx="3477003" cy="296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04569">
              <a:lnSpc>
                <a:spcPct val="100000"/>
              </a:lnSpc>
              <a:spcBef>
                <a:spcPts val="135"/>
              </a:spcBef>
            </a:pPr>
            <a:r>
              <a:rPr sz="1800" b="1" spc="235" dirty="0"/>
              <a:t>Beta</a:t>
            </a:r>
            <a:r>
              <a:rPr b="1" spc="195" dirty="0"/>
              <a:t> </a:t>
            </a:r>
            <a:r>
              <a:rPr b="1" spc="190" dirty="0"/>
              <a:t>Reduction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450" y="1044575"/>
            <a:ext cx="3933825" cy="217783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600" spc="-50" dirty="0">
                <a:solidFill>
                  <a:srgbClr val="FFFFFF"/>
                </a:solidFill>
                <a:cs typeface="Arial"/>
              </a:rPr>
              <a:t>When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90" dirty="0">
                <a:solidFill>
                  <a:srgbClr val="FFFFFF"/>
                </a:solidFill>
                <a:cs typeface="Arial"/>
              </a:rPr>
              <a:t>we</a:t>
            </a:r>
            <a:r>
              <a:rPr sz="16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30" dirty="0">
                <a:solidFill>
                  <a:srgbClr val="FFFFFF"/>
                </a:solidFill>
                <a:cs typeface="Arial"/>
              </a:rPr>
              <a:t>apply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a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function </a:t>
            </a:r>
            <a:r>
              <a:rPr sz="1600" dirty="0">
                <a:solidFill>
                  <a:srgbClr val="FFFFFF"/>
                </a:solidFill>
                <a:cs typeface="Arial"/>
              </a:rPr>
              <a:t>to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an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35" dirty="0">
                <a:solidFill>
                  <a:srgbClr val="FFFFFF"/>
                </a:solidFill>
                <a:cs typeface="Arial"/>
              </a:rPr>
              <a:t>argument,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we</a:t>
            </a:r>
            <a:endParaRPr sz="1600" dirty="0">
              <a:cs typeface="Arial"/>
            </a:endParaRPr>
          </a:p>
          <a:p>
            <a:pPr marL="314960" marR="330835" indent="-177165">
              <a:lnSpc>
                <a:spcPct val="102600"/>
              </a:lnSpc>
              <a:spcBef>
                <a:spcPts val="300"/>
              </a:spcBef>
              <a:buFont typeface="Wingdings" pitchFamily="2" charset="2"/>
              <a:buChar char="q"/>
            </a:pPr>
            <a:r>
              <a:rPr sz="1600" spc="-25" dirty="0">
                <a:solidFill>
                  <a:srgbClr val="FFFFFF"/>
                </a:solidFill>
                <a:cs typeface="Arial"/>
              </a:rPr>
              <a:t>substitute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input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70" dirty="0">
                <a:solidFill>
                  <a:srgbClr val="FFFFFF"/>
                </a:solidFill>
                <a:cs typeface="Arial"/>
              </a:rPr>
              <a:t>expression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for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all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55" dirty="0">
                <a:solidFill>
                  <a:srgbClr val="FFFFFF"/>
                </a:solidFill>
                <a:cs typeface="Arial"/>
              </a:rPr>
              <a:t>instances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of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bound </a:t>
            </a:r>
            <a:r>
              <a:rPr sz="1600" spc="-55" dirty="0">
                <a:solidFill>
                  <a:srgbClr val="FFFFFF"/>
                </a:solidFill>
                <a:cs typeface="Arial"/>
              </a:rPr>
              <a:t>variables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within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body </a:t>
            </a:r>
            <a:r>
              <a:rPr sz="1600" dirty="0">
                <a:solidFill>
                  <a:srgbClr val="FFFFFF"/>
                </a:solidFill>
                <a:cs typeface="Arial"/>
              </a:rPr>
              <a:t>of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abstraction</a:t>
            </a:r>
            <a:endParaRPr sz="1600" dirty="0">
              <a:cs typeface="Arial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Font typeface="Wingdings" pitchFamily="2" charset="2"/>
              <a:buChar char="q"/>
            </a:pPr>
            <a:r>
              <a:rPr sz="1600" spc="-35" dirty="0">
                <a:solidFill>
                  <a:srgbClr val="FFFFFF"/>
                </a:solidFill>
                <a:cs typeface="Arial"/>
              </a:rPr>
              <a:t>eliminate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65" dirty="0">
                <a:solidFill>
                  <a:srgbClr val="FFFFFF"/>
                </a:solidFill>
                <a:cs typeface="Arial"/>
              </a:rPr>
              <a:t>head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of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30" dirty="0">
                <a:solidFill>
                  <a:srgbClr val="FFFFFF"/>
                </a:solidFill>
                <a:cs typeface="Arial"/>
              </a:rPr>
              <a:t>abstraction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(its</a:t>
            </a:r>
            <a:r>
              <a:rPr sz="16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only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65" dirty="0">
                <a:solidFill>
                  <a:srgbClr val="FFFFFF"/>
                </a:solidFill>
                <a:cs typeface="Arial"/>
              </a:rPr>
              <a:t>purpose</a:t>
            </a:r>
            <a:r>
              <a:rPr sz="16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5" dirty="0">
                <a:solidFill>
                  <a:srgbClr val="FFFFFF"/>
                </a:solidFill>
                <a:cs typeface="Arial"/>
              </a:rPr>
              <a:t>was</a:t>
            </a:r>
            <a:r>
              <a:rPr sz="1600" spc="3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to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bind</a:t>
            </a:r>
            <a:r>
              <a:rPr sz="16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a</a:t>
            </a:r>
            <a:r>
              <a:rPr sz="16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variable)</a:t>
            </a:r>
            <a:endParaRPr sz="1600" dirty="0"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600" spc="-10" dirty="0">
                <a:solidFill>
                  <a:srgbClr val="FFFFFF"/>
                </a:solidFill>
                <a:cs typeface="Arial"/>
              </a:rPr>
              <a:t>This</a:t>
            </a:r>
            <a:r>
              <a:rPr sz="16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85" dirty="0">
                <a:solidFill>
                  <a:srgbClr val="FFFFFF"/>
                </a:solidFill>
                <a:cs typeface="Arial"/>
              </a:rPr>
              <a:t>process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is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40" dirty="0">
                <a:solidFill>
                  <a:srgbClr val="FFFFFF"/>
                </a:solidFill>
                <a:cs typeface="Arial"/>
              </a:rPr>
              <a:t>called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beta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reduction.</a:t>
            </a:r>
            <a:endParaRPr sz="1600" dirty="0"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1DF7CF28-3646-AC6B-C5A7-2494D3EBE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5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02DAF-3D2A-FCC5-73C1-08BBF90D7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23" y="274128"/>
            <a:ext cx="3477003" cy="544973"/>
          </a:xfrm>
        </p:spPr>
        <p:txBody>
          <a:bodyPr>
            <a:normAutofit/>
          </a:bodyPr>
          <a:lstStyle/>
          <a:p>
            <a:r>
              <a:rPr lang="en-US" sz="1800" b="1" dirty="0"/>
              <a:t>Beta Reduction – Example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B46D3-05B2-8DF1-C524-9B31E14FB0F0}"/>
              </a:ext>
            </a:extLst>
          </p:cNvPr>
          <p:cNvSpPr txBox="1"/>
          <p:nvPr/>
        </p:nvSpPr>
        <p:spPr>
          <a:xfrm>
            <a:off x="268034" y="1077278"/>
            <a:ext cx="4090606" cy="20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/>
            </a:pPr>
            <a:r>
              <a:rPr lang="el-GR" sz="1210" dirty="0"/>
              <a:t>λ </a:t>
            </a:r>
            <a:r>
              <a:rPr lang="en-IE" sz="1210" dirty="0"/>
              <a:t>x. x</a:t>
            </a:r>
          </a:p>
          <a:p>
            <a:pPr marL="230520" indent="-230520">
              <a:buFont typeface="Wingdings" pitchFamily="2" charset="2"/>
              <a:buChar char="q"/>
              <a:defRPr sz="3200"/>
            </a:pPr>
            <a:r>
              <a:rPr lang="en-IE" sz="1008" dirty="0"/>
              <a:t>We apply the function above to 2</a:t>
            </a:r>
          </a:p>
          <a:p>
            <a:pPr marL="230520" indent="-230520">
              <a:buFont typeface="Wingdings" pitchFamily="2" charset="2"/>
              <a:buChar char="q"/>
              <a:defRPr sz="3200"/>
            </a:pPr>
            <a:r>
              <a:rPr lang="en-IE" sz="1008" dirty="0"/>
              <a:t>substitute 2 for each bound variable in the body of the function, and then </a:t>
            </a:r>
          </a:p>
          <a:p>
            <a:pPr marL="230520" indent="-230520">
              <a:buFont typeface="Wingdings" pitchFamily="2" charset="2"/>
              <a:buChar char="q"/>
              <a:defRPr sz="3200"/>
            </a:pPr>
            <a:r>
              <a:rPr lang="en-IE" sz="1008" dirty="0"/>
              <a:t>eliminate the head: </a:t>
            </a:r>
          </a:p>
          <a:p>
            <a:pPr indent="1459161">
              <a:defRPr sz="3200"/>
            </a:pPr>
            <a:r>
              <a:rPr lang="en-IE" sz="1613" dirty="0"/>
              <a:t>  </a:t>
            </a:r>
            <a:r>
              <a:rPr lang="en-IE" sz="1210" dirty="0"/>
              <a:t>(</a:t>
            </a:r>
            <a:r>
              <a:rPr lang="el-GR" sz="1210" dirty="0"/>
              <a:t>λ </a:t>
            </a:r>
            <a:r>
              <a:rPr lang="en-IE" sz="1210" dirty="0"/>
              <a:t>x. x)  2</a:t>
            </a:r>
          </a:p>
          <a:p>
            <a:pPr indent="2177936">
              <a:defRPr sz="3200"/>
            </a:pPr>
            <a:r>
              <a:rPr lang="en-IE" sz="1210" dirty="0"/>
              <a:t>2</a:t>
            </a:r>
          </a:p>
          <a:p>
            <a:pPr>
              <a:defRPr sz="3200"/>
            </a:pPr>
            <a:endParaRPr lang="en-IE" sz="1613" dirty="0"/>
          </a:p>
          <a:p>
            <a:pPr marL="172890" indent="-172890">
              <a:buFont typeface="Wingdings" pitchFamily="2" charset="2"/>
              <a:buChar char="q"/>
              <a:defRPr sz="3200"/>
            </a:pPr>
            <a:r>
              <a:rPr lang="en-IE" sz="1008" dirty="0"/>
              <a:t> The only bound variable is the single x, so applying this function to 2 returns 2. </a:t>
            </a:r>
          </a:p>
          <a:p>
            <a:pPr marL="172890" indent="-172890">
              <a:buFont typeface="Wingdings" pitchFamily="2" charset="2"/>
              <a:buChar char="q"/>
              <a:defRPr sz="3200"/>
            </a:pPr>
            <a:r>
              <a:rPr lang="en-IE" sz="1008" dirty="0"/>
              <a:t> This function is the </a:t>
            </a:r>
            <a:r>
              <a:rPr lang="en-IE" sz="1008" b="1" dirty="0"/>
              <a:t>identity</a:t>
            </a:r>
            <a:r>
              <a:rPr lang="en-IE" sz="1008" dirty="0"/>
              <a:t> function.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D10B77-86A1-24CA-EEED-1E48E6BC0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6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268826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E8B5-05CA-3650-5E87-01E2BE522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380102"/>
            <a:ext cx="3477003" cy="545473"/>
          </a:xfrm>
        </p:spPr>
        <p:txBody>
          <a:bodyPr>
            <a:normAutofit/>
          </a:bodyPr>
          <a:lstStyle/>
          <a:p>
            <a:r>
              <a:rPr lang="en-US" sz="1800" b="1" dirty="0"/>
              <a:t>Beta Reduction – Example 2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BCAE0-04F6-994A-3B21-3F5311C4E4B7}"/>
              </a:ext>
            </a:extLst>
          </p:cNvPr>
          <p:cNvSpPr txBox="1"/>
          <p:nvPr/>
        </p:nvSpPr>
        <p:spPr>
          <a:xfrm>
            <a:off x="503895" y="1298849"/>
            <a:ext cx="219932" cy="232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8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2A8E2-6028-DC01-975B-40959D04FEDB}"/>
              </a:ext>
            </a:extLst>
          </p:cNvPr>
          <p:cNvSpPr txBox="1"/>
          <p:nvPr/>
        </p:nvSpPr>
        <p:spPr>
          <a:xfrm>
            <a:off x="1434627" y="1221263"/>
            <a:ext cx="2310410" cy="309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kumimoji="1" lang="en-IE" sz="1412" dirty="0"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1" lang="el-GR" sz="1412" dirty="0">
                <a:ea typeface="Tahoma" panose="020B0604030504040204" pitchFamily="34" charset="0"/>
                <a:cs typeface="Tahoma" panose="020B0604030504040204" pitchFamily="34" charset="0"/>
              </a:rPr>
              <a:t>λ </a:t>
            </a:r>
            <a:r>
              <a:rPr kumimoji="1" lang="en-IE" sz="1412" dirty="0">
                <a:ea typeface="Tahoma" panose="020B0604030504040204" pitchFamily="34" charset="0"/>
                <a:cs typeface="Tahoma" panose="020B0604030504040204" pitchFamily="34" charset="0"/>
              </a:rPr>
              <a:t>x. x+1)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FF354-E56B-5141-AB09-9CD9D852E3F0}"/>
              </a:ext>
            </a:extLst>
          </p:cNvPr>
          <p:cNvSpPr txBox="1"/>
          <p:nvPr/>
        </p:nvSpPr>
        <p:spPr>
          <a:xfrm>
            <a:off x="418126" y="1641926"/>
            <a:ext cx="3845925" cy="925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 if we apply this to 2 </a:t>
            </a:r>
          </a:p>
          <a:p>
            <a:r>
              <a:rPr lang="en-US" dirty="0"/>
              <a:t>(try this yourself) </a:t>
            </a:r>
          </a:p>
          <a:p>
            <a:endParaRPr lang="en-US" sz="908" dirty="0"/>
          </a:p>
          <a:p>
            <a:endParaRPr lang="en-US" sz="908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FA816542-F548-22DA-EB50-EF7CD0E02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7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2989812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975" y="502401"/>
            <a:ext cx="3477003" cy="2666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"/>
            <a:r>
              <a:rPr sz="1800" b="1" dirty="0"/>
              <a:t>Beta </a:t>
            </a:r>
            <a:r>
              <a:rPr lang="en-IE" sz="1800" b="1" dirty="0"/>
              <a:t>R</a:t>
            </a:r>
            <a:r>
              <a:rPr sz="1800" b="1" dirty="0" err="1"/>
              <a:t>eduction</a:t>
            </a:r>
            <a:r>
              <a:rPr lang="en-IE" sz="1800" b="1" dirty="0"/>
              <a:t>- Example 3</a:t>
            </a:r>
            <a:endParaRPr sz="18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239354" y="994032"/>
            <a:ext cx="3913504" cy="2383666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763" indent="130175">
              <a:lnSpc>
                <a:spcPct val="100000"/>
              </a:lnSpc>
              <a:spcBef>
                <a:spcPts val="570"/>
              </a:spcBef>
              <a:buFont typeface="Wingdings" pitchFamily="2" charset="2"/>
              <a:buChar char="q"/>
            </a:pPr>
            <a:r>
              <a:rPr lang="en-IE" sz="11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also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identity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another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lambda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abstraction:</a:t>
            </a:r>
            <a:endParaRPr sz="1100" dirty="0">
              <a:latin typeface="Arial"/>
              <a:cs typeface="Arial"/>
            </a:endParaRPr>
          </a:p>
          <a:p>
            <a:pPr marL="1574165">
              <a:lnSpc>
                <a:spcPct val="100000"/>
              </a:lnSpc>
              <a:spcBef>
                <a:spcPts val="570"/>
              </a:spcBef>
            </a:pP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)(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  <a:p>
            <a:pPr marL="184150" marR="5080" indent="-171450">
              <a:lnSpc>
                <a:spcPct val="102600"/>
              </a:lnSpc>
              <a:spcBef>
                <a:spcPts val="535"/>
              </a:spcBef>
              <a:buFont typeface="Wingdings" pitchFamily="2" charset="2"/>
              <a:buChar char="q"/>
            </a:pP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"/>
                <a:cs typeface="Arial"/>
              </a:rPr>
              <a:t>case,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substitute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entire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abstraction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110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IE" sz="1100" spc="1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84150" marR="5080" indent="-171450">
              <a:lnSpc>
                <a:spcPct val="102600"/>
              </a:lnSpc>
              <a:spcBef>
                <a:spcPts val="535"/>
              </a:spcBef>
              <a:buFont typeface="Wingdings" pitchFamily="2" charset="2"/>
              <a:buChar char="q"/>
            </a:pPr>
            <a:r>
              <a:rPr lang="en-IE" sz="1100" spc="11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5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syntax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here,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latin typeface="Arial"/>
                <a:cs typeface="Arial"/>
              </a:rPr>
              <a:t>:=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8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],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indicate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substituted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occurrences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IE" sz="1100" i="1" spc="9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535"/>
              </a:spcBef>
            </a:pPr>
            <a:r>
              <a:rPr lang="en-IE" sz="1100" i="1" spc="9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(here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50" dirty="0" err="1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 err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 err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 err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))</a:t>
            </a:r>
            <a:endParaRPr lang="en-IE" sz="1100" spc="1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84150" marR="5080" indent="-171450">
              <a:lnSpc>
                <a:spcPct val="102600"/>
              </a:lnSpc>
              <a:spcBef>
                <a:spcPts val="535"/>
              </a:spcBef>
              <a:buFont typeface="Wingdings" pitchFamily="2" charset="2"/>
              <a:buChar char="q"/>
            </a:pP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reduce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application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like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this:</a:t>
            </a:r>
            <a:endParaRPr sz="1100" dirty="0">
              <a:latin typeface="Arial"/>
              <a:cs typeface="Arial"/>
            </a:endParaRPr>
          </a:p>
          <a:p>
            <a:pPr marR="1566545" algn="r">
              <a:lnSpc>
                <a:spcPct val="100000"/>
              </a:lnSpc>
              <a:spcBef>
                <a:spcPts val="570"/>
              </a:spcBef>
            </a:pP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)(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  <a:p>
            <a:pPr marR="1566545" algn="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latin typeface="Arial"/>
                <a:cs typeface="Arial"/>
              </a:rPr>
              <a:t>:=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)]</a:t>
            </a:r>
            <a:endParaRPr sz="1100" dirty="0">
              <a:latin typeface="Arial"/>
              <a:cs typeface="Arial"/>
            </a:endParaRPr>
          </a:p>
          <a:p>
            <a:pPr marR="1573530" algn="r">
              <a:lnSpc>
                <a:spcPct val="100000"/>
              </a:lnSpc>
              <a:spcBef>
                <a:spcPts val="35"/>
              </a:spcBef>
            </a:pP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50" dirty="0" err="1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 err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 err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 err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71A04194-F2AC-28F9-CAFB-653140E8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8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676" y="1044575"/>
            <a:ext cx="4632029" cy="2617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90"/>
              </a:spcBef>
            </a:pPr>
            <a:r>
              <a:rPr sz="1000" spc="-65" dirty="0">
                <a:solidFill>
                  <a:srgbClr val="FFFFFF"/>
                </a:solidFill>
                <a:cs typeface="Arial"/>
              </a:rPr>
              <a:t>Once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more,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but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this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time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we’ll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add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another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argument:</a:t>
            </a:r>
            <a:endParaRPr sz="1000" dirty="0">
              <a:cs typeface="Arial"/>
            </a:endParaRPr>
          </a:p>
          <a:p>
            <a:pPr marR="1435100" algn="r">
              <a:lnSpc>
                <a:spcPct val="100000"/>
              </a:lnSpc>
              <a:spcBef>
                <a:spcPts val="795"/>
              </a:spcBef>
            </a:pP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)(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endParaRPr sz="1100" dirty="0">
              <a:latin typeface="Arial"/>
              <a:cs typeface="Arial"/>
            </a:endParaRPr>
          </a:p>
          <a:p>
            <a:pPr marR="64769" algn="just">
              <a:lnSpc>
                <a:spcPct val="102600"/>
              </a:lnSpc>
              <a:spcBef>
                <a:spcPts val="760"/>
              </a:spcBef>
            </a:pPr>
            <a:r>
              <a:rPr sz="1000" spc="-30" dirty="0">
                <a:solidFill>
                  <a:srgbClr val="FFFFFF"/>
                </a:solidFill>
                <a:cs typeface="Arial"/>
              </a:rPr>
              <a:t>Applications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 the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lambda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calculus</a:t>
            </a:r>
            <a:r>
              <a:rPr sz="100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60" dirty="0">
                <a:solidFill>
                  <a:srgbClr val="FFFFFF"/>
                </a:solidFill>
                <a:cs typeface="Arial"/>
              </a:rPr>
              <a:t>are</a:t>
            </a:r>
            <a:r>
              <a:rPr sz="1000" dirty="0">
                <a:solidFill>
                  <a:srgbClr val="FFFFFF"/>
                </a:solidFill>
                <a:cs typeface="Arial"/>
              </a:rPr>
              <a:t> left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associative.</a:t>
            </a:r>
            <a:r>
              <a:rPr sz="1000" spc="9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That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is, </a:t>
            </a:r>
            <a:r>
              <a:rPr sz="1000" spc="-80" dirty="0">
                <a:solidFill>
                  <a:srgbClr val="FFFFFF"/>
                </a:solidFill>
                <a:cs typeface="Arial"/>
              </a:rPr>
              <a:t>unless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specific</a:t>
            </a:r>
            <a:r>
              <a:rPr sz="10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75" dirty="0">
                <a:solidFill>
                  <a:srgbClr val="FFFFFF"/>
                </a:solidFill>
                <a:cs typeface="Arial"/>
              </a:rPr>
              <a:t>parentheses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70" dirty="0">
                <a:solidFill>
                  <a:srgbClr val="FFFFFF"/>
                </a:solidFill>
                <a:cs typeface="Arial"/>
              </a:rPr>
              <a:t>suggest</a:t>
            </a:r>
            <a:r>
              <a:rPr sz="10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otherwise,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they</a:t>
            </a:r>
            <a:r>
              <a:rPr sz="10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55" dirty="0">
                <a:solidFill>
                  <a:srgbClr val="FFFFFF"/>
                </a:solidFill>
                <a:cs typeface="Arial"/>
              </a:rPr>
              <a:t>associate,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or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group,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to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left.</a:t>
            </a:r>
            <a:r>
              <a:rPr sz="1000" spc="114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So,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it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can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be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rewritten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as:</a:t>
            </a:r>
            <a:endParaRPr lang="en-IE" sz="1000" dirty="0">
              <a:cs typeface="Arial"/>
            </a:endParaRPr>
          </a:p>
          <a:p>
            <a:pPr marR="64769" algn="just">
              <a:lnSpc>
                <a:spcPct val="102600"/>
              </a:lnSpc>
              <a:spcBef>
                <a:spcPts val="760"/>
              </a:spcBef>
            </a:pPr>
            <a:r>
              <a:rPr lang="en-IE" sz="1000" dirty="0">
                <a:solidFill>
                  <a:srgbClr val="FFFFFF"/>
                </a:solidFill>
                <a:latin typeface="Arial"/>
                <a:cs typeface="Arial"/>
              </a:rPr>
              <a:t>		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((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)(</a:t>
            </a:r>
            <a:r>
              <a:rPr sz="1100" i="1" spc="25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2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2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2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))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 </a:t>
            </a:r>
            <a:endParaRPr lang="en-IE" sz="1100" i="1" spc="-25" dirty="0">
              <a:solidFill>
                <a:srgbClr val="FFFFFF"/>
              </a:solidFill>
              <a:latin typeface="Arial"/>
              <a:cs typeface="Arial"/>
            </a:endParaRPr>
          </a:p>
          <a:p>
            <a:pPr marR="64769" algn="just">
              <a:lnSpc>
                <a:spcPct val="102600"/>
              </a:lnSpc>
              <a:spcBef>
                <a:spcPts val="760"/>
              </a:spcBef>
            </a:pPr>
            <a:r>
              <a:rPr lang="en-IE" sz="11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dirty="0">
                <a:solidFill>
                  <a:srgbClr val="FFFFFF"/>
                </a:solidFill>
                <a:cs typeface="Times New Roman"/>
              </a:rPr>
              <a:t>β</a:t>
            </a:r>
            <a:r>
              <a:rPr sz="1000" dirty="0">
                <a:solidFill>
                  <a:srgbClr val="FFFFFF"/>
                </a:solidFill>
                <a:cs typeface="Arial"/>
              </a:rPr>
              <a:t>-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reduction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is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5" dirty="0">
                <a:solidFill>
                  <a:srgbClr val="FFFFFF"/>
                </a:solidFill>
                <a:cs typeface="Arial"/>
              </a:rPr>
              <a:t>as</a:t>
            </a:r>
            <a:r>
              <a:rPr sz="1000" spc="3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follows</a:t>
            </a:r>
            <a:r>
              <a:rPr lang="en-IE" sz="1000" spc="-10" dirty="0">
                <a:solidFill>
                  <a:srgbClr val="FFFFFF"/>
                </a:solidFill>
                <a:cs typeface="Arial"/>
              </a:rPr>
              <a:t>:</a:t>
            </a:r>
          </a:p>
          <a:p>
            <a:pPr marR="1381125" indent="933450" algn="just">
              <a:lnSpc>
                <a:spcPct val="160300"/>
              </a:lnSpc>
            </a:pPr>
            <a:r>
              <a:rPr sz="1100" spc="40" dirty="0">
                <a:solidFill>
                  <a:srgbClr val="FFFFFF"/>
                </a:solidFill>
                <a:cs typeface="Arial"/>
              </a:rPr>
              <a:t>((</a:t>
            </a:r>
            <a:r>
              <a:rPr sz="1100" i="1" spc="40" dirty="0">
                <a:solidFill>
                  <a:srgbClr val="FFFFFF"/>
                </a:solidFill>
                <a:cs typeface="Times New Roman"/>
              </a:rPr>
              <a:t>λ</a:t>
            </a:r>
            <a:r>
              <a:rPr sz="1100" i="1" spc="40" dirty="0">
                <a:solidFill>
                  <a:srgbClr val="FFFFFF"/>
                </a:solidFill>
                <a:cs typeface="Arial"/>
              </a:rPr>
              <a:t>x</a:t>
            </a:r>
            <a:r>
              <a:rPr sz="1100" i="1" spc="40" dirty="0">
                <a:solidFill>
                  <a:srgbClr val="FFFFFF"/>
                </a:solidFill>
                <a:cs typeface="Times New Roman"/>
              </a:rPr>
              <a:t>.</a:t>
            </a:r>
            <a:r>
              <a:rPr sz="1100" i="1" spc="40" dirty="0">
                <a:solidFill>
                  <a:srgbClr val="FFFFFF"/>
                </a:solidFill>
                <a:cs typeface="Arial"/>
              </a:rPr>
              <a:t>x</a:t>
            </a:r>
            <a:r>
              <a:rPr sz="1100" i="1" spc="-180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cs typeface="Arial"/>
              </a:rPr>
              <a:t>)(</a:t>
            </a:r>
            <a:r>
              <a:rPr sz="1100" i="1" spc="50" dirty="0" err="1">
                <a:solidFill>
                  <a:srgbClr val="FFFFFF"/>
                </a:solidFill>
                <a:cs typeface="Times New Roman"/>
              </a:rPr>
              <a:t>λ</a:t>
            </a:r>
            <a:r>
              <a:rPr sz="1100" i="1" spc="50" dirty="0" err="1">
                <a:solidFill>
                  <a:srgbClr val="FFFFFF"/>
                </a:solidFill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cs typeface="Times New Roman"/>
              </a:rPr>
              <a:t>.</a:t>
            </a:r>
            <a:r>
              <a:rPr lang="en-IE" sz="1100" i="1" spc="50" dirty="0">
                <a:solidFill>
                  <a:srgbClr val="FFFFFF"/>
                </a:solidFill>
                <a:cs typeface="Times New Roman"/>
              </a:rPr>
              <a:t>y</a:t>
            </a:r>
            <a:r>
              <a:rPr sz="1100" spc="-25" dirty="0">
                <a:solidFill>
                  <a:srgbClr val="FFFFFF"/>
                </a:solidFill>
                <a:cs typeface="Arial"/>
              </a:rPr>
              <a:t>))</a:t>
            </a:r>
            <a:r>
              <a:rPr sz="1100" i="1" spc="-25" dirty="0">
                <a:solidFill>
                  <a:srgbClr val="FFFFFF"/>
                </a:solidFill>
                <a:cs typeface="Arial"/>
              </a:rPr>
              <a:t>z</a:t>
            </a:r>
            <a:r>
              <a:rPr lang="en-IE" sz="1100" dirty="0">
                <a:cs typeface="Arial"/>
              </a:rPr>
              <a:t>    </a:t>
            </a:r>
            <a:r>
              <a:rPr sz="1100" dirty="0">
                <a:solidFill>
                  <a:srgbClr val="FFFFFF"/>
                </a:solidFill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cs typeface="Arial"/>
              </a:rPr>
              <a:t>x</a:t>
            </a:r>
            <a:r>
              <a:rPr sz="1100" i="1" spc="75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cs typeface="Arial"/>
              </a:rPr>
              <a:t>:=</a:t>
            </a:r>
            <a:r>
              <a:rPr sz="11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cs typeface="Arial"/>
              </a:rPr>
              <a:t>(</a:t>
            </a:r>
            <a:r>
              <a:rPr sz="1100" i="1" spc="50" dirty="0" err="1">
                <a:solidFill>
                  <a:srgbClr val="FFFFFF"/>
                </a:solidFill>
                <a:cs typeface="Times New Roman"/>
              </a:rPr>
              <a:t>λ</a:t>
            </a:r>
            <a:r>
              <a:rPr sz="1100" i="1" spc="50" dirty="0" err="1">
                <a:solidFill>
                  <a:srgbClr val="FFFFFF"/>
                </a:solidFill>
                <a:cs typeface="Arial"/>
              </a:rPr>
              <a:t>y</a:t>
            </a:r>
            <a:r>
              <a:rPr sz="1100" i="1" spc="50" dirty="0" err="1">
                <a:solidFill>
                  <a:srgbClr val="FFFFFF"/>
                </a:solidFill>
                <a:cs typeface="Times New Roman"/>
              </a:rPr>
              <a:t>.</a:t>
            </a:r>
            <a:r>
              <a:rPr sz="1100" i="1" spc="50" dirty="0" err="1">
                <a:solidFill>
                  <a:srgbClr val="FFFFFF"/>
                </a:solidFill>
                <a:cs typeface="Arial"/>
              </a:rPr>
              <a:t>y</a:t>
            </a:r>
            <a:r>
              <a:rPr sz="1100" i="1" spc="-190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cs typeface="Arial"/>
              </a:rPr>
              <a:t>)]</a:t>
            </a:r>
            <a:endParaRPr lang="en-IE" sz="1100" dirty="0">
              <a:cs typeface="Arial"/>
            </a:endParaRPr>
          </a:p>
          <a:p>
            <a:pPr marR="1381125" indent="933450" algn="just">
              <a:lnSpc>
                <a:spcPct val="160300"/>
              </a:lnSpc>
            </a:pPr>
            <a:r>
              <a:rPr lang="en-IE" sz="1100" spc="50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cs typeface="Arial"/>
              </a:rPr>
              <a:t>(</a:t>
            </a:r>
            <a:r>
              <a:rPr sz="1100" i="1" spc="50" dirty="0" err="1">
                <a:solidFill>
                  <a:srgbClr val="FFFFFF"/>
                </a:solidFill>
                <a:cs typeface="Times New Roman"/>
              </a:rPr>
              <a:t>λ</a:t>
            </a:r>
            <a:r>
              <a:rPr sz="1100" i="1" spc="50" dirty="0" err="1">
                <a:solidFill>
                  <a:srgbClr val="FFFFFF"/>
                </a:solidFill>
                <a:cs typeface="Arial"/>
              </a:rPr>
              <a:t>y</a:t>
            </a:r>
            <a:r>
              <a:rPr sz="1100" i="1" spc="50" dirty="0" err="1">
                <a:solidFill>
                  <a:srgbClr val="FFFFFF"/>
                </a:solidFill>
                <a:cs typeface="Times New Roman"/>
              </a:rPr>
              <a:t>.</a:t>
            </a:r>
            <a:r>
              <a:rPr sz="1100" i="1" spc="50" dirty="0" err="1">
                <a:solidFill>
                  <a:srgbClr val="FFFFFF"/>
                </a:solidFill>
                <a:cs typeface="Arial"/>
              </a:rPr>
              <a:t>y</a:t>
            </a:r>
            <a:r>
              <a:rPr sz="1100" i="1" spc="-185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cs typeface="Arial"/>
              </a:rPr>
              <a:t>)</a:t>
            </a:r>
            <a:r>
              <a:rPr sz="1100" i="1" spc="-25" dirty="0">
                <a:solidFill>
                  <a:srgbClr val="FFFFFF"/>
                </a:solidFill>
                <a:cs typeface="Arial"/>
              </a:rPr>
              <a:t>z</a:t>
            </a:r>
            <a:r>
              <a:rPr lang="en-IE" sz="1100" dirty="0">
                <a:cs typeface="Arial"/>
              </a:rPr>
              <a:t>.    </a:t>
            </a:r>
            <a:r>
              <a:rPr sz="1100" dirty="0">
                <a:solidFill>
                  <a:srgbClr val="FFFFFF"/>
                </a:solidFill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cs typeface="Arial"/>
              </a:rPr>
              <a:t>y</a:t>
            </a:r>
            <a:r>
              <a:rPr sz="1100" i="1" spc="100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cs typeface="Arial"/>
              </a:rPr>
              <a:t>:=</a:t>
            </a:r>
            <a:r>
              <a:rPr sz="11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100" i="1" spc="-85" dirty="0">
                <a:solidFill>
                  <a:srgbClr val="FFFFFF"/>
                </a:solidFill>
                <a:cs typeface="Arial"/>
              </a:rPr>
              <a:t>z</a:t>
            </a:r>
            <a:r>
              <a:rPr sz="1100" i="1" spc="-210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cs typeface="Arial"/>
              </a:rPr>
              <a:t>]</a:t>
            </a:r>
            <a:endParaRPr lang="en-IE" sz="1100" dirty="0">
              <a:cs typeface="Arial"/>
            </a:endParaRPr>
          </a:p>
          <a:p>
            <a:pPr marR="1381125" indent="933450" algn="just">
              <a:lnSpc>
                <a:spcPct val="160300"/>
              </a:lnSpc>
            </a:pPr>
            <a:r>
              <a:rPr lang="en-IE" sz="1100" i="1" spc="-50" dirty="0">
                <a:solidFill>
                  <a:srgbClr val="FFFFFF"/>
                </a:solidFill>
                <a:cs typeface="Arial"/>
              </a:rPr>
              <a:t>   </a:t>
            </a:r>
            <a:r>
              <a:rPr sz="1100" i="1" spc="-50" dirty="0">
                <a:solidFill>
                  <a:srgbClr val="FFFFFF"/>
                </a:solidFill>
                <a:cs typeface="Arial"/>
              </a:rPr>
              <a:t>z</a:t>
            </a:r>
            <a:endParaRPr lang="en-IE" sz="1100" i="1" spc="-50" dirty="0">
              <a:solidFill>
                <a:srgbClr val="FFFFFF"/>
              </a:solidFill>
              <a:cs typeface="Arial"/>
            </a:endParaRPr>
          </a:p>
          <a:p>
            <a:pPr marL="12700" marR="5080" algn="just">
              <a:lnSpc>
                <a:spcPct val="102600"/>
              </a:lnSpc>
              <a:spcBef>
                <a:spcPts val="760"/>
              </a:spcBef>
            </a:pPr>
            <a:r>
              <a:rPr lang="en-IE" sz="900" spc="-5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lang="en-IE" sz="900" dirty="0">
              <a:latin typeface="Arial"/>
              <a:cs typeface="Arial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4C60A254-79E5-B18B-C721-9BE5B211C311}"/>
              </a:ext>
            </a:extLst>
          </p:cNvPr>
          <p:cNvSpPr txBox="1">
            <a:spLocks/>
          </p:cNvSpPr>
          <p:nvPr/>
        </p:nvSpPr>
        <p:spPr>
          <a:xfrm>
            <a:off x="103440" y="513432"/>
            <a:ext cx="3477003" cy="266611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>
            <a:lvl1pPr algn="l" defTabSz="4610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1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350"/>
            <a:r>
              <a:rPr lang="en-IE" sz="1800" b="1" dirty="0"/>
              <a:t>Beta Reduction- Example 4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BF29E51B-9BB4-35E0-DF33-D1D99B8E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9</a:t>
            </a:fld>
            <a:endParaRPr lang="en-US" sz="706" dirty="0"/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72EE0F8F-6962-F5FE-BC8F-022A1BDA6429}"/>
              </a:ext>
            </a:extLst>
          </p:cNvPr>
          <p:cNvSpPr/>
          <p:nvPr/>
        </p:nvSpPr>
        <p:spPr>
          <a:xfrm>
            <a:off x="3009900" y="2393950"/>
            <a:ext cx="1600200" cy="1066800"/>
          </a:xfrm>
          <a:prstGeom prst="wedgeRoundRectCallout">
            <a:avLst>
              <a:gd name="adj1" fmla="val -166175"/>
              <a:gd name="adj2" fmla="val 35792"/>
              <a:gd name="adj3" fmla="val 16667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lang="en-IE"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can’t</a:t>
            </a:r>
            <a:r>
              <a:rPr lang="en-IE" sz="11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70" dirty="0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r>
              <a:rPr lang="en-IE"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lang="en-IE"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40" dirty="0">
                <a:solidFill>
                  <a:srgbClr val="FFFFFF"/>
                </a:solidFill>
                <a:latin typeface="Arial"/>
                <a:cs typeface="Arial"/>
              </a:rPr>
              <a:t>any</a:t>
            </a:r>
            <a:r>
              <a:rPr lang="en-IE"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further</a:t>
            </a:r>
            <a:r>
              <a:rPr lang="en-IE"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105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lang="en-IE" sz="11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25" dirty="0">
                <a:solidFill>
                  <a:srgbClr val="FFFFFF"/>
                </a:solidFill>
                <a:latin typeface="Arial"/>
                <a:cs typeface="Arial"/>
              </a:rPr>
              <a:t>there</a:t>
            </a:r>
            <a:r>
              <a:rPr lang="en-IE"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lang="en-IE"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10" dirty="0">
                <a:solidFill>
                  <a:srgbClr val="FFFFFF"/>
                </a:solidFill>
                <a:latin typeface="Arial"/>
                <a:cs typeface="Arial"/>
              </a:rPr>
              <a:t>nothing </a:t>
            </a: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left</a:t>
            </a:r>
            <a:r>
              <a:rPr lang="en-IE"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lang="en-IE"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25" dirty="0">
                <a:solidFill>
                  <a:srgbClr val="FFFFFF"/>
                </a:solidFill>
                <a:latin typeface="Arial"/>
                <a:cs typeface="Arial"/>
              </a:rPr>
              <a:t>apply, </a:t>
            </a:r>
            <a:r>
              <a:rPr lang="en-IE" sz="1100" spc="-4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lang="en-IE"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9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lang="en-IE"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35" dirty="0">
                <a:solidFill>
                  <a:srgbClr val="FFFFFF"/>
                </a:solidFill>
                <a:latin typeface="Arial"/>
                <a:cs typeface="Arial"/>
              </a:rPr>
              <a:t>know</a:t>
            </a:r>
            <a:r>
              <a:rPr lang="en-IE" sz="1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10" dirty="0">
                <a:solidFill>
                  <a:srgbClr val="FFFFFF"/>
                </a:solidFill>
                <a:latin typeface="Arial"/>
                <a:cs typeface="Arial"/>
              </a:rPr>
              <a:t>nothing</a:t>
            </a:r>
            <a:r>
              <a:rPr lang="en-IE"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10" dirty="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lang="en-IE"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i="1" spc="-8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endParaRPr lang="en-US" sz="11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4372D-1F4A-209C-68DB-CBD3408D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if expression and lambdas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FE8E5-41D4-7A0F-A698-B75A5A100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1400" dirty="0"/>
              <a:t>In Haskell, </a:t>
            </a:r>
            <a:r>
              <a:rPr lang="en-IE" sz="1400" b="1" dirty="0">
                <a:solidFill>
                  <a:srgbClr val="FF0000"/>
                </a:solidFill>
              </a:rPr>
              <a:t>if</a:t>
            </a:r>
            <a:r>
              <a:rPr lang="en-IE" sz="1400" dirty="0">
                <a:solidFill>
                  <a:srgbClr val="FF0000"/>
                </a:solidFill>
              </a:rPr>
              <a:t> is an expression</a:t>
            </a:r>
            <a:r>
              <a:rPr lang="en-IE" sz="1400" dirty="0"/>
              <a:t>, not a statement.</a:t>
            </a:r>
          </a:p>
          <a:p>
            <a:pPr marL="0" indent="0">
              <a:buNone/>
            </a:pPr>
            <a:endParaRPr lang="en-IE" sz="1400" dirty="0"/>
          </a:p>
          <a:p>
            <a:r>
              <a:rPr lang="en-IE" sz="1400" dirty="0"/>
              <a:t>That means it can appear </a:t>
            </a:r>
            <a:r>
              <a:rPr lang="en-IE" sz="1400" b="1" dirty="0"/>
              <a:t>anywhere an expression is allowed</a:t>
            </a:r>
            <a:r>
              <a:rPr lang="en-IE" sz="1400" dirty="0"/>
              <a:t> — including inside a lambda.</a:t>
            </a:r>
          </a:p>
          <a:p>
            <a:pPr marL="0" indent="0">
              <a:buNone/>
            </a:pPr>
            <a:endParaRPr lang="en-IE" dirty="0"/>
          </a:p>
          <a:p>
            <a:endParaRPr lang="en-US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7003F18-8AC1-6615-0EDF-706F3D66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10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137121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FEB3B-0EB1-84C6-FCDE-E1E0BB61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if expression and lambdas</a:t>
            </a:r>
            <a:endParaRPr lang="en-US" dirty="0"/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D2451261-021B-152E-5F8E-F45872955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32" y="1120775"/>
            <a:ext cx="1752600" cy="73866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r>
              <a:rPr lang="en-IE" sz="1400" dirty="0"/>
              <a:t>\x -&gt; \y -&gt;</a:t>
            </a:r>
          </a:p>
          <a:p>
            <a:r>
              <a:rPr lang="en-IE" sz="1400" dirty="0"/>
              <a:t>  </a:t>
            </a:r>
            <a:r>
              <a:rPr lang="en-IE" sz="1400" b="1" dirty="0">
                <a:solidFill>
                  <a:schemeClr val="bg1"/>
                </a:solidFill>
              </a:rPr>
              <a:t>if x &lt; y then -1</a:t>
            </a:r>
          </a:p>
          <a:p>
            <a:r>
              <a:rPr lang="en-IE" sz="1400" b="1" dirty="0">
                <a:solidFill>
                  <a:schemeClr val="bg1"/>
                </a:solidFill>
              </a:rPr>
              <a:t>  else 1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B3851283-D0FF-9EAC-CCDA-0D2B5AAF0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45" y="2345966"/>
            <a:ext cx="2869418" cy="5232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r>
              <a:rPr lang="en-US" sz="1400" dirty="0"/>
              <a:t>(\x y -&gt; </a:t>
            </a:r>
            <a:r>
              <a:rPr lang="en-US" sz="1400" dirty="0">
                <a:solidFill>
                  <a:schemeClr val="bg1"/>
                </a:solidFill>
              </a:rPr>
              <a:t>if x &lt; y then -1 else 1</a:t>
            </a:r>
            <a:r>
              <a:rPr lang="en-US" sz="1400" dirty="0"/>
              <a:t>) 3 4</a:t>
            </a:r>
          </a:p>
          <a:p>
            <a:r>
              <a:rPr lang="en-US" sz="1400" dirty="0"/>
              <a:t>-1</a:t>
            </a: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A3B6A080-9179-CAF3-6721-9BEAF2CA0C4E}"/>
              </a:ext>
            </a:extLst>
          </p:cNvPr>
          <p:cNvSpPr/>
          <p:nvPr/>
        </p:nvSpPr>
        <p:spPr>
          <a:xfrm>
            <a:off x="2457450" y="1161852"/>
            <a:ext cx="1600200" cy="545473"/>
          </a:xfrm>
          <a:prstGeom prst="wedgeRectCallout">
            <a:avLst>
              <a:gd name="adj1" fmla="val -85861"/>
              <a:gd name="adj2" fmla="val -6275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Definition of function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88E651AF-6A4E-3822-B0CA-0436AFC94222}"/>
              </a:ext>
            </a:extLst>
          </p:cNvPr>
          <p:cNvSpPr/>
          <p:nvPr/>
        </p:nvSpPr>
        <p:spPr>
          <a:xfrm>
            <a:off x="2944937" y="1753426"/>
            <a:ext cx="1600200" cy="545473"/>
          </a:xfrm>
          <a:prstGeom prst="wedgeRectCallout">
            <a:avLst>
              <a:gd name="adj1" fmla="val -90002"/>
              <a:gd name="adj2" fmla="val 53247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Application of function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11508B09-247B-B748-25C1-FA4F378D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11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149649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17D84B5-FF47-E9C2-FDE8-4932BBFD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if expression and lambdas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BFC10-6ED4-1F9D-60A4-4F8996BC1387}"/>
              </a:ext>
            </a:extLst>
          </p:cNvPr>
          <p:cNvSpPr txBox="1"/>
          <p:nvPr/>
        </p:nvSpPr>
        <p:spPr>
          <a:xfrm>
            <a:off x="850524" y="1120775"/>
            <a:ext cx="2309190" cy="2092881"/>
          </a:xfrm>
          <a:prstGeom prst="rect">
            <a:avLst/>
          </a:prstGeom>
          <a:solidFill>
            <a:schemeClr val="accent4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000" dirty="0"/>
              <a:t>(</a:t>
            </a:r>
            <a:r>
              <a:rPr lang="en-US" sz="1000" dirty="0" err="1"/>
              <a:t>λx.λy.body</a:t>
            </a:r>
            <a:r>
              <a:rPr lang="en-US" sz="1000" dirty="0"/>
              <a:t>) 3 4</a:t>
            </a:r>
          </a:p>
          <a:p>
            <a:r>
              <a:rPr lang="en-US" sz="1000" dirty="0"/>
              <a:t>      │</a:t>
            </a:r>
          </a:p>
          <a:p>
            <a:r>
              <a:rPr lang="en-US" sz="1000" dirty="0"/>
              <a:t>      │ β-reduce (x := 3)</a:t>
            </a:r>
          </a:p>
          <a:p>
            <a:r>
              <a:rPr lang="en-US" sz="1000" dirty="0"/>
              <a:t>      ▼</a:t>
            </a:r>
          </a:p>
          <a:p>
            <a:r>
              <a:rPr lang="en-US" sz="1000" dirty="0"/>
              <a:t>   </a:t>
            </a:r>
            <a:r>
              <a:rPr lang="en-US" sz="1000" dirty="0" err="1"/>
              <a:t>λy.body</a:t>
            </a:r>
            <a:r>
              <a:rPr lang="en-US" sz="1000" dirty="0"/>
              <a:t>[x := 3]</a:t>
            </a:r>
          </a:p>
          <a:p>
            <a:r>
              <a:rPr lang="en-US" sz="1000" dirty="0"/>
              <a:t>      │</a:t>
            </a:r>
          </a:p>
          <a:p>
            <a:r>
              <a:rPr lang="en-US" sz="1000" dirty="0"/>
              <a:t>      │ β-reduce (y := 4)</a:t>
            </a:r>
          </a:p>
          <a:p>
            <a:r>
              <a:rPr lang="en-US" sz="1000" dirty="0"/>
              <a:t>      ▼</a:t>
            </a:r>
          </a:p>
          <a:p>
            <a:r>
              <a:rPr lang="en-US" sz="1000" dirty="0"/>
              <a:t>   body[x := 3, y := 4]</a:t>
            </a:r>
          </a:p>
          <a:p>
            <a:r>
              <a:rPr lang="en-US" sz="1000" dirty="0"/>
              <a:t>      │</a:t>
            </a:r>
          </a:p>
          <a:p>
            <a:r>
              <a:rPr lang="en-US" sz="1000" dirty="0"/>
              <a:t>      │ evaluate if-expression</a:t>
            </a:r>
          </a:p>
          <a:p>
            <a:r>
              <a:rPr lang="en-US" sz="1000" dirty="0"/>
              <a:t>      ▼</a:t>
            </a:r>
          </a:p>
          <a:p>
            <a:r>
              <a:rPr lang="en-US" sz="1000" dirty="0"/>
              <a:t>     value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E82B8A4D-7332-C48F-5B5C-D97064A5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12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2930759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65" y="507014"/>
            <a:ext cx="3477003" cy="296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35"/>
              </a:spcBef>
            </a:pPr>
            <a:r>
              <a:rPr sz="1800" b="1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250" y="1044575"/>
            <a:ext cx="4246816" cy="2137957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R="2907665">
              <a:lnSpc>
                <a:spcPct val="100000"/>
              </a:lnSpc>
              <a:spcBef>
                <a:spcPts val="434"/>
              </a:spcBef>
            </a:pPr>
            <a:r>
              <a:rPr sz="1000" spc="-55" dirty="0">
                <a:solidFill>
                  <a:srgbClr val="FFFFFF"/>
                </a:solidFill>
                <a:cs typeface="Arial"/>
              </a:rPr>
              <a:t>Variables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can</a:t>
            </a:r>
            <a:r>
              <a:rPr lang="en-IE" sz="10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be</a:t>
            </a:r>
            <a:endParaRPr lang="en-IE" sz="1000" dirty="0">
              <a:cs typeface="Arial"/>
            </a:endParaRPr>
          </a:p>
          <a:p>
            <a:pPr marL="311150" marR="2907665" lvl="1" indent="-311150">
              <a:spcBef>
                <a:spcPts val="434"/>
              </a:spcBef>
              <a:buFont typeface="Wingdings" pitchFamily="2" charset="2"/>
              <a:buChar char="q"/>
            </a:pPr>
            <a:r>
              <a:rPr lang="en-IE" sz="1000" spc="-30" dirty="0">
                <a:solidFill>
                  <a:srgbClr val="FFFFFF"/>
                </a:solidFill>
                <a:cs typeface="Arial"/>
              </a:rPr>
              <a:t>b</a:t>
            </a:r>
            <a:r>
              <a:rPr sz="1000" spc="-30" dirty="0" err="1">
                <a:solidFill>
                  <a:srgbClr val="FFFFFF"/>
                </a:solidFill>
                <a:cs typeface="Arial"/>
              </a:rPr>
              <a:t>oun</a:t>
            </a:r>
            <a:r>
              <a:rPr lang="en-IE" sz="1000" spc="-30" dirty="0">
                <a:solidFill>
                  <a:srgbClr val="FFFFFF"/>
                </a:solidFill>
                <a:cs typeface="Arial"/>
              </a:rPr>
              <a:t>d or </a:t>
            </a:r>
          </a:p>
          <a:p>
            <a:pPr marL="311150" marR="2907665" lvl="1" indent="-311150">
              <a:spcBef>
                <a:spcPts val="434"/>
              </a:spcBef>
              <a:buFont typeface="Wingdings" pitchFamily="2" charset="2"/>
              <a:buChar char="q"/>
            </a:pPr>
            <a:r>
              <a:rPr sz="1000" spc="-20" dirty="0">
                <a:solidFill>
                  <a:srgbClr val="FFFFFF"/>
                </a:solidFill>
                <a:cs typeface="Arial"/>
              </a:rPr>
              <a:t>free</a:t>
            </a:r>
            <a:endParaRPr sz="1000" dirty="0">
              <a:cs typeface="Arial"/>
            </a:endParaRPr>
          </a:p>
          <a:p>
            <a:pPr marL="63500" marR="55880">
              <a:lnSpc>
                <a:spcPct val="102600"/>
              </a:lnSpc>
              <a:spcBef>
                <a:spcPts val="300"/>
              </a:spcBef>
            </a:pPr>
            <a:r>
              <a:rPr sz="1000" spc="-105" dirty="0">
                <a:solidFill>
                  <a:srgbClr val="FFFFFF"/>
                </a:solidFill>
                <a:cs typeface="Arial"/>
              </a:rPr>
              <a:t>as</a:t>
            </a:r>
            <a:r>
              <a:rPr sz="1000" spc="3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-70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spc="60" dirty="0">
                <a:solidFill>
                  <a:srgbClr val="FFFFFF"/>
                </a:solidFill>
                <a:cs typeface="Times New Roman"/>
              </a:rPr>
              <a:t>λ</a:t>
            </a:r>
            <a:r>
              <a:rPr sz="1000" spc="60" dirty="0">
                <a:solidFill>
                  <a:srgbClr val="FFFFFF"/>
                </a:solidFill>
                <a:cs typeface="Arial"/>
              </a:rPr>
              <a:t>-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calculus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10" dirty="0">
                <a:solidFill>
                  <a:srgbClr val="FFFFFF"/>
                </a:solidFill>
                <a:cs typeface="Arial"/>
              </a:rPr>
              <a:t>assumes</a:t>
            </a:r>
            <a:r>
              <a:rPr sz="1000" spc="3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an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infinite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60" dirty="0">
                <a:solidFill>
                  <a:srgbClr val="FFFFFF"/>
                </a:solidFill>
                <a:cs typeface="Arial"/>
              </a:rPr>
              <a:t>universe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of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5" dirty="0">
                <a:solidFill>
                  <a:srgbClr val="FFFFFF"/>
                </a:solidFill>
                <a:cs typeface="Arial"/>
              </a:rPr>
              <a:t>free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variables.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They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60" dirty="0">
                <a:solidFill>
                  <a:srgbClr val="FFFFFF"/>
                </a:solidFill>
                <a:cs typeface="Arial"/>
              </a:rPr>
              <a:t>are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bound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to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functions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an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environment,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then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they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become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bound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by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90" dirty="0">
                <a:solidFill>
                  <a:srgbClr val="FFFFFF"/>
                </a:solidFill>
                <a:cs typeface="Arial"/>
              </a:rPr>
              <a:t>usage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an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abstraction.</a:t>
            </a:r>
            <a:endParaRPr sz="1000" dirty="0"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sz="1000" spc="-30" dirty="0">
                <a:solidFill>
                  <a:srgbClr val="FFFFFF"/>
                </a:solidFill>
                <a:cs typeface="Arial"/>
              </a:rPr>
              <a:t>For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55" dirty="0">
                <a:solidFill>
                  <a:srgbClr val="FFFFFF"/>
                </a:solidFill>
                <a:cs typeface="Arial"/>
              </a:rPr>
              <a:t>example,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spc="55" dirty="0">
                <a:solidFill>
                  <a:srgbClr val="FFFFFF"/>
                </a:solidFill>
                <a:cs typeface="Times New Roman"/>
              </a:rPr>
              <a:t>λ</a:t>
            </a:r>
            <a:r>
              <a:rPr sz="1000" spc="55" dirty="0">
                <a:solidFill>
                  <a:srgbClr val="FFFFFF"/>
                </a:solidFill>
                <a:cs typeface="Arial"/>
              </a:rPr>
              <a:t>-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expression:</a:t>
            </a:r>
            <a:endParaRPr sz="1000" dirty="0">
              <a:cs typeface="Arial"/>
            </a:endParaRPr>
          </a:p>
          <a:p>
            <a:pPr marL="25400" algn="ctr">
              <a:lnSpc>
                <a:spcPct val="100000"/>
              </a:lnSpc>
              <a:spcBef>
                <a:spcPts val="935"/>
              </a:spcBef>
            </a:pPr>
            <a:r>
              <a:rPr sz="1000" dirty="0">
                <a:solidFill>
                  <a:srgbClr val="FFFFFF"/>
                </a:solidFill>
                <a:cs typeface="Arial"/>
              </a:rPr>
              <a:t>(</a:t>
            </a:r>
            <a:r>
              <a:rPr sz="1000" i="1" dirty="0" err="1">
                <a:solidFill>
                  <a:srgbClr val="FFFFFF"/>
                </a:solidFill>
                <a:cs typeface="Times New Roman"/>
              </a:rPr>
              <a:t>λ</a:t>
            </a:r>
            <a:r>
              <a:rPr sz="1000" i="1" dirty="0" err="1">
                <a:solidFill>
                  <a:srgbClr val="FFFFFF"/>
                </a:solidFill>
                <a:cs typeface="Arial"/>
              </a:rPr>
              <a:t>x</a:t>
            </a:r>
            <a:r>
              <a:rPr sz="1000" i="1" dirty="0" err="1">
                <a:solidFill>
                  <a:srgbClr val="FFFFFF"/>
                </a:solidFill>
                <a:cs typeface="Times New Roman"/>
              </a:rPr>
              <a:t>.</a:t>
            </a:r>
            <a:r>
              <a:rPr sz="1000" i="1" dirty="0" err="1">
                <a:solidFill>
                  <a:srgbClr val="FFFFFF"/>
                </a:solidFill>
                <a:cs typeface="Arial"/>
              </a:rPr>
              <a:t>x</a:t>
            </a:r>
            <a:r>
              <a:rPr sz="1000" i="1" spc="-1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sz="1000" i="1" spc="-33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1000" i="1" spc="-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1000" i="1" spc="-55" dirty="0">
                <a:solidFill>
                  <a:srgbClr val="FFFFFF"/>
                </a:solidFill>
                <a:cs typeface="Arial"/>
              </a:rPr>
              <a:t>y</a:t>
            </a:r>
            <a:r>
              <a:rPr sz="1000" i="1" spc="-15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)</a:t>
            </a:r>
            <a:endParaRPr sz="1000" dirty="0">
              <a:cs typeface="Arial"/>
            </a:endParaRPr>
          </a:p>
          <a:p>
            <a:pPr marL="62865" marR="63500">
              <a:lnSpc>
                <a:spcPct val="102600"/>
              </a:lnSpc>
              <a:spcBef>
                <a:spcPts val="894"/>
              </a:spcBef>
            </a:pPr>
            <a:r>
              <a:rPr sz="1000" dirty="0">
                <a:solidFill>
                  <a:srgbClr val="FFFFFF"/>
                </a:solidFill>
                <a:cs typeface="Arial"/>
              </a:rPr>
              <a:t>x</a:t>
            </a:r>
            <a:r>
              <a:rPr sz="1000" spc="-7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is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bound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by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spc="155" dirty="0">
                <a:solidFill>
                  <a:srgbClr val="FFFFFF"/>
                </a:solidFill>
                <a:cs typeface="Times New Roman"/>
              </a:rPr>
              <a:t>λ</a:t>
            </a:r>
            <a:r>
              <a:rPr sz="1000" i="1" spc="20" dirty="0">
                <a:solidFill>
                  <a:srgbClr val="FFFFFF"/>
                </a:solidFill>
                <a:cs typeface="Times New Roman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over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body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lang="en-IE" sz="1000" i="1" dirty="0">
                <a:solidFill>
                  <a:srgbClr val="FFFFFF"/>
                </a:solidFill>
                <a:cs typeface="Arial"/>
              </a:rPr>
              <a:t>x</a:t>
            </a:r>
            <a:r>
              <a:rPr lang="en-IE" sz="1000" i="1" spc="-1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IE" sz="1000" i="1" spc="-33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1000" i="1" spc="-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1000" i="1" spc="-55" dirty="0">
                <a:solidFill>
                  <a:srgbClr val="FFFFFF"/>
                </a:solidFill>
                <a:cs typeface="Arial"/>
              </a:rPr>
              <a:t>y</a:t>
            </a:r>
            <a:r>
              <a:rPr lang="en-IE" sz="1000" i="1" spc="-15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,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but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dirty="0">
                <a:solidFill>
                  <a:srgbClr val="FFFFFF"/>
                </a:solidFill>
                <a:cs typeface="Arial"/>
              </a:rPr>
              <a:t>y</a:t>
            </a:r>
            <a:r>
              <a:rPr sz="1000" i="1" spc="9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is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a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5" dirty="0">
                <a:solidFill>
                  <a:srgbClr val="FFFFFF"/>
                </a:solidFill>
                <a:cs typeface="Arial"/>
              </a:rPr>
              <a:t>free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latin typeface="+mj-lt"/>
                <a:cs typeface="Arial"/>
              </a:rPr>
              <a:t>variable.When </a:t>
            </a:r>
            <a:r>
              <a:rPr sz="1000" spc="-95" dirty="0">
                <a:solidFill>
                  <a:srgbClr val="FFFFFF"/>
                </a:solidFill>
                <a:latin typeface="+mj-lt"/>
                <a:cs typeface="Arial"/>
              </a:rPr>
              <a:t>we</a:t>
            </a:r>
            <a:r>
              <a:rPr sz="1000" spc="2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+mj-lt"/>
                <a:cs typeface="Arial"/>
              </a:rPr>
              <a:t>apply</a:t>
            </a:r>
            <a:r>
              <a:rPr sz="1000" spc="-4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this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function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to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+mj-lt"/>
                <a:cs typeface="Arial"/>
              </a:rPr>
              <a:t>an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35" dirty="0">
                <a:solidFill>
                  <a:srgbClr val="FFFFFF"/>
                </a:solidFill>
                <a:latin typeface="+mj-lt"/>
                <a:cs typeface="Arial"/>
              </a:rPr>
              <a:t>argument,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+mj-lt"/>
                <a:cs typeface="Arial"/>
              </a:rPr>
              <a:t>nothing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latin typeface="+mj-lt"/>
                <a:cs typeface="Arial"/>
              </a:rPr>
              <a:t>can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+mj-lt"/>
                <a:cs typeface="Arial"/>
              </a:rPr>
              <a:t>be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65" dirty="0">
                <a:solidFill>
                  <a:srgbClr val="FFFFFF"/>
                </a:solidFill>
                <a:latin typeface="+mj-lt"/>
                <a:cs typeface="Arial"/>
              </a:rPr>
              <a:t>done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+mj-lt"/>
                <a:cs typeface="Arial"/>
              </a:rPr>
              <a:t>with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the</a:t>
            </a:r>
            <a:r>
              <a:rPr sz="1000" spc="5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i="1" spc="-55" dirty="0">
                <a:solidFill>
                  <a:srgbClr val="FFFFFF"/>
                </a:solidFill>
                <a:latin typeface="+mj-lt"/>
                <a:cs typeface="Arial"/>
              </a:rPr>
              <a:t>y</a:t>
            </a:r>
            <a:r>
              <a:rPr sz="1000" i="1" spc="-19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.</a:t>
            </a:r>
            <a:r>
              <a:rPr sz="1000" spc="17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It</a:t>
            </a:r>
            <a:r>
              <a:rPr sz="1000" spc="5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+mj-lt"/>
                <a:cs typeface="Arial"/>
              </a:rPr>
              <a:t>remains</a:t>
            </a:r>
            <a:r>
              <a:rPr sz="1000" spc="5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irreducible.</a:t>
            </a:r>
            <a:endParaRPr sz="1000" dirty="0">
              <a:latin typeface="+mj-lt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1F684-BA12-8E98-A0F8-F5C86712C0F2}"/>
              </a:ext>
            </a:extLst>
          </p:cNvPr>
          <p:cNvSpPr txBox="1"/>
          <p:nvPr/>
        </p:nvSpPr>
        <p:spPr>
          <a:xfrm>
            <a:off x="1130440" y="-2311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1CDEDA2-0E89-AD2A-CB6C-569A6926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13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437" y="508168"/>
            <a:ext cx="3477003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11225" indent="-904875">
              <a:lnSpc>
                <a:spcPct val="100000"/>
              </a:lnSpc>
              <a:spcBef>
                <a:spcPts val="135"/>
              </a:spcBef>
            </a:pPr>
            <a:r>
              <a:rPr lang="en-IE" sz="1800" b="1" dirty="0"/>
              <a:t>Variables contd.</a:t>
            </a:r>
            <a:endParaRPr sz="1800" b="1" spc="215" dirty="0"/>
          </a:p>
        </p:txBody>
      </p:sp>
      <p:sp>
        <p:nvSpPr>
          <p:cNvPr id="3" name="object 3"/>
          <p:cNvSpPr txBox="1"/>
          <p:nvPr/>
        </p:nvSpPr>
        <p:spPr>
          <a:xfrm>
            <a:off x="286247" y="1044575"/>
            <a:ext cx="3791585" cy="21958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54965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Look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at the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following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a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argument:</a:t>
            </a:r>
            <a:endParaRPr sz="1100" dirty="0">
              <a:latin typeface="Arial"/>
              <a:cs typeface="Arial"/>
            </a:endParaRPr>
          </a:p>
          <a:p>
            <a:pPr marL="12700" marR="1388110" indent="1612265">
              <a:lnSpc>
                <a:spcPct val="170600"/>
              </a:lnSpc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25" dirty="0">
                <a:solidFill>
                  <a:srgbClr val="FFFFFF"/>
                </a:solidFill>
                <a:latin typeface="Menlo"/>
                <a:cs typeface="Menlo"/>
              </a:rPr>
              <a:t>∗</a:t>
            </a:r>
            <a:r>
              <a:rPr sz="1100" i="1" spc="-330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argument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8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R="1507490" algn="r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25" dirty="0">
                <a:solidFill>
                  <a:srgbClr val="FFFFFF"/>
                </a:solidFill>
                <a:latin typeface="Menlo"/>
                <a:cs typeface="Menlo"/>
              </a:rPr>
              <a:t>∗</a:t>
            </a:r>
            <a:r>
              <a:rPr sz="1100" i="1" spc="-330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endParaRPr sz="1100" dirty="0">
              <a:latin typeface="Arial"/>
              <a:cs typeface="Arial"/>
            </a:endParaRPr>
          </a:p>
          <a:p>
            <a:pPr marR="1486535" algn="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latin typeface="Arial"/>
                <a:cs typeface="Arial"/>
              </a:rPr>
              <a:t>:=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8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]</a:t>
            </a:r>
            <a:endParaRPr sz="1100" dirty="0">
              <a:latin typeface="Arial"/>
              <a:cs typeface="Arial"/>
            </a:endParaRPr>
          </a:p>
          <a:p>
            <a:pPr marR="1520825" algn="r">
              <a:lnSpc>
                <a:spcPct val="100000"/>
              </a:lnSpc>
              <a:spcBef>
                <a:spcPts val="35"/>
              </a:spcBef>
            </a:pP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zy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90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been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applied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FFFFFF"/>
                </a:solidFill>
                <a:latin typeface="Arial"/>
                <a:cs typeface="Arial"/>
              </a:rPr>
              <a:t>away,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there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"/>
                <a:cs typeface="Arial"/>
              </a:rPr>
              <a:t>heads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bound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variables.</a:t>
            </a:r>
            <a:r>
              <a:rPr sz="11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Since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know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nothing about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further.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15B8466-1A96-0F49-2E4E-0906CB2AE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14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505682"/>
            <a:ext cx="3477003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50888" indent="-744538">
              <a:lnSpc>
                <a:spcPct val="100000"/>
              </a:lnSpc>
              <a:spcBef>
                <a:spcPts val="135"/>
              </a:spcBef>
            </a:pPr>
            <a:r>
              <a:rPr sz="1800" b="1" dirty="0"/>
              <a:t>Multiple Arguments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68922" y="1179255"/>
            <a:ext cx="4017327" cy="187083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183190" marR="5080" indent="-285750">
              <a:lnSpc>
                <a:spcPct val="102600"/>
              </a:lnSpc>
              <a:spcBef>
                <a:spcPts val="55"/>
              </a:spcBef>
              <a:buFont typeface="Wingdings" pitchFamily="2" charset="2"/>
              <a:buChar char="q"/>
            </a:pPr>
            <a:r>
              <a:rPr spc="-65" dirty="0"/>
              <a:t>Each</a:t>
            </a:r>
            <a:r>
              <a:rPr spc="-10" dirty="0"/>
              <a:t> </a:t>
            </a:r>
            <a:r>
              <a:rPr spc="-40" dirty="0"/>
              <a:t>lambda</a:t>
            </a:r>
            <a:r>
              <a:rPr spc="-35" dirty="0"/>
              <a:t> </a:t>
            </a:r>
            <a:r>
              <a:rPr spc="-50" dirty="0"/>
              <a:t>can</a:t>
            </a:r>
            <a:r>
              <a:rPr spc="-25" dirty="0"/>
              <a:t> </a:t>
            </a:r>
            <a:r>
              <a:rPr spc="-20" dirty="0"/>
              <a:t>only</a:t>
            </a:r>
            <a:r>
              <a:rPr spc="-30" dirty="0"/>
              <a:t> </a:t>
            </a:r>
            <a:r>
              <a:rPr spc="-10" dirty="0"/>
              <a:t>bind</a:t>
            </a:r>
            <a:r>
              <a:rPr spc="-20" dirty="0"/>
              <a:t> </a:t>
            </a:r>
            <a:r>
              <a:rPr spc="-70" dirty="0"/>
              <a:t>one</a:t>
            </a:r>
            <a:r>
              <a:rPr spc="-5" dirty="0"/>
              <a:t> </a:t>
            </a:r>
            <a:r>
              <a:rPr spc="-45" dirty="0"/>
              <a:t>parameter</a:t>
            </a:r>
            <a:r>
              <a:rPr spc="-20" dirty="0"/>
              <a:t> </a:t>
            </a:r>
            <a:r>
              <a:rPr spc="-45" dirty="0"/>
              <a:t>and</a:t>
            </a:r>
            <a:r>
              <a:rPr spc="-25" dirty="0"/>
              <a:t> </a:t>
            </a:r>
            <a:r>
              <a:rPr spc="-50" dirty="0"/>
              <a:t>can</a:t>
            </a:r>
            <a:r>
              <a:rPr spc="-20" dirty="0"/>
              <a:t> only </a:t>
            </a:r>
            <a:r>
              <a:rPr spc="-50" dirty="0"/>
              <a:t>accept</a:t>
            </a:r>
            <a:r>
              <a:rPr spc="-20" dirty="0"/>
              <a:t> </a:t>
            </a:r>
            <a:r>
              <a:rPr spc="-25" dirty="0"/>
              <a:t>one </a:t>
            </a:r>
            <a:r>
              <a:rPr spc="-30" dirty="0"/>
              <a:t>argument.</a:t>
            </a:r>
            <a:r>
              <a:rPr spc="105" dirty="0"/>
              <a:t> </a:t>
            </a:r>
            <a:r>
              <a:rPr spc="-40" dirty="0"/>
              <a:t>Functions</a:t>
            </a:r>
            <a:r>
              <a:rPr spc="5" dirty="0"/>
              <a:t> </a:t>
            </a:r>
            <a:r>
              <a:rPr dirty="0"/>
              <a:t>that</a:t>
            </a:r>
            <a:r>
              <a:rPr spc="5" dirty="0"/>
              <a:t> </a:t>
            </a:r>
            <a:r>
              <a:rPr spc="-40" dirty="0"/>
              <a:t>require</a:t>
            </a:r>
            <a:r>
              <a:rPr spc="5" dirty="0"/>
              <a:t> </a:t>
            </a:r>
            <a:r>
              <a:rPr spc="-10" dirty="0"/>
              <a:t>multiple</a:t>
            </a:r>
            <a:r>
              <a:rPr dirty="0"/>
              <a:t> </a:t>
            </a:r>
            <a:r>
              <a:rPr spc="-55" dirty="0"/>
              <a:t>arguments</a:t>
            </a:r>
            <a:r>
              <a:rPr spc="5" dirty="0"/>
              <a:t> </a:t>
            </a:r>
            <a:r>
              <a:rPr spc="-20" dirty="0"/>
              <a:t>have </a:t>
            </a:r>
            <a:r>
              <a:rPr spc="-10" dirty="0"/>
              <a:t>multiple,</a:t>
            </a:r>
            <a:r>
              <a:rPr dirty="0"/>
              <a:t> </a:t>
            </a:r>
            <a:r>
              <a:rPr spc="-55" dirty="0"/>
              <a:t>nested</a:t>
            </a:r>
            <a:r>
              <a:rPr dirty="0"/>
              <a:t> </a:t>
            </a:r>
            <a:r>
              <a:rPr spc="-55" dirty="0"/>
              <a:t>heads.</a:t>
            </a:r>
            <a:r>
              <a:rPr spc="100" dirty="0"/>
              <a:t> </a:t>
            </a:r>
            <a:r>
              <a:rPr spc="-50" dirty="0"/>
              <a:t>When</a:t>
            </a:r>
            <a:r>
              <a:rPr dirty="0"/>
              <a:t> </a:t>
            </a:r>
            <a:r>
              <a:rPr spc="-45" dirty="0"/>
              <a:t>you</a:t>
            </a:r>
            <a:r>
              <a:rPr spc="5" dirty="0"/>
              <a:t> </a:t>
            </a:r>
            <a:r>
              <a:rPr spc="-30" dirty="0"/>
              <a:t>apply</a:t>
            </a:r>
            <a:r>
              <a:rPr dirty="0"/>
              <a:t> it </a:t>
            </a:r>
            <a:r>
              <a:rPr spc="-70" dirty="0"/>
              <a:t>once</a:t>
            </a:r>
            <a:r>
              <a:rPr spc="5" dirty="0"/>
              <a:t> </a:t>
            </a:r>
            <a:r>
              <a:rPr spc="-45" dirty="0"/>
              <a:t>and</a:t>
            </a:r>
            <a:r>
              <a:rPr dirty="0"/>
              <a:t> </a:t>
            </a:r>
            <a:r>
              <a:rPr spc="-35" dirty="0"/>
              <a:t>eliminate</a:t>
            </a:r>
            <a:r>
              <a:rPr dirty="0"/>
              <a:t> </a:t>
            </a:r>
            <a:r>
              <a:rPr spc="-25" dirty="0"/>
              <a:t>the </a:t>
            </a:r>
            <a:r>
              <a:rPr dirty="0"/>
              <a:t>first</a:t>
            </a:r>
            <a:r>
              <a:rPr spc="-50" dirty="0"/>
              <a:t> </a:t>
            </a:r>
            <a:r>
              <a:rPr dirty="0"/>
              <a:t>(leftmost)</a:t>
            </a:r>
            <a:r>
              <a:rPr spc="-15" dirty="0"/>
              <a:t> </a:t>
            </a:r>
            <a:r>
              <a:rPr spc="-50" dirty="0"/>
              <a:t>head,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next</a:t>
            </a:r>
            <a:r>
              <a:rPr spc="-15" dirty="0"/>
              <a:t> </a:t>
            </a:r>
            <a:r>
              <a:rPr spc="-65" dirty="0"/>
              <a:t>one</a:t>
            </a:r>
            <a:r>
              <a:rPr spc="-10" dirty="0"/>
              <a:t> is</a:t>
            </a:r>
            <a:r>
              <a:rPr spc="-15" dirty="0"/>
              <a:t> </a:t>
            </a:r>
            <a:r>
              <a:rPr spc="-40" dirty="0"/>
              <a:t>applied</a:t>
            </a:r>
            <a:r>
              <a:rPr spc="-15" dirty="0"/>
              <a:t> </a:t>
            </a:r>
            <a:r>
              <a:rPr spc="-45" dirty="0"/>
              <a:t>and</a:t>
            </a:r>
            <a:r>
              <a:rPr spc="-15" dirty="0"/>
              <a:t> </a:t>
            </a:r>
            <a:r>
              <a:rPr spc="-85" dirty="0"/>
              <a:t>so</a:t>
            </a:r>
            <a:r>
              <a:rPr spc="10" dirty="0"/>
              <a:t> </a:t>
            </a:r>
            <a:r>
              <a:rPr dirty="0"/>
              <a:t>on.</a:t>
            </a:r>
            <a:r>
              <a:rPr spc="80" dirty="0"/>
              <a:t> </a:t>
            </a:r>
            <a:r>
              <a:rPr spc="-20" dirty="0"/>
              <a:t>This</a:t>
            </a:r>
            <a:r>
              <a:rPr spc="500" dirty="0"/>
              <a:t> </a:t>
            </a:r>
            <a:r>
              <a:rPr spc="-85" dirty="0"/>
              <a:t>means</a:t>
            </a:r>
            <a:r>
              <a:rPr spc="20" dirty="0"/>
              <a:t> </a:t>
            </a:r>
            <a:r>
              <a:rPr dirty="0"/>
              <a:t>that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following</a:t>
            </a:r>
          </a:p>
          <a:p>
            <a:pPr marL="0" marR="6985" indent="0" algn="ctr">
              <a:lnSpc>
                <a:spcPct val="100000"/>
              </a:lnSpc>
              <a:spcBef>
                <a:spcPts val="930"/>
              </a:spcBef>
              <a:buNone/>
            </a:pPr>
            <a:r>
              <a:rPr i="1" spc="-10" dirty="0">
                <a:latin typeface="Times New Roman"/>
                <a:cs typeface="Times New Roman"/>
              </a:rPr>
              <a:t>λ</a:t>
            </a:r>
            <a:r>
              <a:rPr i="1" spc="-10" dirty="0">
                <a:latin typeface="Arial"/>
                <a:cs typeface="Arial"/>
              </a:rPr>
              <a:t>xy</a:t>
            </a:r>
            <a:r>
              <a:rPr i="1" spc="-10" dirty="0">
                <a:latin typeface="Times New Roman"/>
                <a:cs typeface="Times New Roman"/>
              </a:rPr>
              <a:t>.</a:t>
            </a:r>
            <a:r>
              <a:rPr i="1" spc="-10" dirty="0">
                <a:latin typeface="Arial"/>
                <a:cs typeface="Arial"/>
              </a:rPr>
              <a:t>xy</a:t>
            </a:r>
          </a:p>
          <a:p>
            <a:pPr marL="183190" indent="-285750">
              <a:lnSpc>
                <a:spcPct val="100000"/>
              </a:lnSpc>
              <a:spcBef>
                <a:spcPts val="935"/>
              </a:spcBef>
              <a:buFont typeface="Wingdings" pitchFamily="2" charset="2"/>
              <a:buChar char="q"/>
            </a:pPr>
            <a:r>
              <a:rPr spc="-10" dirty="0"/>
              <a:t>is</a:t>
            </a:r>
            <a:r>
              <a:rPr spc="-30" dirty="0"/>
              <a:t> </a:t>
            </a:r>
            <a:r>
              <a:rPr spc="-35" dirty="0"/>
              <a:t>simply</a:t>
            </a:r>
            <a:r>
              <a:rPr spc="-15" dirty="0"/>
              <a:t> </a:t>
            </a:r>
            <a:r>
              <a:rPr spc="-20" dirty="0"/>
              <a:t>syntactic </a:t>
            </a:r>
            <a:r>
              <a:rPr spc="-70" dirty="0"/>
              <a:t>sugar</a:t>
            </a:r>
            <a:r>
              <a:rPr spc="-5" dirty="0"/>
              <a:t> </a:t>
            </a:r>
            <a:r>
              <a:rPr spc="-25" dirty="0"/>
              <a:t>for</a:t>
            </a:r>
          </a:p>
          <a:p>
            <a:pPr marL="0" indent="0" algn="ctr">
              <a:lnSpc>
                <a:spcPct val="100000"/>
              </a:lnSpc>
              <a:spcBef>
                <a:spcPts val="930"/>
              </a:spcBef>
              <a:buNone/>
            </a:pPr>
            <a:r>
              <a:rPr i="1" spc="50" dirty="0" err="1">
                <a:latin typeface="Times New Roman"/>
                <a:cs typeface="Times New Roman"/>
              </a:rPr>
              <a:t>λ</a:t>
            </a:r>
            <a:r>
              <a:rPr i="1" spc="50" dirty="0" err="1">
                <a:latin typeface="Arial"/>
                <a:cs typeface="Arial"/>
              </a:rPr>
              <a:t>x</a:t>
            </a:r>
            <a:r>
              <a:rPr i="1" spc="-170" dirty="0">
                <a:latin typeface="Arial"/>
                <a:cs typeface="Arial"/>
              </a:rPr>
              <a:t> </a:t>
            </a:r>
            <a:r>
              <a:rPr spc="20" dirty="0"/>
              <a:t>(</a:t>
            </a:r>
            <a:r>
              <a:rPr i="1" spc="20" dirty="0" err="1">
                <a:latin typeface="Times New Roman"/>
                <a:cs typeface="Times New Roman"/>
              </a:rPr>
              <a:t>λ</a:t>
            </a:r>
            <a:r>
              <a:rPr i="1" spc="20" dirty="0" err="1">
                <a:latin typeface="Arial"/>
                <a:cs typeface="Arial"/>
              </a:rPr>
              <a:t>y</a:t>
            </a:r>
            <a:r>
              <a:rPr i="1" spc="20" dirty="0" err="1">
                <a:latin typeface="Times New Roman"/>
                <a:cs typeface="Times New Roman"/>
              </a:rPr>
              <a:t>.</a:t>
            </a:r>
            <a:r>
              <a:rPr i="1" spc="20" dirty="0" err="1">
                <a:latin typeface="Arial"/>
                <a:cs typeface="Arial"/>
              </a:rPr>
              <a:t>xy</a:t>
            </a:r>
            <a:r>
              <a:rPr i="1" spc="-140" dirty="0">
                <a:latin typeface="Arial"/>
                <a:cs typeface="Arial"/>
              </a:rPr>
              <a:t> </a:t>
            </a:r>
            <a:r>
              <a:rPr spc="5" dirty="0"/>
              <a:t>)</a:t>
            </a:r>
            <a:endParaRPr lang="en-IE" spc="5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8798F0F-B732-21F5-21F5-B2E7D8BF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15</a:t>
            </a:fld>
            <a:endParaRPr lang="en-US" sz="70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EB62A-1C07-0240-5E5F-8DB68034385A}"/>
              </a:ext>
            </a:extLst>
          </p:cNvPr>
          <p:cNvSpPr txBox="1"/>
          <p:nvPr/>
        </p:nvSpPr>
        <p:spPr>
          <a:xfrm>
            <a:off x="1269617" y="3152351"/>
            <a:ext cx="2015936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Haskell version. </a:t>
            </a:r>
            <a:r>
              <a:rPr lang="en-IE" sz="1200" spc="5" dirty="0">
                <a:solidFill>
                  <a:schemeClr val="bg1"/>
                </a:solidFill>
              </a:rPr>
              <a:t>\x y -&gt; x*y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515542"/>
            <a:ext cx="3477003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50888" indent="-744538">
              <a:lnSpc>
                <a:spcPct val="100000"/>
              </a:lnSpc>
              <a:spcBef>
                <a:spcPts val="135"/>
              </a:spcBef>
            </a:pPr>
            <a:r>
              <a:rPr sz="1800" b="1" dirty="0"/>
              <a:t>Lambda Caculus in Haskell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7466" y="1092304"/>
            <a:ext cx="2825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write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"/>
                <a:cs typeface="Arial"/>
              </a:rPr>
              <a:t>expressions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Haskell?</a:t>
            </a:r>
            <a:endParaRPr sz="11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7466" y="1359535"/>
          <a:ext cx="4192903" cy="86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0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L="283845">
                        <a:lnSpc>
                          <a:spcPts val="1190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Named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362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Function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Lambda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Calculus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(maths)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Lambda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Calculus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(Haskell)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Result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2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spc="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100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1)</a:t>
                      </a:r>
                      <a:r>
                        <a:rPr sz="1100" spc="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\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→</a:t>
                      </a:r>
                      <a:r>
                        <a:rPr sz="1100" i="1" spc="-36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1)</a:t>
                      </a:r>
                      <a:r>
                        <a:rPr sz="1100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6985" algn="ctr">
                        <a:lnSpc>
                          <a:spcPts val="1175"/>
                        </a:lnSpc>
                      </a:pP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2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1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spc="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25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∗</a:t>
                      </a:r>
                      <a:r>
                        <a:rPr sz="1100" i="1" spc="-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spc="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1100" i="1" spc="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1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25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∗</a:t>
                      </a:r>
                      <a:r>
                        <a:rPr sz="1100" i="1" spc="-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spc="-1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\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→</a:t>
                      </a:r>
                      <a:r>
                        <a:rPr sz="1100" i="1" spc="-36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25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∗</a:t>
                      </a:r>
                      <a:r>
                        <a:rPr sz="1100" i="1" spc="-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spc="-1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r>
                        <a:rPr sz="1100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100" spc="3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R="2540" algn="ctr">
                        <a:lnSpc>
                          <a:spcPts val="1175"/>
                        </a:lnSpc>
                      </a:pP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2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i="1" spc="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‘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 :</a:t>
                      </a:r>
                      <a:r>
                        <a:rPr sz="1100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spc="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</a:t>
                      </a:r>
                      <a:r>
                        <a:rPr sz="1100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r>
                        <a:rPr sz="1100" spc="48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”at”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i="1" spc="-35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\</a:t>
                      </a:r>
                      <a:r>
                        <a:rPr sz="1100" i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i="1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→</a:t>
                      </a:r>
                      <a:r>
                        <a:rPr sz="1100" i="1" spc="-36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r>
                        <a:rPr sz="1100" spc="409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”at”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”cat”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7294" y="2306572"/>
            <a:ext cx="3938956" cy="3443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functions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extensively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in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Haskell,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notably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Higher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Functions.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74A15A12-28A7-6D30-C741-564B86D19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16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5029-5616-95E7-E7D2-5D875715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Possible Errors – 1 – missing else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49780-08B4-6C87-DEA7-672B6A110B5D}"/>
              </a:ext>
            </a:extLst>
          </p:cNvPr>
          <p:cNvSpPr txBox="1"/>
          <p:nvPr/>
        </p:nvSpPr>
        <p:spPr>
          <a:xfrm>
            <a:off x="1130235" y="1453376"/>
            <a:ext cx="1752600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\x -&gt; if x &gt; 0 then x</a:t>
            </a:r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E5B59322-9111-7270-7EBB-9A030E1F7798}"/>
              </a:ext>
            </a:extLst>
          </p:cNvPr>
          <p:cNvSpPr/>
          <p:nvPr/>
        </p:nvSpPr>
        <p:spPr>
          <a:xfrm>
            <a:off x="3155820" y="1366919"/>
            <a:ext cx="412815" cy="411237"/>
          </a:xfrm>
          <a:prstGeom prst="mathMultiply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E5F4A1-27C8-0580-84F8-66F2C444CA54}"/>
              </a:ext>
            </a:extLst>
          </p:cNvPr>
          <p:cNvSpPr txBox="1"/>
          <p:nvPr/>
        </p:nvSpPr>
        <p:spPr>
          <a:xfrm>
            <a:off x="520634" y="1970964"/>
            <a:ext cx="36132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What’s wrong? </a:t>
            </a:r>
          </a:p>
          <a:p>
            <a:r>
              <a:rPr lang="en-IE" dirty="0">
                <a:solidFill>
                  <a:schemeClr val="bg1"/>
                </a:solidFill>
              </a:rPr>
              <a:t>if</a:t>
            </a:r>
            <a:r>
              <a:rPr lang="en-IE" sz="1200" dirty="0">
                <a:solidFill>
                  <a:schemeClr val="bg1"/>
                </a:solidFill>
              </a:rPr>
              <a:t> must return a value in </a:t>
            </a:r>
            <a:r>
              <a:rPr lang="en-IE" sz="1200" i="1" dirty="0">
                <a:solidFill>
                  <a:schemeClr val="bg1"/>
                </a:solidFill>
              </a:rPr>
              <a:t>all</a:t>
            </a:r>
            <a:r>
              <a:rPr lang="en-IE" sz="1200" dirty="0">
                <a:solidFill>
                  <a:schemeClr val="bg1"/>
                </a:solidFill>
              </a:rPr>
              <a:t> cases - always use an else.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AEAB0-8B01-4B5A-B0EF-1A696EF58F2E}"/>
              </a:ext>
            </a:extLst>
          </p:cNvPr>
          <p:cNvSpPr txBox="1"/>
          <p:nvPr/>
        </p:nvSpPr>
        <p:spPr>
          <a:xfrm>
            <a:off x="1109528" y="2942149"/>
            <a:ext cx="2044976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\x -&gt; if x &gt; 0 then x else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A98468-EF58-1222-06D5-124798B5849A}"/>
              </a:ext>
            </a:extLst>
          </p:cNvPr>
          <p:cNvSpPr txBox="1"/>
          <p:nvPr/>
        </p:nvSpPr>
        <p:spPr>
          <a:xfrm>
            <a:off x="3256381" y="2889995"/>
            <a:ext cx="312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>
                <a:solidFill>
                  <a:schemeClr val="accent2">
                    <a:lumMod val="75000"/>
                  </a:schemeClr>
                </a:solidFill>
              </a:rPr>
              <a:t>✓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11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  <p:bldP spid="5" grpId="0" animBg="1"/>
      <p:bldP spid="9" grpId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8A939-7306-29F6-A1A1-7A4DE1D66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6C8E-BF6A-0972-D791-159CA8D74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Possible Errors – 2 - Applying arguments to the wrong thing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974DE3-08D0-6B3A-D891-60478A79B040}"/>
              </a:ext>
            </a:extLst>
          </p:cNvPr>
          <p:cNvSpPr txBox="1"/>
          <p:nvPr/>
        </p:nvSpPr>
        <p:spPr>
          <a:xfrm>
            <a:off x="1063657" y="1460796"/>
            <a:ext cx="2482785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\x y -&gt; if x &lt; y then -1 else 1 3 4</a:t>
            </a:r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CBFAF74F-16FA-A4DA-67AE-702B778D6D67}"/>
              </a:ext>
            </a:extLst>
          </p:cNvPr>
          <p:cNvSpPr/>
          <p:nvPr/>
        </p:nvSpPr>
        <p:spPr>
          <a:xfrm>
            <a:off x="3568635" y="1379360"/>
            <a:ext cx="412815" cy="411237"/>
          </a:xfrm>
          <a:prstGeom prst="mathMultiply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2C1E34-CD9E-4338-E954-197E86923E96}"/>
              </a:ext>
            </a:extLst>
          </p:cNvPr>
          <p:cNvSpPr txBox="1"/>
          <p:nvPr/>
        </p:nvSpPr>
        <p:spPr>
          <a:xfrm>
            <a:off x="520634" y="1970964"/>
            <a:ext cx="38418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What’s wrong? </a:t>
            </a:r>
          </a:p>
          <a:p>
            <a:r>
              <a:rPr lang="en-IE" sz="1200" dirty="0">
                <a:solidFill>
                  <a:schemeClr val="bg1"/>
                </a:solidFill>
              </a:rPr>
              <a:t>3 and 4 are being applied to 1, not to the lambda</a:t>
            </a:r>
            <a:r>
              <a:rPr lang="en-IE" dirty="0"/>
              <a:t>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F3CF75-B227-66AA-B333-01C9DA792CF3}"/>
              </a:ext>
            </a:extLst>
          </p:cNvPr>
          <p:cNvSpPr txBox="1"/>
          <p:nvPr/>
        </p:nvSpPr>
        <p:spPr>
          <a:xfrm>
            <a:off x="1003598" y="2936161"/>
            <a:ext cx="2615317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(\x y -&gt; if x &lt; y then -1 else 1) 3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33FF94-8B36-87B3-1688-A317CA475040}"/>
              </a:ext>
            </a:extLst>
          </p:cNvPr>
          <p:cNvSpPr txBox="1"/>
          <p:nvPr/>
        </p:nvSpPr>
        <p:spPr>
          <a:xfrm>
            <a:off x="3618915" y="2889995"/>
            <a:ext cx="312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>
                <a:solidFill>
                  <a:schemeClr val="accent2">
                    <a:lumMod val="75000"/>
                  </a:schemeClr>
                </a:solidFill>
              </a:rPr>
              <a:t>✓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82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charRg st="1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charRg st="1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2728D-C2E6-A08B-1E46-4587F75C0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FB710-3178-241A-C1C1-EB27C4AA0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Possible Errors – 3 - </a:t>
            </a:r>
            <a:r>
              <a:rPr lang="en-IE" dirty="0"/>
              <a:t>Forgetting lambdas bind one variable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8A4670-2421-9585-2E41-76EDC584E20B}"/>
              </a:ext>
            </a:extLst>
          </p:cNvPr>
          <p:cNvSpPr txBox="1"/>
          <p:nvPr/>
        </p:nvSpPr>
        <p:spPr>
          <a:xfrm>
            <a:off x="1423938" y="1488365"/>
            <a:ext cx="1165193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\</a:t>
            </a:r>
            <a:r>
              <a:rPr lang="en-US" sz="1200" dirty="0" err="1">
                <a:solidFill>
                  <a:schemeClr val="bg1"/>
                </a:solidFill>
              </a:rPr>
              <a:t>xy</a:t>
            </a:r>
            <a:r>
              <a:rPr lang="en-US" sz="1200" dirty="0">
                <a:solidFill>
                  <a:schemeClr val="bg1"/>
                </a:solidFill>
              </a:rPr>
              <a:t> -&gt; x + y</a:t>
            </a:r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8A5FDA7B-45CA-1566-16B1-D72AC7CB99DE}"/>
              </a:ext>
            </a:extLst>
          </p:cNvPr>
          <p:cNvSpPr/>
          <p:nvPr/>
        </p:nvSpPr>
        <p:spPr>
          <a:xfrm>
            <a:off x="2762250" y="1421245"/>
            <a:ext cx="412815" cy="411237"/>
          </a:xfrm>
          <a:prstGeom prst="mathMultiply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1281D-600A-B024-2BD5-14C16B8C8556}"/>
              </a:ext>
            </a:extLst>
          </p:cNvPr>
          <p:cNvSpPr txBox="1"/>
          <p:nvPr/>
        </p:nvSpPr>
        <p:spPr>
          <a:xfrm>
            <a:off x="520634" y="1970964"/>
            <a:ext cx="3841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What’s wrong? </a:t>
            </a:r>
          </a:p>
          <a:p>
            <a:r>
              <a:rPr lang="en-IE" sz="1200" dirty="0" err="1">
                <a:solidFill>
                  <a:schemeClr val="bg1"/>
                </a:solidFill>
              </a:rPr>
              <a:t>xy</a:t>
            </a:r>
            <a:r>
              <a:rPr lang="en-IE" sz="1200" dirty="0">
                <a:solidFill>
                  <a:schemeClr val="bg1"/>
                </a:solidFill>
              </a:rPr>
              <a:t> is a single variable name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9F664-0F42-34A1-4816-B55C1465148F}"/>
              </a:ext>
            </a:extLst>
          </p:cNvPr>
          <p:cNvSpPr txBox="1"/>
          <p:nvPr/>
        </p:nvSpPr>
        <p:spPr>
          <a:xfrm>
            <a:off x="1423938" y="2936161"/>
            <a:ext cx="107285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\x y -&gt; x + 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D1589B-F362-899C-B198-30D41F0450BD}"/>
              </a:ext>
            </a:extLst>
          </p:cNvPr>
          <p:cNvSpPr txBox="1"/>
          <p:nvPr/>
        </p:nvSpPr>
        <p:spPr>
          <a:xfrm>
            <a:off x="2812530" y="2877872"/>
            <a:ext cx="312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>
                <a:solidFill>
                  <a:schemeClr val="accent2">
                    <a:lumMod val="75000"/>
                  </a:schemeClr>
                </a:solidFill>
              </a:rPr>
              <a:t>✓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01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0B932-DC6A-34FD-37D7-5D71EBA93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5F598-7541-8C88-0129-15A1E3C7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Possible Errors – 4 – </a:t>
            </a:r>
            <a:r>
              <a:rPr lang="en-IE" dirty="0"/>
              <a:t>Trying to evaluate before application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5C9AF-7786-FEA2-3D06-49AC8D4DC7C5}"/>
              </a:ext>
            </a:extLst>
          </p:cNvPr>
          <p:cNvSpPr txBox="1"/>
          <p:nvPr/>
        </p:nvSpPr>
        <p:spPr>
          <a:xfrm>
            <a:off x="1000027" y="1525721"/>
            <a:ext cx="2013015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\y -&gt; if x &lt; y then -1 else 1</a:t>
            </a:r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095163FB-8B6A-38DB-2542-D084E8A1A79E}"/>
              </a:ext>
            </a:extLst>
          </p:cNvPr>
          <p:cNvSpPr/>
          <p:nvPr/>
        </p:nvSpPr>
        <p:spPr>
          <a:xfrm>
            <a:off x="3219450" y="1425575"/>
            <a:ext cx="412815" cy="411237"/>
          </a:xfrm>
          <a:prstGeom prst="mathMultiply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8657C-5B5E-EC8E-D34C-3B9B8F6B72D3}"/>
              </a:ext>
            </a:extLst>
          </p:cNvPr>
          <p:cNvSpPr txBox="1"/>
          <p:nvPr/>
        </p:nvSpPr>
        <p:spPr>
          <a:xfrm>
            <a:off x="520634" y="1970964"/>
            <a:ext cx="3841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What’s wrong? </a:t>
            </a:r>
          </a:p>
          <a:p>
            <a:r>
              <a:rPr lang="en-IE" sz="1200" dirty="0">
                <a:solidFill>
                  <a:schemeClr val="bg1"/>
                </a:solidFill>
              </a:rPr>
              <a:t>x is not bound anywhere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DECEA-916F-22F0-C5D7-17968D7883C6}"/>
              </a:ext>
            </a:extLst>
          </p:cNvPr>
          <p:cNvSpPr txBox="1"/>
          <p:nvPr/>
        </p:nvSpPr>
        <p:spPr>
          <a:xfrm>
            <a:off x="892156" y="2855552"/>
            <a:ext cx="2228756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\x y -&gt; if x &lt; y then -1 else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ACE921-56FA-A69D-ADBA-8B4CF0338E28}"/>
              </a:ext>
            </a:extLst>
          </p:cNvPr>
          <p:cNvSpPr txBox="1"/>
          <p:nvPr/>
        </p:nvSpPr>
        <p:spPr>
          <a:xfrm>
            <a:off x="3286052" y="2809385"/>
            <a:ext cx="312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>
                <a:solidFill>
                  <a:schemeClr val="accent2">
                    <a:lumMod val="75000"/>
                  </a:schemeClr>
                </a:solidFill>
              </a:rPr>
              <a:t>✓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10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26" y="599364"/>
            <a:ext cx="3285707" cy="2497138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21</a:t>
            </a:fld>
            <a:endParaRPr lang="en-US" sz="70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BE327-ECF9-8AAA-101C-567717DCFCF3}"/>
              </a:ext>
            </a:extLst>
          </p:cNvPr>
          <p:cNvSpPr txBox="1"/>
          <p:nvPr/>
        </p:nvSpPr>
        <p:spPr>
          <a:xfrm>
            <a:off x="3273953" y="236000"/>
            <a:ext cx="184731" cy="232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8" dirty="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a-types-and-classes</Template>
  <TotalTime>713</TotalTime>
  <Words>1309</Words>
  <Application>Microsoft Macintosh PowerPoint</Application>
  <PresentationFormat>Custom</PresentationFormat>
  <Paragraphs>179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Calibri</vt:lpstr>
      <vt:lpstr>Menlo</vt:lpstr>
      <vt:lpstr>Tahoma</vt:lpstr>
      <vt:lpstr>Times New Roman</vt:lpstr>
      <vt:lpstr>Trebuchet MS</vt:lpstr>
      <vt:lpstr>Wingdings</vt:lpstr>
      <vt:lpstr>Berlin</vt:lpstr>
      <vt:lpstr>PowerPoint Presentation</vt:lpstr>
      <vt:lpstr>Lambda Calculus</vt:lpstr>
      <vt:lpstr>The structure of lambda terms</vt:lpstr>
      <vt:lpstr>Alpha Equivalence</vt:lpstr>
      <vt:lpstr>Beta Reduction</vt:lpstr>
      <vt:lpstr>Beta Reduction – Example 1</vt:lpstr>
      <vt:lpstr>Beta Reduction – Example 2 </vt:lpstr>
      <vt:lpstr>Beta Reduction- Example 3</vt:lpstr>
      <vt:lpstr>PowerPoint Presentation</vt:lpstr>
      <vt:lpstr>if expression and lambdas</vt:lpstr>
      <vt:lpstr>if expression and lambdas</vt:lpstr>
      <vt:lpstr>if expression and lambdas</vt:lpstr>
      <vt:lpstr>Variables</vt:lpstr>
      <vt:lpstr>Variables contd.</vt:lpstr>
      <vt:lpstr>Multiple Arguments</vt:lpstr>
      <vt:lpstr>Lambda Caculus in Haskell</vt:lpstr>
      <vt:lpstr>Possible Errors – 1 – missing else</vt:lpstr>
      <vt:lpstr>Possible Errors – 2 - Applying arguments to the wrong thing</vt:lpstr>
      <vt:lpstr>Possible Errors – 3 - Forgetting lambdas bind one variable</vt:lpstr>
      <vt:lpstr>Possible Errors – 4 – Trying to evaluate before application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Mairead Meagher</cp:lastModifiedBy>
  <cp:revision>8</cp:revision>
  <dcterms:created xsi:type="dcterms:W3CDTF">2025-02-01T14:40:59Z</dcterms:created>
  <dcterms:modified xsi:type="dcterms:W3CDTF">2026-01-29T10:37:13Z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2025-01-30T10:00:00Z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2025-02-01T10:00:00Z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</Properties>
</file>