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IN HASKELL</a:t>
            </a:r>
          </a:p>
        </p:txBody>
      </p:sp>
      <p:pic>
        <p:nvPicPr>
          <p:cNvPr id="3" name="Picture 2" descr="b-lambda-calcu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528622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Chapter 4.2 The Lambda Calculus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Lambda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lambda calculus is a model of computation devised in the 1930s by Alonzo Church.</a:t>
            </a:r>
          </a:p>
          <a:p>
            <a:pPr>
              <a:defRPr sz="2000"/>
            </a:pPr>
            <a:r>
              <a:t>Functional programming languages are all based on the lambda calculus.</a:t>
            </a:r>
          </a:p>
          <a:p>
            <a:pPr>
              <a:defRPr sz="2000"/>
            </a:pPr>
            <a:r>
              <a:t>Haskell is a *pure* functional language because all its features are translatable into lambda expressions.</a:t>
            </a:r>
          </a:p>
          <a:p>
            <a:pPr>
              <a:defRPr sz="2000"/>
            </a:pPr>
            <a:r>
              <a:t>Allows a higher degree of abstraction and composability.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The structure of lambda terms</a:t>
            </a:r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572000" cy="2703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Structure of lambda terms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Alpha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We have seen the function: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    λ x. x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The variable x here is not semantically meaningful except in its role in that single expression. Because of this, there’s a form of equivalence between lambda terms called alpha equivalence. In other words: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    λ x. x</a:t>
            </a:r>
          </a:p>
          <a:p>
            <a:pPr>
              <a:defRPr sz="3200"/>
            </a:pPr>
            <a:r>
              <a:t>    λ apple. apple</a:t>
            </a:r>
          </a:p>
          <a:p>
            <a:pPr>
              <a:defRPr sz="3200"/>
            </a:pPr>
            <a:r>
              <a:t>    λ orange. orange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all mean the same 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Beta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/>
            </a:pPr>
            <a:r>
              <a:t>When we apply a function to an argument, we substitute the input expression for all instances of bound variables within the body of the abstraction.</a:t>
            </a:r>
          </a:p>
          <a:p>
            <a:pPr>
              <a:defRPr sz="3200"/>
            </a:pPr>
            <a:r>
              <a:t>Then we eliminate the head of the abstraction (its only purpose was to bind a variable).</a:t>
            </a:r>
          </a:p>
          <a:p>
            <a:pPr>
              <a:defRPr sz="3200"/>
            </a:pPr>
            <a:r>
              <a:t>This process is called beta reduction.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Example of Beta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We apply the function above to 2    λ x. x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substitute 2 for each bound variable in the body of the function, and then eliminate the head: </a:t>
            </a:r>
          </a:p>
          <a:p>
            <a:pPr>
              <a:defRPr sz="3200"/>
            </a:pPr>
            <a:r>
              <a:t>  (λ x. x)  2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 The only bound variable is the single x, so applying this function to 2 returns 2. </a:t>
            </a:r>
          </a:p>
          <a:p>
            <a:pPr>
              <a:defRPr sz="3200"/>
            </a:pPr>
            <a:r>
              <a:t> This function is the *identity* function. </a:t>
            </a:r>
          </a:p>
          <a:p>
            <a:pPr>
              <a:defRPr sz="32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Encoding Booleans in λ Calculus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We can encode booleans as functions. For example: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    TRUE  = λ x. λ y. x</a:t>
            </a:r>
          </a:p>
          <a:p>
            <a:pPr>
              <a:defRPr sz="3200"/>
            </a:pPr>
            <a:r>
              <a:t>    FALSE = λ x. λ y. y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Using these, we define NOT as: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    NOT = λ b. b FALSE TRUE</a:t>
            </a:r>
          </a:p>
          <a:p>
            <a:pPr>
              <a:defRPr sz="3200"/>
            </a:pPr>
          </a:p>
          <a:p>
            <a:pPr>
              <a:defRPr sz="3200"/>
            </a:pPr>
            <a:r>
              <a:t>Testing:</a:t>
            </a:r>
          </a:p>
          <a:p>
            <a:pPr>
              <a:defRPr sz="3200"/>
            </a:pPr>
            <a:r>
              <a:t>    NOT TRUE  =&gt; FALSE</a:t>
            </a:r>
          </a:p>
          <a:p>
            <a:pPr>
              <a:defRPr sz="3200"/>
            </a:pPr>
            <a:r>
              <a:t>    NOT FALSE =&gt; TRUE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