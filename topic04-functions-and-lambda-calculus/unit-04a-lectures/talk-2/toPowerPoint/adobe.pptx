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5" r:id="rId2"/>
    <p:sldId id="256" r:id="rId3"/>
    <p:sldId id="257" r:id="rId4"/>
    <p:sldId id="258" r:id="rId5"/>
    <p:sldId id="259" r:id="rId6"/>
    <p:sldId id="262" r:id="rId7"/>
    <p:sldId id="260" r:id="rId8"/>
    <p:sldId id="263" r:id="rId9"/>
    <p:sldId id="264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56"/>
    <p:restoredTop sz="94730"/>
  </p:normalViewPr>
  <p:slideViewPr>
    <p:cSldViewPr snapToGrid="0" snapToObjects="1">
      <p:cViewPr varScale="1">
        <p:scale>
          <a:sx n="80" d="100"/>
          <a:sy n="80" d="100"/>
        </p:scale>
        <p:origin x="200" y="9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04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1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4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92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08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87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97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35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36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11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526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6487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17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93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42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30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2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77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9862" y="123665"/>
            <a:ext cx="583999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z="2774" spc="347" dirty="0">
                <a:solidFill>
                  <a:srgbClr val="FFF200"/>
                </a:solidFill>
                <a:latin typeface="Times New Roman"/>
                <a:cs typeface="Times New Roman"/>
              </a:rPr>
              <a:t>PROGRAMMING</a:t>
            </a:r>
            <a:r>
              <a:rPr sz="2774" spc="426" dirty="0">
                <a:solidFill>
                  <a:srgbClr val="FFF200"/>
                </a:solidFill>
                <a:latin typeface="Times New Roman"/>
                <a:cs typeface="Times New Roman"/>
              </a:rPr>
              <a:t> </a:t>
            </a:r>
            <a:r>
              <a:rPr sz="2774" spc="258" dirty="0">
                <a:solidFill>
                  <a:srgbClr val="FFF200"/>
                </a:solidFill>
                <a:latin typeface="Times New Roman"/>
                <a:cs typeface="Times New Roman"/>
              </a:rPr>
              <a:t>IN</a:t>
            </a:r>
            <a:r>
              <a:rPr sz="2774" spc="436" dirty="0">
                <a:solidFill>
                  <a:srgbClr val="FFF200"/>
                </a:solidFill>
                <a:latin typeface="Times New Roman"/>
                <a:cs typeface="Times New Roman"/>
              </a:rPr>
              <a:t> </a:t>
            </a:r>
            <a:r>
              <a:rPr sz="2774" spc="268" dirty="0">
                <a:solidFill>
                  <a:srgbClr val="FFF200"/>
                </a:solidFill>
                <a:latin typeface="Times New Roman"/>
                <a:cs typeface="Times New Roman"/>
              </a:rPr>
              <a:t>HASKELL</a:t>
            </a:r>
            <a:endParaRPr sz="2774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833" y="1888954"/>
            <a:ext cx="6934169" cy="22303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72182" y="4916694"/>
            <a:ext cx="3995257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79" dirty="0">
                <a:solidFill>
                  <a:srgbClr val="FFFFFF"/>
                </a:solidFill>
                <a:latin typeface="Arial"/>
                <a:cs typeface="Arial"/>
              </a:rPr>
              <a:t>Chapter</a:t>
            </a:r>
            <a:r>
              <a:rPr sz="2180" spc="-6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80" spc="-20" dirty="0">
                <a:solidFill>
                  <a:srgbClr val="FFFFFF"/>
                </a:solidFill>
                <a:latin typeface="Arial"/>
                <a:cs typeface="Arial"/>
              </a:rPr>
              <a:t>4.2</a:t>
            </a:r>
            <a:r>
              <a:rPr sz="2180" spc="-8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8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180" spc="-6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80" spc="-89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2180" spc="-5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80" spc="-89" dirty="0">
                <a:solidFill>
                  <a:srgbClr val="FFFFFF"/>
                </a:solidFill>
                <a:latin typeface="Arial"/>
                <a:cs typeface="Arial"/>
              </a:rPr>
              <a:t>Calculus</a:t>
            </a:r>
            <a:endParaRPr sz="218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-lambda-calcu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43100"/>
            <a:ext cx="8528622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6537" y="5243512"/>
            <a:ext cx="63680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sz="3200" dirty="0"/>
              <a:t>Chapter 4.2 The Lambda Calculus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A0C85D2-1612-77DD-D5AA-38BE13611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4770" y="744538"/>
            <a:ext cx="8910637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tx2"/>
                </a:solidFill>
                <a:latin typeface="Arial Black" charset="0"/>
                <a:cs typeface="+mn-cs"/>
              </a:rPr>
              <a:t>PROGRAMMING IN HASKELL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E61D7E5-F50F-4302-98E4-3DA68696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2" y="753228"/>
            <a:ext cx="865613" cy="1090789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400" kern="1200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7213" y="774383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/>
            </a:pPr>
            <a:r>
              <a:rPr dirty="0"/>
              <a:t>Lambda Calculus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1295" y="1835086"/>
            <a:ext cx="8134727" cy="50229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indent="498475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lambda calculus </a:t>
            </a: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model of computation </a:t>
            </a:r>
            <a:endParaRPr kumimoji="1"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indent="498475">
              <a:spcBef>
                <a:spcPct val="20000"/>
              </a:spcBef>
              <a:buClr>
                <a:schemeClr val="accent2"/>
              </a:buClr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devised in the 1930s by Alonzo Church.</a:t>
            </a:r>
          </a:p>
          <a:p>
            <a:pPr indent="498475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Functional programming languages are all </a:t>
            </a:r>
            <a:endParaRPr kumimoji="1"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indent="498475">
              <a:spcBef>
                <a:spcPct val="20000"/>
              </a:spcBef>
              <a:buClr>
                <a:schemeClr val="accent2"/>
              </a:buClr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the lambda calculus.</a:t>
            </a:r>
          </a:p>
          <a:p>
            <a:pPr indent="498475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Haskell is a </a:t>
            </a:r>
            <a:r>
              <a:rPr kumimoji="1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pure</a:t>
            </a: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functional language because </a:t>
            </a:r>
            <a:endParaRPr kumimoji="1"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indent="498475">
              <a:spcBef>
                <a:spcPct val="20000"/>
              </a:spcBef>
              <a:buClr>
                <a:schemeClr val="accent2"/>
              </a:buClr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its features are translatable into lambda </a:t>
            </a:r>
            <a:endParaRPr kumimoji="1"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indent="498475">
              <a:spcBef>
                <a:spcPct val="20000"/>
              </a:spcBef>
              <a:buClr>
                <a:schemeClr val="accent2"/>
              </a:buClr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expressions.</a:t>
            </a:r>
          </a:p>
          <a:p>
            <a:pPr indent="498475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Allows a higher degree of abstraction and </a:t>
            </a:r>
            <a:endParaRPr kumimoji="1"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indent="498475">
              <a:spcBef>
                <a:spcPct val="20000"/>
              </a:spcBef>
              <a:buClr>
                <a:schemeClr val="accent2"/>
              </a:buClr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composability.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2AA9533-1AA2-D72C-BD7C-493C7A545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2" y="753228"/>
            <a:ext cx="865613" cy="1090789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 sz="1400" kern="1200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67091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/>
            </a:pPr>
            <a:r>
              <a:rPr dirty="0"/>
              <a:t>The structure of la</a:t>
            </a:r>
            <a:r>
              <a:rPr lang="en-IE" dirty="0"/>
              <a:t>m</a:t>
            </a:r>
            <a:r>
              <a:rPr dirty="0" err="1"/>
              <a:t>bda</a:t>
            </a:r>
            <a:r>
              <a:rPr dirty="0"/>
              <a:t> terms</a:t>
            </a:r>
          </a:p>
        </p:txBody>
      </p:sp>
      <p:pic>
        <p:nvPicPr>
          <p:cNvPr id="4" name="Picture 3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2843212"/>
            <a:ext cx="4572000" cy="2703798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66E51C8B-A732-92CB-D852-7ECBF963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2" y="753228"/>
            <a:ext cx="865613" cy="1090789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 sz="1400" kern="1200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/>
            </a:pPr>
            <a:r>
              <a:t>Alpha Equivalence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695" y="2126332"/>
            <a:ext cx="8251105" cy="37856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have seen the function:</a:t>
            </a:r>
          </a:p>
          <a:p>
            <a:pPr>
              <a:defRPr sz="2000"/>
            </a:pPr>
            <a:endParaRPr dirty="0"/>
          </a:p>
          <a:p>
            <a:pPr algn="ctr">
              <a:defRPr sz="2000"/>
            </a:pPr>
            <a:r>
              <a:rPr sz="3200" dirty="0"/>
              <a:t>    </a:t>
            </a:r>
            <a:r>
              <a:rPr sz="3200" dirty="0" err="1"/>
              <a:t>λ</a:t>
            </a:r>
            <a:r>
              <a:rPr sz="3200" dirty="0"/>
              <a:t> x. x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variable x here is not semantically meaningful </a:t>
            </a:r>
            <a:endParaRPr kumimoji="1"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except in its role in that single expression. </a:t>
            </a:r>
            <a:endParaRPr kumimoji="1"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Because of this, there’s a form of equivalence </a:t>
            </a:r>
            <a:endParaRPr kumimoji="1"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between lambda terms called alpha equivalence. </a:t>
            </a:r>
            <a:endParaRPr kumimoji="1"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 sz="2000"/>
            </a:pPr>
            <a:endParaRPr kumimoji="1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B0CCF28-8B2F-7C17-C34B-D65AAD91D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2" y="753228"/>
            <a:ext cx="865613" cy="1090789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5</a:t>
            </a:fld>
            <a:endParaRPr lang="en-US" sz="1400" kern="1200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/>
            </a:pPr>
            <a:r>
              <a:t>Alpha Equivalence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19845"/>
            <a:ext cx="77529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other words:</a:t>
            </a:r>
          </a:p>
          <a:p>
            <a:pPr>
              <a:defRPr sz="2000"/>
            </a:pPr>
            <a:endParaRPr kumimoji="1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kumimoji="1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λ</a:t>
            </a: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x. x</a:t>
            </a:r>
          </a:p>
          <a:p>
            <a:pPr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kumimoji="1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λ</a:t>
            </a: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apple. apple</a:t>
            </a:r>
          </a:p>
          <a:p>
            <a:pPr>
              <a:defRPr sz="2000"/>
            </a:pP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kumimoji="1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λ</a:t>
            </a:r>
            <a:r>
              <a:rPr kumimoji="1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orange. orange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sz="3200" dirty="0"/>
              <a:t>all mean the same thing.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B0CCF28-8B2F-7C17-C34B-D65AAD91D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2" y="753228"/>
            <a:ext cx="865613" cy="1090789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6</a:t>
            </a:fld>
            <a:endParaRPr lang="en-US" sz="1400" kern="1200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59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/>
            </a:pPr>
            <a:r>
              <a:t>Beta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8121" y="2028825"/>
            <a:ext cx="9315371" cy="430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98425" indent="442913">
              <a:buFont typeface="Wingdings" pitchFamily="2" charset="2"/>
              <a:buChar char="q"/>
              <a:defRPr sz="2000"/>
            </a:pPr>
            <a:r>
              <a:rPr sz="3200" dirty="0"/>
              <a:t>When we apply a function to an argument, </a:t>
            </a:r>
            <a:endParaRPr lang="en-IE" sz="3200" dirty="0"/>
          </a:p>
          <a:p>
            <a:pPr marL="98425" indent="442913">
              <a:defRPr sz="2000"/>
            </a:pPr>
            <a:r>
              <a:rPr sz="3200" dirty="0"/>
              <a:t>we substitute the input expression for all </a:t>
            </a:r>
            <a:endParaRPr lang="en-IE" sz="3200" dirty="0"/>
          </a:p>
          <a:p>
            <a:pPr marL="98425" indent="442913">
              <a:defRPr sz="2000"/>
            </a:pPr>
            <a:r>
              <a:rPr sz="3200" dirty="0"/>
              <a:t>instances of bound variables within the body </a:t>
            </a:r>
            <a:endParaRPr lang="en-IE" sz="3200" dirty="0"/>
          </a:p>
          <a:p>
            <a:pPr marL="98425" indent="442913">
              <a:defRPr sz="2000"/>
            </a:pPr>
            <a:r>
              <a:rPr sz="3200" dirty="0"/>
              <a:t>of the abstraction.</a:t>
            </a:r>
          </a:p>
          <a:p>
            <a:pPr marL="98425" indent="442913">
              <a:buFont typeface="Wingdings" pitchFamily="2" charset="2"/>
              <a:buChar char="q"/>
              <a:defRPr sz="2000"/>
            </a:pPr>
            <a:r>
              <a:rPr sz="3200" dirty="0"/>
              <a:t>Then we eliminate the head of the </a:t>
            </a:r>
            <a:endParaRPr lang="en-IE" sz="3200" dirty="0"/>
          </a:p>
          <a:p>
            <a:pPr marL="98425" indent="442913">
              <a:defRPr sz="2000"/>
            </a:pPr>
            <a:r>
              <a:rPr sz="3200" dirty="0"/>
              <a:t>abstraction (its only purpose was to bind a </a:t>
            </a:r>
            <a:endParaRPr lang="en-IE" sz="3200" dirty="0"/>
          </a:p>
          <a:p>
            <a:pPr marL="98425" indent="442913">
              <a:defRPr sz="2000"/>
            </a:pPr>
            <a:r>
              <a:rPr sz="3200" dirty="0"/>
              <a:t>variable).</a:t>
            </a:r>
          </a:p>
          <a:p>
            <a:pPr marL="98425" indent="442913">
              <a:buFont typeface="Wingdings" pitchFamily="2" charset="2"/>
              <a:buChar char="q"/>
              <a:defRPr sz="2000"/>
            </a:pPr>
            <a:r>
              <a:rPr sz="3200" dirty="0"/>
              <a:t>This process is called beta reduction.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78C8970-B4E5-E764-D6C4-575B70D31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2" y="753228"/>
            <a:ext cx="865613" cy="1090789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7</a:t>
            </a:fld>
            <a:endParaRPr lang="en-US" sz="1400" kern="1200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02DAF-3D2A-FCC5-73C1-08BBF90D7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88" y="540577"/>
            <a:ext cx="6896534" cy="1080938"/>
          </a:xfrm>
        </p:spPr>
        <p:txBody>
          <a:bodyPr/>
          <a:lstStyle/>
          <a:p>
            <a:r>
              <a:rPr lang="en-US" dirty="0"/>
              <a:t>Beta Reduction – Example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B46D3-05B2-8DF1-C524-9B31E14FB0F0}"/>
              </a:ext>
            </a:extLst>
          </p:cNvPr>
          <p:cNvSpPr txBox="1"/>
          <p:nvPr/>
        </p:nvSpPr>
        <p:spPr>
          <a:xfrm>
            <a:off x="531639" y="2133600"/>
            <a:ext cx="811359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/>
            </a:pPr>
            <a:r>
              <a:rPr lang="el-GR" sz="2400" dirty="0"/>
              <a:t>λ </a:t>
            </a:r>
            <a:r>
              <a:rPr lang="en-IE" sz="2400" dirty="0"/>
              <a:t>x. x</a:t>
            </a:r>
          </a:p>
          <a:p>
            <a:pPr marL="457200" indent="-457200">
              <a:buFont typeface="Wingdings" pitchFamily="2" charset="2"/>
              <a:buChar char="q"/>
              <a:defRPr sz="3200"/>
            </a:pPr>
            <a:r>
              <a:rPr lang="en-IE" sz="2000" dirty="0"/>
              <a:t>We apply the function above to 2</a:t>
            </a:r>
          </a:p>
          <a:p>
            <a:pPr marL="457200" indent="-457200">
              <a:buFont typeface="Wingdings" pitchFamily="2" charset="2"/>
              <a:buChar char="q"/>
              <a:defRPr sz="3200"/>
            </a:pPr>
            <a:r>
              <a:rPr lang="en-IE" sz="2000" dirty="0"/>
              <a:t>substitute 2 for each bound variable in the body of the function, and then </a:t>
            </a:r>
          </a:p>
          <a:p>
            <a:pPr marL="457200" indent="-457200">
              <a:buFont typeface="Wingdings" pitchFamily="2" charset="2"/>
              <a:buChar char="q"/>
              <a:defRPr sz="3200"/>
            </a:pPr>
            <a:r>
              <a:rPr lang="en-IE" sz="2000" dirty="0"/>
              <a:t>eliminate the head: </a:t>
            </a:r>
          </a:p>
          <a:p>
            <a:pPr indent="2894013">
              <a:defRPr sz="3200"/>
            </a:pPr>
            <a:r>
              <a:rPr lang="en-IE" dirty="0"/>
              <a:t>  </a:t>
            </a:r>
            <a:r>
              <a:rPr lang="en-IE" sz="2400" dirty="0"/>
              <a:t>(</a:t>
            </a:r>
            <a:r>
              <a:rPr lang="el-GR" sz="2400" dirty="0"/>
              <a:t>λ </a:t>
            </a:r>
            <a:r>
              <a:rPr lang="en-IE" sz="2400" dirty="0"/>
              <a:t>x. x)  2</a:t>
            </a:r>
          </a:p>
          <a:p>
            <a:pPr indent="4319588">
              <a:defRPr sz="3200"/>
            </a:pPr>
            <a:r>
              <a:rPr lang="en-IE" sz="2400" dirty="0"/>
              <a:t>2</a:t>
            </a:r>
          </a:p>
          <a:p>
            <a:pPr>
              <a:defRPr sz="3200"/>
            </a:pPr>
            <a:endParaRPr lang="en-IE" dirty="0"/>
          </a:p>
          <a:p>
            <a:pPr marL="342900" indent="-342900">
              <a:buFont typeface="Wingdings" pitchFamily="2" charset="2"/>
              <a:buChar char="q"/>
              <a:defRPr sz="3200"/>
            </a:pPr>
            <a:r>
              <a:rPr lang="en-IE" sz="2000" dirty="0"/>
              <a:t> The only bound variable is the single x, so applying this function to 2 returns 2. </a:t>
            </a:r>
          </a:p>
          <a:p>
            <a:pPr marL="342900" indent="-342900">
              <a:buFont typeface="Wingdings" pitchFamily="2" charset="2"/>
              <a:buChar char="q"/>
              <a:defRPr sz="3200"/>
            </a:pPr>
            <a:r>
              <a:rPr lang="en-IE" sz="2000" dirty="0"/>
              <a:t> This function is the </a:t>
            </a:r>
            <a:r>
              <a:rPr lang="en-IE" sz="2000" b="1" dirty="0"/>
              <a:t>identity</a:t>
            </a:r>
            <a:r>
              <a:rPr lang="en-IE" sz="2000" dirty="0"/>
              <a:t> function. </a:t>
            </a:r>
          </a:p>
        </p:txBody>
      </p:sp>
    </p:spTree>
    <p:extLst>
      <p:ext uri="{BB962C8B-B14F-4D97-AF65-F5344CB8AC3E}">
        <p14:creationId xmlns:p14="http://schemas.microsoft.com/office/powerpoint/2010/main" val="268826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E8B5-05CA-3650-5E87-01E2BE522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Reduction – Example 2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BCAE0-04F6-994A-3B21-3F5311C4E4B7}"/>
              </a:ext>
            </a:extLst>
          </p:cNvPr>
          <p:cNvSpPr txBox="1"/>
          <p:nvPr/>
        </p:nvSpPr>
        <p:spPr>
          <a:xfrm>
            <a:off x="999460" y="2573079"/>
            <a:ext cx="25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2A8E2-6028-DC01-975B-40959D04FEDB}"/>
              </a:ext>
            </a:extLst>
          </p:cNvPr>
          <p:cNvSpPr txBox="1"/>
          <p:nvPr/>
        </p:nvSpPr>
        <p:spPr>
          <a:xfrm>
            <a:off x="2845541" y="2419191"/>
            <a:ext cx="4582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kumimoji="1" lang="en-IE" sz="2800" dirty="0"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1" lang="el-GR" sz="2800" dirty="0">
                <a:ea typeface="Tahoma" panose="020B0604030504040204" pitchFamily="34" charset="0"/>
                <a:cs typeface="Tahoma" panose="020B0604030504040204" pitchFamily="34" charset="0"/>
              </a:rPr>
              <a:t>λ </a:t>
            </a:r>
            <a:r>
              <a:rPr kumimoji="1" lang="en-IE" sz="2800" dirty="0">
                <a:ea typeface="Tahoma" panose="020B0604030504040204" pitchFamily="34" charset="0"/>
                <a:cs typeface="Tahoma" panose="020B0604030504040204" pitchFamily="34" charset="0"/>
              </a:rPr>
              <a:t>x. x+1)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FF354-E56B-5141-AB09-9CD9D852E3F0}"/>
              </a:ext>
            </a:extLst>
          </p:cNvPr>
          <p:cNvSpPr txBox="1"/>
          <p:nvPr/>
        </p:nvSpPr>
        <p:spPr>
          <a:xfrm>
            <a:off x="829340" y="3253563"/>
            <a:ext cx="56348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 if we apply this to 2 (try this yourself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812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/>
            </a:pPr>
            <a:r>
              <a:t>Encoding Booleans in λ Calculus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We can encode booleans as functions. For example: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    TRUE  = λ x. λ y. x</a:t>
            </a:r>
          </a:p>
          <a:p>
            <a:pPr>
              <a:defRPr sz="2000"/>
            </a:pPr>
            <a:r>
              <a:t>    FALSE = λ x. λ y. y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Using these, we define NOT as: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    NOT = λ b. b FALSE TRUE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Testing:</a:t>
            </a:r>
          </a:p>
          <a:p>
            <a:pPr>
              <a:defRPr sz="2000"/>
            </a:pPr>
            <a:r>
              <a:t>    NOT TRUE  =&gt; FALSE</a:t>
            </a:r>
          </a:p>
          <a:p>
            <a:pPr>
              <a:defRPr sz="2000"/>
            </a:pPr>
            <a:r>
              <a:t>    NOT FALSE =&gt; TRUE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2EF35E0-73C0-F756-49BD-AE029B0D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2" y="753228"/>
            <a:ext cx="865613" cy="1090789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 sz="1400" kern="1200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a-types-and-classes</Template>
  <TotalTime>105</TotalTime>
  <Words>371</Words>
  <Application>Microsoft Macintosh PowerPoint</Application>
  <PresentationFormat>On-screen Show (4:3)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Tahoma</vt:lpstr>
      <vt:lpstr>Times New Roman</vt:lpstr>
      <vt:lpstr>Trebuchet MS</vt:lpstr>
      <vt:lpstr>Wingdings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Beta Reduction – Example 1</vt:lpstr>
      <vt:lpstr>Beta Reduction – Example 2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Mairead Meagher</cp:lastModifiedBy>
  <cp:revision>3</cp:revision>
  <dcterms:created xsi:type="dcterms:W3CDTF">2013-01-27T09:14:16Z</dcterms:created>
  <dcterms:modified xsi:type="dcterms:W3CDTF">2025-02-01T15:25:09Z</dcterms:modified>
  <cp:category/>
</cp:coreProperties>
</file>