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304" r:id="rId2"/>
    <p:sldId id="257" r:id="rId3"/>
    <p:sldId id="303" r:id="rId4"/>
    <p:sldId id="259" r:id="rId5"/>
    <p:sldId id="260" r:id="rId6"/>
    <p:sldId id="305" r:id="rId7"/>
    <p:sldId id="306" r:id="rId8"/>
    <p:sldId id="266" r:id="rId9"/>
    <p:sldId id="264" r:id="rId10"/>
    <p:sldId id="271" r:id="rId11"/>
    <p:sldId id="275" r:id="rId12"/>
    <p:sldId id="278" r:id="rId13"/>
    <p:sldId id="282" r:id="rId14"/>
    <p:sldId id="283" r:id="rId15"/>
    <p:sldId id="284" r:id="rId16"/>
    <p:sldId id="287" r:id="rId17"/>
    <p:sldId id="291" r:id="rId18"/>
    <p:sldId id="292" r:id="rId19"/>
    <p:sldId id="294" r:id="rId20"/>
    <p:sldId id="295" r:id="rId21"/>
    <p:sldId id="297" r:id="rId22"/>
    <p:sldId id="299" r:id="rId23"/>
    <p:sldId id="300" r:id="rId24"/>
    <p:sldId id="301" r:id="rId25"/>
    <p:sldId id="302" r:id="rId26"/>
    <p:sldId id="343" r:id="rId27"/>
  </p:sldIdLst>
  <p:sldSz cx="4610100" cy="3460750"/>
  <p:notesSz cx="4610100" cy="34607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95"/>
    <p:restoredTop sz="94655"/>
  </p:normalViewPr>
  <p:slideViewPr>
    <p:cSldViewPr>
      <p:cViewPr>
        <p:scale>
          <a:sx n="253" d="100"/>
          <a:sy n="253" d="100"/>
        </p:scale>
        <p:origin x="688" y="14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41068"/>
            <a:ext cx="3391057" cy="139249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368" y="2141570"/>
            <a:ext cx="1163531" cy="1397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1307030"/>
            <a:ext cx="3391057" cy="83785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3445368" y="1307030"/>
            <a:ext cx="1163532" cy="8378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7247" y="1379510"/>
            <a:ext cx="3059923" cy="692892"/>
          </a:xfrm>
        </p:spPr>
        <p:txBody>
          <a:bodyPr anchor="b">
            <a:noAutofit/>
          </a:bodyPr>
          <a:lstStyle>
            <a:lvl1pPr algn="r">
              <a:defRPr sz="242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7247" y="2217363"/>
            <a:ext cx="3079501" cy="564018"/>
          </a:xfrm>
        </p:spPr>
        <p:txBody>
          <a:bodyPr>
            <a:normAutofit/>
          </a:bodyPr>
          <a:lstStyle>
            <a:lvl1pPr marL="0" indent="0" algn="r">
              <a:buNone/>
              <a:defRPr sz="1008"/>
            </a:lvl1pPr>
            <a:lvl2pPr marL="230520" indent="0" algn="ctr">
              <a:buNone/>
              <a:defRPr sz="1008"/>
            </a:lvl2pPr>
            <a:lvl3pPr marL="461040" indent="0" algn="ctr">
              <a:buNone/>
              <a:defRPr sz="908"/>
            </a:lvl3pPr>
            <a:lvl4pPr marL="691561" indent="0" algn="ctr">
              <a:buNone/>
              <a:defRPr sz="807"/>
            </a:lvl4pPr>
            <a:lvl5pPr marL="922081" indent="0" algn="ctr">
              <a:buNone/>
              <a:defRPr sz="807"/>
            </a:lvl5pPr>
            <a:lvl6pPr marL="1152601" indent="0" algn="ctr">
              <a:buNone/>
              <a:defRPr sz="807"/>
            </a:lvl6pPr>
            <a:lvl7pPr marL="1383121" indent="0" algn="ctr">
              <a:buNone/>
              <a:defRPr sz="807"/>
            </a:lvl7pPr>
            <a:lvl8pPr marL="1613642" indent="0" algn="ctr">
              <a:buNone/>
              <a:defRPr sz="807"/>
            </a:lvl8pPr>
            <a:lvl9pPr marL="1844162" indent="0" algn="ctr">
              <a:buNone/>
              <a:defRPr sz="807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96809" y="2995577"/>
            <a:ext cx="1037273" cy="18425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8923" y="2995577"/>
            <a:ext cx="2027590" cy="184253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34410" y="1387901"/>
            <a:ext cx="690856" cy="684501"/>
          </a:xfrm>
        </p:spPr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74300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307622"/>
            <a:ext cx="4619159" cy="846282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89885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1376848"/>
            <a:ext cx="4619159" cy="846282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035" y="1448234"/>
            <a:ext cx="3473280" cy="550444"/>
          </a:xfrm>
        </p:spPr>
        <p:txBody>
          <a:bodyPr anchor="ctr">
            <a:normAutofit/>
          </a:bodyPr>
          <a:lstStyle>
            <a:lvl1pPr algn="r">
              <a:defRPr sz="181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8035" y="2135680"/>
            <a:ext cx="3473280" cy="859897"/>
          </a:xfrm>
        </p:spPr>
        <p:txBody>
          <a:bodyPr>
            <a:normAutofit/>
          </a:bodyPr>
          <a:lstStyle>
            <a:lvl1pPr marL="0" indent="0" algn="r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1pPr>
            <a:lvl2pPr marL="230520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908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705262" y="2995577"/>
            <a:ext cx="1037273" cy="18425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8923" y="2995577"/>
            <a:ext cx="2437481" cy="184253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60954" y="1448235"/>
            <a:ext cx="579709" cy="550444"/>
          </a:xfrm>
        </p:spPr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49634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307622"/>
            <a:ext cx="4619159" cy="846282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23" y="380101"/>
            <a:ext cx="3472392" cy="5454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8923" y="1179255"/>
            <a:ext cx="1692941" cy="18163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47486" y="1179255"/>
            <a:ext cx="1693829" cy="18163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89463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307622"/>
            <a:ext cx="4619159" cy="846282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034" y="380102"/>
            <a:ext cx="3477003" cy="5454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665" y="1179256"/>
            <a:ext cx="1585645" cy="349776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8034" y="1529033"/>
            <a:ext cx="1697552" cy="14665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59168" y="1179255"/>
            <a:ext cx="1585870" cy="349242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47486" y="1529033"/>
            <a:ext cx="1697551" cy="14665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87488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307622"/>
            <a:ext cx="4619159" cy="846282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48484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3890763" y="995766"/>
            <a:ext cx="728396" cy="728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887513" y="307622"/>
            <a:ext cx="722587" cy="6904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31389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307622"/>
            <a:ext cx="4619159" cy="846282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034" y="380101"/>
            <a:ext cx="3477003" cy="545474"/>
          </a:xfrm>
        </p:spPr>
        <p:txBody>
          <a:bodyPr anchor="ctr">
            <a:normAutofit/>
          </a:bodyPr>
          <a:lstStyle>
            <a:lvl1pPr>
              <a:defRPr sz="181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1836" y="1179256"/>
            <a:ext cx="1973201" cy="18163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23" y="1179256"/>
            <a:ext cx="1409771" cy="1816322"/>
          </a:xfrm>
        </p:spPr>
        <p:txBody>
          <a:bodyPr anchor="ctr"/>
          <a:lstStyle>
            <a:lvl1pPr marL="0" indent="0">
              <a:buNone/>
              <a:defRPr sz="807"/>
            </a:lvl1pPr>
            <a:lvl2pPr marL="230520" indent="0">
              <a:buNone/>
              <a:defRPr sz="706"/>
            </a:lvl2pPr>
            <a:lvl3pPr marL="461040" indent="0">
              <a:buNone/>
              <a:defRPr sz="605"/>
            </a:lvl3pPr>
            <a:lvl4pPr marL="691561" indent="0">
              <a:buNone/>
              <a:defRPr sz="504"/>
            </a:lvl4pPr>
            <a:lvl5pPr marL="922081" indent="0">
              <a:buNone/>
              <a:defRPr sz="504"/>
            </a:lvl5pPr>
            <a:lvl6pPr marL="1152601" indent="0">
              <a:buNone/>
              <a:defRPr sz="504"/>
            </a:lvl6pPr>
            <a:lvl7pPr marL="1383121" indent="0">
              <a:buNone/>
              <a:defRPr sz="504"/>
            </a:lvl7pPr>
            <a:lvl8pPr marL="1613642" indent="0">
              <a:buNone/>
              <a:defRPr sz="504"/>
            </a:lvl8pPr>
            <a:lvl9pPr marL="1844162" indent="0">
              <a:buNone/>
              <a:defRPr sz="5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11138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307622"/>
            <a:ext cx="4619159" cy="846282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034" y="380101"/>
            <a:ext cx="3477003" cy="545473"/>
          </a:xfrm>
        </p:spPr>
        <p:txBody>
          <a:bodyPr anchor="ctr">
            <a:normAutofit/>
          </a:bodyPr>
          <a:lstStyle>
            <a:lvl1pPr>
              <a:defRPr sz="181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70107" y="1179256"/>
            <a:ext cx="1974930" cy="1816319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034" y="1179256"/>
            <a:ext cx="1410904" cy="1816321"/>
          </a:xfrm>
        </p:spPr>
        <p:txBody>
          <a:bodyPr anchor="ctr"/>
          <a:lstStyle>
            <a:lvl1pPr marL="0" indent="0">
              <a:buNone/>
              <a:defRPr sz="807"/>
            </a:lvl1pPr>
            <a:lvl2pPr marL="230520" indent="0">
              <a:buNone/>
              <a:defRPr sz="706"/>
            </a:lvl2pPr>
            <a:lvl3pPr marL="461040" indent="0">
              <a:buNone/>
              <a:defRPr sz="605"/>
            </a:lvl3pPr>
            <a:lvl4pPr marL="691561" indent="0">
              <a:buNone/>
              <a:defRPr sz="504"/>
            </a:lvl4pPr>
            <a:lvl5pPr marL="922081" indent="0">
              <a:buNone/>
              <a:defRPr sz="504"/>
            </a:lvl5pPr>
            <a:lvl6pPr marL="1152601" indent="0">
              <a:buNone/>
              <a:defRPr sz="504"/>
            </a:lvl6pPr>
            <a:lvl7pPr marL="1383121" indent="0">
              <a:buNone/>
              <a:defRPr sz="504"/>
            </a:lvl7pPr>
            <a:lvl8pPr marL="1613642" indent="0">
              <a:buNone/>
              <a:defRPr sz="504"/>
            </a:lvl8pPr>
            <a:lvl9pPr marL="1844162" indent="0">
              <a:buNone/>
              <a:defRPr sz="5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46367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2307167"/>
            <a:ext cx="4619159" cy="846282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24" y="2377621"/>
            <a:ext cx="3476113" cy="274762"/>
          </a:xfrm>
        </p:spPr>
        <p:txBody>
          <a:bodyPr anchor="b">
            <a:normAutofit/>
          </a:bodyPr>
          <a:lstStyle>
            <a:lvl1pPr>
              <a:defRPr sz="121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8034" y="307621"/>
            <a:ext cx="3477003" cy="1811406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23" y="2652383"/>
            <a:ext cx="3476114" cy="276446"/>
          </a:xfrm>
        </p:spPr>
        <p:txBody>
          <a:bodyPr/>
          <a:lstStyle>
            <a:lvl1pPr marL="0" indent="0">
              <a:buNone/>
              <a:defRPr sz="807"/>
            </a:lvl1pPr>
            <a:lvl2pPr marL="230520" indent="0">
              <a:buNone/>
              <a:defRPr sz="706"/>
            </a:lvl2pPr>
            <a:lvl3pPr marL="461040" indent="0">
              <a:buNone/>
              <a:defRPr sz="605"/>
            </a:lvl3pPr>
            <a:lvl4pPr marL="691561" indent="0">
              <a:buNone/>
              <a:defRPr sz="504"/>
            </a:lvl4pPr>
            <a:lvl5pPr marL="922081" indent="0">
              <a:buNone/>
              <a:defRPr sz="504"/>
            </a:lvl5pPr>
            <a:lvl6pPr marL="1152601" indent="0">
              <a:buNone/>
              <a:defRPr sz="504"/>
            </a:lvl6pPr>
            <a:lvl7pPr marL="1383121" indent="0">
              <a:buNone/>
              <a:defRPr sz="504"/>
            </a:lvl7pPr>
            <a:lvl8pPr marL="1613642" indent="0">
              <a:buNone/>
              <a:defRPr sz="504"/>
            </a:lvl8pPr>
            <a:lvl9pPr marL="1844162" indent="0">
              <a:buNone/>
              <a:defRPr sz="5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60954" y="2377467"/>
            <a:ext cx="579709" cy="550444"/>
          </a:xfrm>
        </p:spPr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4238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2307167"/>
            <a:ext cx="4619159" cy="846282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312" y="307621"/>
            <a:ext cx="3477003" cy="1813008"/>
          </a:xfrm>
        </p:spPr>
        <p:txBody>
          <a:bodyPr anchor="ctr"/>
          <a:lstStyle>
            <a:lvl1pPr>
              <a:defRPr sz="161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035" y="2376977"/>
            <a:ext cx="3473280" cy="555983"/>
          </a:xfrm>
        </p:spPr>
        <p:txBody>
          <a:bodyPr anchor="ctr"/>
          <a:lstStyle>
            <a:lvl1pPr marL="0" indent="0">
              <a:buNone/>
              <a:defRPr sz="807"/>
            </a:lvl1pPr>
            <a:lvl2pPr marL="230520" indent="0">
              <a:buNone/>
              <a:defRPr sz="706"/>
            </a:lvl2pPr>
            <a:lvl3pPr marL="461040" indent="0">
              <a:buNone/>
              <a:defRPr sz="605"/>
            </a:lvl3pPr>
            <a:lvl4pPr marL="691561" indent="0">
              <a:buNone/>
              <a:defRPr sz="504"/>
            </a:lvl4pPr>
            <a:lvl5pPr marL="922081" indent="0">
              <a:buNone/>
              <a:defRPr sz="504"/>
            </a:lvl5pPr>
            <a:lvl6pPr marL="1152601" indent="0">
              <a:buNone/>
              <a:defRPr sz="504"/>
            </a:lvl6pPr>
            <a:lvl7pPr marL="1383121" indent="0">
              <a:buNone/>
              <a:defRPr sz="504"/>
            </a:lvl7pPr>
            <a:lvl8pPr marL="1613642" indent="0">
              <a:buNone/>
              <a:defRPr sz="504"/>
            </a:lvl8pPr>
            <a:lvl9pPr marL="1844162" indent="0">
              <a:buNone/>
              <a:defRPr sz="5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60954" y="2377622"/>
            <a:ext cx="579709" cy="550444"/>
          </a:xfrm>
        </p:spPr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37757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2307167"/>
            <a:ext cx="4619159" cy="846282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160" y="311348"/>
            <a:ext cx="3239345" cy="1532086"/>
          </a:xfrm>
        </p:spPr>
        <p:txBody>
          <a:bodyPr anchor="ctr"/>
          <a:lstStyle>
            <a:lvl1pPr>
              <a:defRPr sz="161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498842" y="1847329"/>
            <a:ext cx="3018814" cy="277026"/>
          </a:xfrm>
        </p:spPr>
        <p:txBody>
          <a:bodyPr anchor="t">
            <a:normAutofit/>
          </a:bodyPr>
          <a:lstStyle>
            <a:lvl1pPr marL="0" indent="0">
              <a:buNone/>
              <a:defRPr sz="706"/>
            </a:lvl1pPr>
            <a:lvl2pPr marL="230520" indent="0">
              <a:buNone/>
              <a:defRPr sz="706"/>
            </a:lvl2pPr>
            <a:lvl3pPr marL="461040" indent="0">
              <a:buNone/>
              <a:defRPr sz="605"/>
            </a:lvl3pPr>
            <a:lvl4pPr marL="691561" indent="0">
              <a:buNone/>
              <a:defRPr sz="504"/>
            </a:lvl4pPr>
            <a:lvl5pPr marL="922081" indent="0">
              <a:buNone/>
              <a:defRPr sz="504"/>
            </a:lvl5pPr>
            <a:lvl6pPr marL="1152601" indent="0">
              <a:buNone/>
              <a:defRPr sz="504"/>
            </a:lvl6pPr>
            <a:lvl7pPr marL="1383121" indent="0">
              <a:buNone/>
              <a:defRPr sz="504"/>
            </a:lvl7pPr>
            <a:lvl8pPr marL="1613642" indent="0">
              <a:buNone/>
              <a:defRPr sz="504"/>
            </a:lvl8pPr>
            <a:lvl9pPr marL="1844162" indent="0">
              <a:buNone/>
              <a:defRPr sz="5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034" y="2376977"/>
            <a:ext cx="3480726" cy="555983"/>
          </a:xfrm>
        </p:spPr>
        <p:txBody>
          <a:bodyPr anchor="ctr">
            <a:normAutofit/>
          </a:bodyPr>
          <a:lstStyle>
            <a:lvl1pPr marL="0" indent="0">
              <a:buNone/>
              <a:defRPr sz="807"/>
            </a:lvl1pPr>
            <a:lvl2pPr marL="230520" indent="0">
              <a:buNone/>
              <a:defRPr sz="706"/>
            </a:lvl2pPr>
            <a:lvl3pPr marL="461040" indent="0">
              <a:buNone/>
              <a:defRPr sz="605"/>
            </a:lvl3pPr>
            <a:lvl4pPr marL="691561" indent="0">
              <a:buNone/>
              <a:defRPr sz="504"/>
            </a:lvl4pPr>
            <a:lvl5pPr marL="922081" indent="0">
              <a:buNone/>
              <a:defRPr sz="504"/>
            </a:lvl5pPr>
            <a:lvl6pPr marL="1152601" indent="0">
              <a:buNone/>
              <a:defRPr sz="504"/>
            </a:lvl6pPr>
            <a:lvl7pPr marL="1383121" indent="0">
              <a:buNone/>
              <a:defRPr sz="504"/>
            </a:lvl7pPr>
            <a:lvl8pPr marL="1613642" indent="0">
              <a:buNone/>
              <a:defRPr sz="504"/>
            </a:lvl8pPr>
            <a:lvl9pPr marL="1844162" indent="0">
              <a:buNone/>
              <a:defRPr sz="5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60954" y="2376769"/>
            <a:ext cx="579709" cy="550444"/>
          </a:xfrm>
        </p:spPr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  <p:sp>
        <p:nvSpPr>
          <p:cNvPr id="27" name="TextBox 26"/>
          <p:cNvSpPr txBox="1"/>
          <p:nvPr/>
        </p:nvSpPr>
        <p:spPr>
          <a:xfrm>
            <a:off x="136595" y="377522"/>
            <a:ext cx="268923" cy="295095"/>
          </a:xfrm>
          <a:prstGeom prst="rect">
            <a:avLst/>
          </a:prstGeom>
        </p:spPr>
        <p:txBody>
          <a:bodyPr vert="horz" lIns="46101" tIns="23051" rIns="46101" bIns="23051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363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12625" y="1513169"/>
            <a:ext cx="230505" cy="295096"/>
          </a:xfrm>
          <a:prstGeom prst="rect">
            <a:avLst/>
          </a:prstGeom>
        </p:spPr>
        <p:txBody>
          <a:bodyPr vert="horz" lIns="46101" tIns="23051" rIns="46101" bIns="23051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363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4121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2307167"/>
            <a:ext cx="4619159" cy="846282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034" y="2376977"/>
            <a:ext cx="3477003" cy="297637"/>
          </a:xfrm>
        </p:spPr>
        <p:txBody>
          <a:bodyPr anchor="b"/>
          <a:lstStyle>
            <a:lvl1pPr>
              <a:defRPr sz="161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034" y="2674613"/>
            <a:ext cx="3477003" cy="258347"/>
          </a:xfrm>
        </p:spPr>
        <p:txBody>
          <a:bodyPr anchor="t"/>
          <a:lstStyle>
            <a:lvl1pPr marL="0" indent="0">
              <a:buNone/>
              <a:defRPr sz="807"/>
            </a:lvl1pPr>
            <a:lvl2pPr marL="230520" indent="0">
              <a:buNone/>
              <a:defRPr sz="706"/>
            </a:lvl2pPr>
            <a:lvl3pPr marL="461040" indent="0">
              <a:buNone/>
              <a:defRPr sz="605"/>
            </a:lvl3pPr>
            <a:lvl4pPr marL="691561" indent="0">
              <a:buNone/>
              <a:defRPr sz="504"/>
            </a:lvl4pPr>
            <a:lvl5pPr marL="922081" indent="0">
              <a:buNone/>
              <a:defRPr sz="504"/>
            </a:lvl5pPr>
            <a:lvl6pPr marL="1152601" indent="0">
              <a:buNone/>
              <a:defRPr sz="504"/>
            </a:lvl6pPr>
            <a:lvl7pPr marL="1383121" indent="0">
              <a:buNone/>
              <a:defRPr sz="504"/>
            </a:lvl7pPr>
            <a:lvl8pPr marL="1613642" indent="0">
              <a:buNone/>
              <a:defRPr sz="504"/>
            </a:lvl8pPr>
            <a:lvl9pPr marL="1844162" indent="0">
              <a:buNone/>
              <a:defRPr sz="5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60954" y="2376769"/>
            <a:ext cx="579709" cy="550444"/>
          </a:xfrm>
        </p:spPr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04105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307622"/>
            <a:ext cx="4619159" cy="846282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68034" y="380101"/>
            <a:ext cx="3477003" cy="5454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268534" y="1175529"/>
            <a:ext cx="1106424" cy="290799"/>
          </a:xfrm>
        </p:spPr>
        <p:txBody>
          <a:bodyPr anchor="b">
            <a:noAutofit/>
          </a:bodyPr>
          <a:lstStyle>
            <a:lvl1pPr marL="0" indent="0">
              <a:buNone/>
              <a:defRPr sz="1210" b="0">
                <a:solidFill>
                  <a:schemeClr val="tx1"/>
                </a:solidFill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272138" y="1521605"/>
            <a:ext cx="1106424" cy="1470245"/>
          </a:xfrm>
        </p:spPr>
        <p:txBody>
          <a:bodyPr anchor="t">
            <a:normAutofit/>
          </a:bodyPr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1200" y="1179255"/>
            <a:ext cx="1106424" cy="290799"/>
          </a:xfrm>
        </p:spPr>
        <p:txBody>
          <a:bodyPr anchor="b">
            <a:noAutofit/>
          </a:bodyPr>
          <a:lstStyle>
            <a:lvl1pPr marL="0" indent="0">
              <a:buNone/>
              <a:defRPr sz="1210" b="0">
                <a:solidFill>
                  <a:schemeClr val="tx1"/>
                </a:solidFill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1451854" y="1517879"/>
            <a:ext cx="1106424" cy="1470245"/>
          </a:xfrm>
        </p:spPr>
        <p:txBody>
          <a:bodyPr anchor="t">
            <a:normAutofit/>
          </a:bodyPr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34844" y="1179255"/>
            <a:ext cx="1106424" cy="290799"/>
          </a:xfrm>
        </p:spPr>
        <p:txBody>
          <a:bodyPr anchor="b">
            <a:noAutofit/>
          </a:bodyPr>
          <a:lstStyle>
            <a:lvl1pPr marL="0" indent="0">
              <a:buNone/>
              <a:defRPr sz="1210" b="0">
                <a:solidFill>
                  <a:schemeClr val="tx1"/>
                </a:solidFill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2638566" y="1517878"/>
            <a:ext cx="1106424" cy="1470245"/>
          </a:xfrm>
        </p:spPr>
        <p:txBody>
          <a:bodyPr anchor="t">
            <a:normAutofit/>
          </a:bodyPr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31334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307622"/>
            <a:ext cx="4619159" cy="846282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68034" y="380101"/>
            <a:ext cx="3477003" cy="5454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268414" y="2168647"/>
            <a:ext cx="1105263" cy="290799"/>
          </a:xfrm>
        </p:spPr>
        <p:txBody>
          <a:bodyPr anchor="b">
            <a:noAutofit/>
          </a:bodyPr>
          <a:lstStyle>
            <a:lvl1pPr marL="0" indent="0">
              <a:buNone/>
              <a:defRPr sz="1210" b="0">
                <a:solidFill>
                  <a:schemeClr val="tx1"/>
                </a:solidFill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268414" y="1179255"/>
            <a:ext cx="1105263" cy="769056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807"/>
            </a:lvl1pPr>
            <a:lvl2pPr marL="230520" indent="0">
              <a:buNone/>
              <a:defRPr sz="807"/>
            </a:lvl2pPr>
            <a:lvl3pPr marL="461040" indent="0">
              <a:buNone/>
              <a:defRPr sz="807"/>
            </a:lvl3pPr>
            <a:lvl4pPr marL="691561" indent="0">
              <a:buNone/>
              <a:defRPr sz="807"/>
            </a:lvl4pPr>
            <a:lvl5pPr marL="922081" indent="0">
              <a:buNone/>
              <a:defRPr sz="807"/>
            </a:lvl5pPr>
            <a:lvl6pPr marL="1152601" indent="0">
              <a:buNone/>
              <a:defRPr sz="807"/>
            </a:lvl6pPr>
            <a:lvl7pPr marL="1383121" indent="0">
              <a:buNone/>
              <a:defRPr sz="807"/>
            </a:lvl7pPr>
            <a:lvl8pPr marL="1613642" indent="0">
              <a:buNone/>
              <a:defRPr sz="807"/>
            </a:lvl8pPr>
            <a:lvl9pPr marL="1844162" indent="0">
              <a:buNone/>
              <a:defRPr sz="80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268414" y="2459446"/>
            <a:ext cx="1105263" cy="536130"/>
          </a:xfrm>
        </p:spPr>
        <p:txBody>
          <a:bodyPr anchor="t">
            <a:normAutofit/>
          </a:bodyPr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47209" y="2168647"/>
            <a:ext cx="1116764" cy="290799"/>
          </a:xfrm>
        </p:spPr>
        <p:txBody>
          <a:bodyPr anchor="b">
            <a:noAutofit/>
          </a:bodyPr>
          <a:lstStyle>
            <a:lvl1pPr marL="0" indent="0">
              <a:buNone/>
              <a:defRPr sz="1210" b="0">
                <a:solidFill>
                  <a:schemeClr val="tx1"/>
                </a:solidFill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1447209" y="1179255"/>
            <a:ext cx="1116764" cy="769056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807"/>
            </a:lvl1pPr>
            <a:lvl2pPr marL="230520" indent="0">
              <a:buNone/>
              <a:defRPr sz="807"/>
            </a:lvl2pPr>
            <a:lvl3pPr marL="461040" indent="0">
              <a:buNone/>
              <a:defRPr sz="807"/>
            </a:lvl3pPr>
            <a:lvl4pPr marL="691561" indent="0">
              <a:buNone/>
              <a:defRPr sz="807"/>
            </a:lvl4pPr>
            <a:lvl5pPr marL="922081" indent="0">
              <a:buNone/>
              <a:defRPr sz="807"/>
            </a:lvl5pPr>
            <a:lvl6pPr marL="1152601" indent="0">
              <a:buNone/>
              <a:defRPr sz="807"/>
            </a:lvl6pPr>
            <a:lvl7pPr marL="1383121" indent="0">
              <a:buNone/>
              <a:defRPr sz="807"/>
            </a:lvl7pPr>
            <a:lvl8pPr marL="1613642" indent="0">
              <a:buNone/>
              <a:defRPr sz="807"/>
            </a:lvl8pPr>
            <a:lvl9pPr marL="1844162" indent="0">
              <a:buNone/>
              <a:defRPr sz="80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1446698" y="2459446"/>
            <a:ext cx="1118244" cy="536130"/>
          </a:xfrm>
        </p:spPr>
        <p:txBody>
          <a:bodyPr anchor="t">
            <a:normAutofit/>
          </a:bodyPr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37310" y="2168647"/>
            <a:ext cx="1106310" cy="290799"/>
          </a:xfrm>
        </p:spPr>
        <p:txBody>
          <a:bodyPr anchor="b">
            <a:noAutofit/>
          </a:bodyPr>
          <a:lstStyle>
            <a:lvl1pPr marL="0" indent="0">
              <a:buNone/>
              <a:defRPr sz="1210" b="0">
                <a:solidFill>
                  <a:schemeClr val="tx1"/>
                </a:solidFill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2637309" y="1179255"/>
            <a:ext cx="1106310" cy="769056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807"/>
            </a:lvl1pPr>
            <a:lvl2pPr marL="230520" indent="0">
              <a:buNone/>
              <a:defRPr sz="807"/>
            </a:lvl2pPr>
            <a:lvl3pPr marL="461040" indent="0">
              <a:buNone/>
              <a:defRPr sz="807"/>
            </a:lvl3pPr>
            <a:lvl4pPr marL="691561" indent="0">
              <a:buNone/>
              <a:defRPr sz="807"/>
            </a:lvl4pPr>
            <a:lvl5pPr marL="922081" indent="0">
              <a:buNone/>
              <a:defRPr sz="807"/>
            </a:lvl5pPr>
            <a:lvl6pPr marL="1152601" indent="0">
              <a:buNone/>
              <a:defRPr sz="807"/>
            </a:lvl6pPr>
            <a:lvl7pPr marL="1383121" indent="0">
              <a:buNone/>
              <a:defRPr sz="807"/>
            </a:lvl7pPr>
            <a:lvl8pPr marL="1613642" indent="0">
              <a:buNone/>
              <a:defRPr sz="807"/>
            </a:lvl8pPr>
            <a:lvl9pPr marL="1844162" indent="0">
              <a:buNone/>
              <a:defRPr sz="80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2637263" y="2459445"/>
            <a:ext cx="1107775" cy="536130"/>
          </a:xfrm>
        </p:spPr>
        <p:txBody>
          <a:bodyPr anchor="t">
            <a:normAutofit/>
          </a:bodyPr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858518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307622"/>
            <a:ext cx="4619159" cy="846282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034" y="380101"/>
            <a:ext cx="3477003" cy="545473"/>
          </a:xfrm>
        </p:spPr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377673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2305128" y="1386625"/>
            <a:ext cx="3463049" cy="689800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63502" y="307621"/>
            <a:ext cx="539258" cy="22516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247" y="307621"/>
            <a:ext cx="3315581" cy="268795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35527" y="2995577"/>
            <a:ext cx="1037273" cy="18425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7247" y="2995577"/>
            <a:ext cx="2278308" cy="184253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746539" y="2741400"/>
            <a:ext cx="579608" cy="642444"/>
          </a:xfrm>
        </p:spPr>
        <p:txBody>
          <a:bodyPr anchor="t"/>
          <a:lstStyle>
            <a:lvl1pPr algn="ctr">
              <a:defRPr/>
            </a:lvl1pPr>
          </a:lstStyle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769858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6336" y="62405"/>
            <a:ext cx="3597427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FFF2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8333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4610100" cy="3460750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8034" y="380101"/>
            <a:ext cx="3477003" cy="5454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8923" y="1179255"/>
            <a:ext cx="3472392" cy="18163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06306" y="2995577"/>
            <a:ext cx="1037273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8923" y="2995577"/>
            <a:ext cx="2437481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2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57002" y="380102"/>
            <a:ext cx="583661" cy="550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854093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</p:sldLayoutIdLst>
  <p:txStyles>
    <p:titleStyle>
      <a:lvl1pPr algn="l" defTabSz="461040" rtl="0" eaLnBrk="1" latinLnBrk="0" hangingPunct="1">
        <a:lnSpc>
          <a:spcPct val="90000"/>
        </a:lnSpc>
        <a:spcBef>
          <a:spcPct val="0"/>
        </a:spcBef>
        <a:buNone/>
        <a:defRPr sz="18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5260" indent="-115260" algn="l" defTabSz="461040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210" kern="1200">
          <a:solidFill>
            <a:schemeClr val="tx1"/>
          </a:solidFill>
          <a:latin typeface="+mn-lt"/>
          <a:ea typeface="+mn-ea"/>
          <a:cs typeface="+mn-cs"/>
        </a:defRPr>
      </a:lvl1pPr>
      <a:lvl2pPr marL="345780" indent="-115260" algn="l" defTabSz="461040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2pPr>
      <a:lvl3pPr marL="576301" indent="-115260" algn="l" defTabSz="461040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806821" indent="-115260" algn="l" defTabSz="461040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807" kern="1200">
          <a:solidFill>
            <a:schemeClr val="tx1"/>
          </a:solidFill>
          <a:latin typeface="+mn-lt"/>
          <a:ea typeface="+mn-ea"/>
          <a:cs typeface="+mn-cs"/>
        </a:defRPr>
      </a:lvl4pPr>
      <a:lvl5pPr marL="1037341" indent="-115260" algn="l" defTabSz="461040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807" kern="1200">
          <a:solidFill>
            <a:schemeClr val="tx1"/>
          </a:solidFill>
          <a:latin typeface="+mn-lt"/>
          <a:ea typeface="+mn-ea"/>
          <a:cs typeface="+mn-cs"/>
        </a:defRPr>
      </a:lvl5pPr>
      <a:lvl6pPr marL="1267861" indent="-115260" algn="l" defTabSz="461040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706" kern="1200">
          <a:solidFill>
            <a:schemeClr val="tx1"/>
          </a:solidFill>
          <a:latin typeface="+mn-lt"/>
          <a:ea typeface="+mn-ea"/>
          <a:cs typeface="+mn-cs"/>
        </a:defRPr>
      </a:lvl6pPr>
      <a:lvl7pPr marL="1498382" indent="-115260" algn="l" defTabSz="461040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706" kern="1200">
          <a:solidFill>
            <a:schemeClr val="tx1"/>
          </a:solidFill>
          <a:latin typeface="+mn-lt"/>
          <a:ea typeface="+mn-ea"/>
          <a:cs typeface="+mn-cs"/>
        </a:defRPr>
      </a:lvl7pPr>
      <a:lvl8pPr marL="1728902" indent="-115260" algn="l" defTabSz="461040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706" kern="1200">
          <a:solidFill>
            <a:schemeClr val="tx1"/>
          </a:solidFill>
          <a:latin typeface="+mn-lt"/>
          <a:ea typeface="+mn-ea"/>
          <a:cs typeface="+mn-cs"/>
        </a:defRPr>
      </a:lvl8pPr>
      <a:lvl9pPr marL="1959422" indent="-115260" algn="l" defTabSz="461040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7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eis11j_iGMs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-lambda-calcul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05" y="981234"/>
            <a:ext cx="4299847" cy="13830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9217" y="2645191"/>
            <a:ext cx="3298788" cy="3405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rPr sz="1613" dirty="0"/>
              <a:t>Chapter 4.2 The Lambda Calculus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CA0C85D2-1612-77DD-D5AA-38BE13611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7613" y="376958"/>
            <a:ext cx="4492446" cy="37164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815" b="1" dirty="0">
                <a:solidFill>
                  <a:schemeClr val="tx2"/>
                </a:solidFill>
                <a:latin typeface="Arial Black" charset="0"/>
              </a:rPr>
              <a:t>PROGRAMMING IN HASKELL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E61D7E5-F50F-4302-98E4-3DA68696D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57076" y="381340"/>
            <a:ext cx="436413" cy="549939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6101" tIns="23051" rIns="46101" bIns="23051" numCol="1" rtlCol="0" anchor="t" anchorCtr="0" compatLnSpc="1">
            <a:prstTxWarp prst="textNoShape">
              <a:avLst/>
            </a:prstTxWarp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  <a:defRPr/>
            </a:pPr>
            <a:fld id="{22DBF1FA-C6C4-7A46-BC08-C9A71A940756}" type="slidenum">
              <a:rPr lang="en-US" sz="706"/>
              <a:pPr>
                <a:spcAft>
                  <a:spcPts val="303"/>
                </a:spcAft>
                <a:defRPr/>
              </a:pPr>
              <a:t>1</a:t>
            </a:fld>
            <a:endParaRPr lang="en-US" sz="70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36625">
              <a:lnSpc>
                <a:spcPct val="100000"/>
              </a:lnSpc>
              <a:spcBef>
                <a:spcPts val="135"/>
              </a:spcBef>
            </a:pPr>
            <a:r>
              <a:rPr spc="145" dirty="0"/>
              <a:t>Lambda</a:t>
            </a:r>
            <a:r>
              <a:rPr spc="204" dirty="0"/>
              <a:t> </a:t>
            </a:r>
            <a:r>
              <a:rPr spc="215" dirty="0"/>
              <a:t>Calculus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6F56B0-AA68-030C-9358-72D6C1AD2A4A}"/>
              </a:ext>
            </a:extLst>
          </p:cNvPr>
          <p:cNvSpPr txBox="1"/>
          <p:nvPr/>
        </p:nvSpPr>
        <p:spPr>
          <a:xfrm>
            <a:off x="0" y="1044575"/>
            <a:ext cx="458427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90488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 sz="2000"/>
            </a:pPr>
            <a:r>
              <a:rPr kumimoji="1" sz="1400" b="1" dirty="0">
                <a:ea typeface="Tahoma" panose="020B0604030504040204" pitchFamily="34" charset="0"/>
                <a:cs typeface="Tahoma" panose="020B0604030504040204" pitchFamily="34" charset="0"/>
              </a:rPr>
              <a:t>lambda calculus </a:t>
            </a:r>
            <a:r>
              <a:rPr kumimoji="1" sz="1400" dirty="0">
                <a:ea typeface="Tahoma" panose="020B0604030504040204" pitchFamily="34" charset="0"/>
                <a:cs typeface="Tahoma" panose="020B0604030504040204" pitchFamily="34" charset="0"/>
              </a:rPr>
              <a:t>is a</a:t>
            </a:r>
            <a:r>
              <a:rPr kumimoji="1" lang="en-IE" sz="1400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sz="1400" dirty="0">
                <a:ea typeface="Tahoma" panose="020B0604030504040204" pitchFamily="34" charset="0"/>
                <a:cs typeface="Tahoma" panose="020B0604030504040204" pitchFamily="34" charset="0"/>
              </a:rPr>
              <a:t>model of computation devised in the 1930s by Alonzo Church.</a:t>
            </a:r>
          </a:p>
          <a:p>
            <a:pPr marL="88900" indent="90488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 sz="2000"/>
            </a:pPr>
            <a:r>
              <a:rPr kumimoji="1" sz="1400" dirty="0">
                <a:ea typeface="Tahoma" panose="020B0604030504040204" pitchFamily="34" charset="0"/>
                <a:cs typeface="Tahoma" panose="020B0604030504040204" pitchFamily="34" charset="0"/>
              </a:rPr>
              <a:t>Functional programming languages are all </a:t>
            </a:r>
            <a:endParaRPr kumimoji="1" lang="en-IE" sz="140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8900" indent="90488">
              <a:spcBef>
                <a:spcPct val="20000"/>
              </a:spcBef>
              <a:buClr>
                <a:schemeClr val="accent2"/>
              </a:buClr>
              <a:defRPr sz="2000"/>
            </a:pPr>
            <a:r>
              <a:rPr kumimoji="1" sz="1400" dirty="0">
                <a:ea typeface="Tahoma" panose="020B0604030504040204" pitchFamily="34" charset="0"/>
                <a:cs typeface="Tahoma" panose="020B0604030504040204" pitchFamily="34" charset="0"/>
              </a:rPr>
              <a:t>based on the lambda calculus.</a:t>
            </a:r>
          </a:p>
          <a:p>
            <a:pPr marL="88900" indent="90488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 sz="2000"/>
            </a:pPr>
            <a:r>
              <a:rPr kumimoji="1" sz="1400" dirty="0">
                <a:ea typeface="Tahoma" panose="020B0604030504040204" pitchFamily="34" charset="0"/>
                <a:cs typeface="Tahoma" panose="020B0604030504040204" pitchFamily="34" charset="0"/>
              </a:rPr>
              <a:t>Haskell is a </a:t>
            </a:r>
            <a:r>
              <a:rPr kumimoji="1" sz="1400" b="1" dirty="0">
                <a:ea typeface="Tahoma" panose="020B0604030504040204" pitchFamily="34" charset="0"/>
                <a:cs typeface="Tahoma" panose="020B0604030504040204" pitchFamily="34" charset="0"/>
              </a:rPr>
              <a:t>pure</a:t>
            </a:r>
            <a:r>
              <a:rPr kumimoji="1" sz="1400" dirty="0">
                <a:ea typeface="Tahoma" panose="020B0604030504040204" pitchFamily="34" charset="0"/>
                <a:cs typeface="Tahoma" panose="020B0604030504040204" pitchFamily="34" charset="0"/>
              </a:rPr>
              <a:t> functional language because all its features are translatable into lambda expressions.</a:t>
            </a:r>
          </a:p>
          <a:p>
            <a:pPr marL="88900" indent="90488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 sz="2000"/>
            </a:pPr>
            <a:r>
              <a:rPr kumimoji="1" sz="1400" dirty="0">
                <a:ea typeface="Tahoma" panose="020B0604030504040204" pitchFamily="34" charset="0"/>
                <a:cs typeface="Tahoma" panose="020B0604030504040204" pitchFamily="34" charset="0"/>
              </a:rPr>
              <a:t>Allows a higher degree of abstraction and </a:t>
            </a:r>
            <a:endParaRPr kumimoji="1" lang="en-IE" sz="140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8900" indent="90488">
              <a:spcBef>
                <a:spcPct val="20000"/>
              </a:spcBef>
              <a:buClr>
                <a:schemeClr val="accent2"/>
              </a:buClr>
              <a:defRPr sz="2000"/>
            </a:pPr>
            <a:r>
              <a:rPr kumimoji="1" sz="1400" dirty="0">
                <a:ea typeface="Tahoma" panose="020B0604030504040204" pitchFamily="34" charset="0"/>
                <a:cs typeface="Tahoma" panose="020B0604030504040204" pitchFamily="34" charset="0"/>
              </a:rPr>
              <a:t>composability.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02B0EC9-1455-7CBD-CA9A-51C85B9A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2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14ED0-824A-9A70-5100-C5C02A44A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sz="2000" b="1" spc="145" dirty="0"/>
              <a:t>The structure of lambda terms</a:t>
            </a:r>
            <a:br>
              <a:rPr lang="en-IE" sz="2000" dirty="0">
                <a:latin typeface="Times New Roman"/>
                <a:cs typeface="Times New Roman"/>
              </a:rPr>
            </a:br>
            <a:endParaRPr lang="en-US" dirty="0"/>
          </a:p>
        </p:txBody>
      </p:sp>
      <p:pic>
        <p:nvPicPr>
          <p:cNvPr id="3" name="object 23">
            <a:extLst>
              <a:ext uri="{FF2B5EF4-FFF2-40B4-BE49-F238E27FC236}">
                <a16:creationId xmlns:a16="http://schemas.microsoft.com/office/drawing/2014/main" id="{B11454B1-28DF-FB23-02AE-9254423EF3F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050" y="1425575"/>
            <a:ext cx="2332824" cy="1379590"/>
          </a:xfrm>
          <a:prstGeom prst="rect">
            <a:avLst/>
          </a:prstGeom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CEE4671B-450C-0639-FA5F-F4679DA2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3</a:t>
            </a:fld>
            <a:endParaRPr lang="en-US" sz="706" dirty="0"/>
          </a:p>
        </p:txBody>
      </p:sp>
    </p:spTree>
    <p:extLst>
      <p:ext uri="{BB962C8B-B14F-4D97-AF65-F5344CB8AC3E}">
        <p14:creationId xmlns:p14="http://schemas.microsoft.com/office/powerpoint/2010/main" val="2797321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60425">
              <a:lnSpc>
                <a:spcPct val="100000"/>
              </a:lnSpc>
              <a:spcBef>
                <a:spcPts val="135"/>
              </a:spcBef>
            </a:pPr>
            <a:r>
              <a:rPr spc="204" dirty="0"/>
              <a:t>Alpha</a:t>
            </a:r>
            <a:r>
              <a:rPr spc="190" dirty="0"/>
              <a:t> </a:t>
            </a:r>
            <a:r>
              <a:rPr spc="170" dirty="0"/>
              <a:t>Equivalence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7097" y="1120775"/>
            <a:ext cx="3698875" cy="2195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10" dirty="0">
                <a:solidFill>
                  <a:srgbClr val="FFFFFF"/>
                </a:solidFill>
                <a:latin typeface="Arial"/>
                <a:cs typeface="Arial"/>
              </a:rPr>
              <a:t>seen</a:t>
            </a:r>
            <a:r>
              <a:rPr sz="11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function</a:t>
            </a:r>
            <a:endParaRPr sz="1100" dirty="0">
              <a:latin typeface="Arial"/>
              <a:cs typeface="Arial"/>
            </a:endParaRPr>
          </a:p>
          <a:p>
            <a:pPr marL="201295" algn="ctr">
              <a:lnSpc>
                <a:spcPct val="100000"/>
              </a:lnSpc>
              <a:spcBef>
                <a:spcPts val="930"/>
              </a:spcBef>
            </a:pPr>
            <a:r>
              <a:rPr sz="11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endParaRPr sz="1100" dirty="0">
              <a:latin typeface="Arial"/>
              <a:cs typeface="Arial"/>
            </a:endParaRPr>
          </a:p>
          <a:p>
            <a:pPr marL="12700" marR="5080" algn="just">
              <a:lnSpc>
                <a:spcPct val="102600"/>
              </a:lnSpc>
              <a:spcBef>
                <a:spcPts val="900"/>
              </a:spcBef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here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semantically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meaningful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FFFFFF"/>
                </a:solidFill>
                <a:latin typeface="Arial"/>
                <a:cs typeface="Arial"/>
              </a:rPr>
              <a:t>except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its 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role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single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FFFFFF"/>
                </a:solidFill>
                <a:latin typeface="Arial"/>
                <a:cs typeface="Arial"/>
              </a:rPr>
              <a:t>expression.</a:t>
            </a:r>
            <a:r>
              <a:rPr sz="1100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90" dirty="0">
                <a:solidFill>
                  <a:srgbClr val="FFFFFF"/>
                </a:solidFill>
                <a:latin typeface="Arial"/>
                <a:cs typeface="Arial"/>
              </a:rPr>
              <a:t>Because</a:t>
            </a:r>
            <a:r>
              <a:rPr sz="11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this,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there’s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form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equivalence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FFFFFF"/>
                </a:solidFill>
                <a:latin typeface="Arial"/>
                <a:cs typeface="Arial"/>
              </a:rPr>
              <a:t>between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lambda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terms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called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alpha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equivalence.</a:t>
            </a:r>
            <a:r>
              <a:rPr sz="1100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other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words,</a:t>
            </a:r>
            <a:endParaRPr sz="1100" dirty="0">
              <a:latin typeface="Arial"/>
              <a:cs typeface="Arial"/>
            </a:endParaRPr>
          </a:p>
          <a:p>
            <a:pPr marL="1505585" marR="1292860" indent="-3810" algn="ctr">
              <a:lnSpc>
                <a:spcPct val="102600"/>
              </a:lnSpc>
              <a:spcBef>
                <a:spcPts val="894"/>
              </a:spcBef>
            </a:pPr>
            <a:r>
              <a:rPr sz="11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x </a:t>
            </a:r>
            <a:r>
              <a:rPr sz="110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-10" dirty="0">
                <a:solidFill>
                  <a:srgbClr val="FFFFFF"/>
                </a:solidFill>
                <a:latin typeface="Arial"/>
                <a:cs typeface="Arial"/>
              </a:rPr>
              <a:t>apple</a:t>
            </a:r>
            <a:r>
              <a:rPr sz="110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-10" dirty="0">
                <a:solidFill>
                  <a:srgbClr val="FFFFFF"/>
                </a:solidFill>
                <a:latin typeface="Arial"/>
                <a:cs typeface="Arial"/>
              </a:rPr>
              <a:t>apple </a:t>
            </a:r>
            <a:r>
              <a:rPr sz="1100" i="1" spc="-5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-50" dirty="0">
                <a:solidFill>
                  <a:srgbClr val="FFFFFF"/>
                </a:solidFill>
                <a:latin typeface="Arial"/>
                <a:cs typeface="Arial"/>
              </a:rPr>
              <a:t>orange</a:t>
            </a:r>
            <a:r>
              <a:rPr sz="1100" i="1" spc="-5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-50" dirty="0">
                <a:solidFill>
                  <a:srgbClr val="FFFFFF"/>
                </a:solidFill>
                <a:latin typeface="Arial"/>
                <a:cs typeface="Arial"/>
              </a:rPr>
              <a:t>orange</a:t>
            </a:r>
            <a:endParaRPr sz="11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930"/>
              </a:spcBef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FFFFFF"/>
                </a:solidFill>
                <a:latin typeface="Arial"/>
                <a:cs typeface="Arial"/>
              </a:rPr>
              <a:t>mean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the </a:t>
            </a:r>
            <a:r>
              <a:rPr sz="1100" spc="-100" dirty="0">
                <a:solidFill>
                  <a:srgbClr val="FFFFFF"/>
                </a:solidFill>
                <a:latin typeface="Arial"/>
                <a:cs typeface="Arial"/>
              </a:rPr>
              <a:t>same</a:t>
            </a:r>
            <a:r>
              <a:rPr sz="11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thing.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2A97B6C7-7105-F3A8-5044-EA663D269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4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04569">
              <a:lnSpc>
                <a:spcPct val="100000"/>
              </a:lnSpc>
              <a:spcBef>
                <a:spcPts val="135"/>
              </a:spcBef>
            </a:pPr>
            <a:r>
              <a:rPr spc="235" dirty="0"/>
              <a:t>Beta</a:t>
            </a:r>
            <a:r>
              <a:rPr spc="195" dirty="0"/>
              <a:t> </a:t>
            </a:r>
            <a:r>
              <a:rPr spc="190" dirty="0"/>
              <a:t>Reduction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450" y="1044575"/>
            <a:ext cx="3933825" cy="217783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600" spc="-50" dirty="0">
                <a:solidFill>
                  <a:srgbClr val="FFFFFF"/>
                </a:solidFill>
                <a:cs typeface="Arial"/>
              </a:rPr>
              <a:t>When</a:t>
            </a:r>
            <a:r>
              <a:rPr sz="1600" spc="-2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90" dirty="0">
                <a:solidFill>
                  <a:srgbClr val="FFFFFF"/>
                </a:solidFill>
                <a:cs typeface="Arial"/>
              </a:rPr>
              <a:t>we</a:t>
            </a:r>
            <a:r>
              <a:rPr sz="16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30" dirty="0">
                <a:solidFill>
                  <a:srgbClr val="FFFFFF"/>
                </a:solidFill>
                <a:cs typeface="Arial"/>
              </a:rPr>
              <a:t>apply</a:t>
            </a:r>
            <a:r>
              <a:rPr sz="1600" spc="-25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a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 function </a:t>
            </a:r>
            <a:r>
              <a:rPr sz="1600" dirty="0">
                <a:solidFill>
                  <a:srgbClr val="FFFFFF"/>
                </a:solidFill>
                <a:cs typeface="Arial"/>
              </a:rPr>
              <a:t>to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20" dirty="0">
                <a:solidFill>
                  <a:srgbClr val="FFFFFF"/>
                </a:solidFill>
                <a:cs typeface="Arial"/>
              </a:rPr>
              <a:t>an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35" dirty="0">
                <a:solidFill>
                  <a:srgbClr val="FFFFFF"/>
                </a:solidFill>
                <a:cs typeface="Arial"/>
              </a:rPr>
              <a:t>argument,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25" dirty="0">
                <a:solidFill>
                  <a:srgbClr val="FFFFFF"/>
                </a:solidFill>
                <a:cs typeface="Arial"/>
              </a:rPr>
              <a:t>we</a:t>
            </a:r>
            <a:endParaRPr sz="1600" dirty="0">
              <a:cs typeface="Arial"/>
            </a:endParaRPr>
          </a:p>
          <a:p>
            <a:pPr marL="314960" marR="330835" indent="-177165">
              <a:lnSpc>
                <a:spcPct val="102600"/>
              </a:lnSpc>
              <a:spcBef>
                <a:spcPts val="300"/>
              </a:spcBef>
              <a:buFont typeface="Wingdings" pitchFamily="2" charset="2"/>
              <a:buChar char="q"/>
            </a:pPr>
            <a:r>
              <a:rPr sz="1600" spc="-25" dirty="0">
                <a:solidFill>
                  <a:srgbClr val="FFFFFF"/>
                </a:solidFill>
                <a:cs typeface="Arial"/>
              </a:rPr>
              <a:t>substitute</a:t>
            </a:r>
            <a:r>
              <a:rPr sz="16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the</a:t>
            </a:r>
            <a:r>
              <a:rPr sz="16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input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70" dirty="0">
                <a:solidFill>
                  <a:srgbClr val="FFFFFF"/>
                </a:solidFill>
                <a:cs typeface="Arial"/>
              </a:rPr>
              <a:t>expression</a:t>
            </a:r>
            <a:r>
              <a:rPr sz="16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for</a:t>
            </a:r>
            <a:r>
              <a:rPr sz="16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all</a:t>
            </a:r>
            <a:r>
              <a:rPr sz="16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55" dirty="0">
                <a:solidFill>
                  <a:srgbClr val="FFFFFF"/>
                </a:solidFill>
                <a:cs typeface="Arial"/>
              </a:rPr>
              <a:t>instances</a:t>
            </a:r>
            <a:r>
              <a:rPr sz="16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of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25" dirty="0">
                <a:solidFill>
                  <a:srgbClr val="FFFFFF"/>
                </a:solidFill>
                <a:cs typeface="Arial"/>
              </a:rPr>
              <a:t>bound </a:t>
            </a:r>
            <a:r>
              <a:rPr sz="1600" spc="-55" dirty="0">
                <a:solidFill>
                  <a:srgbClr val="FFFFFF"/>
                </a:solidFill>
                <a:cs typeface="Arial"/>
              </a:rPr>
              <a:t>variables</a:t>
            </a:r>
            <a:r>
              <a:rPr sz="1600" spc="-20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within</a:t>
            </a:r>
            <a:r>
              <a:rPr sz="16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the</a:t>
            </a:r>
            <a:r>
              <a:rPr sz="16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20" dirty="0">
                <a:solidFill>
                  <a:srgbClr val="FFFFFF"/>
                </a:solidFill>
                <a:cs typeface="Arial"/>
              </a:rPr>
              <a:t>body </a:t>
            </a:r>
            <a:r>
              <a:rPr sz="1600" dirty="0">
                <a:solidFill>
                  <a:srgbClr val="FFFFFF"/>
                </a:solidFill>
                <a:cs typeface="Arial"/>
              </a:rPr>
              <a:t>of</a:t>
            </a:r>
            <a:r>
              <a:rPr sz="16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the</a:t>
            </a:r>
            <a:r>
              <a:rPr sz="16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abstraction</a:t>
            </a:r>
            <a:endParaRPr sz="1600" dirty="0">
              <a:cs typeface="Arial"/>
            </a:endParaRPr>
          </a:p>
          <a:p>
            <a:pPr marL="314960" marR="30480" indent="-177165">
              <a:lnSpc>
                <a:spcPct val="102600"/>
              </a:lnSpc>
              <a:spcBef>
                <a:spcPts val="300"/>
              </a:spcBef>
              <a:buFont typeface="Wingdings" pitchFamily="2" charset="2"/>
              <a:buChar char="q"/>
            </a:pPr>
            <a:r>
              <a:rPr sz="1600" spc="-35" dirty="0">
                <a:solidFill>
                  <a:srgbClr val="FFFFFF"/>
                </a:solidFill>
                <a:cs typeface="Arial"/>
              </a:rPr>
              <a:t>eliminate</a:t>
            </a:r>
            <a:r>
              <a:rPr sz="1600" spc="10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the</a:t>
            </a:r>
            <a:r>
              <a:rPr sz="16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65" dirty="0">
                <a:solidFill>
                  <a:srgbClr val="FFFFFF"/>
                </a:solidFill>
                <a:cs typeface="Arial"/>
              </a:rPr>
              <a:t>head</a:t>
            </a:r>
            <a:r>
              <a:rPr sz="1600" spc="10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of</a:t>
            </a:r>
            <a:r>
              <a:rPr sz="1600" spc="10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the</a:t>
            </a:r>
            <a:r>
              <a:rPr sz="16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30" dirty="0">
                <a:solidFill>
                  <a:srgbClr val="FFFFFF"/>
                </a:solidFill>
                <a:cs typeface="Arial"/>
              </a:rPr>
              <a:t>abstraction</a:t>
            </a:r>
            <a:r>
              <a:rPr sz="1600" spc="10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(its</a:t>
            </a:r>
            <a:r>
              <a:rPr sz="16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20" dirty="0">
                <a:solidFill>
                  <a:srgbClr val="FFFFFF"/>
                </a:solidFill>
                <a:cs typeface="Arial"/>
              </a:rPr>
              <a:t>only</a:t>
            </a:r>
            <a:r>
              <a:rPr sz="1600" spc="10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65" dirty="0">
                <a:solidFill>
                  <a:srgbClr val="FFFFFF"/>
                </a:solidFill>
                <a:cs typeface="Arial"/>
              </a:rPr>
              <a:t>purpose</a:t>
            </a:r>
            <a:r>
              <a:rPr sz="16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105" dirty="0">
                <a:solidFill>
                  <a:srgbClr val="FFFFFF"/>
                </a:solidFill>
                <a:cs typeface="Arial"/>
              </a:rPr>
              <a:t>was</a:t>
            </a:r>
            <a:r>
              <a:rPr sz="1600" spc="30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25" dirty="0">
                <a:solidFill>
                  <a:srgbClr val="FFFFFF"/>
                </a:solidFill>
                <a:cs typeface="Arial"/>
              </a:rPr>
              <a:t>to 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bind</a:t>
            </a:r>
            <a:r>
              <a:rPr sz="1600" spc="-45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a</a:t>
            </a:r>
            <a:r>
              <a:rPr sz="1600" spc="-4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variable)</a:t>
            </a:r>
            <a:endParaRPr sz="1600" dirty="0"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30"/>
              </a:spcBef>
            </a:pPr>
            <a:r>
              <a:rPr sz="1600" spc="-10" dirty="0">
                <a:solidFill>
                  <a:srgbClr val="FFFFFF"/>
                </a:solidFill>
                <a:cs typeface="Arial"/>
              </a:rPr>
              <a:t>This</a:t>
            </a:r>
            <a:r>
              <a:rPr sz="1600" spc="-4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85" dirty="0">
                <a:solidFill>
                  <a:srgbClr val="FFFFFF"/>
                </a:solidFill>
                <a:cs typeface="Arial"/>
              </a:rPr>
              <a:t>process</a:t>
            </a:r>
            <a:r>
              <a:rPr sz="1600" spc="10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is</a:t>
            </a:r>
            <a:r>
              <a:rPr sz="16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40" dirty="0">
                <a:solidFill>
                  <a:srgbClr val="FFFFFF"/>
                </a:solidFill>
                <a:cs typeface="Arial"/>
              </a:rPr>
              <a:t>called</a:t>
            </a:r>
            <a:r>
              <a:rPr sz="16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20" dirty="0">
                <a:solidFill>
                  <a:srgbClr val="FFFFFF"/>
                </a:solidFill>
                <a:cs typeface="Arial"/>
              </a:rPr>
              <a:t>beta</a:t>
            </a:r>
            <a:r>
              <a:rPr sz="16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reduction.</a:t>
            </a:r>
            <a:endParaRPr sz="1600" dirty="0">
              <a:cs typeface="Arial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1DF7CF28-3646-AC6B-C5A7-2494D3EBE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5</a:t>
            </a:fld>
            <a:endParaRPr lang="en-US" sz="706" dirty="0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02DAF-3D2A-FCC5-73C1-08BBF90D7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23" y="274128"/>
            <a:ext cx="3477003" cy="544973"/>
          </a:xfrm>
        </p:spPr>
        <p:txBody>
          <a:bodyPr/>
          <a:lstStyle/>
          <a:p>
            <a:r>
              <a:rPr lang="en-US" dirty="0"/>
              <a:t>Beta Reduction – Example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DB46D3-05B2-8DF1-C524-9B31E14FB0F0}"/>
              </a:ext>
            </a:extLst>
          </p:cNvPr>
          <p:cNvSpPr txBox="1"/>
          <p:nvPr/>
        </p:nvSpPr>
        <p:spPr>
          <a:xfrm>
            <a:off x="268034" y="1077278"/>
            <a:ext cx="4090606" cy="2046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/>
            </a:pPr>
            <a:r>
              <a:rPr lang="el-GR" sz="1210" dirty="0"/>
              <a:t>λ </a:t>
            </a:r>
            <a:r>
              <a:rPr lang="en-IE" sz="1210" dirty="0"/>
              <a:t>x. x</a:t>
            </a:r>
          </a:p>
          <a:p>
            <a:pPr marL="230520" indent="-230520">
              <a:buFont typeface="Wingdings" pitchFamily="2" charset="2"/>
              <a:buChar char="q"/>
              <a:defRPr sz="3200"/>
            </a:pPr>
            <a:r>
              <a:rPr lang="en-IE" sz="1008" dirty="0"/>
              <a:t>We apply the function above to 2</a:t>
            </a:r>
          </a:p>
          <a:p>
            <a:pPr marL="230520" indent="-230520">
              <a:buFont typeface="Wingdings" pitchFamily="2" charset="2"/>
              <a:buChar char="q"/>
              <a:defRPr sz="3200"/>
            </a:pPr>
            <a:r>
              <a:rPr lang="en-IE" sz="1008" dirty="0"/>
              <a:t>substitute 2 for each bound variable in the body of the function, and then </a:t>
            </a:r>
          </a:p>
          <a:p>
            <a:pPr marL="230520" indent="-230520">
              <a:buFont typeface="Wingdings" pitchFamily="2" charset="2"/>
              <a:buChar char="q"/>
              <a:defRPr sz="3200"/>
            </a:pPr>
            <a:r>
              <a:rPr lang="en-IE" sz="1008" dirty="0"/>
              <a:t>eliminate the head: </a:t>
            </a:r>
          </a:p>
          <a:p>
            <a:pPr indent="1459161">
              <a:defRPr sz="3200"/>
            </a:pPr>
            <a:r>
              <a:rPr lang="en-IE" sz="1613" dirty="0"/>
              <a:t>  </a:t>
            </a:r>
            <a:r>
              <a:rPr lang="en-IE" sz="1210" dirty="0"/>
              <a:t>(</a:t>
            </a:r>
            <a:r>
              <a:rPr lang="el-GR" sz="1210" dirty="0"/>
              <a:t>λ </a:t>
            </a:r>
            <a:r>
              <a:rPr lang="en-IE" sz="1210" dirty="0"/>
              <a:t>x. x)  2</a:t>
            </a:r>
          </a:p>
          <a:p>
            <a:pPr indent="2177936">
              <a:defRPr sz="3200"/>
            </a:pPr>
            <a:r>
              <a:rPr lang="en-IE" sz="1210" dirty="0"/>
              <a:t>2</a:t>
            </a:r>
          </a:p>
          <a:p>
            <a:pPr>
              <a:defRPr sz="3200"/>
            </a:pPr>
            <a:endParaRPr lang="en-IE" sz="1613" dirty="0"/>
          </a:p>
          <a:p>
            <a:pPr marL="172890" indent="-172890">
              <a:buFont typeface="Wingdings" pitchFamily="2" charset="2"/>
              <a:buChar char="q"/>
              <a:defRPr sz="3200"/>
            </a:pPr>
            <a:r>
              <a:rPr lang="en-IE" sz="1008" dirty="0"/>
              <a:t> The only bound variable is the single x, so applying this function to 2 returns 2. </a:t>
            </a:r>
          </a:p>
          <a:p>
            <a:pPr marL="172890" indent="-172890">
              <a:buFont typeface="Wingdings" pitchFamily="2" charset="2"/>
              <a:buChar char="q"/>
              <a:defRPr sz="3200"/>
            </a:pPr>
            <a:r>
              <a:rPr lang="en-IE" sz="1008" dirty="0"/>
              <a:t> This function is the </a:t>
            </a:r>
            <a:r>
              <a:rPr lang="en-IE" sz="1008" b="1" dirty="0"/>
              <a:t>identity</a:t>
            </a:r>
            <a:r>
              <a:rPr lang="en-IE" sz="1008" dirty="0"/>
              <a:t> function.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D10B77-86A1-24CA-EEED-1E48E6BC0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6</a:t>
            </a:fld>
            <a:endParaRPr lang="en-US" sz="706" dirty="0"/>
          </a:p>
        </p:txBody>
      </p:sp>
    </p:spTree>
    <p:extLst>
      <p:ext uri="{BB962C8B-B14F-4D97-AF65-F5344CB8AC3E}">
        <p14:creationId xmlns:p14="http://schemas.microsoft.com/office/powerpoint/2010/main" val="2688269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1E8B5-05CA-3650-5E87-01E2BE522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Beta Reduction – Example 2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BCAE0-04F6-994A-3B21-3F5311C4E4B7}"/>
              </a:ext>
            </a:extLst>
          </p:cNvPr>
          <p:cNvSpPr txBox="1"/>
          <p:nvPr/>
        </p:nvSpPr>
        <p:spPr>
          <a:xfrm>
            <a:off x="503895" y="1298849"/>
            <a:ext cx="219932" cy="2320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8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02A8E2-6028-DC01-975B-40959D04FEDB}"/>
              </a:ext>
            </a:extLst>
          </p:cNvPr>
          <p:cNvSpPr txBox="1"/>
          <p:nvPr/>
        </p:nvSpPr>
        <p:spPr>
          <a:xfrm>
            <a:off x="1434627" y="1221263"/>
            <a:ext cx="2310410" cy="309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kumimoji="1" lang="en-IE" sz="1412" dirty="0"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kumimoji="1" lang="el-GR" sz="1412" dirty="0">
                <a:ea typeface="Tahoma" panose="020B0604030504040204" pitchFamily="34" charset="0"/>
                <a:cs typeface="Tahoma" panose="020B0604030504040204" pitchFamily="34" charset="0"/>
              </a:rPr>
              <a:t>λ </a:t>
            </a:r>
            <a:r>
              <a:rPr kumimoji="1" lang="en-IE" sz="1412" dirty="0">
                <a:ea typeface="Tahoma" panose="020B0604030504040204" pitchFamily="34" charset="0"/>
                <a:cs typeface="Tahoma" panose="020B0604030504040204" pitchFamily="34" charset="0"/>
              </a:rPr>
              <a:t>x. x+1)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FF354-E56B-5141-AB09-9CD9D852E3F0}"/>
              </a:ext>
            </a:extLst>
          </p:cNvPr>
          <p:cNvSpPr txBox="1"/>
          <p:nvPr/>
        </p:nvSpPr>
        <p:spPr>
          <a:xfrm>
            <a:off x="418126" y="1641926"/>
            <a:ext cx="3845925" cy="925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happens if we apply this to 2 </a:t>
            </a:r>
          </a:p>
          <a:p>
            <a:r>
              <a:rPr lang="en-US" dirty="0"/>
              <a:t>(try this yourself) </a:t>
            </a:r>
          </a:p>
          <a:p>
            <a:endParaRPr lang="en-US" sz="908" dirty="0"/>
          </a:p>
          <a:p>
            <a:endParaRPr lang="en-US" sz="908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FA816542-F548-22DA-EB50-EF7CD0E02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7</a:t>
            </a:fld>
            <a:endParaRPr lang="en-US" sz="706" dirty="0"/>
          </a:p>
        </p:txBody>
      </p:sp>
    </p:spTree>
    <p:extLst>
      <p:ext uri="{BB962C8B-B14F-4D97-AF65-F5344CB8AC3E}">
        <p14:creationId xmlns:p14="http://schemas.microsoft.com/office/powerpoint/2010/main" val="2989812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034" y="364874"/>
            <a:ext cx="3477003" cy="57592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34060">
              <a:lnSpc>
                <a:spcPct val="100000"/>
              </a:lnSpc>
              <a:spcBef>
                <a:spcPts val="135"/>
              </a:spcBef>
            </a:pPr>
            <a:r>
              <a:rPr spc="235" dirty="0"/>
              <a:t>Beta</a:t>
            </a:r>
            <a:r>
              <a:rPr spc="195" dirty="0"/>
              <a:t> </a:t>
            </a:r>
            <a:r>
              <a:rPr lang="en-IE" spc="215" dirty="0"/>
              <a:t>R</a:t>
            </a:r>
            <a:r>
              <a:rPr spc="215" dirty="0" err="1"/>
              <a:t>eduction</a:t>
            </a:r>
            <a:r>
              <a:rPr lang="en-IE" spc="215" dirty="0"/>
              <a:t>-Example 1</a:t>
            </a:r>
            <a:endParaRPr spc="215" dirty="0"/>
          </a:p>
        </p:txBody>
      </p:sp>
      <p:sp>
        <p:nvSpPr>
          <p:cNvPr id="3" name="object 3"/>
          <p:cNvSpPr txBox="1"/>
          <p:nvPr/>
        </p:nvSpPr>
        <p:spPr>
          <a:xfrm>
            <a:off x="256939" y="1079897"/>
            <a:ext cx="3811270" cy="2023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935" algn="ctr">
              <a:lnSpc>
                <a:spcPct val="100000"/>
              </a:lnSpc>
              <a:spcBef>
                <a:spcPts val="90"/>
              </a:spcBef>
            </a:pPr>
            <a:r>
              <a:rPr sz="11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endParaRPr sz="1100" dirty="0">
              <a:latin typeface="Arial"/>
              <a:cs typeface="Arial"/>
            </a:endParaRPr>
          </a:p>
          <a:p>
            <a:pPr marL="125095">
              <a:lnSpc>
                <a:spcPct val="100000"/>
              </a:lnSpc>
              <a:spcBef>
                <a:spcPts val="1230"/>
              </a:spcBef>
            </a:pP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apply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function </a:t>
            </a: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above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100" dirty="0">
              <a:latin typeface="Arial"/>
              <a:cs typeface="Arial"/>
            </a:endParaRPr>
          </a:p>
          <a:p>
            <a:pPr marL="296545" marR="321310" indent="-171450">
              <a:lnSpc>
                <a:spcPct val="102699"/>
              </a:lnSpc>
              <a:spcBef>
                <a:spcPts val="300"/>
              </a:spcBef>
              <a:buFont typeface="Wingdings" pitchFamily="2" charset="2"/>
              <a:buChar char="q"/>
            </a:pP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substitute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bound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body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function,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 and</a:t>
            </a:r>
            <a:endParaRPr sz="1100" dirty="0">
              <a:latin typeface="Arial"/>
              <a:cs typeface="Arial"/>
            </a:endParaRPr>
          </a:p>
          <a:p>
            <a:pPr marL="296545" indent="-171450">
              <a:lnSpc>
                <a:spcPct val="100000"/>
              </a:lnSpc>
              <a:spcBef>
                <a:spcPts val="330"/>
              </a:spcBef>
              <a:buFont typeface="Wingdings" pitchFamily="2" charset="2"/>
              <a:buChar char="q"/>
            </a:pP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eliminate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head:</a:t>
            </a:r>
            <a:endParaRPr sz="1100" dirty="0">
              <a:latin typeface="Arial"/>
              <a:cs typeface="Arial"/>
            </a:endParaRPr>
          </a:p>
          <a:p>
            <a:pPr marR="1585595" algn="r">
              <a:lnSpc>
                <a:spcPct val="100000"/>
              </a:lnSpc>
              <a:spcBef>
                <a:spcPts val="935"/>
              </a:spcBef>
            </a:pPr>
            <a:r>
              <a:rPr sz="1100" spc="3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3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3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3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3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-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100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100" dirty="0">
              <a:latin typeface="Arial"/>
              <a:cs typeface="Arial"/>
            </a:endParaRPr>
          </a:p>
          <a:p>
            <a:pPr marR="1570355" algn="r">
              <a:lnSpc>
                <a:spcPct val="100000"/>
              </a:lnSpc>
              <a:spcBef>
                <a:spcPts val="35"/>
              </a:spcBef>
            </a:pP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100" dirty="0">
              <a:latin typeface="Arial"/>
              <a:cs typeface="Arial"/>
            </a:endParaRPr>
          </a:p>
          <a:p>
            <a:pPr marL="25400" marR="17780">
              <a:lnSpc>
                <a:spcPct val="102600"/>
              </a:lnSpc>
              <a:spcBef>
                <a:spcPts val="894"/>
              </a:spcBef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only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bound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single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-2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85" dirty="0">
                <a:solidFill>
                  <a:srgbClr val="FFFFFF"/>
                </a:solidFill>
                <a:latin typeface="Arial"/>
                <a:cs typeface="Arial"/>
              </a:rPr>
              <a:t>so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applying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function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returns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sz="1100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function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identity</a:t>
            </a:r>
            <a:r>
              <a:rPr sz="1100" i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function.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C9C8364-C4AD-ADA5-175D-1F922B68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8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1E8B5-05CA-3650-5E87-01E2BE522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Beta Reduction – Example 2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BCAE0-04F6-994A-3B21-3F5311C4E4B7}"/>
              </a:ext>
            </a:extLst>
          </p:cNvPr>
          <p:cNvSpPr txBox="1"/>
          <p:nvPr/>
        </p:nvSpPr>
        <p:spPr>
          <a:xfrm>
            <a:off x="503895" y="1298849"/>
            <a:ext cx="219932" cy="2320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8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02A8E2-6028-DC01-975B-40959D04FEDB}"/>
              </a:ext>
            </a:extLst>
          </p:cNvPr>
          <p:cNvSpPr txBox="1"/>
          <p:nvPr/>
        </p:nvSpPr>
        <p:spPr>
          <a:xfrm>
            <a:off x="1434627" y="1221263"/>
            <a:ext cx="2310410" cy="309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kumimoji="1" lang="en-IE" sz="1412" dirty="0"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kumimoji="1" lang="el-GR" sz="1412" dirty="0">
                <a:ea typeface="Tahoma" panose="020B0604030504040204" pitchFamily="34" charset="0"/>
                <a:cs typeface="Tahoma" panose="020B0604030504040204" pitchFamily="34" charset="0"/>
              </a:rPr>
              <a:t>λ </a:t>
            </a:r>
            <a:r>
              <a:rPr kumimoji="1" lang="en-IE" sz="1412" dirty="0">
                <a:ea typeface="Tahoma" panose="020B0604030504040204" pitchFamily="34" charset="0"/>
                <a:cs typeface="Tahoma" panose="020B0604030504040204" pitchFamily="34" charset="0"/>
              </a:rPr>
              <a:t>x. x+1)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FF354-E56B-5141-AB09-9CD9D852E3F0}"/>
              </a:ext>
            </a:extLst>
          </p:cNvPr>
          <p:cNvSpPr txBox="1"/>
          <p:nvPr/>
        </p:nvSpPr>
        <p:spPr>
          <a:xfrm>
            <a:off x="418126" y="1641926"/>
            <a:ext cx="2983509" cy="5114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8" dirty="0"/>
              <a:t>What happens if we apply this to 2 (try this yourself) </a:t>
            </a:r>
          </a:p>
          <a:p>
            <a:endParaRPr lang="en-US" sz="908" dirty="0"/>
          </a:p>
          <a:p>
            <a:endParaRPr lang="en-US" sz="908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0832E5C3-5496-58A7-FA25-18BDE4CAE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9</a:t>
            </a:fld>
            <a:endParaRPr lang="en-US" sz="706" dirty="0"/>
          </a:p>
        </p:txBody>
      </p:sp>
    </p:spTree>
    <p:extLst>
      <p:ext uri="{BB962C8B-B14F-4D97-AF65-F5344CB8AC3E}">
        <p14:creationId xmlns:p14="http://schemas.microsoft.com/office/powerpoint/2010/main" val="60664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034" y="364874"/>
            <a:ext cx="3477003" cy="57592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34060">
              <a:lnSpc>
                <a:spcPct val="100000"/>
              </a:lnSpc>
              <a:spcBef>
                <a:spcPts val="135"/>
              </a:spcBef>
            </a:pPr>
            <a:r>
              <a:rPr spc="235" dirty="0"/>
              <a:t>Beta</a:t>
            </a:r>
            <a:r>
              <a:rPr spc="195" dirty="0"/>
              <a:t> </a:t>
            </a:r>
            <a:r>
              <a:rPr lang="en-IE" spc="215" dirty="0"/>
              <a:t>R</a:t>
            </a:r>
            <a:r>
              <a:rPr spc="215" dirty="0" err="1"/>
              <a:t>eduction</a:t>
            </a:r>
            <a:r>
              <a:rPr lang="en-IE" spc="215" dirty="0"/>
              <a:t>- Example 3</a:t>
            </a:r>
            <a:endParaRPr spc="215" dirty="0"/>
          </a:p>
        </p:txBody>
      </p:sp>
      <p:sp>
        <p:nvSpPr>
          <p:cNvPr id="3" name="object 3"/>
          <p:cNvSpPr txBox="1"/>
          <p:nvPr/>
        </p:nvSpPr>
        <p:spPr>
          <a:xfrm>
            <a:off x="239354" y="994032"/>
            <a:ext cx="3913504" cy="2383666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06388" indent="-171450">
              <a:lnSpc>
                <a:spcPct val="100000"/>
              </a:lnSpc>
              <a:spcBef>
                <a:spcPts val="570"/>
              </a:spcBef>
              <a:buFont typeface="Wingdings" pitchFamily="2" charset="2"/>
              <a:buChar char="q"/>
            </a:pP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FFFFFF"/>
                </a:solidFill>
                <a:latin typeface="Arial"/>
                <a:cs typeface="Arial"/>
              </a:rPr>
              <a:t>also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apply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our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identity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function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another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lambda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abstraction:</a:t>
            </a:r>
            <a:endParaRPr sz="1100" dirty="0">
              <a:latin typeface="Arial"/>
              <a:cs typeface="Arial"/>
            </a:endParaRPr>
          </a:p>
          <a:p>
            <a:pPr marL="1574165">
              <a:lnSpc>
                <a:spcPct val="100000"/>
              </a:lnSpc>
              <a:spcBef>
                <a:spcPts val="570"/>
              </a:spcBef>
            </a:pPr>
            <a:r>
              <a:rPr sz="1100" spc="3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3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3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3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3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Arial"/>
                <a:cs typeface="Arial"/>
              </a:rPr>
              <a:t>)(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100" dirty="0">
              <a:latin typeface="Arial"/>
              <a:cs typeface="Arial"/>
            </a:endParaRPr>
          </a:p>
          <a:p>
            <a:pPr marL="184150" marR="5080" indent="-171450">
              <a:lnSpc>
                <a:spcPct val="102600"/>
              </a:lnSpc>
              <a:spcBef>
                <a:spcPts val="535"/>
              </a:spcBef>
              <a:buFont typeface="Wingdings" pitchFamily="2" charset="2"/>
              <a:buChar char="q"/>
            </a:pPr>
            <a:r>
              <a:rPr lang="en-IE" sz="1100" dirty="0">
                <a:solidFill>
                  <a:srgbClr val="FFFFFF"/>
                </a:solidFill>
                <a:latin typeface="Arial"/>
                <a:cs typeface="Arial"/>
              </a:rPr>
              <a:t>  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80" dirty="0">
                <a:solidFill>
                  <a:srgbClr val="FFFFFF"/>
                </a:solidFill>
                <a:latin typeface="Arial"/>
                <a:cs typeface="Arial"/>
              </a:rPr>
              <a:t>case,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95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substitute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entire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abstraction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-2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sz="1100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lang="en-IE" sz="1100" spc="11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84150" marR="5080" indent="-171450">
              <a:lnSpc>
                <a:spcPct val="102600"/>
              </a:lnSpc>
              <a:spcBef>
                <a:spcPts val="535"/>
              </a:spcBef>
              <a:buFont typeface="Wingdings" pitchFamily="2" charset="2"/>
              <a:buChar char="q"/>
            </a:pPr>
            <a:r>
              <a:rPr lang="en-IE" sz="1100" spc="110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5" dirty="0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sz="11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new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syntax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here,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[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100" dirty="0">
                <a:solidFill>
                  <a:srgbClr val="FFFFFF"/>
                </a:solidFill>
                <a:latin typeface="Arial"/>
                <a:cs typeface="Arial"/>
              </a:rPr>
              <a:t>:=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85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100" i="1" spc="-2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],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indicate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11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100" i="1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substituted</a:t>
            </a:r>
            <a:r>
              <a:rPr sz="11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occurrences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lang="en-IE" sz="1100" i="1" spc="9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535"/>
              </a:spcBef>
            </a:pPr>
            <a:r>
              <a:rPr lang="en-IE" sz="1100" i="1" spc="9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(here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100" i="1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function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50" dirty="0" err="1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50" dirty="0" err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50" dirty="0" err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50" dirty="0" err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))</a:t>
            </a:r>
            <a:endParaRPr lang="en-IE" sz="1100" spc="11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84150" marR="5080" indent="-171450">
              <a:lnSpc>
                <a:spcPct val="102600"/>
              </a:lnSpc>
              <a:spcBef>
                <a:spcPts val="535"/>
              </a:spcBef>
              <a:buFont typeface="Wingdings" pitchFamily="2" charset="2"/>
              <a:buChar char="q"/>
            </a:pP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reduce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 application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like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this:</a:t>
            </a:r>
            <a:endParaRPr sz="1100" dirty="0">
              <a:latin typeface="Arial"/>
              <a:cs typeface="Arial"/>
            </a:endParaRPr>
          </a:p>
          <a:p>
            <a:pPr marR="1566545" algn="r">
              <a:lnSpc>
                <a:spcPct val="100000"/>
              </a:lnSpc>
              <a:spcBef>
                <a:spcPts val="570"/>
              </a:spcBef>
            </a:pPr>
            <a:r>
              <a:rPr sz="1100" spc="3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3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3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3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3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Arial"/>
                <a:cs typeface="Arial"/>
              </a:rPr>
              <a:t>)(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100" dirty="0">
              <a:latin typeface="Arial"/>
              <a:cs typeface="Arial"/>
            </a:endParaRPr>
          </a:p>
          <a:p>
            <a:pPr marR="1566545" algn="r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[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100" dirty="0">
                <a:solidFill>
                  <a:srgbClr val="FFFFFF"/>
                </a:solidFill>
                <a:latin typeface="Arial"/>
                <a:cs typeface="Arial"/>
              </a:rPr>
              <a:t>:=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)]</a:t>
            </a:r>
            <a:endParaRPr sz="1100" dirty="0">
              <a:latin typeface="Arial"/>
              <a:cs typeface="Arial"/>
            </a:endParaRPr>
          </a:p>
          <a:p>
            <a:pPr marR="1573530" algn="r">
              <a:lnSpc>
                <a:spcPct val="100000"/>
              </a:lnSpc>
              <a:spcBef>
                <a:spcPts val="35"/>
              </a:spcBef>
            </a:pPr>
            <a:r>
              <a:rPr sz="1100" spc="5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50" dirty="0" err="1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50" dirty="0" err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50" dirty="0" err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50" dirty="0" err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-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71A04194-F2AC-28F9-CAFB-653140E8D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10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1421" y="966068"/>
            <a:ext cx="3806190" cy="300781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just">
              <a:lnSpc>
                <a:spcPct val="100000"/>
              </a:lnSpc>
              <a:spcBef>
                <a:spcPts val="90"/>
              </a:spcBef>
            </a:pPr>
            <a:r>
              <a:rPr sz="1000" spc="-65" dirty="0">
                <a:solidFill>
                  <a:srgbClr val="FFFFFF"/>
                </a:solidFill>
                <a:cs typeface="Arial"/>
              </a:rPr>
              <a:t>Once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0" dirty="0">
                <a:solidFill>
                  <a:srgbClr val="FFFFFF"/>
                </a:solidFill>
                <a:cs typeface="Arial"/>
              </a:rPr>
              <a:t>more,</a:t>
            </a:r>
            <a:r>
              <a:rPr sz="1000" spc="-30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but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this</a:t>
            </a:r>
            <a:r>
              <a:rPr sz="1000" spc="-20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time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we’ll</a:t>
            </a:r>
            <a:r>
              <a:rPr sz="1000" spc="-2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5" dirty="0">
                <a:solidFill>
                  <a:srgbClr val="FFFFFF"/>
                </a:solidFill>
                <a:cs typeface="Arial"/>
              </a:rPr>
              <a:t>add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30" dirty="0">
                <a:solidFill>
                  <a:srgbClr val="FFFFFF"/>
                </a:solidFill>
                <a:cs typeface="Arial"/>
              </a:rPr>
              <a:t>another</a:t>
            </a:r>
            <a:r>
              <a:rPr sz="1000" spc="-2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argument:</a:t>
            </a:r>
            <a:endParaRPr sz="1000" dirty="0">
              <a:cs typeface="Arial"/>
            </a:endParaRPr>
          </a:p>
          <a:p>
            <a:pPr marR="1435100" algn="r">
              <a:lnSpc>
                <a:spcPct val="100000"/>
              </a:lnSpc>
              <a:spcBef>
                <a:spcPts val="795"/>
              </a:spcBef>
            </a:pPr>
            <a:r>
              <a:rPr sz="1100" spc="3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3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3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3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3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Arial"/>
                <a:cs typeface="Arial"/>
              </a:rPr>
              <a:t>)(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100" i="1" spc="-25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endParaRPr sz="1100" dirty="0">
              <a:latin typeface="Arial"/>
              <a:cs typeface="Arial"/>
            </a:endParaRPr>
          </a:p>
          <a:p>
            <a:pPr marR="64769" algn="just">
              <a:lnSpc>
                <a:spcPct val="102600"/>
              </a:lnSpc>
              <a:spcBef>
                <a:spcPts val="760"/>
              </a:spcBef>
            </a:pPr>
            <a:r>
              <a:rPr sz="1000" spc="-30" dirty="0">
                <a:solidFill>
                  <a:srgbClr val="FFFFFF"/>
                </a:solidFill>
                <a:cs typeface="Arial"/>
              </a:rPr>
              <a:t>Applications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in the </a:t>
            </a:r>
            <a:r>
              <a:rPr sz="1000" spc="-45" dirty="0">
                <a:solidFill>
                  <a:srgbClr val="FFFFFF"/>
                </a:solidFill>
                <a:cs typeface="Arial"/>
              </a:rPr>
              <a:t>lambda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5" dirty="0">
                <a:solidFill>
                  <a:srgbClr val="FFFFFF"/>
                </a:solidFill>
                <a:cs typeface="Arial"/>
              </a:rPr>
              <a:t>calculus</a:t>
            </a:r>
            <a:r>
              <a:rPr sz="100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60" dirty="0">
                <a:solidFill>
                  <a:srgbClr val="FFFFFF"/>
                </a:solidFill>
                <a:cs typeface="Arial"/>
              </a:rPr>
              <a:t>are</a:t>
            </a:r>
            <a:r>
              <a:rPr sz="1000" dirty="0">
                <a:solidFill>
                  <a:srgbClr val="FFFFFF"/>
                </a:solidFill>
                <a:cs typeface="Arial"/>
              </a:rPr>
              <a:t> left </a:t>
            </a:r>
            <a:r>
              <a:rPr sz="1000" spc="-40" dirty="0">
                <a:solidFill>
                  <a:srgbClr val="FFFFFF"/>
                </a:solidFill>
                <a:cs typeface="Arial"/>
              </a:rPr>
              <a:t>associative.</a:t>
            </a:r>
            <a:r>
              <a:rPr sz="1000" spc="9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That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25" dirty="0">
                <a:solidFill>
                  <a:srgbClr val="FFFFFF"/>
                </a:solidFill>
                <a:cs typeface="Arial"/>
              </a:rPr>
              <a:t>is, </a:t>
            </a:r>
            <a:r>
              <a:rPr sz="1000" spc="-80" dirty="0">
                <a:solidFill>
                  <a:srgbClr val="FFFFFF"/>
                </a:solidFill>
                <a:cs typeface="Arial"/>
              </a:rPr>
              <a:t>unless</a:t>
            </a:r>
            <a:r>
              <a:rPr sz="10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0" dirty="0">
                <a:solidFill>
                  <a:srgbClr val="FFFFFF"/>
                </a:solidFill>
                <a:cs typeface="Arial"/>
              </a:rPr>
              <a:t>specific</a:t>
            </a:r>
            <a:r>
              <a:rPr sz="1000" spc="1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75" dirty="0">
                <a:solidFill>
                  <a:srgbClr val="FFFFFF"/>
                </a:solidFill>
                <a:cs typeface="Arial"/>
              </a:rPr>
              <a:t>parentheses</a:t>
            </a:r>
            <a:r>
              <a:rPr sz="10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70" dirty="0">
                <a:solidFill>
                  <a:srgbClr val="FFFFFF"/>
                </a:solidFill>
                <a:cs typeface="Arial"/>
              </a:rPr>
              <a:t>suggest</a:t>
            </a:r>
            <a:r>
              <a:rPr sz="1000" spc="1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0" dirty="0">
                <a:solidFill>
                  <a:srgbClr val="FFFFFF"/>
                </a:solidFill>
                <a:cs typeface="Arial"/>
              </a:rPr>
              <a:t>otherwise,</a:t>
            </a:r>
            <a:r>
              <a:rPr sz="10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they</a:t>
            </a:r>
            <a:r>
              <a:rPr sz="1000" spc="1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55" dirty="0">
                <a:solidFill>
                  <a:srgbClr val="FFFFFF"/>
                </a:solidFill>
                <a:cs typeface="Arial"/>
              </a:rPr>
              <a:t>associate,</a:t>
            </a:r>
            <a:r>
              <a:rPr sz="10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25" dirty="0">
                <a:solidFill>
                  <a:srgbClr val="FFFFFF"/>
                </a:solidFill>
                <a:cs typeface="Arial"/>
              </a:rPr>
              <a:t>or </a:t>
            </a:r>
            <a:r>
              <a:rPr sz="1000" spc="-30" dirty="0">
                <a:solidFill>
                  <a:srgbClr val="FFFFFF"/>
                </a:solidFill>
                <a:cs typeface="Arial"/>
              </a:rPr>
              <a:t>group,</a:t>
            </a:r>
            <a:r>
              <a:rPr sz="10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to</a:t>
            </a:r>
            <a:r>
              <a:rPr sz="10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the</a:t>
            </a:r>
            <a:r>
              <a:rPr sz="10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left.</a:t>
            </a:r>
            <a:r>
              <a:rPr sz="1000" spc="114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0" dirty="0">
                <a:solidFill>
                  <a:srgbClr val="FFFFFF"/>
                </a:solidFill>
                <a:cs typeface="Arial"/>
              </a:rPr>
              <a:t>So,</a:t>
            </a:r>
            <a:r>
              <a:rPr sz="10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it</a:t>
            </a:r>
            <a:r>
              <a:rPr sz="10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5" dirty="0">
                <a:solidFill>
                  <a:srgbClr val="FFFFFF"/>
                </a:solidFill>
                <a:cs typeface="Arial"/>
              </a:rPr>
              <a:t>can</a:t>
            </a:r>
            <a:r>
              <a:rPr sz="10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30" dirty="0">
                <a:solidFill>
                  <a:srgbClr val="FFFFFF"/>
                </a:solidFill>
                <a:cs typeface="Arial"/>
              </a:rPr>
              <a:t>be</a:t>
            </a:r>
            <a:r>
              <a:rPr sz="10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rewritten</a:t>
            </a:r>
            <a:r>
              <a:rPr sz="10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25" dirty="0">
                <a:solidFill>
                  <a:srgbClr val="FFFFFF"/>
                </a:solidFill>
                <a:cs typeface="Arial"/>
              </a:rPr>
              <a:t>as:</a:t>
            </a:r>
            <a:endParaRPr sz="1000" dirty="0">
              <a:cs typeface="Arial"/>
            </a:endParaRPr>
          </a:p>
          <a:p>
            <a:pPr marR="1381125" indent="1471295" algn="just">
              <a:lnSpc>
                <a:spcPct val="160300"/>
              </a:lnSpc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((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25" dirty="0">
                <a:solidFill>
                  <a:srgbClr val="FFFFFF"/>
                </a:solidFill>
                <a:latin typeface="Arial"/>
                <a:cs typeface="Arial"/>
              </a:rPr>
              <a:t>)(</a:t>
            </a:r>
            <a:r>
              <a:rPr sz="1100" i="1" spc="25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2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25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2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))</a:t>
            </a:r>
            <a:r>
              <a:rPr sz="1100" i="1" spc="-25" dirty="0">
                <a:solidFill>
                  <a:srgbClr val="FFFFFF"/>
                </a:solidFill>
                <a:latin typeface="Arial"/>
                <a:cs typeface="Arial"/>
              </a:rPr>
              <a:t>z </a:t>
            </a:r>
            <a:r>
              <a:rPr sz="1000" dirty="0">
                <a:solidFill>
                  <a:srgbClr val="FFFFFF"/>
                </a:solidFill>
                <a:cs typeface="Arial"/>
              </a:rPr>
              <a:t>The</a:t>
            </a:r>
            <a:r>
              <a:rPr sz="1000" spc="-20" dirty="0">
                <a:solidFill>
                  <a:srgbClr val="FFFFFF"/>
                </a:solidFill>
                <a:cs typeface="Arial"/>
              </a:rPr>
              <a:t> </a:t>
            </a:r>
            <a:r>
              <a:rPr sz="1000" i="1" dirty="0">
                <a:solidFill>
                  <a:srgbClr val="FFFFFF"/>
                </a:solidFill>
                <a:cs typeface="Times New Roman"/>
              </a:rPr>
              <a:t>β</a:t>
            </a:r>
            <a:r>
              <a:rPr sz="1000" dirty="0">
                <a:solidFill>
                  <a:srgbClr val="FFFFFF"/>
                </a:solidFill>
                <a:cs typeface="Arial"/>
              </a:rPr>
              <a:t>-</a:t>
            </a:r>
            <a:r>
              <a:rPr sz="1000" spc="-30" dirty="0">
                <a:solidFill>
                  <a:srgbClr val="FFFFFF"/>
                </a:solidFill>
                <a:cs typeface="Arial"/>
              </a:rPr>
              <a:t>reduction</a:t>
            </a:r>
            <a:r>
              <a:rPr sz="10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is</a:t>
            </a:r>
            <a:r>
              <a:rPr sz="10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5" dirty="0">
                <a:solidFill>
                  <a:srgbClr val="FFFFFF"/>
                </a:solidFill>
                <a:cs typeface="Arial"/>
              </a:rPr>
              <a:t>as</a:t>
            </a:r>
            <a:r>
              <a:rPr sz="1000" spc="3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follows</a:t>
            </a:r>
            <a:r>
              <a:rPr lang="en-IE" sz="1000" spc="-10" dirty="0">
                <a:solidFill>
                  <a:srgbClr val="FFFFFF"/>
                </a:solidFill>
                <a:cs typeface="Arial"/>
              </a:rPr>
              <a:t>:</a:t>
            </a:r>
          </a:p>
          <a:p>
            <a:pPr marR="1381125" indent="1471295" algn="just">
              <a:lnSpc>
                <a:spcPct val="160300"/>
              </a:lnSpc>
            </a:pPr>
            <a:r>
              <a:rPr sz="1100" spc="40" dirty="0">
                <a:solidFill>
                  <a:srgbClr val="FFFFFF"/>
                </a:solidFill>
                <a:cs typeface="Arial"/>
              </a:rPr>
              <a:t>((</a:t>
            </a:r>
            <a:r>
              <a:rPr sz="1100" i="1" spc="40" dirty="0">
                <a:solidFill>
                  <a:srgbClr val="FFFFFF"/>
                </a:solidFill>
                <a:cs typeface="Times New Roman"/>
              </a:rPr>
              <a:t>λ</a:t>
            </a:r>
            <a:r>
              <a:rPr sz="1100" i="1" spc="40" dirty="0">
                <a:solidFill>
                  <a:srgbClr val="FFFFFF"/>
                </a:solidFill>
                <a:cs typeface="Arial"/>
              </a:rPr>
              <a:t>x</a:t>
            </a:r>
            <a:r>
              <a:rPr sz="1100" i="1" spc="40" dirty="0">
                <a:solidFill>
                  <a:srgbClr val="FFFFFF"/>
                </a:solidFill>
                <a:cs typeface="Times New Roman"/>
              </a:rPr>
              <a:t>.</a:t>
            </a:r>
            <a:r>
              <a:rPr sz="1100" i="1" spc="40" dirty="0">
                <a:solidFill>
                  <a:srgbClr val="FFFFFF"/>
                </a:solidFill>
                <a:cs typeface="Arial"/>
              </a:rPr>
              <a:t>x</a:t>
            </a:r>
            <a:r>
              <a:rPr sz="1100" i="1" spc="-180" dirty="0">
                <a:solidFill>
                  <a:srgbClr val="FFFFFF"/>
                </a:solidFill>
                <a:cs typeface="Arial"/>
              </a:rPr>
              <a:t> </a:t>
            </a:r>
            <a:r>
              <a:rPr sz="1100" spc="50" dirty="0">
                <a:solidFill>
                  <a:srgbClr val="FFFFFF"/>
                </a:solidFill>
                <a:cs typeface="Arial"/>
              </a:rPr>
              <a:t>)(</a:t>
            </a:r>
            <a:r>
              <a:rPr sz="1100" i="1" spc="50" dirty="0" err="1">
                <a:solidFill>
                  <a:srgbClr val="FFFFFF"/>
                </a:solidFill>
                <a:cs typeface="Times New Roman"/>
              </a:rPr>
              <a:t>λ</a:t>
            </a:r>
            <a:r>
              <a:rPr sz="1100" i="1" spc="50" dirty="0" err="1">
                <a:solidFill>
                  <a:srgbClr val="FFFFFF"/>
                </a:solidFill>
                <a:cs typeface="Arial"/>
              </a:rPr>
              <a:t>y</a:t>
            </a:r>
            <a:r>
              <a:rPr sz="1100" i="1" spc="50" dirty="0">
                <a:solidFill>
                  <a:srgbClr val="FFFFFF"/>
                </a:solidFill>
                <a:cs typeface="Times New Roman"/>
              </a:rPr>
              <a:t>.</a:t>
            </a:r>
            <a:r>
              <a:rPr sz="1100" spc="-25" dirty="0">
                <a:solidFill>
                  <a:srgbClr val="FFFFFF"/>
                </a:solidFill>
                <a:cs typeface="Arial"/>
              </a:rPr>
              <a:t>))</a:t>
            </a:r>
            <a:r>
              <a:rPr sz="1100" i="1" spc="-25" dirty="0">
                <a:solidFill>
                  <a:srgbClr val="FFFFFF"/>
                </a:solidFill>
                <a:cs typeface="Arial"/>
              </a:rPr>
              <a:t>z</a:t>
            </a:r>
            <a:endParaRPr sz="1100" dirty="0">
              <a:cs typeface="Arial"/>
            </a:endParaRPr>
          </a:p>
          <a:p>
            <a:pPr marR="1358265" algn="r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FFFFFF"/>
                </a:solidFill>
                <a:cs typeface="Arial"/>
              </a:rPr>
              <a:t>[</a:t>
            </a:r>
            <a:r>
              <a:rPr sz="1100" i="1" dirty="0">
                <a:solidFill>
                  <a:srgbClr val="FFFFFF"/>
                </a:solidFill>
                <a:cs typeface="Arial"/>
              </a:rPr>
              <a:t>x</a:t>
            </a:r>
            <a:r>
              <a:rPr sz="1100" i="1" spc="75" dirty="0">
                <a:solidFill>
                  <a:srgbClr val="FFFFFF"/>
                </a:solidFill>
                <a:cs typeface="Arial"/>
              </a:rPr>
              <a:t> </a:t>
            </a:r>
            <a:r>
              <a:rPr sz="1100" spc="100" dirty="0">
                <a:solidFill>
                  <a:srgbClr val="FFFFFF"/>
                </a:solidFill>
                <a:cs typeface="Arial"/>
              </a:rPr>
              <a:t>:=</a:t>
            </a:r>
            <a:r>
              <a:rPr sz="11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100" spc="50" dirty="0">
                <a:solidFill>
                  <a:srgbClr val="FFFFFF"/>
                </a:solidFill>
                <a:cs typeface="Arial"/>
              </a:rPr>
              <a:t>(</a:t>
            </a:r>
            <a:r>
              <a:rPr sz="1100" i="1" spc="50" dirty="0">
                <a:solidFill>
                  <a:srgbClr val="FFFFFF"/>
                </a:solidFill>
                <a:cs typeface="Times New Roman"/>
              </a:rPr>
              <a:t>λ</a:t>
            </a:r>
            <a:r>
              <a:rPr sz="1100" i="1" spc="50" dirty="0">
                <a:solidFill>
                  <a:srgbClr val="FFFFFF"/>
                </a:solidFill>
                <a:cs typeface="Arial"/>
              </a:rPr>
              <a:t>y</a:t>
            </a:r>
            <a:r>
              <a:rPr sz="1100" i="1" spc="50" dirty="0">
                <a:solidFill>
                  <a:srgbClr val="FFFFFF"/>
                </a:solidFill>
                <a:cs typeface="Times New Roman"/>
              </a:rPr>
              <a:t>.</a:t>
            </a:r>
            <a:r>
              <a:rPr sz="1100" i="1" spc="50" dirty="0">
                <a:solidFill>
                  <a:srgbClr val="FFFFFF"/>
                </a:solidFill>
                <a:cs typeface="Arial"/>
              </a:rPr>
              <a:t>y</a:t>
            </a:r>
            <a:r>
              <a:rPr sz="1100" i="1" spc="-190" dirty="0">
                <a:solidFill>
                  <a:srgbClr val="FFFFFF"/>
                </a:solidFill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cs typeface="Arial"/>
              </a:rPr>
              <a:t>)]</a:t>
            </a:r>
            <a:endParaRPr sz="1100" dirty="0">
              <a:cs typeface="Arial"/>
            </a:endParaRPr>
          </a:p>
          <a:p>
            <a:pPr marR="1359535" algn="r">
              <a:lnSpc>
                <a:spcPct val="100000"/>
              </a:lnSpc>
              <a:spcBef>
                <a:spcPts val="35"/>
              </a:spcBef>
            </a:pPr>
            <a:r>
              <a:rPr sz="1100" spc="50" dirty="0">
                <a:solidFill>
                  <a:srgbClr val="FFFFFF"/>
                </a:solidFill>
                <a:cs typeface="Arial"/>
              </a:rPr>
              <a:t>(</a:t>
            </a:r>
            <a:r>
              <a:rPr sz="1100" i="1" spc="50" dirty="0">
                <a:solidFill>
                  <a:srgbClr val="FFFFFF"/>
                </a:solidFill>
                <a:cs typeface="Times New Roman"/>
              </a:rPr>
              <a:t>λ</a:t>
            </a:r>
            <a:r>
              <a:rPr sz="1100" i="1" spc="50" dirty="0">
                <a:solidFill>
                  <a:srgbClr val="FFFFFF"/>
                </a:solidFill>
                <a:cs typeface="Arial"/>
              </a:rPr>
              <a:t>y</a:t>
            </a:r>
            <a:r>
              <a:rPr sz="1100" i="1" spc="50" dirty="0">
                <a:solidFill>
                  <a:srgbClr val="FFFFFF"/>
                </a:solidFill>
                <a:cs typeface="Times New Roman"/>
              </a:rPr>
              <a:t>.</a:t>
            </a:r>
            <a:r>
              <a:rPr sz="1100" i="1" spc="50" dirty="0">
                <a:solidFill>
                  <a:srgbClr val="FFFFFF"/>
                </a:solidFill>
                <a:cs typeface="Arial"/>
              </a:rPr>
              <a:t>y</a:t>
            </a:r>
            <a:r>
              <a:rPr sz="1100" i="1" spc="-185" dirty="0">
                <a:solidFill>
                  <a:srgbClr val="FFFFFF"/>
                </a:solidFill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cs typeface="Arial"/>
              </a:rPr>
              <a:t>)</a:t>
            </a:r>
            <a:r>
              <a:rPr sz="1100" i="1" spc="-25" dirty="0">
                <a:solidFill>
                  <a:srgbClr val="FFFFFF"/>
                </a:solidFill>
                <a:cs typeface="Arial"/>
              </a:rPr>
              <a:t>z</a:t>
            </a:r>
            <a:endParaRPr sz="1100" dirty="0">
              <a:cs typeface="Arial"/>
            </a:endParaRPr>
          </a:p>
          <a:p>
            <a:pPr marR="1349375" algn="r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FFFFFF"/>
                </a:solidFill>
                <a:cs typeface="Arial"/>
              </a:rPr>
              <a:t>[</a:t>
            </a:r>
            <a:r>
              <a:rPr sz="1100" i="1" dirty="0">
                <a:solidFill>
                  <a:srgbClr val="FFFFFF"/>
                </a:solidFill>
                <a:cs typeface="Arial"/>
              </a:rPr>
              <a:t>y</a:t>
            </a:r>
            <a:r>
              <a:rPr sz="1100" i="1" spc="100" dirty="0">
                <a:solidFill>
                  <a:srgbClr val="FFFFFF"/>
                </a:solidFill>
                <a:cs typeface="Arial"/>
              </a:rPr>
              <a:t> </a:t>
            </a:r>
            <a:r>
              <a:rPr sz="1100" spc="100" dirty="0">
                <a:solidFill>
                  <a:srgbClr val="FFFFFF"/>
                </a:solidFill>
                <a:cs typeface="Arial"/>
              </a:rPr>
              <a:t>:=</a:t>
            </a:r>
            <a:r>
              <a:rPr sz="11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100" i="1" spc="-85" dirty="0">
                <a:solidFill>
                  <a:srgbClr val="FFFFFF"/>
                </a:solidFill>
                <a:cs typeface="Arial"/>
              </a:rPr>
              <a:t>z</a:t>
            </a:r>
            <a:r>
              <a:rPr sz="1100" i="1" spc="-210" dirty="0">
                <a:solidFill>
                  <a:srgbClr val="FFFFFF"/>
                </a:solidFill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cs typeface="Arial"/>
              </a:rPr>
              <a:t>]</a:t>
            </a:r>
            <a:endParaRPr sz="1100" dirty="0">
              <a:cs typeface="Arial"/>
            </a:endParaRPr>
          </a:p>
          <a:p>
            <a:pPr marR="1360170" algn="r">
              <a:lnSpc>
                <a:spcPct val="100000"/>
              </a:lnSpc>
              <a:spcBef>
                <a:spcPts val="35"/>
              </a:spcBef>
            </a:pPr>
            <a:r>
              <a:rPr sz="1100" i="1" spc="-50" dirty="0">
                <a:solidFill>
                  <a:srgbClr val="FFFFFF"/>
                </a:solidFill>
                <a:cs typeface="Arial"/>
              </a:rPr>
              <a:t>z</a:t>
            </a:r>
            <a:endParaRPr sz="1100" dirty="0">
              <a:cs typeface="Arial"/>
            </a:endParaRPr>
          </a:p>
          <a:p>
            <a:pPr marL="12700" marR="5080" algn="just">
              <a:lnSpc>
                <a:spcPct val="102600"/>
              </a:lnSpc>
              <a:spcBef>
                <a:spcPts val="760"/>
              </a:spcBef>
            </a:pP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can’t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FFFFFF"/>
                </a:solidFill>
                <a:latin typeface="Arial"/>
                <a:cs typeface="Arial"/>
              </a:rPr>
              <a:t>reduce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any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further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5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sz="11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there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nothing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left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apply,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9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know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nothing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about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85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100" i="1" spc="-2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4C60A254-79E5-B18B-C721-9BE5B211C311}"/>
              </a:ext>
            </a:extLst>
          </p:cNvPr>
          <p:cNvSpPr txBox="1">
            <a:spLocks/>
          </p:cNvSpPr>
          <p:nvPr/>
        </p:nvSpPr>
        <p:spPr>
          <a:xfrm>
            <a:off x="103440" y="358775"/>
            <a:ext cx="3477003" cy="575927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>
            <a:lvl1pPr algn="l" defTabSz="4610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1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34060">
              <a:lnSpc>
                <a:spcPct val="100000"/>
              </a:lnSpc>
              <a:spcBef>
                <a:spcPts val="135"/>
              </a:spcBef>
            </a:pPr>
            <a:r>
              <a:rPr lang="en-IE" spc="235" dirty="0"/>
              <a:t>Beta</a:t>
            </a:r>
            <a:r>
              <a:rPr lang="en-IE" spc="195" dirty="0"/>
              <a:t> </a:t>
            </a:r>
            <a:r>
              <a:rPr lang="en-IE" spc="215" dirty="0"/>
              <a:t>Reduction- Example 4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BF29E51B-9BB4-35E0-DF33-D1D99B8E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11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034" y="504527"/>
            <a:ext cx="3477003" cy="2966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99210">
              <a:lnSpc>
                <a:spcPct val="100000"/>
              </a:lnSpc>
              <a:spcBef>
                <a:spcPts val="135"/>
              </a:spcBef>
            </a:pPr>
            <a:r>
              <a:rPr b="1" spc="175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250" y="1044575"/>
            <a:ext cx="4246816" cy="2137957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R="2907665">
              <a:lnSpc>
                <a:spcPct val="100000"/>
              </a:lnSpc>
              <a:spcBef>
                <a:spcPts val="434"/>
              </a:spcBef>
            </a:pPr>
            <a:r>
              <a:rPr sz="1000" spc="-55" dirty="0">
                <a:solidFill>
                  <a:srgbClr val="FFFFFF"/>
                </a:solidFill>
                <a:cs typeface="Arial"/>
              </a:rPr>
              <a:t>Variables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5" dirty="0">
                <a:solidFill>
                  <a:srgbClr val="FFFFFF"/>
                </a:solidFill>
                <a:cs typeface="Arial"/>
              </a:rPr>
              <a:t>can</a:t>
            </a:r>
            <a:r>
              <a:rPr lang="en-IE" sz="1000" spc="-4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25" dirty="0">
                <a:solidFill>
                  <a:srgbClr val="FFFFFF"/>
                </a:solidFill>
                <a:cs typeface="Arial"/>
              </a:rPr>
              <a:t>be</a:t>
            </a:r>
            <a:endParaRPr lang="en-IE" sz="1000" dirty="0">
              <a:cs typeface="Arial"/>
            </a:endParaRPr>
          </a:p>
          <a:p>
            <a:pPr marL="311150" marR="2907665" lvl="1" indent="-311150">
              <a:spcBef>
                <a:spcPts val="434"/>
              </a:spcBef>
              <a:buFont typeface="Wingdings" pitchFamily="2" charset="2"/>
              <a:buChar char="q"/>
            </a:pPr>
            <a:r>
              <a:rPr lang="en-IE" sz="1000" spc="-30" dirty="0">
                <a:solidFill>
                  <a:srgbClr val="FFFFFF"/>
                </a:solidFill>
                <a:cs typeface="Arial"/>
              </a:rPr>
              <a:t>b</a:t>
            </a:r>
            <a:r>
              <a:rPr sz="1000" spc="-30" dirty="0" err="1">
                <a:solidFill>
                  <a:srgbClr val="FFFFFF"/>
                </a:solidFill>
                <a:cs typeface="Arial"/>
              </a:rPr>
              <a:t>oun</a:t>
            </a:r>
            <a:r>
              <a:rPr lang="en-IE" sz="1000" spc="-30" dirty="0">
                <a:solidFill>
                  <a:srgbClr val="FFFFFF"/>
                </a:solidFill>
                <a:cs typeface="Arial"/>
              </a:rPr>
              <a:t>d or </a:t>
            </a:r>
          </a:p>
          <a:p>
            <a:pPr marL="311150" marR="2907665" lvl="1" indent="-311150">
              <a:spcBef>
                <a:spcPts val="434"/>
              </a:spcBef>
              <a:buFont typeface="Wingdings" pitchFamily="2" charset="2"/>
              <a:buChar char="q"/>
            </a:pPr>
            <a:r>
              <a:rPr sz="1000" spc="-20" dirty="0">
                <a:solidFill>
                  <a:srgbClr val="FFFFFF"/>
                </a:solidFill>
                <a:cs typeface="Arial"/>
              </a:rPr>
              <a:t>free</a:t>
            </a:r>
            <a:endParaRPr sz="1000" dirty="0">
              <a:cs typeface="Arial"/>
            </a:endParaRPr>
          </a:p>
          <a:p>
            <a:pPr marL="63500" marR="55880">
              <a:lnSpc>
                <a:spcPct val="102600"/>
              </a:lnSpc>
              <a:spcBef>
                <a:spcPts val="300"/>
              </a:spcBef>
            </a:pPr>
            <a:r>
              <a:rPr sz="1000" spc="-105" dirty="0">
                <a:solidFill>
                  <a:srgbClr val="FFFFFF"/>
                </a:solidFill>
                <a:cs typeface="Arial"/>
              </a:rPr>
              <a:t>as</a:t>
            </a:r>
            <a:r>
              <a:rPr sz="1000" spc="30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the</a:t>
            </a:r>
            <a:r>
              <a:rPr sz="1000" spc="-70" dirty="0">
                <a:solidFill>
                  <a:srgbClr val="FFFFFF"/>
                </a:solidFill>
                <a:cs typeface="Arial"/>
              </a:rPr>
              <a:t> </a:t>
            </a:r>
            <a:r>
              <a:rPr sz="1000" i="1" spc="60" dirty="0">
                <a:solidFill>
                  <a:srgbClr val="FFFFFF"/>
                </a:solidFill>
                <a:cs typeface="Times New Roman"/>
              </a:rPr>
              <a:t>λ</a:t>
            </a:r>
            <a:r>
              <a:rPr sz="1000" spc="60" dirty="0">
                <a:solidFill>
                  <a:srgbClr val="FFFFFF"/>
                </a:solidFill>
                <a:cs typeface="Arial"/>
              </a:rPr>
              <a:t>-</a:t>
            </a:r>
            <a:r>
              <a:rPr sz="1000" spc="-40" dirty="0">
                <a:solidFill>
                  <a:srgbClr val="FFFFFF"/>
                </a:solidFill>
                <a:cs typeface="Arial"/>
              </a:rPr>
              <a:t>calculus</a:t>
            </a:r>
            <a:r>
              <a:rPr sz="1000" spc="-2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10" dirty="0">
                <a:solidFill>
                  <a:srgbClr val="FFFFFF"/>
                </a:solidFill>
                <a:cs typeface="Arial"/>
              </a:rPr>
              <a:t>assumes</a:t>
            </a:r>
            <a:r>
              <a:rPr sz="1000" spc="3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20" dirty="0">
                <a:solidFill>
                  <a:srgbClr val="FFFFFF"/>
                </a:solidFill>
                <a:cs typeface="Arial"/>
              </a:rPr>
              <a:t>an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infinite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60" dirty="0">
                <a:solidFill>
                  <a:srgbClr val="FFFFFF"/>
                </a:solidFill>
                <a:cs typeface="Arial"/>
              </a:rPr>
              <a:t>universe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of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35" dirty="0">
                <a:solidFill>
                  <a:srgbClr val="FFFFFF"/>
                </a:solidFill>
                <a:cs typeface="Arial"/>
              </a:rPr>
              <a:t>free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variables. </a:t>
            </a:r>
            <a:r>
              <a:rPr sz="1000" spc="-20" dirty="0">
                <a:solidFill>
                  <a:srgbClr val="FFFFFF"/>
                </a:solidFill>
                <a:cs typeface="Arial"/>
              </a:rPr>
              <a:t>They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60" dirty="0">
                <a:solidFill>
                  <a:srgbClr val="FFFFFF"/>
                </a:solidFill>
                <a:cs typeface="Arial"/>
              </a:rPr>
              <a:t>are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30" dirty="0">
                <a:solidFill>
                  <a:srgbClr val="FFFFFF"/>
                </a:solidFill>
                <a:cs typeface="Arial"/>
              </a:rPr>
              <a:t>bound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to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30" dirty="0">
                <a:solidFill>
                  <a:srgbClr val="FFFFFF"/>
                </a:solidFill>
                <a:cs typeface="Arial"/>
              </a:rPr>
              <a:t>functions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in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20" dirty="0">
                <a:solidFill>
                  <a:srgbClr val="FFFFFF"/>
                </a:solidFill>
                <a:cs typeface="Arial"/>
              </a:rPr>
              <a:t>an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0" dirty="0">
                <a:solidFill>
                  <a:srgbClr val="FFFFFF"/>
                </a:solidFill>
                <a:cs typeface="Arial"/>
              </a:rPr>
              <a:t>environment,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 then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they </a:t>
            </a:r>
            <a:r>
              <a:rPr sz="1000" spc="-40" dirty="0">
                <a:solidFill>
                  <a:srgbClr val="FFFFFF"/>
                </a:solidFill>
                <a:cs typeface="Arial"/>
              </a:rPr>
              <a:t>become </a:t>
            </a:r>
            <a:r>
              <a:rPr sz="1000" spc="-30" dirty="0">
                <a:solidFill>
                  <a:srgbClr val="FFFFFF"/>
                </a:solidFill>
                <a:cs typeface="Arial"/>
              </a:rPr>
              <a:t>bound</a:t>
            </a:r>
            <a:r>
              <a:rPr sz="1000" spc="-4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by</a:t>
            </a:r>
            <a:r>
              <a:rPr sz="1000" spc="-4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90" dirty="0">
                <a:solidFill>
                  <a:srgbClr val="FFFFFF"/>
                </a:solidFill>
                <a:cs typeface="Arial"/>
              </a:rPr>
              <a:t>usage</a:t>
            </a:r>
            <a:r>
              <a:rPr sz="10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in</a:t>
            </a:r>
            <a:r>
              <a:rPr sz="1000" spc="-2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20" dirty="0">
                <a:solidFill>
                  <a:srgbClr val="FFFFFF"/>
                </a:solidFill>
                <a:cs typeface="Arial"/>
              </a:rPr>
              <a:t>an</a:t>
            </a:r>
            <a:r>
              <a:rPr sz="1000" spc="-2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abstraction.</a:t>
            </a:r>
            <a:endParaRPr sz="1000" dirty="0"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35"/>
              </a:spcBef>
            </a:pPr>
            <a:r>
              <a:rPr sz="1000" spc="-30" dirty="0">
                <a:solidFill>
                  <a:srgbClr val="FFFFFF"/>
                </a:solidFill>
                <a:cs typeface="Arial"/>
              </a:rPr>
              <a:t>For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55" dirty="0">
                <a:solidFill>
                  <a:srgbClr val="FFFFFF"/>
                </a:solidFill>
                <a:cs typeface="Arial"/>
              </a:rPr>
              <a:t>example,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in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the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i="1" spc="55" dirty="0">
                <a:solidFill>
                  <a:srgbClr val="FFFFFF"/>
                </a:solidFill>
                <a:cs typeface="Times New Roman"/>
              </a:rPr>
              <a:t>λ</a:t>
            </a:r>
            <a:r>
              <a:rPr sz="1000" spc="55" dirty="0">
                <a:solidFill>
                  <a:srgbClr val="FFFFFF"/>
                </a:solidFill>
                <a:cs typeface="Arial"/>
              </a:rPr>
              <a:t>-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expression:</a:t>
            </a:r>
            <a:endParaRPr sz="1000" dirty="0">
              <a:cs typeface="Arial"/>
            </a:endParaRPr>
          </a:p>
          <a:p>
            <a:pPr marL="25400" algn="ctr">
              <a:lnSpc>
                <a:spcPct val="100000"/>
              </a:lnSpc>
              <a:spcBef>
                <a:spcPts val="935"/>
              </a:spcBef>
            </a:pPr>
            <a:r>
              <a:rPr sz="1000" dirty="0">
                <a:solidFill>
                  <a:srgbClr val="FFFFFF"/>
                </a:solidFill>
                <a:cs typeface="Arial"/>
              </a:rPr>
              <a:t>(</a:t>
            </a:r>
            <a:r>
              <a:rPr sz="1000" i="1" dirty="0" err="1">
                <a:solidFill>
                  <a:srgbClr val="FFFFFF"/>
                </a:solidFill>
                <a:cs typeface="Times New Roman"/>
              </a:rPr>
              <a:t>λ</a:t>
            </a:r>
            <a:r>
              <a:rPr sz="1000" i="1" dirty="0" err="1">
                <a:solidFill>
                  <a:srgbClr val="FFFFFF"/>
                </a:solidFill>
                <a:cs typeface="Arial"/>
              </a:rPr>
              <a:t>x</a:t>
            </a:r>
            <a:r>
              <a:rPr sz="1000" i="1" dirty="0" err="1">
                <a:solidFill>
                  <a:srgbClr val="FFFFFF"/>
                </a:solidFill>
                <a:cs typeface="Times New Roman"/>
              </a:rPr>
              <a:t>.</a:t>
            </a:r>
            <a:r>
              <a:rPr sz="1000" i="1" dirty="0" err="1">
                <a:solidFill>
                  <a:srgbClr val="FFFFFF"/>
                </a:solidFill>
                <a:cs typeface="Arial"/>
              </a:rPr>
              <a:t>x</a:t>
            </a:r>
            <a:r>
              <a:rPr sz="1000" i="1" spc="-1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∗</a:t>
            </a:r>
            <a:r>
              <a:rPr sz="1000" i="1" spc="-33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E" sz="1000" i="1" spc="-5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E" sz="1000" i="1" spc="-55" dirty="0">
                <a:solidFill>
                  <a:srgbClr val="FFFFFF"/>
                </a:solidFill>
                <a:cs typeface="Arial"/>
              </a:rPr>
              <a:t>y</a:t>
            </a:r>
            <a:r>
              <a:rPr sz="1000" i="1" spc="-15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5" dirty="0">
                <a:solidFill>
                  <a:srgbClr val="FFFFFF"/>
                </a:solidFill>
                <a:cs typeface="Arial"/>
              </a:rPr>
              <a:t>)</a:t>
            </a:r>
            <a:endParaRPr sz="1000" dirty="0">
              <a:cs typeface="Arial"/>
            </a:endParaRPr>
          </a:p>
          <a:p>
            <a:pPr marL="62865" marR="63500">
              <a:lnSpc>
                <a:spcPct val="102600"/>
              </a:lnSpc>
              <a:spcBef>
                <a:spcPts val="894"/>
              </a:spcBef>
            </a:pPr>
            <a:r>
              <a:rPr sz="1000" dirty="0">
                <a:solidFill>
                  <a:srgbClr val="FFFFFF"/>
                </a:solidFill>
                <a:cs typeface="Arial"/>
              </a:rPr>
              <a:t>x</a:t>
            </a:r>
            <a:r>
              <a:rPr sz="1000" spc="-7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is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30" dirty="0">
                <a:solidFill>
                  <a:srgbClr val="FFFFFF"/>
                </a:solidFill>
                <a:cs typeface="Arial"/>
              </a:rPr>
              <a:t>bound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by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i="1" spc="155" dirty="0">
                <a:solidFill>
                  <a:srgbClr val="FFFFFF"/>
                </a:solidFill>
                <a:cs typeface="Times New Roman"/>
              </a:rPr>
              <a:t>λ</a:t>
            </a:r>
            <a:r>
              <a:rPr sz="1000" i="1" spc="20" dirty="0">
                <a:solidFill>
                  <a:srgbClr val="FFFFFF"/>
                </a:solidFill>
                <a:cs typeface="Times New Roman"/>
              </a:rPr>
              <a:t> </a:t>
            </a:r>
            <a:r>
              <a:rPr sz="1000" spc="-45" dirty="0">
                <a:solidFill>
                  <a:srgbClr val="FFFFFF"/>
                </a:solidFill>
                <a:cs typeface="Arial"/>
              </a:rPr>
              <a:t>over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the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20" dirty="0">
                <a:solidFill>
                  <a:srgbClr val="FFFFFF"/>
                </a:solidFill>
                <a:cs typeface="Arial"/>
              </a:rPr>
              <a:t>body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lang="en-IE" sz="1000" i="1" dirty="0">
                <a:solidFill>
                  <a:srgbClr val="FFFFFF"/>
                </a:solidFill>
                <a:cs typeface="Arial"/>
              </a:rPr>
              <a:t>x</a:t>
            </a:r>
            <a:r>
              <a:rPr lang="en-IE" sz="1000" i="1" spc="-1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∗</a:t>
            </a:r>
            <a:r>
              <a:rPr lang="en-IE" sz="1000" i="1" spc="-33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E" sz="1000" i="1" spc="-5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E" sz="1000" i="1" spc="-55" dirty="0">
                <a:solidFill>
                  <a:srgbClr val="FFFFFF"/>
                </a:solidFill>
                <a:cs typeface="Arial"/>
              </a:rPr>
              <a:t>y</a:t>
            </a:r>
            <a:r>
              <a:rPr lang="en-IE" sz="1000" i="1" spc="-150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,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but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i="1" dirty="0">
                <a:solidFill>
                  <a:srgbClr val="FFFFFF"/>
                </a:solidFill>
                <a:cs typeface="Arial"/>
              </a:rPr>
              <a:t>y</a:t>
            </a:r>
            <a:r>
              <a:rPr sz="1000" i="1" spc="9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is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a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35" dirty="0">
                <a:solidFill>
                  <a:srgbClr val="FFFFFF"/>
                </a:solidFill>
                <a:cs typeface="Arial"/>
              </a:rPr>
              <a:t>free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0" dirty="0">
                <a:solidFill>
                  <a:srgbClr val="FFFFFF"/>
                </a:solidFill>
                <a:latin typeface="+mj-lt"/>
                <a:cs typeface="Arial"/>
              </a:rPr>
              <a:t>variable.When </a:t>
            </a:r>
            <a:r>
              <a:rPr sz="1000" spc="-95" dirty="0">
                <a:solidFill>
                  <a:srgbClr val="FFFFFF"/>
                </a:solidFill>
                <a:latin typeface="+mj-lt"/>
                <a:cs typeface="Arial"/>
              </a:rPr>
              <a:t>we</a:t>
            </a:r>
            <a:r>
              <a:rPr sz="1000" spc="2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30" dirty="0">
                <a:solidFill>
                  <a:srgbClr val="FFFFFF"/>
                </a:solidFill>
                <a:latin typeface="+mj-lt"/>
                <a:cs typeface="Arial"/>
              </a:rPr>
              <a:t>apply</a:t>
            </a:r>
            <a:r>
              <a:rPr sz="1000" spc="-4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+mj-lt"/>
                <a:cs typeface="Arial"/>
              </a:rPr>
              <a:t>this</a:t>
            </a:r>
            <a:r>
              <a:rPr sz="1000" spc="-10" dirty="0">
                <a:solidFill>
                  <a:srgbClr val="FFFFFF"/>
                </a:solidFill>
                <a:latin typeface="+mj-lt"/>
                <a:cs typeface="Arial"/>
              </a:rPr>
              <a:t> function </a:t>
            </a:r>
            <a:r>
              <a:rPr sz="1000" dirty="0">
                <a:solidFill>
                  <a:srgbClr val="FFFFFF"/>
                </a:solidFill>
                <a:latin typeface="+mj-lt"/>
                <a:cs typeface="Arial"/>
              </a:rPr>
              <a:t>to</a:t>
            </a:r>
            <a:r>
              <a:rPr sz="10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+mj-lt"/>
                <a:cs typeface="Arial"/>
              </a:rPr>
              <a:t>an</a:t>
            </a:r>
            <a:r>
              <a:rPr sz="10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35" dirty="0">
                <a:solidFill>
                  <a:srgbClr val="FFFFFF"/>
                </a:solidFill>
                <a:latin typeface="+mj-lt"/>
                <a:cs typeface="Arial"/>
              </a:rPr>
              <a:t>argument,</a:t>
            </a:r>
            <a:r>
              <a:rPr sz="10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+mj-lt"/>
                <a:cs typeface="Arial"/>
              </a:rPr>
              <a:t>nothing</a:t>
            </a:r>
            <a:r>
              <a:rPr sz="10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45" dirty="0">
                <a:solidFill>
                  <a:srgbClr val="FFFFFF"/>
                </a:solidFill>
                <a:latin typeface="+mj-lt"/>
                <a:cs typeface="Arial"/>
              </a:rPr>
              <a:t>can</a:t>
            </a:r>
            <a:r>
              <a:rPr sz="10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30" dirty="0">
                <a:solidFill>
                  <a:srgbClr val="FFFFFF"/>
                </a:solidFill>
                <a:latin typeface="+mj-lt"/>
                <a:cs typeface="Arial"/>
              </a:rPr>
              <a:t>be</a:t>
            </a:r>
            <a:r>
              <a:rPr sz="10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65" dirty="0">
                <a:solidFill>
                  <a:srgbClr val="FFFFFF"/>
                </a:solidFill>
                <a:latin typeface="+mj-lt"/>
                <a:cs typeface="Arial"/>
              </a:rPr>
              <a:t>done</a:t>
            </a:r>
            <a:r>
              <a:rPr sz="10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+mj-lt"/>
                <a:cs typeface="Arial"/>
              </a:rPr>
              <a:t>with </a:t>
            </a:r>
            <a:r>
              <a:rPr sz="1000" dirty="0">
                <a:solidFill>
                  <a:srgbClr val="FFFFFF"/>
                </a:solidFill>
                <a:latin typeface="+mj-lt"/>
                <a:cs typeface="Arial"/>
              </a:rPr>
              <a:t>the</a:t>
            </a:r>
            <a:r>
              <a:rPr sz="1000" spc="5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i="1" spc="-55" dirty="0">
                <a:solidFill>
                  <a:srgbClr val="FFFFFF"/>
                </a:solidFill>
                <a:latin typeface="+mj-lt"/>
                <a:cs typeface="Arial"/>
              </a:rPr>
              <a:t>y</a:t>
            </a:r>
            <a:r>
              <a:rPr sz="1000" i="1" spc="-19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+mj-lt"/>
                <a:cs typeface="Arial"/>
              </a:rPr>
              <a:t>.</a:t>
            </a:r>
            <a:r>
              <a:rPr sz="1000" spc="17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+mj-lt"/>
                <a:cs typeface="Arial"/>
              </a:rPr>
              <a:t>It</a:t>
            </a:r>
            <a:r>
              <a:rPr sz="1000" spc="5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60" dirty="0">
                <a:solidFill>
                  <a:srgbClr val="FFFFFF"/>
                </a:solidFill>
                <a:latin typeface="+mj-lt"/>
                <a:cs typeface="Arial"/>
              </a:rPr>
              <a:t>remains</a:t>
            </a:r>
            <a:r>
              <a:rPr sz="1000" spc="5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+mj-lt"/>
                <a:cs typeface="Arial"/>
              </a:rPr>
              <a:t>irreducible.</a:t>
            </a:r>
            <a:endParaRPr sz="1000" dirty="0">
              <a:latin typeface="+mj-lt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C1F684-BA12-8E98-A0F8-F5C86712C0F2}"/>
              </a:ext>
            </a:extLst>
          </p:cNvPr>
          <p:cNvSpPr txBox="1"/>
          <p:nvPr/>
        </p:nvSpPr>
        <p:spPr>
          <a:xfrm>
            <a:off x="1130440" y="-2311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1CDEDA2-0E89-AD2A-CB6C-569A69261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12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034" y="504527"/>
            <a:ext cx="3477003" cy="2966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12494">
              <a:lnSpc>
                <a:spcPct val="100000"/>
              </a:lnSpc>
              <a:spcBef>
                <a:spcPts val="135"/>
              </a:spcBef>
            </a:pPr>
            <a:r>
              <a:rPr b="1" spc="185" dirty="0"/>
              <a:t>Variables</a:t>
            </a:r>
            <a:r>
              <a:rPr b="1" spc="210" dirty="0"/>
              <a:t> </a:t>
            </a:r>
            <a:r>
              <a:rPr b="1" spc="215" dirty="0"/>
              <a:t>contd.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247" y="1044575"/>
            <a:ext cx="3791585" cy="21958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354965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Look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at the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following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when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95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apply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such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a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function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argument:</a:t>
            </a:r>
            <a:endParaRPr sz="1100" dirty="0">
              <a:latin typeface="Arial"/>
              <a:cs typeface="Arial"/>
            </a:endParaRPr>
          </a:p>
          <a:p>
            <a:pPr marL="12700" marR="1388110" indent="1612265">
              <a:lnSpc>
                <a:spcPct val="170600"/>
              </a:lnSpc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125" dirty="0">
                <a:solidFill>
                  <a:srgbClr val="FFFFFF"/>
                </a:solidFill>
                <a:latin typeface="Menlo"/>
                <a:cs typeface="Menlo"/>
              </a:rPr>
              <a:t>∗</a:t>
            </a:r>
            <a:r>
              <a:rPr sz="1100" i="1" spc="-330" dirty="0">
                <a:solidFill>
                  <a:srgbClr val="FFFFFF"/>
                </a:solidFill>
                <a:latin typeface="Menlo"/>
                <a:cs typeface="Menlo"/>
              </a:rPr>
              <a:t> </a:t>
            </a:r>
            <a:r>
              <a:rPr sz="1100" i="1" spc="-5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100" i="1" spc="-25" dirty="0">
                <a:solidFill>
                  <a:srgbClr val="FFFFFF"/>
                </a:solidFill>
                <a:latin typeface="Arial"/>
                <a:cs typeface="Arial"/>
              </a:rPr>
              <a:t>z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apply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lambda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argument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85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100" i="1" spc="-2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  <a:p>
            <a:pPr marR="1507490" algn="r">
              <a:lnSpc>
                <a:spcPct val="100000"/>
              </a:lnSpc>
              <a:spcBef>
                <a:spcPts val="930"/>
              </a:spcBef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125" dirty="0">
                <a:solidFill>
                  <a:srgbClr val="FFFFFF"/>
                </a:solidFill>
                <a:latin typeface="Menlo"/>
                <a:cs typeface="Menlo"/>
              </a:rPr>
              <a:t>∗</a:t>
            </a:r>
            <a:r>
              <a:rPr sz="1100" i="1" spc="-330" dirty="0">
                <a:solidFill>
                  <a:srgbClr val="FFFFFF"/>
                </a:solidFill>
                <a:latin typeface="Menlo"/>
                <a:cs typeface="Menlo"/>
              </a:rPr>
              <a:t> </a:t>
            </a:r>
            <a:r>
              <a:rPr sz="1100" i="1" spc="-5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100" i="1" spc="-25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endParaRPr sz="1100" dirty="0">
              <a:latin typeface="Arial"/>
              <a:cs typeface="Arial"/>
            </a:endParaRPr>
          </a:p>
          <a:p>
            <a:pPr marR="1486535" algn="r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[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100" dirty="0">
                <a:solidFill>
                  <a:srgbClr val="FFFFFF"/>
                </a:solidFill>
                <a:latin typeface="Arial"/>
                <a:cs typeface="Arial"/>
              </a:rPr>
              <a:t>:=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85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100" i="1" spc="-2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]</a:t>
            </a:r>
            <a:endParaRPr sz="1100" dirty="0">
              <a:latin typeface="Arial"/>
              <a:cs typeface="Arial"/>
            </a:endParaRPr>
          </a:p>
          <a:p>
            <a:pPr marR="1520825" algn="r">
              <a:lnSpc>
                <a:spcPct val="100000"/>
              </a:lnSpc>
              <a:spcBef>
                <a:spcPts val="35"/>
              </a:spcBef>
            </a:pPr>
            <a:r>
              <a:rPr sz="1100" i="1" spc="-25" dirty="0">
                <a:solidFill>
                  <a:srgbClr val="FFFFFF"/>
                </a:solidFill>
                <a:latin typeface="Arial"/>
                <a:cs typeface="Arial"/>
              </a:rPr>
              <a:t>zy</a:t>
            </a:r>
            <a:endParaRPr sz="1100" dirty="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900"/>
              </a:spcBef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head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85" dirty="0">
                <a:solidFill>
                  <a:srgbClr val="FFFFFF"/>
                </a:solidFill>
                <a:latin typeface="Arial"/>
                <a:cs typeface="Arial"/>
              </a:rPr>
              <a:t>has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FFFFFF"/>
                </a:solidFill>
                <a:latin typeface="Arial"/>
                <a:cs typeface="Arial"/>
              </a:rPr>
              <a:t>been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applied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90" dirty="0">
                <a:solidFill>
                  <a:srgbClr val="FFFFFF"/>
                </a:solidFill>
                <a:latin typeface="Arial"/>
                <a:cs typeface="Arial"/>
              </a:rPr>
              <a:t>away,</a:t>
            </a:r>
            <a:r>
              <a:rPr sz="11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there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85" dirty="0">
                <a:solidFill>
                  <a:srgbClr val="FFFFFF"/>
                </a:solidFill>
                <a:latin typeface="Arial"/>
                <a:cs typeface="Arial"/>
              </a:rPr>
              <a:t>heads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or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bound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 variables.</a:t>
            </a:r>
            <a:r>
              <a:rPr sz="11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FFFFFF"/>
                </a:solidFill>
                <a:latin typeface="Arial"/>
                <a:cs typeface="Arial"/>
              </a:rPr>
              <a:t>Since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95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know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nothing about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100" i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9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sz="1100" spc="-70" dirty="0">
                <a:solidFill>
                  <a:srgbClr val="FFFFFF"/>
                </a:solidFill>
                <a:latin typeface="Arial"/>
                <a:cs typeface="Arial"/>
              </a:rPr>
              <a:t>reduce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further.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415B8466-1A96-0F49-2E4E-0906CB2AE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13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034" y="504527"/>
            <a:ext cx="3477003" cy="2966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51840">
              <a:lnSpc>
                <a:spcPct val="100000"/>
              </a:lnSpc>
              <a:spcBef>
                <a:spcPts val="135"/>
              </a:spcBef>
            </a:pPr>
            <a:r>
              <a:rPr b="1" spc="210" dirty="0"/>
              <a:t>Multiple</a:t>
            </a:r>
            <a:r>
              <a:rPr b="1" spc="204" dirty="0"/>
              <a:t> </a:t>
            </a:r>
            <a:r>
              <a:rPr b="1" spc="185" dirty="0"/>
              <a:t>Arguments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pc="-65" dirty="0"/>
              <a:t>Each</a:t>
            </a:r>
            <a:r>
              <a:rPr spc="-10" dirty="0"/>
              <a:t> </a:t>
            </a:r>
            <a:r>
              <a:rPr spc="-40" dirty="0"/>
              <a:t>lambda</a:t>
            </a:r>
            <a:r>
              <a:rPr spc="-35" dirty="0"/>
              <a:t> </a:t>
            </a:r>
            <a:r>
              <a:rPr spc="-50" dirty="0"/>
              <a:t>can</a:t>
            </a:r>
            <a:r>
              <a:rPr spc="-25" dirty="0"/>
              <a:t> </a:t>
            </a:r>
            <a:r>
              <a:rPr spc="-20" dirty="0"/>
              <a:t>only</a:t>
            </a:r>
            <a:r>
              <a:rPr spc="-30" dirty="0"/>
              <a:t> </a:t>
            </a:r>
            <a:r>
              <a:rPr spc="-10" dirty="0"/>
              <a:t>bind</a:t>
            </a:r>
            <a:r>
              <a:rPr spc="-20" dirty="0"/>
              <a:t> </a:t>
            </a:r>
            <a:r>
              <a:rPr spc="-70" dirty="0"/>
              <a:t>one</a:t>
            </a:r>
            <a:r>
              <a:rPr spc="-5" dirty="0"/>
              <a:t> </a:t>
            </a:r>
            <a:r>
              <a:rPr spc="-45" dirty="0"/>
              <a:t>parameter</a:t>
            </a:r>
            <a:r>
              <a:rPr spc="-20" dirty="0"/>
              <a:t> </a:t>
            </a:r>
            <a:r>
              <a:rPr spc="-45" dirty="0"/>
              <a:t>and</a:t>
            </a:r>
            <a:r>
              <a:rPr spc="-25" dirty="0"/>
              <a:t> </a:t>
            </a:r>
            <a:r>
              <a:rPr spc="-50" dirty="0"/>
              <a:t>can</a:t>
            </a:r>
            <a:r>
              <a:rPr spc="-20" dirty="0"/>
              <a:t> only </a:t>
            </a:r>
            <a:r>
              <a:rPr spc="-50" dirty="0"/>
              <a:t>accept</a:t>
            </a:r>
            <a:r>
              <a:rPr spc="-20" dirty="0"/>
              <a:t> </a:t>
            </a:r>
            <a:r>
              <a:rPr spc="-25" dirty="0"/>
              <a:t>one </a:t>
            </a:r>
            <a:r>
              <a:rPr spc="-30" dirty="0"/>
              <a:t>argument.</a:t>
            </a:r>
            <a:r>
              <a:rPr spc="105" dirty="0"/>
              <a:t> </a:t>
            </a:r>
            <a:r>
              <a:rPr spc="-40" dirty="0"/>
              <a:t>Functions</a:t>
            </a:r>
            <a:r>
              <a:rPr spc="5" dirty="0"/>
              <a:t> </a:t>
            </a:r>
            <a:r>
              <a:rPr dirty="0"/>
              <a:t>that</a:t>
            </a:r>
            <a:r>
              <a:rPr spc="5" dirty="0"/>
              <a:t> </a:t>
            </a:r>
            <a:r>
              <a:rPr spc="-40" dirty="0"/>
              <a:t>require</a:t>
            </a:r>
            <a:r>
              <a:rPr spc="5" dirty="0"/>
              <a:t> </a:t>
            </a:r>
            <a:r>
              <a:rPr spc="-10" dirty="0"/>
              <a:t>multiple</a:t>
            </a:r>
            <a:r>
              <a:rPr dirty="0"/>
              <a:t> </a:t>
            </a:r>
            <a:r>
              <a:rPr spc="-55" dirty="0"/>
              <a:t>arguments</a:t>
            </a:r>
            <a:r>
              <a:rPr spc="5" dirty="0"/>
              <a:t> </a:t>
            </a:r>
            <a:r>
              <a:rPr spc="-20" dirty="0"/>
              <a:t>have </a:t>
            </a:r>
            <a:r>
              <a:rPr spc="-10" dirty="0"/>
              <a:t>multiple,</a:t>
            </a:r>
            <a:r>
              <a:rPr dirty="0"/>
              <a:t> </a:t>
            </a:r>
            <a:r>
              <a:rPr spc="-55" dirty="0"/>
              <a:t>nested</a:t>
            </a:r>
            <a:r>
              <a:rPr dirty="0"/>
              <a:t> </a:t>
            </a:r>
            <a:r>
              <a:rPr spc="-55" dirty="0"/>
              <a:t>heads.</a:t>
            </a:r>
            <a:r>
              <a:rPr spc="100" dirty="0"/>
              <a:t> </a:t>
            </a:r>
            <a:r>
              <a:rPr spc="-50" dirty="0"/>
              <a:t>When</a:t>
            </a:r>
            <a:r>
              <a:rPr dirty="0"/>
              <a:t> </a:t>
            </a:r>
            <a:r>
              <a:rPr spc="-45" dirty="0"/>
              <a:t>you</a:t>
            </a:r>
            <a:r>
              <a:rPr spc="5" dirty="0"/>
              <a:t> </a:t>
            </a:r>
            <a:r>
              <a:rPr spc="-30" dirty="0"/>
              <a:t>apply</a:t>
            </a:r>
            <a:r>
              <a:rPr dirty="0"/>
              <a:t> it </a:t>
            </a:r>
            <a:r>
              <a:rPr spc="-70" dirty="0"/>
              <a:t>once</a:t>
            </a:r>
            <a:r>
              <a:rPr spc="5" dirty="0"/>
              <a:t> </a:t>
            </a:r>
            <a:r>
              <a:rPr spc="-45" dirty="0"/>
              <a:t>and</a:t>
            </a:r>
            <a:r>
              <a:rPr dirty="0"/>
              <a:t> </a:t>
            </a:r>
            <a:r>
              <a:rPr spc="-35" dirty="0"/>
              <a:t>eliminate</a:t>
            </a:r>
            <a:r>
              <a:rPr dirty="0"/>
              <a:t> </a:t>
            </a:r>
            <a:r>
              <a:rPr spc="-25" dirty="0"/>
              <a:t>the </a:t>
            </a:r>
            <a:r>
              <a:rPr dirty="0"/>
              <a:t>first</a:t>
            </a:r>
            <a:r>
              <a:rPr spc="-50" dirty="0"/>
              <a:t> </a:t>
            </a:r>
            <a:r>
              <a:rPr dirty="0"/>
              <a:t>(leftmost)</a:t>
            </a:r>
            <a:r>
              <a:rPr spc="-15" dirty="0"/>
              <a:t> </a:t>
            </a:r>
            <a:r>
              <a:rPr spc="-50" dirty="0"/>
              <a:t>head,</a:t>
            </a:r>
            <a:r>
              <a:rPr spc="-1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10" dirty="0"/>
              <a:t>next</a:t>
            </a:r>
            <a:r>
              <a:rPr spc="-15" dirty="0"/>
              <a:t> </a:t>
            </a:r>
            <a:r>
              <a:rPr spc="-65" dirty="0"/>
              <a:t>one</a:t>
            </a:r>
            <a:r>
              <a:rPr spc="-10" dirty="0"/>
              <a:t> is</a:t>
            </a:r>
            <a:r>
              <a:rPr spc="-15" dirty="0"/>
              <a:t> </a:t>
            </a:r>
            <a:r>
              <a:rPr spc="-40" dirty="0"/>
              <a:t>applied</a:t>
            </a:r>
            <a:r>
              <a:rPr spc="-15" dirty="0"/>
              <a:t> </a:t>
            </a:r>
            <a:r>
              <a:rPr spc="-45" dirty="0"/>
              <a:t>and</a:t>
            </a:r>
            <a:r>
              <a:rPr spc="-15" dirty="0"/>
              <a:t> </a:t>
            </a:r>
            <a:r>
              <a:rPr spc="-85" dirty="0"/>
              <a:t>so</a:t>
            </a:r>
            <a:r>
              <a:rPr spc="10" dirty="0"/>
              <a:t> </a:t>
            </a:r>
            <a:r>
              <a:rPr dirty="0"/>
              <a:t>on.</a:t>
            </a:r>
            <a:r>
              <a:rPr spc="80" dirty="0"/>
              <a:t> </a:t>
            </a:r>
            <a:r>
              <a:rPr spc="-20" dirty="0"/>
              <a:t>This</a:t>
            </a:r>
            <a:r>
              <a:rPr spc="500" dirty="0"/>
              <a:t> </a:t>
            </a:r>
            <a:r>
              <a:rPr spc="-85" dirty="0"/>
              <a:t>means</a:t>
            </a:r>
            <a:r>
              <a:rPr spc="20" dirty="0"/>
              <a:t> </a:t>
            </a:r>
            <a:r>
              <a:rPr dirty="0"/>
              <a:t>that</a:t>
            </a:r>
            <a:r>
              <a:rPr spc="25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10" dirty="0"/>
              <a:t>following</a:t>
            </a:r>
          </a:p>
          <a:p>
            <a:pPr marR="6985" algn="ctr">
              <a:lnSpc>
                <a:spcPct val="100000"/>
              </a:lnSpc>
              <a:spcBef>
                <a:spcPts val="930"/>
              </a:spcBef>
            </a:pPr>
            <a:r>
              <a:rPr i="1" spc="-10" dirty="0">
                <a:latin typeface="Times New Roman"/>
                <a:cs typeface="Times New Roman"/>
              </a:rPr>
              <a:t>λ</a:t>
            </a:r>
            <a:r>
              <a:rPr i="1" spc="-10" dirty="0">
                <a:latin typeface="Arial"/>
                <a:cs typeface="Arial"/>
              </a:rPr>
              <a:t>xy</a:t>
            </a:r>
            <a:r>
              <a:rPr i="1" spc="-10" dirty="0">
                <a:latin typeface="Times New Roman"/>
                <a:cs typeface="Times New Roman"/>
              </a:rPr>
              <a:t>.</a:t>
            </a:r>
            <a:r>
              <a:rPr i="1" spc="-10" dirty="0">
                <a:latin typeface="Arial"/>
                <a:cs typeface="Arial"/>
              </a:rPr>
              <a:t>xy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E2C6C71-F5D6-808E-B9FB-4C1D9490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14</a:t>
            </a:fld>
            <a:endParaRPr lang="en-US" sz="706" dirty="0"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034" y="504527"/>
            <a:ext cx="3477003" cy="2966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51840">
              <a:lnSpc>
                <a:spcPct val="100000"/>
              </a:lnSpc>
              <a:spcBef>
                <a:spcPts val="135"/>
              </a:spcBef>
            </a:pPr>
            <a:r>
              <a:rPr b="1" spc="210" dirty="0"/>
              <a:t>Multiple</a:t>
            </a:r>
            <a:r>
              <a:rPr b="1" spc="204" dirty="0"/>
              <a:t> </a:t>
            </a:r>
            <a:r>
              <a:rPr b="1" spc="185" dirty="0"/>
              <a:t>Arguments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268922" y="1179255"/>
            <a:ext cx="4017327" cy="187083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3190" marR="5080" indent="-285750">
              <a:lnSpc>
                <a:spcPct val="102600"/>
              </a:lnSpc>
              <a:spcBef>
                <a:spcPts val="55"/>
              </a:spcBef>
              <a:buFont typeface="Wingdings" pitchFamily="2" charset="2"/>
              <a:buChar char="q"/>
            </a:pPr>
            <a:r>
              <a:rPr spc="-65" dirty="0"/>
              <a:t>Each</a:t>
            </a:r>
            <a:r>
              <a:rPr spc="-10" dirty="0"/>
              <a:t> </a:t>
            </a:r>
            <a:r>
              <a:rPr spc="-40" dirty="0"/>
              <a:t>lambda</a:t>
            </a:r>
            <a:r>
              <a:rPr spc="-35" dirty="0"/>
              <a:t> </a:t>
            </a:r>
            <a:r>
              <a:rPr spc="-50" dirty="0"/>
              <a:t>can</a:t>
            </a:r>
            <a:r>
              <a:rPr spc="-25" dirty="0"/>
              <a:t> </a:t>
            </a:r>
            <a:r>
              <a:rPr spc="-20" dirty="0"/>
              <a:t>only</a:t>
            </a:r>
            <a:r>
              <a:rPr spc="-30" dirty="0"/>
              <a:t> </a:t>
            </a:r>
            <a:r>
              <a:rPr spc="-10" dirty="0"/>
              <a:t>bind</a:t>
            </a:r>
            <a:r>
              <a:rPr spc="-20" dirty="0"/>
              <a:t> </a:t>
            </a:r>
            <a:r>
              <a:rPr spc="-70" dirty="0"/>
              <a:t>one</a:t>
            </a:r>
            <a:r>
              <a:rPr spc="-5" dirty="0"/>
              <a:t> </a:t>
            </a:r>
            <a:r>
              <a:rPr spc="-45" dirty="0"/>
              <a:t>parameter</a:t>
            </a:r>
            <a:r>
              <a:rPr spc="-20" dirty="0"/>
              <a:t> </a:t>
            </a:r>
            <a:r>
              <a:rPr spc="-45" dirty="0"/>
              <a:t>and</a:t>
            </a:r>
            <a:r>
              <a:rPr spc="-25" dirty="0"/>
              <a:t> </a:t>
            </a:r>
            <a:r>
              <a:rPr spc="-50" dirty="0"/>
              <a:t>can</a:t>
            </a:r>
            <a:r>
              <a:rPr spc="-20" dirty="0"/>
              <a:t> only </a:t>
            </a:r>
            <a:r>
              <a:rPr spc="-50" dirty="0"/>
              <a:t>accept</a:t>
            </a:r>
            <a:r>
              <a:rPr spc="-20" dirty="0"/>
              <a:t> </a:t>
            </a:r>
            <a:r>
              <a:rPr spc="-25" dirty="0"/>
              <a:t>one </a:t>
            </a:r>
            <a:r>
              <a:rPr spc="-30" dirty="0"/>
              <a:t>argument.</a:t>
            </a:r>
            <a:r>
              <a:rPr spc="105" dirty="0"/>
              <a:t> </a:t>
            </a:r>
            <a:r>
              <a:rPr spc="-40" dirty="0"/>
              <a:t>Functions</a:t>
            </a:r>
            <a:r>
              <a:rPr spc="5" dirty="0"/>
              <a:t> </a:t>
            </a:r>
            <a:r>
              <a:rPr dirty="0"/>
              <a:t>that</a:t>
            </a:r>
            <a:r>
              <a:rPr spc="5" dirty="0"/>
              <a:t> </a:t>
            </a:r>
            <a:r>
              <a:rPr spc="-40" dirty="0"/>
              <a:t>require</a:t>
            </a:r>
            <a:r>
              <a:rPr spc="5" dirty="0"/>
              <a:t> </a:t>
            </a:r>
            <a:r>
              <a:rPr spc="-10" dirty="0"/>
              <a:t>multiple</a:t>
            </a:r>
            <a:r>
              <a:rPr dirty="0"/>
              <a:t> </a:t>
            </a:r>
            <a:r>
              <a:rPr spc="-55" dirty="0"/>
              <a:t>arguments</a:t>
            </a:r>
            <a:r>
              <a:rPr spc="5" dirty="0"/>
              <a:t> </a:t>
            </a:r>
            <a:r>
              <a:rPr spc="-20" dirty="0"/>
              <a:t>have </a:t>
            </a:r>
            <a:r>
              <a:rPr spc="-10" dirty="0"/>
              <a:t>multiple,</a:t>
            </a:r>
            <a:r>
              <a:rPr dirty="0"/>
              <a:t> </a:t>
            </a:r>
            <a:r>
              <a:rPr spc="-55" dirty="0"/>
              <a:t>nested</a:t>
            </a:r>
            <a:r>
              <a:rPr dirty="0"/>
              <a:t> </a:t>
            </a:r>
            <a:r>
              <a:rPr spc="-55" dirty="0"/>
              <a:t>heads.</a:t>
            </a:r>
            <a:r>
              <a:rPr spc="100" dirty="0"/>
              <a:t> </a:t>
            </a:r>
            <a:r>
              <a:rPr spc="-50" dirty="0"/>
              <a:t>When</a:t>
            </a:r>
            <a:r>
              <a:rPr dirty="0"/>
              <a:t> </a:t>
            </a:r>
            <a:r>
              <a:rPr spc="-45" dirty="0"/>
              <a:t>you</a:t>
            </a:r>
            <a:r>
              <a:rPr spc="5" dirty="0"/>
              <a:t> </a:t>
            </a:r>
            <a:r>
              <a:rPr spc="-30" dirty="0"/>
              <a:t>apply</a:t>
            </a:r>
            <a:r>
              <a:rPr dirty="0"/>
              <a:t> it </a:t>
            </a:r>
            <a:r>
              <a:rPr spc="-70" dirty="0"/>
              <a:t>once</a:t>
            </a:r>
            <a:r>
              <a:rPr spc="5" dirty="0"/>
              <a:t> </a:t>
            </a:r>
            <a:r>
              <a:rPr spc="-45" dirty="0"/>
              <a:t>and</a:t>
            </a:r>
            <a:r>
              <a:rPr dirty="0"/>
              <a:t> </a:t>
            </a:r>
            <a:r>
              <a:rPr spc="-35" dirty="0"/>
              <a:t>eliminate</a:t>
            </a:r>
            <a:r>
              <a:rPr dirty="0"/>
              <a:t> </a:t>
            </a:r>
            <a:r>
              <a:rPr spc="-25" dirty="0"/>
              <a:t>the </a:t>
            </a:r>
            <a:r>
              <a:rPr dirty="0"/>
              <a:t>first</a:t>
            </a:r>
            <a:r>
              <a:rPr spc="-50" dirty="0"/>
              <a:t> </a:t>
            </a:r>
            <a:r>
              <a:rPr dirty="0"/>
              <a:t>(leftmost)</a:t>
            </a:r>
            <a:r>
              <a:rPr spc="-15" dirty="0"/>
              <a:t> </a:t>
            </a:r>
            <a:r>
              <a:rPr spc="-50" dirty="0"/>
              <a:t>head,</a:t>
            </a:r>
            <a:r>
              <a:rPr spc="-1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10" dirty="0"/>
              <a:t>next</a:t>
            </a:r>
            <a:r>
              <a:rPr spc="-15" dirty="0"/>
              <a:t> </a:t>
            </a:r>
            <a:r>
              <a:rPr spc="-65" dirty="0"/>
              <a:t>one</a:t>
            </a:r>
            <a:r>
              <a:rPr spc="-10" dirty="0"/>
              <a:t> is</a:t>
            </a:r>
            <a:r>
              <a:rPr spc="-15" dirty="0"/>
              <a:t> </a:t>
            </a:r>
            <a:r>
              <a:rPr spc="-40" dirty="0"/>
              <a:t>applied</a:t>
            </a:r>
            <a:r>
              <a:rPr spc="-15" dirty="0"/>
              <a:t> </a:t>
            </a:r>
            <a:r>
              <a:rPr spc="-45" dirty="0"/>
              <a:t>and</a:t>
            </a:r>
            <a:r>
              <a:rPr spc="-15" dirty="0"/>
              <a:t> </a:t>
            </a:r>
            <a:r>
              <a:rPr spc="-85" dirty="0"/>
              <a:t>so</a:t>
            </a:r>
            <a:r>
              <a:rPr spc="10" dirty="0"/>
              <a:t> </a:t>
            </a:r>
            <a:r>
              <a:rPr dirty="0"/>
              <a:t>on.</a:t>
            </a:r>
            <a:r>
              <a:rPr spc="80" dirty="0"/>
              <a:t> </a:t>
            </a:r>
            <a:r>
              <a:rPr spc="-20" dirty="0"/>
              <a:t>This</a:t>
            </a:r>
            <a:r>
              <a:rPr spc="500" dirty="0"/>
              <a:t> </a:t>
            </a:r>
            <a:r>
              <a:rPr spc="-85" dirty="0"/>
              <a:t>means</a:t>
            </a:r>
            <a:r>
              <a:rPr spc="20" dirty="0"/>
              <a:t> </a:t>
            </a:r>
            <a:r>
              <a:rPr dirty="0"/>
              <a:t>that</a:t>
            </a:r>
            <a:r>
              <a:rPr spc="25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10" dirty="0"/>
              <a:t>following</a:t>
            </a:r>
          </a:p>
          <a:p>
            <a:pPr marR="6985" algn="ctr">
              <a:lnSpc>
                <a:spcPct val="100000"/>
              </a:lnSpc>
              <a:spcBef>
                <a:spcPts val="930"/>
              </a:spcBef>
              <a:buFont typeface="Wingdings" pitchFamily="2" charset="2"/>
              <a:buChar char="q"/>
            </a:pPr>
            <a:r>
              <a:rPr i="1" spc="-10" dirty="0">
                <a:latin typeface="Times New Roman"/>
                <a:cs typeface="Times New Roman"/>
              </a:rPr>
              <a:t>λ</a:t>
            </a:r>
            <a:r>
              <a:rPr i="1" spc="-10" dirty="0">
                <a:latin typeface="Arial"/>
                <a:cs typeface="Arial"/>
              </a:rPr>
              <a:t>xy</a:t>
            </a:r>
            <a:r>
              <a:rPr i="1" spc="-10" dirty="0">
                <a:latin typeface="Times New Roman"/>
                <a:cs typeface="Times New Roman"/>
              </a:rPr>
              <a:t>.</a:t>
            </a:r>
            <a:r>
              <a:rPr i="1" spc="-10" dirty="0">
                <a:latin typeface="Arial"/>
                <a:cs typeface="Arial"/>
              </a:rPr>
              <a:t>xy</a:t>
            </a:r>
          </a:p>
          <a:p>
            <a:pPr marL="183190" indent="-285750">
              <a:lnSpc>
                <a:spcPct val="100000"/>
              </a:lnSpc>
              <a:spcBef>
                <a:spcPts val="935"/>
              </a:spcBef>
              <a:buFont typeface="Wingdings" pitchFamily="2" charset="2"/>
              <a:buChar char="q"/>
            </a:pPr>
            <a:r>
              <a:rPr spc="-10" dirty="0"/>
              <a:t>is</a:t>
            </a:r>
            <a:r>
              <a:rPr spc="-30" dirty="0"/>
              <a:t> </a:t>
            </a:r>
            <a:r>
              <a:rPr spc="-35" dirty="0"/>
              <a:t>simply</a:t>
            </a:r>
            <a:r>
              <a:rPr spc="-15" dirty="0"/>
              <a:t> </a:t>
            </a:r>
            <a:r>
              <a:rPr spc="-20" dirty="0"/>
              <a:t>syntactic </a:t>
            </a:r>
            <a:r>
              <a:rPr spc="-70" dirty="0"/>
              <a:t>sugar</a:t>
            </a:r>
            <a:r>
              <a:rPr spc="-5" dirty="0"/>
              <a:t> </a:t>
            </a:r>
            <a:r>
              <a:rPr spc="-25" dirty="0"/>
              <a:t>for</a:t>
            </a:r>
          </a:p>
          <a:p>
            <a:pPr algn="ctr">
              <a:lnSpc>
                <a:spcPct val="100000"/>
              </a:lnSpc>
              <a:spcBef>
                <a:spcPts val="930"/>
              </a:spcBef>
              <a:buFont typeface="Wingdings" pitchFamily="2" charset="2"/>
              <a:buChar char="q"/>
            </a:pPr>
            <a:r>
              <a:rPr i="1" spc="50" dirty="0">
                <a:latin typeface="Times New Roman"/>
                <a:cs typeface="Times New Roman"/>
              </a:rPr>
              <a:t>λ</a:t>
            </a:r>
            <a:r>
              <a:rPr i="1" spc="50" dirty="0">
                <a:latin typeface="Arial"/>
                <a:cs typeface="Arial"/>
              </a:rPr>
              <a:t>x</a:t>
            </a:r>
            <a:r>
              <a:rPr i="1" spc="-170" dirty="0">
                <a:latin typeface="Arial"/>
                <a:cs typeface="Arial"/>
              </a:rPr>
              <a:t> </a:t>
            </a:r>
            <a:r>
              <a:rPr spc="20" dirty="0"/>
              <a:t>(</a:t>
            </a:r>
            <a:r>
              <a:rPr i="1" spc="20" dirty="0">
                <a:latin typeface="Times New Roman"/>
                <a:cs typeface="Times New Roman"/>
              </a:rPr>
              <a:t>λ</a:t>
            </a:r>
            <a:r>
              <a:rPr i="1" spc="20" dirty="0">
                <a:latin typeface="Arial"/>
                <a:cs typeface="Arial"/>
              </a:rPr>
              <a:t>y</a:t>
            </a:r>
            <a:r>
              <a:rPr i="1" spc="20" dirty="0">
                <a:latin typeface="Times New Roman"/>
                <a:cs typeface="Times New Roman"/>
              </a:rPr>
              <a:t>.</a:t>
            </a:r>
            <a:r>
              <a:rPr i="1" spc="20" dirty="0">
                <a:latin typeface="Arial"/>
                <a:cs typeface="Arial"/>
              </a:rPr>
              <a:t>xy</a:t>
            </a:r>
            <a:r>
              <a:rPr i="1" spc="-140" dirty="0">
                <a:latin typeface="Arial"/>
                <a:cs typeface="Arial"/>
              </a:rPr>
              <a:t> </a:t>
            </a:r>
            <a:r>
              <a:rPr spc="5" dirty="0"/>
              <a:t>)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8798F0F-B732-21F5-21F5-B2E7D8BF1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15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034" y="364874"/>
            <a:ext cx="3477003" cy="57592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59105">
              <a:lnSpc>
                <a:spcPct val="100000"/>
              </a:lnSpc>
              <a:spcBef>
                <a:spcPts val="135"/>
              </a:spcBef>
            </a:pPr>
            <a:r>
              <a:rPr b="1" spc="145" dirty="0"/>
              <a:t>Lambda</a:t>
            </a:r>
            <a:r>
              <a:rPr b="1" spc="200" dirty="0"/>
              <a:t> Caculus</a:t>
            </a:r>
            <a:r>
              <a:rPr b="1" spc="204" dirty="0"/>
              <a:t> </a:t>
            </a:r>
            <a:r>
              <a:rPr b="1" spc="105" dirty="0"/>
              <a:t>in</a:t>
            </a:r>
            <a:r>
              <a:rPr b="1" spc="204" dirty="0"/>
              <a:t> </a:t>
            </a:r>
            <a:r>
              <a:rPr b="1" spc="215" dirty="0"/>
              <a:t>Haskell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7466" y="1092304"/>
            <a:ext cx="28251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How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do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95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write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lambda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80" dirty="0">
                <a:solidFill>
                  <a:srgbClr val="FFFFFF"/>
                </a:solidFill>
                <a:latin typeface="Arial"/>
                <a:cs typeface="Arial"/>
              </a:rPr>
              <a:t>expressions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Haskell?</a:t>
            </a:r>
            <a:endParaRPr sz="11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7466" y="1359535"/>
          <a:ext cx="4192903" cy="868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5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05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pPr marL="283845">
                        <a:lnSpc>
                          <a:spcPts val="1190"/>
                        </a:lnSpc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Named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3622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Function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Lambda</a:t>
                      </a:r>
                      <a:r>
                        <a:rPr sz="1100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Calculus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(maths)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Lambda</a:t>
                      </a:r>
                      <a:r>
                        <a:rPr sz="1100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Calculus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(Haskell)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Result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1100" i="1" spc="2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100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100" spc="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λ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8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100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1)</a:t>
                      </a:r>
                      <a:r>
                        <a:rPr sz="1100" spc="10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\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420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→</a:t>
                      </a:r>
                      <a:r>
                        <a:rPr sz="1100" i="1" spc="-360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 </a:t>
                      </a:r>
                      <a:r>
                        <a:rPr sz="1100" spc="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1)</a:t>
                      </a:r>
                      <a:r>
                        <a:rPr sz="1100" spc="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6985" algn="ctr">
                        <a:lnSpc>
                          <a:spcPts val="1175"/>
                        </a:lnSpc>
                      </a:pP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1100" i="1" spc="2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1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100" i="1" spc="9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125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∗</a:t>
                      </a:r>
                      <a:r>
                        <a:rPr sz="1100" i="1" spc="-420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 </a:t>
                      </a:r>
                      <a:r>
                        <a:rPr sz="1100" i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100" spc="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λ</a:t>
                      </a:r>
                      <a:r>
                        <a:rPr sz="1100" i="1" spc="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1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125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∗</a:t>
                      </a:r>
                      <a:r>
                        <a:rPr sz="1100" i="1" spc="-420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 </a:t>
                      </a:r>
                      <a:r>
                        <a:rPr sz="1100" i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100" i="1" spc="-19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)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100" spc="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\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100" i="1" spc="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420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→</a:t>
                      </a:r>
                      <a:r>
                        <a:rPr sz="1100" i="1" spc="-360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125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∗</a:t>
                      </a:r>
                      <a:r>
                        <a:rPr sz="1100" i="1" spc="-420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 </a:t>
                      </a:r>
                      <a:r>
                        <a:rPr sz="1100" i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100" i="1" spc="-19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)</a:t>
                      </a:r>
                      <a:r>
                        <a:rPr sz="1100" spc="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100" spc="3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R="2540" algn="ctr">
                        <a:lnSpc>
                          <a:spcPts val="1175"/>
                        </a:lnSpc>
                      </a:pP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1100" i="1" spc="29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xs</a:t>
                      </a:r>
                      <a:r>
                        <a:rPr sz="1100" i="1" spc="9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‘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‘ :</a:t>
                      </a:r>
                      <a:r>
                        <a:rPr sz="1100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100" spc="8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λ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xs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‘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‘</a:t>
                      </a:r>
                      <a:r>
                        <a:rPr sz="1100" spc="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xs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)</a:t>
                      </a:r>
                      <a:r>
                        <a:rPr sz="1100" spc="484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”at”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100" i="1" spc="-35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\</a:t>
                      </a:r>
                      <a:r>
                        <a:rPr sz="1100" i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xs</a:t>
                      </a:r>
                      <a:r>
                        <a:rPr sz="1100" i="1" spc="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420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→</a:t>
                      </a:r>
                      <a:r>
                        <a:rPr sz="1100" i="1" spc="-360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‘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‘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xs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)</a:t>
                      </a:r>
                      <a:r>
                        <a:rPr sz="1100" spc="409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”at”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”cat”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47294" y="2306572"/>
            <a:ext cx="3938956" cy="3443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Lambda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functions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85" dirty="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extensively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in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Haskell,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notably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Higher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Order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Functions.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74A15A12-28A7-6D30-C741-564B86D19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16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67995">
              <a:lnSpc>
                <a:spcPct val="100000"/>
              </a:lnSpc>
              <a:spcBef>
                <a:spcPts val="135"/>
              </a:spcBef>
            </a:pPr>
            <a:r>
              <a:rPr spc="180" dirty="0"/>
              <a:t>Encoding</a:t>
            </a:r>
            <a:r>
              <a:rPr spc="200" dirty="0"/>
              <a:t> </a:t>
            </a:r>
            <a:r>
              <a:rPr spc="145" dirty="0"/>
              <a:t>Lambda</a:t>
            </a:r>
            <a:r>
              <a:rPr spc="204" dirty="0"/>
              <a:t> </a:t>
            </a:r>
            <a:r>
              <a:rPr spc="215" dirty="0"/>
              <a:t>Calculus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268923" y="1179255"/>
            <a:ext cx="3472392" cy="150060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82575" marR="197485" indent="-171450">
              <a:lnSpc>
                <a:spcPct val="102600"/>
              </a:lnSpc>
              <a:spcBef>
                <a:spcPts val="55"/>
              </a:spcBef>
              <a:buFont typeface="Wingdings" pitchFamily="2" charset="2"/>
              <a:buChar char="q"/>
            </a:pPr>
            <a:r>
              <a:rPr sz="1100" spc="-30" dirty="0"/>
              <a:t>Alonzo </a:t>
            </a:r>
            <a:r>
              <a:rPr sz="1100" spc="-40" dirty="0"/>
              <a:t>Church</a:t>
            </a:r>
            <a:r>
              <a:rPr sz="1100" spc="-30" dirty="0"/>
              <a:t> </a:t>
            </a:r>
            <a:r>
              <a:rPr sz="1100" spc="-10" dirty="0"/>
              <a:t>is</a:t>
            </a:r>
            <a:r>
              <a:rPr sz="1100" spc="-25" dirty="0"/>
              <a:t> </a:t>
            </a:r>
            <a:r>
              <a:rPr sz="1100" spc="-40" dirty="0"/>
              <a:t>probably</a:t>
            </a:r>
            <a:r>
              <a:rPr sz="1100" spc="-30" dirty="0"/>
              <a:t> </a:t>
            </a:r>
            <a:r>
              <a:rPr sz="1100" spc="-20" dirty="0"/>
              <a:t>most</a:t>
            </a:r>
            <a:r>
              <a:rPr sz="1100" spc="-30" dirty="0"/>
              <a:t> </a:t>
            </a:r>
            <a:r>
              <a:rPr sz="1100" spc="-25" dirty="0"/>
              <a:t>well </a:t>
            </a:r>
            <a:r>
              <a:rPr sz="1100" spc="-40" dirty="0"/>
              <a:t>known</a:t>
            </a:r>
            <a:r>
              <a:rPr sz="1100" spc="-30" dirty="0"/>
              <a:t> </a:t>
            </a:r>
            <a:r>
              <a:rPr sz="1100" dirty="0"/>
              <a:t>for</a:t>
            </a:r>
            <a:r>
              <a:rPr sz="1100" spc="-30" dirty="0"/>
              <a:t> </a:t>
            </a:r>
            <a:r>
              <a:rPr sz="1100" spc="-20" dirty="0"/>
              <a:t>inventing </a:t>
            </a:r>
            <a:r>
              <a:rPr sz="1100" spc="-40" dirty="0"/>
              <a:t>lambda</a:t>
            </a:r>
            <a:r>
              <a:rPr sz="1100" spc="-15" dirty="0"/>
              <a:t> </a:t>
            </a:r>
            <a:r>
              <a:rPr sz="1100" spc="-10" dirty="0"/>
              <a:t>calculus,</a:t>
            </a:r>
            <a:endParaRPr sz="1100" dirty="0">
              <a:latin typeface="Lucida Grande"/>
              <a:cs typeface="Lucida Grande"/>
            </a:endParaRPr>
          </a:p>
          <a:p>
            <a:pPr marL="282575" indent="-171450">
              <a:lnSpc>
                <a:spcPct val="100000"/>
              </a:lnSpc>
              <a:spcBef>
                <a:spcPts val="335"/>
              </a:spcBef>
              <a:buFont typeface="Wingdings" pitchFamily="2" charset="2"/>
              <a:buChar char="q"/>
            </a:pPr>
            <a:r>
              <a:rPr sz="1100" spc="-40" dirty="0"/>
              <a:t>Church</a:t>
            </a:r>
            <a:r>
              <a:rPr sz="1100" spc="-5" dirty="0"/>
              <a:t> </a:t>
            </a:r>
            <a:r>
              <a:rPr sz="1100" spc="-60" dirty="0"/>
              <a:t>encodings</a:t>
            </a:r>
            <a:r>
              <a:rPr sz="1100" spc="-10" dirty="0"/>
              <a:t> </a:t>
            </a:r>
            <a:r>
              <a:rPr sz="1100" spc="-75" dirty="0"/>
              <a:t>were</a:t>
            </a:r>
            <a:r>
              <a:rPr sz="1100" dirty="0"/>
              <a:t> </a:t>
            </a:r>
            <a:r>
              <a:rPr sz="1100" spc="-70" dirty="0"/>
              <a:t>developed</a:t>
            </a:r>
            <a:r>
              <a:rPr sz="1100" spc="-5" dirty="0"/>
              <a:t> </a:t>
            </a:r>
            <a:r>
              <a:rPr sz="1100" spc="-10" dirty="0"/>
              <a:t>by </a:t>
            </a:r>
            <a:r>
              <a:rPr sz="1100" spc="-30" dirty="0"/>
              <a:t>Alonzo</a:t>
            </a:r>
            <a:r>
              <a:rPr sz="1100" spc="-10" dirty="0"/>
              <a:t> Church</a:t>
            </a:r>
            <a:endParaRPr sz="1100" dirty="0">
              <a:latin typeface="Lucida Grande"/>
              <a:cs typeface="Lucida Grande"/>
            </a:endParaRPr>
          </a:p>
          <a:p>
            <a:pPr marL="282575" marR="30480" indent="-171450">
              <a:lnSpc>
                <a:spcPct val="102600"/>
              </a:lnSpc>
              <a:spcBef>
                <a:spcPts val="300"/>
              </a:spcBef>
              <a:buFont typeface="Wingdings" pitchFamily="2" charset="2"/>
              <a:buChar char="q"/>
            </a:pPr>
            <a:r>
              <a:rPr sz="1100" spc="-40" dirty="0"/>
              <a:t>Church</a:t>
            </a:r>
            <a:r>
              <a:rPr sz="1100" spc="-10" dirty="0"/>
              <a:t> </a:t>
            </a:r>
            <a:r>
              <a:rPr sz="1100" spc="-60" dirty="0"/>
              <a:t>encodings</a:t>
            </a:r>
            <a:r>
              <a:rPr sz="1100" spc="-5" dirty="0"/>
              <a:t> </a:t>
            </a:r>
            <a:r>
              <a:rPr sz="1100" spc="-60" dirty="0"/>
              <a:t>are</a:t>
            </a:r>
            <a:r>
              <a:rPr sz="1100" spc="-10" dirty="0"/>
              <a:t> </a:t>
            </a:r>
            <a:r>
              <a:rPr sz="1100" dirty="0"/>
              <a:t>a</a:t>
            </a:r>
            <a:r>
              <a:rPr sz="1100" spc="-10" dirty="0"/>
              <a:t> </a:t>
            </a:r>
            <a:r>
              <a:rPr sz="1100" spc="-35" dirty="0"/>
              <a:t>very</a:t>
            </a:r>
            <a:r>
              <a:rPr sz="1100" spc="-5" dirty="0"/>
              <a:t> </a:t>
            </a:r>
            <a:r>
              <a:rPr sz="1100" spc="-30" dirty="0"/>
              <a:t>interesting</a:t>
            </a:r>
            <a:r>
              <a:rPr sz="1100" spc="-10" dirty="0"/>
              <a:t> </a:t>
            </a:r>
            <a:r>
              <a:rPr sz="1100" spc="-55" dirty="0"/>
              <a:t>development</a:t>
            </a:r>
            <a:r>
              <a:rPr sz="1100" spc="-10" dirty="0"/>
              <a:t> </a:t>
            </a:r>
            <a:r>
              <a:rPr sz="1100" spc="-35" dirty="0"/>
              <a:t>arising </a:t>
            </a:r>
            <a:r>
              <a:rPr sz="1100" dirty="0"/>
              <a:t>from</a:t>
            </a:r>
            <a:r>
              <a:rPr sz="1100" spc="-25" dirty="0"/>
              <a:t> </a:t>
            </a:r>
            <a:r>
              <a:rPr sz="1100" spc="-40" dirty="0"/>
              <a:t>lambda</a:t>
            </a:r>
            <a:r>
              <a:rPr sz="1100" spc="-25" dirty="0"/>
              <a:t> </a:t>
            </a:r>
            <a:r>
              <a:rPr sz="1100" spc="-10" dirty="0"/>
              <a:t>calculus,</a:t>
            </a:r>
            <a:endParaRPr sz="1100" dirty="0">
              <a:latin typeface="Lucida Grande"/>
              <a:cs typeface="Lucida Grande"/>
            </a:endParaRPr>
          </a:p>
          <a:p>
            <a:pPr marL="282575" marR="401955" indent="-171450">
              <a:lnSpc>
                <a:spcPct val="102699"/>
              </a:lnSpc>
              <a:spcBef>
                <a:spcPts val="295"/>
              </a:spcBef>
              <a:buFont typeface="Wingdings" pitchFamily="2" charset="2"/>
              <a:buChar char="q"/>
            </a:pPr>
            <a:r>
              <a:rPr sz="1100" spc="-40" dirty="0"/>
              <a:t>Church</a:t>
            </a:r>
            <a:r>
              <a:rPr sz="1100" dirty="0"/>
              <a:t> </a:t>
            </a:r>
            <a:r>
              <a:rPr sz="1100" spc="-20" dirty="0"/>
              <a:t>found</a:t>
            </a:r>
            <a:r>
              <a:rPr sz="1100" dirty="0"/>
              <a:t> out that </a:t>
            </a:r>
            <a:r>
              <a:rPr sz="1100" spc="-55" dirty="0"/>
              <a:t>every</a:t>
            </a:r>
            <a:r>
              <a:rPr sz="1100" dirty="0"/>
              <a:t> </a:t>
            </a:r>
            <a:r>
              <a:rPr sz="1100" spc="-40" dirty="0"/>
              <a:t>concept</a:t>
            </a:r>
            <a:r>
              <a:rPr sz="1100" dirty="0"/>
              <a:t> in </a:t>
            </a:r>
            <a:r>
              <a:rPr sz="1100" spc="-40" dirty="0"/>
              <a:t>programming </a:t>
            </a:r>
            <a:r>
              <a:rPr sz="1100" spc="-75" dirty="0"/>
              <a:t>languages</a:t>
            </a:r>
            <a:r>
              <a:rPr sz="1100" dirty="0"/>
              <a:t> </a:t>
            </a:r>
            <a:r>
              <a:rPr sz="1100" spc="-45" dirty="0"/>
              <a:t>can</a:t>
            </a:r>
            <a:r>
              <a:rPr sz="1100" spc="-15" dirty="0"/>
              <a:t> </a:t>
            </a:r>
            <a:r>
              <a:rPr sz="1100" spc="-30" dirty="0"/>
              <a:t>be</a:t>
            </a:r>
            <a:r>
              <a:rPr sz="1100" spc="-5" dirty="0"/>
              <a:t> </a:t>
            </a:r>
            <a:r>
              <a:rPr sz="1100" spc="-60" dirty="0"/>
              <a:t>represented</a:t>
            </a:r>
            <a:r>
              <a:rPr sz="1100" spc="-10" dirty="0"/>
              <a:t> </a:t>
            </a:r>
            <a:r>
              <a:rPr sz="1100" spc="-50" dirty="0"/>
              <a:t>using</a:t>
            </a:r>
            <a:r>
              <a:rPr sz="1100" spc="-5" dirty="0"/>
              <a:t> </a:t>
            </a:r>
            <a:r>
              <a:rPr sz="1100" spc="-10" dirty="0"/>
              <a:t>functions!</a:t>
            </a:r>
            <a:endParaRPr sz="1100" dirty="0">
              <a:latin typeface="Lucida Grande"/>
              <a:cs typeface="Lucida Grande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85F2B062-98F5-E80E-ED07-0ED3B0CEC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17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67995">
              <a:lnSpc>
                <a:spcPct val="100000"/>
              </a:lnSpc>
              <a:spcBef>
                <a:spcPts val="135"/>
              </a:spcBef>
            </a:pPr>
            <a:r>
              <a:rPr spc="180" dirty="0"/>
              <a:t>Encoding</a:t>
            </a:r>
            <a:r>
              <a:rPr spc="200" dirty="0"/>
              <a:t> </a:t>
            </a:r>
            <a:r>
              <a:rPr spc="145" dirty="0"/>
              <a:t>Lambda</a:t>
            </a:r>
            <a:r>
              <a:rPr spc="204" dirty="0"/>
              <a:t> </a:t>
            </a:r>
            <a:r>
              <a:rPr spc="215" dirty="0"/>
              <a:t>Calculus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861579"/>
            <a:ext cx="3865879" cy="18923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36550" indent="-177165">
              <a:lnSpc>
                <a:spcPct val="102600"/>
              </a:lnSpc>
              <a:spcBef>
                <a:spcPts val="55"/>
              </a:spcBef>
            </a:pPr>
            <a:r>
              <a:rPr sz="1650" baseline="5050" dirty="0">
                <a:solidFill>
                  <a:srgbClr val="3333B2"/>
                </a:solidFill>
                <a:latin typeface="Lucida Grande"/>
                <a:cs typeface="Lucida Grande"/>
              </a:rPr>
              <a:t>▶</a:t>
            </a:r>
            <a:r>
              <a:rPr sz="1650" spc="104" baseline="5050" dirty="0">
                <a:solidFill>
                  <a:srgbClr val="3333B2"/>
                </a:solidFill>
                <a:latin typeface="Lucida Grande"/>
                <a:cs typeface="Lucida Grande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Alonzo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Church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probably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most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well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known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inventing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lambda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calculus,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1650" baseline="5050" dirty="0">
                <a:solidFill>
                  <a:srgbClr val="3333B2"/>
                </a:solidFill>
                <a:latin typeface="Lucida Grande"/>
                <a:cs typeface="Lucida Grande"/>
              </a:rPr>
              <a:t>▶</a:t>
            </a:r>
            <a:r>
              <a:rPr sz="1650" spc="127" baseline="5050" dirty="0">
                <a:solidFill>
                  <a:srgbClr val="3333B2"/>
                </a:solidFill>
                <a:latin typeface="Lucida Grande"/>
                <a:cs typeface="Lucida Grande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Church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encodings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75" dirty="0">
                <a:solidFill>
                  <a:srgbClr val="FFFFFF"/>
                </a:solidFill>
                <a:latin typeface="Arial"/>
                <a:cs typeface="Arial"/>
              </a:rPr>
              <a:t>were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FFFFFF"/>
                </a:solidFill>
                <a:latin typeface="Arial"/>
                <a:cs typeface="Arial"/>
              </a:rPr>
              <a:t>developed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by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Alonzo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Church</a:t>
            </a:r>
            <a:endParaRPr sz="1100">
              <a:latin typeface="Arial"/>
              <a:cs typeface="Arial"/>
            </a:endParaRPr>
          </a:p>
          <a:p>
            <a:pPr marL="214629" marR="16891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3333B2"/>
                </a:solidFill>
                <a:latin typeface="Lucida Grande"/>
                <a:cs typeface="Lucida Grande"/>
              </a:rPr>
              <a:t>▶</a:t>
            </a:r>
            <a:r>
              <a:rPr sz="1650" spc="150" baseline="5050" dirty="0">
                <a:solidFill>
                  <a:srgbClr val="3333B2"/>
                </a:solidFill>
                <a:latin typeface="Lucida Grande"/>
                <a:cs typeface="Lucida Grande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Church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encodings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very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interesting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FFFFFF"/>
                </a:solidFill>
                <a:latin typeface="Arial"/>
                <a:cs typeface="Arial"/>
              </a:rPr>
              <a:t>development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arising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lambda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calculus,</a:t>
            </a:r>
            <a:endParaRPr sz="1100">
              <a:latin typeface="Arial"/>
              <a:cs typeface="Arial"/>
            </a:endParaRPr>
          </a:p>
          <a:p>
            <a:pPr marL="214629" marR="540385" indent="-177165">
              <a:lnSpc>
                <a:spcPct val="102699"/>
              </a:lnSpc>
              <a:spcBef>
                <a:spcPts val="295"/>
              </a:spcBef>
            </a:pPr>
            <a:r>
              <a:rPr sz="1650" baseline="5050" dirty="0">
                <a:solidFill>
                  <a:srgbClr val="3333B2"/>
                </a:solidFill>
                <a:latin typeface="Lucida Grande"/>
                <a:cs typeface="Lucida Grande"/>
              </a:rPr>
              <a:t>▶</a:t>
            </a:r>
            <a:r>
              <a:rPr sz="1650" spc="172" baseline="5050" dirty="0">
                <a:solidFill>
                  <a:srgbClr val="3333B2"/>
                </a:solidFill>
                <a:latin typeface="Lucida Grande"/>
                <a:cs typeface="Lucida Grande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Church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found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out that </a:t>
            </a:r>
            <a:r>
              <a:rPr sz="1100" spc="-55" dirty="0">
                <a:solidFill>
                  <a:srgbClr val="FFFFFF"/>
                </a:solidFill>
                <a:latin typeface="Arial"/>
                <a:cs typeface="Arial"/>
              </a:rPr>
              <a:t>every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concept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in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programming </a:t>
            </a:r>
            <a:r>
              <a:rPr sz="1100" spc="-75" dirty="0">
                <a:solidFill>
                  <a:srgbClr val="FFFFFF"/>
                </a:solidFill>
                <a:latin typeface="Arial"/>
                <a:cs typeface="Arial"/>
              </a:rPr>
              <a:t>languages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represented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functions!</a:t>
            </a:r>
            <a:endParaRPr sz="1100">
              <a:latin typeface="Arial"/>
              <a:cs typeface="Arial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</a:pPr>
            <a:r>
              <a:rPr sz="1650" baseline="5050" dirty="0">
                <a:solidFill>
                  <a:srgbClr val="3333B2"/>
                </a:solidFill>
                <a:latin typeface="Lucida Grande"/>
                <a:cs typeface="Lucida Grande"/>
              </a:rPr>
              <a:t>▶</a:t>
            </a:r>
            <a:r>
              <a:rPr sz="1650" spc="142" baseline="5050" dirty="0">
                <a:solidFill>
                  <a:srgbClr val="3333B2"/>
                </a:solidFill>
                <a:latin typeface="Lucida Grande"/>
                <a:cs typeface="Lucida Grande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Everything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boolean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logic,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conditional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statements, </a:t>
            </a: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numbers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(natural,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integer,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real,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complex,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imaginary),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even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loops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(infinite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loops</a:t>
            </a:r>
            <a:r>
              <a:rPr sz="11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also)!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4636E1F1-D04A-E69F-639F-0542D8E94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18</a:t>
            </a:fld>
            <a:endParaRPr lang="en-US" sz="706" dirty="0"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034" y="364874"/>
            <a:ext cx="3477003" cy="57592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135"/>
              </a:spcBef>
            </a:pPr>
            <a:r>
              <a:rPr b="1" spc="180" dirty="0"/>
              <a:t>Encoding</a:t>
            </a:r>
            <a:r>
              <a:rPr b="1" spc="200" dirty="0"/>
              <a:t> </a:t>
            </a:r>
            <a:r>
              <a:rPr b="1" spc="145" dirty="0"/>
              <a:t>Lambda</a:t>
            </a:r>
            <a:r>
              <a:rPr b="1" spc="204" dirty="0"/>
              <a:t> </a:t>
            </a:r>
            <a:r>
              <a:rPr b="1" spc="200" dirty="0"/>
              <a:t>Calculus..</a:t>
            </a:r>
            <a:r>
              <a:rPr b="1" spc="370" dirty="0"/>
              <a:t> </a:t>
            </a:r>
            <a:r>
              <a:rPr b="1" spc="215" dirty="0"/>
              <a:t>contd.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2450" y="1501775"/>
            <a:ext cx="3276600" cy="115499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506095" indent="-177165">
              <a:lnSpc>
                <a:spcPct val="102600"/>
              </a:lnSpc>
              <a:spcBef>
                <a:spcPts val="55"/>
              </a:spcBef>
              <a:buFont typeface="Wingdings" pitchFamily="2" charset="2"/>
              <a:buChar char="q"/>
            </a:pPr>
            <a:r>
              <a:rPr sz="1400" spc="-80" dirty="0">
                <a:solidFill>
                  <a:srgbClr val="FFFFFF"/>
                </a:solidFill>
                <a:cs typeface="Arial"/>
              </a:rPr>
              <a:t>So</a:t>
            </a:r>
            <a:r>
              <a:rPr sz="14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400" spc="-45" dirty="0">
                <a:solidFill>
                  <a:srgbClr val="FFFFFF"/>
                </a:solidFill>
                <a:cs typeface="Arial"/>
              </a:rPr>
              <a:t>how</a:t>
            </a:r>
            <a:r>
              <a:rPr sz="14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cs typeface="Arial"/>
              </a:rPr>
              <a:t>do</a:t>
            </a:r>
            <a:r>
              <a:rPr sz="14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400" spc="-95" dirty="0">
                <a:solidFill>
                  <a:srgbClr val="FFFFFF"/>
                </a:solidFill>
                <a:cs typeface="Arial"/>
              </a:rPr>
              <a:t>we</a:t>
            </a:r>
            <a:r>
              <a:rPr sz="1400" spc="20" dirty="0">
                <a:solidFill>
                  <a:srgbClr val="FFFFFF"/>
                </a:solidFill>
                <a:cs typeface="Arial"/>
              </a:rPr>
              <a:t> </a:t>
            </a:r>
            <a:r>
              <a:rPr sz="1400" spc="-80" dirty="0">
                <a:solidFill>
                  <a:srgbClr val="FFFFFF"/>
                </a:solidFill>
                <a:cs typeface="Arial"/>
              </a:rPr>
              <a:t>encode</a:t>
            </a:r>
            <a:r>
              <a:rPr sz="14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cs typeface="Arial"/>
              </a:rPr>
              <a:t>all</a:t>
            </a:r>
            <a:r>
              <a:rPr sz="14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400" spc="-55" dirty="0">
                <a:solidFill>
                  <a:srgbClr val="FFFFFF"/>
                </a:solidFill>
                <a:cs typeface="Arial"/>
              </a:rPr>
              <a:t>these</a:t>
            </a:r>
            <a:r>
              <a:rPr sz="14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400" spc="-35" dirty="0">
                <a:solidFill>
                  <a:srgbClr val="FFFFFF"/>
                </a:solidFill>
                <a:cs typeface="Arial"/>
              </a:rPr>
              <a:t>constructs</a:t>
            </a:r>
            <a:r>
              <a:rPr sz="14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400" spc="-50" dirty="0">
                <a:solidFill>
                  <a:srgbClr val="FFFFFF"/>
                </a:solidFill>
                <a:cs typeface="Arial"/>
              </a:rPr>
              <a:t>using</a:t>
            </a:r>
            <a:r>
              <a:rPr sz="14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cs typeface="Arial"/>
              </a:rPr>
              <a:t>only </a:t>
            </a:r>
            <a:r>
              <a:rPr sz="1400" spc="-10" dirty="0">
                <a:solidFill>
                  <a:srgbClr val="FFFFFF"/>
                </a:solidFill>
                <a:cs typeface="Arial"/>
              </a:rPr>
              <a:t>functions?</a:t>
            </a:r>
            <a:endParaRPr lang="en-IE" sz="1400" spc="-10" dirty="0">
              <a:solidFill>
                <a:srgbClr val="FFFFFF"/>
              </a:solidFill>
              <a:cs typeface="Arial"/>
            </a:endParaRPr>
          </a:p>
          <a:p>
            <a:pPr marL="214629" marR="506095" indent="-177165">
              <a:lnSpc>
                <a:spcPct val="102600"/>
              </a:lnSpc>
              <a:spcBef>
                <a:spcPts val="55"/>
              </a:spcBef>
              <a:buFont typeface="Wingdings" pitchFamily="2" charset="2"/>
              <a:buChar char="q"/>
            </a:pPr>
            <a:endParaRPr sz="1400" dirty="0">
              <a:cs typeface="Arial"/>
            </a:endParaRPr>
          </a:p>
          <a:p>
            <a:pPr marL="209550" indent="-171450">
              <a:lnSpc>
                <a:spcPct val="100000"/>
              </a:lnSpc>
              <a:spcBef>
                <a:spcPts val="335"/>
              </a:spcBef>
              <a:buFont typeface="Wingdings" pitchFamily="2" charset="2"/>
              <a:buChar char="q"/>
            </a:pPr>
            <a:r>
              <a:rPr sz="1400" b="1" dirty="0">
                <a:solidFill>
                  <a:srgbClr val="FFFFFF"/>
                </a:solidFill>
                <a:cs typeface="Arial"/>
              </a:rPr>
              <a:t>Idea:</a:t>
            </a:r>
            <a:r>
              <a:rPr sz="1400" b="1" spc="90" dirty="0">
                <a:solidFill>
                  <a:srgbClr val="FFFFFF"/>
                </a:solidFill>
                <a:cs typeface="Arial"/>
              </a:rPr>
              <a:t> </a:t>
            </a:r>
            <a:r>
              <a:rPr sz="1400" spc="-70" dirty="0">
                <a:solidFill>
                  <a:srgbClr val="FFFFFF"/>
                </a:solidFill>
                <a:cs typeface="Arial"/>
              </a:rPr>
              <a:t>Encode</a:t>
            </a:r>
            <a:r>
              <a:rPr sz="14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cs typeface="Arial"/>
              </a:rPr>
              <a:t>the</a:t>
            </a:r>
            <a:r>
              <a:rPr sz="14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400" b="1" spc="-45" dirty="0">
                <a:solidFill>
                  <a:srgbClr val="FFFFFF"/>
                </a:solidFill>
                <a:cs typeface="Arial"/>
              </a:rPr>
              <a:t>behavior</a:t>
            </a:r>
            <a:r>
              <a:rPr sz="1400" b="1" spc="10" dirty="0">
                <a:solidFill>
                  <a:srgbClr val="FFFFFF"/>
                </a:solidFill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cs typeface="Arial"/>
              </a:rPr>
              <a:t>of</a:t>
            </a:r>
            <a:r>
              <a:rPr sz="14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400" spc="-70" dirty="0">
                <a:solidFill>
                  <a:srgbClr val="FFFFFF"/>
                </a:solidFill>
                <a:cs typeface="Arial"/>
              </a:rPr>
              <a:t>values</a:t>
            </a:r>
            <a:r>
              <a:rPr sz="14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400" spc="-45" dirty="0">
                <a:solidFill>
                  <a:srgbClr val="FFFFFF"/>
                </a:solidFill>
                <a:cs typeface="Arial"/>
              </a:rPr>
              <a:t>and</a:t>
            </a:r>
            <a:r>
              <a:rPr sz="14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cs typeface="Arial"/>
              </a:rPr>
              <a:t>not</a:t>
            </a:r>
            <a:r>
              <a:rPr sz="14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cs typeface="Arial"/>
              </a:rPr>
              <a:t>their</a:t>
            </a:r>
            <a:r>
              <a:rPr sz="14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cs typeface="Arial"/>
              </a:rPr>
              <a:t>structure</a:t>
            </a:r>
            <a:endParaRPr sz="1400" dirty="0">
              <a:cs typeface="Arial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592D0D25-75AE-F418-4BDC-C92A7D643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19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034" y="364874"/>
            <a:ext cx="3477003" cy="57592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2240">
              <a:lnSpc>
                <a:spcPct val="100000"/>
              </a:lnSpc>
              <a:spcBef>
                <a:spcPts val="135"/>
              </a:spcBef>
            </a:pPr>
            <a:r>
              <a:rPr b="1" spc="180" dirty="0"/>
              <a:t>Encoding</a:t>
            </a:r>
            <a:r>
              <a:rPr b="1" spc="195" dirty="0"/>
              <a:t> </a:t>
            </a:r>
            <a:r>
              <a:rPr b="1" spc="200" dirty="0"/>
              <a:t>Booleans </a:t>
            </a:r>
            <a:r>
              <a:rPr b="1" spc="105" dirty="0"/>
              <a:t>in</a:t>
            </a:r>
            <a:r>
              <a:rPr b="1" spc="200" dirty="0"/>
              <a:t> </a:t>
            </a:r>
            <a:r>
              <a:rPr b="1" i="1" spc="130" dirty="0" err="1">
                <a:latin typeface="Arial"/>
                <a:cs typeface="Arial"/>
              </a:rPr>
              <a:t>λ</a:t>
            </a:r>
            <a:r>
              <a:rPr b="1" i="1" spc="160" dirty="0">
                <a:latin typeface="Arial"/>
                <a:cs typeface="Arial"/>
              </a:rPr>
              <a:t> </a:t>
            </a:r>
            <a:r>
              <a:rPr b="1" spc="215" dirty="0"/>
              <a:t>Calculus</a:t>
            </a:r>
            <a:r>
              <a:rPr lang="en-IE" b="1" spc="215" dirty="0"/>
              <a:t> - IF</a:t>
            </a:r>
            <a:endParaRPr b="1" spc="215" dirty="0"/>
          </a:p>
        </p:txBody>
      </p:sp>
      <p:sp>
        <p:nvSpPr>
          <p:cNvPr id="3" name="object 3"/>
          <p:cNvSpPr txBox="1"/>
          <p:nvPr/>
        </p:nvSpPr>
        <p:spPr>
          <a:xfrm>
            <a:off x="354648" y="1196975"/>
            <a:ext cx="3900804" cy="159702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34950" indent="-171450">
              <a:lnSpc>
                <a:spcPct val="100000"/>
              </a:lnSpc>
              <a:spcBef>
                <a:spcPts val="434"/>
              </a:spcBef>
              <a:buFont typeface="Wingdings" pitchFamily="2" charset="2"/>
              <a:buChar char="q"/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What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95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do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boolean?</a:t>
            </a:r>
            <a:endParaRPr sz="1100" dirty="0">
              <a:latin typeface="Arial"/>
              <a:cs typeface="Arial"/>
            </a:endParaRPr>
          </a:p>
          <a:p>
            <a:pPr marL="234950" indent="-171450">
              <a:lnSpc>
                <a:spcPct val="100000"/>
              </a:lnSpc>
              <a:spcBef>
                <a:spcPts val="334"/>
              </a:spcBef>
              <a:buFont typeface="Wingdings" pitchFamily="2" charset="2"/>
              <a:buChar char="q"/>
            </a:pP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FFFFFF"/>
                </a:solidFill>
                <a:latin typeface="Arial"/>
                <a:cs typeface="Arial"/>
              </a:rPr>
              <a:t>make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binary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choice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(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sz="11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expression)</a:t>
            </a:r>
            <a:endParaRPr sz="1100" dirty="0">
              <a:latin typeface="Arial"/>
              <a:cs typeface="Arial"/>
            </a:endParaRPr>
          </a:p>
          <a:p>
            <a:pPr marL="240029" marR="55880" indent="-177165">
              <a:lnSpc>
                <a:spcPct val="102699"/>
              </a:lnSpc>
              <a:spcBef>
                <a:spcPts val="295"/>
              </a:spcBef>
              <a:buFont typeface="Wingdings" pitchFamily="2" charset="2"/>
              <a:buChar char="q"/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boolean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a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function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that,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given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two </a:t>
            </a: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choices,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selects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them: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100" dirty="0">
              <a:latin typeface="Arial"/>
              <a:cs typeface="Arial"/>
            </a:endParaRPr>
          </a:p>
          <a:p>
            <a:pPr marL="1281430">
              <a:lnSpc>
                <a:spcPct val="100000"/>
              </a:lnSpc>
            </a:pPr>
            <a:r>
              <a:rPr sz="1100" i="1" spc="-10" dirty="0">
                <a:solidFill>
                  <a:srgbClr val="FFFFFF"/>
                </a:solidFill>
                <a:latin typeface="Arial"/>
                <a:cs typeface="Arial"/>
              </a:rPr>
              <a:t>TRUE</a:t>
            </a:r>
            <a:r>
              <a:rPr sz="1100" i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.λ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1100" dirty="0">
              <a:latin typeface="Arial"/>
              <a:cs typeface="Arial"/>
            </a:endParaRPr>
          </a:p>
          <a:p>
            <a:pPr marL="1246505">
              <a:lnSpc>
                <a:spcPct val="100000"/>
              </a:lnSpc>
            </a:pPr>
            <a:r>
              <a:rPr sz="1100" i="1" spc="-60" dirty="0">
                <a:solidFill>
                  <a:srgbClr val="FFFFFF"/>
                </a:solidFill>
                <a:latin typeface="Arial"/>
                <a:cs typeface="Arial"/>
              </a:rPr>
              <a:t>FALSE</a:t>
            </a:r>
            <a:r>
              <a:rPr sz="1100" i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.λ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890B185D-55EF-1443-E502-5CB174C14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20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034" y="364874"/>
            <a:ext cx="3477003" cy="57592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2240">
              <a:lnSpc>
                <a:spcPct val="100000"/>
              </a:lnSpc>
              <a:spcBef>
                <a:spcPts val="135"/>
              </a:spcBef>
            </a:pPr>
            <a:r>
              <a:rPr b="1" spc="180" dirty="0"/>
              <a:t>Encoding</a:t>
            </a:r>
            <a:r>
              <a:rPr b="1" spc="195" dirty="0"/>
              <a:t> </a:t>
            </a:r>
            <a:r>
              <a:rPr b="1" spc="200" dirty="0"/>
              <a:t>Booleans </a:t>
            </a:r>
            <a:r>
              <a:rPr b="1" spc="105" dirty="0"/>
              <a:t>in</a:t>
            </a:r>
            <a:r>
              <a:rPr b="1" spc="200" dirty="0"/>
              <a:t> </a:t>
            </a:r>
            <a:r>
              <a:rPr b="1" i="1" spc="130" dirty="0" err="1">
                <a:latin typeface="Arial"/>
                <a:cs typeface="Arial"/>
              </a:rPr>
              <a:t>λ</a:t>
            </a:r>
            <a:r>
              <a:rPr b="1" i="1" spc="160" dirty="0">
                <a:latin typeface="Arial"/>
                <a:cs typeface="Arial"/>
              </a:rPr>
              <a:t> </a:t>
            </a:r>
            <a:r>
              <a:rPr b="1" spc="215" dirty="0"/>
              <a:t>Calculus</a:t>
            </a:r>
            <a:r>
              <a:rPr lang="en-IE" b="1" spc="215" dirty="0"/>
              <a:t> NOT</a:t>
            </a:r>
            <a:endParaRPr b="1" spc="215" dirty="0"/>
          </a:p>
        </p:txBody>
      </p:sp>
      <p:sp>
        <p:nvSpPr>
          <p:cNvPr id="3" name="object 3"/>
          <p:cNvSpPr txBox="1"/>
          <p:nvPr/>
        </p:nvSpPr>
        <p:spPr>
          <a:xfrm>
            <a:off x="476250" y="1109029"/>
            <a:ext cx="2819400" cy="196592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80" dirty="0">
                <a:solidFill>
                  <a:srgbClr val="FFFFFF"/>
                </a:solidFill>
                <a:cs typeface="Arial"/>
              </a:rPr>
              <a:t>So</a:t>
            </a:r>
            <a:r>
              <a:rPr sz="14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400" spc="-45" dirty="0">
                <a:solidFill>
                  <a:srgbClr val="FFFFFF"/>
                </a:solidFill>
                <a:cs typeface="Arial"/>
              </a:rPr>
              <a:t>how</a:t>
            </a:r>
            <a:r>
              <a:rPr sz="1400" spc="-30" dirty="0">
                <a:solidFill>
                  <a:srgbClr val="FFFFFF"/>
                </a:solidFill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cs typeface="Arial"/>
              </a:rPr>
              <a:t>do </a:t>
            </a:r>
            <a:r>
              <a:rPr sz="1400" spc="-95" dirty="0">
                <a:solidFill>
                  <a:srgbClr val="FFFFFF"/>
                </a:solidFill>
                <a:cs typeface="Arial"/>
              </a:rPr>
              <a:t>we</a:t>
            </a:r>
            <a:r>
              <a:rPr sz="1400" spc="20" dirty="0">
                <a:solidFill>
                  <a:srgbClr val="FFFFFF"/>
                </a:solidFill>
                <a:cs typeface="Arial"/>
              </a:rPr>
              <a:t> </a:t>
            </a:r>
            <a:r>
              <a:rPr sz="1400" spc="-80" dirty="0">
                <a:solidFill>
                  <a:srgbClr val="FFFFFF"/>
                </a:solidFill>
                <a:cs typeface="Arial"/>
              </a:rPr>
              <a:t>encode</a:t>
            </a:r>
            <a:r>
              <a:rPr sz="14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400" b="1" spc="35" dirty="0">
                <a:solidFill>
                  <a:srgbClr val="FFFFFF"/>
                </a:solidFill>
                <a:cs typeface="Arial"/>
              </a:rPr>
              <a:t>NOT</a:t>
            </a:r>
            <a:endParaRPr sz="1400" dirty="0">
              <a:cs typeface="Arial"/>
            </a:endParaRPr>
          </a:p>
          <a:p>
            <a:pPr>
              <a:lnSpc>
                <a:spcPct val="100000"/>
              </a:lnSpc>
            </a:pPr>
            <a:endParaRPr sz="1400" dirty="0">
              <a:cs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400" dirty="0"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cs typeface="Arial"/>
              </a:rPr>
              <a:t>if</a:t>
            </a:r>
            <a:r>
              <a:rPr sz="14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400" spc="-90" dirty="0">
                <a:solidFill>
                  <a:srgbClr val="FFFFFF"/>
                </a:solidFill>
                <a:cs typeface="Arial"/>
              </a:rPr>
              <a:t>we</a:t>
            </a:r>
            <a:r>
              <a:rPr sz="14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cs typeface="Arial"/>
              </a:rPr>
              <a:t>think</a:t>
            </a:r>
            <a:r>
              <a:rPr sz="1400" spc="20" dirty="0">
                <a:solidFill>
                  <a:srgbClr val="FFFFFF"/>
                </a:solidFill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cs typeface="Arial"/>
              </a:rPr>
              <a:t>of</a:t>
            </a:r>
            <a:r>
              <a:rPr sz="14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cs typeface="Arial"/>
              </a:rPr>
              <a:t>the</a:t>
            </a:r>
            <a:r>
              <a:rPr sz="14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cs typeface="Arial"/>
              </a:rPr>
              <a:t>structure</a:t>
            </a:r>
            <a:r>
              <a:rPr sz="1400" spc="20" dirty="0">
                <a:solidFill>
                  <a:srgbClr val="FFFFFF"/>
                </a:solidFill>
                <a:cs typeface="Arial"/>
              </a:rPr>
              <a:t> </a:t>
            </a:r>
            <a:r>
              <a:rPr sz="1400" spc="-50" dirty="0">
                <a:solidFill>
                  <a:srgbClr val="FFFFFF"/>
                </a:solidFill>
                <a:cs typeface="Arial"/>
              </a:rPr>
              <a:t>:</a:t>
            </a:r>
            <a:endParaRPr lang="en-IE" sz="1400" spc="-50" dirty="0">
              <a:solidFill>
                <a:srgbClr val="FFFFFF"/>
              </a:solidFill>
              <a:cs typeface="Arial"/>
            </a:endParaRPr>
          </a:p>
          <a:p>
            <a:pPr marL="12700">
              <a:lnSpc>
                <a:spcPct val="100000"/>
              </a:lnSpc>
            </a:pPr>
            <a:endParaRPr sz="1400" dirty="0">
              <a:cs typeface="Arial"/>
            </a:endParaRPr>
          </a:p>
          <a:p>
            <a:pPr marR="10795" indent="801688">
              <a:lnSpc>
                <a:spcPct val="100000"/>
              </a:lnSpc>
            </a:pPr>
            <a:r>
              <a:rPr lang="en-IE" sz="1400" i="1" dirty="0">
                <a:solidFill>
                  <a:srgbClr val="FFFFFF"/>
                </a:solidFill>
                <a:cs typeface="Arial"/>
              </a:rPr>
              <a:t>if</a:t>
            </a:r>
            <a:r>
              <a:rPr lang="en-IE" sz="1400" i="1" spc="240" dirty="0">
                <a:solidFill>
                  <a:srgbClr val="FFFFFF"/>
                </a:solidFill>
                <a:cs typeface="Arial"/>
              </a:rPr>
              <a:t> </a:t>
            </a:r>
            <a:r>
              <a:rPr lang="en-IE" sz="1400" i="1" dirty="0">
                <a:solidFill>
                  <a:srgbClr val="FFFFFF"/>
                </a:solidFill>
                <a:cs typeface="Arial"/>
              </a:rPr>
              <a:t>b</a:t>
            </a:r>
            <a:r>
              <a:rPr lang="en-IE" sz="1400" i="1" spc="70" dirty="0">
                <a:solidFill>
                  <a:srgbClr val="FFFFFF"/>
                </a:solidFill>
                <a:cs typeface="Arial"/>
              </a:rPr>
              <a:t> </a:t>
            </a:r>
            <a:r>
              <a:rPr lang="en-IE" sz="1400" i="1" spc="-10" dirty="0">
                <a:solidFill>
                  <a:srgbClr val="FFFFFF"/>
                </a:solidFill>
                <a:cs typeface="Arial"/>
              </a:rPr>
              <a:t>then</a:t>
            </a:r>
            <a:r>
              <a:rPr lang="en-IE" sz="1400" i="1" spc="50" dirty="0">
                <a:solidFill>
                  <a:srgbClr val="FFFFFF"/>
                </a:solidFill>
                <a:cs typeface="Arial"/>
              </a:rPr>
              <a:t> </a:t>
            </a:r>
            <a:r>
              <a:rPr lang="en-IE" sz="1400" i="1" spc="-90" dirty="0">
                <a:solidFill>
                  <a:srgbClr val="FFFFFF"/>
                </a:solidFill>
                <a:cs typeface="Arial"/>
              </a:rPr>
              <a:t>FALSE</a:t>
            </a:r>
            <a:r>
              <a:rPr lang="en-IE" sz="1400" i="1" spc="-175" dirty="0">
                <a:solidFill>
                  <a:srgbClr val="FFFFFF"/>
                </a:solidFill>
                <a:cs typeface="Arial"/>
              </a:rPr>
              <a:t> </a:t>
            </a:r>
            <a:r>
              <a:rPr lang="en-IE" sz="1400" spc="-50" dirty="0">
                <a:solidFill>
                  <a:srgbClr val="FFFFFF"/>
                </a:solidFill>
                <a:cs typeface="Arial"/>
              </a:rPr>
              <a:t>;</a:t>
            </a:r>
            <a:endParaRPr lang="en-IE" sz="1400" dirty="0">
              <a:cs typeface="Arial"/>
            </a:endParaRPr>
          </a:p>
          <a:p>
            <a:pPr marR="5080" indent="801688">
              <a:lnSpc>
                <a:spcPct val="100000"/>
              </a:lnSpc>
              <a:spcBef>
                <a:spcPts val="335"/>
              </a:spcBef>
            </a:pPr>
            <a:r>
              <a:rPr lang="en-IE" sz="1400" i="1" spc="-65" dirty="0">
                <a:solidFill>
                  <a:srgbClr val="FFFFFF"/>
                </a:solidFill>
                <a:cs typeface="Arial"/>
              </a:rPr>
              <a:t>else</a:t>
            </a:r>
            <a:r>
              <a:rPr lang="en-IE" sz="1400" i="1" spc="5" dirty="0">
                <a:solidFill>
                  <a:srgbClr val="FFFFFF"/>
                </a:solidFill>
                <a:cs typeface="Arial"/>
              </a:rPr>
              <a:t> </a:t>
            </a:r>
            <a:r>
              <a:rPr lang="en-IE" sz="1400" i="1" spc="-20" dirty="0">
                <a:solidFill>
                  <a:srgbClr val="FFFFFF"/>
                </a:solidFill>
                <a:cs typeface="Arial"/>
              </a:rPr>
              <a:t>TRUE</a:t>
            </a:r>
            <a:endParaRPr lang="en-IE" sz="1400" dirty="0">
              <a:cs typeface="Arial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400" dirty="0"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C3FAF2E-48C2-D717-844A-BE4B648F52DB}"/>
              </a:ext>
            </a:extLst>
          </p:cNvPr>
          <p:cNvSpPr txBox="1"/>
          <p:nvPr/>
        </p:nvSpPr>
        <p:spPr>
          <a:xfrm>
            <a:off x="1176907" y="2869331"/>
            <a:ext cx="16592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sz="1100" i="1" spc="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1100" i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FFFFFF"/>
                </a:solidFill>
                <a:latin typeface="Arial"/>
                <a:cs typeface="Arial"/>
              </a:rPr>
              <a:t>FALSE</a:t>
            </a:r>
            <a:r>
              <a:rPr sz="1100" i="1" spc="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TRUE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BE8EB75A-CBE3-B7D6-E579-8903CE34E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21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034" y="364874"/>
            <a:ext cx="3477003" cy="57592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2240">
              <a:lnSpc>
                <a:spcPct val="100000"/>
              </a:lnSpc>
              <a:spcBef>
                <a:spcPts val="135"/>
              </a:spcBef>
            </a:pPr>
            <a:r>
              <a:rPr b="1" spc="180" dirty="0"/>
              <a:t>Encoding</a:t>
            </a:r>
            <a:r>
              <a:rPr b="1" spc="195" dirty="0"/>
              <a:t> </a:t>
            </a:r>
            <a:r>
              <a:rPr b="1" spc="200" dirty="0"/>
              <a:t>Booleans </a:t>
            </a:r>
            <a:r>
              <a:rPr b="1" spc="105" dirty="0"/>
              <a:t>in</a:t>
            </a:r>
            <a:r>
              <a:rPr b="1" spc="200" dirty="0"/>
              <a:t> </a:t>
            </a:r>
            <a:r>
              <a:rPr b="1" i="1" spc="130" dirty="0" err="1">
                <a:latin typeface="Arial"/>
                <a:cs typeface="Arial"/>
              </a:rPr>
              <a:t>λ</a:t>
            </a:r>
            <a:r>
              <a:rPr b="1" i="1" spc="160" dirty="0">
                <a:latin typeface="Arial"/>
                <a:cs typeface="Arial"/>
              </a:rPr>
              <a:t> </a:t>
            </a:r>
            <a:r>
              <a:rPr b="1" spc="215" dirty="0"/>
              <a:t>Calculus</a:t>
            </a:r>
            <a:r>
              <a:rPr lang="en-IE" b="1" spc="215" dirty="0"/>
              <a:t> - NOT</a:t>
            </a:r>
            <a:endParaRPr b="1" spc="215" dirty="0"/>
          </a:p>
        </p:txBody>
      </p:sp>
      <p:sp>
        <p:nvSpPr>
          <p:cNvPr id="3" name="object 3"/>
          <p:cNvSpPr txBox="1"/>
          <p:nvPr/>
        </p:nvSpPr>
        <p:spPr>
          <a:xfrm>
            <a:off x="400050" y="968375"/>
            <a:ext cx="2668905" cy="241173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004569">
              <a:lnSpc>
                <a:spcPct val="100000"/>
              </a:lnSpc>
              <a:spcBef>
                <a:spcPts val="635"/>
              </a:spcBef>
            </a:pP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sz="1100" i="1" spc="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1100" i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FFFFFF"/>
                </a:solidFill>
                <a:latin typeface="Arial"/>
                <a:cs typeface="Arial"/>
              </a:rPr>
              <a:t>FALSE</a:t>
            </a:r>
            <a:r>
              <a:rPr sz="1100" i="1" spc="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TRUE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Let’s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test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0000"/>
                </a:solidFill>
                <a:latin typeface="Arial"/>
                <a:cs typeface="Arial"/>
              </a:rPr>
              <a:t>NOT</a:t>
            </a:r>
            <a:r>
              <a:rPr sz="1100" i="1" spc="1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FF0000"/>
                </a:solidFill>
                <a:latin typeface="Arial"/>
                <a:cs typeface="Arial"/>
              </a:rPr>
              <a:t>TRUE</a:t>
            </a:r>
            <a:r>
              <a:rPr sz="1100" i="1" spc="-1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1100" dirty="0">
              <a:latin typeface="Arial"/>
              <a:cs typeface="Arial"/>
            </a:endParaRPr>
          </a:p>
          <a:p>
            <a:pPr marL="1021715">
              <a:lnSpc>
                <a:spcPct val="100000"/>
              </a:lnSpc>
              <a:spcBef>
                <a:spcPts val="535"/>
              </a:spcBef>
            </a:pP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sz="1100" i="1" spc="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1100" i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FFFFFF"/>
                </a:solidFill>
                <a:latin typeface="Arial"/>
                <a:cs typeface="Arial"/>
              </a:rPr>
              <a:t>FALSE</a:t>
            </a:r>
            <a:r>
              <a:rPr sz="1100" i="1" spc="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TRUE</a:t>
            </a:r>
            <a:endParaRPr sz="1100" dirty="0">
              <a:latin typeface="Arial"/>
              <a:cs typeface="Arial"/>
            </a:endParaRPr>
          </a:p>
          <a:p>
            <a:pPr marL="987425" marR="5080" indent="901065" algn="r">
              <a:lnSpc>
                <a:spcPct val="250599"/>
              </a:lnSpc>
            </a:pP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sz="1100" i="1" spc="114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sz="1100" i="1" spc="-50" dirty="0">
                <a:solidFill>
                  <a:srgbClr val="FFFFFF"/>
                </a:solidFill>
                <a:latin typeface="Arial"/>
                <a:cs typeface="Arial"/>
              </a:rPr>
              <a:t>TRUE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1100" i="1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FFFFFF"/>
                </a:solidFill>
                <a:latin typeface="Arial"/>
                <a:cs typeface="Arial"/>
              </a:rPr>
              <a:t>FALSE</a:t>
            </a:r>
            <a:r>
              <a:rPr sz="1100" i="1" spc="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FFFFFF"/>
                </a:solidFill>
                <a:latin typeface="Arial"/>
                <a:cs typeface="Arial"/>
              </a:rPr>
              <a:t>TRUE</a:t>
            </a:r>
            <a:r>
              <a:rPr sz="1100" i="1" spc="-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100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30" dirty="0">
                <a:solidFill>
                  <a:srgbClr val="FFFFFF"/>
                </a:solidFill>
                <a:latin typeface="Arial"/>
                <a:cs typeface="Arial"/>
              </a:rPr>
              <a:t>TRUE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-30" dirty="0">
                <a:solidFill>
                  <a:srgbClr val="FFFFFF"/>
                </a:solidFill>
                <a:latin typeface="Arial"/>
                <a:cs typeface="Arial"/>
              </a:rPr>
              <a:t>TRUE</a:t>
            </a:r>
            <a:r>
              <a:rPr sz="1100" i="1" spc="-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FFFFFF"/>
                </a:solidFill>
                <a:latin typeface="Arial"/>
                <a:cs typeface="Arial"/>
              </a:rPr>
              <a:t>FALSE</a:t>
            </a:r>
            <a:r>
              <a:rPr sz="1100" i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TRUE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100" dirty="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11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FFFFFF"/>
                </a:solidFill>
                <a:latin typeface="Arial"/>
                <a:cs typeface="Arial"/>
              </a:rPr>
              <a:t>FALSE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88D7049E-E73F-828F-6ACF-B70DE14A0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22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034" y="364874"/>
            <a:ext cx="3477003" cy="57592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2240">
              <a:lnSpc>
                <a:spcPct val="100000"/>
              </a:lnSpc>
              <a:spcBef>
                <a:spcPts val="135"/>
              </a:spcBef>
            </a:pPr>
            <a:r>
              <a:rPr b="1" spc="180" dirty="0"/>
              <a:t>Encoding</a:t>
            </a:r>
            <a:r>
              <a:rPr b="1" spc="195" dirty="0"/>
              <a:t> </a:t>
            </a:r>
            <a:r>
              <a:rPr b="1" spc="200" dirty="0"/>
              <a:t>Booleans </a:t>
            </a:r>
            <a:r>
              <a:rPr b="1" spc="105" dirty="0"/>
              <a:t>in</a:t>
            </a:r>
            <a:r>
              <a:rPr b="1" spc="200" dirty="0"/>
              <a:t> </a:t>
            </a:r>
            <a:r>
              <a:rPr b="1" i="1" spc="130" dirty="0" err="1">
                <a:latin typeface="Arial"/>
                <a:cs typeface="Arial"/>
              </a:rPr>
              <a:t>λ</a:t>
            </a:r>
            <a:r>
              <a:rPr b="1" i="1" spc="160" dirty="0">
                <a:latin typeface="Arial"/>
                <a:cs typeface="Arial"/>
              </a:rPr>
              <a:t> </a:t>
            </a:r>
            <a:r>
              <a:rPr b="1" spc="215" dirty="0"/>
              <a:t>Calculus</a:t>
            </a:r>
            <a:r>
              <a:rPr lang="en-IE" b="1" spc="215" dirty="0"/>
              <a:t> - NOT</a:t>
            </a:r>
            <a:endParaRPr b="1" spc="215" dirty="0"/>
          </a:p>
        </p:txBody>
      </p:sp>
      <p:sp>
        <p:nvSpPr>
          <p:cNvPr id="3" name="object 3"/>
          <p:cNvSpPr txBox="1"/>
          <p:nvPr/>
        </p:nvSpPr>
        <p:spPr>
          <a:xfrm>
            <a:off x="371881" y="1273175"/>
            <a:ext cx="2685415" cy="17633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Next,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let’s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test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0000"/>
                </a:solidFill>
                <a:latin typeface="Arial"/>
                <a:cs typeface="Arial"/>
              </a:rPr>
              <a:t>NOT</a:t>
            </a:r>
            <a:r>
              <a:rPr sz="1100" i="1" spc="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i="1" spc="-90" dirty="0">
                <a:solidFill>
                  <a:srgbClr val="FF0000"/>
                </a:solidFill>
                <a:latin typeface="Arial"/>
                <a:cs typeface="Arial"/>
              </a:rPr>
              <a:t>FALSE</a:t>
            </a:r>
            <a:r>
              <a:rPr sz="1100" i="1" spc="-1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1100" dirty="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sz="1100" i="1" spc="114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FALSE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100" dirty="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1100" i="1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FFFFFF"/>
                </a:solidFill>
                <a:latin typeface="Arial"/>
                <a:cs typeface="Arial"/>
              </a:rPr>
              <a:t>FALSE</a:t>
            </a:r>
            <a:r>
              <a:rPr sz="1100" i="1" spc="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FFFFFF"/>
                </a:solidFill>
                <a:latin typeface="Arial"/>
                <a:cs typeface="Arial"/>
              </a:rPr>
              <a:t>TRUE</a:t>
            </a:r>
            <a:r>
              <a:rPr sz="1100" i="1" spc="-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100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FFFFFF"/>
                </a:solidFill>
                <a:latin typeface="Arial"/>
                <a:cs typeface="Arial"/>
              </a:rPr>
              <a:t>FALSE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100" dirty="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-65" dirty="0">
                <a:solidFill>
                  <a:srgbClr val="FFFFFF"/>
                </a:solidFill>
                <a:latin typeface="Arial"/>
                <a:cs typeface="Arial"/>
              </a:rPr>
              <a:t>FALSE</a:t>
            </a:r>
            <a:r>
              <a:rPr sz="1100" i="1" spc="-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FFFFFF"/>
                </a:solidFill>
                <a:latin typeface="Arial"/>
                <a:cs typeface="Arial"/>
              </a:rPr>
              <a:t>FALSE</a:t>
            </a:r>
            <a:r>
              <a:rPr sz="1100" i="1" spc="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TRUE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100" dirty="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11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TRUE</a:t>
            </a:r>
            <a:endParaRPr sz="11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47502" y="2735389"/>
            <a:ext cx="93345" cy="93980"/>
            <a:chOff x="4147502" y="2735389"/>
            <a:chExt cx="93345" cy="93980"/>
          </a:xfrm>
        </p:grpSpPr>
        <p:sp>
          <p:nvSpPr>
            <p:cNvPr id="5" name="object 5"/>
            <p:cNvSpPr/>
            <p:nvPr/>
          </p:nvSpPr>
          <p:spPr>
            <a:xfrm>
              <a:off x="4150029" y="2735389"/>
              <a:ext cx="0" cy="93980"/>
            </a:xfrm>
            <a:custGeom>
              <a:avLst/>
              <a:gdLst/>
              <a:ahLst/>
              <a:cxnLst/>
              <a:rect l="l" t="t" r="r" b="b"/>
              <a:pathLst>
                <a:path h="93980">
                  <a:moveTo>
                    <a:pt x="0" y="9352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3333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52557" y="2737916"/>
              <a:ext cx="83185" cy="0"/>
            </a:xfrm>
            <a:custGeom>
              <a:avLst/>
              <a:gdLst/>
              <a:ahLst/>
              <a:cxnLst/>
              <a:rect l="l" t="t" r="r" b="b"/>
              <a:pathLst>
                <a:path w="83185">
                  <a:moveTo>
                    <a:pt x="0" y="0"/>
                  </a:moveTo>
                  <a:lnTo>
                    <a:pt x="83134" y="0"/>
                  </a:lnTo>
                </a:path>
              </a:pathLst>
            </a:custGeom>
            <a:ln w="5054">
              <a:solidFill>
                <a:srgbClr val="3333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52557" y="2826385"/>
              <a:ext cx="83185" cy="0"/>
            </a:xfrm>
            <a:custGeom>
              <a:avLst/>
              <a:gdLst/>
              <a:ahLst/>
              <a:cxnLst/>
              <a:rect l="l" t="t" r="r" b="b"/>
              <a:pathLst>
                <a:path w="83185">
                  <a:moveTo>
                    <a:pt x="0" y="0"/>
                  </a:moveTo>
                  <a:lnTo>
                    <a:pt x="83134" y="0"/>
                  </a:lnTo>
                </a:path>
              </a:pathLst>
            </a:custGeom>
            <a:ln w="5054">
              <a:solidFill>
                <a:srgbClr val="3333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38218" y="2735389"/>
              <a:ext cx="0" cy="93980"/>
            </a:xfrm>
            <a:custGeom>
              <a:avLst/>
              <a:gdLst/>
              <a:ahLst/>
              <a:cxnLst/>
              <a:rect l="l" t="t" r="r" b="b"/>
              <a:pathLst>
                <a:path h="93980">
                  <a:moveTo>
                    <a:pt x="0" y="9352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3333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B503F03F-3F21-62FA-EB60-F018EB146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23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034" y="364874"/>
            <a:ext cx="3477003" cy="57592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spc="180" dirty="0"/>
              <a:t>Encoding</a:t>
            </a:r>
            <a:r>
              <a:rPr b="1" spc="200" dirty="0"/>
              <a:t> </a:t>
            </a:r>
            <a:r>
              <a:rPr b="1" spc="145" dirty="0"/>
              <a:t>Lambda</a:t>
            </a:r>
            <a:r>
              <a:rPr b="1" spc="204" dirty="0"/>
              <a:t> </a:t>
            </a:r>
            <a:r>
              <a:rPr b="1" spc="200" dirty="0"/>
              <a:t>Calculus..</a:t>
            </a:r>
            <a:r>
              <a:rPr b="1" spc="370" dirty="0"/>
              <a:t> </a:t>
            </a:r>
            <a:r>
              <a:rPr b="1" spc="170" dirty="0"/>
              <a:t>Exercise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6780" y="1338262"/>
            <a:ext cx="3699510" cy="7842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5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the </a:t>
            </a:r>
            <a:r>
              <a:rPr sz="1100" spc="-55" dirty="0">
                <a:solidFill>
                  <a:srgbClr val="FFFFFF"/>
                </a:solidFill>
                <a:latin typeface="Arial"/>
                <a:cs typeface="Arial"/>
              </a:rPr>
              <a:t>techniques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above,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80" dirty="0">
                <a:solidFill>
                  <a:srgbClr val="FFFFFF"/>
                </a:solidFill>
                <a:latin typeface="Arial"/>
                <a:cs typeface="Arial"/>
              </a:rPr>
              <a:t>encode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following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lambda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calculus:</a:t>
            </a:r>
            <a:endParaRPr sz="1100" dirty="0">
              <a:latin typeface="Arial"/>
              <a:cs typeface="Arial"/>
            </a:endParaRPr>
          </a:p>
          <a:p>
            <a:pPr marL="288925" indent="-1898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Times New Roman"/>
              <a:buAutoNum type="arabicPeriod"/>
              <a:tabLst>
                <a:tab pos="288925" algn="l"/>
              </a:tabLst>
            </a:pP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endParaRPr sz="1100" dirty="0">
              <a:latin typeface="Arial"/>
              <a:cs typeface="Arial"/>
            </a:endParaRPr>
          </a:p>
          <a:p>
            <a:pPr marL="288925" indent="-1898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Times New Roman"/>
              <a:buAutoNum type="arabicPeriod"/>
              <a:tabLst>
                <a:tab pos="288925" algn="l"/>
              </a:tabLst>
            </a:pP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C0F0CBC5-128C-0919-977C-195190D9A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24</a:t>
            </a:fld>
            <a:endParaRPr lang="en-US" sz="706" dirty="0"/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35"/>
              </a:spcBef>
            </a:pPr>
            <a:r>
              <a:rPr spc="180" dirty="0"/>
              <a:t>Encoding</a:t>
            </a:r>
            <a:r>
              <a:rPr spc="200" dirty="0"/>
              <a:t> </a:t>
            </a:r>
            <a:r>
              <a:rPr spc="145" dirty="0"/>
              <a:t>Lambda</a:t>
            </a:r>
            <a:r>
              <a:rPr spc="204" dirty="0"/>
              <a:t> </a:t>
            </a:r>
            <a:r>
              <a:rPr spc="175" dirty="0"/>
              <a:t>Calculus..video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3850" y="1349375"/>
            <a:ext cx="3818890" cy="14122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95250">
              <a:lnSpc>
                <a:spcPct val="102600"/>
              </a:lnSpc>
              <a:spcBef>
                <a:spcPts val="55"/>
              </a:spcBef>
            </a:pP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very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good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introduction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lambda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calculus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encoding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boolean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logic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lambdas,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35" dirty="0">
                <a:solidFill>
                  <a:srgbClr val="FFFFFF"/>
                </a:solidFill>
                <a:latin typeface="Arial"/>
                <a:cs typeface="Arial"/>
              </a:rPr>
              <a:t>see</a:t>
            </a:r>
            <a:r>
              <a:rPr sz="1100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link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Graham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Hutton’s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video (Computerphile)</a:t>
            </a:r>
            <a:r>
              <a:rPr sz="11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  <a:hlinkClick r:id="rId2"/>
              </a:rPr>
              <a:t>here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100" dirty="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(You’ll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80" dirty="0">
                <a:solidFill>
                  <a:srgbClr val="FFFFFF"/>
                </a:solidFill>
                <a:latin typeface="Arial"/>
                <a:cs typeface="Arial"/>
              </a:rPr>
              <a:t>need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view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pdf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through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Adobe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80" dirty="0">
                <a:solidFill>
                  <a:srgbClr val="FFFFFF"/>
                </a:solidFill>
                <a:latin typeface="Arial"/>
                <a:cs typeface="Arial"/>
              </a:rPr>
              <a:t>Reader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0" dirty="0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sz="11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link.</a:t>
            </a:r>
            <a:r>
              <a:rPr sz="1100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Otherwise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FFFFFF"/>
                </a:solidFill>
                <a:latin typeface="Arial"/>
                <a:cs typeface="Arial"/>
              </a:rPr>
              <a:t>Google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’youtube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Lambda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FFFFFF"/>
                </a:solidFill>
                <a:latin typeface="Arial"/>
                <a:cs typeface="Arial"/>
              </a:rPr>
              <a:t>Calculus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Computerphile </a:t>
            </a:r>
            <a:r>
              <a:rPr sz="1100" spc="-55" dirty="0">
                <a:solidFill>
                  <a:srgbClr val="FFFFFF"/>
                </a:solidFill>
                <a:latin typeface="Arial"/>
                <a:cs typeface="Arial"/>
              </a:rPr>
              <a:t>Graham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Hutton’)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655F98A4-AD13-B61E-EBA5-E69D549F2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25</a:t>
            </a:fld>
            <a:endParaRPr lang="en-US" sz="706" dirty="0"/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Text&#10;&#10;Description automatically generated">
            <a:extLst>
              <a:ext uri="{FF2B5EF4-FFF2-40B4-BE49-F238E27FC236}">
                <a16:creationId xmlns:a16="http://schemas.microsoft.com/office/drawing/2014/main" id="{2C6DED11-E24C-1747-9B8B-24AF63DEA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26" y="599364"/>
            <a:ext cx="3285707" cy="2497138"/>
          </a:xfrm>
          <a:prstGeom prst="rect">
            <a:avLst/>
          </a:prstGeom>
          <a:noFill/>
        </p:spPr>
      </p:pic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26</a:t>
            </a:fld>
            <a:endParaRPr lang="en-US" sz="70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8BE327-ECF9-8AAA-101C-567717DCFCF3}"/>
              </a:ext>
            </a:extLst>
          </p:cNvPr>
          <p:cNvSpPr txBox="1"/>
          <p:nvPr/>
        </p:nvSpPr>
        <p:spPr>
          <a:xfrm>
            <a:off x="3273953" y="236000"/>
            <a:ext cx="184731" cy="2320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8" dirty="0"/>
          </a:p>
        </p:txBody>
      </p:sp>
    </p:spTree>
    <p:extLst>
      <p:ext uri="{BB962C8B-B14F-4D97-AF65-F5344CB8AC3E}">
        <p14:creationId xmlns:p14="http://schemas.microsoft.com/office/powerpoint/2010/main" val="120514501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a-types-and-classes</Template>
  <TotalTime>117</TotalTime>
  <Words>1454</Words>
  <Application>Microsoft Macintosh PowerPoint</Application>
  <PresentationFormat>Custom</PresentationFormat>
  <Paragraphs>197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Arial Black</vt:lpstr>
      <vt:lpstr>Lucida Grande</vt:lpstr>
      <vt:lpstr>Menlo</vt:lpstr>
      <vt:lpstr>Tahoma</vt:lpstr>
      <vt:lpstr>Times New Roman</vt:lpstr>
      <vt:lpstr>Trebuchet MS</vt:lpstr>
      <vt:lpstr>Wingdings</vt:lpstr>
      <vt:lpstr>Berlin</vt:lpstr>
      <vt:lpstr>PowerPoint Presentation</vt:lpstr>
      <vt:lpstr>Lambda Calculus</vt:lpstr>
      <vt:lpstr>The structure of lambda terms </vt:lpstr>
      <vt:lpstr>Alpha Equivalence</vt:lpstr>
      <vt:lpstr>Beta Reduction</vt:lpstr>
      <vt:lpstr>Beta Reduction – Example 1</vt:lpstr>
      <vt:lpstr>Beta Reduction – Example 2 </vt:lpstr>
      <vt:lpstr>Beta Reduction-Example 1</vt:lpstr>
      <vt:lpstr>Beta Reduction – Example 2 </vt:lpstr>
      <vt:lpstr>Beta Reduction- Example 3</vt:lpstr>
      <vt:lpstr>PowerPoint Presentation</vt:lpstr>
      <vt:lpstr>Variables</vt:lpstr>
      <vt:lpstr>Variables contd.</vt:lpstr>
      <vt:lpstr>Multiple Arguments</vt:lpstr>
      <vt:lpstr>Multiple Arguments</vt:lpstr>
      <vt:lpstr>Lambda Caculus in Haskell</vt:lpstr>
      <vt:lpstr>Encoding Lambda Calculus</vt:lpstr>
      <vt:lpstr>Encoding Lambda Calculus</vt:lpstr>
      <vt:lpstr>Encoding Lambda Calculus.. contd.</vt:lpstr>
      <vt:lpstr>Encoding Booleans in λ Calculus - IF</vt:lpstr>
      <vt:lpstr>Encoding Booleans in λ Calculus NOT</vt:lpstr>
      <vt:lpstr>Encoding Booleans in λ Calculus - NOT</vt:lpstr>
      <vt:lpstr>Encoding Booleans in λ Calculus - NOT</vt:lpstr>
      <vt:lpstr>Encoding Lambda Calculus.. Exercise</vt:lpstr>
      <vt:lpstr>Encoding Lambda Calculus..video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Mairead Meagher</cp:lastModifiedBy>
  <cp:revision>2</cp:revision>
  <dcterms:created xsi:type="dcterms:W3CDTF">2025-02-01T14:40:59Z</dcterms:created>
  <dcterms:modified xsi:type="dcterms:W3CDTF">2025-02-01T16:38:55Z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2025-01-30T10:00:00Z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2025-02-01T10:00:00Z</vt:filetime>
  </property>
  <property fmtid="{D5CDD505-2E9C-101B-9397-08002B2CF9AE}" pid="5" name="PTEX.Fullbanner">
    <vt:lpwstr>This is pdfTeX, Version 3.141592653-2.6-1.40.26 (TeX Live 2024) kpathsea version 6.4.0</vt:lpwstr>
  </property>
  <property fmtid="{D5CDD505-2E9C-101B-9397-08002B2CF9AE}" pid="6" name="Producer">
    <vt:lpwstr>pdfTeX-1.40.26</vt:lpwstr>
  </property>
</Properties>
</file>