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4418" r:id="rId1"/>
  </p:sldMasterIdLst>
  <p:notesMasterIdLst>
    <p:notesMasterId r:id="rId11"/>
  </p:notesMasterIdLst>
  <p:handoutMasterIdLst>
    <p:handoutMasterId r:id="rId12"/>
  </p:handoutMasterIdLst>
  <p:sldIdLst>
    <p:sldId id="287" r:id="rId2"/>
    <p:sldId id="291" r:id="rId3"/>
    <p:sldId id="282" r:id="rId4"/>
    <p:sldId id="262" r:id="rId5"/>
    <p:sldId id="293" r:id="rId6"/>
    <p:sldId id="265" r:id="rId7"/>
    <p:sldId id="294" r:id="rId8"/>
    <p:sldId id="286" r:id="rId9"/>
    <p:sldId id="295" r:id="rId10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77777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63"/>
    <p:restoredTop sz="94694"/>
  </p:normalViewPr>
  <p:slideViewPr>
    <p:cSldViewPr snapToGrid="0">
      <p:cViewPr varScale="1">
        <p:scale>
          <a:sx n="89" d="100"/>
          <a:sy n="89" d="100"/>
        </p:scale>
        <p:origin x="192" y="7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336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3DCDA175-3554-3F4C-9443-93856A4389F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934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512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5123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8" name="Rectangle 512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92165" name="Rectangle 512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512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512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6A89AEC4-1F65-064C-AF2C-4089AC7AF07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15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34082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335101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6281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28400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574161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613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5DA659-8695-C542-9492-76F85B932C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386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782726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6549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3191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097455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9376823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838690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724673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270268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031045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9296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1/20/25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2870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19" r:id="rId1"/>
    <p:sldLayoutId id="2147484420" r:id="rId2"/>
    <p:sldLayoutId id="2147484421" r:id="rId3"/>
    <p:sldLayoutId id="2147484422" r:id="rId4"/>
    <p:sldLayoutId id="2147484423" r:id="rId5"/>
    <p:sldLayoutId id="2147484424" r:id="rId6"/>
    <p:sldLayoutId id="2147484425" r:id="rId7"/>
    <p:sldLayoutId id="2147484426" r:id="rId8"/>
    <p:sldLayoutId id="2147484427" r:id="rId9"/>
    <p:sldLayoutId id="2147484428" r:id="rId10"/>
    <p:sldLayoutId id="2147484429" r:id="rId11"/>
    <p:sldLayoutId id="2147484430" r:id="rId12"/>
    <p:sldLayoutId id="2147484431" r:id="rId13"/>
    <p:sldLayoutId id="2147484432" r:id="rId14"/>
    <p:sldLayoutId id="2147484433" r:id="rId15"/>
    <p:sldLayoutId id="2147484434" r:id="rId16"/>
    <p:sldLayoutId id="2147484435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6394C08-858D-E041-8935-A2F6BB4489B2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17762" name="Text Box 2"/>
          <p:cNvSpPr txBox="1">
            <a:spLocks noChangeArrowheads="1"/>
          </p:cNvSpPr>
          <p:nvPr/>
        </p:nvSpPr>
        <p:spPr bwMode="auto">
          <a:xfrm>
            <a:off x="1641475" y="1001713"/>
            <a:ext cx="8910638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11776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>
                <a:cs typeface="+mn-cs"/>
              </a:rPr>
              <a:t>Chapter 1 - Introduction</a:t>
            </a:r>
          </a:p>
        </p:txBody>
      </p:sp>
      <p:pic>
        <p:nvPicPr>
          <p:cNvPr id="7172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003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>
          <a:outerShdw blurRad="63500" dist="107763" dir="2700000" algn="ctr" rotWithShape="0">
            <a:srgbClr val="000000">
              <a:alpha val="74998"/>
            </a:srgbClr>
          </a:outerShdw>
        </a:effectLst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Book Title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/>
              <a:t>This course(including slides) is largely based on the book:</a:t>
            </a:r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r>
              <a:rPr lang="en-IE" dirty="0"/>
              <a:t>Programming in Haskell, </a:t>
            </a:r>
          </a:p>
          <a:p>
            <a:pPr marL="0" indent="0">
              <a:buNone/>
            </a:pPr>
            <a:r>
              <a:rPr lang="en-IE" dirty="0"/>
              <a:t>Graham Hutton, 2</a:t>
            </a:r>
            <a:r>
              <a:rPr lang="en-IE" baseline="30000" dirty="0"/>
              <a:t>nd</a:t>
            </a:r>
            <a:r>
              <a:rPr lang="en-IE" dirty="0"/>
              <a:t> Ed, </a:t>
            </a:r>
          </a:p>
          <a:p>
            <a:pPr marL="0" indent="0">
              <a:buNone/>
            </a:pPr>
            <a:r>
              <a:rPr lang="en-IE" dirty="0"/>
              <a:t>Cambridge University Press, </a:t>
            </a:r>
          </a:p>
          <a:p>
            <a:pPr marL="0" indent="0">
              <a:buNone/>
            </a:pPr>
            <a:r>
              <a:rPr lang="en-IE" dirty="0"/>
              <a:t>ISBN 978-1-316-62622-1.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0369" y="2547582"/>
            <a:ext cx="26765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8501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05000" y="381000"/>
            <a:ext cx="8517467" cy="6858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rial Black" charset="0"/>
                <a:ea typeface="ＭＳ Ｐゴシック" charset="0"/>
              </a:rPr>
              <a:t>What is a Functional Programming?</a:t>
            </a:r>
          </a:p>
        </p:txBody>
      </p:sp>
      <p:sp>
        <p:nvSpPr>
          <p:cNvPr id="12289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73732" name="Text Box 4"/>
          <p:cNvSpPr txBox="1">
            <a:spLocks noChangeArrowheads="1"/>
          </p:cNvSpPr>
          <p:nvPr/>
        </p:nvSpPr>
        <p:spPr bwMode="auto">
          <a:xfrm>
            <a:off x="1776413" y="2973388"/>
            <a:ext cx="8031162" cy="2246769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A programming style using functions to compute results.</a:t>
            </a:r>
          </a:p>
          <a:p>
            <a:endParaRPr lang="en-I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Emphasizes immutability, pure functions, and recursion.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/>
          <p:cNvSpPr>
            <a:spLocks noGrp="1" noChangeArrowheads="1"/>
          </p:cNvSpPr>
          <p:nvPr>
            <p:ph type="title"/>
          </p:nvPr>
        </p:nvSpPr>
        <p:spPr>
          <a:xfrm>
            <a:off x="596939" y="451009"/>
            <a:ext cx="9613861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Comparison</a:t>
            </a:r>
          </a:p>
        </p:txBody>
      </p:sp>
      <p:sp>
        <p:nvSpPr>
          <p:cNvPr id="13314" name="Text Box 3"/>
          <p:cNvSpPr txBox="1">
            <a:spLocks noChangeArrowheads="1"/>
          </p:cNvSpPr>
          <p:nvPr/>
        </p:nvSpPr>
        <p:spPr bwMode="auto">
          <a:xfrm>
            <a:off x="2051051" y="1426115"/>
            <a:ext cx="5150769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Summing the integers 1 to 10: </a:t>
            </a:r>
            <a:endParaRPr lang="en-US" sz="3200" dirty="0"/>
          </a:p>
        </p:txBody>
      </p:sp>
      <p:sp>
        <p:nvSpPr>
          <p:cNvPr id="21509" name="Text Box 5"/>
          <p:cNvSpPr txBox="1">
            <a:spLocks noChangeArrowheads="1"/>
          </p:cNvSpPr>
          <p:nvPr/>
        </p:nvSpPr>
        <p:spPr bwMode="auto">
          <a:xfrm>
            <a:off x="328613" y="2619375"/>
            <a:ext cx="5360987" cy="16192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>
            <a:spAutoFit/>
          </a:bodyPr>
          <a:lstStyle/>
          <a:p>
            <a:pPr>
              <a:lnSpc>
                <a:spcPct val="14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int total = 0;</a:t>
            </a:r>
          </a:p>
          <a:p>
            <a:pPr>
              <a:lnSpc>
                <a:spcPct val="14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for (int </a:t>
            </a:r>
            <a:r>
              <a:rPr lang="en-US" sz="2400" dirty="0" err="1">
                <a:latin typeface="Lucida Sans Typewriter" charset="0"/>
                <a:cs typeface="+mn-cs"/>
              </a:rPr>
              <a:t>i</a:t>
            </a:r>
            <a:r>
              <a:rPr lang="en-US" sz="2400" dirty="0">
                <a:latin typeface="Lucida Sans Typewriter" charset="0"/>
                <a:cs typeface="+mn-cs"/>
              </a:rPr>
              <a:t> = 1; </a:t>
            </a:r>
            <a:r>
              <a:rPr lang="en-US" sz="2400" dirty="0" err="1">
                <a:latin typeface="Lucida Sans Typewriter" charset="0"/>
                <a:cs typeface="+mn-cs"/>
              </a:rPr>
              <a:t>i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</a:t>
            </a:r>
            <a:r>
              <a:rPr lang="en-US" sz="2400" dirty="0">
                <a:latin typeface="Lucida Sans Typewriter" charset="0"/>
                <a:cs typeface="+mn-cs"/>
              </a:rPr>
              <a:t> 10; </a:t>
            </a:r>
            <a:r>
              <a:rPr lang="en-US" sz="2400" dirty="0" err="1">
                <a:latin typeface="Lucida Sans Typewriter" charset="0"/>
                <a:cs typeface="+mn-cs"/>
              </a:rPr>
              <a:t>i</a:t>
            </a:r>
            <a:r>
              <a:rPr lang="en-US" sz="2400" dirty="0">
                <a:latin typeface="Lucida Sans Typewriter" charset="0"/>
                <a:cs typeface="+mn-cs"/>
              </a:rPr>
              <a:t>++)</a:t>
            </a:r>
          </a:p>
          <a:p>
            <a:pPr>
              <a:lnSpc>
                <a:spcPct val="14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total = total + </a:t>
            </a:r>
            <a:r>
              <a:rPr lang="en-US" sz="2400" dirty="0" err="1">
                <a:latin typeface="Lucida Sans Typewriter" charset="0"/>
                <a:cs typeface="+mn-cs"/>
              </a:rPr>
              <a:t>i</a:t>
            </a:r>
            <a:r>
              <a:rPr lang="en-US" sz="2400" dirty="0">
                <a:latin typeface="Lucida Sans Typewriter" charset="0"/>
                <a:cs typeface="+mn-cs"/>
              </a:rPr>
              <a:t>;</a:t>
            </a:r>
          </a:p>
        </p:txBody>
      </p:sp>
      <p:sp>
        <p:nvSpPr>
          <p:cNvPr id="21517" name="Text Box 13"/>
          <p:cNvSpPr txBox="1">
            <a:spLocks noChangeArrowheads="1"/>
          </p:cNvSpPr>
          <p:nvPr/>
        </p:nvSpPr>
        <p:spPr bwMode="auto">
          <a:xfrm>
            <a:off x="1137848" y="5023834"/>
            <a:ext cx="4044949" cy="138499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The computation method is </a:t>
            </a:r>
            <a:r>
              <a:rPr lang="en-US" sz="2800" u="sng" dirty="0">
                <a:cs typeface="+mn-cs"/>
              </a:rPr>
              <a:t>variable assignment</a:t>
            </a:r>
            <a:r>
              <a:rPr lang="en-US" sz="2800" dirty="0">
                <a:cs typeface="+mn-cs"/>
              </a:rPr>
              <a:t>. </a:t>
            </a:r>
          </a:p>
        </p:txBody>
      </p:sp>
      <p:sp>
        <p:nvSpPr>
          <p:cNvPr id="13317" name="Rectangle 14"/>
          <p:cNvSpPr>
            <a:spLocks noChangeArrowheads="1"/>
          </p:cNvSpPr>
          <p:nvPr/>
        </p:nvSpPr>
        <p:spPr bwMode="auto">
          <a:xfrm>
            <a:off x="9906000" y="6400800"/>
            <a:ext cx="6096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/>
            <a:fld id="{DC77BFD8-BD49-8346-957F-B986C4376BA8}" type="slidenum">
              <a:rPr lang="en-US" sz="1400"/>
              <a:pPr algn="r"/>
              <a:t>3</a:t>
            </a:fld>
            <a:endParaRPr lang="en-US" sz="1400"/>
          </a:p>
        </p:txBody>
      </p:sp>
      <p:sp>
        <p:nvSpPr>
          <p:cNvPr id="4" name="Text Box 6">
            <a:extLst>
              <a:ext uri="{FF2B5EF4-FFF2-40B4-BE49-F238E27FC236}">
                <a16:creationId xmlns:a16="http://schemas.microsoft.com/office/drawing/2014/main" id="{0F141854-E822-C989-A6D6-4A3D0BB4B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3206750"/>
            <a:ext cx="22098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sum [1..10]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FB110E-49E4-4163-1839-2B621F8901D8}"/>
              </a:ext>
            </a:extLst>
          </p:cNvPr>
          <p:cNvSpPr txBox="1"/>
          <p:nvPr/>
        </p:nvSpPr>
        <p:spPr>
          <a:xfrm>
            <a:off x="2051051" y="2080329"/>
            <a:ext cx="1109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Java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DF74AD-2E4F-1A7C-2127-CADD96FF74E2}"/>
              </a:ext>
            </a:extLst>
          </p:cNvPr>
          <p:cNvSpPr txBox="1"/>
          <p:nvPr/>
        </p:nvSpPr>
        <p:spPr>
          <a:xfrm>
            <a:off x="8017006" y="2103765"/>
            <a:ext cx="15889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Haskel</a:t>
            </a:r>
            <a:r>
              <a:rPr lang="en-US" dirty="0"/>
              <a:t>l</a:t>
            </a:r>
          </a:p>
        </p:txBody>
      </p:sp>
      <p:sp>
        <p:nvSpPr>
          <p:cNvPr id="7" name="Text Box 9">
            <a:extLst>
              <a:ext uri="{FF2B5EF4-FFF2-40B4-BE49-F238E27FC236}">
                <a16:creationId xmlns:a16="http://schemas.microsoft.com/office/drawing/2014/main" id="{B3B77221-1D52-E0DD-746C-9986BBB58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39805" y="5015804"/>
            <a:ext cx="3488857" cy="138499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The computation method is </a:t>
            </a:r>
            <a:r>
              <a:rPr lang="en-US" sz="2800" u="sng" dirty="0">
                <a:cs typeface="+mn-cs"/>
              </a:rPr>
              <a:t>function application</a:t>
            </a:r>
            <a:r>
              <a:rPr lang="en-US" sz="2800" dirty="0">
                <a:cs typeface="+mn-cs"/>
              </a:rPr>
              <a:t>.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5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15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9" grpId="0" animBg="1"/>
      <p:bldP spid="21517" grpId="0"/>
      <p:bldP spid="4" grpId="0" animBg="1"/>
      <p:bldP spid="5" grpId="0"/>
      <p:bldP spid="6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6D53A-99CE-C4C1-20F7-0EBB2AF00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152400"/>
            <a:ext cx="10668000" cy="1330569"/>
          </a:xfrm>
        </p:spPr>
        <p:txBody>
          <a:bodyPr>
            <a:normAutofit/>
          </a:bodyPr>
          <a:lstStyle/>
          <a:p>
            <a:r>
              <a:rPr lang="en-IE" dirty="0"/>
              <a:t>Key Characteristics of Functional Programming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06AA7B-E842-B32E-E939-9DD066917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45FBDC-4E4B-A593-6E64-EF2EE172490C}"/>
              </a:ext>
            </a:extLst>
          </p:cNvPr>
          <p:cNvSpPr txBox="1"/>
          <p:nvPr/>
        </p:nvSpPr>
        <p:spPr>
          <a:xfrm>
            <a:off x="682824" y="1922585"/>
            <a:ext cx="1049317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dirty="0"/>
              <a:t>- </a:t>
            </a:r>
            <a:r>
              <a:rPr lang="en-IE" sz="3200" b="1" dirty="0"/>
              <a:t>Immutability</a:t>
            </a:r>
            <a:r>
              <a:rPr lang="en-IE" sz="3200" dirty="0"/>
              <a:t>: Variables don't change once set.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dirty="0"/>
              <a:t>- </a:t>
            </a:r>
            <a:r>
              <a:rPr lang="en-IE" sz="3200" b="1" dirty="0"/>
              <a:t>Higher-order functions</a:t>
            </a:r>
            <a:r>
              <a:rPr lang="en-IE" sz="3200" dirty="0"/>
              <a:t>: Functions as arguments or return values.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dirty="0"/>
              <a:t>- </a:t>
            </a:r>
            <a:r>
              <a:rPr lang="en-IE" sz="3200" b="1" dirty="0"/>
              <a:t>Pure functions</a:t>
            </a:r>
            <a:r>
              <a:rPr lang="en-IE" sz="3200" dirty="0"/>
              <a:t>: No side effects.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dirty="0"/>
              <a:t>- </a:t>
            </a:r>
            <a:r>
              <a:rPr lang="en-IE" sz="3200" b="1" dirty="0"/>
              <a:t>Lazy evaluation</a:t>
            </a:r>
            <a:r>
              <a:rPr lang="en-IE" sz="3200" dirty="0"/>
              <a:t>: Values computed only when needed.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dirty="0"/>
              <a:t>- Recursion: Functions calling themselves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13929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2"/>
          <p:cNvSpPr>
            <a:spLocks noGrp="1" noChangeArrowheads="1"/>
          </p:cNvSpPr>
          <p:nvPr>
            <p:ph type="title"/>
          </p:nvPr>
        </p:nvSpPr>
        <p:spPr>
          <a:xfrm>
            <a:off x="508000" y="380999"/>
            <a:ext cx="10979150" cy="1079501"/>
          </a:xfrm>
        </p:spPr>
        <p:txBody>
          <a:bodyPr>
            <a:normAutofit/>
          </a:bodyPr>
          <a:lstStyle/>
          <a:p>
            <a:r>
              <a:rPr lang="en-US" dirty="0">
                <a:latin typeface="Arial Black" charset="0"/>
                <a:ea typeface="ＭＳ Ｐゴシック" charset="0"/>
              </a:rPr>
              <a:t>Historical </a:t>
            </a:r>
            <a:r>
              <a:rPr lang="en-IE" dirty="0">
                <a:latin typeface="Arial Black" charset="0"/>
                <a:ea typeface="ＭＳ Ｐゴシック" charset="0"/>
              </a:rPr>
              <a:t>Evolution of Functional Programming</a:t>
            </a:r>
            <a:endParaRPr lang="en-US" dirty="0">
              <a:latin typeface="Arial Black" charset="0"/>
              <a:ea typeface="ＭＳ Ｐゴシック" charset="0"/>
            </a:endParaRPr>
          </a:p>
        </p:txBody>
      </p:sp>
      <p:sp>
        <p:nvSpPr>
          <p:cNvPr id="16388" name="Rectangle 7"/>
          <p:cNvSpPr>
            <a:spLocks noChangeArrowheads="1"/>
          </p:cNvSpPr>
          <p:nvPr/>
        </p:nvSpPr>
        <p:spPr bwMode="auto">
          <a:xfrm>
            <a:off x="9906000" y="6400800"/>
            <a:ext cx="6096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/>
            <a:fld id="{47E635E4-4778-3447-8881-18D4DDCAC112}" type="slidenum">
              <a:rPr lang="en-US" sz="1400"/>
              <a:pPr algn="r"/>
              <a:t>5</a:t>
            </a:fld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83CFB0-40B0-64AB-8A4A-5112499515B8}"/>
              </a:ext>
            </a:extLst>
          </p:cNvPr>
          <p:cNvSpPr txBox="1"/>
          <p:nvPr/>
        </p:nvSpPr>
        <p:spPr>
          <a:xfrm>
            <a:off x="1133231" y="1659285"/>
            <a:ext cx="9077569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1930’</a:t>
            </a:r>
            <a:r>
              <a:rPr lang="en-IE" sz="3200" dirty="0"/>
              <a:t>s :  Lambda calculus by Alonzo Church.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1950’s:</a:t>
            </a:r>
            <a:r>
              <a:rPr lang="en-IE" sz="3200" dirty="0"/>
              <a:t> Lisp by John McCarthy.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1960’s </a:t>
            </a:r>
            <a:r>
              <a:rPr lang="en-IE" sz="3200" dirty="0"/>
              <a:t>: ISWIM by Peter Landin.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1970’s</a:t>
            </a:r>
            <a:r>
              <a:rPr lang="en-IE" sz="3200" dirty="0"/>
              <a:t> : FP (Backus) and ML (Milner).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1980’s</a:t>
            </a:r>
            <a:r>
              <a:rPr lang="en-IE" sz="3200" dirty="0"/>
              <a:t> : Miranda (Turner).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1987</a:t>
            </a:r>
            <a:r>
              <a:rPr lang="en-IE" sz="3200" dirty="0"/>
              <a:t> : Haskell development begins.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2003</a:t>
            </a:r>
            <a:r>
              <a:rPr lang="en-IE" sz="3200" dirty="0"/>
              <a:t> : Haskell Report published.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2010+</a:t>
            </a:r>
            <a:r>
              <a:rPr lang="en-IE" sz="3200" dirty="0"/>
              <a:t> : Modern Haskell advancements.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9D959-E1B7-DD2A-9D30-725B49805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Why Haskell?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9642F0-0982-A258-336C-EB8DE3B6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FFABF2-8723-F4F2-3B92-4747C5ADC59B}"/>
              </a:ext>
            </a:extLst>
          </p:cNvPr>
          <p:cNvSpPr txBox="1">
            <a:spLocks/>
          </p:cNvSpPr>
          <p:nvPr/>
        </p:nvSpPr>
        <p:spPr>
          <a:xfrm>
            <a:off x="1574800" y="1874837"/>
            <a:ext cx="9601200" cy="4525963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Strong type system </a:t>
            </a:r>
            <a:r>
              <a:rPr lang="en-IE" sz="3200" spc="300" dirty="0">
                <a:latin typeface="Tahoma" charset="0"/>
                <a:ea typeface="ＭＳ Ｐゴシック" charset="0"/>
              </a:rPr>
              <a:t>with type inference.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Lazy evaluation </a:t>
            </a:r>
            <a:r>
              <a:rPr lang="en-IE" sz="3200" spc="300" dirty="0">
                <a:latin typeface="Tahoma" charset="0"/>
                <a:ea typeface="ＭＳ Ｐゴシック" charset="0"/>
              </a:rPr>
              <a:t>for efficiency.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Expressive syntax </a:t>
            </a:r>
            <a:r>
              <a:rPr lang="en-IE" sz="3200" spc="300" dirty="0">
                <a:latin typeface="Tahoma" charset="0"/>
                <a:ea typeface="ＭＳ Ｐゴシック" charset="0"/>
              </a:rPr>
              <a:t>for clean code.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spc="300" dirty="0">
                <a:latin typeface="Tahoma" charset="0"/>
                <a:ea typeface="ＭＳ Ｐゴシック" charset="0"/>
              </a:rPr>
              <a:t>Extensive library and tooling support.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spc="300" dirty="0">
                <a:latin typeface="Tahoma" charset="0"/>
                <a:ea typeface="ＭＳ Ｐゴシック" charset="0"/>
              </a:rPr>
              <a:t>Promotes reasoning about programs.</a:t>
            </a:r>
          </a:p>
        </p:txBody>
      </p:sp>
    </p:spTree>
    <p:extLst>
      <p:ext uri="{BB962C8B-B14F-4D97-AF65-F5344CB8AC3E}">
        <p14:creationId xmlns:p14="http://schemas.microsoft.com/office/powerpoint/2010/main" val="21193476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Arial Black" charset="0"/>
                <a:ea typeface="ＭＳ Ｐゴシック" charset="0"/>
              </a:rPr>
              <a:t>Basic Syntax in Haskell</a:t>
            </a:r>
          </a:p>
        </p:txBody>
      </p:sp>
      <p:sp>
        <p:nvSpPr>
          <p:cNvPr id="112643" name="Text Box 3"/>
          <p:cNvSpPr txBox="1">
            <a:spLocks noChangeArrowheads="1"/>
          </p:cNvSpPr>
          <p:nvPr/>
        </p:nvSpPr>
        <p:spPr bwMode="auto">
          <a:xfrm>
            <a:off x="2020094" y="1798576"/>
            <a:ext cx="7339012" cy="28305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 []     = []</a:t>
            </a:r>
          </a:p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 (</a:t>
            </a:r>
            <a:r>
              <a:rPr lang="en-US" sz="2400" dirty="0" err="1">
                <a:latin typeface="Lucida Sans Typewriter" charset="0"/>
                <a:cs typeface="+mn-cs"/>
              </a:rPr>
              <a:t>x:xs</a:t>
            </a:r>
            <a:r>
              <a:rPr lang="en-US" sz="2400" dirty="0">
                <a:latin typeface="Lucida Sans Typewriter" charset="0"/>
                <a:cs typeface="+mn-cs"/>
              </a:rPr>
              <a:t>) = f </a:t>
            </a:r>
            <a:r>
              <a:rPr lang="en-US" sz="2400" dirty="0" err="1">
                <a:latin typeface="Lucida Sans Typewriter" charset="0"/>
                <a:cs typeface="+mn-cs"/>
              </a:rPr>
              <a:t>ys</a:t>
            </a:r>
            <a:r>
              <a:rPr lang="en-US" sz="2400" dirty="0">
                <a:latin typeface="Lucida Sans Typewriter" charset="0"/>
                <a:cs typeface="+mn-cs"/>
              </a:rPr>
              <a:t> ++ [x] ++ f zs</a:t>
            </a:r>
          </a:p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   where</a:t>
            </a:r>
          </a:p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      </a:t>
            </a:r>
            <a:r>
              <a:rPr lang="en-US" sz="2400" dirty="0" err="1">
                <a:latin typeface="Lucida Sans Typewriter" charset="0"/>
                <a:cs typeface="+mn-cs"/>
              </a:rPr>
              <a:t>ys</a:t>
            </a:r>
            <a:r>
              <a:rPr lang="en-US" sz="2400" dirty="0">
                <a:latin typeface="Lucida Sans Typewriter" charset="0"/>
                <a:cs typeface="+mn-cs"/>
              </a:rPr>
              <a:t> = [a | a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xs</a:t>
            </a:r>
            <a:r>
              <a:rPr lang="en-US" sz="2400" dirty="0">
                <a:latin typeface="Lucida Sans Typewriter" charset="0"/>
                <a:cs typeface="+mn-cs"/>
              </a:rPr>
              <a:t>, a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</a:t>
            </a:r>
            <a:r>
              <a:rPr lang="en-US" sz="2400" dirty="0">
                <a:latin typeface="Lucida Sans Typewriter" charset="0"/>
                <a:cs typeface="+mn-cs"/>
              </a:rPr>
              <a:t> x]</a:t>
            </a:r>
          </a:p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      zs = [b | b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xs</a:t>
            </a:r>
            <a:r>
              <a:rPr lang="en-US" sz="2400" dirty="0">
                <a:latin typeface="Lucida Sans Typewriter" charset="0"/>
                <a:cs typeface="+mn-cs"/>
              </a:rPr>
              <a:t>, b &gt; x]</a:t>
            </a:r>
          </a:p>
        </p:txBody>
      </p:sp>
      <p:sp>
        <p:nvSpPr>
          <p:cNvPr id="112644" name="Text Box 4"/>
          <p:cNvSpPr txBox="1">
            <a:spLocks noChangeArrowheads="1"/>
          </p:cNvSpPr>
          <p:nvPr/>
        </p:nvSpPr>
        <p:spPr bwMode="auto">
          <a:xfrm>
            <a:off x="2294247" y="4951274"/>
            <a:ext cx="6790706" cy="1754326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600" dirty="0"/>
              <a:t>Pattern matching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600" dirty="0"/>
              <a:t>List comprehensions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600" dirty="0"/>
              <a:t>Recursive definitions</a:t>
            </a:r>
          </a:p>
        </p:txBody>
      </p:sp>
      <p:sp>
        <p:nvSpPr>
          <p:cNvPr id="25604" name="Rectangle 5"/>
          <p:cNvSpPr>
            <a:spLocks noChangeArrowheads="1"/>
          </p:cNvSpPr>
          <p:nvPr/>
        </p:nvSpPr>
        <p:spPr bwMode="auto">
          <a:xfrm>
            <a:off x="9906000" y="6400800"/>
            <a:ext cx="6096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/>
            <a:fld id="{758F248A-3C19-B143-AB74-716CFA3E8BDE}" type="slidenum">
              <a:rPr lang="en-US" sz="1400"/>
              <a:pPr algn="r"/>
              <a:t>7</a:t>
            </a:fld>
            <a:endParaRPr lang="en-US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6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6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126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26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26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664F2-D065-D2F1-A6A8-CBEC5427B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 world applications of Haskell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ABF9C8-6AD5-7C77-549E-C40A7B084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A0C12C0-908C-B6C9-7A04-9160DCF35572}"/>
              </a:ext>
            </a:extLst>
          </p:cNvPr>
          <p:cNvSpPr txBox="1">
            <a:spLocks/>
          </p:cNvSpPr>
          <p:nvPr/>
        </p:nvSpPr>
        <p:spPr>
          <a:xfrm>
            <a:off x="557213" y="2562674"/>
            <a:ext cx="8229600" cy="2461161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kern="0" dirty="0"/>
              <a:t>Data analysis and processing.</a:t>
            </a:r>
          </a:p>
          <a:p>
            <a:pPr marL="0" indent="0">
              <a:buClr>
                <a:schemeClr val="tx1"/>
              </a:buClr>
              <a:buNone/>
            </a:pPr>
            <a:endParaRPr lang="en-IE" kern="0" dirty="0"/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kern="0" dirty="0"/>
              <a:t>Blockchain (e.g., </a:t>
            </a:r>
            <a:r>
              <a:rPr lang="en-IE" kern="0" dirty="0" err="1"/>
              <a:t>Cardano</a:t>
            </a:r>
            <a:r>
              <a:rPr lang="en-IE" kern="0" dirty="0"/>
              <a:t>).</a:t>
            </a:r>
          </a:p>
          <a:p>
            <a:pPr marL="0" indent="0">
              <a:buClr>
                <a:schemeClr val="tx1"/>
              </a:buClr>
              <a:buNone/>
            </a:pPr>
            <a:endParaRPr lang="en-IE" kern="0" dirty="0"/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kern="0" dirty="0"/>
              <a:t>Compilers and language tooling.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IE" kern="0" dirty="0"/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kern="0" dirty="0"/>
              <a:t>Web development frameworks.</a:t>
            </a:r>
          </a:p>
        </p:txBody>
      </p:sp>
    </p:spTree>
    <p:extLst>
      <p:ext uri="{BB962C8B-B14F-4D97-AF65-F5344CB8AC3E}">
        <p14:creationId xmlns:p14="http://schemas.microsoft.com/office/powerpoint/2010/main" val="2041776180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1665</TotalTime>
  <Words>358</Words>
  <Application>Microsoft Macintosh PowerPoint</Application>
  <PresentationFormat>Widescreen</PresentationFormat>
  <Paragraphs>69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Arial Black</vt:lpstr>
      <vt:lpstr>Calibri</vt:lpstr>
      <vt:lpstr>Lucida Sans Typewriter</vt:lpstr>
      <vt:lpstr>Monotype Sorts</vt:lpstr>
      <vt:lpstr>Tahoma</vt:lpstr>
      <vt:lpstr>Times New Roman</vt:lpstr>
      <vt:lpstr>Trebuchet MS</vt:lpstr>
      <vt:lpstr>Berlin</vt:lpstr>
      <vt:lpstr>PowerPoint Presentation</vt:lpstr>
      <vt:lpstr>Book Title </vt:lpstr>
      <vt:lpstr>What is a Functional Programming?</vt:lpstr>
      <vt:lpstr>Comparison</vt:lpstr>
      <vt:lpstr>Key Characteristics of Functional Programming</vt:lpstr>
      <vt:lpstr>Historical Evolution of Functional Programming</vt:lpstr>
      <vt:lpstr>Why Haskell?</vt:lpstr>
      <vt:lpstr>Basic Syntax in Haskell</vt:lpstr>
      <vt:lpstr>Real world applications of Haskell</vt:lpstr>
    </vt:vector>
  </TitlesOfParts>
  <Manager/>
  <Company>University of Nottingham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subject/>
  <dc:creator>Dr. Graham Hutton</dc:creator>
  <cp:keywords/>
  <dc:description/>
  <cp:lastModifiedBy>Mairead Meagher</cp:lastModifiedBy>
  <cp:revision>207</cp:revision>
  <cp:lastPrinted>2017-11-08T23:35:25Z</cp:lastPrinted>
  <dcterms:created xsi:type="dcterms:W3CDTF">2000-11-20T11:40:19Z</dcterms:created>
  <dcterms:modified xsi:type="dcterms:W3CDTF">2025-01-20T03:54:29Z</dcterms:modified>
  <cp:category/>
</cp:coreProperties>
</file>