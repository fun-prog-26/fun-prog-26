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4418" r:id="rId1"/>
  </p:sldMasterIdLst>
  <p:notesMasterIdLst>
    <p:notesMasterId r:id="rId15"/>
  </p:notesMasterIdLst>
  <p:handoutMasterIdLst>
    <p:handoutMasterId r:id="rId16"/>
  </p:handoutMasterIdLst>
  <p:sldIdLst>
    <p:sldId id="287" r:id="rId2"/>
    <p:sldId id="291" r:id="rId3"/>
    <p:sldId id="282" r:id="rId4"/>
    <p:sldId id="367" r:id="rId5"/>
    <p:sldId id="314" r:id="rId6"/>
    <p:sldId id="365" r:id="rId7"/>
    <p:sldId id="366" r:id="rId8"/>
    <p:sldId id="296" r:id="rId9"/>
    <p:sldId id="293" r:id="rId10"/>
    <p:sldId id="297" r:id="rId11"/>
    <p:sldId id="294" r:id="rId12"/>
    <p:sldId id="298" r:id="rId13"/>
    <p:sldId id="295" r:id="rId14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77777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4"/>
    <p:restoredTop sz="94712"/>
  </p:normalViewPr>
  <p:slideViewPr>
    <p:cSldViewPr snapToGrid="0">
      <p:cViewPr varScale="1">
        <p:scale>
          <a:sx n="72" d="100"/>
          <a:sy n="72" d="100"/>
        </p:scale>
        <p:origin x="240" y="7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336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3DCDA175-3554-3F4C-9443-93856A4389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3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512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512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512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512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512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512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A89AEC4-1F65-064C-AF2C-4089AC7AF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1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4082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33510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281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840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41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13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5DA659-8695-C542-9492-76F85B932C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8272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54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319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974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937682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386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2467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7026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03104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296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7EB5333-9618-9C48-8339-599EF059349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87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19" r:id="rId1"/>
    <p:sldLayoutId id="2147484420" r:id="rId2"/>
    <p:sldLayoutId id="2147484421" r:id="rId3"/>
    <p:sldLayoutId id="2147484422" r:id="rId4"/>
    <p:sldLayoutId id="2147484423" r:id="rId5"/>
    <p:sldLayoutId id="2147484424" r:id="rId6"/>
    <p:sldLayoutId id="2147484425" r:id="rId7"/>
    <p:sldLayoutId id="2147484426" r:id="rId8"/>
    <p:sldLayoutId id="2147484427" r:id="rId9"/>
    <p:sldLayoutId id="2147484428" r:id="rId10"/>
    <p:sldLayoutId id="2147484429" r:id="rId11"/>
    <p:sldLayoutId id="2147484430" r:id="rId12"/>
    <p:sldLayoutId id="2147484431" r:id="rId13"/>
    <p:sldLayoutId id="2147484432" r:id="rId14"/>
    <p:sldLayoutId id="2147484433" r:id="rId15"/>
    <p:sldLayoutId id="2147484434" r:id="rId16"/>
    <p:sldLayoutId id="214748443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6394C08-858D-E041-8935-A2F6BB4489B2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1641475" y="1001713"/>
            <a:ext cx="8910638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11776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>
                <a:cs typeface="+mn-cs"/>
              </a:rPr>
              <a:t>Chapter 1 - Introduction</a:t>
            </a:r>
          </a:p>
        </p:txBody>
      </p:sp>
      <p:pic>
        <p:nvPicPr>
          <p:cNvPr id="7172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003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Book Title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/>
              <a:t>This course(including slides) is largely based on the book:</a:t>
            </a:r>
          </a:p>
          <a:p>
            <a:pPr marL="0" indent="0">
              <a:buNone/>
            </a:pPr>
            <a:endParaRPr lang="en-IE" dirty="0"/>
          </a:p>
          <a:p>
            <a:pPr marL="0" indent="0">
              <a:buNone/>
            </a:pPr>
            <a:r>
              <a:rPr lang="en-IE" dirty="0"/>
              <a:t>Programming in Haskell, </a:t>
            </a:r>
          </a:p>
          <a:p>
            <a:pPr marL="0" indent="0">
              <a:buNone/>
            </a:pPr>
            <a:r>
              <a:rPr lang="en-IE" dirty="0"/>
              <a:t>Graham Hutton, 2</a:t>
            </a:r>
            <a:r>
              <a:rPr lang="en-IE" baseline="30000" dirty="0"/>
              <a:t>nd</a:t>
            </a:r>
            <a:r>
              <a:rPr lang="en-IE" dirty="0"/>
              <a:t> Ed, </a:t>
            </a:r>
          </a:p>
          <a:p>
            <a:pPr marL="0" indent="0">
              <a:buNone/>
            </a:pPr>
            <a:r>
              <a:rPr lang="en-IE" dirty="0"/>
              <a:t>Cambridge University Press, </a:t>
            </a:r>
          </a:p>
          <a:p>
            <a:pPr marL="0" indent="0">
              <a:buNone/>
            </a:pPr>
            <a:r>
              <a:rPr lang="en-IE" dirty="0"/>
              <a:t>ISBN 978-1-316-62622-1.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629" y="2772869"/>
            <a:ext cx="2676525" cy="34290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50BB52E-2E51-6F82-6977-BD56470A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1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64785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0108" y="952043"/>
            <a:ext cx="8517467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charset="0"/>
                <a:ea typeface="ＭＳ Ｐゴシック" charset="0"/>
              </a:rPr>
              <a:t>What is a Functional Programming?</a:t>
            </a:r>
          </a:p>
        </p:txBody>
      </p:sp>
      <p:sp>
        <p:nvSpPr>
          <p:cNvPr id="1228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2</a:t>
            </a:fld>
            <a:endParaRPr lang="en-US" sz="1400" dirty="0"/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776413" y="2973388"/>
            <a:ext cx="8031162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A programming style using functions to compute results.</a:t>
            </a:r>
          </a:p>
          <a:p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Emphasizes immutability, pure functions, and recursion.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>
            <a:extLst>
              <a:ext uri="{FF2B5EF4-FFF2-40B4-BE49-F238E27FC236}">
                <a16:creationId xmlns:a16="http://schemas.microsoft.com/office/drawing/2014/main" id="{5F95D75C-E68A-018D-C4B4-2F4F19107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81279" bIns="45720" rtlCol="0" anchor="ctr">
            <a:noAutofit/>
          </a:bodyPr>
          <a:lstStyle/>
          <a:p>
            <a:pPr marL="382588" indent="-182880" algn="ctr">
              <a:defRPr/>
            </a:pPr>
            <a:r>
              <a:rPr lang="en-US" sz="3200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Why Functional Programming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EF5EF14C-D44C-C7CD-0DFB-B20F1C1E08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54966" y="2507434"/>
            <a:ext cx="7467600" cy="4600575"/>
          </a:xfrm>
        </p:spPr>
        <p:txBody>
          <a:bodyPr vert="horz" lIns="91440" tIns="45720" rIns="233680" bIns="45720" rtlCol="0">
            <a:normAutofit/>
          </a:bodyPr>
          <a:lstStyle/>
          <a:p>
            <a:pPr marL="382588" indent="-182880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A different way to think and think about programming and solving problems. </a:t>
            </a:r>
          </a:p>
          <a:p>
            <a:pPr marL="382588" indent="-182880"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</a:endParaRPr>
          </a:p>
          <a:p>
            <a:pPr marL="382588" indent="-182880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</a:rPr>
              <a:t>A great way to get good at recursion</a:t>
            </a:r>
          </a:p>
          <a:p>
            <a:pPr marL="199708" indent="0"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panose="020B0603020202020204" pitchFamily="34" charset="0"/>
              <a:ea typeface="ＭＳ Ｐゴシック" charset="0"/>
            </a:endParaRPr>
          </a:p>
          <a:p>
            <a:pPr marL="382588" indent="-182880">
              <a:defRPr/>
            </a:pPr>
            <a:r>
              <a:rPr lang="en-US" dirty="0">
                <a:ln>
                  <a:solidFill>
                    <a:schemeClr val="tx1"/>
                  </a:solidFill>
                </a:ln>
                <a:latin typeface="Trebuchet MS" panose="020B0603020202020204" pitchFamily="34" charset="0"/>
                <a:ea typeface="ＭＳ Ｐゴシック" charset="0"/>
              </a:rPr>
              <a:t>A lot of companies are using it..</a:t>
            </a:r>
          </a:p>
          <a:p>
            <a:pPr marL="474345" lvl="1" indent="0">
              <a:buNone/>
              <a:defRPr/>
            </a:pPr>
            <a:endParaRPr lang="en-US" dirty="0">
              <a:ln>
                <a:solidFill>
                  <a:schemeClr val="tx1"/>
                </a:solidFill>
              </a:ln>
              <a:latin typeface="Trebuchet MS" charset="0"/>
            </a:endParaRPr>
          </a:p>
          <a:p>
            <a:pPr marL="382588" indent="-182880">
              <a:buNone/>
              <a:defRPr/>
            </a:pPr>
            <a:endParaRPr lang="en-US" dirty="0">
              <a:latin typeface="Trebuchet MS" charset="0"/>
            </a:endParaRPr>
          </a:p>
          <a:p>
            <a:pPr marL="382588" indent="-182880">
              <a:buNone/>
              <a:defRPr/>
            </a:pPr>
            <a:endParaRPr lang="en-US" dirty="0">
              <a:latin typeface="Trebuchet MS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6FB7C95-15F0-7ACE-A61D-964BF1FB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3</a:t>
            </a:fld>
            <a:endParaRPr 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55BDBF6-8477-7C0C-05E1-33DDCFE62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What’s different from what you’ve seen</a:t>
            </a:r>
          </a:p>
        </p:txBody>
      </p:sp>
      <p:pic>
        <p:nvPicPr>
          <p:cNvPr id="19458" name="Content Placeholder 2">
            <a:extLst>
              <a:ext uri="{FF2B5EF4-FFF2-40B4-BE49-F238E27FC236}">
                <a16:creationId xmlns:a16="http://schemas.microsoft.com/office/drawing/2014/main" id="{34D06853-73A0-90FB-8033-86D8BA2E55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60600" y="2211388"/>
            <a:ext cx="7670800" cy="3302000"/>
          </a:xfrm>
        </p:spPr>
      </p:pic>
      <p:sp>
        <p:nvSpPr>
          <p:cNvPr id="19459" name="TextBox 3">
            <a:extLst>
              <a:ext uri="{FF2B5EF4-FFF2-40B4-BE49-F238E27FC236}">
                <a16:creationId xmlns:a16="http://schemas.microsoft.com/office/drawing/2014/main" id="{27D46C91-612D-BE32-B33C-07D6CF9F4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6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9BA90-11DD-BDDA-0D75-CBAFAF33C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5732464"/>
            <a:ext cx="2846387" cy="3698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800"/>
              <a:t>How to do it, not what to do</a:t>
            </a:r>
            <a:endParaRPr lang="en-US" altLang="en-US" sz="1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241B0-41D1-A840-6F61-24071E4FC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5732464"/>
            <a:ext cx="2916238" cy="3698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E" altLang="en-US" sz="1800"/>
              <a:t>What to do, not how to do it.</a:t>
            </a:r>
            <a:endParaRPr lang="en-US" altLang="en-US" sz="1800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CCD4D79D-E966-4AC7-6836-E6B42D63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4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C3905C01-253E-32C0-F967-89C65D507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/>
              <a:t>What’s different from what you’ve seen</a:t>
            </a:r>
          </a:p>
        </p:txBody>
      </p:sp>
      <p:sp>
        <p:nvSpPr>
          <p:cNvPr id="20482" name="TextBox 3">
            <a:extLst>
              <a:ext uri="{FF2B5EF4-FFF2-40B4-BE49-F238E27FC236}">
                <a16:creationId xmlns:a16="http://schemas.microsoft.com/office/drawing/2014/main" id="{BFA6BF83-D269-09A5-9B06-CE08928C6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6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2D489-EEA3-350D-B119-F92A589C99B4}"/>
              </a:ext>
            </a:extLst>
          </p:cNvPr>
          <p:cNvSpPr txBox="1"/>
          <p:nvPr/>
        </p:nvSpPr>
        <p:spPr>
          <a:xfrm>
            <a:off x="2063751" y="3860800"/>
            <a:ext cx="3140603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How to do it, not what to do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D939B-E155-50A5-9A26-BD40B6F90A94}"/>
              </a:ext>
            </a:extLst>
          </p:cNvPr>
          <p:cNvSpPr txBox="1"/>
          <p:nvPr/>
        </p:nvSpPr>
        <p:spPr>
          <a:xfrm>
            <a:off x="6383339" y="3860800"/>
            <a:ext cx="322716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What to do, not how to do it.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1D96C-6405-E315-0CAB-1EB4897A20C7}"/>
              </a:ext>
            </a:extLst>
          </p:cNvPr>
          <p:cNvSpPr txBox="1"/>
          <p:nvPr/>
        </p:nvSpPr>
        <p:spPr>
          <a:xfrm>
            <a:off x="1524001" y="2108134"/>
            <a:ext cx="8650912" cy="830997"/>
          </a:xfrm>
          <a:prstGeom prst="rect">
            <a:avLst/>
          </a:prstGeom>
          <a:solidFill>
            <a:schemeClr val="accent4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/>
              <a:t>Explain to your friend : What is an orange peanut? </a:t>
            </a:r>
          </a:p>
          <a:p>
            <a:pPr algn="ctr">
              <a:defRPr/>
            </a:pPr>
            <a:r>
              <a:rPr lang="en-US" sz="2400" dirty="0"/>
              <a:t>(He only knows brown peanuts)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51F8A-08B7-1AE0-A7D9-53C7D10DCA07}"/>
              </a:ext>
            </a:extLst>
          </p:cNvPr>
          <p:cNvSpPr txBox="1"/>
          <p:nvPr/>
        </p:nvSpPr>
        <p:spPr>
          <a:xfrm>
            <a:off x="2063750" y="3213100"/>
            <a:ext cx="2808288" cy="3698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lIns="36000" anchor="ctr">
            <a:spAutoFit/>
          </a:bodyPr>
          <a:lstStyle/>
          <a:p>
            <a:pPr algn="ctr">
              <a:defRPr/>
            </a:pPr>
            <a:r>
              <a:rPr lang="en-US" dirty="0"/>
              <a:t>Imperative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49006-FFF9-5880-30A9-230259386E87}"/>
              </a:ext>
            </a:extLst>
          </p:cNvPr>
          <p:cNvSpPr txBox="1"/>
          <p:nvPr/>
        </p:nvSpPr>
        <p:spPr>
          <a:xfrm>
            <a:off x="6383338" y="3213100"/>
            <a:ext cx="2881312" cy="36988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IE" dirty="0"/>
              <a:t>Functional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0BBCA-2D89-F96C-7408-0B21B36A1826}"/>
              </a:ext>
            </a:extLst>
          </p:cNvPr>
          <p:cNvSpPr txBox="1"/>
          <p:nvPr/>
        </p:nvSpPr>
        <p:spPr>
          <a:xfrm>
            <a:off x="2063751" y="4797425"/>
            <a:ext cx="3095625" cy="12001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That brown peanut you have : Paint it orange. </a:t>
            </a:r>
          </a:p>
          <a:p>
            <a:pPr>
              <a:defRPr/>
            </a:pPr>
            <a:r>
              <a:rPr lang="en-US" dirty="0"/>
              <a:t>That’s what an orange peanut 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A61EA-950D-5FDB-387D-E035E4CC168F}"/>
              </a:ext>
            </a:extLst>
          </p:cNvPr>
          <p:cNvSpPr txBox="1"/>
          <p:nvPr/>
        </p:nvSpPr>
        <p:spPr>
          <a:xfrm>
            <a:off x="6311900" y="4724401"/>
            <a:ext cx="3455988" cy="20313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That brown peanut that you have: </a:t>
            </a:r>
          </a:p>
          <a:p>
            <a:pPr>
              <a:defRPr/>
            </a:pPr>
            <a:r>
              <a:rPr lang="en-US" dirty="0"/>
              <a:t>If you had another peanut that’s just like it in every way except that it’s orange.</a:t>
            </a:r>
          </a:p>
          <a:p>
            <a:pPr>
              <a:defRPr/>
            </a:pPr>
            <a:r>
              <a:rPr lang="en-US" dirty="0"/>
              <a:t>That’s what an orange peanut is.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D5739E7-727B-9D21-868B-41B435D3F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5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2FDE488F-D818-49D0-B828-278C0F10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638" y="688977"/>
            <a:ext cx="8229600" cy="1143000"/>
          </a:xfrm>
        </p:spPr>
        <p:txBody>
          <a:bodyPr rtlCol="0">
            <a:normAutofit/>
          </a:bodyPr>
          <a:lstStyle/>
          <a:p>
            <a:pPr algn="ctr">
              <a:defRPr/>
            </a:pPr>
            <a:r>
              <a:rPr lang="en-US" altLang="en-US" dirty="0"/>
              <a:t>Differences</a:t>
            </a:r>
          </a:p>
        </p:txBody>
      </p:sp>
      <p:sp>
        <p:nvSpPr>
          <p:cNvPr id="21506" name="TextBox 3">
            <a:extLst>
              <a:ext uri="{FF2B5EF4-FFF2-40B4-BE49-F238E27FC236}">
                <a16:creationId xmlns:a16="http://schemas.microsoft.com/office/drawing/2014/main" id="{5C171246-620C-5DB8-7F8B-E218C7338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2276476"/>
            <a:ext cx="184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>
              <a:latin typeface="Times" charset="0"/>
              <a:ea typeface="MS PGothic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628CA-4FD5-11F7-428E-6FD15841A5CE}"/>
              </a:ext>
            </a:extLst>
          </p:cNvPr>
          <p:cNvSpPr txBox="1"/>
          <p:nvPr/>
        </p:nvSpPr>
        <p:spPr>
          <a:xfrm>
            <a:off x="1887538" y="4055404"/>
            <a:ext cx="3384550" cy="6461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IE" dirty="0"/>
              <a:t>Variables – use them for e.g. accumulating values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7C374-9AE0-418B-26E3-526E6171D143}"/>
              </a:ext>
            </a:extLst>
          </p:cNvPr>
          <p:cNvSpPr txBox="1"/>
          <p:nvPr/>
        </p:nvSpPr>
        <p:spPr>
          <a:xfrm>
            <a:off x="6208713" y="3263241"/>
            <a:ext cx="1452642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No loops !!!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34C30-161A-2A70-7CFC-A5F6D58842B2}"/>
              </a:ext>
            </a:extLst>
          </p:cNvPr>
          <p:cNvSpPr txBox="1"/>
          <p:nvPr/>
        </p:nvSpPr>
        <p:spPr>
          <a:xfrm>
            <a:off x="1816100" y="2255178"/>
            <a:ext cx="2808288" cy="36988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txBody>
          <a:bodyPr lIns="36000" anchor="ctr">
            <a:spAutoFit/>
          </a:bodyPr>
          <a:lstStyle/>
          <a:p>
            <a:pPr algn="ctr">
              <a:defRPr/>
            </a:pPr>
            <a:r>
              <a:rPr lang="en-US" dirty="0"/>
              <a:t>Imperative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952C2B-4467-5FE4-195C-AA788E90797E}"/>
              </a:ext>
            </a:extLst>
          </p:cNvPr>
          <p:cNvSpPr txBox="1"/>
          <p:nvPr/>
        </p:nvSpPr>
        <p:spPr>
          <a:xfrm>
            <a:off x="6135688" y="2255178"/>
            <a:ext cx="2881312" cy="36988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IE" dirty="0"/>
              <a:t>Functional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D96B4-7DA4-D9AF-9119-D032929C5E01}"/>
              </a:ext>
            </a:extLst>
          </p:cNvPr>
          <p:cNvSpPr txBox="1"/>
          <p:nvPr/>
        </p:nvSpPr>
        <p:spPr>
          <a:xfrm>
            <a:off x="1816101" y="5207928"/>
            <a:ext cx="3095625" cy="9223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If [condition]</a:t>
            </a:r>
          </a:p>
          <a:p>
            <a:pPr>
              <a:defRPr/>
            </a:pPr>
            <a:r>
              <a:rPr lang="en-US" dirty="0"/>
              <a:t>  then [command]</a:t>
            </a:r>
          </a:p>
          <a:p>
            <a:pPr>
              <a:defRPr/>
            </a:pPr>
            <a:r>
              <a:rPr lang="en-US" dirty="0"/>
              <a:t>  else [command]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C8CCE-5A1E-DDA6-6D8B-B7A47D73564B}"/>
              </a:ext>
            </a:extLst>
          </p:cNvPr>
          <p:cNvSpPr txBox="1"/>
          <p:nvPr/>
        </p:nvSpPr>
        <p:spPr>
          <a:xfrm>
            <a:off x="6064250" y="5134904"/>
            <a:ext cx="3455988" cy="9239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If [condition]</a:t>
            </a:r>
          </a:p>
          <a:p>
            <a:pPr>
              <a:defRPr/>
            </a:pPr>
            <a:r>
              <a:rPr lang="en-US" dirty="0"/>
              <a:t>  then [value]</a:t>
            </a:r>
          </a:p>
          <a:p>
            <a:pPr>
              <a:defRPr/>
            </a:pPr>
            <a:r>
              <a:rPr lang="en-US" dirty="0"/>
              <a:t>  else [value]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74C49-EDF2-1441-6433-2102815CC8DD}"/>
              </a:ext>
            </a:extLst>
          </p:cNvPr>
          <p:cNvSpPr txBox="1"/>
          <p:nvPr/>
        </p:nvSpPr>
        <p:spPr>
          <a:xfrm>
            <a:off x="1887539" y="3263241"/>
            <a:ext cx="83869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Loops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B70D4D-085E-3CB8-F745-1F68AB77E34D}"/>
              </a:ext>
            </a:extLst>
          </p:cNvPr>
          <p:cNvSpPr txBox="1"/>
          <p:nvPr/>
        </p:nvSpPr>
        <p:spPr>
          <a:xfrm>
            <a:off x="6105526" y="4126842"/>
            <a:ext cx="3210623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IE" dirty="0"/>
              <a:t>Variables cannot be changed </a:t>
            </a:r>
          </a:p>
          <a:p>
            <a:pPr>
              <a:defRPr/>
            </a:pPr>
            <a:r>
              <a:rPr lang="en-IE" b="1" dirty="0"/>
              <a:t>(immutability) 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C4B5D-2B64-F630-8C4D-D6700F5F2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788" y="6503328"/>
            <a:ext cx="3816350" cy="3698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/>
              <a:t>More later …. 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2AA2BB0-D0E2-762D-3E99-7AFDE558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6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1" grpId="0" animBg="1"/>
      <p:bldP spid="8" grpId="0" animBg="1"/>
      <p:bldP spid="9" grpId="0" animBg="1"/>
      <p:bldP spid="13" grpId="0" animBg="1"/>
      <p:bldP spid="14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3C60-5638-56D0-B8BA-BE587B1F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1CF80F1-A29F-F82F-6E79-11FA86A19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0108" y="952043"/>
            <a:ext cx="8517467" cy="68580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charset="0"/>
                <a:ea typeface="ＭＳ Ｐゴシック" charset="0"/>
              </a:rPr>
              <a:t>Comparison</a:t>
            </a:r>
          </a:p>
        </p:txBody>
      </p:sp>
      <p:sp>
        <p:nvSpPr>
          <p:cNvPr id="12289" name="Slide Number Placeholder 3">
            <a:extLst>
              <a:ext uri="{FF2B5EF4-FFF2-40B4-BE49-F238E27FC236}">
                <a16:creationId xmlns:a16="http://schemas.microsoft.com/office/drawing/2014/main" id="{0D6BE60F-1ABD-A2A8-370B-002BE79D9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18D116F-ECDA-134D-AEF5-EEF075D37234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B516BB15-6DC0-AD4F-872B-0CAFD10BD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2619375"/>
            <a:ext cx="5360987" cy="1619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int total = 0;</a:t>
            </a:r>
          </a:p>
          <a:p>
            <a:pPr>
              <a:lnSpc>
                <a:spcPct val="14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for (int </a:t>
            </a:r>
            <a:r>
              <a:rPr lang="en-US" sz="2400" dirty="0" err="1">
                <a:latin typeface="Lucida Sans Typewriter" charset="0"/>
                <a:cs typeface="+mn-cs"/>
              </a:rPr>
              <a:t>i</a:t>
            </a:r>
            <a:r>
              <a:rPr lang="en-US" sz="2400" dirty="0">
                <a:latin typeface="Lucida Sans Typewriter" charset="0"/>
                <a:cs typeface="+mn-cs"/>
              </a:rPr>
              <a:t> = 1; </a:t>
            </a:r>
            <a:r>
              <a:rPr lang="en-US" sz="2400" dirty="0" err="1">
                <a:latin typeface="Lucida Sans Typewriter" charset="0"/>
                <a:cs typeface="+mn-cs"/>
              </a:rPr>
              <a:t>i</a:t>
            </a:r>
            <a:r>
              <a:rPr lang="en-US" sz="2400" dirty="0">
                <a:latin typeface="Lucida Sans Typewriter" charset="0"/>
                <a:cs typeface="+mn-cs"/>
              </a:rPr>
              <a:t> </a:t>
            </a:r>
            <a:r>
              <a:rPr lang="en-US" sz="2400" dirty="0">
                <a:latin typeface="Lucida Sans Typewriter" charset="0"/>
                <a:cs typeface="+mn-cs"/>
                <a:sym typeface="Symbol" charset="0"/>
              </a:rPr>
              <a:t></a:t>
            </a:r>
            <a:r>
              <a:rPr lang="en-US" sz="2400" dirty="0">
                <a:latin typeface="Lucida Sans Typewriter" charset="0"/>
                <a:cs typeface="+mn-cs"/>
              </a:rPr>
              <a:t> 10; </a:t>
            </a:r>
            <a:r>
              <a:rPr lang="en-US" sz="2400" dirty="0" err="1">
                <a:latin typeface="Lucida Sans Typewriter" charset="0"/>
                <a:cs typeface="+mn-cs"/>
              </a:rPr>
              <a:t>i</a:t>
            </a:r>
            <a:r>
              <a:rPr lang="en-US" sz="2400" dirty="0">
                <a:latin typeface="Lucida Sans Typewriter" charset="0"/>
                <a:cs typeface="+mn-cs"/>
              </a:rPr>
              <a:t>++)</a:t>
            </a:r>
          </a:p>
          <a:p>
            <a:pPr>
              <a:lnSpc>
                <a:spcPct val="140000"/>
              </a:lnSpc>
              <a:defRPr/>
            </a:pPr>
            <a:r>
              <a:rPr lang="en-US" sz="2400" dirty="0">
                <a:latin typeface="Lucida Sans Typewriter" charset="0"/>
                <a:cs typeface="+mn-cs"/>
              </a:rPr>
              <a:t>   total = total + </a:t>
            </a:r>
            <a:r>
              <a:rPr lang="en-US" sz="2400" dirty="0" err="1">
                <a:latin typeface="Lucida Sans Typewriter" charset="0"/>
                <a:cs typeface="+mn-cs"/>
              </a:rPr>
              <a:t>i</a:t>
            </a:r>
            <a:r>
              <a:rPr lang="en-US" sz="2400" dirty="0">
                <a:latin typeface="Lucida Sans Typewriter" charset="0"/>
                <a:cs typeface="+mn-cs"/>
              </a:rPr>
              <a:t>;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B147F5E4-E071-E45D-B9DD-E57EA5E95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848" y="5023834"/>
            <a:ext cx="4044949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The computation method is </a:t>
            </a:r>
            <a:r>
              <a:rPr lang="en-US" sz="2800" u="sng" dirty="0">
                <a:cs typeface="+mn-cs"/>
              </a:rPr>
              <a:t>variable assignment</a:t>
            </a:r>
            <a:r>
              <a:rPr lang="en-US" sz="2800" dirty="0">
                <a:cs typeface="+mn-cs"/>
              </a:rPr>
              <a:t>. 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1BE78B2-670F-3267-DCDF-63341B2BC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3206750"/>
            <a:ext cx="220980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Lucida Sans Typewriter" charset="0"/>
                <a:cs typeface="+mn-cs"/>
              </a:rPr>
              <a:t>sum [1..10]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E7826-2650-BA71-7A3C-50CB36DA6C0A}"/>
              </a:ext>
            </a:extLst>
          </p:cNvPr>
          <p:cNvSpPr txBox="1"/>
          <p:nvPr/>
        </p:nvSpPr>
        <p:spPr>
          <a:xfrm>
            <a:off x="2051051" y="2080329"/>
            <a:ext cx="1109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6278C-179E-A148-A298-4E137639EB15}"/>
              </a:ext>
            </a:extLst>
          </p:cNvPr>
          <p:cNvSpPr txBox="1"/>
          <p:nvPr/>
        </p:nvSpPr>
        <p:spPr>
          <a:xfrm>
            <a:off x="8017006" y="2103765"/>
            <a:ext cx="1790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Haskell</a:t>
            </a:r>
            <a:endParaRPr lang="en-US" dirty="0"/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A303B1C7-03E4-4968-F465-5081D3AB0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9805" y="5015804"/>
            <a:ext cx="3488857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cs typeface="+mn-cs"/>
              </a:rPr>
              <a:t>The computation method is </a:t>
            </a:r>
            <a:r>
              <a:rPr lang="en-US" sz="2800" u="sng" dirty="0">
                <a:cs typeface="+mn-cs"/>
              </a:rPr>
              <a:t>function application</a:t>
            </a:r>
            <a:r>
              <a:rPr lang="en-US" sz="2800" dirty="0"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496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 animBg="1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D53A-99CE-C4C1-20F7-0EBB2AF0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94" y="513447"/>
            <a:ext cx="10668000" cy="1330569"/>
          </a:xfrm>
        </p:spPr>
        <p:txBody>
          <a:bodyPr>
            <a:normAutofit/>
          </a:bodyPr>
          <a:lstStyle/>
          <a:p>
            <a:r>
              <a:rPr lang="en-IE" dirty="0"/>
              <a:t>Key Characteristics of Functional Programming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06AA7B-E842-B32E-E939-9DD06691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5FBDC-4E4B-A593-6E64-EF2EE172490C}"/>
              </a:ext>
            </a:extLst>
          </p:cNvPr>
          <p:cNvSpPr txBox="1"/>
          <p:nvPr/>
        </p:nvSpPr>
        <p:spPr>
          <a:xfrm>
            <a:off x="656319" y="2487794"/>
            <a:ext cx="104931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dirty="0"/>
              <a:t>- </a:t>
            </a:r>
            <a:r>
              <a:rPr lang="en-IE" sz="3200" b="1" dirty="0"/>
              <a:t>Immutability</a:t>
            </a:r>
            <a:r>
              <a:rPr lang="en-IE" sz="3200" dirty="0"/>
              <a:t>: Variables don't change once set.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/>
              <a:t>- </a:t>
            </a:r>
            <a:r>
              <a:rPr lang="en-IE" sz="3200" b="1" dirty="0"/>
              <a:t>Higher-order functions</a:t>
            </a:r>
            <a:r>
              <a:rPr lang="en-IE" sz="3200" dirty="0"/>
              <a:t>: Functions as arguments or return values.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/>
              <a:t>- </a:t>
            </a:r>
            <a:r>
              <a:rPr lang="en-IE" sz="3200" b="1" dirty="0"/>
              <a:t>Pure functions</a:t>
            </a:r>
            <a:r>
              <a:rPr lang="en-IE" sz="3200" dirty="0"/>
              <a:t>: No side effects.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/>
              <a:t>- </a:t>
            </a:r>
            <a:r>
              <a:rPr lang="en-IE" sz="3200" b="1" dirty="0"/>
              <a:t>Lazy evaluation</a:t>
            </a:r>
            <a:r>
              <a:rPr lang="en-IE" sz="3200" dirty="0"/>
              <a:t>: Values computed only when needed.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/>
              <a:t>- Recursion: Functions calling themselves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1392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E39E-1A5C-45B2-A89B-44692A10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33A5A-03C7-44D1-B36C-5B9032F8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94" y="513447"/>
            <a:ext cx="10668000" cy="1330569"/>
          </a:xfrm>
        </p:spPr>
        <p:txBody>
          <a:bodyPr>
            <a:normAutofit/>
          </a:bodyPr>
          <a:lstStyle/>
          <a:p>
            <a:r>
              <a:rPr lang="en-US" dirty="0"/>
              <a:t>Historical </a:t>
            </a:r>
            <a:r>
              <a:rPr lang="en-IE" dirty="0"/>
              <a:t>Evolution of Functional Programming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C44944-E919-348A-47A2-ADED1EC8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3C67E-9B7F-4F9B-8EAD-40C54A11A5B5}"/>
              </a:ext>
            </a:extLst>
          </p:cNvPr>
          <p:cNvSpPr txBox="1"/>
          <p:nvPr/>
        </p:nvSpPr>
        <p:spPr>
          <a:xfrm>
            <a:off x="868188" y="2547181"/>
            <a:ext cx="907756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1930’</a:t>
            </a:r>
            <a:r>
              <a:rPr lang="en-IE" sz="3200" dirty="0"/>
              <a:t>s :  Lambda calculus by Alonzo Church.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1950’s:</a:t>
            </a:r>
            <a:r>
              <a:rPr lang="en-IE" sz="3200" dirty="0"/>
              <a:t> Lisp by John McCarthy.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1960’s </a:t>
            </a:r>
            <a:r>
              <a:rPr lang="en-IE" sz="3200" dirty="0"/>
              <a:t>: ISWIM by Peter Landin.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1970’s</a:t>
            </a:r>
            <a:r>
              <a:rPr lang="en-IE" sz="3200" dirty="0"/>
              <a:t> : FP (Backus) and ML (Milner).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1980’s</a:t>
            </a:r>
            <a:r>
              <a:rPr lang="en-IE" sz="3200" dirty="0"/>
              <a:t> : Miranda (Turner).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1987</a:t>
            </a:r>
            <a:r>
              <a:rPr lang="en-IE" sz="3200" dirty="0"/>
              <a:t> : Haskell development begins.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2003</a:t>
            </a:r>
            <a:r>
              <a:rPr lang="en-IE" sz="3200" dirty="0"/>
              <a:t> : Haskell Report published.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b="1" dirty="0"/>
              <a:t>2010+</a:t>
            </a:r>
            <a:r>
              <a:rPr lang="en-IE" sz="3200" dirty="0"/>
              <a:t> : Modern Haskell advancements.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9753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D959-E1B7-DD2A-9D30-725B4980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Why Haskell?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9642F0-0982-A258-336C-EB8DE3B6E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FFABF2-8723-F4F2-3B92-4747C5ADC59B}"/>
              </a:ext>
            </a:extLst>
          </p:cNvPr>
          <p:cNvSpPr txBox="1">
            <a:spLocks/>
          </p:cNvSpPr>
          <p:nvPr/>
        </p:nvSpPr>
        <p:spPr>
          <a:xfrm>
            <a:off x="1574800" y="1874837"/>
            <a:ext cx="96012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Strong type system </a:t>
            </a:r>
            <a:r>
              <a:rPr lang="en-IE" sz="3200" spc="300" dirty="0">
                <a:latin typeface="Tahoma" charset="0"/>
                <a:ea typeface="ＭＳ Ｐゴシック" charset="0"/>
              </a:rPr>
              <a:t>with type inference.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Lazy evaluation </a:t>
            </a:r>
            <a:r>
              <a:rPr lang="en-IE" sz="3200" spc="300" dirty="0">
                <a:latin typeface="Tahoma" charset="0"/>
                <a:ea typeface="ＭＳ Ｐゴシック" charset="0"/>
              </a:rPr>
              <a:t>for efficiency.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Expressive syntax </a:t>
            </a:r>
            <a:r>
              <a:rPr lang="en-IE" sz="3200" spc="300" dirty="0">
                <a:latin typeface="Tahoma" charset="0"/>
                <a:ea typeface="ＭＳ Ｐゴシック" charset="0"/>
              </a:rPr>
              <a:t>for clean code.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spc="300" dirty="0">
                <a:latin typeface="Tahoma" charset="0"/>
                <a:ea typeface="ＭＳ Ｐゴシック" charset="0"/>
              </a:rPr>
              <a:t>Extensive library and tooling support.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spc="300" dirty="0">
                <a:latin typeface="Tahoma" charset="0"/>
                <a:ea typeface="ＭＳ Ｐゴシック" charset="0"/>
              </a:rPr>
              <a:t>Promotes reasoning about programs.</a:t>
            </a:r>
          </a:p>
        </p:txBody>
      </p:sp>
    </p:spTree>
    <p:extLst>
      <p:ext uri="{BB962C8B-B14F-4D97-AF65-F5344CB8AC3E}">
        <p14:creationId xmlns:p14="http://schemas.microsoft.com/office/powerpoint/2010/main" val="2119347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5E16F853-E845-FBC3-237D-BC3F4164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149D-970C-A25A-45FA-3EC07B6E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Basic Syntax in Haskell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FA7F57-468B-0834-FB93-6044BA83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2124D6-CB21-7FEF-0C53-EF65D637E3BF}"/>
              </a:ext>
            </a:extLst>
          </p:cNvPr>
          <p:cNvSpPr txBox="1">
            <a:spLocks/>
          </p:cNvSpPr>
          <p:nvPr/>
        </p:nvSpPr>
        <p:spPr>
          <a:xfrm>
            <a:off x="1574800" y="1874837"/>
            <a:ext cx="96012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Strong type system </a:t>
            </a:r>
            <a:r>
              <a:rPr lang="en-IE" sz="3200" spc="300" dirty="0">
                <a:latin typeface="Tahoma" charset="0"/>
                <a:ea typeface="ＭＳ Ｐゴシック" charset="0"/>
              </a:rPr>
              <a:t>with type inference.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Lazy evaluation </a:t>
            </a:r>
            <a:r>
              <a:rPr lang="en-IE" sz="3200" spc="300" dirty="0">
                <a:latin typeface="Tahoma" charset="0"/>
                <a:ea typeface="ＭＳ Ｐゴシック" charset="0"/>
              </a:rPr>
              <a:t>for efficiency.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b="1" spc="300" dirty="0">
                <a:latin typeface="Tahoma" charset="0"/>
                <a:ea typeface="ＭＳ Ｐゴシック" charset="0"/>
              </a:rPr>
              <a:t>Expressive syntax </a:t>
            </a:r>
            <a:r>
              <a:rPr lang="en-IE" sz="3200" spc="300" dirty="0">
                <a:latin typeface="Tahoma" charset="0"/>
                <a:ea typeface="ＭＳ Ｐゴシック" charset="0"/>
              </a:rPr>
              <a:t>for clean code.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spc="300" dirty="0">
                <a:latin typeface="Tahoma" charset="0"/>
                <a:ea typeface="ＭＳ Ｐゴシック" charset="0"/>
              </a:rPr>
              <a:t>Extensive library and tooling support.</a:t>
            </a:r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sz="3200" spc="300" dirty="0">
                <a:latin typeface="Tahoma" charset="0"/>
                <a:ea typeface="ＭＳ Ｐゴシック" charset="0"/>
              </a:rPr>
              <a:t>Promotes reasoning about programs.</a:t>
            </a:r>
          </a:p>
        </p:txBody>
      </p:sp>
    </p:spTree>
    <p:extLst>
      <p:ext uri="{BB962C8B-B14F-4D97-AF65-F5344CB8AC3E}">
        <p14:creationId xmlns:p14="http://schemas.microsoft.com/office/powerpoint/2010/main" val="622868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64F2-D065-D2F1-A6A8-CBEC5427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Real world applications of Haskell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BF9C8-6AD5-7C77-549E-C40A7B08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8AED3-1B5A-1649-B4C1-BDFD751ED8B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0C12C0-908C-B6C9-7A04-9160DCF35572}"/>
              </a:ext>
            </a:extLst>
          </p:cNvPr>
          <p:cNvSpPr txBox="1">
            <a:spLocks/>
          </p:cNvSpPr>
          <p:nvPr/>
        </p:nvSpPr>
        <p:spPr>
          <a:xfrm>
            <a:off x="557213" y="2562674"/>
            <a:ext cx="8229600" cy="246116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z"/>
              <a:defRPr kumimoji="1" sz="28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y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charset="0"/>
              <a:buChar char="x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kern="0" dirty="0"/>
              <a:t>Data analysis and processing.</a:t>
            </a:r>
          </a:p>
          <a:p>
            <a:pPr marL="0" indent="0">
              <a:buClr>
                <a:schemeClr val="tx1"/>
              </a:buClr>
              <a:buNone/>
            </a:pPr>
            <a:endParaRPr lang="en-IE" kern="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kern="0" dirty="0"/>
              <a:t>Blockchain (e.g., </a:t>
            </a:r>
            <a:r>
              <a:rPr lang="en-IE" kern="0" dirty="0" err="1"/>
              <a:t>Cardano</a:t>
            </a:r>
            <a:r>
              <a:rPr lang="en-IE" kern="0" dirty="0"/>
              <a:t>).</a:t>
            </a:r>
          </a:p>
          <a:p>
            <a:pPr marL="0" indent="0">
              <a:buClr>
                <a:schemeClr val="tx1"/>
              </a:buClr>
              <a:buNone/>
            </a:pPr>
            <a:endParaRPr lang="en-IE" kern="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kern="0" dirty="0"/>
              <a:t>Compilers and language tooling.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E" kern="0" dirty="0"/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E" kern="0" dirty="0"/>
              <a:t>Web development frameworks.</a:t>
            </a:r>
          </a:p>
        </p:txBody>
      </p:sp>
    </p:spTree>
    <p:extLst>
      <p:ext uri="{BB962C8B-B14F-4D97-AF65-F5344CB8AC3E}">
        <p14:creationId xmlns:p14="http://schemas.microsoft.com/office/powerpoint/2010/main" val="204177618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1675</TotalTime>
  <Words>535</Words>
  <Application>Microsoft Macintosh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 Black</vt:lpstr>
      <vt:lpstr>Calibri</vt:lpstr>
      <vt:lpstr>Lucida Sans Typewriter</vt:lpstr>
      <vt:lpstr>Tahoma</vt:lpstr>
      <vt:lpstr>Times</vt:lpstr>
      <vt:lpstr>Times New Roman</vt:lpstr>
      <vt:lpstr>Trebuchet MS</vt:lpstr>
      <vt:lpstr>Berlin</vt:lpstr>
      <vt:lpstr>PowerPoint Presentation</vt:lpstr>
      <vt:lpstr>Book Title </vt:lpstr>
      <vt:lpstr>What is a Functional Programming?</vt:lpstr>
      <vt:lpstr>Why Functional Programming</vt:lpstr>
      <vt:lpstr>What’s different from what you’ve seen</vt:lpstr>
      <vt:lpstr>What’s different from what you’ve seen</vt:lpstr>
      <vt:lpstr>Differences</vt:lpstr>
      <vt:lpstr>Comparison</vt:lpstr>
      <vt:lpstr>Key Characteristics of Functional Programming</vt:lpstr>
      <vt:lpstr>Historical Evolution of Functional Programming</vt:lpstr>
      <vt:lpstr>Why Haskell?</vt:lpstr>
      <vt:lpstr>Basic Syntax in Haskell</vt:lpstr>
      <vt:lpstr>Real world applications of Haskell</vt:lpstr>
    </vt:vector>
  </TitlesOfParts>
  <Manager/>
  <Company>University of Nottingham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subject/>
  <dc:creator>Dr. Graham Hutton</dc:creator>
  <cp:keywords/>
  <dc:description/>
  <cp:lastModifiedBy>Mairead Meagher</cp:lastModifiedBy>
  <cp:revision>209</cp:revision>
  <cp:lastPrinted>2017-11-08T23:35:25Z</cp:lastPrinted>
  <dcterms:created xsi:type="dcterms:W3CDTF">2000-11-20T11:40:19Z</dcterms:created>
  <dcterms:modified xsi:type="dcterms:W3CDTF">2026-01-21T16:36:00Z</dcterms:modified>
  <cp:category/>
</cp:coreProperties>
</file>