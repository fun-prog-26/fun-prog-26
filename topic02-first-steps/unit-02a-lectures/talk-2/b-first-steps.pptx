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Override1.xml" ContentType="application/vnd.openxmlformats-officedocument.themeOverride+xml"/>
  <Override PartName="/ppt/theme/themeOverride2.xml" ContentType="application/vnd.openxmlformats-officedocument.themeOverride+xml"/>
  <Override PartName="/ppt/theme/themeOverride3.xml" ContentType="application/vnd.openxmlformats-officedocument.themeOverride+xml"/>
  <Override PartName="/ppt/theme/themeOverride4.xml" ContentType="application/vnd.openxmlformats-officedocument.themeOverride+xml"/>
  <Override PartName="/ppt/theme/themeOverride5.xml" ContentType="application/vnd.openxmlformats-officedocument.themeOverride+xml"/>
  <Override PartName="/ppt/theme/themeOverride6.xml" ContentType="application/vnd.openxmlformats-officedocument.themeOverride+xml"/>
  <Override PartName="/ppt/theme/themeOverride7.xml" ContentType="application/vnd.openxmlformats-officedocument.themeOverride+xml"/>
  <Override PartName="/ppt/theme/themeOverride8.xml" ContentType="application/vnd.openxmlformats-officedocument.themeOverride+xml"/>
  <Override PartName="/ppt/theme/themeOverride9.xml" ContentType="application/vnd.openxmlformats-officedocument.themeOverride+xml"/>
  <Override PartName="/ppt/theme/themeOverride10.xml" ContentType="application/vnd.openxmlformats-officedocument.themeOverride+xml"/>
  <Override PartName="/ppt/theme/themeOverride11.xml" ContentType="application/vnd.openxmlformats-officedocument.themeOverride+xml"/>
  <Override PartName="/ppt/theme/themeOverride12.xml" ContentType="application/vnd.openxmlformats-officedocument.themeOverride+xml"/>
  <Override PartName="/ppt/theme/themeOverride13.xml" ContentType="application/vnd.openxmlformats-officedocument.themeOverride+xml"/>
  <Override PartName="/ppt/theme/themeOverride14.xml" ContentType="application/vnd.openxmlformats-officedocument.themeOverride+xml"/>
  <Override PartName="/ppt/theme/themeOverride15.xml" ContentType="application/vnd.openxmlformats-officedocument.themeOverride+xml"/>
  <Override PartName="/ppt/theme/themeOverride16.xml" ContentType="application/vnd.openxmlformats-officedocument.themeOverride+xml"/>
  <Override PartName="/ppt/notesSlides/notesSlide1.xml" ContentType="application/vnd.openxmlformats-officedocument.presentationml.notesSlide+xml"/>
  <Override PartName="/ppt/theme/themeOverride17.xml" ContentType="application/vnd.openxmlformats-officedocument.themeOverride+xml"/>
  <Override PartName="/ppt/theme/themeOverride18.xml" ContentType="application/vnd.openxmlformats-officedocument.themeOverride+xml"/>
  <Override PartName="/ppt/theme/themeOverride19.xml" ContentType="application/vnd.openxmlformats-officedocument.themeOverride+xml"/>
  <Override PartName="/ppt/theme/themeOverride20.xml" ContentType="application/vnd.openxmlformats-officedocument.themeOverr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trictFirstAndLastChars="0" saveSubsetFonts="1" autoCompressPictures="0">
  <p:sldMasterIdLst>
    <p:sldMasterId id="2147483729" r:id="rId1"/>
  </p:sldMasterIdLst>
  <p:notesMasterIdLst>
    <p:notesMasterId r:id="rId22"/>
  </p:notesMasterIdLst>
  <p:handoutMasterIdLst>
    <p:handoutMasterId r:id="rId23"/>
  </p:handoutMasterIdLst>
  <p:sldIdLst>
    <p:sldId id="308" r:id="rId2"/>
    <p:sldId id="278" r:id="rId3"/>
    <p:sldId id="307" r:id="rId4"/>
    <p:sldId id="281" r:id="rId5"/>
    <p:sldId id="284" r:id="rId6"/>
    <p:sldId id="312" r:id="rId7"/>
    <p:sldId id="313" r:id="rId8"/>
    <p:sldId id="314" r:id="rId9"/>
    <p:sldId id="288" r:id="rId10"/>
    <p:sldId id="290" r:id="rId11"/>
    <p:sldId id="291" r:id="rId12"/>
    <p:sldId id="293" r:id="rId13"/>
    <p:sldId id="296" r:id="rId14"/>
    <p:sldId id="297" r:id="rId15"/>
    <p:sldId id="300" r:id="rId16"/>
    <p:sldId id="309" r:id="rId17"/>
    <p:sldId id="310" r:id="rId18"/>
    <p:sldId id="301" r:id="rId19"/>
    <p:sldId id="315" r:id="rId20"/>
    <p:sldId id="316" r:id="rId21"/>
  </p:sldIdLst>
  <p:sldSz cx="9144000" cy="6858000" type="screen4x3"/>
  <p:notesSz cx="7089775" cy="10218738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sz="2800" kern="1200">
        <a:solidFill>
          <a:schemeClr val="tx1"/>
        </a:solidFill>
        <a:latin typeface="Tahoma" charset="0"/>
        <a:ea typeface="ＭＳ Ｐゴシック" charset="0"/>
        <a:cs typeface="ＭＳ Ｐゴシック" charset="0"/>
      </a:defRPr>
    </a:lvl1pPr>
    <a:lvl2pPr marL="457200" algn="l" rtl="0" eaLnBrk="0" fontAlgn="base" hangingPunct="0">
      <a:spcBef>
        <a:spcPct val="0"/>
      </a:spcBef>
      <a:spcAft>
        <a:spcPct val="0"/>
      </a:spcAft>
      <a:defRPr sz="2800" kern="1200">
        <a:solidFill>
          <a:schemeClr val="tx1"/>
        </a:solidFill>
        <a:latin typeface="Tahoma" charset="0"/>
        <a:ea typeface="ＭＳ Ｐゴシック" charset="0"/>
        <a:cs typeface="ＭＳ Ｐゴシック" charset="0"/>
      </a:defRPr>
    </a:lvl2pPr>
    <a:lvl3pPr marL="914400" algn="l" rtl="0" eaLnBrk="0" fontAlgn="base" hangingPunct="0">
      <a:spcBef>
        <a:spcPct val="0"/>
      </a:spcBef>
      <a:spcAft>
        <a:spcPct val="0"/>
      </a:spcAft>
      <a:defRPr sz="2800" kern="1200">
        <a:solidFill>
          <a:schemeClr val="tx1"/>
        </a:solidFill>
        <a:latin typeface="Tahoma" charset="0"/>
        <a:ea typeface="ＭＳ Ｐゴシック" charset="0"/>
        <a:cs typeface="ＭＳ Ｐゴシック" charset="0"/>
      </a:defRPr>
    </a:lvl3pPr>
    <a:lvl4pPr marL="1371600" algn="l" rtl="0" eaLnBrk="0" fontAlgn="base" hangingPunct="0">
      <a:spcBef>
        <a:spcPct val="0"/>
      </a:spcBef>
      <a:spcAft>
        <a:spcPct val="0"/>
      </a:spcAft>
      <a:defRPr sz="2800" kern="1200">
        <a:solidFill>
          <a:schemeClr val="tx1"/>
        </a:solidFill>
        <a:latin typeface="Tahoma" charset="0"/>
        <a:ea typeface="ＭＳ Ｐゴシック" charset="0"/>
        <a:cs typeface="ＭＳ Ｐゴシック" charset="0"/>
      </a:defRPr>
    </a:lvl4pPr>
    <a:lvl5pPr marL="1828800" algn="l" rtl="0" eaLnBrk="0" fontAlgn="base" hangingPunct="0">
      <a:spcBef>
        <a:spcPct val="0"/>
      </a:spcBef>
      <a:spcAft>
        <a:spcPct val="0"/>
      </a:spcAft>
      <a:defRPr sz="2800" kern="1200">
        <a:solidFill>
          <a:schemeClr val="tx1"/>
        </a:solidFill>
        <a:latin typeface="Tahoma" charset="0"/>
        <a:ea typeface="ＭＳ Ｐゴシック" charset="0"/>
        <a:cs typeface="ＭＳ Ｐゴシック" charset="0"/>
      </a:defRPr>
    </a:lvl5pPr>
    <a:lvl6pPr marL="2286000" algn="l" defTabSz="457200" rtl="0" eaLnBrk="1" latinLnBrk="0" hangingPunct="1">
      <a:defRPr sz="2800" kern="1200">
        <a:solidFill>
          <a:schemeClr val="tx1"/>
        </a:solidFill>
        <a:latin typeface="Tahoma" charset="0"/>
        <a:ea typeface="ＭＳ Ｐゴシック" charset="0"/>
        <a:cs typeface="ＭＳ Ｐゴシック" charset="0"/>
      </a:defRPr>
    </a:lvl6pPr>
    <a:lvl7pPr marL="2743200" algn="l" defTabSz="457200" rtl="0" eaLnBrk="1" latinLnBrk="0" hangingPunct="1">
      <a:defRPr sz="2800" kern="1200">
        <a:solidFill>
          <a:schemeClr val="tx1"/>
        </a:solidFill>
        <a:latin typeface="Tahoma" charset="0"/>
        <a:ea typeface="ＭＳ Ｐゴシック" charset="0"/>
        <a:cs typeface="ＭＳ Ｐゴシック" charset="0"/>
      </a:defRPr>
    </a:lvl7pPr>
    <a:lvl8pPr marL="3200400" algn="l" defTabSz="457200" rtl="0" eaLnBrk="1" latinLnBrk="0" hangingPunct="1">
      <a:defRPr sz="2800" kern="1200">
        <a:solidFill>
          <a:schemeClr val="tx1"/>
        </a:solidFill>
        <a:latin typeface="Tahoma" charset="0"/>
        <a:ea typeface="ＭＳ Ｐゴシック" charset="0"/>
        <a:cs typeface="ＭＳ Ｐゴシック" charset="0"/>
      </a:defRPr>
    </a:lvl8pPr>
    <a:lvl9pPr marL="3657600" algn="l" defTabSz="457200" rtl="0" eaLnBrk="1" latinLnBrk="0" hangingPunct="1">
      <a:defRPr sz="2800" kern="1200">
        <a:solidFill>
          <a:schemeClr val="tx1"/>
        </a:solidFill>
        <a:latin typeface="Tahoma" charset="0"/>
        <a:ea typeface="ＭＳ Ｐゴシック" charset="0"/>
        <a:cs typeface="ＭＳ Ｐゴシック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218">
          <p15:clr>
            <a:srgbClr val="A4A3A4"/>
          </p15:clr>
        </p15:guide>
        <p15:guide id="2" pos="2233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prnWhat="handouts6" clrMode="bw" frameSlides="1"/>
  <p:showPr showNarration="1">
    <p:browse/>
    <p:sldAll/>
    <p:penClr>
      <a:schemeClr val="tx1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008000"/>
    <a:srgbClr val="FF0000"/>
    <a:srgbClr val="99FF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6770"/>
    <p:restoredTop sz="94694"/>
  </p:normalViewPr>
  <p:slideViewPr>
    <p:cSldViewPr snapToGrid="0">
      <p:cViewPr varScale="1">
        <p:scale>
          <a:sx n="85" d="100"/>
          <a:sy n="85" d="100"/>
        </p:scale>
        <p:origin x="184" y="85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  <p:sldLst>
      <p:sld r:id="rId1" collapse="1"/>
    </p:sldLst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52" d="100"/>
          <a:sy n="52" d="100"/>
        </p:scale>
        <p:origin x="-1866" y="-78"/>
      </p:cViewPr>
      <p:guideLst>
        <p:guide orient="horz" pos="3218"/>
        <p:guide pos="2233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openxmlformats.org/officeDocument/2006/relationships/tableStyles" Target="tableStyles.xml"/></Relationships>
</file>

<file path=ppt/_rels/viewProps.xml.rels><?xml version="1.0" encoding="UTF-8" standalone="yes"?>
<Relationships xmlns="http://schemas.openxmlformats.org/package/2006/relationships"><Relationship Id="rId1" Type="http://schemas.openxmlformats.org/officeDocument/2006/relationships/slide" Target="slides/slid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62" name="Rectangle 2050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71813" cy="511175"/>
          </a:xfrm>
          <a:prstGeom prst="rect">
            <a:avLst/>
          </a:prstGeom>
          <a:noFill/>
          <a:ln w="12700" cap="sq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98902" tIns="49451" rIns="98902" bIns="49451" numCol="1" anchor="t" anchorCtr="0" compatLnSpc="1">
            <a:prstTxWarp prst="textNoShape">
              <a:avLst/>
            </a:prstTxWarp>
          </a:bodyPr>
          <a:lstStyle>
            <a:lvl1pPr defTabSz="989013">
              <a:defRPr sz="1300">
                <a:latin typeface="Tahoma" pitchFamily="-1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6563" name="Rectangle 2051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4017963" y="0"/>
            <a:ext cx="3071812" cy="511175"/>
          </a:xfrm>
          <a:prstGeom prst="rect">
            <a:avLst/>
          </a:prstGeom>
          <a:noFill/>
          <a:ln w="12700" cap="sq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98902" tIns="49451" rIns="98902" bIns="49451" numCol="1" anchor="t" anchorCtr="0" compatLnSpc="1">
            <a:prstTxWarp prst="textNoShape">
              <a:avLst/>
            </a:prstTxWarp>
          </a:bodyPr>
          <a:lstStyle>
            <a:lvl1pPr algn="r" defTabSz="989013">
              <a:defRPr sz="1300">
                <a:latin typeface="Tahoma" pitchFamily="-1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6564" name="Rectangle 2052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707563"/>
            <a:ext cx="3071813" cy="511175"/>
          </a:xfrm>
          <a:prstGeom prst="rect">
            <a:avLst/>
          </a:prstGeom>
          <a:noFill/>
          <a:ln w="12700" cap="sq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98902" tIns="49451" rIns="98902" bIns="49451" numCol="1" anchor="b" anchorCtr="0" compatLnSpc="1">
            <a:prstTxWarp prst="textNoShape">
              <a:avLst/>
            </a:prstTxWarp>
          </a:bodyPr>
          <a:lstStyle>
            <a:lvl1pPr defTabSz="989013">
              <a:defRPr sz="1300">
                <a:latin typeface="Tahoma" pitchFamily="-1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6565" name="Rectangle 2053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017963" y="9707563"/>
            <a:ext cx="3071812" cy="511175"/>
          </a:xfrm>
          <a:prstGeom prst="rect">
            <a:avLst/>
          </a:prstGeom>
          <a:noFill/>
          <a:ln w="12700" cap="sq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98902" tIns="49451" rIns="98902" bIns="49451" numCol="1" anchor="b" anchorCtr="0" compatLnSpc="1">
            <a:prstTxWarp prst="textNoShape">
              <a:avLst/>
            </a:prstTxWarp>
          </a:bodyPr>
          <a:lstStyle>
            <a:lvl1pPr algn="r" defTabSz="989013">
              <a:defRPr sz="1300"/>
            </a:lvl1pPr>
          </a:lstStyle>
          <a:p>
            <a:pPr>
              <a:defRPr/>
            </a:pPr>
            <a:fld id="{F74290DC-920F-4F4F-928D-D9E78B96216D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957542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62" name="Rectangle 2050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48000" cy="533400"/>
          </a:xfrm>
          <a:prstGeom prst="rect">
            <a:avLst/>
          </a:prstGeom>
          <a:noFill/>
          <a:ln w="12700" cap="sq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>
                <a:latin typeface="Tahoma" pitchFamily="-1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2163" name="Rectangle 2051"/>
          <p:cNvSpPr>
            <a:spLocks noGrp="1" noChangeArrowheads="1"/>
          </p:cNvSpPr>
          <p:nvPr>
            <p:ph type="dt" idx="1"/>
          </p:nvPr>
        </p:nvSpPr>
        <p:spPr bwMode="auto">
          <a:xfrm>
            <a:off x="4038600" y="0"/>
            <a:ext cx="3048000" cy="533400"/>
          </a:xfrm>
          <a:prstGeom prst="rect">
            <a:avLst/>
          </a:prstGeom>
          <a:noFill/>
          <a:ln w="12700" cap="sq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Tahoma" pitchFamily="-1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4340" name="Rectangle 2052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041400" y="762000"/>
            <a:ext cx="5080000" cy="3810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</p:sp>
      <p:sp>
        <p:nvSpPr>
          <p:cNvPr id="92165" name="Rectangle 2053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14400" y="4876800"/>
            <a:ext cx="5257800" cy="4572000"/>
          </a:xfrm>
          <a:prstGeom prst="rect">
            <a:avLst/>
          </a:prstGeom>
          <a:noFill/>
          <a:ln w="12700" cap="sq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92166" name="Rectangle 2054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677400"/>
            <a:ext cx="3048000" cy="533400"/>
          </a:xfrm>
          <a:prstGeom prst="rect">
            <a:avLst/>
          </a:prstGeom>
          <a:noFill/>
          <a:ln w="12700" cap="sq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>
                <a:latin typeface="Tahoma" pitchFamily="-1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2167" name="Rectangle 2055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4038600" y="9677400"/>
            <a:ext cx="3048000" cy="533400"/>
          </a:xfrm>
          <a:prstGeom prst="rect">
            <a:avLst/>
          </a:prstGeom>
          <a:noFill/>
          <a:ln w="12700" cap="sq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pPr>
              <a:defRPr/>
            </a:pPr>
            <a:fld id="{13514E8C-AAE0-5645-8347-9C02EFD9C06A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0172348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itchFamily="-1" charset="0"/>
        <a:ea typeface="ＭＳ Ｐゴシック" pitchFamily="-1" charset="-128"/>
        <a:cs typeface="ＭＳ Ｐゴシック" pitchFamily="-1" charset="-128"/>
      </a:defRPr>
    </a:lvl1pPr>
    <a:lvl2pPr marL="4572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itchFamily="-1" charset="0"/>
        <a:ea typeface="ＭＳ Ｐゴシック" pitchFamily="-1" charset="-128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itchFamily="-1" charset="0"/>
        <a:ea typeface="ＭＳ Ｐゴシック" pitchFamily="-1" charset="-128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itchFamily="-1" charset="0"/>
        <a:ea typeface="ＭＳ Ｐゴシック" pitchFamily="-1" charset="-128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itchFamily="-1" charset="0"/>
        <a:ea typeface="ＭＳ Ｐゴシック" pitchFamily="-1" charset="-128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wiki.haskell.org/Commenting" TargetMode="External"/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E" dirty="0"/>
              <a:t>see </a:t>
            </a:r>
            <a:r>
              <a:rPr lang="en-IE" dirty="0">
                <a:hlinkClick r:id="rId3"/>
              </a:rPr>
              <a:t>https://wiki.haskell.org/Commenting</a:t>
            </a:r>
            <a:endParaRPr lang="en-I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13514E8C-AAE0-5645-8347-9C02EFD9C06A}" type="slidenum">
              <a:rPr lang="en-US" smtClean="0"/>
              <a:pPr>
                <a:defRPr/>
              </a:pPr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280011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4242851"/>
            <a:ext cx="6726063" cy="275942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33787" y="4243845"/>
            <a:ext cx="2307831" cy="27694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0" y="2590078"/>
            <a:ext cx="6726064" cy="1660332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6833787" y="2590078"/>
            <a:ext cx="2307832" cy="16603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0241" y="2733709"/>
            <a:ext cx="6108101" cy="1373070"/>
          </a:xfrm>
        </p:spPr>
        <p:txBody>
          <a:bodyPr anchor="b">
            <a:noAutofit/>
          </a:bodyPr>
          <a:lstStyle>
            <a:lvl1pPr algn="r">
              <a:defRPr sz="405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10241" y="4394040"/>
            <a:ext cx="6108101" cy="1117687"/>
          </a:xfrm>
        </p:spPr>
        <p:txBody>
          <a:bodyPr>
            <a:normAutofit/>
          </a:bodyPr>
          <a:lstStyle>
            <a:lvl1pPr marL="0" indent="0" algn="r">
              <a:buNone/>
              <a:defRPr sz="15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18746E87-F5CB-2947-9C43-6AD4847B896A}" type="datetime1">
              <a:rPr lang="en-US" altLang="en-US" smtClean="0"/>
              <a:pPr>
                <a:defRPr/>
              </a:pPr>
              <a:t>1/20/25</a:t>
            </a:fld>
            <a:endParaRPr lang="en-US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941510" y="2750337"/>
            <a:ext cx="878916" cy="1356442"/>
          </a:xfrm>
        </p:spPr>
        <p:txBody>
          <a:bodyPr/>
          <a:lstStyle/>
          <a:p>
            <a:pPr>
              <a:defRPr/>
            </a:pPr>
            <a:fld id="{57CFC444-A655-D742-8217-1C95AF70FBFF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8030620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7828359" cy="321164"/>
          </a:xfrm>
          <a:prstGeom prst="rect">
            <a:avLst/>
          </a:prstGeom>
        </p:spPr>
      </p:pic>
      <p:pic>
        <p:nvPicPr>
          <p:cNvPr id="16" name="Picture 15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1971234"/>
            <a:ext cx="1202248" cy="14427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 bwMode="ltGray">
          <a:xfrm>
            <a:off x="0" y="609600"/>
            <a:ext cx="7828359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" name="Rectangle 17"/>
          <p:cNvSpPr/>
          <p:nvPr/>
        </p:nvSpPr>
        <p:spPr>
          <a:xfrm>
            <a:off x="7939371" y="609600"/>
            <a:ext cx="1202248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6AD947AD-825A-F146-BBF9-54EA2008604E}" type="datetime1">
              <a:rPr lang="en-US" altLang="en-US" smtClean="0"/>
              <a:pPr>
                <a:defRPr/>
              </a:pPr>
              <a:t>1/20/25</a:t>
            </a:fld>
            <a:endParaRPr lang="en-US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BCA5543-1E1F-F043-9EBC-BC37C93D4920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7137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4086907"/>
            <a:ext cx="7828359" cy="321164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68" y="4087901"/>
            <a:ext cx="1202248" cy="14427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-2" y="2726267"/>
            <a:ext cx="7828359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7939369" y="2726267"/>
            <a:ext cx="1202248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0241" y="2869895"/>
            <a:ext cx="7210395" cy="1090788"/>
          </a:xfrm>
        </p:spPr>
        <p:txBody>
          <a:bodyPr anchor="ctr">
            <a:normAutofit/>
          </a:bodyPr>
          <a:lstStyle>
            <a:lvl1pPr algn="r">
              <a:defRPr sz="27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0241" y="4232172"/>
            <a:ext cx="7210395" cy="1704017"/>
          </a:xfrm>
        </p:spPr>
        <p:txBody>
          <a:bodyPr>
            <a:normAutofit/>
          </a:bodyPr>
          <a:lstStyle>
            <a:lvl1pPr marL="0" indent="0" algn="r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45C0D36E-8206-564B-B2A1-1AAB2B32758F}" type="datetime1">
              <a:rPr lang="en-US" altLang="en-US" smtClean="0"/>
              <a:pPr>
                <a:defRPr/>
              </a:pPr>
              <a:t>1/20/25</a:t>
            </a:fld>
            <a:endParaRPr lang="en-US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47092" y="2869896"/>
            <a:ext cx="865613" cy="1090789"/>
          </a:xfrm>
        </p:spPr>
        <p:txBody>
          <a:bodyPr/>
          <a:lstStyle/>
          <a:p>
            <a:pPr>
              <a:defRPr/>
            </a:pPr>
            <a:fld id="{08AC770D-4187-B643-B651-7C2396F259FC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01819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7828359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1971234"/>
            <a:ext cx="1202248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609600"/>
            <a:ext cx="7828359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7939371" y="609600"/>
            <a:ext cx="1202248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10240" y="2336873"/>
            <a:ext cx="3523769" cy="359931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195592" y="2336873"/>
            <a:ext cx="3525044" cy="359931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A708CC03-50C4-124F-9CF3-D3293E51A4B6}" type="datetime1">
              <a:rPr lang="en-US" altLang="en-US" smtClean="0"/>
              <a:pPr>
                <a:defRPr/>
              </a:pPr>
              <a:t>1/20/25</a:t>
            </a:fld>
            <a:endParaRPr lang="en-US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3A3F454-4803-BE4E-A4C9-D0AB6CC2A0C3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24940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7828359" cy="321164"/>
          </a:xfrm>
          <a:prstGeom prst="rect">
            <a:avLst/>
          </a:prstGeom>
        </p:spPr>
      </p:pic>
      <p:pic>
        <p:nvPicPr>
          <p:cNvPr id="11" name="Picture 10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1971234"/>
            <a:ext cx="1202248" cy="14427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 bwMode="ltGray">
          <a:xfrm>
            <a:off x="0" y="609600"/>
            <a:ext cx="7828359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" name="Rectangle 12"/>
          <p:cNvSpPr/>
          <p:nvPr/>
        </p:nvSpPr>
        <p:spPr>
          <a:xfrm>
            <a:off x="7939371" y="609600"/>
            <a:ext cx="1202248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0240" y="753230"/>
            <a:ext cx="7210397" cy="1080937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9763" y="2336874"/>
            <a:ext cx="3354245" cy="69313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10242" y="3030009"/>
            <a:ext cx="3523766" cy="2906179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65116" y="2336873"/>
            <a:ext cx="3355521" cy="692076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195593" y="3030009"/>
            <a:ext cx="3525044" cy="2906179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433325FF-0F5B-BB49-B69C-EFCF2084E94A}" type="datetime1">
              <a:rPr lang="en-US" altLang="en-US" smtClean="0"/>
              <a:pPr>
                <a:defRPr/>
              </a:pPr>
              <a:t>1/20/25</a:t>
            </a:fld>
            <a:endParaRPr lang="en-US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C1125D7-0927-D54A-8169-F3C5D05E93D0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44988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7828359" cy="321164"/>
          </a:xfrm>
          <a:prstGeom prst="rect">
            <a:avLst/>
          </a:prstGeom>
        </p:spPr>
      </p:pic>
      <p:pic>
        <p:nvPicPr>
          <p:cNvPr id="7" name="Picture 6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1971234"/>
            <a:ext cx="1202248" cy="14427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 bwMode="ltGray">
          <a:xfrm>
            <a:off x="0" y="609600"/>
            <a:ext cx="7828359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7939371" y="609600"/>
            <a:ext cx="1202248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716967E3-DF49-4044-89F4-CE2764162D95}" type="datetime1">
              <a:rPr lang="en-US" altLang="en-US" smtClean="0"/>
              <a:pPr>
                <a:defRPr/>
              </a:pPr>
              <a:t>1/20/25</a:t>
            </a:fld>
            <a:endParaRPr lang="en-US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52FD39C-9ADB-C245-9503-846EF8BEFA4C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18305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HD-ShadowShor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1971234"/>
            <a:ext cx="1202248" cy="14427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939371" y="609600"/>
            <a:ext cx="1202248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92AE39BF-D60A-6D45-9C6C-9CCC6328517E}" type="datetime1">
              <a:rPr lang="en-US" altLang="en-US" smtClean="0"/>
              <a:pPr>
                <a:defRPr/>
              </a:pPr>
              <a:t>1/20/25</a:t>
            </a:fld>
            <a:endParaRPr lang="en-US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DF41AF7-5567-D741-8F34-DE634B40BB03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15321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7828359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1971234"/>
            <a:ext cx="1202248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609600"/>
            <a:ext cx="7828359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7939371" y="609600"/>
            <a:ext cx="1202248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0241" y="753227"/>
            <a:ext cx="7210394" cy="1080940"/>
          </a:xfrm>
        </p:spPr>
        <p:txBody>
          <a:bodyPr anchor="ctr">
            <a:normAutofit/>
          </a:bodyPr>
          <a:lstStyle>
            <a:lvl1pPr>
              <a:defRPr sz="27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14385" y="2336874"/>
            <a:ext cx="4206252" cy="3599313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0241" y="2336873"/>
            <a:ext cx="2842559" cy="3599317"/>
          </a:xfrm>
        </p:spPr>
        <p:txBody>
          <a:bodyPr anchor="ctr"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C6A9CC54-BBB1-5C4A-838D-AB744647544A}" type="datetime1">
              <a:rPr lang="en-US" altLang="en-US" smtClean="0"/>
              <a:pPr>
                <a:defRPr/>
              </a:pPr>
              <a:t>1/20/25</a:t>
            </a:fld>
            <a:endParaRPr lang="en-US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GB" altLang="en-US"/>
              <a:t>Objects First with Java - A Practical Introduction using BlueJ, © David J. Barnes, Michael Kölling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DF441E4-FAB9-C646-A3CA-EB59A4BA2416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5084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7828359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1971234"/>
            <a:ext cx="1202248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609600"/>
            <a:ext cx="7828359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7939371" y="609600"/>
            <a:ext cx="1202248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0242" y="753228"/>
            <a:ext cx="7210393" cy="1080938"/>
          </a:xfrm>
        </p:spPr>
        <p:txBody>
          <a:bodyPr anchor="ctr">
            <a:normAutofit/>
          </a:bodyPr>
          <a:lstStyle>
            <a:lvl1pPr>
              <a:defRPr sz="27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651250" y="2336874"/>
            <a:ext cx="4069387" cy="3599312"/>
          </a:xfr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0242" y="2336874"/>
            <a:ext cx="2907192" cy="3599315"/>
          </a:xfrm>
        </p:spPr>
        <p:txBody>
          <a:bodyPr anchor="ctr"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B1187542-FDF5-5246-AB78-5770354305AE}" type="datetime1">
              <a:rPr lang="en-US" altLang="en-US" smtClean="0"/>
              <a:pPr>
                <a:defRPr/>
              </a:pPr>
              <a:t>1/20/25</a:t>
            </a:fld>
            <a:endParaRPr lang="en-US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GB" altLang="en-US"/>
              <a:t>Objects First with Java - A Practical Introduction using BlueJ, © David J. Barnes, Michael Kölling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8A40A2D-3EAF-8C40-9E51-E3D1278D108F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84470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7828359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5929622"/>
            <a:ext cx="1202248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4567988"/>
            <a:ext cx="7828359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7939371" y="4567988"/>
            <a:ext cx="1202248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0242" y="4711617"/>
            <a:ext cx="7210394" cy="453051"/>
          </a:xfrm>
        </p:spPr>
        <p:txBody>
          <a:bodyPr anchor="b">
            <a:normAutofit/>
          </a:bodyPr>
          <a:lstStyle>
            <a:lvl1pPr>
              <a:defRPr sz="18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0242" y="609598"/>
            <a:ext cx="7210394" cy="3589575"/>
          </a:xfr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0239" y="5169584"/>
            <a:ext cx="7210397" cy="62297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24DC09DD-5E67-3143-91BE-96DC7061707A}" type="datetime1">
              <a:rPr lang="en-US" altLang="en-US" smtClean="0"/>
              <a:pPr>
                <a:defRPr/>
              </a:pPr>
              <a:t>1/20/25</a:t>
            </a:fld>
            <a:endParaRPr lang="en-US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047092" y="4711310"/>
            <a:ext cx="865613" cy="1090789"/>
          </a:xfrm>
        </p:spPr>
        <p:txBody>
          <a:bodyPr/>
          <a:lstStyle/>
          <a:p>
            <a:pPr>
              <a:defRPr/>
            </a:pPr>
            <a:fld id="{57CFC444-A655-D742-8217-1C95AF70FBFF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4643464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7828359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5929622"/>
            <a:ext cx="1202248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4567988"/>
            <a:ext cx="7828359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7939371" y="4567988"/>
            <a:ext cx="1202248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0241" y="609597"/>
            <a:ext cx="7210394" cy="3592750"/>
          </a:xfrm>
        </p:spPr>
        <p:txBody>
          <a:bodyPr anchor="ctr"/>
          <a:lstStyle>
            <a:lvl1pPr>
              <a:defRPr sz="24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0242" y="4711616"/>
            <a:ext cx="7210394" cy="1090789"/>
          </a:xfrm>
        </p:spPr>
        <p:txBody>
          <a:bodyPr anchor="ctr"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24DC09DD-5E67-3143-91BE-96DC7061707A}" type="datetime1">
              <a:rPr lang="en-US" altLang="en-US" smtClean="0"/>
              <a:pPr>
                <a:defRPr/>
              </a:pPr>
              <a:t>1/20/25</a:t>
            </a:fld>
            <a:endParaRPr lang="en-US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047092" y="4711616"/>
            <a:ext cx="865613" cy="1090789"/>
          </a:xfrm>
        </p:spPr>
        <p:txBody>
          <a:bodyPr/>
          <a:lstStyle/>
          <a:p>
            <a:pPr>
              <a:defRPr/>
            </a:pPr>
            <a:fld id="{57CFC444-A655-D742-8217-1C95AF70FBFF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9278702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7828359" cy="321164"/>
          </a:xfrm>
          <a:prstGeom prst="rect">
            <a:avLst/>
          </a:prstGeom>
        </p:spPr>
      </p:pic>
      <p:pic>
        <p:nvPicPr>
          <p:cNvPr id="13" name="Picture 12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5929622"/>
            <a:ext cx="1202248" cy="14427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 bwMode="ltGray">
          <a:xfrm>
            <a:off x="0" y="4567988"/>
            <a:ext cx="7828359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Rectangle 14"/>
          <p:cNvSpPr/>
          <p:nvPr/>
        </p:nvSpPr>
        <p:spPr>
          <a:xfrm>
            <a:off x="7939371" y="4567988"/>
            <a:ext cx="1202248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5892" y="609598"/>
            <a:ext cx="6539158" cy="3036061"/>
          </a:xfrm>
        </p:spPr>
        <p:txBody>
          <a:bodyPr anchor="ctr"/>
          <a:lstStyle>
            <a:lvl1pPr>
              <a:defRPr sz="24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051717" y="3653379"/>
            <a:ext cx="6117434" cy="548968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0242" y="4711616"/>
            <a:ext cx="7210394" cy="1090789"/>
          </a:xfrm>
        </p:spPr>
        <p:txBody>
          <a:bodyPr anchor="ctr">
            <a:normAutofit/>
          </a:bodyPr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24DC09DD-5E67-3143-91BE-96DC7061707A}" type="datetime1">
              <a:rPr lang="en-US" altLang="en-US" smtClean="0"/>
              <a:pPr>
                <a:defRPr/>
              </a:pPr>
              <a:t>1/20/25</a:t>
            </a:fld>
            <a:endParaRPr lang="en-US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047092" y="4709926"/>
            <a:ext cx="865613" cy="1090789"/>
          </a:xfrm>
        </p:spPr>
        <p:txBody>
          <a:bodyPr/>
          <a:lstStyle/>
          <a:p>
            <a:pPr>
              <a:defRPr/>
            </a:pPr>
            <a:fld id="{57CFC444-A655-D742-8217-1C95AF70FBFF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  <p:sp>
        <p:nvSpPr>
          <p:cNvPr id="16" name="TextBox 15"/>
          <p:cNvSpPr txBox="1"/>
          <p:nvPr/>
        </p:nvSpPr>
        <p:spPr>
          <a:xfrm>
            <a:off x="437679" y="748116"/>
            <a:ext cx="457200" cy="584776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54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47107" y="3033524"/>
            <a:ext cx="457200" cy="584776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54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781905621"/>
      </p:ext>
    </p:extLst>
  </p:cSld>
  <p:clrMapOvr>
    <a:masterClrMapping/>
  </p:clrMapOvr>
  <p:hf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7828359" cy="321164"/>
          </a:xfrm>
          <a:prstGeom prst="rect">
            <a:avLst/>
          </a:prstGeom>
        </p:spPr>
      </p:pic>
      <p:pic>
        <p:nvPicPr>
          <p:cNvPr id="10" name="Picture 9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5929622"/>
            <a:ext cx="1202248" cy="14427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 bwMode="ltGray">
          <a:xfrm>
            <a:off x="0" y="4567988"/>
            <a:ext cx="7828359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2" name="Rectangle 11"/>
          <p:cNvSpPr/>
          <p:nvPr/>
        </p:nvSpPr>
        <p:spPr>
          <a:xfrm>
            <a:off x="7939371" y="4567988"/>
            <a:ext cx="1202248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0239" y="4711616"/>
            <a:ext cx="7210397" cy="588535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0240" y="5300150"/>
            <a:ext cx="7210397" cy="502255"/>
          </a:xfrm>
        </p:spPr>
        <p:txBody>
          <a:bodyPr anchor="t"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24DC09DD-5E67-3143-91BE-96DC7061707A}" type="datetime1">
              <a:rPr lang="en-US" altLang="en-US" smtClean="0"/>
              <a:pPr>
                <a:defRPr/>
              </a:pPr>
              <a:t>1/20/25</a:t>
            </a:fld>
            <a:endParaRPr lang="en-US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047092" y="4709926"/>
            <a:ext cx="865613" cy="1090789"/>
          </a:xfrm>
        </p:spPr>
        <p:txBody>
          <a:bodyPr/>
          <a:lstStyle/>
          <a:p>
            <a:pPr>
              <a:defRPr/>
            </a:pPr>
            <a:fld id="{57CFC444-A655-D742-8217-1C95AF70FBFF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3670875"/>
      </p:ext>
    </p:extLst>
  </p:cSld>
  <p:clrMapOvr>
    <a:masterClrMapping/>
  </p:clrMapOvr>
  <p:hf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7828359" cy="321164"/>
          </a:xfrm>
          <a:prstGeom prst="rect">
            <a:avLst/>
          </a:prstGeom>
        </p:spPr>
      </p:pic>
      <p:pic>
        <p:nvPicPr>
          <p:cNvPr id="14" name="Picture 13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1971234"/>
            <a:ext cx="1202248" cy="14427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 bwMode="ltGray">
          <a:xfrm>
            <a:off x="0" y="609600"/>
            <a:ext cx="7828359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7" name="Rectangle 16"/>
          <p:cNvSpPr/>
          <p:nvPr/>
        </p:nvSpPr>
        <p:spPr>
          <a:xfrm>
            <a:off x="7939371" y="609600"/>
            <a:ext cx="1202248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501916" y="753228"/>
            <a:ext cx="7218720" cy="1080938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495709" y="2336873"/>
            <a:ext cx="2302526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510241" y="3022674"/>
            <a:ext cx="2287277" cy="2913513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967019" y="2336873"/>
            <a:ext cx="2297430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2959103" y="3022674"/>
            <a:ext cx="2297430" cy="2913513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418117" y="2336873"/>
            <a:ext cx="2302519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5418117" y="3022674"/>
            <a:ext cx="2302519" cy="2913513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24DC09DD-5E67-3143-91BE-96DC7061707A}" type="datetime1">
              <a:rPr lang="en-US" altLang="en-US" smtClean="0"/>
              <a:pPr>
                <a:defRPr/>
              </a:pPr>
              <a:t>1/20/25</a:t>
            </a:fld>
            <a:endParaRPr lang="en-US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7CFC444-A655-D742-8217-1C95AF70FBFF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7633591"/>
      </p:ext>
    </p:extLst>
  </p:cSld>
  <p:clrMapOvr>
    <a:masterClrMapping/>
  </p:clrMapOvr>
  <p:hf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7828359" cy="321164"/>
          </a:xfrm>
          <a:prstGeom prst="rect">
            <a:avLst/>
          </a:prstGeom>
        </p:spPr>
      </p:pic>
      <p:pic>
        <p:nvPicPr>
          <p:cNvPr id="16" name="Picture 15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1971234"/>
            <a:ext cx="1202248" cy="14427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 bwMode="ltGray">
          <a:xfrm>
            <a:off x="0" y="609600"/>
            <a:ext cx="7828359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" name="Rectangle 17"/>
          <p:cNvSpPr/>
          <p:nvPr/>
        </p:nvSpPr>
        <p:spPr>
          <a:xfrm>
            <a:off x="7939371" y="609600"/>
            <a:ext cx="1202248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510241" y="753228"/>
            <a:ext cx="7210395" cy="1080938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510239" y="4297503"/>
            <a:ext cx="2287279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510239" y="2336873"/>
            <a:ext cx="2287279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510239" y="4873765"/>
            <a:ext cx="2287279" cy="1062422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959103" y="4297503"/>
            <a:ext cx="2297430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2959103" y="2336873"/>
            <a:ext cx="2297430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2958088" y="4873764"/>
            <a:ext cx="2300473" cy="1062422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423009" y="4297503"/>
            <a:ext cx="2297629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5423008" y="2336873"/>
            <a:ext cx="2297629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5422915" y="4873762"/>
            <a:ext cx="2300672" cy="1062422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24DC09DD-5E67-3143-91BE-96DC7061707A}" type="datetime1">
              <a:rPr lang="en-US" altLang="en-US" smtClean="0"/>
              <a:pPr>
                <a:defRPr/>
              </a:pPr>
              <a:t>1/20/25</a:t>
            </a:fld>
            <a:endParaRPr lang="en-US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7CFC444-A655-D742-8217-1C95AF70FBFF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3218522"/>
      </p:ext>
    </p:extLst>
  </p:cSld>
  <p:clrMapOvr>
    <a:masterClrMapping/>
  </p:clrMapOvr>
  <p:hf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7828359" cy="321164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1971234"/>
            <a:ext cx="1202248" cy="14427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0" y="609600"/>
            <a:ext cx="7828359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7939371" y="609600"/>
            <a:ext cx="1202248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r">
              <a:defRPr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4590BA56-BDCD-C643-80CF-58841B686DE9}" type="datetime1">
              <a:rPr lang="en-US" altLang="en-US" smtClean="0"/>
              <a:pPr>
                <a:defRPr/>
              </a:pPr>
              <a:t>1/20/25</a:t>
            </a:fld>
            <a:endParaRPr lang="en-US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GB" altLang="en-US"/>
              <a:t>Objects First with Java - A Practical Introduction using BlueJ, © David J. Barnes, Michael Kölling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B9C0C35-3D7C-B541-A38B-FDC2B086A020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238883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 bwMode="ltGray">
          <a:xfrm rot="5400000">
            <a:off x="5448782" y="2040420"/>
            <a:ext cx="5106988" cy="1026149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 rot="5400000">
            <a:off x="7200777" y="5543428"/>
            <a:ext cx="1602997" cy="102614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596923" y="609597"/>
            <a:ext cx="805352" cy="4353760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10241" y="609598"/>
            <a:ext cx="6652503" cy="5326589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5105344" y="5936188"/>
            <a:ext cx="2057400" cy="365125"/>
          </a:xfrm>
        </p:spPr>
        <p:txBody>
          <a:bodyPr/>
          <a:lstStyle/>
          <a:p>
            <a:pPr>
              <a:defRPr/>
            </a:pPr>
            <a:fld id="{812B3317-FDA4-6C49-B281-E0300FE30B29}" type="datetime1">
              <a:rPr lang="en-US" altLang="en-US" smtClean="0"/>
              <a:pPr>
                <a:defRPr/>
              </a:pPr>
              <a:t>1/20/25</a:t>
            </a:fld>
            <a:endParaRPr lang="en-US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10241" y="5936189"/>
            <a:ext cx="4595104" cy="365125"/>
          </a:xfrm>
        </p:spPr>
        <p:txBody>
          <a:bodyPr/>
          <a:lstStyle/>
          <a:p>
            <a:pPr>
              <a:defRPr/>
            </a:pPr>
            <a:r>
              <a:rPr lang="en-GB" altLang="en-US"/>
              <a:t>Objects First with Java - A Practical Introduction using BlueJ, © David J. Barnes, Michael Kölling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573163" y="5398634"/>
            <a:ext cx="865613" cy="1090789"/>
          </a:xfrm>
        </p:spPr>
        <p:txBody>
          <a:bodyPr anchor="t"/>
          <a:lstStyle>
            <a:lvl1pPr algn="ctr">
              <a:defRPr/>
            </a:lvl1pPr>
          </a:lstStyle>
          <a:p>
            <a:pPr>
              <a:defRPr/>
            </a:pPr>
            <a:fld id="{8771FEFC-E74C-F640-BE0B-37559422D834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20531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ashOverlay-FullResolve.png"/>
          <p:cNvPicPr>
            <a:picLocks noChangeAspect="1"/>
          </p:cNvPicPr>
          <p:nvPr/>
        </p:nvPicPr>
        <p:blipFill>
          <a:blip r:embed="rId19">
            <a:alphaModFix amt="1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10241" y="753228"/>
            <a:ext cx="7210396" cy="10809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0241" y="2336873"/>
            <a:ext cx="7210396" cy="35993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663236" y="5936188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8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24DC09DD-5E67-3143-91BE-96DC7061707A}" type="datetime1">
              <a:rPr lang="en-US" altLang="en-US" smtClean="0"/>
              <a:pPr>
                <a:defRPr/>
              </a:pPr>
              <a:t>1/20/25</a:t>
            </a:fld>
            <a:endParaRPr lang="en-US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0241" y="5936189"/>
            <a:ext cx="515299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8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047092" y="753228"/>
            <a:ext cx="865613" cy="109078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7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57CFC444-A655-D742-8217-1C95AF70FBFF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8925037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30" r:id="rId1"/>
    <p:sldLayoutId id="2147483731" r:id="rId2"/>
    <p:sldLayoutId id="2147483732" r:id="rId3"/>
    <p:sldLayoutId id="2147483733" r:id="rId4"/>
    <p:sldLayoutId id="2147483734" r:id="rId5"/>
    <p:sldLayoutId id="2147483735" r:id="rId6"/>
    <p:sldLayoutId id="2147483736" r:id="rId7"/>
    <p:sldLayoutId id="2147483737" r:id="rId8"/>
    <p:sldLayoutId id="2147483738" r:id="rId9"/>
    <p:sldLayoutId id="2147483739" r:id="rId10"/>
    <p:sldLayoutId id="2147483740" r:id="rId11"/>
    <p:sldLayoutId id="2147483741" r:id="rId12"/>
    <p:sldLayoutId id="2147483742" r:id="rId13"/>
    <p:sldLayoutId id="2147483743" r:id="rId14"/>
    <p:sldLayoutId id="2147483744" r:id="rId15"/>
    <p:sldLayoutId id="2147483745" r:id="rId16"/>
    <p:sldLayoutId id="2147483746" r:id="rId17"/>
  </p:sldLayoutIdLst>
  <p:hf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27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6.xml"/><Relationship Id="rId1" Type="http://schemas.openxmlformats.org/officeDocument/2006/relationships/themeOverride" Target="../theme/themeOverride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6.xml"/><Relationship Id="rId1" Type="http://schemas.openxmlformats.org/officeDocument/2006/relationships/themeOverride" Target="../theme/themeOverr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6.xml"/><Relationship Id="rId1" Type="http://schemas.openxmlformats.org/officeDocument/2006/relationships/themeOverride" Target="../theme/themeOverr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6.xml"/><Relationship Id="rId1" Type="http://schemas.openxmlformats.org/officeDocument/2006/relationships/themeOverride" Target="../theme/themeOverride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6.xml"/><Relationship Id="rId1" Type="http://schemas.openxmlformats.org/officeDocument/2006/relationships/themeOverride" Target="../theme/themeOverride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6.xml"/><Relationship Id="rId1" Type="http://schemas.openxmlformats.org/officeDocument/2006/relationships/themeOverride" Target="../theme/themeOverride10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6.xml"/><Relationship Id="rId1" Type="http://schemas.openxmlformats.org/officeDocument/2006/relationships/themeOverride" Target="../theme/themeOverride1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6.xml"/><Relationship Id="rId1" Type="http://schemas.openxmlformats.org/officeDocument/2006/relationships/themeOverride" Target="../theme/themeOverride1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6.xml"/><Relationship Id="rId1" Type="http://schemas.openxmlformats.org/officeDocument/2006/relationships/themeOverride" Target="../theme/themeOverride1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5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6.xml"/><Relationship Id="rId4" Type="http://schemas.openxmlformats.org/officeDocument/2006/relationships/hyperlink" Target="https://wiki.haskell.org/Commenting" TargetMode="Externa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6.xml"/><Relationship Id="rId1" Type="http://schemas.openxmlformats.org/officeDocument/2006/relationships/themeOverride" Target="../theme/themeOverride18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6.xml"/><Relationship Id="rId1" Type="http://schemas.openxmlformats.org/officeDocument/2006/relationships/themeOverride" Target="../theme/themeOverride19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6.xml"/><Relationship Id="rId1" Type="http://schemas.openxmlformats.org/officeDocument/2006/relationships/themeOverride" Target="../theme/themeOverr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1" name="Slide Number Placeholder 1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5E08685F-6324-1642-88D7-16A6D01BA5BE}" type="slidenum">
              <a:rPr lang="en-US" sz="1400"/>
              <a:pPr/>
              <a:t>0</a:t>
            </a:fld>
            <a:endParaRPr lang="en-US" sz="1400"/>
          </a:p>
        </p:txBody>
      </p:sp>
      <p:sp>
        <p:nvSpPr>
          <p:cNvPr id="15362" name="Text Box 2"/>
          <p:cNvSpPr txBox="1">
            <a:spLocks noChangeArrowheads="1"/>
          </p:cNvSpPr>
          <p:nvPr/>
        </p:nvSpPr>
        <p:spPr bwMode="auto">
          <a:xfrm>
            <a:off x="115888" y="1001713"/>
            <a:ext cx="8910637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 algn="ctr"/>
            <a:r>
              <a:rPr lang="en-US" sz="3600" b="1">
                <a:solidFill>
                  <a:schemeClr val="tx2"/>
                </a:solidFill>
                <a:latin typeface="Arial Black" charset="0"/>
              </a:rPr>
              <a:t>PROGRAMMING IN HASKELL</a:t>
            </a:r>
          </a:p>
        </p:txBody>
      </p:sp>
      <p:sp>
        <p:nvSpPr>
          <p:cNvPr id="15363" name="Rectangle 3"/>
          <p:cNvSpPr>
            <a:spLocks noChangeArrowheads="1"/>
          </p:cNvSpPr>
          <p:nvPr/>
        </p:nvSpPr>
        <p:spPr bwMode="auto">
          <a:xfrm>
            <a:off x="176213" y="5164137"/>
            <a:ext cx="8791575" cy="98487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/>
          <a:p>
            <a:pPr algn="ctr"/>
            <a:r>
              <a:rPr kumimoji="1" lang="en-US" sz="3200" dirty="0"/>
              <a:t>Chapter 2 - First Steps</a:t>
            </a:r>
          </a:p>
          <a:p>
            <a:pPr algn="ctr"/>
            <a:r>
              <a:rPr kumimoji="1" lang="en-US" sz="2000" dirty="0"/>
              <a:t>Based on “Programming in Haskell” by Graham Hutton</a:t>
            </a:r>
          </a:p>
        </p:txBody>
      </p:sp>
      <p:pic>
        <p:nvPicPr>
          <p:cNvPr id="15364" name="Picture 5" descr="2000px-Haskell-Logo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51188" y="2400300"/>
            <a:ext cx="2841625" cy="2006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>
          <a:xfrm>
            <a:off x="381000" y="380999"/>
            <a:ext cx="7772400" cy="970723"/>
          </a:xfrm>
        </p:spPr>
        <p:txBody>
          <a:bodyPr>
            <a:normAutofit/>
          </a:bodyPr>
          <a:lstStyle/>
          <a:p>
            <a:r>
              <a:rPr lang="en-US" dirty="0">
                <a:latin typeface="Arial Black" charset="0"/>
                <a:ea typeface="ＭＳ Ｐゴシック" charset="0"/>
                <a:cs typeface="ＭＳ Ｐゴシック" charset="0"/>
              </a:rPr>
              <a:t>Introduction to GHC (Glasgow Haskell Compiler)</a:t>
            </a:r>
          </a:p>
        </p:txBody>
      </p:sp>
      <p:sp>
        <p:nvSpPr>
          <p:cNvPr id="16387" name="Rectangle 3"/>
          <p:cNvSpPr>
            <a:spLocks noGrp="1" noChangeArrowheads="1"/>
          </p:cNvSpPr>
          <p:nvPr>
            <p:ph idx="1"/>
          </p:nvPr>
        </p:nvSpPr>
        <p:spPr>
          <a:xfrm>
            <a:off x="533400" y="1524000"/>
            <a:ext cx="6039678" cy="4558748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IE" b="1" dirty="0"/>
              <a:t>What is GHC?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IE" dirty="0"/>
              <a:t>The leading implementation of Haskell, comprising a compiler and interpreter.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IE" dirty="0"/>
              <a:t>Interactive interpreter (</a:t>
            </a:r>
            <a:r>
              <a:rPr lang="en-IE" i="1" dirty="0" err="1"/>
              <a:t>GHCi</a:t>
            </a:r>
            <a:r>
              <a:rPr lang="en-IE" dirty="0"/>
              <a:t>) suitable for teaching, prototyping, and testing.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E" b="1" dirty="0"/>
              <a:t>Availability</a:t>
            </a:r>
            <a:r>
              <a:rPr lang="en-IE" dirty="0"/>
              <a:t>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IE" dirty="0"/>
              <a:t>Freely available at </a:t>
            </a:r>
            <a:r>
              <a:rPr lang="en-IE" dirty="0" err="1"/>
              <a:t>www.haskell.org</a:t>
            </a:r>
            <a:endParaRPr lang="en-IE" dirty="0"/>
          </a:p>
        </p:txBody>
      </p:sp>
      <p:sp>
        <p:nvSpPr>
          <p:cNvPr id="16385" name="Slide Number Placeholder 3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C35990BC-941F-5B40-AA99-85A5C70022F6}" type="slidenum">
              <a:rPr lang="en-US" sz="1400"/>
              <a:pPr/>
              <a:t>1</a:t>
            </a:fld>
            <a:endParaRPr lang="en-US" sz="140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F735956-41F2-EDB5-D0E8-46B906ACBB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16300" y="5712790"/>
            <a:ext cx="5575300" cy="965200"/>
          </a:xfrm>
          <a:prstGeom prst="rect">
            <a:avLst/>
          </a:prstGeom>
        </p:spPr>
      </p:pic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Black" charset="0"/>
                <a:ea typeface="ＭＳ Ｐゴシック" charset="0"/>
                <a:cs typeface="ＭＳ Ｐゴシック" charset="0"/>
              </a:rPr>
              <a:t>Starting with </a:t>
            </a:r>
            <a:r>
              <a:rPr lang="en-US" dirty="0" err="1">
                <a:latin typeface="Arial Black" charset="0"/>
                <a:ea typeface="ＭＳ Ｐゴシック" charset="0"/>
                <a:cs typeface="ＭＳ Ｐゴシック" charset="0"/>
              </a:rPr>
              <a:t>GHCi</a:t>
            </a:r>
            <a:endParaRPr lang="en-US" dirty="0">
              <a:latin typeface="Arial Black" charset="0"/>
              <a:ea typeface="ＭＳ Ｐゴシック" charset="0"/>
              <a:cs typeface="ＭＳ Ｐゴシック" charset="0"/>
            </a:endParaRPr>
          </a:p>
        </p:txBody>
      </p:sp>
      <p:sp>
        <p:nvSpPr>
          <p:cNvPr id="17409" name="Slide Number Placeholder 3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7F8A67C0-1329-EC4D-AAE7-7810FC8CE882}" type="slidenum">
              <a:rPr lang="en-US" sz="1400"/>
              <a:pPr/>
              <a:t>2</a:t>
            </a:fld>
            <a:endParaRPr lang="en-US" sz="1400"/>
          </a:p>
        </p:txBody>
      </p:sp>
      <p:sp>
        <p:nvSpPr>
          <p:cNvPr id="17411" name="Text Box 3"/>
          <p:cNvSpPr txBox="1">
            <a:spLocks noChangeArrowheads="1"/>
          </p:cNvSpPr>
          <p:nvPr/>
        </p:nvSpPr>
        <p:spPr bwMode="auto">
          <a:xfrm>
            <a:off x="693737" y="2201207"/>
            <a:ext cx="7688263" cy="1604963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spcBef>
                <a:spcPts val="400"/>
              </a:spcBef>
            </a:pPr>
            <a:r>
              <a:rPr lang="en-US" sz="1700" dirty="0">
                <a:latin typeface="Lucida Sans Typewriter" charset="0"/>
              </a:rPr>
              <a:t>$ </a:t>
            </a:r>
            <a:r>
              <a:rPr lang="en-US" sz="1700" dirty="0" err="1">
                <a:latin typeface="Lucida Sans Typewriter" charset="0"/>
              </a:rPr>
              <a:t>ghci</a:t>
            </a:r>
            <a:endParaRPr lang="en-US" sz="1700" dirty="0">
              <a:latin typeface="Lucida Sans Typewriter" charset="0"/>
            </a:endParaRPr>
          </a:p>
          <a:p>
            <a:pPr>
              <a:spcBef>
                <a:spcPts val="400"/>
              </a:spcBef>
            </a:pPr>
            <a:endParaRPr lang="en-US" sz="1700" dirty="0">
              <a:latin typeface="Lucida Sans Typewriter" charset="0"/>
            </a:endParaRPr>
          </a:p>
          <a:p>
            <a:pPr>
              <a:spcBef>
                <a:spcPts val="400"/>
              </a:spcBef>
            </a:pPr>
            <a:r>
              <a:rPr lang="en-US" sz="1700" dirty="0" err="1">
                <a:latin typeface="Lucida Sans Typewriter" charset="0"/>
              </a:rPr>
              <a:t>GHCi</a:t>
            </a:r>
            <a:r>
              <a:rPr lang="en-US" sz="1700" dirty="0">
                <a:latin typeface="Lucida Sans Typewriter" charset="0"/>
              </a:rPr>
              <a:t>, version X: http://</a:t>
            </a:r>
            <a:r>
              <a:rPr lang="en-US" sz="1700" dirty="0" err="1">
                <a:latin typeface="Lucida Sans Typewriter" charset="0"/>
              </a:rPr>
              <a:t>www.haskell.org</a:t>
            </a:r>
            <a:r>
              <a:rPr lang="en-US" sz="1700" dirty="0">
                <a:latin typeface="Lucida Sans Typewriter" charset="0"/>
              </a:rPr>
              <a:t>/</a:t>
            </a:r>
            <a:r>
              <a:rPr lang="en-US" sz="1700" dirty="0" err="1">
                <a:latin typeface="Lucida Sans Typewriter" charset="0"/>
              </a:rPr>
              <a:t>ghc</a:t>
            </a:r>
            <a:r>
              <a:rPr lang="en-US" sz="1700" dirty="0">
                <a:latin typeface="Lucida Sans Typewriter" charset="0"/>
              </a:rPr>
              <a:t>/  :? for help</a:t>
            </a:r>
          </a:p>
          <a:p>
            <a:pPr>
              <a:spcBef>
                <a:spcPts val="400"/>
              </a:spcBef>
            </a:pPr>
            <a:endParaRPr lang="en-US" sz="1700" dirty="0">
              <a:latin typeface="Lucida Sans Typewriter" charset="0"/>
            </a:endParaRPr>
          </a:p>
          <a:p>
            <a:pPr>
              <a:spcBef>
                <a:spcPts val="400"/>
              </a:spcBef>
            </a:pPr>
            <a:r>
              <a:rPr lang="en-US" sz="1700" dirty="0" err="1">
                <a:latin typeface="Lucida Sans Typewriter" charset="0"/>
              </a:rPr>
              <a:t>ghci</a:t>
            </a:r>
            <a:r>
              <a:rPr lang="en-US" sz="1700" dirty="0">
                <a:latin typeface="Lucida Sans Typewriter" charset="0"/>
              </a:rPr>
              <a:t>&gt; </a:t>
            </a:r>
          </a:p>
        </p:txBody>
      </p:sp>
      <p:sp>
        <p:nvSpPr>
          <p:cNvPr id="17412" name="Text Box 4"/>
          <p:cNvSpPr txBox="1">
            <a:spLocks noChangeArrowheads="1"/>
          </p:cNvSpPr>
          <p:nvPr/>
        </p:nvSpPr>
        <p:spPr bwMode="auto">
          <a:xfrm>
            <a:off x="415925" y="1555750"/>
            <a:ext cx="8334375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dirty="0"/>
              <a:t>How to start </a:t>
            </a:r>
          </a:p>
        </p:txBody>
      </p:sp>
      <p:sp>
        <p:nvSpPr>
          <p:cNvPr id="17413" name="Rectangle 5"/>
          <p:cNvSpPr>
            <a:spLocks noChangeArrowheads="1"/>
          </p:cNvSpPr>
          <p:nvPr/>
        </p:nvSpPr>
        <p:spPr bwMode="auto">
          <a:xfrm>
            <a:off x="668337" y="4469294"/>
            <a:ext cx="8018463" cy="9540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/>
          <a:p>
            <a:r>
              <a:rPr lang="en-IE" dirty="0" err="1"/>
              <a:t>GHCi</a:t>
            </a:r>
            <a:r>
              <a:rPr lang="en-IE" dirty="0"/>
              <a:t> prompt (</a:t>
            </a:r>
            <a:r>
              <a:rPr lang="en-IE" b="1" i="1" dirty="0" err="1"/>
              <a:t>ghci</a:t>
            </a:r>
            <a:r>
              <a:rPr lang="en-IE" b="1" i="1" dirty="0"/>
              <a:t>&gt;</a:t>
            </a:r>
            <a:r>
              <a:rPr lang="en-IE" dirty="0"/>
              <a:t>) indicates the interpreter is ready for expressions</a:t>
            </a:r>
            <a:endParaRPr lang="en-US" dirty="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Number Placeholder 1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8B47B8C8-9379-7647-8785-297B65A0FF90}" type="slidenum">
              <a:rPr lang="en-US" sz="1400"/>
              <a:pPr/>
              <a:t>3</a:t>
            </a:fld>
            <a:endParaRPr lang="en-US" sz="1400"/>
          </a:p>
        </p:txBody>
      </p:sp>
      <p:sp>
        <p:nvSpPr>
          <p:cNvPr id="18434" name="Text Box 2"/>
          <p:cNvSpPr txBox="1">
            <a:spLocks noChangeArrowheads="1"/>
          </p:cNvSpPr>
          <p:nvPr/>
        </p:nvSpPr>
        <p:spPr bwMode="auto">
          <a:xfrm>
            <a:off x="749300" y="667434"/>
            <a:ext cx="7632700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wrap="square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kumimoji="1" lang="en-US" sz="3600" dirty="0">
                <a:solidFill>
                  <a:schemeClr val="tx2"/>
                </a:solidFill>
                <a:latin typeface="Arial Black" charset="0"/>
              </a:rPr>
              <a:t>Starting with </a:t>
            </a:r>
            <a:r>
              <a:rPr kumimoji="1" lang="en-US" sz="3600" dirty="0" err="1">
                <a:solidFill>
                  <a:schemeClr val="tx2"/>
                </a:solidFill>
                <a:latin typeface="Arial Black" charset="0"/>
              </a:rPr>
              <a:t>GHCi</a:t>
            </a:r>
            <a:endParaRPr kumimoji="1" lang="en-US" sz="3600" dirty="0">
              <a:solidFill>
                <a:schemeClr val="tx2"/>
              </a:solidFill>
              <a:latin typeface="Arial Black" charset="0"/>
            </a:endParaRPr>
          </a:p>
        </p:txBody>
      </p:sp>
      <p:sp>
        <p:nvSpPr>
          <p:cNvPr id="18435" name="Text Box 3"/>
          <p:cNvSpPr txBox="1">
            <a:spLocks noChangeArrowheads="1"/>
          </p:cNvSpPr>
          <p:nvPr/>
        </p:nvSpPr>
        <p:spPr bwMode="auto">
          <a:xfrm>
            <a:off x="1360971" y="1804184"/>
            <a:ext cx="4833374" cy="2246769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wrap="none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spcAft>
                <a:spcPts val="600"/>
              </a:spcAft>
            </a:pPr>
            <a:r>
              <a:rPr lang="en-US" sz="2400" dirty="0">
                <a:latin typeface="Lucida Sans Typewriter" charset="0"/>
              </a:rPr>
              <a:t>&gt; 2 + 3 * 4    -- 14</a:t>
            </a:r>
          </a:p>
          <a:p>
            <a:pPr>
              <a:spcAft>
                <a:spcPts val="600"/>
              </a:spcAft>
            </a:pPr>
            <a:endParaRPr lang="en-US" sz="2400" dirty="0">
              <a:latin typeface="Lucida Sans Typewriter" charset="0"/>
            </a:endParaRPr>
          </a:p>
          <a:p>
            <a:pPr>
              <a:spcAft>
                <a:spcPts val="600"/>
              </a:spcAft>
            </a:pPr>
            <a:r>
              <a:rPr lang="en-US" sz="2400" dirty="0">
                <a:latin typeface="Lucida Sans Typewriter" charset="0"/>
              </a:rPr>
              <a:t>&gt; (2 + 3) * 4  -- 20</a:t>
            </a:r>
          </a:p>
          <a:p>
            <a:pPr>
              <a:spcAft>
                <a:spcPts val="600"/>
              </a:spcAft>
            </a:pPr>
            <a:endParaRPr lang="en-US" sz="2400" dirty="0">
              <a:latin typeface="Lucida Sans Typewriter" charset="0"/>
            </a:endParaRPr>
          </a:p>
          <a:p>
            <a:pPr>
              <a:spcAft>
                <a:spcPts val="600"/>
              </a:spcAft>
            </a:pPr>
            <a:r>
              <a:rPr lang="en-US" sz="2400" dirty="0">
                <a:latin typeface="Lucida Sans Typewriter" charset="0"/>
              </a:rPr>
              <a:t>&gt; sqrt (3^2 + 4^2) -- 5.0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941E66A-8D5D-7C39-E9CA-B858F2BDC3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6691" y="5105400"/>
            <a:ext cx="6223000" cy="1295400"/>
          </a:xfrm>
          <a:prstGeom prst="rect">
            <a:avLst/>
          </a:prstGeom>
        </p:spPr>
      </p:pic>
    </p:spTree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Black" charset="0"/>
                <a:ea typeface="ＭＳ Ｐゴシック" charset="0"/>
                <a:cs typeface="ＭＳ Ｐゴシック" charset="0"/>
              </a:rPr>
              <a:t>The Standard Prelude</a:t>
            </a:r>
          </a:p>
        </p:txBody>
      </p:sp>
      <p:sp>
        <p:nvSpPr>
          <p:cNvPr id="19457" name="Slide Number Placeholder 2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ADA19D7A-0922-5844-9E78-B2F290CA9868}" type="slidenum">
              <a:rPr lang="en-US" sz="1400"/>
              <a:pPr/>
              <a:t>4</a:t>
            </a:fld>
            <a:endParaRPr lang="en-US" sz="1400"/>
          </a:p>
        </p:txBody>
      </p:sp>
      <p:sp>
        <p:nvSpPr>
          <p:cNvPr id="19459" name="Text Box 3"/>
          <p:cNvSpPr txBox="1">
            <a:spLocks noChangeArrowheads="1"/>
          </p:cNvSpPr>
          <p:nvPr/>
        </p:nvSpPr>
        <p:spPr bwMode="auto">
          <a:xfrm>
            <a:off x="383249" y="1933942"/>
            <a:ext cx="7967663" cy="48320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buFont typeface="Arial" panose="020B0604020202020204" pitchFamily="34" charset="0"/>
              <a:buChar char="•"/>
            </a:pPr>
            <a:r>
              <a:rPr lang="en-IE" dirty="0"/>
              <a:t>Library Overview: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IE" dirty="0"/>
              <a:t> Haskell includes many built-in functions for lists and numbers.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E" b="1" dirty="0"/>
              <a:t>Examples</a:t>
            </a:r>
            <a:r>
              <a:rPr lang="en-IE" dirty="0"/>
              <a:t>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IE" dirty="0"/>
              <a:t>Select the first element: </a:t>
            </a:r>
          </a:p>
          <a:p>
            <a:pPr>
              <a:buFont typeface="Arial" panose="020B0604020202020204" pitchFamily="34" charset="0"/>
              <a:buChar char="•"/>
            </a:pPr>
            <a:endParaRPr lang="en-IE" dirty="0"/>
          </a:p>
          <a:p>
            <a:pPr>
              <a:buFont typeface="Arial" panose="020B0604020202020204" pitchFamily="34" charset="0"/>
              <a:buChar char="•"/>
            </a:pPr>
            <a:endParaRPr lang="en-IE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en-IE" dirty="0"/>
              <a:t>Remove the first element: </a:t>
            </a:r>
          </a:p>
          <a:p>
            <a:pPr>
              <a:buFont typeface="Arial" panose="020B0604020202020204" pitchFamily="34" charset="0"/>
              <a:buChar char="•"/>
            </a:pPr>
            <a:endParaRPr lang="en-IE" dirty="0"/>
          </a:p>
          <a:p>
            <a:pPr>
              <a:buFont typeface="Arial" panose="020B0604020202020204" pitchFamily="34" charset="0"/>
              <a:buChar char="•"/>
            </a:pPr>
            <a:endParaRPr lang="en-IE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en-IE" dirty="0"/>
              <a:t>Sum of a list:</a:t>
            </a:r>
            <a:r>
              <a:rPr lang="en-US" dirty="0"/>
              <a:t>.</a:t>
            </a:r>
          </a:p>
        </p:txBody>
      </p:sp>
      <p:sp>
        <p:nvSpPr>
          <p:cNvPr id="19461" name="Text Box 5"/>
          <p:cNvSpPr txBox="1">
            <a:spLocks noChangeArrowheads="1"/>
          </p:cNvSpPr>
          <p:nvPr/>
        </p:nvSpPr>
        <p:spPr bwMode="auto">
          <a:xfrm>
            <a:off x="5490386" y="3545664"/>
            <a:ext cx="3345788" cy="830997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wrap="none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sz="2400" dirty="0">
                <a:latin typeface="Lucida Sans Typewriter" charset="0"/>
              </a:rPr>
              <a:t>&gt;head [1,2,3,4,5]</a:t>
            </a:r>
          </a:p>
          <a:p>
            <a:r>
              <a:rPr lang="en-US" sz="2400" dirty="0">
                <a:latin typeface="Lucida Sans Typewriter" charset="0"/>
              </a:rPr>
              <a:t>&gt; 1</a:t>
            </a:r>
          </a:p>
        </p:txBody>
      </p:sp>
      <p:sp>
        <p:nvSpPr>
          <p:cNvPr id="2" name="Text Box 3">
            <a:extLst>
              <a:ext uri="{FF2B5EF4-FFF2-40B4-BE49-F238E27FC236}">
                <a16:creationId xmlns:a16="http://schemas.microsoft.com/office/drawing/2014/main" id="{CB084E8B-17F8-EEC3-9050-249015FD9F0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413855" y="4842047"/>
            <a:ext cx="3498850" cy="895350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wrap="none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lnSpc>
                <a:spcPct val="110000"/>
              </a:lnSpc>
            </a:pPr>
            <a:r>
              <a:rPr lang="en-US" sz="2400" dirty="0">
                <a:latin typeface="Lucida Sans Typewriter" charset="0"/>
              </a:rPr>
              <a:t>&gt; tail [1,2,3,4,5]</a:t>
            </a:r>
          </a:p>
          <a:p>
            <a:pPr>
              <a:lnSpc>
                <a:spcPct val="110000"/>
              </a:lnSpc>
            </a:pPr>
            <a:r>
              <a:rPr lang="en-US" sz="2400" dirty="0">
                <a:latin typeface="Lucida Sans Typewriter" charset="0"/>
              </a:rPr>
              <a:t>[2,3,4,5]</a:t>
            </a:r>
          </a:p>
        </p:txBody>
      </p:sp>
      <p:sp>
        <p:nvSpPr>
          <p:cNvPr id="4" name="Text Box 7">
            <a:extLst>
              <a:ext uri="{FF2B5EF4-FFF2-40B4-BE49-F238E27FC236}">
                <a16:creationId xmlns:a16="http://schemas.microsoft.com/office/drawing/2014/main" id="{7F44F063-B357-6CF7-728E-959C925BBD1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446051" y="5937327"/>
            <a:ext cx="3314700" cy="895350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wrap="none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lnSpc>
                <a:spcPct val="110000"/>
              </a:lnSpc>
            </a:pPr>
            <a:r>
              <a:rPr lang="en-US" sz="2400" dirty="0">
                <a:latin typeface="Lucida Sans Typewriter" charset="0"/>
              </a:rPr>
              <a:t>&gt; sum [1,2,3,4,5]</a:t>
            </a:r>
          </a:p>
          <a:p>
            <a:pPr>
              <a:lnSpc>
                <a:spcPct val="110000"/>
              </a:lnSpc>
            </a:pPr>
            <a:r>
              <a:rPr lang="en-US" sz="2400" dirty="0">
                <a:latin typeface="Lucida Sans Typewriter" charset="0"/>
              </a:rPr>
              <a:t>15</a:t>
            </a:r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5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945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945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946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94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5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945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945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5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945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945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461" grpId="0" animBg="1"/>
      <p:bldP spid="2" grpId="0" animBg="1"/>
      <p:bldP spid="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Black" charset="0"/>
                <a:ea typeface="ＭＳ Ｐゴシック" charset="0"/>
                <a:cs typeface="ＭＳ Ｐゴシック" charset="0"/>
              </a:rPr>
              <a:t>The Standard Prelude</a:t>
            </a:r>
          </a:p>
        </p:txBody>
      </p:sp>
      <p:sp>
        <p:nvSpPr>
          <p:cNvPr id="19457" name="Slide Number Placeholder 2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ADA19D7A-0922-5844-9E78-B2F290CA9868}" type="slidenum">
              <a:rPr lang="en-US" sz="1400"/>
              <a:pPr/>
              <a:t>5</a:t>
            </a:fld>
            <a:endParaRPr lang="en-US" sz="1400" dirty="0"/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44EF1C41-8E49-A6DB-BC29-42EBB825B02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3718" y="2148935"/>
            <a:ext cx="4624467" cy="5984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457200" indent="-457200">
              <a:spcBef>
                <a:spcPct val="20000"/>
              </a:spcBef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kumimoji="1" lang="en-US" dirty="0"/>
              <a:t>Select the nth element of a list:</a:t>
            </a:r>
          </a:p>
        </p:txBody>
      </p:sp>
      <p:sp>
        <p:nvSpPr>
          <p:cNvPr id="5" name="Text Box 5">
            <a:extLst>
              <a:ext uri="{FF2B5EF4-FFF2-40B4-BE49-F238E27FC236}">
                <a16:creationId xmlns:a16="http://schemas.microsoft.com/office/drawing/2014/main" id="{4FF5ABD4-F241-EF83-9A23-96DA3003DCF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55947" y="2164270"/>
            <a:ext cx="3498850" cy="968375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wrap="none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lnSpc>
                <a:spcPct val="120000"/>
              </a:lnSpc>
            </a:pPr>
            <a:r>
              <a:rPr lang="en-US" sz="2400" dirty="0">
                <a:latin typeface="Lucida Sans Typewriter" charset="0"/>
              </a:rPr>
              <a:t>&gt; [1,2,3,4,5] !! 2</a:t>
            </a:r>
          </a:p>
          <a:p>
            <a:pPr>
              <a:lnSpc>
                <a:spcPct val="120000"/>
              </a:lnSpc>
            </a:pPr>
            <a:r>
              <a:rPr lang="en-US" sz="2400" dirty="0">
                <a:latin typeface="Lucida Sans Typewriter" charset="0"/>
              </a:rPr>
              <a:t>3</a:t>
            </a:r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98257D64-397A-2C0C-E980-78DDC051E19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0949" y="3530290"/>
            <a:ext cx="4624467" cy="5984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457200" indent="-457200">
              <a:spcBef>
                <a:spcPct val="20000"/>
              </a:spcBef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kumimoji="1" lang="en-US" dirty="0"/>
              <a:t>Select the first n elements of a list:</a:t>
            </a:r>
          </a:p>
        </p:txBody>
      </p:sp>
      <p:sp>
        <p:nvSpPr>
          <p:cNvPr id="7" name="Text Box 7">
            <a:extLst>
              <a:ext uri="{FF2B5EF4-FFF2-40B4-BE49-F238E27FC236}">
                <a16:creationId xmlns:a16="http://schemas.microsoft.com/office/drawing/2014/main" id="{DEACDD11-0DB6-E7F8-AE84-2FB9A79D288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55947" y="3644938"/>
            <a:ext cx="3867150" cy="822325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wrap="none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sz="2400" dirty="0">
                <a:latin typeface="Lucida Sans Typewriter" charset="0"/>
              </a:rPr>
              <a:t>&gt; take 3 [1,2,3,4,5]</a:t>
            </a:r>
          </a:p>
          <a:p>
            <a:r>
              <a:rPr lang="en-US" sz="2400" dirty="0">
                <a:latin typeface="Lucida Sans Typewriter" charset="0"/>
              </a:rPr>
              <a:t>[1,2,3]</a:t>
            </a:r>
          </a:p>
        </p:txBody>
      </p:sp>
      <p:sp>
        <p:nvSpPr>
          <p:cNvPr id="11" name="Rectangle 2">
            <a:extLst>
              <a:ext uri="{FF2B5EF4-FFF2-40B4-BE49-F238E27FC236}">
                <a16:creationId xmlns:a16="http://schemas.microsoft.com/office/drawing/2014/main" id="{6DE1826A-C6AF-478B-2313-2D65E3D311C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0949" y="4828769"/>
            <a:ext cx="4413451" cy="5984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457200" indent="-457200">
              <a:spcBef>
                <a:spcPct val="20000"/>
              </a:spcBef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kumimoji="1" lang="en-US" dirty="0"/>
              <a:t>Remove the first n elements from a list:</a:t>
            </a:r>
          </a:p>
        </p:txBody>
      </p:sp>
      <p:sp>
        <p:nvSpPr>
          <p:cNvPr id="12" name="Text Box 3">
            <a:extLst>
              <a:ext uri="{FF2B5EF4-FFF2-40B4-BE49-F238E27FC236}">
                <a16:creationId xmlns:a16="http://schemas.microsoft.com/office/drawing/2014/main" id="{F3867E8A-2D04-9D0B-BA12-7281476C6DC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55947" y="5023835"/>
            <a:ext cx="3867150" cy="895350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wrap="none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lnSpc>
                <a:spcPct val="110000"/>
              </a:lnSpc>
            </a:pPr>
            <a:r>
              <a:rPr lang="en-US" sz="2400" dirty="0">
                <a:latin typeface="Lucida Sans Typewriter" charset="0"/>
              </a:rPr>
              <a:t>&gt; drop 3 [1,2,3,4,5]</a:t>
            </a:r>
          </a:p>
          <a:p>
            <a:pPr>
              <a:lnSpc>
                <a:spcPct val="110000"/>
              </a:lnSpc>
            </a:pPr>
            <a:r>
              <a:rPr lang="en-US" sz="2400" dirty="0">
                <a:latin typeface="Lucida Sans Typewriter" charset="0"/>
              </a:rPr>
              <a:t>[4,5]</a:t>
            </a:r>
          </a:p>
        </p:txBody>
      </p:sp>
    </p:spTree>
    <p:extLst>
      <p:ext uri="{BB962C8B-B14F-4D97-AF65-F5344CB8AC3E}">
        <p14:creationId xmlns:p14="http://schemas.microsoft.com/office/powerpoint/2010/main" val="108635546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6" grpId="0"/>
      <p:bldP spid="7" grpId="0" animBg="1"/>
      <p:bldP spid="11" grpId="0"/>
      <p:bldP spid="12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Black" charset="0"/>
                <a:ea typeface="ＭＳ Ｐゴシック" charset="0"/>
                <a:cs typeface="ＭＳ Ｐゴシック" charset="0"/>
              </a:rPr>
              <a:t>The Standard Prelude</a:t>
            </a:r>
          </a:p>
        </p:txBody>
      </p:sp>
      <p:sp>
        <p:nvSpPr>
          <p:cNvPr id="19457" name="Slide Number Placeholder 2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ADA19D7A-0922-5844-9E78-B2F290CA9868}" type="slidenum">
              <a:rPr lang="en-US" sz="1400"/>
              <a:pPr/>
              <a:t>6</a:t>
            </a:fld>
            <a:endParaRPr lang="en-US" sz="1400" dirty="0"/>
          </a:p>
        </p:txBody>
      </p:sp>
      <p:sp>
        <p:nvSpPr>
          <p:cNvPr id="2" name="Rectangle 4">
            <a:extLst>
              <a:ext uri="{FF2B5EF4-FFF2-40B4-BE49-F238E27FC236}">
                <a16:creationId xmlns:a16="http://schemas.microsoft.com/office/drawing/2014/main" id="{5AC4FD67-3FEF-77D5-400B-30D48DD498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669" y="2206130"/>
            <a:ext cx="4510331" cy="8530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457200" indent="-457200">
              <a:spcBef>
                <a:spcPct val="20000"/>
              </a:spcBef>
              <a:buClr>
                <a:schemeClr val="accent2"/>
              </a:buClr>
              <a:buFont typeface="Wingdings" panose="05000000000000000000" pitchFamily="2" charset="2"/>
              <a:buChar char="q"/>
            </a:pPr>
            <a:r>
              <a:rPr kumimoji="1" lang="en-US" dirty="0"/>
              <a:t>Calculate the length of a list:</a:t>
            </a:r>
          </a:p>
        </p:txBody>
      </p:sp>
      <p:sp>
        <p:nvSpPr>
          <p:cNvPr id="3" name="Text Box 5">
            <a:extLst>
              <a:ext uri="{FF2B5EF4-FFF2-40B4-BE49-F238E27FC236}">
                <a16:creationId xmlns:a16="http://schemas.microsoft.com/office/drawing/2014/main" id="{32198E36-C10A-76DD-6D99-10DB8DBD797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265615" y="2093626"/>
            <a:ext cx="3878385" cy="870110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wrap="square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lnSpc>
                <a:spcPct val="110000"/>
              </a:lnSpc>
            </a:pPr>
            <a:r>
              <a:rPr lang="en-US" sz="2400" dirty="0">
                <a:latin typeface="Lucida Sans Typewriter" charset="0"/>
              </a:rPr>
              <a:t>&gt; length [1,2,3,4,5]</a:t>
            </a:r>
          </a:p>
          <a:p>
            <a:pPr>
              <a:lnSpc>
                <a:spcPct val="110000"/>
              </a:lnSpc>
            </a:pPr>
            <a:r>
              <a:rPr lang="en-US" sz="2400" dirty="0">
                <a:latin typeface="Lucida Sans Typewriter" charset="0"/>
              </a:rPr>
              <a:t>5</a:t>
            </a:r>
          </a:p>
        </p:txBody>
      </p:sp>
      <p:sp>
        <p:nvSpPr>
          <p:cNvPr id="10" name="Rectangle 6">
            <a:extLst>
              <a:ext uri="{FF2B5EF4-FFF2-40B4-BE49-F238E27FC236}">
                <a16:creationId xmlns:a16="http://schemas.microsoft.com/office/drawing/2014/main" id="{B51EF529-1FCF-D982-EAF5-603CDA3D0C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669" y="3429000"/>
            <a:ext cx="4510331" cy="5984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457200" indent="-457200">
              <a:spcBef>
                <a:spcPct val="20000"/>
              </a:spcBef>
              <a:buClr>
                <a:schemeClr val="accent2"/>
              </a:buClr>
              <a:buFont typeface="Wingdings" panose="05000000000000000000" pitchFamily="2" charset="2"/>
              <a:buChar char="q"/>
            </a:pPr>
            <a:r>
              <a:rPr kumimoji="1" lang="en-US" dirty="0"/>
              <a:t>Calculate the sum of a list of numbers:</a:t>
            </a:r>
          </a:p>
        </p:txBody>
      </p:sp>
      <p:sp>
        <p:nvSpPr>
          <p:cNvPr id="11" name="Text Box 7">
            <a:extLst>
              <a:ext uri="{FF2B5EF4-FFF2-40B4-BE49-F238E27FC236}">
                <a16:creationId xmlns:a16="http://schemas.microsoft.com/office/drawing/2014/main" id="{AC83DBB4-A585-9837-9254-690EC98D113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435241" y="3351113"/>
            <a:ext cx="3647090" cy="870110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wrap="square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lnSpc>
                <a:spcPct val="110000"/>
              </a:lnSpc>
            </a:pPr>
            <a:r>
              <a:rPr lang="en-US" sz="2400" dirty="0">
                <a:latin typeface="Lucida Sans Typewriter" charset="0"/>
              </a:rPr>
              <a:t>&gt; sum [1,2,3,4,5]</a:t>
            </a:r>
          </a:p>
          <a:p>
            <a:pPr>
              <a:lnSpc>
                <a:spcPct val="110000"/>
              </a:lnSpc>
            </a:pPr>
            <a:r>
              <a:rPr lang="en-US" sz="2400" dirty="0">
                <a:latin typeface="Lucida Sans Typewriter" charset="0"/>
              </a:rPr>
              <a:t>15</a:t>
            </a:r>
          </a:p>
        </p:txBody>
      </p:sp>
      <p:sp>
        <p:nvSpPr>
          <p:cNvPr id="12" name="Rectangle 2">
            <a:extLst>
              <a:ext uri="{FF2B5EF4-FFF2-40B4-BE49-F238E27FC236}">
                <a16:creationId xmlns:a16="http://schemas.microsoft.com/office/drawing/2014/main" id="{0FF35E07-3D7B-ABEA-61A5-808A392302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669" y="4689450"/>
            <a:ext cx="4510331" cy="5984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457200" indent="-457200">
              <a:spcBef>
                <a:spcPct val="20000"/>
              </a:spcBef>
              <a:buClr>
                <a:schemeClr val="accent2"/>
              </a:buClr>
              <a:buFont typeface="Wingdings" panose="05000000000000000000" pitchFamily="2" charset="2"/>
              <a:buChar char="q"/>
            </a:pPr>
            <a:r>
              <a:rPr kumimoji="1" lang="en-US" dirty="0"/>
              <a:t>Calculate the product of a list of numbers:</a:t>
            </a:r>
          </a:p>
        </p:txBody>
      </p:sp>
      <p:sp>
        <p:nvSpPr>
          <p:cNvPr id="13" name="Text Box 3">
            <a:extLst>
              <a:ext uri="{FF2B5EF4-FFF2-40B4-BE49-F238E27FC236}">
                <a16:creationId xmlns:a16="http://schemas.microsoft.com/office/drawing/2014/main" id="{1C8B8A96-9AA8-7058-E24E-7F888888E2A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33669" y="4702368"/>
            <a:ext cx="4510331" cy="870110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wrap="square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lnSpc>
                <a:spcPct val="110000"/>
              </a:lnSpc>
            </a:pPr>
            <a:r>
              <a:rPr lang="en-US" sz="2400" dirty="0">
                <a:latin typeface="Lucida Sans Typewriter" charset="0"/>
              </a:rPr>
              <a:t>&gt; product [1,2,3,4,5]</a:t>
            </a:r>
          </a:p>
          <a:p>
            <a:pPr>
              <a:lnSpc>
                <a:spcPct val="110000"/>
              </a:lnSpc>
            </a:pPr>
            <a:r>
              <a:rPr lang="en-US" sz="2400" dirty="0">
                <a:latin typeface="Lucida Sans Typewriter" charset="0"/>
              </a:rPr>
              <a:t>120</a:t>
            </a:r>
          </a:p>
        </p:txBody>
      </p:sp>
    </p:spTree>
    <p:extLst>
      <p:ext uri="{BB962C8B-B14F-4D97-AF65-F5344CB8AC3E}">
        <p14:creationId xmlns:p14="http://schemas.microsoft.com/office/powerpoint/2010/main" val="266680172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animBg="1"/>
      <p:bldP spid="10" grpId="0"/>
      <p:bldP spid="11" grpId="0" animBg="1"/>
      <p:bldP spid="12" grpId="0"/>
      <p:bldP spid="13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Black" charset="0"/>
                <a:ea typeface="ＭＳ Ｐゴシック" charset="0"/>
                <a:cs typeface="ＭＳ Ｐゴシック" charset="0"/>
              </a:rPr>
              <a:t>The Standard Prelude</a:t>
            </a:r>
          </a:p>
        </p:txBody>
      </p:sp>
      <p:sp>
        <p:nvSpPr>
          <p:cNvPr id="19457" name="Slide Number Placeholder 2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ADA19D7A-0922-5844-9E78-B2F290CA9868}" type="slidenum">
              <a:rPr lang="en-US" sz="1400"/>
              <a:pPr/>
              <a:t>7</a:t>
            </a:fld>
            <a:endParaRPr lang="en-US" sz="1400" dirty="0"/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4844C627-A8B0-C2F8-F631-9FF0E13271F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5453" y="2326421"/>
            <a:ext cx="3538415" cy="5984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457200" indent="-457200">
              <a:spcBef>
                <a:spcPct val="20000"/>
              </a:spcBef>
              <a:buClr>
                <a:schemeClr val="accent2"/>
              </a:buClr>
              <a:buFont typeface="Wingdings" panose="05000000000000000000" pitchFamily="2" charset="2"/>
              <a:buChar char="q"/>
            </a:pPr>
            <a:r>
              <a:rPr kumimoji="1" lang="en-US" dirty="0"/>
              <a:t>Append two lists:</a:t>
            </a:r>
          </a:p>
        </p:txBody>
      </p:sp>
      <p:sp>
        <p:nvSpPr>
          <p:cNvPr id="5" name="Text Box 5">
            <a:extLst>
              <a:ext uri="{FF2B5EF4-FFF2-40B4-BE49-F238E27FC236}">
                <a16:creationId xmlns:a16="http://schemas.microsoft.com/office/drawing/2014/main" id="{580B838E-91B3-37CD-D5D8-3931F766C1F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88323" y="2356343"/>
            <a:ext cx="3538415" cy="870110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wrap="square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lnSpc>
                <a:spcPct val="110000"/>
              </a:lnSpc>
            </a:pPr>
            <a:r>
              <a:rPr lang="en-US" sz="2400" dirty="0">
                <a:latin typeface="Lucida Sans Typewriter" charset="0"/>
              </a:rPr>
              <a:t>&gt; [1,2,3] ++ [4,5]</a:t>
            </a:r>
          </a:p>
          <a:p>
            <a:pPr>
              <a:lnSpc>
                <a:spcPct val="110000"/>
              </a:lnSpc>
            </a:pPr>
            <a:r>
              <a:rPr lang="en-US" sz="2400" dirty="0">
                <a:latin typeface="Lucida Sans Typewriter" charset="0"/>
              </a:rPr>
              <a:t>[1,2,3,4,5]</a:t>
            </a:r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6D7AF011-DDC7-91D3-B38C-4307AA889F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5453" y="4201129"/>
            <a:ext cx="3538415" cy="5984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457200" indent="-457200">
              <a:spcBef>
                <a:spcPct val="20000"/>
              </a:spcBef>
              <a:buClr>
                <a:schemeClr val="accent2"/>
              </a:buClr>
              <a:buFont typeface="Wingdings" panose="05000000000000000000" pitchFamily="2" charset="2"/>
              <a:buChar char="q"/>
            </a:pPr>
            <a:r>
              <a:rPr kumimoji="1" lang="en-US" dirty="0"/>
              <a:t>Reverse a list:</a:t>
            </a:r>
          </a:p>
        </p:txBody>
      </p:sp>
      <p:sp>
        <p:nvSpPr>
          <p:cNvPr id="7" name="Text Box 7">
            <a:extLst>
              <a:ext uri="{FF2B5EF4-FFF2-40B4-BE49-F238E27FC236}">
                <a16:creationId xmlns:a16="http://schemas.microsoft.com/office/drawing/2014/main" id="{AA5A6A2C-8D1D-6833-945C-2DEE3691D8E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15593" y="4153725"/>
            <a:ext cx="4097112" cy="870110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wrap="square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lnSpc>
                <a:spcPct val="110000"/>
              </a:lnSpc>
            </a:pPr>
            <a:r>
              <a:rPr lang="en-US" sz="2400" dirty="0">
                <a:latin typeface="Lucida Sans Typewriter" charset="0"/>
              </a:rPr>
              <a:t>&gt; reverse [1,2,3,4,5]</a:t>
            </a:r>
          </a:p>
          <a:p>
            <a:pPr>
              <a:lnSpc>
                <a:spcPct val="110000"/>
              </a:lnSpc>
            </a:pPr>
            <a:r>
              <a:rPr lang="en-US" sz="2400" dirty="0">
                <a:latin typeface="Lucida Sans Typewriter" charset="0"/>
              </a:rPr>
              <a:t>[5,4,3,2,1]</a:t>
            </a:r>
          </a:p>
        </p:txBody>
      </p:sp>
    </p:spTree>
    <p:extLst>
      <p:ext uri="{BB962C8B-B14F-4D97-AF65-F5344CB8AC3E}">
        <p14:creationId xmlns:p14="http://schemas.microsoft.com/office/powerpoint/2010/main" val="403085761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6" grpId="0"/>
      <p:bldP spid="7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Rectangle 2"/>
          <p:cNvSpPr>
            <a:spLocks noGrp="1" noChangeArrowheads="1"/>
          </p:cNvSpPr>
          <p:nvPr>
            <p:ph type="title"/>
          </p:nvPr>
        </p:nvSpPr>
        <p:spPr>
          <a:xfrm>
            <a:off x="231295" y="736975"/>
            <a:ext cx="8138532" cy="685800"/>
          </a:xfrm>
        </p:spPr>
        <p:txBody>
          <a:bodyPr/>
          <a:lstStyle/>
          <a:p>
            <a:r>
              <a:rPr lang="en-US" dirty="0">
                <a:latin typeface="Arial Black" charset="0"/>
                <a:ea typeface="ＭＳ Ｐゴシック" charset="0"/>
                <a:cs typeface="ＭＳ Ｐゴシック" charset="0"/>
              </a:rPr>
              <a:t>Function Application in Haskell</a:t>
            </a:r>
          </a:p>
        </p:txBody>
      </p:sp>
      <p:sp>
        <p:nvSpPr>
          <p:cNvPr id="23553" name="Slide Number Placeholder 2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EE38AAA3-FE12-9D41-818B-DF0C6FF442C1}" type="slidenum">
              <a:rPr lang="en-US" sz="1400"/>
              <a:pPr/>
              <a:t>8</a:t>
            </a:fld>
            <a:endParaRPr lang="en-US" sz="1400"/>
          </a:p>
        </p:txBody>
      </p:sp>
      <p:sp>
        <p:nvSpPr>
          <p:cNvPr id="23556" name="Text Box 5"/>
          <p:cNvSpPr txBox="1">
            <a:spLocks noChangeArrowheads="1"/>
          </p:cNvSpPr>
          <p:nvPr/>
        </p:nvSpPr>
        <p:spPr bwMode="auto">
          <a:xfrm>
            <a:off x="1423535" y="3114200"/>
            <a:ext cx="2416046" cy="830997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wrap="none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sz="2400" dirty="0">
                <a:latin typeface="Lucida Sans Typewriter" charset="0"/>
              </a:rPr>
              <a:t>Java:</a:t>
            </a:r>
          </a:p>
          <a:p>
            <a:r>
              <a:rPr lang="en-US" sz="2400" dirty="0">
                <a:latin typeface="Lucida Sans Typewriter" charset="0"/>
              </a:rPr>
              <a:t>f(</a:t>
            </a:r>
            <a:r>
              <a:rPr lang="en-US" sz="2400" dirty="0" err="1">
                <a:latin typeface="Lucida Sans Typewriter" charset="0"/>
              </a:rPr>
              <a:t>a,b</a:t>
            </a:r>
            <a:r>
              <a:rPr lang="en-US" sz="2400" dirty="0">
                <a:latin typeface="Lucida Sans Typewriter" charset="0"/>
              </a:rPr>
              <a:t>) + c d</a:t>
            </a:r>
          </a:p>
        </p:txBody>
      </p:sp>
      <p:sp>
        <p:nvSpPr>
          <p:cNvPr id="23557" name="AutoShape 6"/>
          <p:cNvSpPr>
            <a:spLocks noChangeArrowheads="1"/>
          </p:cNvSpPr>
          <p:nvPr/>
        </p:nvSpPr>
        <p:spPr bwMode="auto">
          <a:xfrm>
            <a:off x="1104900" y="5229225"/>
            <a:ext cx="7085013" cy="1028700"/>
          </a:xfrm>
          <a:prstGeom prst="wedgeRoundRectCallout">
            <a:avLst>
              <a:gd name="adj1" fmla="val -27528"/>
              <a:gd name="adj2" fmla="val -124227"/>
              <a:gd name="adj3" fmla="val 16667"/>
            </a:avLst>
          </a:prstGeom>
          <a:noFill/>
          <a:ln w="12700" cap="sq">
            <a:solidFill>
              <a:schemeClr val="tx1"/>
            </a:solidFill>
            <a:miter lim="800000"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  <p:txBody>
          <a:bodyPr anchor="ctr">
            <a:spAutoFit/>
          </a:bodyPr>
          <a:lstStyle/>
          <a:p>
            <a:pPr algn="ctr"/>
            <a:r>
              <a:rPr lang="en-US" dirty="0"/>
              <a:t>Apply the function f to a and b, and add the result to the product of c and d.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58609AB-F0A6-F6D3-5201-66C27C47DD0F}"/>
              </a:ext>
            </a:extLst>
          </p:cNvPr>
          <p:cNvSpPr txBox="1"/>
          <p:nvPr/>
        </p:nvSpPr>
        <p:spPr>
          <a:xfrm>
            <a:off x="381000" y="1831525"/>
            <a:ext cx="8423032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dirty="0"/>
              <a:t>Syntax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IE" dirty="0"/>
              <a:t>Function application uses spaces instead of parentheses: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endParaRPr lang="en-IE" dirty="0"/>
          </a:p>
          <a:p>
            <a:pPr lvl="1"/>
            <a:endParaRPr lang="en-US" dirty="0"/>
          </a:p>
        </p:txBody>
      </p:sp>
      <p:sp>
        <p:nvSpPr>
          <p:cNvPr id="3" name="Text Box 5">
            <a:extLst>
              <a:ext uri="{FF2B5EF4-FFF2-40B4-BE49-F238E27FC236}">
                <a16:creationId xmlns:a16="http://schemas.microsoft.com/office/drawing/2014/main" id="{63D42958-F219-BB64-E7CB-1A8B4EB16C6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234944" y="3093500"/>
            <a:ext cx="2787943" cy="830997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wrap="none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sz="2400" dirty="0">
                <a:latin typeface="Lucida Sans Typewriter" charset="0"/>
              </a:rPr>
              <a:t>Haskell:</a:t>
            </a:r>
          </a:p>
          <a:p>
            <a:r>
              <a:rPr lang="en-US" sz="2400" dirty="0">
                <a:latin typeface="Lucida Sans Typewriter" charset="0"/>
              </a:rPr>
              <a:t>f a b  + c * d</a:t>
            </a:r>
          </a:p>
        </p:txBody>
      </p:sp>
      <p:sp>
        <p:nvSpPr>
          <p:cNvPr id="5" name="Right Arrow 4">
            <a:extLst>
              <a:ext uri="{FF2B5EF4-FFF2-40B4-BE49-F238E27FC236}">
                <a16:creationId xmlns:a16="http://schemas.microsoft.com/office/drawing/2014/main" id="{00E31D75-2664-8C83-6601-E9428A9A4420}"/>
              </a:ext>
            </a:extLst>
          </p:cNvPr>
          <p:cNvSpPr/>
          <p:nvPr/>
        </p:nvSpPr>
        <p:spPr bwMode="auto">
          <a:xfrm>
            <a:off x="4036519" y="3334826"/>
            <a:ext cx="1001486" cy="348343"/>
          </a:xfrm>
          <a:prstGeom prst="rightArrow">
            <a:avLst/>
          </a:prstGeom>
          <a:solidFill>
            <a:schemeClr val="accent1"/>
          </a:solidFill>
          <a:ln w="12700" cap="sq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ahoma" pitchFamily="-1" charset="0"/>
            </a:endParaRPr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355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355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2355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2355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556" grpId="0" animBg="1"/>
      <p:bldP spid="23557" grpId="0" animBg="1"/>
      <p:bldP spid="3" grpId="0" animBg="1"/>
      <p:bldP spid="5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1" name="Slide Number Placeholder 2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E4467740-7AC7-0A47-B6D9-4DCC00FDA825}" type="slidenum">
              <a:rPr lang="en-US" sz="1400"/>
              <a:pPr/>
              <a:t>9</a:t>
            </a:fld>
            <a:endParaRPr lang="en-US" sz="1400"/>
          </a:p>
        </p:txBody>
      </p:sp>
      <p:sp>
        <p:nvSpPr>
          <p:cNvPr id="25602" name="Text Box 5"/>
          <p:cNvSpPr txBox="1">
            <a:spLocks noChangeArrowheads="1"/>
          </p:cNvSpPr>
          <p:nvPr/>
        </p:nvSpPr>
        <p:spPr bwMode="auto">
          <a:xfrm>
            <a:off x="305860" y="2111375"/>
            <a:ext cx="8174038" cy="946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dirty="0"/>
              <a:t>Moreover, function application is assumed to have </a:t>
            </a:r>
            <a:r>
              <a:rPr lang="en-US" u="sng" dirty="0"/>
              <a:t>higher priority</a:t>
            </a:r>
            <a:r>
              <a:rPr lang="en-US" dirty="0"/>
              <a:t> than all other operators.</a:t>
            </a:r>
          </a:p>
        </p:txBody>
      </p:sp>
      <p:sp>
        <p:nvSpPr>
          <p:cNvPr id="25603" name="Text Box 6"/>
          <p:cNvSpPr txBox="1">
            <a:spLocks noChangeArrowheads="1"/>
          </p:cNvSpPr>
          <p:nvPr/>
        </p:nvSpPr>
        <p:spPr bwMode="auto">
          <a:xfrm>
            <a:off x="1641475" y="3235325"/>
            <a:ext cx="1473200" cy="457200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wrap="none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sz="2400" dirty="0">
                <a:latin typeface="Lucida Sans Typewriter" charset="0"/>
              </a:rPr>
              <a:t>f a + b</a:t>
            </a:r>
          </a:p>
        </p:txBody>
      </p:sp>
      <p:sp>
        <p:nvSpPr>
          <p:cNvPr id="25604" name="AutoShape 9"/>
          <p:cNvSpPr>
            <a:spLocks noChangeArrowheads="1"/>
          </p:cNvSpPr>
          <p:nvPr/>
        </p:nvSpPr>
        <p:spPr bwMode="auto">
          <a:xfrm>
            <a:off x="850900" y="4994275"/>
            <a:ext cx="6915150" cy="566738"/>
          </a:xfrm>
          <a:prstGeom prst="wedgeRoundRectCallout">
            <a:avLst>
              <a:gd name="adj1" fmla="val -27389"/>
              <a:gd name="adj2" fmla="val -197375"/>
              <a:gd name="adj3" fmla="val 16667"/>
            </a:avLst>
          </a:prstGeom>
          <a:noFill/>
          <a:ln w="12700" cap="sq">
            <a:solidFill>
              <a:schemeClr val="tx1"/>
            </a:solidFill>
            <a:miter lim="800000"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  <p:txBody>
          <a:bodyPr anchor="ctr">
            <a:spAutoFit/>
          </a:bodyPr>
          <a:lstStyle/>
          <a:p>
            <a:pPr algn="ctr"/>
            <a:r>
              <a:rPr lang="en-US"/>
              <a:t>Means (f a) + b, rather than f (a + b).</a:t>
            </a:r>
          </a:p>
        </p:txBody>
      </p:sp>
      <p:sp>
        <p:nvSpPr>
          <p:cNvPr id="2" name="Rectangle 2">
            <a:extLst>
              <a:ext uri="{FF2B5EF4-FFF2-40B4-BE49-F238E27FC236}">
                <a16:creationId xmlns:a16="http://schemas.microsoft.com/office/drawing/2014/main" id="{52340E9F-2A7A-149C-B5C7-7F79563CDD9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231295" y="736975"/>
            <a:ext cx="8138532" cy="685800"/>
          </a:xfrm>
        </p:spPr>
        <p:txBody>
          <a:bodyPr/>
          <a:lstStyle/>
          <a:p>
            <a:r>
              <a:rPr lang="en-US" dirty="0">
                <a:latin typeface="Arial Black" charset="0"/>
                <a:ea typeface="ＭＳ Ｐゴシック" charset="0"/>
                <a:cs typeface="ＭＳ Ｐゴシック" charset="0"/>
              </a:rPr>
              <a:t>Function Application in Haskell</a:t>
            </a:r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Arial Black" charset="0"/>
                <a:ea typeface="ＭＳ Ｐゴシック" charset="0"/>
                <a:cs typeface="ＭＳ Ｐゴシック" charset="0"/>
              </a:rPr>
              <a:t>Examples</a:t>
            </a:r>
          </a:p>
        </p:txBody>
      </p:sp>
      <p:sp>
        <p:nvSpPr>
          <p:cNvPr id="26625" name="Slide Number Placeholder 2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0E087749-1F4D-9B44-AB89-0370833F3286}" type="slidenum">
              <a:rPr lang="en-US" sz="1400"/>
              <a:pPr/>
              <a:t>10</a:t>
            </a:fld>
            <a:endParaRPr lang="en-US" sz="1400"/>
          </a:p>
        </p:txBody>
      </p:sp>
      <p:grpSp>
        <p:nvGrpSpPr>
          <p:cNvPr id="26627" name="Group 46"/>
          <p:cNvGrpSpPr>
            <a:grpSpLocks/>
          </p:cNvGrpSpPr>
          <p:nvPr/>
        </p:nvGrpSpPr>
        <p:grpSpPr bwMode="auto">
          <a:xfrm>
            <a:off x="1587345" y="2105624"/>
            <a:ext cx="5056188" cy="4595812"/>
            <a:chOff x="1240" y="938"/>
            <a:chExt cx="3185" cy="2895"/>
          </a:xfrm>
        </p:grpSpPr>
        <p:sp>
          <p:nvSpPr>
            <p:cNvPr id="26628" name="Text Box 5"/>
            <p:cNvSpPr txBox="1">
              <a:spLocks noChangeArrowheads="1"/>
            </p:cNvSpPr>
            <p:nvPr/>
          </p:nvSpPr>
          <p:spPr bwMode="auto">
            <a:xfrm>
              <a:off x="1240" y="938"/>
              <a:ext cx="1360" cy="32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12700" cap="sq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2pPr>
              <a:lvl3pPr marL="11430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3pPr>
              <a:lvl4pPr marL="16002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4pPr>
              <a:lvl5pPr marL="20574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9pPr>
            </a:lstStyle>
            <a:p>
              <a:pPr algn="ctr"/>
              <a:r>
                <a:rPr lang="en-US" u="sng" dirty="0"/>
                <a:t>Mathematics</a:t>
              </a:r>
            </a:p>
          </p:txBody>
        </p:sp>
        <p:sp>
          <p:nvSpPr>
            <p:cNvPr id="26629" name="Text Box 6"/>
            <p:cNvSpPr txBox="1">
              <a:spLocks noChangeArrowheads="1"/>
            </p:cNvSpPr>
            <p:nvPr/>
          </p:nvSpPr>
          <p:spPr bwMode="auto">
            <a:xfrm>
              <a:off x="3205" y="939"/>
              <a:ext cx="817" cy="32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12700" cap="sq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2pPr>
              <a:lvl3pPr marL="11430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3pPr>
              <a:lvl4pPr marL="16002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4pPr>
              <a:lvl5pPr marL="20574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9pPr>
            </a:lstStyle>
            <a:p>
              <a:pPr algn="ctr"/>
              <a:r>
                <a:rPr lang="en-US" u="sng"/>
                <a:t>Haskell</a:t>
              </a:r>
              <a:endParaRPr lang="en-US"/>
            </a:p>
          </p:txBody>
        </p:sp>
        <p:sp>
          <p:nvSpPr>
            <p:cNvPr id="26630" name="Text Box 7"/>
            <p:cNvSpPr txBox="1">
              <a:spLocks noChangeArrowheads="1"/>
            </p:cNvSpPr>
            <p:nvPr/>
          </p:nvSpPr>
          <p:spPr bwMode="auto">
            <a:xfrm>
              <a:off x="1291" y="1507"/>
              <a:ext cx="580" cy="28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12700" cap="sq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2pPr>
              <a:lvl3pPr marL="11430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3pPr>
              <a:lvl4pPr marL="16002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4pPr>
              <a:lvl5pPr marL="20574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9pPr>
            </a:lstStyle>
            <a:p>
              <a:pPr algn="ctr"/>
              <a:r>
                <a:rPr lang="en-US" sz="2400" dirty="0">
                  <a:latin typeface="Lucida Sans Typewriter" charset="0"/>
                </a:rPr>
                <a:t>f(x)</a:t>
              </a:r>
            </a:p>
          </p:txBody>
        </p:sp>
        <p:sp>
          <p:nvSpPr>
            <p:cNvPr id="26631" name="Text Box 8"/>
            <p:cNvSpPr txBox="1">
              <a:spLocks noChangeArrowheads="1"/>
            </p:cNvSpPr>
            <p:nvPr/>
          </p:nvSpPr>
          <p:spPr bwMode="auto">
            <a:xfrm>
              <a:off x="1291" y="2017"/>
              <a:ext cx="812" cy="28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12700" cap="sq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2pPr>
              <a:lvl3pPr marL="11430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3pPr>
              <a:lvl4pPr marL="16002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4pPr>
              <a:lvl5pPr marL="20574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9pPr>
            </a:lstStyle>
            <a:p>
              <a:pPr algn="ctr"/>
              <a:r>
                <a:rPr lang="en-US" sz="2400">
                  <a:latin typeface="Lucida Sans Typewriter" charset="0"/>
                </a:rPr>
                <a:t>f(x,y)</a:t>
              </a:r>
            </a:p>
          </p:txBody>
        </p:sp>
        <p:sp>
          <p:nvSpPr>
            <p:cNvPr id="26632" name="Text Box 9"/>
            <p:cNvSpPr txBox="1">
              <a:spLocks noChangeArrowheads="1"/>
            </p:cNvSpPr>
            <p:nvPr/>
          </p:nvSpPr>
          <p:spPr bwMode="auto">
            <a:xfrm>
              <a:off x="1291" y="2528"/>
              <a:ext cx="928" cy="28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12700" cap="sq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2pPr>
              <a:lvl3pPr marL="11430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3pPr>
              <a:lvl4pPr marL="16002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4pPr>
              <a:lvl5pPr marL="20574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9pPr>
            </a:lstStyle>
            <a:p>
              <a:pPr algn="ctr"/>
              <a:r>
                <a:rPr lang="en-US" sz="2400">
                  <a:latin typeface="Lucida Sans Typewriter" charset="0"/>
                </a:rPr>
                <a:t>f(g(x))</a:t>
              </a:r>
            </a:p>
          </p:txBody>
        </p:sp>
        <p:sp>
          <p:nvSpPr>
            <p:cNvPr id="26633" name="Text Box 10"/>
            <p:cNvSpPr txBox="1">
              <a:spLocks noChangeArrowheads="1"/>
            </p:cNvSpPr>
            <p:nvPr/>
          </p:nvSpPr>
          <p:spPr bwMode="auto">
            <a:xfrm>
              <a:off x="1291" y="3039"/>
              <a:ext cx="1160" cy="28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12700" cap="sq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2pPr>
              <a:lvl3pPr marL="11430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3pPr>
              <a:lvl4pPr marL="16002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4pPr>
              <a:lvl5pPr marL="20574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9pPr>
            </a:lstStyle>
            <a:p>
              <a:pPr algn="ctr"/>
              <a:r>
                <a:rPr lang="en-US" sz="2400">
                  <a:latin typeface="Lucida Sans Typewriter" charset="0"/>
                </a:rPr>
                <a:t>f(x,g(y))</a:t>
              </a:r>
            </a:p>
          </p:txBody>
        </p:sp>
        <p:sp>
          <p:nvSpPr>
            <p:cNvPr id="26634" name="Text Box 11"/>
            <p:cNvSpPr txBox="1">
              <a:spLocks noChangeArrowheads="1"/>
            </p:cNvSpPr>
            <p:nvPr/>
          </p:nvSpPr>
          <p:spPr bwMode="auto">
            <a:xfrm>
              <a:off x="1292" y="3542"/>
              <a:ext cx="1044" cy="28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12700" cap="sq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2pPr>
              <a:lvl3pPr marL="11430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3pPr>
              <a:lvl4pPr marL="16002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4pPr>
              <a:lvl5pPr marL="20574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9pPr>
            </a:lstStyle>
            <a:p>
              <a:pPr algn="ctr"/>
              <a:r>
                <a:rPr lang="en-US" sz="2400">
                  <a:latin typeface="Lucida Sans Typewriter" charset="0"/>
                </a:rPr>
                <a:t>f(x)g(y)</a:t>
              </a:r>
            </a:p>
          </p:txBody>
        </p:sp>
        <p:sp>
          <p:nvSpPr>
            <p:cNvPr id="26635" name="Text Box 18"/>
            <p:cNvSpPr txBox="1">
              <a:spLocks noChangeArrowheads="1"/>
            </p:cNvSpPr>
            <p:nvPr/>
          </p:nvSpPr>
          <p:spPr bwMode="auto">
            <a:xfrm>
              <a:off x="3264" y="1503"/>
              <a:ext cx="464" cy="28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12700" cap="sq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2pPr>
              <a:lvl3pPr marL="11430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3pPr>
              <a:lvl4pPr marL="16002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4pPr>
              <a:lvl5pPr marL="20574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9pPr>
            </a:lstStyle>
            <a:p>
              <a:pPr algn="ctr"/>
              <a:r>
                <a:rPr lang="en-US" sz="2400">
                  <a:latin typeface="Lucida Sans Typewriter" charset="0"/>
                </a:rPr>
                <a:t>f x</a:t>
              </a:r>
            </a:p>
          </p:txBody>
        </p:sp>
        <p:sp>
          <p:nvSpPr>
            <p:cNvPr id="26636" name="Text Box 19"/>
            <p:cNvSpPr txBox="1">
              <a:spLocks noChangeArrowheads="1"/>
            </p:cNvSpPr>
            <p:nvPr/>
          </p:nvSpPr>
          <p:spPr bwMode="auto">
            <a:xfrm>
              <a:off x="3264" y="2013"/>
              <a:ext cx="696" cy="28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12700" cap="sq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2pPr>
              <a:lvl3pPr marL="11430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3pPr>
              <a:lvl4pPr marL="16002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4pPr>
              <a:lvl5pPr marL="20574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9pPr>
            </a:lstStyle>
            <a:p>
              <a:pPr algn="ctr"/>
              <a:r>
                <a:rPr lang="en-US" sz="2400">
                  <a:latin typeface="Lucida Sans Typewriter" charset="0"/>
                </a:rPr>
                <a:t>f x y</a:t>
              </a:r>
            </a:p>
          </p:txBody>
        </p:sp>
        <p:sp>
          <p:nvSpPr>
            <p:cNvPr id="26637" name="Text Box 20"/>
            <p:cNvSpPr txBox="1">
              <a:spLocks noChangeArrowheads="1"/>
            </p:cNvSpPr>
            <p:nvPr/>
          </p:nvSpPr>
          <p:spPr bwMode="auto">
            <a:xfrm>
              <a:off x="3264" y="2524"/>
              <a:ext cx="928" cy="28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12700" cap="sq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2pPr>
              <a:lvl3pPr marL="11430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3pPr>
              <a:lvl4pPr marL="16002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4pPr>
              <a:lvl5pPr marL="20574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9pPr>
            </a:lstStyle>
            <a:p>
              <a:pPr algn="ctr"/>
              <a:r>
                <a:rPr lang="en-US" sz="2400">
                  <a:latin typeface="Lucida Sans Typewriter" charset="0"/>
                </a:rPr>
                <a:t>f (g x)</a:t>
              </a:r>
            </a:p>
          </p:txBody>
        </p:sp>
        <p:sp>
          <p:nvSpPr>
            <p:cNvPr id="26638" name="Text Box 21"/>
            <p:cNvSpPr txBox="1">
              <a:spLocks noChangeArrowheads="1"/>
            </p:cNvSpPr>
            <p:nvPr/>
          </p:nvSpPr>
          <p:spPr bwMode="auto">
            <a:xfrm>
              <a:off x="3264" y="3034"/>
              <a:ext cx="1160" cy="28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12700" cap="sq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2pPr>
              <a:lvl3pPr marL="11430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3pPr>
              <a:lvl4pPr marL="16002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4pPr>
              <a:lvl5pPr marL="20574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9pPr>
            </a:lstStyle>
            <a:p>
              <a:pPr algn="ctr"/>
              <a:r>
                <a:rPr lang="en-US" sz="2400">
                  <a:latin typeface="Lucida Sans Typewriter" charset="0"/>
                </a:rPr>
                <a:t>f x (g y)</a:t>
              </a:r>
            </a:p>
          </p:txBody>
        </p:sp>
        <p:sp>
          <p:nvSpPr>
            <p:cNvPr id="26639" name="Text Box 22"/>
            <p:cNvSpPr txBox="1">
              <a:spLocks noChangeArrowheads="1"/>
            </p:cNvSpPr>
            <p:nvPr/>
          </p:nvSpPr>
          <p:spPr bwMode="auto">
            <a:xfrm>
              <a:off x="3265" y="3545"/>
              <a:ext cx="1160" cy="28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12700" cap="sq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2pPr>
              <a:lvl3pPr marL="11430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3pPr>
              <a:lvl4pPr marL="16002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4pPr>
              <a:lvl5pPr marL="20574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9pPr>
            </a:lstStyle>
            <a:p>
              <a:pPr algn="ctr"/>
              <a:r>
                <a:rPr lang="en-US" sz="2400">
                  <a:latin typeface="Lucida Sans Typewriter" charset="0"/>
                </a:rPr>
                <a:t>f x * g y</a:t>
              </a:r>
            </a:p>
          </p:txBody>
        </p:sp>
      </p:grp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Rectangle 2"/>
          <p:cNvSpPr>
            <a:spLocks noGrp="1" noChangeArrowheads="1"/>
          </p:cNvSpPr>
          <p:nvPr>
            <p:ph type="title"/>
          </p:nvPr>
        </p:nvSpPr>
        <p:spPr>
          <a:xfrm>
            <a:off x="510241" y="753228"/>
            <a:ext cx="7210396" cy="1080938"/>
          </a:xfrm>
        </p:spPr>
        <p:txBody>
          <a:bodyPr/>
          <a:lstStyle/>
          <a:p>
            <a:r>
              <a:rPr lang="en-US" dirty="0">
                <a:latin typeface="Arial Black" charset="0"/>
                <a:ea typeface="ＭＳ Ｐゴシック" charset="0"/>
              </a:rPr>
              <a:t>Haskell</a:t>
            </a:r>
            <a:r>
              <a:rPr lang="en-US" dirty="0">
                <a:latin typeface="Arial Black" charset="0"/>
                <a:ea typeface="ＭＳ Ｐゴシック" charset="0"/>
                <a:cs typeface="ＭＳ Ｐゴシック" charset="0"/>
              </a:rPr>
              <a:t> Scripts</a:t>
            </a:r>
          </a:p>
        </p:txBody>
      </p:sp>
      <p:sp>
        <p:nvSpPr>
          <p:cNvPr id="27651" name="Rectangle 3"/>
          <p:cNvSpPr>
            <a:spLocks noGrp="1" noChangeArrowheads="1"/>
          </p:cNvSpPr>
          <p:nvPr>
            <p:ph idx="1"/>
          </p:nvPr>
        </p:nvSpPr>
        <p:spPr>
          <a:xfrm>
            <a:off x="510241" y="2095799"/>
            <a:ext cx="7959202" cy="4625220"/>
          </a:xfrm>
        </p:spPr>
        <p:txBody>
          <a:bodyPr>
            <a:normAutofit/>
          </a:bodyPr>
          <a:lstStyle/>
          <a:p>
            <a:r>
              <a:rPr lang="en-US" sz="2800" dirty="0">
                <a:latin typeface="Tahoma" charset="0"/>
                <a:ea typeface="ＭＳ Ｐゴシック" charset="0"/>
              </a:rPr>
              <a:t>What is a script? </a:t>
            </a:r>
          </a:p>
          <a:p>
            <a:pPr lvl="1"/>
            <a:r>
              <a:rPr lang="en-IE" sz="2800" dirty="0">
                <a:latin typeface="Tahoma" charset="0"/>
                <a:ea typeface="ＭＳ Ｐゴシック" charset="0"/>
              </a:rPr>
              <a:t>Text files containing Haskell code, typically with a .</a:t>
            </a:r>
            <a:r>
              <a:rPr lang="en-IE" sz="2800" dirty="0" err="1">
                <a:latin typeface="Tahoma" charset="0"/>
                <a:ea typeface="ＭＳ Ｐゴシック" charset="0"/>
              </a:rPr>
              <a:t>hs</a:t>
            </a:r>
            <a:r>
              <a:rPr lang="en-IE" sz="2800" dirty="0">
                <a:latin typeface="Tahoma" charset="0"/>
                <a:ea typeface="ＭＳ Ｐゴシック" charset="0"/>
              </a:rPr>
              <a:t> extension</a:t>
            </a:r>
            <a:r>
              <a:rPr lang="en-IE" dirty="0"/>
              <a:t>.</a:t>
            </a:r>
            <a:endParaRPr lang="en-US" dirty="0">
              <a:latin typeface="Tahoma" charset="0"/>
              <a:ea typeface="ＭＳ Ｐゴシック" charset="0"/>
              <a:cs typeface="ＭＳ Ｐゴシック" charset="0"/>
            </a:endParaRPr>
          </a:p>
          <a:p>
            <a:endParaRPr lang="en-US" dirty="0">
              <a:latin typeface="Tahoma" charset="0"/>
              <a:ea typeface="ＭＳ Ｐゴシック" charset="0"/>
              <a:cs typeface="ＭＳ Ｐゴシック" charset="0"/>
            </a:endParaRPr>
          </a:p>
          <a:p>
            <a:r>
              <a:rPr lang="en-US" sz="2800" dirty="0">
                <a:latin typeface="Tahoma" charset="0"/>
                <a:ea typeface="ＭＳ Ｐゴシック" charset="0"/>
              </a:rPr>
              <a:t>Example Script</a:t>
            </a:r>
            <a:r>
              <a:rPr lang="en-US" dirty="0">
                <a:latin typeface="Tahoma" charset="0"/>
                <a:ea typeface="ＭＳ Ｐゴシック" charset="0"/>
                <a:cs typeface="ＭＳ Ｐゴシック" charset="0"/>
              </a:rPr>
              <a:t>:</a:t>
            </a:r>
          </a:p>
          <a:p>
            <a:endParaRPr lang="en-US" dirty="0">
              <a:latin typeface="Tahoma" charset="0"/>
              <a:ea typeface="ＭＳ Ｐゴシック" charset="0"/>
              <a:cs typeface="ＭＳ Ｐゴシック" charset="0"/>
            </a:endParaRPr>
          </a:p>
          <a:p>
            <a:pPr marL="0" indent="0">
              <a:buNone/>
            </a:pPr>
            <a:endParaRPr lang="en-US" dirty="0">
              <a:latin typeface="Tahoma" charset="0"/>
              <a:ea typeface="ＭＳ Ｐゴシック" charset="0"/>
              <a:cs typeface="ＭＳ Ｐゴシック" charset="0"/>
            </a:endParaRPr>
          </a:p>
          <a:p>
            <a:r>
              <a:rPr lang="en-IE" sz="2800" dirty="0">
                <a:latin typeface="Tahoma" charset="0"/>
                <a:ea typeface="ＭＳ Ｐゴシック" charset="0"/>
              </a:rPr>
              <a:t>Save the file as </a:t>
            </a:r>
            <a:r>
              <a:rPr lang="en-IE" sz="2800" dirty="0" err="1">
                <a:latin typeface="Tahoma" charset="0"/>
                <a:ea typeface="ＭＳ Ｐゴシック" charset="0"/>
              </a:rPr>
              <a:t>test.hs</a:t>
            </a:r>
            <a:r>
              <a:rPr lang="en-IE" sz="2800" dirty="0">
                <a:latin typeface="Tahoma" charset="0"/>
                <a:ea typeface="ＭＳ Ｐゴシック" charset="0"/>
              </a:rPr>
              <a:t> and load it into </a:t>
            </a:r>
            <a:r>
              <a:rPr lang="en-IE" sz="2800" dirty="0" err="1">
                <a:latin typeface="Tahoma" charset="0"/>
                <a:ea typeface="ＭＳ Ｐゴシック" charset="0"/>
              </a:rPr>
              <a:t>GHCi</a:t>
            </a:r>
            <a:endParaRPr lang="en-US" sz="2800" dirty="0">
              <a:latin typeface="Tahoma" charset="0"/>
              <a:ea typeface="ＭＳ Ｐゴシック" charset="0"/>
            </a:endParaRPr>
          </a:p>
        </p:txBody>
      </p:sp>
      <p:sp>
        <p:nvSpPr>
          <p:cNvPr id="27649" name="Slide Number Placeholder 3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734FCE1A-107E-2443-88F3-C8A4A32F4223}" type="slidenum">
              <a:rPr lang="en-US" sz="1400"/>
              <a:pPr/>
              <a:t>11</a:t>
            </a:fld>
            <a:endParaRPr lang="en-US" sz="1400"/>
          </a:p>
        </p:txBody>
      </p:sp>
      <p:sp>
        <p:nvSpPr>
          <p:cNvPr id="2" name="Text Box 6">
            <a:extLst>
              <a:ext uri="{FF2B5EF4-FFF2-40B4-BE49-F238E27FC236}">
                <a16:creationId xmlns:a16="http://schemas.microsoft.com/office/drawing/2014/main" id="{C034B2F6-EA47-0681-954B-5513AD72939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194936" y="3691784"/>
            <a:ext cx="5949064" cy="830997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wrap="none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sz="2400" dirty="0">
                <a:latin typeface="Lucida Sans Typewriter" charset="0"/>
              </a:rPr>
              <a:t>double x = x + x</a:t>
            </a:r>
          </a:p>
          <a:p>
            <a:r>
              <a:rPr lang="en-US" sz="2400" dirty="0">
                <a:latin typeface="Lucida Sans Typewriter" charset="0"/>
              </a:rPr>
              <a:t>quadruple x = double (double x)</a:t>
            </a:r>
          </a:p>
        </p:txBody>
      </p:sp>
      <p:sp>
        <p:nvSpPr>
          <p:cNvPr id="3" name="Text Box 6">
            <a:extLst>
              <a:ext uri="{FF2B5EF4-FFF2-40B4-BE49-F238E27FC236}">
                <a16:creationId xmlns:a16="http://schemas.microsoft.com/office/drawing/2014/main" id="{FDD773B8-A555-B314-6CF0-9876EDE9F1B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306786" y="5520690"/>
            <a:ext cx="5499935" cy="1200329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wrap="square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sz="2400" dirty="0">
                <a:latin typeface="Lucida Sans Typewriter" charset="0"/>
              </a:rPr>
              <a:t>$ </a:t>
            </a:r>
            <a:r>
              <a:rPr lang="en-US" sz="2400" dirty="0" err="1">
                <a:latin typeface="Lucida Sans Typewriter" charset="0"/>
              </a:rPr>
              <a:t>ghci</a:t>
            </a:r>
            <a:r>
              <a:rPr lang="en-US" sz="2400" dirty="0">
                <a:latin typeface="Lucida Sans Typewriter" charset="0"/>
              </a:rPr>
              <a:t> </a:t>
            </a:r>
            <a:r>
              <a:rPr lang="en-US" sz="2400" dirty="0" err="1">
                <a:latin typeface="Lucida Sans Typewriter" charset="0"/>
              </a:rPr>
              <a:t>test.hs</a:t>
            </a:r>
            <a:endParaRPr lang="en-US" sz="2400" dirty="0">
              <a:latin typeface="Lucida Sans Typewriter" charset="0"/>
            </a:endParaRPr>
          </a:p>
          <a:p>
            <a:r>
              <a:rPr lang="en-US" sz="2400" dirty="0">
                <a:latin typeface="Lucida Sans Typewriter" charset="0"/>
              </a:rPr>
              <a:t>&gt; quadruple 10 -- 40</a:t>
            </a:r>
          </a:p>
          <a:p>
            <a:endParaRPr lang="en-US" sz="2400" dirty="0">
              <a:latin typeface="Lucida Sans Typewriter" charset="0"/>
            </a:endParaRPr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765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765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765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765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765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765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2765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2765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2765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2765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2765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2765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651" grpId="0" build="p"/>
      <p:bldP spid="2" grpId="0" animBg="1"/>
      <p:bldP spid="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1" name="Slide Number Placeholder 2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3D80B69E-20D5-3A43-A858-E6D71E7A76AB}" type="slidenum">
              <a:rPr lang="en-US" sz="1400"/>
              <a:pPr/>
              <a:t>12</a:t>
            </a:fld>
            <a:endParaRPr lang="en-US" sz="1400"/>
          </a:p>
        </p:txBody>
      </p:sp>
      <p:sp>
        <p:nvSpPr>
          <p:cNvPr id="30722" name="Rectangle 2"/>
          <p:cNvSpPr>
            <a:spLocks noChangeArrowheads="1"/>
          </p:cNvSpPr>
          <p:nvPr/>
        </p:nvSpPr>
        <p:spPr bwMode="auto">
          <a:xfrm>
            <a:off x="1641572" y="3392490"/>
            <a:ext cx="5391219" cy="461665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/>
          <a:p>
            <a:r>
              <a:rPr lang="en-US" sz="2400" dirty="0">
                <a:latin typeface="Lucida Sans Typewriter" charset="0"/>
              </a:rPr>
              <a:t>factorial n = product [1..n]</a:t>
            </a:r>
          </a:p>
        </p:txBody>
      </p:sp>
      <p:sp>
        <p:nvSpPr>
          <p:cNvPr id="30723" name="Text Box 3"/>
          <p:cNvSpPr txBox="1">
            <a:spLocks noChangeArrowheads="1"/>
          </p:cNvSpPr>
          <p:nvPr/>
        </p:nvSpPr>
        <p:spPr bwMode="auto">
          <a:xfrm>
            <a:off x="266511" y="2444277"/>
            <a:ext cx="8288338" cy="31085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dirty="0">
                <a:latin typeface="Tahoma" charset="0"/>
                <a:ea typeface="ＭＳ Ｐゴシック" charset="0"/>
                <a:cs typeface="ＭＳ Ｐゴシック" charset="0"/>
              </a:rPr>
              <a:t>Examples:</a:t>
            </a:r>
          </a:p>
          <a:p>
            <a:pPr marL="1200150" lvl="1" indent="-457200">
              <a:buFont typeface="Arial" panose="020B0604020202020204" pitchFamily="34" charset="0"/>
              <a:buChar char="•"/>
            </a:pPr>
            <a:r>
              <a:rPr lang="en-US" dirty="0"/>
              <a:t>factorial</a:t>
            </a:r>
          </a:p>
          <a:p>
            <a:pPr marL="1200150" lvl="1" indent="-457200">
              <a:buFont typeface="Arial" panose="020B0604020202020204" pitchFamily="34" charset="0"/>
              <a:buChar char="•"/>
            </a:pPr>
            <a:endParaRPr lang="en-US" dirty="0">
              <a:latin typeface="Tahoma" charset="0"/>
              <a:ea typeface="ＭＳ Ｐゴシック" charset="0"/>
              <a:cs typeface="ＭＳ Ｐゴシック" charset="0"/>
            </a:endParaRPr>
          </a:p>
          <a:p>
            <a:pPr marL="1200150" lvl="1" indent="-457200">
              <a:buFont typeface="Arial" panose="020B0604020202020204" pitchFamily="34" charset="0"/>
              <a:buChar char="•"/>
            </a:pPr>
            <a:endParaRPr lang="en-US" dirty="0"/>
          </a:p>
          <a:p>
            <a:pPr marL="1200150" lvl="1" indent="-457200">
              <a:buFont typeface="Arial" panose="020B0604020202020204" pitchFamily="34" charset="0"/>
              <a:buChar char="•"/>
            </a:pPr>
            <a:r>
              <a:rPr lang="en-US" dirty="0"/>
              <a:t>a</a:t>
            </a:r>
            <a:r>
              <a:rPr lang="en-US" dirty="0">
                <a:latin typeface="Tahoma" charset="0"/>
                <a:ea typeface="ＭＳ Ｐゴシック" charset="0"/>
                <a:cs typeface="ＭＳ Ｐゴシック" charset="0"/>
              </a:rPr>
              <a:t>verage</a:t>
            </a:r>
          </a:p>
          <a:p>
            <a:pPr marL="1200150" lvl="1" indent="-457200">
              <a:buFont typeface="Arial" panose="020B0604020202020204" pitchFamily="34" charset="0"/>
              <a:buChar char="•"/>
            </a:pPr>
            <a:endParaRPr lang="en-US" dirty="0"/>
          </a:p>
          <a:p>
            <a:pPr marL="1200150" lvl="1" indent="-457200">
              <a:buFont typeface="Arial" panose="020B0604020202020204" pitchFamily="34" charset="0"/>
              <a:buChar char="•"/>
            </a:pPr>
            <a:endParaRPr lang="en-US" dirty="0">
              <a:latin typeface="Tahoma" charset="0"/>
              <a:ea typeface="ＭＳ Ｐゴシック" charset="0"/>
              <a:cs typeface="ＭＳ Ｐゴシック" charset="0"/>
            </a:endParaRPr>
          </a:p>
        </p:txBody>
      </p:sp>
      <p:sp>
        <p:nvSpPr>
          <p:cNvPr id="30724" name="Rectangle 8"/>
          <p:cNvSpPr>
            <a:spLocks noChangeArrowheads="1"/>
          </p:cNvSpPr>
          <p:nvPr/>
        </p:nvSpPr>
        <p:spPr bwMode="auto">
          <a:xfrm>
            <a:off x="354870" y="5270694"/>
            <a:ext cx="8557835" cy="1698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514350" indent="-514350">
              <a:spcBef>
                <a:spcPct val="20000"/>
              </a:spcBef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IE" dirty="0"/>
              <a:t>Use backticks for infix notation: sum ns `div` length ns`</a:t>
            </a:r>
            <a:endParaRPr kumimoji="1" lang="en-US" dirty="0"/>
          </a:p>
          <a:p>
            <a:pPr marL="457200" indent="-457200">
              <a:spcBef>
                <a:spcPct val="20000"/>
              </a:spcBef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kumimoji="1" lang="en-US" dirty="0"/>
              <a:t>x `f` y is just </a:t>
            </a:r>
            <a:r>
              <a:rPr kumimoji="1" lang="en-US" u="sng" dirty="0"/>
              <a:t>syntactic sugar</a:t>
            </a:r>
            <a:r>
              <a:rPr kumimoji="1" lang="en-US" dirty="0"/>
              <a:t> for f x y.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5246A7A-50EF-4544-D5D3-68D556F9E988}"/>
              </a:ext>
            </a:extLst>
          </p:cNvPr>
          <p:cNvSpPr txBox="1"/>
          <p:nvPr/>
        </p:nvSpPr>
        <p:spPr>
          <a:xfrm>
            <a:off x="742950" y="1025162"/>
            <a:ext cx="5096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700" b="1" dirty="0">
                <a:latin typeface="Arial" panose="020B0604020202020204" pitchFamily="34" charset="0"/>
                <a:cs typeface="Arial" panose="020B0604020202020204" pitchFamily="34" charset="0"/>
              </a:rPr>
              <a:t>Defining Functions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384DB20-A590-FF3A-30DA-96550883B82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41572" y="4710129"/>
            <a:ext cx="6692858" cy="461665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/>
          <a:p>
            <a:r>
              <a:rPr lang="en-US" sz="2400" dirty="0">
                <a:latin typeface="Lucida Sans Typewriter" charset="0"/>
              </a:rPr>
              <a:t>average ns = sum ns `div` length ns</a:t>
            </a:r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07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07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072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072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07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07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072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072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307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307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307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307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722" grpId="0" animBg="1"/>
      <p:bldP spid="3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5" name="Slide Number Placeholder 2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0B14E4C1-AAF0-FD40-9241-254D62A910F0}" type="slidenum">
              <a:rPr lang="en-US" sz="1400"/>
              <a:pPr/>
              <a:t>13</a:t>
            </a:fld>
            <a:endParaRPr lang="en-US" sz="1400"/>
          </a:p>
        </p:txBody>
      </p:sp>
      <p:sp>
        <p:nvSpPr>
          <p:cNvPr id="31747" name="Text Box 3"/>
          <p:cNvSpPr txBox="1">
            <a:spLocks noChangeArrowheads="1"/>
          </p:cNvSpPr>
          <p:nvPr/>
        </p:nvSpPr>
        <p:spPr bwMode="auto">
          <a:xfrm>
            <a:off x="365125" y="850434"/>
            <a:ext cx="8288338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b="1" dirty="0"/>
              <a:t>Useful GHCI Commands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22F1124A-4434-FF34-7D9F-04E702D42F3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34882304"/>
              </p:ext>
            </p:extLst>
          </p:nvPr>
        </p:nvGraphicFramePr>
        <p:xfrm>
          <a:off x="984354" y="2986946"/>
          <a:ext cx="6105994" cy="21097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71936">
                  <a:extLst>
                    <a:ext uri="{9D8B030D-6E8A-4147-A177-3AD203B41FA5}">
                      <a16:colId xmlns:a16="http://schemas.microsoft.com/office/drawing/2014/main" val="3565237971"/>
                    </a:ext>
                  </a:extLst>
                </a:gridCol>
                <a:gridCol w="4134058">
                  <a:extLst>
                    <a:ext uri="{9D8B030D-6E8A-4147-A177-3AD203B41FA5}">
                      <a16:colId xmlns:a16="http://schemas.microsoft.com/office/drawing/2014/main" val="3323255465"/>
                    </a:ext>
                  </a:extLst>
                </a:gridCol>
              </a:tblGrid>
              <a:tr h="421942">
                <a:tc>
                  <a:txBody>
                    <a:bodyPr/>
                    <a:lstStyle/>
                    <a:p>
                      <a:r>
                        <a:rPr lang="en-US" dirty="0"/>
                        <a:t>Command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Description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0049281"/>
                  </a:ext>
                </a:extLst>
              </a:tr>
              <a:tr h="421942">
                <a:tc>
                  <a:txBody>
                    <a:bodyPr/>
                    <a:lstStyle/>
                    <a:p>
                      <a:r>
                        <a:rPr lang="en-US" dirty="0"/>
                        <a:t>:load &lt;file&gt;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Load a Haskell script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8588214"/>
                  </a:ext>
                </a:extLst>
              </a:tr>
              <a:tr h="421942">
                <a:tc>
                  <a:txBody>
                    <a:bodyPr/>
                    <a:lstStyle/>
                    <a:p>
                      <a:r>
                        <a:rPr lang="en-US" dirty="0"/>
                        <a:t>:reload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Reload the current script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69757908"/>
                  </a:ext>
                </a:extLst>
              </a:tr>
              <a:tr h="421942">
                <a:tc>
                  <a:txBody>
                    <a:bodyPr/>
                    <a:lstStyle/>
                    <a:p>
                      <a:r>
                        <a:rPr lang="en-US" dirty="0"/>
                        <a:t>:type &lt;expr&gt;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Show the type of an expression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8122286"/>
                  </a:ext>
                </a:extLst>
              </a:tr>
              <a:tr h="421942">
                <a:tc>
                  <a:txBody>
                    <a:bodyPr/>
                    <a:lstStyle/>
                    <a:p>
                      <a:r>
                        <a:rPr lang="en-US" dirty="0"/>
                        <a:t>:quit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Exit </a:t>
                      </a:r>
                      <a:r>
                        <a:rPr lang="en-US" dirty="0" err="1"/>
                        <a:t>GHCi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66270854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D909379A-D9F8-E312-D2A2-9185CE885D02}"/>
              </a:ext>
            </a:extLst>
          </p:cNvPr>
          <p:cNvSpPr txBox="1"/>
          <p:nvPr/>
        </p:nvSpPr>
        <p:spPr>
          <a:xfrm>
            <a:off x="1214203" y="5831174"/>
            <a:ext cx="741844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Tip : use :q in </a:t>
            </a:r>
            <a:r>
              <a:rPr lang="en-US" dirty="0" err="1"/>
              <a:t>GHCi</a:t>
            </a:r>
            <a:r>
              <a:rPr lang="en-US" dirty="0"/>
              <a:t> for a list of all commands</a:t>
            </a:r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Black" charset="0"/>
                <a:ea typeface="ＭＳ Ｐゴシック" charset="0"/>
                <a:cs typeface="ＭＳ Ｐゴシック" charset="0"/>
              </a:rPr>
              <a:t>Naming Requirements</a:t>
            </a:r>
          </a:p>
        </p:txBody>
      </p:sp>
      <p:sp>
        <p:nvSpPr>
          <p:cNvPr id="33795" name="Rectangle 3"/>
          <p:cNvSpPr>
            <a:spLocks noGrp="1" noChangeArrowheads="1"/>
          </p:cNvSpPr>
          <p:nvPr>
            <p:ph idx="1"/>
          </p:nvPr>
        </p:nvSpPr>
        <p:spPr>
          <a:xfrm>
            <a:off x="395288" y="2174081"/>
            <a:ext cx="8178800" cy="1095375"/>
          </a:xfrm>
        </p:spPr>
        <p:txBody>
          <a:bodyPr>
            <a:normAutofit/>
          </a:bodyPr>
          <a:lstStyle/>
          <a:p>
            <a:r>
              <a:rPr lang="en-US" sz="2800" dirty="0">
                <a:latin typeface="Tahoma" charset="0"/>
                <a:ea typeface="ＭＳ Ｐゴシック" charset="0"/>
              </a:rPr>
              <a:t>Function and argument names must begin with a lower-case letter.  For example:</a:t>
            </a:r>
          </a:p>
        </p:txBody>
      </p:sp>
      <p:sp>
        <p:nvSpPr>
          <p:cNvPr id="33793" name="Slide Number Placeholder 3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7FBB9433-BABE-544F-BBCC-4B7707DDC055}" type="slidenum">
              <a:rPr lang="en-US" sz="1400"/>
              <a:pPr/>
              <a:t>14</a:t>
            </a:fld>
            <a:endParaRPr lang="en-US" sz="1400"/>
          </a:p>
        </p:txBody>
      </p:sp>
      <p:sp>
        <p:nvSpPr>
          <p:cNvPr id="33796" name="Text Box 4"/>
          <p:cNvSpPr txBox="1">
            <a:spLocks noChangeArrowheads="1"/>
          </p:cNvSpPr>
          <p:nvPr/>
        </p:nvSpPr>
        <p:spPr bwMode="auto">
          <a:xfrm>
            <a:off x="1568450" y="3113088"/>
            <a:ext cx="1104900" cy="457200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 algn="ctr"/>
            <a:r>
              <a:rPr lang="en-US" sz="2400" dirty="0" err="1">
                <a:latin typeface="Lucida Sans Typewriter" charset="0"/>
              </a:rPr>
              <a:t>myFun</a:t>
            </a:r>
            <a:endParaRPr lang="en-US" sz="2400" dirty="0">
              <a:latin typeface="Lucida Sans Typewriter" charset="0"/>
            </a:endParaRPr>
          </a:p>
        </p:txBody>
      </p:sp>
      <p:sp>
        <p:nvSpPr>
          <p:cNvPr id="33797" name="Text Box 5"/>
          <p:cNvSpPr txBox="1">
            <a:spLocks noChangeArrowheads="1"/>
          </p:cNvSpPr>
          <p:nvPr/>
        </p:nvSpPr>
        <p:spPr bwMode="auto">
          <a:xfrm>
            <a:off x="3563938" y="3113088"/>
            <a:ext cx="920750" cy="457200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 algn="ctr"/>
            <a:r>
              <a:rPr lang="en-US" sz="2400">
                <a:latin typeface="Lucida Sans Typewriter" charset="0"/>
              </a:rPr>
              <a:t>fun1</a:t>
            </a:r>
          </a:p>
        </p:txBody>
      </p:sp>
      <p:sp>
        <p:nvSpPr>
          <p:cNvPr id="33798" name="Text Box 6"/>
          <p:cNvSpPr txBox="1">
            <a:spLocks noChangeArrowheads="1"/>
          </p:cNvSpPr>
          <p:nvPr/>
        </p:nvSpPr>
        <p:spPr bwMode="auto">
          <a:xfrm>
            <a:off x="5375275" y="3113088"/>
            <a:ext cx="1104900" cy="457200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 algn="ctr"/>
            <a:r>
              <a:rPr lang="en-US" sz="2400">
                <a:latin typeface="Lucida Sans Typewriter" charset="0"/>
              </a:rPr>
              <a:t>arg_2</a:t>
            </a:r>
          </a:p>
        </p:txBody>
      </p:sp>
      <p:sp>
        <p:nvSpPr>
          <p:cNvPr id="33799" name="Text Box 7"/>
          <p:cNvSpPr txBox="1">
            <a:spLocks noChangeArrowheads="1"/>
          </p:cNvSpPr>
          <p:nvPr/>
        </p:nvSpPr>
        <p:spPr bwMode="auto">
          <a:xfrm>
            <a:off x="7372350" y="3113088"/>
            <a:ext cx="552450" cy="457200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 algn="ctr"/>
            <a:r>
              <a:rPr lang="en-US" sz="2400">
                <a:latin typeface="Lucida Sans Typewriter" charset="0"/>
              </a:rPr>
              <a:t>x</a:t>
            </a:r>
            <a:r>
              <a:rPr lang="ja-JP" altLang="en-US" sz="2400">
                <a:latin typeface="Lucida Sans Typewriter" charset="0"/>
              </a:rPr>
              <a:t>’</a:t>
            </a:r>
            <a:endParaRPr lang="en-US" sz="2400">
              <a:latin typeface="Lucida Sans Typewriter" charset="0"/>
            </a:endParaRPr>
          </a:p>
        </p:txBody>
      </p:sp>
      <p:sp>
        <p:nvSpPr>
          <p:cNvPr id="33800" name="Rectangle 9"/>
          <p:cNvSpPr>
            <a:spLocks noChangeArrowheads="1"/>
          </p:cNvSpPr>
          <p:nvPr/>
        </p:nvSpPr>
        <p:spPr bwMode="auto">
          <a:xfrm>
            <a:off x="509588" y="4064000"/>
            <a:ext cx="8178800" cy="1095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457200" indent="-457200">
              <a:spcBef>
                <a:spcPct val="20000"/>
              </a:spcBef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kumimoji="1" lang="en-US" dirty="0"/>
              <a:t>By convention, list arguments usually have an </a:t>
            </a:r>
            <a:r>
              <a:rPr kumimoji="1" lang="en-US" u="sng" dirty="0"/>
              <a:t>s</a:t>
            </a:r>
            <a:r>
              <a:rPr kumimoji="1" lang="en-US" dirty="0"/>
              <a:t> suffix on their name.  For example:</a:t>
            </a:r>
          </a:p>
        </p:txBody>
      </p:sp>
      <p:grpSp>
        <p:nvGrpSpPr>
          <p:cNvPr id="33801" name="Group 15"/>
          <p:cNvGrpSpPr>
            <a:grpSpLocks/>
          </p:cNvGrpSpPr>
          <p:nvPr/>
        </p:nvGrpSpPr>
        <p:grpSpPr bwMode="auto">
          <a:xfrm>
            <a:off x="1660525" y="5653088"/>
            <a:ext cx="3667125" cy="457200"/>
            <a:chOff x="1053" y="3265"/>
            <a:chExt cx="2310" cy="288"/>
          </a:xfrm>
        </p:grpSpPr>
        <p:sp>
          <p:nvSpPr>
            <p:cNvPr id="33802" name="Text Box 10"/>
            <p:cNvSpPr txBox="1">
              <a:spLocks noChangeArrowheads="1"/>
            </p:cNvSpPr>
            <p:nvPr/>
          </p:nvSpPr>
          <p:spPr bwMode="auto">
            <a:xfrm>
              <a:off x="1053" y="3265"/>
              <a:ext cx="348" cy="28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12700" cap="sq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2pPr>
              <a:lvl3pPr marL="11430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3pPr>
              <a:lvl4pPr marL="16002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4pPr>
              <a:lvl5pPr marL="20574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9pPr>
            </a:lstStyle>
            <a:p>
              <a:pPr algn="ctr"/>
              <a:r>
                <a:rPr lang="en-US" sz="2400">
                  <a:latin typeface="Lucida Sans Typewriter" charset="0"/>
                </a:rPr>
                <a:t>xs</a:t>
              </a:r>
            </a:p>
          </p:txBody>
        </p:sp>
        <p:sp>
          <p:nvSpPr>
            <p:cNvPr id="33803" name="Text Box 11"/>
            <p:cNvSpPr txBox="1">
              <a:spLocks noChangeArrowheads="1"/>
            </p:cNvSpPr>
            <p:nvPr/>
          </p:nvSpPr>
          <p:spPr bwMode="auto">
            <a:xfrm>
              <a:off x="1976" y="3265"/>
              <a:ext cx="348" cy="28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12700" cap="sq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2pPr>
              <a:lvl3pPr marL="11430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3pPr>
              <a:lvl4pPr marL="16002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4pPr>
              <a:lvl5pPr marL="20574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9pPr>
            </a:lstStyle>
            <a:p>
              <a:pPr algn="ctr"/>
              <a:r>
                <a:rPr lang="en-US" sz="2400">
                  <a:latin typeface="Lucida Sans Typewriter" charset="0"/>
                </a:rPr>
                <a:t>ns</a:t>
              </a:r>
            </a:p>
          </p:txBody>
        </p:sp>
        <p:sp>
          <p:nvSpPr>
            <p:cNvPr id="33804" name="Text Box 12"/>
            <p:cNvSpPr txBox="1">
              <a:spLocks noChangeArrowheads="1"/>
            </p:cNvSpPr>
            <p:nvPr/>
          </p:nvSpPr>
          <p:spPr bwMode="auto">
            <a:xfrm>
              <a:off x="2899" y="3265"/>
              <a:ext cx="464" cy="28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12700" cap="sq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2pPr>
              <a:lvl3pPr marL="11430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3pPr>
              <a:lvl4pPr marL="16002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4pPr>
              <a:lvl5pPr marL="20574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9pPr>
            </a:lstStyle>
            <a:p>
              <a:pPr algn="ctr"/>
              <a:r>
                <a:rPr lang="en-US" sz="2400">
                  <a:latin typeface="Lucida Sans Typewriter" charset="0"/>
                </a:rPr>
                <a:t>nss</a:t>
              </a:r>
            </a:p>
          </p:txBody>
        </p:sp>
      </p:grp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Comments in Haskell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2600" y="2123606"/>
            <a:ext cx="8178800" cy="4876800"/>
          </a:xfrm>
        </p:spPr>
        <p:txBody>
          <a:bodyPr>
            <a:normAutofit/>
          </a:bodyPr>
          <a:lstStyle/>
          <a:p>
            <a:r>
              <a:rPr lang="en-IE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Strive to write clear, self-explanatory code (see </a:t>
            </a:r>
            <a:r>
              <a:rPr lang="en-IE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hlinkClick r:id="rId4"/>
              </a:rPr>
              <a:t>https://wiki.haskell.org/Commenting</a:t>
            </a:r>
            <a:r>
              <a:rPr lang="en-IE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)</a:t>
            </a:r>
          </a:p>
          <a:p>
            <a:pPr marL="0" indent="0">
              <a:buNone/>
            </a:pPr>
            <a:endParaRPr lang="en-IE" sz="28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0" indent="0">
              <a:buNone/>
            </a:pPr>
            <a:endParaRPr lang="en-IE" sz="28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0" indent="0">
              <a:buNone/>
            </a:pPr>
            <a:endParaRPr lang="en-IE" sz="28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r>
              <a:rPr lang="en-IE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Avoid redundant comments</a:t>
            </a:r>
          </a:p>
          <a:p>
            <a:pPr marL="742950" lvl="1" indent="-285750"/>
            <a:endParaRPr lang="en-IE" sz="28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>
              <a:buFont typeface="Wingdings" panose="05000000000000000000" pitchFamily="2" charset="2"/>
              <a:buChar char="q"/>
            </a:pPr>
            <a:endParaRPr lang="en-IE" dirty="0"/>
          </a:p>
          <a:p>
            <a:pPr marL="0" indent="0">
              <a:buNone/>
            </a:pPr>
            <a:endParaRPr lang="en-IE" dirty="0"/>
          </a:p>
          <a:p>
            <a:pPr marL="0" indent="0">
              <a:buNone/>
            </a:pPr>
            <a:endParaRPr lang="en-IE" dirty="0"/>
          </a:p>
          <a:p>
            <a:pPr marL="0" indent="0">
              <a:buNone/>
            </a:pPr>
            <a:endParaRPr lang="en-I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BCA5543-1E1F-F043-9EBC-BC37C93D4920}" type="slidenum">
              <a:rPr lang="en-US" smtClean="0"/>
              <a:pPr>
                <a:defRPr/>
              </a:pPr>
              <a:t>15</a:t>
            </a:fld>
            <a:endParaRPr lang="en-US"/>
          </a:p>
        </p:txBody>
      </p:sp>
      <p:sp>
        <p:nvSpPr>
          <p:cNvPr id="10" name="Rectangle 2"/>
          <p:cNvSpPr txBox="1">
            <a:spLocks noChangeArrowheads="1"/>
          </p:cNvSpPr>
          <p:nvPr/>
        </p:nvSpPr>
        <p:spPr bwMode="auto">
          <a:xfrm>
            <a:off x="1188134" y="3429000"/>
            <a:ext cx="6767732" cy="461665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Font typeface="Monotype Sorts" charset="0"/>
              <a:buChar char="z"/>
              <a:defRPr kumimoji="1" sz="2800">
                <a:solidFill>
                  <a:schemeClr val="tx1"/>
                </a:solidFill>
                <a:latin typeface="+mn-lt"/>
                <a:ea typeface="ＭＳ Ｐゴシック" pitchFamily="-1" charset="-128"/>
                <a:cs typeface="ＭＳ Ｐゴシック" pitchFamily="-1" charset="-128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Font typeface="Monotype Sorts" charset="0"/>
              <a:buChar char="y"/>
              <a:defRPr kumimoji="1" sz="2400">
                <a:solidFill>
                  <a:schemeClr val="tx1"/>
                </a:solidFill>
                <a:latin typeface="+mn-lt"/>
                <a:ea typeface="ＭＳ Ｐゴシック" pitchFamily="-1" charset="-128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Font typeface="Monotype Sorts" charset="0"/>
              <a:buChar char="x"/>
              <a:defRPr kumimoji="1" sz="2000">
                <a:solidFill>
                  <a:schemeClr val="tx1"/>
                </a:solidFill>
                <a:latin typeface="+mn-lt"/>
                <a:ea typeface="ＭＳ Ｐゴシック" pitchFamily="-1" charset="-128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•"/>
              <a:defRPr kumimoji="1">
                <a:solidFill>
                  <a:schemeClr val="tx1"/>
                </a:solidFill>
                <a:latin typeface="+mn-lt"/>
                <a:ea typeface="ＭＳ Ｐゴシック" pitchFamily="-1" charset="-128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–"/>
              <a:defRPr kumimoji="1">
                <a:solidFill>
                  <a:schemeClr val="tx1"/>
                </a:solidFill>
                <a:latin typeface="+mn-lt"/>
                <a:ea typeface="ＭＳ Ｐゴシック" pitchFamily="-1" charset="-128"/>
              </a:defRPr>
            </a:lvl5pPr>
            <a:lvl6pPr marL="25146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–"/>
              <a:defRPr kumimoji="1">
                <a:solidFill>
                  <a:schemeClr val="tx1"/>
                </a:solidFill>
                <a:latin typeface="+mn-lt"/>
                <a:ea typeface="ＭＳ Ｐゴシック" pitchFamily="-1" charset="-128"/>
              </a:defRPr>
            </a:lvl6pPr>
            <a:lvl7pPr marL="29718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–"/>
              <a:defRPr kumimoji="1">
                <a:solidFill>
                  <a:schemeClr val="tx1"/>
                </a:solidFill>
                <a:latin typeface="+mn-lt"/>
                <a:ea typeface="ＭＳ Ｐゴシック" pitchFamily="-1" charset="-128"/>
              </a:defRPr>
            </a:lvl7pPr>
            <a:lvl8pPr marL="3429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–"/>
              <a:defRPr kumimoji="1">
                <a:solidFill>
                  <a:schemeClr val="tx1"/>
                </a:solidFill>
                <a:latin typeface="+mn-lt"/>
                <a:ea typeface="ＭＳ Ｐゴシック" pitchFamily="-1" charset="-128"/>
              </a:defRPr>
            </a:lvl8pPr>
            <a:lvl9pPr marL="3886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–"/>
              <a:defRPr kumimoji="1">
                <a:solidFill>
                  <a:schemeClr val="tx1"/>
                </a:solidFill>
                <a:latin typeface="+mn-lt"/>
                <a:ea typeface="ＭＳ Ｐゴシック" pitchFamily="-1" charset="-128"/>
              </a:defRPr>
            </a:lvl9pPr>
          </a:lstStyle>
          <a:p>
            <a:pPr marL="0" indent="0">
              <a:buNone/>
            </a:pPr>
            <a:r>
              <a:rPr lang="en-US" sz="2400" kern="0" dirty="0">
                <a:latin typeface="Lucida Sans Typewriter" charset="0"/>
              </a:rPr>
              <a:t>swap :: (</a:t>
            </a:r>
            <a:r>
              <a:rPr lang="en-US" sz="2400" kern="0" dirty="0" err="1">
                <a:latin typeface="Lucida Sans Typewriter" charset="0"/>
              </a:rPr>
              <a:t>a,b</a:t>
            </a:r>
            <a:r>
              <a:rPr lang="en-US" sz="2400" kern="0" dirty="0">
                <a:latin typeface="Lucida Sans Typewriter" charset="0"/>
              </a:rPr>
              <a:t>) -&gt; (</a:t>
            </a:r>
            <a:r>
              <a:rPr lang="en-US" sz="2400" kern="0" dirty="0" err="1">
                <a:latin typeface="Lucida Sans Typewriter" charset="0"/>
              </a:rPr>
              <a:t>b,a</a:t>
            </a:r>
            <a:r>
              <a:rPr lang="en-US" sz="2400" kern="0" dirty="0">
                <a:latin typeface="Lucida Sans Typewriter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05236114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Comments in Haskell - Syntax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BCA5543-1E1F-F043-9EBC-BC37C93D4920}" type="slidenum">
              <a:rPr lang="en-US" smtClean="0"/>
              <a:pPr>
                <a:defRPr/>
              </a:pPr>
              <a:t>16</a:t>
            </a:fld>
            <a:endParaRPr lang="en-US"/>
          </a:p>
        </p:txBody>
      </p:sp>
      <p:sp>
        <p:nvSpPr>
          <p:cNvPr id="13" name="Rectangle 2"/>
          <p:cNvSpPr>
            <a:spLocks noChangeArrowheads="1"/>
          </p:cNvSpPr>
          <p:nvPr/>
        </p:nvSpPr>
        <p:spPr bwMode="auto">
          <a:xfrm>
            <a:off x="1300909" y="4920526"/>
            <a:ext cx="5949064" cy="461665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/>
          <a:p>
            <a:r>
              <a:rPr lang="en-US" sz="2400" dirty="0">
                <a:latin typeface="Lucida Sans Typewriter" charset="0"/>
              </a:rPr>
              <a:t>let </a:t>
            </a:r>
            <a:r>
              <a:rPr lang="en-US" sz="2400" dirty="0" err="1">
                <a:latin typeface="Lucida Sans Typewriter" charset="0"/>
              </a:rPr>
              <a:t>newCounter</a:t>
            </a:r>
            <a:r>
              <a:rPr lang="en-US" sz="2400" dirty="0">
                <a:latin typeface="Lucida Sans Typewriter" charset="0"/>
              </a:rPr>
              <a:t> = </a:t>
            </a:r>
            <a:r>
              <a:rPr lang="en-US" sz="2400" dirty="0" err="1">
                <a:latin typeface="Lucida Sans Typewriter" charset="0"/>
              </a:rPr>
              <a:t>oldCounter</a:t>
            </a:r>
            <a:r>
              <a:rPr lang="en-US" sz="2400" dirty="0">
                <a:latin typeface="Lucida Sans Typewriter" charset="0"/>
              </a:rPr>
              <a:t> + 1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057F0DA-7EA2-BF8F-68B1-EDC20EB95C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43063" y="2684848"/>
            <a:ext cx="7064755" cy="461665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/>
          <a:p>
            <a:r>
              <a:rPr lang="en-US" sz="2400" dirty="0">
                <a:latin typeface="Lucida Sans Typewriter" charset="0"/>
              </a:rPr>
              <a:t>-- A one-line comment looks like this</a:t>
            </a: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689758A2-1844-8B50-B51D-CD0C2972032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43063" y="4181862"/>
            <a:ext cx="7616188" cy="1200329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/>
          <a:p>
            <a:r>
              <a:rPr lang="en-US" sz="2400" dirty="0">
                <a:latin typeface="Lucida Sans Typewriter" charset="0"/>
              </a:rPr>
              <a:t>{- A multiline</a:t>
            </a:r>
          </a:p>
          <a:p>
            <a:r>
              <a:rPr lang="en-US" sz="2400" dirty="0">
                <a:latin typeface="Lucida Sans Typewriter" charset="0"/>
              </a:rPr>
              <a:t>	comment can continue for many lines</a:t>
            </a:r>
          </a:p>
          <a:p>
            <a:r>
              <a:rPr lang="en-US" sz="2400" dirty="0">
                <a:latin typeface="Lucida Sans Typewriter" charset="0"/>
              </a:rPr>
              <a:t>-}</a:t>
            </a:r>
          </a:p>
        </p:txBody>
      </p:sp>
    </p:spTree>
    <p:extLst>
      <p:ext uri="{BB962C8B-B14F-4D97-AF65-F5344CB8AC3E}">
        <p14:creationId xmlns:p14="http://schemas.microsoft.com/office/powerpoint/2010/main" val="27676211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Black" charset="0"/>
                <a:ea typeface="ＭＳ Ｐゴシック" charset="0"/>
                <a:cs typeface="ＭＳ Ｐゴシック" charset="0"/>
              </a:rPr>
              <a:t>The Layout Rule</a:t>
            </a:r>
          </a:p>
        </p:txBody>
      </p:sp>
      <p:sp>
        <p:nvSpPr>
          <p:cNvPr id="34817" name="Slide Number Placeholder 2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40F18ED2-FA50-CE42-B148-F46DA97C8814}" type="slidenum">
              <a:rPr lang="en-US" sz="1400"/>
              <a:pPr/>
              <a:t>17</a:t>
            </a:fld>
            <a:endParaRPr lang="en-US" sz="1400"/>
          </a:p>
        </p:txBody>
      </p:sp>
      <p:sp>
        <p:nvSpPr>
          <p:cNvPr id="34819" name="Text Box 3"/>
          <p:cNvSpPr txBox="1">
            <a:spLocks noChangeArrowheads="1"/>
          </p:cNvSpPr>
          <p:nvPr/>
        </p:nvSpPr>
        <p:spPr bwMode="auto">
          <a:xfrm>
            <a:off x="443706" y="1946577"/>
            <a:ext cx="8256588" cy="946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dirty="0"/>
              <a:t>In a sequence of definitions, each definition must begin in precisely the same column:</a:t>
            </a:r>
          </a:p>
        </p:txBody>
      </p:sp>
      <p:grpSp>
        <p:nvGrpSpPr>
          <p:cNvPr id="34820" name="Group 29"/>
          <p:cNvGrpSpPr>
            <a:grpSpLocks/>
          </p:cNvGrpSpPr>
          <p:nvPr/>
        </p:nvGrpSpPr>
        <p:grpSpPr bwMode="auto">
          <a:xfrm>
            <a:off x="1420813" y="3005138"/>
            <a:ext cx="6059487" cy="3000375"/>
            <a:chOff x="895" y="1893"/>
            <a:chExt cx="3817" cy="1890"/>
          </a:xfrm>
        </p:grpSpPr>
        <p:grpSp>
          <p:nvGrpSpPr>
            <p:cNvPr id="34821" name="Group 27"/>
            <p:cNvGrpSpPr>
              <a:grpSpLocks/>
            </p:cNvGrpSpPr>
            <p:nvPr/>
          </p:nvGrpSpPr>
          <p:grpSpPr bwMode="auto">
            <a:xfrm>
              <a:off x="895" y="1893"/>
              <a:ext cx="3817" cy="1208"/>
              <a:chOff x="895" y="1893"/>
              <a:chExt cx="3817" cy="1208"/>
            </a:xfrm>
          </p:grpSpPr>
          <p:sp>
            <p:nvSpPr>
              <p:cNvPr id="34832" name="Text Box 4"/>
              <p:cNvSpPr txBox="1">
                <a:spLocks noChangeArrowheads="1"/>
              </p:cNvSpPr>
              <p:nvPr/>
            </p:nvSpPr>
            <p:spPr bwMode="auto">
              <a:xfrm>
                <a:off x="895" y="1893"/>
                <a:ext cx="812" cy="1208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xmlns="" w="12700" cap="sq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>
                <a:spAutoFit/>
              </a:bodyPr>
              <a:lstStyle>
                <a:lvl1pPr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2pPr>
                <a:lvl3pPr marL="1143000" indent="-228600"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3pPr>
                <a:lvl4pPr marL="1600200" indent="-228600"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4pPr>
                <a:lvl5pPr marL="2057400" indent="-228600"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9pPr>
              </a:lstStyle>
              <a:p>
                <a:r>
                  <a:rPr lang="en-US" sz="2400" dirty="0">
                    <a:latin typeface="Lucida Sans Typewriter" charset="0"/>
                  </a:rPr>
                  <a:t>a = 10</a:t>
                </a:r>
              </a:p>
              <a:p>
                <a:endParaRPr lang="en-US" sz="2400" dirty="0">
                  <a:latin typeface="Lucida Sans Typewriter" charset="0"/>
                </a:endParaRPr>
              </a:p>
              <a:p>
                <a:r>
                  <a:rPr lang="en-US" sz="2400" dirty="0">
                    <a:latin typeface="Lucida Sans Typewriter" charset="0"/>
                  </a:rPr>
                  <a:t>b = 20</a:t>
                </a:r>
              </a:p>
              <a:p>
                <a:endParaRPr lang="en-US" sz="2400" dirty="0">
                  <a:latin typeface="Lucida Sans Typewriter" charset="0"/>
                </a:endParaRPr>
              </a:p>
              <a:p>
                <a:r>
                  <a:rPr lang="en-US" sz="2400" dirty="0">
                    <a:latin typeface="Lucida Sans Typewriter" charset="0"/>
                  </a:rPr>
                  <a:t>c = 30</a:t>
                </a:r>
              </a:p>
            </p:txBody>
          </p:sp>
          <p:sp>
            <p:nvSpPr>
              <p:cNvPr id="34833" name="Text Box 5"/>
              <p:cNvSpPr txBox="1">
                <a:spLocks noChangeArrowheads="1"/>
              </p:cNvSpPr>
              <p:nvPr/>
            </p:nvSpPr>
            <p:spPr bwMode="auto">
              <a:xfrm>
                <a:off x="2281" y="1893"/>
                <a:ext cx="928" cy="1208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xmlns="" w="12700" cap="sq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>
                <a:spAutoFit/>
              </a:bodyPr>
              <a:lstStyle>
                <a:lvl1pPr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2pPr>
                <a:lvl3pPr marL="1143000" indent="-228600"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3pPr>
                <a:lvl4pPr marL="1600200" indent="-228600"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4pPr>
                <a:lvl5pPr marL="2057400" indent="-228600"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9pPr>
              </a:lstStyle>
              <a:p>
                <a:r>
                  <a:rPr lang="en-US" sz="2400" dirty="0">
                    <a:latin typeface="Lucida Sans Typewriter" charset="0"/>
                  </a:rPr>
                  <a:t>a = 10</a:t>
                </a:r>
              </a:p>
              <a:p>
                <a:endParaRPr lang="en-US" sz="2400" dirty="0">
                  <a:latin typeface="Lucida Sans Typewriter" charset="0"/>
                </a:endParaRPr>
              </a:p>
              <a:p>
                <a:r>
                  <a:rPr lang="en-US" sz="2400" dirty="0">
                    <a:latin typeface="Lucida Sans Typewriter" charset="0"/>
                  </a:rPr>
                  <a:t> b = 20</a:t>
                </a:r>
              </a:p>
              <a:p>
                <a:endParaRPr lang="en-US" sz="2400" dirty="0">
                  <a:latin typeface="Lucida Sans Typewriter" charset="0"/>
                </a:endParaRPr>
              </a:p>
              <a:p>
                <a:r>
                  <a:rPr lang="en-US" sz="2400" dirty="0">
                    <a:latin typeface="Lucida Sans Typewriter" charset="0"/>
                  </a:rPr>
                  <a:t>c = 30</a:t>
                </a:r>
              </a:p>
            </p:txBody>
          </p:sp>
          <p:sp>
            <p:nvSpPr>
              <p:cNvPr id="34834" name="Text Box 6"/>
              <p:cNvSpPr txBox="1">
                <a:spLocks noChangeArrowheads="1"/>
              </p:cNvSpPr>
              <p:nvPr/>
            </p:nvSpPr>
            <p:spPr bwMode="auto">
              <a:xfrm>
                <a:off x="3784" y="1893"/>
                <a:ext cx="928" cy="1208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xmlns="" w="12700" cap="sq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>
                <a:spAutoFit/>
              </a:bodyPr>
              <a:lstStyle>
                <a:lvl1pPr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2pPr>
                <a:lvl3pPr marL="1143000" indent="-228600"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3pPr>
                <a:lvl4pPr marL="1600200" indent="-228600"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4pPr>
                <a:lvl5pPr marL="2057400" indent="-228600"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9pPr>
              </a:lstStyle>
              <a:p>
                <a:r>
                  <a:rPr lang="en-US" sz="2400">
                    <a:latin typeface="Lucida Sans Typewriter" charset="0"/>
                  </a:rPr>
                  <a:t> a = 10</a:t>
                </a:r>
              </a:p>
              <a:p>
                <a:endParaRPr lang="en-US" sz="2400">
                  <a:latin typeface="Lucida Sans Typewriter" charset="0"/>
                </a:endParaRPr>
              </a:p>
              <a:p>
                <a:r>
                  <a:rPr lang="en-US" sz="2400">
                    <a:latin typeface="Lucida Sans Typewriter" charset="0"/>
                  </a:rPr>
                  <a:t>b = 20</a:t>
                </a:r>
              </a:p>
              <a:p>
                <a:endParaRPr lang="en-US" sz="2400">
                  <a:latin typeface="Lucida Sans Typewriter" charset="0"/>
                </a:endParaRPr>
              </a:p>
              <a:p>
                <a:r>
                  <a:rPr lang="en-US" sz="2400">
                    <a:latin typeface="Lucida Sans Typewriter" charset="0"/>
                  </a:rPr>
                  <a:t> c = 30</a:t>
                </a:r>
              </a:p>
            </p:txBody>
          </p:sp>
        </p:grpSp>
        <p:grpSp>
          <p:nvGrpSpPr>
            <p:cNvPr id="34822" name="Group 28"/>
            <p:cNvGrpSpPr>
              <a:grpSpLocks/>
            </p:cNvGrpSpPr>
            <p:nvPr/>
          </p:nvGrpSpPr>
          <p:grpSpPr bwMode="auto">
            <a:xfrm>
              <a:off x="1089" y="3495"/>
              <a:ext cx="3303" cy="288"/>
              <a:chOff x="1089" y="3495"/>
              <a:chExt cx="3303" cy="288"/>
            </a:xfrm>
          </p:grpSpPr>
          <p:grpSp>
            <p:nvGrpSpPr>
              <p:cNvPr id="34823" name="Group 15"/>
              <p:cNvGrpSpPr>
                <a:grpSpLocks/>
              </p:cNvGrpSpPr>
              <p:nvPr/>
            </p:nvGrpSpPr>
            <p:grpSpPr bwMode="auto">
              <a:xfrm>
                <a:off x="2601" y="3495"/>
                <a:ext cx="287" cy="288"/>
                <a:chOff x="1085" y="3117"/>
                <a:chExt cx="411" cy="416"/>
              </a:xfrm>
            </p:grpSpPr>
            <p:sp>
              <p:nvSpPr>
                <p:cNvPr id="34830" name="Line 13"/>
                <p:cNvSpPr>
                  <a:spLocks noChangeShapeType="1"/>
                </p:cNvSpPr>
                <p:nvPr/>
              </p:nvSpPr>
              <p:spPr bwMode="auto">
                <a:xfrm>
                  <a:off x="1091" y="3117"/>
                  <a:ext cx="405" cy="406"/>
                </a:xfrm>
                <a:prstGeom prst="line">
                  <a:avLst/>
                </a:prstGeom>
                <a:noFill/>
                <a:ln w="127000" cap="sq">
                  <a:solidFill>
                    <a:srgbClr val="FF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 xmlns="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34831" name="Line 14"/>
                <p:cNvSpPr>
                  <a:spLocks noChangeShapeType="1"/>
                </p:cNvSpPr>
                <p:nvPr/>
              </p:nvSpPr>
              <p:spPr bwMode="auto">
                <a:xfrm flipH="1">
                  <a:off x="1085" y="3127"/>
                  <a:ext cx="405" cy="406"/>
                </a:xfrm>
                <a:prstGeom prst="line">
                  <a:avLst/>
                </a:prstGeom>
                <a:noFill/>
                <a:ln w="127000" cap="sq">
                  <a:solidFill>
                    <a:srgbClr val="FF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 xmlns="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</p:grpSp>
          <p:grpSp>
            <p:nvGrpSpPr>
              <p:cNvPr id="34824" name="Group 16"/>
              <p:cNvGrpSpPr>
                <a:grpSpLocks/>
              </p:cNvGrpSpPr>
              <p:nvPr/>
            </p:nvGrpSpPr>
            <p:grpSpPr bwMode="auto">
              <a:xfrm>
                <a:off x="4104" y="3495"/>
                <a:ext cx="288" cy="288"/>
                <a:chOff x="1085" y="3117"/>
                <a:chExt cx="411" cy="416"/>
              </a:xfrm>
            </p:grpSpPr>
            <p:sp>
              <p:nvSpPr>
                <p:cNvPr id="34828" name="Line 17"/>
                <p:cNvSpPr>
                  <a:spLocks noChangeShapeType="1"/>
                </p:cNvSpPr>
                <p:nvPr/>
              </p:nvSpPr>
              <p:spPr bwMode="auto">
                <a:xfrm>
                  <a:off x="1091" y="3117"/>
                  <a:ext cx="405" cy="406"/>
                </a:xfrm>
                <a:prstGeom prst="line">
                  <a:avLst/>
                </a:prstGeom>
                <a:noFill/>
                <a:ln w="127000" cap="sq">
                  <a:solidFill>
                    <a:srgbClr val="FF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 xmlns="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34829" name="Line 18"/>
                <p:cNvSpPr>
                  <a:spLocks noChangeShapeType="1"/>
                </p:cNvSpPr>
                <p:nvPr/>
              </p:nvSpPr>
              <p:spPr bwMode="auto">
                <a:xfrm flipH="1">
                  <a:off x="1085" y="3127"/>
                  <a:ext cx="405" cy="406"/>
                </a:xfrm>
                <a:prstGeom prst="line">
                  <a:avLst/>
                </a:prstGeom>
                <a:noFill/>
                <a:ln w="127000" cap="sq">
                  <a:solidFill>
                    <a:srgbClr val="FF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 xmlns="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</p:grpSp>
          <p:grpSp>
            <p:nvGrpSpPr>
              <p:cNvPr id="34825" name="Group 24"/>
              <p:cNvGrpSpPr>
                <a:grpSpLocks/>
              </p:cNvGrpSpPr>
              <p:nvPr/>
            </p:nvGrpSpPr>
            <p:grpSpPr bwMode="auto">
              <a:xfrm>
                <a:off x="1089" y="3495"/>
                <a:ext cx="423" cy="281"/>
                <a:chOff x="958" y="3028"/>
                <a:chExt cx="604" cy="406"/>
              </a:xfrm>
            </p:grpSpPr>
            <p:sp>
              <p:nvSpPr>
                <p:cNvPr id="34826" name="Line 22"/>
                <p:cNvSpPr>
                  <a:spLocks noChangeShapeType="1"/>
                </p:cNvSpPr>
                <p:nvPr/>
              </p:nvSpPr>
              <p:spPr bwMode="auto">
                <a:xfrm flipH="1">
                  <a:off x="1157" y="3028"/>
                  <a:ext cx="405" cy="406"/>
                </a:xfrm>
                <a:prstGeom prst="line">
                  <a:avLst/>
                </a:prstGeom>
                <a:noFill/>
                <a:ln w="127000" cap="sq">
                  <a:solidFill>
                    <a:srgbClr val="008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 xmlns="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 dirty="0"/>
                </a:p>
              </p:txBody>
            </p:sp>
            <p:sp>
              <p:nvSpPr>
                <p:cNvPr id="34827" name="Line 23"/>
                <p:cNvSpPr>
                  <a:spLocks noChangeShapeType="1"/>
                </p:cNvSpPr>
                <p:nvPr/>
              </p:nvSpPr>
              <p:spPr bwMode="auto">
                <a:xfrm>
                  <a:off x="958" y="3242"/>
                  <a:ext cx="187" cy="187"/>
                </a:xfrm>
                <a:prstGeom prst="line">
                  <a:avLst/>
                </a:prstGeom>
                <a:noFill/>
                <a:ln w="127000" cap="sq">
                  <a:solidFill>
                    <a:srgbClr val="008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 xmlns="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</p:grpSp>
        </p:grpSp>
      </p:grpSp>
    </p:spTree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8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48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48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Black" charset="0"/>
                <a:ea typeface="ＭＳ Ｐゴシック" charset="0"/>
                <a:cs typeface="ＭＳ Ｐゴシック" charset="0"/>
              </a:rPr>
              <a:t>The Layout Rule</a:t>
            </a:r>
          </a:p>
        </p:txBody>
      </p:sp>
      <p:sp>
        <p:nvSpPr>
          <p:cNvPr id="34817" name="Slide Number Placeholder 2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40F18ED2-FA50-CE42-B148-F46DA97C8814}" type="slidenum">
              <a:rPr lang="en-US" sz="1400"/>
              <a:pPr/>
              <a:t>18</a:t>
            </a:fld>
            <a:endParaRPr lang="en-US" sz="1400"/>
          </a:p>
        </p:txBody>
      </p:sp>
      <p:grpSp>
        <p:nvGrpSpPr>
          <p:cNvPr id="2" name="Group 22">
            <a:extLst>
              <a:ext uri="{FF2B5EF4-FFF2-40B4-BE49-F238E27FC236}">
                <a16:creationId xmlns:a16="http://schemas.microsoft.com/office/drawing/2014/main" id="{14F0BF4E-9154-9420-45E4-713954B264F3}"/>
              </a:ext>
            </a:extLst>
          </p:cNvPr>
          <p:cNvGrpSpPr>
            <a:grpSpLocks/>
          </p:cNvGrpSpPr>
          <p:nvPr/>
        </p:nvGrpSpPr>
        <p:grpSpPr bwMode="auto">
          <a:xfrm>
            <a:off x="3622675" y="3347435"/>
            <a:ext cx="1347787" cy="730250"/>
            <a:chOff x="2268" y="2127"/>
            <a:chExt cx="849" cy="460"/>
          </a:xfrm>
        </p:grpSpPr>
        <p:sp>
          <p:nvSpPr>
            <p:cNvPr id="3" name="AutoShape 21">
              <a:extLst>
                <a:ext uri="{FF2B5EF4-FFF2-40B4-BE49-F238E27FC236}">
                  <a16:creationId xmlns:a16="http://schemas.microsoft.com/office/drawing/2014/main" id="{FC9C99E3-150D-8FA1-1EE2-1D270A3C429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268" y="2127"/>
              <a:ext cx="849" cy="460"/>
            </a:xfrm>
            <a:prstGeom prst="rightArrow">
              <a:avLst>
                <a:gd name="adj1" fmla="val 50000"/>
                <a:gd name="adj2" fmla="val 46141"/>
              </a:avLst>
            </a:prstGeom>
            <a:solidFill>
              <a:srgbClr val="008000"/>
            </a:solidFill>
            <a:ln w="12700" cap="sq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" name="Text Box 18">
              <a:extLst>
                <a:ext uri="{FF2B5EF4-FFF2-40B4-BE49-F238E27FC236}">
                  <a16:creationId xmlns:a16="http://schemas.microsoft.com/office/drawing/2014/main" id="{A3CB5317-DA1A-2B61-61E8-112B8C6AF9D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277" y="2176"/>
              <a:ext cx="765" cy="32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12700" cap="sq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2pPr>
              <a:lvl3pPr marL="11430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3pPr>
              <a:lvl4pPr marL="16002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4pPr>
              <a:lvl5pPr marL="20574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9pPr>
            </a:lstStyle>
            <a:p>
              <a:pPr algn="ctr"/>
              <a:r>
                <a:rPr lang="en-US" dirty="0"/>
                <a:t>means</a:t>
              </a:r>
            </a:p>
          </p:txBody>
        </p:sp>
      </p:grpSp>
      <p:sp>
        <p:nvSpPr>
          <p:cNvPr id="5" name="Text Box 3">
            <a:extLst>
              <a:ext uri="{FF2B5EF4-FFF2-40B4-BE49-F238E27FC236}">
                <a16:creationId xmlns:a16="http://schemas.microsoft.com/office/drawing/2014/main" id="{C366C0B8-6D9D-6219-629D-492292AC3B2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56798" y="2915104"/>
            <a:ext cx="2209800" cy="1917700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sz="2400" dirty="0">
                <a:latin typeface="Lucida Sans Typewriter" charset="0"/>
              </a:rPr>
              <a:t>a = b + c</a:t>
            </a:r>
          </a:p>
          <a:p>
            <a:r>
              <a:rPr lang="en-US" sz="2400" dirty="0">
                <a:latin typeface="Lucida Sans Typewriter" charset="0"/>
              </a:rPr>
              <a:t>    where</a:t>
            </a:r>
          </a:p>
          <a:p>
            <a:r>
              <a:rPr lang="en-US" sz="2400" dirty="0">
                <a:latin typeface="Lucida Sans Typewriter" charset="0"/>
              </a:rPr>
              <a:t>      b = 1</a:t>
            </a:r>
          </a:p>
          <a:p>
            <a:r>
              <a:rPr lang="en-US" sz="2400" dirty="0">
                <a:latin typeface="Lucida Sans Typewriter" charset="0"/>
              </a:rPr>
              <a:t>      c = 2</a:t>
            </a:r>
          </a:p>
          <a:p>
            <a:r>
              <a:rPr lang="en-US" sz="2400" dirty="0">
                <a:latin typeface="Lucida Sans Typewriter" charset="0"/>
              </a:rPr>
              <a:t>d = a * 2</a:t>
            </a:r>
          </a:p>
        </p:txBody>
      </p:sp>
      <p:sp>
        <p:nvSpPr>
          <p:cNvPr id="6" name="Text Box 10">
            <a:extLst>
              <a:ext uri="{FF2B5EF4-FFF2-40B4-BE49-F238E27FC236}">
                <a16:creationId xmlns:a16="http://schemas.microsoft.com/office/drawing/2014/main" id="{F1E8E3A5-B41F-EB0B-7543-4DBFD37A3FA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24475" y="2915104"/>
            <a:ext cx="2595563" cy="1939925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sz="2400" dirty="0">
                <a:latin typeface="Lucida Sans Typewriter" charset="0"/>
              </a:rPr>
              <a:t>a = b + c</a:t>
            </a:r>
          </a:p>
          <a:p>
            <a:r>
              <a:rPr lang="en-US" sz="2400" dirty="0">
                <a:latin typeface="Lucida Sans Typewriter" charset="0"/>
              </a:rPr>
              <a:t>    where</a:t>
            </a:r>
          </a:p>
          <a:p>
            <a:r>
              <a:rPr lang="en-US" sz="2400" dirty="0">
                <a:latin typeface="Lucida Sans Typewriter" charset="0"/>
              </a:rPr>
              <a:t>      {b = 1;</a:t>
            </a:r>
          </a:p>
          <a:p>
            <a:r>
              <a:rPr lang="en-US" sz="2400" dirty="0">
                <a:latin typeface="Lucida Sans Typewriter" charset="0"/>
              </a:rPr>
              <a:t>       c = 2}</a:t>
            </a:r>
          </a:p>
          <a:p>
            <a:r>
              <a:rPr lang="en-US" sz="2400" dirty="0">
                <a:latin typeface="Lucida Sans Typewriter" charset="0"/>
              </a:rPr>
              <a:t> d = a * 2</a:t>
            </a:r>
          </a:p>
        </p:txBody>
      </p:sp>
      <p:sp>
        <p:nvSpPr>
          <p:cNvPr id="7" name="AutoShape 14">
            <a:extLst>
              <a:ext uri="{FF2B5EF4-FFF2-40B4-BE49-F238E27FC236}">
                <a16:creationId xmlns:a16="http://schemas.microsoft.com/office/drawing/2014/main" id="{30E479DD-0C64-94AB-8C8E-44CB9009FD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9588" y="5541963"/>
            <a:ext cx="3113087" cy="566737"/>
          </a:xfrm>
          <a:prstGeom prst="wedgeRoundRectCallout">
            <a:avLst>
              <a:gd name="adj1" fmla="val -2625"/>
              <a:gd name="adj2" fmla="val -136273"/>
              <a:gd name="adj3" fmla="val 16667"/>
            </a:avLst>
          </a:prstGeom>
          <a:noFill/>
          <a:ln w="12700" cap="sq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  <p:txBody>
          <a:bodyPr anchor="ctr">
            <a:spAutoFit/>
          </a:bodyPr>
          <a:lstStyle/>
          <a:p>
            <a:pPr algn="ctr"/>
            <a:r>
              <a:rPr lang="en-US"/>
              <a:t>implicit grouping</a:t>
            </a:r>
          </a:p>
        </p:txBody>
      </p:sp>
      <p:sp>
        <p:nvSpPr>
          <p:cNvPr id="8" name="AutoShape 15">
            <a:extLst>
              <a:ext uri="{FF2B5EF4-FFF2-40B4-BE49-F238E27FC236}">
                <a16:creationId xmlns:a16="http://schemas.microsoft.com/office/drawing/2014/main" id="{105C6083-660B-B40E-3731-DB4F51A971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24475" y="5541963"/>
            <a:ext cx="3113088" cy="566737"/>
          </a:xfrm>
          <a:prstGeom prst="wedgeRoundRectCallout">
            <a:avLst>
              <a:gd name="adj1" fmla="val -3801"/>
              <a:gd name="adj2" fmla="val -127593"/>
              <a:gd name="adj3" fmla="val 16667"/>
            </a:avLst>
          </a:prstGeom>
          <a:noFill/>
          <a:ln w="12700" cap="sq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  <p:txBody>
          <a:bodyPr anchor="ctr">
            <a:spAutoFit/>
          </a:bodyPr>
          <a:lstStyle/>
          <a:p>
            <a:pPr algn="ctr"/>
            <a:r>
              <a:rPr lang="en-US"/>
              <a:t>explicit grouping</a:t>
            </a:r>
          </a:p>
        </p:txBody>
      </p:sp>
      <p:sp>
        <p:nvSpPr>
          <p:cNvPr id="9" name="Text Box 2">
            <a:extLst>
              <a:ext uri="{FF2B5EF4-FFF2-40B4-BE49-F238E27FC236}">
                <a16:creationId xmlns:a16="http://schemas.microsoft.com/office/drawing/2014/main" id="{81767BEA-1BE4-5303-3AA1-E01297720FF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7011" y="1901560"/>
            <a:ext cx="8139113" cy="946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dirty="0"/>
              <a:t>The layout rule avoids the need for explicit syntax to indicate the grouping of definitions.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73B2B69-5403-DD32-FC08-5C4CEA6A0148}"/>
              </a:ext>
            </a:extLst>
          </p:cNvPr>
          <p:cNvSpPr txBox="1"/>
          <p:nvPr/>
        </p:nvSpPr>
        <p:spPr>
          <a:xfrm>
            <a:off x="949872" y="6244357"/>
            <a:ext cx="7487691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E" b="1" dirty="0"/>
              <a:t>Tip</a:t>
            </a:r>
            <a:r>
              <a:rPr lang="en-IE" dirty="0"/>
              <a:t>: Align code neatly to avoid syntax errors.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6436362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10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Black" charset="0"/>
                <a:ea typeface="ＭＳ Ｐゴシック" charset="0"/>
                <a:cs typeface="ＭＳ Ｐゴシック" charset="0"/>
              </a:rPr>
              <a:t>Recap</a:t>
            </a:r>
          </a:p>
        </p:txBody>
      </p:sp>
      <p:sp>
        <p:nvSpPr>
          <p:cNvPr id="34817" name="Slide Number Placeholder 2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40F18ED2-FA50-CE42-B148-F46DA97C8814}" type="slidenum">
              <a:rPr lang="en-US" sz="1400"/>
              <a:pPr/>
              <a:t>19</a:t>
            </a:fld>
            <a:endParaRPr lang="en-US" sz="140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97989C6-71EC-C9C3-2232-E078CE611EE8}"/>
              </a:ext>
            </a:extLst>
          </p:cNvPr>
          <p:cNvSpPr txBox="1"/>
          <p:nvPr/>
        </p:nvSpPr>
        <p:spPr>
          <a:xfrm>
            <a:off x="2518348" y="6370820"/>
            <a:ext cx="6482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CB46C17-EA47-204B-E9FF-6CACBF75405C}"/>
              </a:ext>
            </a:extLst>
          </p:cNvPr>
          <p:cNvSpPr txBox="1"/>
          <p:nvPr/>
        </p:nvSpPr>
        <p:spPr>
          <a:xfrm>
            <a:off x="1011835" y="2687945"/>
            <a:ext cx="7562539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IE" b="1" dirty="0"/>
              <a:t>Key Takeaways</a:t>
            </a:r>
            <a:r>
              <a:rPr lang="en-IE" dirty="0"/>
              <a:t>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IE" dirty="0" err="1"/>
              <a:t>GHCi</a:t>
            </a:r>
            <a:r>
              <a:rPr lang="en-IE" dirty="0"/>
              <a:t> is an interactive and powerful environment for Haskell.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IE" dirty="0"/>
              <a:t>Use the Prelude for built-in functions and utilities.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IE" dirty="0"/>
              <a:t>Write clean, concise scripts and test them in </a:t>
            </a:r>
            <a:r>
              <a:rPr lang="en-IE" dirty="0" err="1"/>
              <a:t>GHCi</a:t>
            </a:r>
            <a:r>
              <a:rPr lang="en-IE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03336878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Berlin">
  <a:themeElements>
    <a:clrScheme name="Berlin">
      <a:dk1>
        <a:sysClr val="windowText" lastClr="000000"/>
      </a:dk1>
      <a:lt1>
        <a:sysClr val="window" lastClr="FFFFFF"/>
      </a:lt1>
      <a:dk2>
        <a:srgbClr val="1F8094"/>
      </a:dk2>
      <a:lt2>
        <a:srgbClr val="E7E6E6"/>
      </a:lt2>
      <a:accent1>
        <a:srgbClr val="39CDE7"/>
      </a:accent1>
      <a:accent2>
        <a:srgbClr val="60DE72"/>
      </a:accent2>
      <a:accent3>
        <a:srgbClr val="DDCC64"/>
      </a:accent3>
      <a:accent4>
        <a:srgbClr val="F49D50"/>
      </a:accent4>
      <a:accent5>
        <a:srgbClr val="E44951"/>
      </a:accent5>
      <a:accent6>
        <a:srgbClr val="D666F9"/>
      </a:accent6>
      <a:hlink>
        <a:srgbClr val="4BF7ED"/>
      </a:hlink>
      <a:folHlink>
        <a:srgbClr val="95E9F4"/>
      </a:folHlink>
    </a:clrScheme>
    <a:fontScheme name="Berlin">
      <a:majorFont>
        <a:latin typeface="Trebuchet MS" panose="020B0603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Berlin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satMod val="100000"/>
                <a:lumMod val="110000"/>
              </a:schemeClr>
            </a:gs>
            <a:gs pos="100000">
              <a:schemeClr val="phClr">
                <a:tint val="70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6000"/>
                <a:shade val="100000"/>
                <a:hueMod val="92000"/>
                <a:satMod val="200000"/>
                <a:lumMod val="128000"/>
              </a:schemeClr>
            </a:gs>
            <a:gs pos="50000">
              <a:schemeClr val="phClr">
                <a:shade val="100000"/>
                <a:hueMod val="100000"/>
                <a:satMod val="110000"/>
                <a:lumMod val="130000"/>
              </a:schemeClr>
            </a:gs>
            <a:gs pos="100000">
              <a:schemeClr val="phClr">
                <a:shade val="78000"/>
                <a:hueMod val="118000"/>
                <a:satMod val="120000"/>
                <a:lumMod val="69000"/>
              </a:schemeClr>
            </a:gs>
          </a:gsLst>
          <a:lin ang="252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erlin" id="{7B5DBA9E-B069-418E-9360-A61BDD0615A4}" vid="{C7DC10E3-4FF5-456B-A359-A0F378C1E5FB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Override1.xml><?xml version="1.0" encoding="utf-8"?>
<a:themeOverride xmlns:a="http://schemas.openxmlformats.org/drawingml/2006/main">
  <a:clrScheme name="Berlin">
    <a:dk1>
      <a:sysClr val="windowText" lastClr="000000"/>
    </a:dk1>
    <a:lt1>
      <a:sysClr val="window" lastClr="FFFFFF"/>
    </a:lt1>
    <a:dk2>
      <a:srgbClr val="1F8094"/>
    </a:dk2>
    <a:lt2>
      <a:srgbClr val="E7E6E6"/>
    </a:lt2>
    <a:accent1>
      <a:srgbClr val="39CDE7"/>
    </a:accent1>
    <a:accent2>
      <a:srgbClr val="60DE72"/>
    </a:accent2>
    <a:accent3>
      <a:srgbClr val="DDCC64"/>
    </a:accent3>
    <a:accent4>
      <a:srgbClr val="F49D50"/>
    </a:accent4>
    <a:accent5>
      <a:srgbClr val="E44951"/>
    </a:accent5>
    <a:accent6>
      <a:srgbClr val="D666F9"/>
    </a:accent6>
    <a:hlink>
      <a:srgbClr val="4BF7ED"/>
    </a:hlink>
    <a:folHlink>
      <a:srgbClr val="95E9F4"/>
    </a:folHlink>
  </a:clrScheme>
</a:themeOverride>
</file>

<file path=ppt/theme/themeOverride2.xml><?xml version="1.0" encoding="utf-8"?>
<a:themeOverride xmlns:a="http://schemas.openxmlformats.org/drawingml/2006/main">
  <a:clrScheme name="Berlin">
    <a:dk1>
      <a:sysClr val="windowText" lastClr="000000"/>
    </a:dk1>
    <a:lt1>
      <a:sysClr val="window" lastClr="FFFFFF"/>
    </a:lt1>
    <a:dk2>
      <a:srgbClr val="1F8094"/>
    </a:dk2>
    <a:lt2>
      <a:srgbClr val="E7E6E6"/>
    </a:lt2>
    <a:accent1>
      <a:srgbClr val="39CDE7"/>
    </a:accent1>
    <a:accent2>
      <a:srgbClr val="60DE72"/>
    </a:accent2>
    <a:accent3>
      <a:srgbClr val="DDCC64"/>
    </a:accent3>
    <a:accent4>
      <a:srgbClr val="F49D50"/>
    </a:accent4>
    <a:accent5>
      <a:srgbClr val="E44951"/>
    </a:accent5>
    <a:accent6>
      <a:srgbClr val="D666F9"/>
    </a:accent6>
    <a:hlink>
      <a:srgbClr val="4BF7ED"/>
    </a:hlink>
    <a:folHlink>
      <a:srgbClr val="95E9F4"/>
    </a:folHlink>
  </a:clrScheme>
</a:themeOverride>
</file>

<file path=ppt/theme/themeOverride3.xml><?xml version="1.0" encoding="utf-8"?>
<a:themeOverride xmlns:a="http://schemas.openxmlformats.org/drawingml/2006/main">
  <a:clrScheme name="Berlin">
    <a:dk1>
      <a:sysClr val="windowText" lastClr="000000"/>
    </a:dk1>
    <a:lt1>
      <a:sysClr val="window" lastClr="FFFFFF"/>
    </a:lt1>
    <a:dk2>
      <a:srgbClr val="1F8094"/>
    </a:dk2>
    <a:lt2>
      <a:srgbClr val="E7E6E6"/>
    </a:lt2>
    <a:accent1>
      <a:srgbClr val="39CDE7"/>
    </a:accent1>
    <a:accent2>
      <a:srgbClr val="60DE72"/>
    </a:accent2>
    <a:accent3>
      <a:srgbClr val="DDCC64"/>
    </a:accent3>
    <a:accent4>
      <a:srgbClr val="F49D50"/>
    </a:accent4>
    <a:accent5>
      <a:srgbClr val="E44951"/>
    </a:accent5>
    <a:accent6>
      <a:srgbClr val="D666F9"/>
    </a:accent6>
    <a:hlink>
      <a:srgbClr val="4BF7ED"/>
    </a:hlink>
    <a:folHlink>
      <a:srgbClr val="95E9F4"/>
    </a:folHlink>
  </a:clrScheme>
</a:themeOverride>
</file>

<file path=ppt/theme/themeOverride4.xml><?xml version="1.0" encoding="utf-8"?>
<a:themeOverride xmlns:a="http://schemas.openxmlformats.org/drawingml/2006/main">
  <a:clrScheme name="Berlin">
    <a:dk1>
      <a:sysClr val="windowText" lastClr="000000"/>
    </a:dk1>
    <a:lt1>
      <a:sysClr val="window" lastClr="FFFFFF"/>
    </a:lt1>
    <a:dk2>
      <a:srgbClr val="1F8094"/>
    </a:dk2>
    <a:lt2>
      <a:srgbClr val="E7E6E6"/>
    </a:lt2>
    <a:accent1>
      <a:srgbClr val="39CDE7"/>
    </a:accent1>
    <a:accent2>
      <a:srgbClr val="60DE72"/>
    </a:accent2>
    <a:accent3>
      <a:srgbClr val="DDCC64"/>
    </a:accent3>
    <a:accent4>
      <a:srgbClr val="F49D50"/>
    </a:accent4>
    <a:accent5>
      <a:srgbClr val="E44951"/>
    </a:accent5>
    <a:accent6>
      <a:srgbClr val="D666F9"/>
    </a:accent6>
    <a:hlink>
      <a:srgbClr val="4BF7ED"/>
    </a:hlink>
    <a:folHlink>
      <a:srgbClr val="95E9F4"/>
    </a:folHlink>
  </a:clrScheme>
</a:themeOverride>
</file>

<file path=ppt/theme/themeOverride5.xml><?xml version="1.0" encoding="utf-8"?>
<a:themeOverride xmlns:a="http://schemas.openxmlformats.org/drawingml/2006/main">
  <a:clrScheme name="Berlin">
    <a:dk1>
      <a:sysClr val="windowText" lastClr="000000"/>
    </a:dk1>
    <a:lt1>
      <a:sysClr val="window" lastClr="FFFFFF"/>
    </a:lt1>
    <a:dk2>
      <a:srgbClr val="1F8094"/>
    </a:dk2>
    <a:lt2>
      <a:srgbClr val="E7E6E6"/>
    </a:lt2>
    <a:accent1>
      <a:srgbClr val="39CDE7"/>
    </a:accent1>
    <a:accent2>
      <a:srgbClr val="60DE72"/>
    </a:accent2>
    <a:accent3>
      <a:srgbClr val="DDCC64"/>
    </a:accent3>
    <a:accent4>
      <a:srgbClr val="F49D50"/>
    </a:accent4>
    <a:accent5>
      <a:srgbClr val="E44951"/>
    </a:accent5>
    <a:accent6>
      <a:srgbClr val="D666F9"/>
    </a:accent6>
    <a:hlink>
      <a:srgbClr val="4BF7ED"/>
    </a:hlink>
    <a:folHlink>
      <a:srgbClr val="95E9F4"/>
    </a:folHlink>
  </a:clrScheme>
</a:themeOverride>
</file>

<file path=ppt/theme/themeOverride6.xml><?xml version="1.0" encoding="utf-8"?>
<a:themeOverride xmlns:a="http://schemas.openxmlformats.org/drawingml/2006/main">
  <a:clrScheme name="Berlin">
    <a:dk1>
      <a:sysClr val="windowText" lastClr="000000"/>
    </a:dk1>
    <a:lt1>
      <a:sysClr val="window" lastClr="FFFFFF"/>
    </a:lt1>
    <a:dk2>
      <a:srgbClr val="1F8094"/>
    </a:dk2>
    <a:lt2>
      <a:srgbClr val="E7E6E6"/>
    </a:lt2>
    <a:accent1>
      <a:srgbClr val="39CDE7"/>
    </a:accent1>
    <a:accent2>
      <a:srgbClr val="60DE72"/>
    </a:accent2>
    <a:accent3>
      <a:srgbClr val="DDCC64"/>
    </a:accent3>
    <a:accent4>
      <a:srgbClr val="F49D50"/>
    </a:accent4>
    <a:accent5>
      <a:srgbClr val="E44951"/>
    </a:accent5>
    <a:accent6>
      <a:srgbClr val="D666F9"/>
    </a:accent6>
    <a:hlink>
      <a:srgbClr val="4BF7ED"/>
    </a:hlink>
    <a:folHlink>
      <a:srgbClr val="95E9F4"/>
    </a:folHlink>
  </a:clrScheme>
</a:themeOverride>
</file>

<file path=ppt/theme/themeOverride7.xml><?xml version="1.0" encoding="utf-8"?>
<a:themeOverride xmlns:a="http://schemas.openxmlformats.org/drawingml/2006/main">
  <a:clrScheme name="Berlin">
    <a:dk1>
      <a:sysClr val="windowText" lastClr="000000"/>
    </a:dk1>
    <a:lt1>
      <a:sysClr val="window" lastClr="FFFFFF"/>
    </a:lt1>
    <a:dk2>
      <a:srgbClr val="1F8094"/>
    </a:dk2>
    <a:lt2>
      <a:srgbClr val="E7E6E6"/>
    </a:lt2>
    <a:accent1>
      <a:srgbClr val="39CDE7"/>
    </a:accent1>
    <a:accent2>
      <a:srgbClr val="60DE72"/>
    </a:accent2>
    <a:accent3>
      <a:srgbClr val="DDCC64"/>
    </a:accent3>
    <a:accent4>
      <a:srgbClr val="F49D50"/>
    </a:accent4>
    <a:accent5>
      <a:srgbClr val="E44951"/>
    </a:accent5>
    <a:accent6>
      <a:srgbClr val="D666F9"/>
    </a:accent6>
    <a:hlink>
      <a:srgbClr val="4BF7ED"/>
    </a:hlink>
    <a:folHlink>
      <a:srgbClr val="95E9F4"/>
    </a:folHlink>
  </a:clrScheme>
</a:themeOverride>
</file>

<file path=ppt/theme/themeOverride8.xml><?xml version="1.0" encoding="utf-8"?>
<a:themeOverride xmlns:a="http://schemas.openxmlformats.org/drawingml/2006/main">
  <a:clrScheme name="Berlin">
    <a:dk1>
      <a:sysClr val="windowText" lastClr="000000"/>
    </a:dk1>
    <a:lt1>
      <a:sysClr val="window" lastClr="FFFFFF"/>
    </a:lt1>
    <a:dk2>
      <a:srgbClr val="1F8094"/>
    </a:dk2>
    <a:lt2>
      <a:srgbClr val="E7E6E6"/>
    </a:lt2>
    <a:accent1>
      <a:srgbClr val="39CDE7"/>
    </a:accent1>
    <a:accent2>
      <a:srgbClr val="60DE72"/>
    </a:accent2>
    <a:accent3>
      <a:srgbClr val="DDCC64"/>
    </a:accent3>
    <a:accent4>
      <a:srgbClr val="F49D50"/>
    </a:accent4>
    <a:accent5>
      <a:srgbClr val="E44951"/>
    </a:accent5>
    <a:accent6>
      <a:srgbClr val="D666F9"/>
    </a:accent6>
    <a:hlink>
      <a:srgbClr val="4BF7ED"/>
    </a:hlink>
    <a:folHlink>
      <a:srgbClr val="95E9F4"/>
    </a:folHlink>
  </a:clrScheme>
</a:themeOverride>
</file>

<file path=ppt/theme/themeOverride9.xml><?xml version="1.0" encoding="utf-8"?>
<a:themeOverride xmlns:a="http://schemas.openxmlformats.org/drawingml/2006/main">
  <a:clrScheme name="Berlin">
    <a:dk1>
      <a:sysClr val="windowText" lastClr="000000"/>
    </a:dk1>
    <a:lt1>
      <a:sysClr val="window" lastClr="FFFFFF"/>
    </a:lt1>
    <a:dk2>
      <a:srgbClr val="1F8094"/>
    </a:dk2>
    <a:lt2>
      <a:srgbClr val="E7E6E6"/>
    </a:lt2>
    <a:accent1>
      <a:srgbClr val="39CDE7"/>
    </a:accent1>
    <a:accent2>
      <a:srgbClr val="60DE72"/>
    </a:accent2>
    <a:accent3>
      <a:srgbClr val="DDCC64"/>
    </a:accent3>
    <a:accent4>
      <a:srgbClr val="F49D50"/>
    </a:accent4>
    <a:accent5>
      <a:srgbClr val="E44951"/>
    </a:accent5>
    <a:accent6>
      <a:srgbClr val="D666F9"/>
    </a:accent6>
    <a:hlink>
      <a:srgbClr val="4BF7ED"/>
    </a:hlink>
    <a:folHlink>
      <a:srgbClr val="95E9F4"/>
    </a:folHlink>
  </a:clrScheme>
</a:themeOverride>
</file>

<file path=ppt/theme/themeOverride10.xml><?xml version="1.0" encoding="utf-8"?>
<a:themeOverride xmlns:a="http://schemas.openxmlformats.org/drawingml/2006/main">
  <a:clrScheme name="Berlin">
    <a:dk1>
      <a:sysClr val="windowText" lastClr="000000"/>
    </a:dk1>
    <a:lt1>
      <a:sysClr val="window" lastClr="FFFFFF"/>
    </a:lt1>
    <a:dk2>
      <a:srgbClr val="1F8094"/>
    </a:dk2>
    <a:lt2>
      <a:srgbClr val="E7E6E6"/>
    </a:lt2>
    <a:accent1>
      <a:srgbClr val="39CDE7"/>
    </a:accent1>
    <a:accent2>
      <a:srgbClr val="60DE72"/>
    </a:accent2>
    <a:accent3>
      <a:srgbClr val="DDCC64"/>
    </a:accent3>
    <a:accent4>
      <a:srgbClr val="F49D50"/>
    </a:accent4>
    <a:accent5>
      <a:srgbClr val="E44951"/>
    </a:accent5>
    <a:accent6>
      <a:srgbClr val="D666F9"/>
    </a:accent6>
    <a:hlink>
      <a:srgbClr val="4BF7ED"/>
    </a:hlink>
    <a:folHlink>
      <a:srgbClr val="95E9F4"/>
    </a:folHlink>
  </a:clrScheme>
</a:themeOverride>
</file>

<file path=ppt/theme/themeOverride11.xml><?xml version="1.0" encoding="utf-8"?>
<a:themeOverride xmlns:a="http://schemas.openxmlformats.org/drawingml/2006/main">
  <a:clrScheme name="Berlin">
    <a:dk1>
      <a:sysClr val="windowText" lastClr="000000"/>
    </a:dk1>
    <a:lt1>
      <a:sysClr val="window" lastClr="FFFFFF"/>
    </a:lt1>
    <a:dk2>
      <a:srgbClr val="1F8094"/>
    </a:dk2>
    <a:lt2>
      <a:srgbClr val="E7E6E6"/>
    </a:lt2>
    <a:accent1>
      <a:srgbClr val="39CDE7"/>
    </a:accent1>
    <a:accent2>
      <a:srgbClr val="60DE72"/>
    </a:accent2>
    <a:accent3>
      <a:srgbClr val="DDCC64"/>
    </a:accent3>
    <a:accent4>
      <a:srgbClr val="F49D50"/>
    </a:accent4>
    <a:accent5>
      <a:srgbClr val="E44951"/>
    </a:accent5>
    <a:accent6>
      <a:srgbClr val="D666F9"/>
    </a:accent6>
    <a:hlink>
      <a:srgbClr val="4BF7ED"/>
    </a:hlink>
    <a:folHlink>
      <a:srgbClr val="95E9F4"/>
    </a:folHlink>
  </a:clrScheme>
</a:themeOverride>
</file>

<file path=ppt/theme/themeOverride12.xml><?xml version="1.0" encoding="utf-8"?>
<a:themeOverride xmlns:a="http://schemas.openxmlformats.org/drawingml/2006/main">
  <a:clrScheme name="Berlin">
    <a:dk1>
      <a:sysClr val="windowText" lastClr="000000"/>
    </a:dk1>
    <a:lt1>
      <a:sysClr val="window" lastClr="FFFFFF"/>
    </a:lt1>
    <a:dk2>
      <a:srgbClr val="1F8094"/>
    </a:dk2>
    <a:lt2>
      <a:srgbClr val="E7E6E6"/>
    </a:lt2>
    <a:accent1>
      <a:srgbClr val="39CDE7"/>
    </a:accent1>
    <a:accent2>
      <a:srgbClr val="60DE72"/>
    </a:accent2>
    <a:accent3>
      <a:srgbClr val="DDCC64"/>
    </a:accent3>
    <a:accent4>
      <a:srgbClr val="F49D50"/>
    </a:accent4>
    <a:accent5>
      <a:srgbClr val="E44951"/>
    </a:accent5>
    <a:accent6>
      <a:srgbClr val="D666F9"/>
    </a:accent6>
    <a:hlink>
      <a:srgbClr val="4BF7ED"/>
    </a:hlink>
    <a:folHlink>
      <a:srgbClr val="95E9F4"/>
    </a:folHlink>
  </a:clrScheme>
</a:themeOverride>
</file>

<file path=ppt/theme/themeOverride13.xml><?xml version="1.0" encoding="utf-8"?>
<a:themeOverride xmlns:a="http://schemas.openxmlformats.org/drawingml/2006/main">
  <a:clrScheme name="Berlin">
    <a:dk1>
      <a:sysClr val="windowText" lastClr="000000"/>
    </a:dk1>
    <a:lt1>
      <a:sysClr val="window" lastClr="FFFFFF"/>
    </a:lt1>
    <a:dk2>
      <a:srgbClr val="1F8094"/>
    </a:dk2>
    <a:lt2>
      <a:srgbClr val="E7E6E6"/>
    </a:lt2>
    <a:accent1>
      <a:srgbClr val="39CDE7"/>
    </a:accent1>
    <a:accent2>
      <a:srgbClr val="60DE72"/>
    </a:accent2>
    <a:accent3>
      <a:srgbClr val="DDCC64"/>
    </a:accent3>
    <a:accent4>
      <a:srgbClr val="F49D50"/>
    </a:accent4>
    <a:accent5>
      <a:srgbClr val="E44951"/>
    </a:accent5>
    <a:accent6>
      <a:srgbClr val="D666F9"/>
    </a:accent6>
    <a:hlink>
      <a:srgbClr val="4BF7ED"/>
    </a:hlink>
    <a:folHlink>
      <a:srgbClr val="95E9F4"/>
    </a:folHlink>
  </a:clrScheme>
</a:themeOverride>
</file>

<file path=ppt/theme/themeOverride14.xml><?xml version="1.0" encoding="utf-8"?>
<a:themeOverride xmlns:a="http://schemas.openxmlformats.org/drawingml/2006/main">
  <a:clrScheme name="Berlin">
    <a:dk1>
      <a:sysClr val="windowText" lastClr="000000"/>
    </a:dk1>
    <a:lt1>
      <a:sysClr val="window" lastClr="FFFFFF"/>
    </a:lt1>
    <a:dk2>
      <a:srgbClr val="1F8094"/>
    </a:dk2>
    <a:lt2>
      <a:srgbClr val="E7E6E6"/>
    </a:lt2>
    <a:accent1>
      <a:srgbClr val="39CDE7"/>
    </a:accent1>
    <a:accent2>
      <a:srgbClr val="60DE72"/>
    </a:accent2>
    <a:accent3>
      <a:srgbClr val="DDCC64"/>
    </a:accent3>
    <a:accent4>
      <a:srgbClr val="F49D50"/>
    </a:accent4>
    <a:accent5>
      <a:srgbClr val="E44951"/>
    </a:accent5>
    <a:accent6>
      <a:srgbClr val="D666F9"/>
    </a:accent6>
    <a:hlink>
      <a:srgbClr val="4BF7ED"/>
    </a:hlink>
    <a:folHlink>
      <a:srgbClr val="95E9F4"/>
    </a:folHlink>
  </a:clrScheme>
</a:themeOverride>
</file>

<file path=ppt/theme/themeOverride15.xml><?xml version="1.0" encoding="utf-8"?>
<a:themeOverride xmlns:a="http://schemas.openxmlformats.org/drawingml/2006/main">
  <a:clrScheme name="Berlin">
    <a:dk1>
      <a:sysClr val="windowText" lastClr="000000"/>
    </a:dk1>
    <a:lt1>
      <a:sysClr val="window" lastClr="FFFFFF"/>
    </a:lt1>
    <a:dk2>
      <a:srgbClr val="1F8094"/>
    </a:dk2>
    <a:lt2>
      <a:srgbClr val="E7E6E6"/>
    </a:lt2>
    <a:accent1>
      <a:srgbClr val="39CDE7"/>
    </a:accent1>
    <a:accent2>
      <a:srgbClr val="60DE72"/>
    </a:accent2>
    <a:accent3>
      <a:srgbClr val="DDCC64"/>
    </a:accent3>
    <a:accent4>
      <a:srgbClr val="F49D50"/>
    </a:accent4>
    <a:accent5>
      <a:srgbClr val="E44951"/>
    </a:accent5>
    <a:accent6>
      <a:srgbClr val="D666F9"/>
    </a:accent6>
    <a:hlink>
      <a:srgbClr val="4BF7ED"/>
    </a:hlink>
    <a:folHlink>
      <a:srgbClr val="95E9F4"/>
    </a:folHlink>
  </a:clrScheme>
</a:themeOverride>
</file>

<file path=ppt/theme/themeOverride16.xml><?xml version="1.0" encoding="utf-8"?>
<a:themeOverride xmlns:a="http://schemas.openxmlformats.org/drawingml/2006/main">
  <a:clrScheme name="Berlin">
    <a:dk1>
      <a:sysClr val="windowText" lastClr="000000"/>
    </a:dk1>
    <a:lt1>
      <a:sysClr val="window" lastClr="FFFFFF"/>
    </a:lt1>
    <a:dk2>
      <a:srgbClr val="1F8094"/>
    </a:dk2>
    <a:lt2>
      <a:srgbClr val="E7E6E6"/>
    </a:lt2>
    <a:accent1>
      <a:srgbClr val="39CDE7"/>
    </a:accent1>
    <a:accent2>
      <a:srgbClr val="60DE72"/>
    </a:accent2>
    <a:accent3>
      <a:srgbClr val="DDCC64"/>
    </a:accent3>
    <a:accent4>
      <a:srgbClr val="F49D50"/>
    </a:accent4>
    <a:accent5>
      <a:srgbClr val="E44951"/>
    </a:accent5>
    <a:accent6>
      <a:srgbClr val="D666F9"/>
    </a:accent6>
    <a:hlink>
      <a:srgbClr val="4BF7ED"/>
    </a:hlink>
    <a:folHlink>
      <a:srgbClr val="95E9F4"/>
    </a:folHlink>
  </a:clrScheme>
</a:themeOverride>
</file>

<file path=ppt/theme/themeOverride17.xml><?xml version="1.0" encoding="utf-8"?>
<a:themeOverride xmlns:a="http://schemas.openxmlformats.org/drawingml/2006/main">
  <a:clrScheme name="Berlin">
    <a:dk1>
      <a:sysClr val="windowText" lastClr="000000"/>
    </a:dk1>
    <a:lt1>
      <a:sysClr val="window" lastClr="FFFFFF"/>
    </a:lt1>
    <a:dk2>
      <a:srgbClr val="1F8094"/>
    </a:dk2>
    <a:lt2>
      <a:srgbClr val="E7E6E6"/>
    </a:lt2>
    <a:accent1>
      <a:srgbClr val="39CDE7"/>
    </a:accent1>
    <a:accent2>
      <a:srgbClr val="60DE72"/>
    </a:accent2>
    <a:accent3>
      <a:srgbClr val="DDCC64"/>
    </a:accent3>
    <a:accent4>
      <a:srgbClr val="F49D50"/>
    </a:accent4>
    <a:accent5>
      <a:srgbClr val="E44951"/>
    </a:accent5>
    <a:accent6>
      <a:srgbClr val="D666F9"/>
    </a:accent6>
    <a:hlink>
      <a:srgbClr val="4BF7ED"/>
    </a:hlink>
    <a:folHlink>
      <a:srgbClr val="95E9F4"/>
    </a:folHlink>
  </a:clrScheme>
</a:themeOverride>
</file>

<file path=ppt/theme/themeOverride18.xml><?xml version="1.0" encoding="utf-8"?>
<a:themeOverride xmlns:a="http://schemas.openxmlformats.org/drawingml/2006/main">
  <a:clrScheme name="Berlin">
    <a:dk1>
      <a:sysClr val="windowText" lastClr="000000"/>
    </a:dk1>
    <a:lt1>
      <a:sysClr val="window" lastClr="FFFFFF"/>
    </a:lt1>
    <a:dk2>
      <a:srgbClr val="1F8094"/>
    </a:dk2>
    <a:lt2>
      <a:srgbClr val="E7E6E6"/>
    </a:lt2>
    <a:accent1>
      <a:srgbClr val="39CDE7"/>
    </a:accent1>
    <a:accent2>
      <a:srgbClr val="60DE72"/>
    </a:accent2>
    <a:accent3>
      <a:srgbClr val="DDCC64"/>
    </a:accent3>
    <a:accent4>
      <a:srgbClr val="F49D50"/>
    </a:accent4>
    <a:accent5>
      <a:srgbClr val="E44951"/>
    </a:accent5>
    <a:accent6>
      <a:srgbClr val="D666F9"/>
    </a:accent6>
    <a:hlink>
      <a:srgbClr val="4BF7ED"/>
    </a:hlink>
    <a:folHlink>
      <a:srgbClr val="95E9F4"/>
    </a:folHlink>
  </a:clrScheme>
</a:themeOverride>
</file>

<file path=ppt/theme/themeOverride19.xml><?xml version="1.0" encoding="utf-8"?>
<a:themeOverride xmlns:a="http://schemas.openxmlformats.org/drawingml/2006/main">
  <a:clrScheme name="Berlin">
    <a:dk1>
      <a:sysClr val="windowText" lastClr="000000"/>
    </a:dk1>
    <a:lt1>
      <a:sysClr val="window" lastClr="FFFFFF"/>
    </a:lt1>
    <a:dk2>
      <a:srgbClr val="1F8094"/>
    </a:dk2>
    <a:lt2>
      <a:srgbClr val="E7E6E6"/>
    </a:lt2>
    <a:accent1>
      <a:srgbClr val="39CDE7"/>
    </a:accent1>
    <a:accent2>
      <a:srgbClr val="60DE72"/>
    </a:accent2>
    <a:accent3>
      <a:srgbClr val="DDCC64"/>
    </a:accent3>
    <a:accent4>
      <a:srgbClr val="F49D50"/>
    </a:accent4>
    <a:accent5>
      <a:srgbClr val="E44951"/>
    </a:accent5>
    <a:accent6>
      <a:srgbClr val="D666F9"/>
    </a:accent6>
    <a:hlink>
      <a:srgbClr val="4BF7ED"/>
    </a:hlink>
    <a:folHlink>
      <a:srgbClr val="95E9F4"/>
    </a:folHlink>
  </a:clrScheme>
</a:themeOverride>
</file>

<file path=ppt/theme/themeOverride20.xml><?xml version="1.0" encoding="utf-8"?>
<a:themeOverride xmlns:a="http://schemas.openxmlformats.org/drawingml/2006/main">
  <a:clrScheme name="Berlin">
    <a:dk1>
      <a:sysClr val="windowText" lastClr="000000"/>
    </a:dk1>
    <a:lt1>
      <a:sysClr val="window" lastClr="FFFFFF"/>
    </a:lt1>
    <a:dk2>
      <a:srgbClr val="1F8094"/>
    </a:dk2>
    <a:lt2>
      <a:srgbClr val="E7E6E6"/>
    </a:lt2>
    <a:accent1>
      <a:srgbClr val="39CDE7"/>
    </a:accent1>
    <a:accent2>
      <a:srgbClr val="60DE72"/>
    </a:accent2>
    <a:accent3>
      <a:srgbClr val="DDCC64"/>
    </a:accent3>
    <a:accent4>
      <a:srgbClr val="F49D50"/>
    </a:accent4>
    <a:accent5>
      <a:srgbClr val="E44951"/>
    </a:accent5>
    <a:accent6>
      <a:srgbClr val="D666F9"/>
    </a:accent6>
    <a:hlink>
      <a:srgbClr val="4BF7ED"/>
    </a:hlink>
    <a:folHlink>
      <a:srgbClr val="95E9F4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1781</TotalTime>
  <Words>933</Words>
  <Application>Microsoft Macintosh PowerPoint</Application>
  <PresentationFormat>On-screen Show (4:3)</PresentationFormat>
  <Paragraphs>212</Paragraphs>
  <Slides>20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9" baseType="lpstr">
      <vt:lpstr>Arial</vt:lpstr>
      <vt:lpstr>Arial Black</vt:lpstr>
      <vt:lpstr>Lucida Sans Typewriter</vt:lpstr>
      <vt:lpstr>Monotype Sorts</vt:lpstr>
      <vt:lpstr>Tahoma</vt:lpstr>
      <vt:lpstr>Times New Roman</vt:lpstr>
      <vt:lpstr>Trebuchet MS</vt:lpstr>
      <vt:lpstr>Wingdings</vt:lpstr>
      <vt:lpstr>Berlin</vt:lpstr>
      <vt:lpstr>PowerPoint Presentation</vt:lpstr>
      <vt:lpstr>Introduction to GHC (Glasgow Haskell Compiler)</vt:lpstr>
      <vt:lpstr>Starting with GHCi</vt:lpstr>
      <vt:lpstr>PowerPoint Presentation</vt:lpstr>
      <vt:lpstr>The Standard Prelude</vt:lpstr>
      <vt:lpstr>The Standard Prelude</vt:lpstr>
      <vt:lpstr>The Standard Prelude</vt:lpstr>
      <vt:lpstr>The Standard Prelude</vt:lpstr>
      <vt:lpstr>Function Application in Haskell</vt:lpstr>
      <vt:lpstr>Function Application in Haskell</vt:lpstr>
      <vt:lpstr>Examples</vt:lpstr>
      <vt:lpstr>Haskell Scripts</vt:lpstr>
      <vt:lpstr>PowerPoint Presentation</vt:lpstr>
      <vt:lpstr>PowerPoint Presentation</vt:lpstr>
      <vt:lpstr>Naming Requirements</vt:lpstr>
      <vt:lpstr>Comments in Haskell </vt:lpstr>
      <vt:lpstr>Comments in Haskell - Syntax</vt:lpstr>
      <vt:lpstr>The Layout Rule</vt:lpstr>
      <vt:lpstr>The Layout Rule</vt:lpstr>
      <vt:lpstr>Recap</vt:lpstr>
    </vt:vector>
  </TitlesOfParts>
  <Company>University of Nottingham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Functional Programming</dc:title>
  <dc:creator>Dr. Graham Hutton</dc:creator>
  <cp:lastModifiedBy>Mairead Meagher</cp:lastModifiedBy>
  <cp:revision>204</cp:revision>
  <cp:lastPrinted>2001-01-05T12:55:38Z</cp:lastPrinted>
  <dcterms:created xsi:type="dcterms:W3CDTF">2016-01-07T10:43:40Z</dcterms:created>
  <dcterms:modified xsi:type="dcterms:W3CDTF">2025-01-20T03:28:10Z</dcterms:modified>
</cp:coreProperties>
</file>