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ppt/theme/themeOverride13.xml" ContentType="application/vnd.openxmlformats-officedocument.themeOverride+xml"/>
  <Override PartName="/ppt/theme/themeOverride14.xml" ContentType="application/vnd.openxmlformats-officedocument.themeOverride+xml"/>
  <Override PartName="/ppt/theme/themeOverride15.xml" ContentType="application/vnd.openxmlformats-officedocument.themeOverride+xml"/>
  <Override PartName="/ppt/theme/themeOverride16.xml" ContentType="application/vnd.openxmlformats-officedocument.themeOverride+xml"/>
  <Override PartName="/ppt/notesSlides/notesSlide1.xml" ContentType="application/vnd.openxmlformats-officedocument.presentationml.notesSlide+xml"/>
  <Override PartName="/ppt/theme/themeOverride17.xml" ContentType="application/vnd.openxmlformats-officedocument.themeOverride+xml"/>
  <Override PartName="/ppt/theme/themeOverride18.xml" ContentType="application/vnd.openxmlformats-officedocument.themeOverride+xml"/>
  <Override PartName="/ppt/theme/themeOverride19.xml" ContentType="application/vnd.openxmlformats-officedocument.themeOverride+xml"/>
  <Override PartName="/ppt/theme/themeOverride20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729" r:id="rId1"/>
  </p:sldMasterIdLst>
  <p:notesMasterIdLst>
    <p:notesMasterId r:id="rId23"/>
  </p:notesMasterIdLst>
  <p:handoutMasterIdLst>
    <p:handoutMasterId r:id="rId24"/>
  </p:handoutMasterIdLst>
  <p:sldIdLst>
    <p:sldId id="308" r:id="rId2"/>
    <p:sldId id="278" r:id="rId3"/>
    <p:sldId id="307" r:id="rId4"/>
    <p:sldId id="281" r:id="rId5"/>
    <p:sldId id="284" r:id="rId6"/>
    <p:sldId id="312" r:id="rId7"/>
    <p:sldId id="313" r:id="rId8"/>
    <p:sldId id="314" r:id="rId9"/>
    <p:sldId id="288" r:id="rId10"/>
    <p:sldId id="290" r:id="rId11"/>
    <p:sldId id="291" r:id="rId12"/>
    <p:sldId id="293" r:id="rId13"/>
    <p:sldId id="296" r:id="rId14"/>
    <p:sldId id="297" r:id="rId15"/>
    <p:sldId id="300" r:id="rId16"/>
    <p:sldId id="309" r:id="rId17"/>
    <p:sldId id="310" r:id="rId18"/>
    <p:sldId id="301" r:id="rId19"/>
    <p:sldId id="315" r:id="rId20"/>
    <p:sldId id="316" r:id="rId21"/>
    <p:sldId id="317" r:id="rId22"/>
  </p:sldIdLst>
  <p:sldSz cx="9144000" cy="6858000" type="screen4x3"/>
  <p:notesSz cx="7089775" cy="10218738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8000"/>
    <a:srgbClr val="FF0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724"/>
    <p:restoredTop sz="94712"/>
  </p:normalViewPr>
  <p:slideViewPr>
    <p:cSldViewPr snapToGrid="0">
      <p:cViewPr varScale="1">
        <p:scale>
          <a:sx n="77" d="100"/>
          <a:sy n="77" d="100"/>
        </p:scale>
        <p:origin x="176" y="61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050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2051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2052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2053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>
              <a:defRPr sz="1300"/>
            </a:lvl1pPr>
          </a:lstStyle>
          <a:p>
            <a:pPr>
              <a:defRPr/>
            </a:pPr>
            <a:fld id="{F74290DC-920F-4F4F-928D-D9E78B96216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5754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050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2051"/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2052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041400" y="762000"/>
            <a:ext cx="5080000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92165" name="Rectangle 2053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205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205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13514E8C-AAE0-5645-8347-9C02EFD9C06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17234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.haskell.org/Commenting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see </a:t>
            </a:r>
            <a:r>
              <a:rPr lang="en-IE" dirty="0">
                <a:hlinkClick r:id="rId3"/>
              </a:rPr>
              <a:t>https://wiki.haskell.org/Commenting</a:t>
            </a:r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3514E8C-AAE0-5645-8347-9C02EFD9C06A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800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6726063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787" y="4243845"/>
            <a:ext cx="2307831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6726064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6833787" y="2590078"/>
            <a:ext cx="2307832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0241" y="2733709"/>
            <a:ext cx="6108101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0241" y="4394040"/>
            <a:ext cx="6108101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8746E87-F5CB-2947-9C43-6AD4847B896A}" type="datetime1">
              <a:rPr lang="en-US" altLang="en-US" smtClean="0"/>
              <a:pPr>
                <a:defRPr/>
              </a:pPr>
              <a:t>1/21/26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941510" y="2750337"/>
            <a:ext cx="878916" cy="1356442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030620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AD947AD-825A-F146-BBF9-54EA2008604E}" type="datetime1">
              <a:rPr lang="en-US" altLang="en-US" smtClean="0"/>
              <a:pPr>
                <a:defRPr/>
              </a:pPr>
              <a:t>1/21/26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137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7828359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68" y="4087901"/>
            <a:ext cx="1202248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69" y="2726267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2869895"/>
            <a:ext cx="7210395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4232172"/>
            <a:ext cx="7210395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5C0D36E-8206-564B-B2A1-1AAB2B32758F}" type="datetime1">
              <a:rPr lang="en-US" altLang="en-US" smtClean="0"/>
              <a:pPr>
                <a:defRPr/>
              </a:pPr>
              <a:t>1/21/26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47092" y="2869896"/>
            <a:ext cx="865613" cy="1090789"/>
          </a:xfrm>
        </p:spPr>
        <p:txBody>
          <a:bodyPr/>
          <a:lstStyle/>
          <a:p>
            <a:pPr>
              <a:defRPr/>
            </a:pPr>
            <a:fld id="{08AC770D-4187-B643-B651-7C2396F259F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181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0240" y="2336873"/>
            <a:ext cx="352376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95592" y="2336873"/>
            <a:ext cx="3525044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708CC03-50C4-124F-9CF3-D3293E51A4B6}" type="datetime1">
              <a:rPr lang="en-US" altLang="en-US" smtClean="0"/>
              <a:pPr>
                <a:defRPr/>
              </a:pPr>
              <a:t>1/21/26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3A3F454-4803-BE4E-A4C9-D0AB6CC2A0C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49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0" y="753230"/>
            <a:ext cx="7210397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9763" y="2336874"/>
            <a:ext cx="3354245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0242" y="3030009"/>
            <a:ext cx="3523766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5116" y="2336873"/>
            <a:ext cx="3355521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195593" y="3030009"/>
            <a:ext cx="3525044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33325FF-0F5B-BB49-B69C-EFCF2084E94A}" type="datetime1">
              <a:rPr lang="en-US" altLang="en-US" smtClean="0"/>
              <a:pPr>
                <a:defRPr/>
              </a:pPr>
              <a:t>1/21/26</a:t>
            </a:fld>
            <a:endParaRPr lang="en-US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C1125D7-0927-D54A-8169-F3C5D05E93D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498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16967E3-DF49-4044-89F4-CE2764162D95}" type="datetime1">
              <a:rPr lang="en-US" altLang="en-US" smtClean="0"/>
              <a:pPr>
                <a:defRPr/>
              </a:pPr>
              <a:t>1/21/26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52FD39C-9ADB-C245-9503-846EF8BEFA4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830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AE39BF-D60A-6D45-9C6C-9CCC6328517E}" type="datetime1">
              <a:rPr lang="en-US" altLang="en-US" smtClean="0"/>
              <a:pPr>
                <a:defRPr/>
              </a:pPr>
              <a:t>1/21/26</a:t>
            </a:fld>
            <a:endParaRPr lang="en-US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DF41AF7-5567-D741-8F34-DE634B40BB0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532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753227"/>
            <a:ext cx="7210394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14385" y="2336874"/>
            <a:ext cx="4206252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1" y="2336873"/>
            <a:ext cx="284255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6A9CC54-BBB1-5C4A-838D-AB744647544A}" type="datetime1">
              <a:rPr lang="en-US" altLang="en-US" smtClean="0"/>
              <a:pPr>
                <a:defRPr/>
              </a:pPr>
              <a:t>1/21/26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DF441E4-FAB9-C646-A3CA-EB59A4BA241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08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753228"/>
            <a:ext cx="7210393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651250" y="2336874"/>
            <a:ext cx="4069387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2336874"/>
            <a:ext cx="2907192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1187542-FDF5-5246-AB78-5770354305AE}" type="datetime1">
              <a:rPr lang="en-US" altLang="en-US" smtClean="0"/>
              <a:pPr>
                <a:defRPr/>
              </a:pPr>
              <a:t>1/21/26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8A40A2D-3EAF-8C40-9E51-E3D1278D108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4470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4711617"/>
            <a:ext cx="7210394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0242" y="609598"/>
            <a:ext cx="7210394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39" y="5169584"/>
            <a:ext cx="7210397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1/21/26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11310"/>
            <a:ext cx="865613" cy="1090789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64346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609597"/>
            <a:ext cx="7210394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4711616"/>
            <a:ext cx="7210394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1/21/26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11616"/>
            <a:ext cx="865613" cy="1090789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278702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92" y="609598"/>
            <a:ext cx="6539158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051717" y="3653379"/>
            <a:ext cx="6117434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4711616"/>
            <a:ext cx="7210394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1/21/26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09926"/>
            <a:ext cx="865613" cy="1090789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37679" y="748116"/>
            <a:ext cx="4572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7107" y="3033524"/>
            <a:ext cx="4572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81905621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39" y="4711616"/>
            <a:ext cx="7210397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0" y="5300150"/>
            <a:ext cx="7210397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1/21/26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09926"/>
            <a:ext cx="865613" cy="1090789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670875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01916" y="753228"/>
            <a:ext cx="721872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495709" y="2336873"/>
            <a:ext cx="2302526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0241" y="3022674"/>
            <a:ext cx="2287277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67019" y="2336873"/>
            <a:ext cx="229743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59103" y="3022674"/>
            <a:ext cx="229743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18117" y="2336873"/>
            <a:ext cx="2302519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418117" y="3022674"/>
            <a:ext cx="2302519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1/21/26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633591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10241" y="753228"/>
            <a:ext cx="7210395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0239" y="4297503"/>
            <a:ext cx="2287279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0239" y="2336873"/>
            <a:ext cx="2287279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0239" y="4873765"/>
            <a:ext cx="2287279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59103" y="4297503"/>
            <a:ext cx="229743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59103" y="2336873"/>
            <a:ext cx="229743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58088" y="4873764"/>
            <a:ext cx="230047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23009" y="4297503"/>
            <a:ext cx="2297629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423008" y="2336873"/>
            <a:ext cx="2297629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422915" y="4873762"/>
            <a:ext cx="2300672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1/21/26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218522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590BA56-BDCD-C643-80CF-58841B686DE9}" type="datetime1">
              <a:rPr lang="en-US" altLang="en-US" smtClean="0"/>
              <a:pPr>
                <a:defRPr/>
              </a:pPr>
              <a:t>1/21/26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B9C0C35-3D7C-B541-A38B-FDC2B086A02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3888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5448782" y="2040420"/>
            <a:ext cx="5106988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7200777" y="5543428"/>
            <a:ext cx="1602997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96923" y="609597"/>
            <a:ext cx="805352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241" y="609598"/>
            <a:ext cx="6652503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05344" y="5936188"/>
            <a:ext cx="2057400" cy="365125"/>
          </a:xfrm>
        </p:spPr>
        <p:txBody>
          <a:bodyPr/>
          <a:lstStyle/>
          <a:p>
            <a:pPr>
              <a:defRPr/>
            </a:pPr>
            <a:fld id="{812B3317-FDA4-6C49-B281-E0300FE30B29}" type="datetime1">
              <a:rPr lang="en-US" altLang="en-US" smtClean="0"/>
              <a:pPr>
                <a:defRPr/>
              </a:pPr>
              <a:t>1/21/26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0241" y="5936189"/>
            <a:ext cx="4595104" cy="365125"/>
          </a:xfrm>
        </p:spPr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573163" y="5398634"/>
            <a:ext cx="865613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8771FEFC-E74C-F640-BE0B-37559422D83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0531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0241" y="753228"/>
            <a:ext cx="7210396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2336873"/>
            <a:ext cx="7210396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3236" y="5936188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1/21/26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0241" y="5936189"/>
            <a:ext cx="51529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47092" y="753228"/>
            <a:ext cx="865613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9250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1" r:id="rId12"/>
    <p:sldLayoutId id="2147483742" r:id="rId13"/>
    <p:sldLayoutId id="2147483743" r:id="rId14"/>
    <p:sldLayoutId id="2147483744" r:id="rId15"/>
    <p:sldLayoutId id="2147483745" r:id="rId16"/>
    <p:sldLayoutId id="2147483746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6.xml"/><Relationship Id="rId4" Type="http://schemas.openxmlformats.org/officeDocument/2006/relationships/hyperlink" Target="https://wiki.haskell.org/Commenting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E08685F-6324-1642-88D7-16A6D01BA5BE}" type="slidenum">
              <a:rPr lang="en-US" sz="1400"/>
              <a:pPr/>
              <a:t>0</a:t>
            </a:fld>
            <a:endParaRPr lang="en-US" sz="1400"/>
          </a:p>
        </p:txBody>
      </p:sp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115888" y="1001713"/>
            <a:ext cx="8910637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3600" b="1">
                <a:solidFill>
                  <a:schemeClr val="tx2"/>
                </a:solidFill>
                <a:latin typeface="Arial Black" charset="0"/>
              </a:rPr>
              <a:t>PROGRAMMING IN HASKELL</a:t>
            </a:r>
          </a:p>
        </p:txBody>
      </p:sp>
      <p:sp>
        <p:nvSpPr>
          <p:cNvPr id="15363" name="Rectangle 3"/>
          <p:cNvSpPr>
            <a:spLocks noChangeArrowheads="1"/>
          </p:cNvSpPr>
          <p:nvPr/>
        </p:nvSpPr>
        <p:spPr bwMode="auto">
          <a:xfrm>
            <a:off x="176213" y="5164137"/>
            <a:ext cx="8791575" cy="9848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r>
              <a:rPr kumimoji="1" lang="en-US" sz="3200" dirty="0"/>
              <a:t>Chapter 2 - First Steps</a:t>
            </a:r>
          </a:p>
          <a:p>
            <a:pPr algn="ctr"/>
            <a:r>
              <a:rPr kumimoji="1" lang="en-US" sz="2000" dirty="0"/>
              <a:t>Based on “Programming in Haskell” by Graham Hutton</a:t>
            </a:r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1188" y="24003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31295" y="873294"/>
            <a:ext cx="7772400" cy="970723"/>
          </a:xfrm>
        </p:spPr>
        <p:txBody>
          <a:bodyPr>
            <a:normAutofit/>
          </a:bodyPr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Introduction to GHC (Glasgow Haskell Compiler)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>
          <a:xfrm>
            <a:off x="665922" y="2464904"/>
            <a:ext cx="6039678" cy="455874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IE" b="1" dirty="0"/>
              <a:t>What is GHC?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E" dirty="0"/>
              <a:t>The leading implementation of Haskell, comprising a compiler and interpreter.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E" dirty="0"/>
              <a:t>Interactive interpreter (</a:t>
            </a:r>
            <a:r>
              <a:rPr lang="en-IE" i="1" dirty="0" err="1"/>
              <a:t>GHCi</a:t>
            </a:r>
            <a:r>
              <a:rPr lang="en-IE" dirty="0"/>
              <a:t>) suitable for teaching, prototyping, and testing.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b="1" dirty="0"/>
              <a:t>Availability</a:t>
            </a:r>
            <a:r>
              <a:rPr lang="en-IE" dirty="0"/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E" dirty="0"/>
              <a:t>Freely available at </a:t>
            </a:r>
            <a:r>
              <a:rPr lang="en-IE" dirty="0" err="1"/>
              <a:t>www.haskell.org</a:t>
            </a:r>
            <a:endParaRPr lang="en-IE" dirty="0"/>
          </a:p>
        </p:txBody>
      </p:sp>
      <p:sp>
        <p:nvSpPr>
          <p:cNvPr id="16385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35990BC-941F-5B40-AA99-85A5C70022F6}" type="slidenum">
              <a:rPr lang="en-US" sz="1400"/>
              <a:pPr/>
              <a:t>1</a:t>
            </a:fld>
            <a:endParaRPr lang="en-US" sz="14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F735956-41F2-EDB5-D0E8-46B906ACBB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6300" y="5712790"/>
            <a:ext cx="5575300" cy="965200"/>
          </a:xfrm>
          <a:prstGeom prst="rect">
            <a:avLst/>
          </a:prstGeom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Starting with </a:t>
            </a:r>
            <a:r>
              <a:rPr lang="en-US" dirty="0" err="1">
                <a:latin typeface="Arial Black" charset="0"/>
                <a:ea typeface="ＭＳ Ｐゴシック" charset="0"/>
                <a:cs typeface="ＭＳ Ｐゴシック" charset="0"/>
              </a:rPr>
              <a:t>GHCi</a:t>
            </a:r>
            <a:endParaRPr lang="en-US" dirty="0"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09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7F8A67C0-1329-EC4D-AAE7-7810FC8CE882}" type="slidenum">
              <a:rPr lang="en-US" sz="1400"/>
              <a:pPr/>
              <a:t>2</a:t>
            </a:fld>
            <a:endParaRPr lang="en-US" sz="1400"/>
          </a:p>
        </p:txBody>
      </p:sp>
      <p:sp>
        <p:nvSpPr>
          <p:cNvPr id="17411" name="Text Box 3"/>
          <p:cNvSpPr txBox="1">
            <a:spLocks noChangeArrowheads="1"/>
          </p:cNvSpPr>
          <p:nvPr/>
        </p:nvSpPr>
        <p:spPr bwMode="auto">
          <a:xfrm>
            <a:off x="668337" y="2864331"/>
            <a:ext cx="7688263" cy="160496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Bef>
                <a:spcPts val="400"/>
              </a:spcBef>
            </a:pPr>
            <a:r>
              <a:rPr lang="en-US" sz="1700" dirty="0">
                <a:latin typeface="Lucida Sans Typewriter" charset="0"/>
              </a:rPr>
              <a:t>$ </a:t>
            </a:r>
            <a:r>
              <a:rPr lang="en-US" sz="1700" dirty="0" err="1">
                <a:latin typeface="Lucida Sans Typewriter" charset="0"/>
              </a:rPr>
              <a:t>ghci</a:t>
            </a:r>
            <a:endParaRPr lang="en-US" sz="1700" dirty="0">
              <a:latin typeface="Lucida Sans Typewriter" charset="0"/>
            </a:endParaRPr>
          </a:p>
          <a:p>
            <a:pPr>
              <a:spcBef>
                <a:spcPts val="400"/>
              </a:spcBef>
            </a:pPr>
            <a:endParaRPr lang="en-US" sz="1700" dirty="0">
              <a:latin typeface="Lucida Sans Typewriter" charset="0"/>
            </a:endParaRPr>
          </a:p>
          <a:p>
            <a:pPr>
              <a:spcBef>
                <a:spcPts val="400"/>
              </a:spcBef>
            </a:pPr>
            <a:r>
              <a:rPr lang="en-US" sz="1700" dirty="0" err="1">
                <a:latin typeface="Lucida Sans Typewriter" charset="0"/>
              </a:rPr>
              <a:t>GHCi</a:t>
            </a:r>
            <a:r>
              <a:rPr lang="en-US" sz="1700" dirty="0">
                <a:latin typeface="Lucida Sans Typewriter" charset="0"/>
              </a:rPr>
              <a:t>, version X: http://</a:t>
            </a:r>
            <a:r>
              <a:rPr lang="en-US" sz="1700" dirty="0" err="1">
                <a:latin typeface="Lucida Sans Typewriter" charset="0"/>
              </a:rPr>
              <a:t>www.haskell.org</a:t>
            </a:r>
            <a:r>
              <a:rPr lang="en-US" sz="1700" dirty="0">
                <a:latin typeface="Lucida Sans Typewriter" charset="0"/>
              </a:rPr>
              <a:t>/</a:t>
            </a:r>
            <a:r>
              <a:rPr lang="en-US" sz="1700" dirty="0" err="1">
                <a:latin typeface="Lucida Sans Typewriter" charset="0"/>
              </a:rPr>
              <a:t>ghc</a:t>
            </a:r>
            <a:r>
              <a:rPr lang="en-US" sz="1700" dirty="0">
                <a:latin typeface="Lucida Sans Typewriter" charset="0"/>
              </a:rPr>
              <a:t>/  :? for help</a:t>
            </a:r>
          </a:p>
          <a:p>
            <a:pPr>
              <a:spcBef>
                <a:spcPts val="400"/>
              </a:spcBef>
            </a:pPr>
            <a:endParaRPr lang="en-US" sz="1700" dirty="0">
              <a:latin typeface="Lucida Sans Typewriter" charset="0"/>
            </a:endParaRPr>
          </a:p>
          <a:p>
            <a:pPr>
              <a:spcBef>
                <a:spcPts val="400"/>
              </a:spcBef>
            </a:pPr>
            <a:r>
              <a:rPr lang="en-US" sz="1700" dirty="0" err="1">
                <a:latin typeface="Lucida Sans Typewriter" charset="0"/>
              </a:rPr>
              <a:t>ghci</a:t>
            </a:r>
            <a:r>
              <a:rPr lang="en-US" sz="1700" dirty="0">
                <a:latin typeface="Lucida Sans Typewriter" charset="0"/>
              </a:rPr>
              <a:t>&gt; </a:t>
            </a:r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404812" y="2049600"/>
            <a:ext cx="833437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 How to start </a:t>
            </a:r>
          </a:p>
        </p:txBody>
      </p:sp>
      <p:sp>
        <p:nvSpPr>
          <p:cNvPr id="17413" name="Rectangle 5"/>
          <p:cNvSpPr>
            <a:spLocks noChangeArrowheads="1"/>
          </p:cNvSpPr>
          <p:nvPr/>
        </p:nvSpPr>
        <p:spPr bwMode="auto">
          <a:xfrm>
            <a:off x="668337" y="4469294"/>
            <a:ext cx="8018463" cy="954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en-IE" dirty="0" err="1"/>
              <a:t>GHCi</a:t>
            </a:r>
            <a:r>
              <a:rPr lang="en-IE" dirty="0"/>
              <a:t> prompt (</a:t>
            </a:r>
            <a:r>
              <a:rPr lang="en-IE" b="1" i="1" dirty="0" err="1"/>
              <a:t>ghci</a:t>
            </a:r>
            <a:r>
              <a:rPr lang="en-IE" b="1" i="1" dirty="0"/>
              <a:t>&gt;</a:t>
            </a:r>
            <a:r>
              <a:rPr lang="en-IE" dirty="0"/>
              <a:t>) indicates the interpreter is ready for expressions</a:t>
            </a:r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4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4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4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74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animBg="1"/>
      <p:bldP spid="1741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8B47B8C8-9379-7647-8785-297B65A0FF90}" type="slidenum">
              <a:rPr lang="en-US" sz="1400"/>
              <a:pPr/>
              <a:t>3</a:t>
            </a:fld>
            <a:endParaRPr lang="en-US" sz="1400"/>
          </a:p>
        </p:txBody>
      </p:sp>
      <p:sp>
        <p:nvSpPr>
          <p:cNvPr id="18434" name="Text Box 2"/>
          <p:cNvSpPr txBox="1">
            <a:spLocks noChangeArrowheads="1"/>
          </p:cNvSpPr>
          <p:nvPr/>
        </p:nvSpPr>
        <p:spPr bwMode="auto">
          <a:xfrm>
            <a:off x="749300" y="667434"/>
            <a:ext cx="76327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kumimoji="1" lang="en-US" sz="3600" dirty="0">
                <a:solidFill>
                  <a:schemeClr val="tx2"/>
                </a:solidFill>
                <a:latin typeface="Arial Black" charset="0"/>
              </a:rPr>
              <a:t>Starting with </a:t>
            </a:r>
            <a:r>
              <a:rPr kumimoji="1" lang="en-US" sz="3600" dirty="0" err="1">
                <a:solidFill>
                  <a:schemeClr val="tx2"/>
                </a:solidFill>
                <a:latin typeface="Arial Black" charset="0"/>
              </a:rPr>
              <a:t>GHCi</a:t>
            </a:r>
            <a:endParaRPr kumimoji="1" lang="en-US" sz="3600" dirty="0">
              <a:solidFill>
                <a:schemeClr val="tx2"/>
              </a:solidFill>
              <a:latin typeface="Arial Black" charset="0"/>
            </a:endParaRPr>
          </a:p>
        </p:txBody>
      </p:sp>
      <p:sp>
        <p:nvSpPr>
          <p:cNvPr id="18435" name="Text Box 3"/>
          <p:cNvSpPr txBox="1">
            <a:spLocks noChangeArrowheads="1"/>
          </p:cNvSpPr>
          <p:nvPr/>
        </p:nvSpPr>
        <p:spPr bwMode="auto">
          <a:xfrm>
            <a:off x="904817" y="2399792"/>
            <a:ext cx="4833374" cy="224676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&gt; 2 + 3 * 4    -- 14</a:t>
            </a:r>
          </a:p>
          <a:p>
            <a:pPr>
              <a:spcAft>
                <a:spcPts val="600"/>
              </a:spcAft>
            </a:pPr>
            <a:endParaRPr lang="en-US" sz="2400" dirty="0">
              <a:latin typeface="Lucida Sans Typewriter" charset="0"/>
            </a:endParaRPr>
          </a:p>
          <a:p>
            <a:pPr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&gt; (2 + 3) * 4  -- 20</a:t>
            </a:r>
          </a:p>
          <a:p>
            <a:pPr>
              <a:spcAft>
                <a:spcPts val="600"/>
              </a:spcAft>
            </a:pPr>
            <a:endParaRPr lang="en-US" sz="2400" dirty="0">
              <a:latin typeface="Lucida Sans Typewriter" charset="0"/>
            </a:endParaRPr>
          </a:p>
          <a:p>
            <a:pPr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&gt; sqrt (3^2 + 4^2) -- 5.0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941E66A-8D5D-7C39-E9CA-B858F2BDC3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6691" y="5105400"/>
            <a:ext cx="6223000" cy="1295400"/>
          </a:xfrm>
          <a:prstGeom prst="rect">
            <a:avLst/>
          </a:prstGeom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The Standard Prelude</a:t>
            </a:r>
          </a:p>
        </p:txBody>
      </p:sp>
      <p:sp>
        <p:nvSpPr>
          <p:cNvPr id="1945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ADA19D7A-0922-5844-9E78-B2F290CA9868}" type="slidenum">
              <a:rPr lang="en-US" sz="1400"/>
              <a:pPr/>
              <a:t>4</a:t>
            </a:fld>
            <a:endParaRPr lang="en-US" sz="1400"/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383249" y="1933942"/>
            <a:ext cx="7967663" cy="48320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en-IE" dirty="0"/>
              <a:t>Library Overview: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E" dirty="0"/>
              <a:t> Haskell includes many built-in functions for lists and numbers.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b="1" dirty="0"/>
              <a:t>Examples</a:t>
            </a:r>
            <a:r>
              <a:rPr lang="en-IE" dirty="0"/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E" dirty="0"/>
              <a:t>Select the first element: </a:t>
            </a:r>
          </a:p>
          <a:p>
            <a:pPr>
              <a:buFont typeface="Arial" panose="020B0604020202020204" pitchFamily="34" charset="0"/>
              <a:buChar char="•"/>
            </a:pPr>
            <a:endParaRPr lang="en-IE" dirty="0"/>
          </a:p>
          <a:p>
            <a:pPr>
              <a:buFont typeface="Arial" panose="020B0604020202020204" pitchFamily="34" charset="0"/>
              <a:buChar char="•"/>
            </a:pPr>
            <a:endParaRPr lang="en-IE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IE" dirty="0"/>
              <a:t>Remove the first element: </a:t>
            </a:r>
          </a:p>
          <a:p>
            <a:pPr>
              <a:buFont typeface="Arial" panose="020B0604020202020204" pitchFamily="34" charset="0"/>
              <a:buChar char="•"/>
            </a:pPr>
            <a:endParaRPr lang="en-IE" dirty="0"/>
          </a:p>
          <a:p>
            <a:pPr>
              <a:buFont typeface="Arial" panose="020B0604020202020204" pitchFamily="34" charset="0"/>
              <a:buChar char="•"/>
            </a:pPr>
            <a:endParaRPr lang="en-IE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IE" dirty="0"/>
              <a:t>Sum of a list:</a:t>
            </a:r>
            <a:r>
              <a:rPr lang="en-US" dirty="0"/>
              <a:t>.</a:t>
            </a:r>
          </a:p>
        </p:txBody>
      </p:sp>
      <p:sp>
        <p:nvSpPr>
          <p:cNvPr id="19461" name="Text Box 5"/>
          <p:cNvSpPr txBox="1">
            <a:spLocks noChangeArrowheads="1"/>
          </p:cNvSpPr>
          <p:nvPr/>
        </p:nvSpPr>
        <p:spPr bwMode="auto">
          <a:xfrm>
            <a:off x="5490386" y="3545664"/>
            <a:ext cx="3345788" cy="83099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&gt;head [1,2,3,4,5]</a:t>
            </a:r>
          </a:p>
          <a:p>
            <a:r>
              <a:rPr lang="en-US" sz="2400" dirty="0">
                <a:latin typeface="Lucida Sans Typewriter" charset="0"/>
              </a:rPr>
              <a:t>&gt; 1</a:t>
            </a:r>
          </a:p>
        </p:txBody>
      </p:sp>
      <p:sp>
        <p:nvSpPr>
          <p:cNvPr id="2" name="Text Box 3">
            <a:extLst>
              <a:ext uri="{FF2B5EF4-FFF2-40B4-BE49-F238E27FC236}">
                <a16:creationId xmlns:a16="http://schemas.microsoft.com/office/drawing/2014/main" id="{CB084E8B-17F8-EEC3-9050-249015FD9F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13855" y="4842047"/>
            <a:ext cx="3498850" cy="8953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tail [1,2,3,4,5]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[2,3,4,5]</a:t>
            </a:r>
          </a:p>
        </p:txBody>
      </p:sp>
      <p:sp>
        <p:nvSpPr>
          <p:cNvPr id="4" name="Text Box 7">
            <a:extLst>
              <a:ext uri="{FF2B5EF4-FFF2-40B4-BE49-F238E27FC236}">
                <a16:creationId xmlns:a16="http://schemas.microsoft.com/office/drawing/2014/main" id="{7F44F063-B357-6CF7-728E-959C925BBD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46051" y="5937327"/>
            <a:ext cx="3314700" cy="8953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sum [1,2,3,4,5]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15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4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4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94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94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94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94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1" grpId="0" animBg="1"/>
      <p:bldP spid="2" grpId="0" animBg="1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The Standard Prelude</a:t>
            </a:r>
          </a:p>
        </p:txBody>
      </p:sp>
      <p:sp>
        <p:nvSpPr>
          <p:cNvPr id="1945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ADA19D7A-0922-5844-9E78-B2F290CA9868}" type="slidenum">
              <a:rPr lang="en-US" sz="1400"/>
              <a:pPr/>
              <a:t>5</a:t>
            </a:fld>
            <a:endParaRPr lang="en-US" sz="1400" dirty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4EF1C41-8E49-A6DB-BC29-42EBB825B0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718" y="2148935"/>
            <a:ext cx="4624467" cy="598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en-US" dirty="0"/>
              <a:t>Select the nth element of a list:</a:t>
            </a:r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4FF5ABD4-F241-EF83-9A23-96DA3003DC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55947" y="2164270"/>
            <a:ext cx="3498850" cy="96837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&gt; [1,2,3,4,5] !! 2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3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8257D64-397A-2C0C-E980-78DDC051E1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949" y="3530290"/>
            <a:ext cx="4624467" cy="598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en-US" dirty="0"/>
              <a:t>Select the first n elements of a list:</a:t>
            </a:r>
          </a:p>
        </p:txBody>
      </p:sp>
      <p:sp>
        <p:nvSpPr>
          <p:cNvPr id="7" name="Text Box 7">
            <a:extLst>
              <a:ext uri="{FF2B5EF4-FFF2-40B4-BE49-F238E27FC236}">
                <a16:creationId xmlns:a16="http://schemas.microsoft.com/office/drawing/2014/main" id="{DEACDD11-0DB6-E7F8-AE84-2FB9A79D2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55947" y="3644938"/>
            <a:ext cx="3867150" cy="82232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take 3 [1,2,3,4,5]</a:t>
            </a:r>
          </a:p>
          <a:p>
            <a:r>
              <a:rPr lang="en-US" sz="2400" dirty="0">
                <a:latin typeface="Lucida Sans Typewriter" charset="0"/>
              </a:rPr>
              <a:t>[1,2,3]</a:t>
            </a: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6DE1826A-C6AF-478B-2313-2D65E3D311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949" y="4828769"/>
            <a:ext cx="4413451" cy="598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en-US" dirty="0"/>
              <a:t>Remove the first n elements from a list:</a:t>
            </a:r>
          </a:p>
        </p:txBody>
      </p:sp>
      <p:sp>
        <p:nvSpPr>
          <p:cNvPr id="12" name="Text Box 3">
            <a:extLst>
              <a:ext uri="{FF2B5EF4-FFF2-40B4-BE49-F238E27FC236}">
                <a16:creationId xmlns:a16="http://schemas.microsoft.com/office/drawing/2014/main" id="{F3867E8A-2D04-9D0B-BA12-7281476C6D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55947" y="5023835"/>
            <a:ext cx="3867150" cy="8953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drop 3 [1,2,3,4,5]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[4,5]</a:t>
            </a:r>
          </a:p>
        </p:txBody>
      </p:sp>
    </p:spTree>
    <p:extLst>
      <p:ext uri="{BB962C8B-B14F-4D97-AF65-F5344CB8AC3E}">
        <p14:creationId xmlns:p14="http://schemas.microsoft.com/office/powerpoint/2010/main" val="10863554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6" grpId="0"/>
      <p:bldP spid="7" grpId="0" animBg="1"/>
      <p:bldP spid="11" grpId="0"/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The Standard Prelude</a:t>
            </a:r>
          </a:p>
        </p:txBody>
      </p:sp>
      <p:sp>
        <p:nvSpPr>
          <p:cNvPr id="1945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ADA19D7A-0922-5844-9E78-B2F290CA9868}" type="slidenum">
              <a:rPr lang="en-US" sz="1400"/>
              <a:pPr/>
              <a:t>6</a:t>
            </a:fld>
            <a:endParaRPr lang="en-US" sz="1400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5AC4FD67-3FEF-77D5-400B-30D48DD498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69" y="2206130"/>
            <a:ext cx="4510331" cy="853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dirty="0"/>
              <a:t>Calculate the length of a list:</a:t>
            </a:r>
          </a:p>
        </p:txBody>
      </p:sp>
      <p:sp>
        <p:nvSpPr>
          <p:cNvPr id="3" name="Text Box 5">
            <a:extLst>
              <a:ext uri="{FF2B5EF4-FFF2-40B4-BE49-F238E27FC236}">
                <a16:creationId xmlns:a16="http://schemas.microsoft.com/office/drawing/2014/main" id="{32198E36-C10A-76DD-6D99-10DB8DBD79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65615" y="2093626"/>
            <a:ext cx="3878385" cy="87011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length [1,2,3,4,5]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5</a:t>
            </a:r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id="{B51EF529-1FCF-D982-EAF5-603CDA3D0C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69" y="3429000"/>
            <a:ext cx="4510331" cy="598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dirty="0"/>
              <a:t>Calculate the sum of a list of numbers:</a:t>
            </a:r>
          </a:p>
        </p:txBody>
      </p:sp>
      <p:sp>
        <p:nvSpPr>
          <p:cNvPr id="11" name="Text Box 7">
            <a:extLst>
              <a:ext uri="{FF2B5EF4-FFF2-40B4-BE49-F238E27FC236}">
                <a16:creationId xmlns:a16="http://schemas.microsoft.com/office/drawing/2014/main" id="{AC83DBB4-A585-9837-9254-690EC98D11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35241" y="3351113"/>
            <a:ext cx="3647090" cy="87011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sum [1,2,3,4,5]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15</a:t>
            </a:r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0FF35E07-3D7B-ABEA-61A5-808A392302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69" y="4689450"/>
            <a:ext cx="4510331" cy="598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dirty="0"/>
              <a:t>Calculate the product of a list of numbers:</a:t>
            </a:r>
          </a:p>
        </p:txBody>
      </p:sp>
      <p:sp>
        <p:nvSpPr>
          <p:cNvPr id="13" name="Text Box 3">
            <a:extLst>
              <a:ext uri="{FF2B5EF4-FFF2-40B4-BE49-F238E27FC236}">
                <a16:creationId xmlns:a16="http://schemas.microsoft.com/office/drawing/2014/main" id="{1C8B8A96-9AA8-7058-E24E-7F888888E2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3669" y="4702368"/>
            <a:ext cx="4510331" cy="87011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product [1,2,3,4,5]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120</a:t>
            </a:r>
          </a:p>
        </p:txBody>
      </p:sp>
    </p:spTree>
    <p:extLst>
      <p:ext uri="{BB962C8B-B14F-4D97-AF65-F5344CB8AC3E}">
        <p14:creationId xmlns:p14="http://schemas.microsoft.com/office/powerpoint/2010/main" val="26668017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animBg="1"/>
      <p:bldP spid="10" grpId="0"/>
      <p:bldP spid="11" grpId="0" animBg="1"/>
      <p:bldP spid="12" grpId="0"/>
      <p:bldP spid="1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The Standard Prelude</a:t>
            </a:r>
          </a:p>
        </p:txBody>
      </p:sp>
      <p:sp>
        <p:nvSpPr>
          <p:cNvPr id="1945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ADA19D7A-0922-5844-9E78-B2F290CA9868}" type="slidenum">
              <a:rPr lang="en-US" sz="1400"/>
              <a:pPr/>
              <a:t>7</a:t>
            </a:fld>
            <a:endParaRPr lang="en-US" sz="1400" dirty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844C627-A8B0-C2F8-F631-9FF0E13271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5453" y="2326421"/>
            <a:ext cx="3538415" cy="598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dirty="0"/>
              <a:t>Append two lists:</a:t>
            </a:r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580B838E-91B3-37CD-D5D8-3931F766C1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8323" y="2356343"/>
            <a:ext cx="3538415" cy="87011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[1,2,3] ++ [4,5]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[1,2,3,4,5]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D7AF011-DDC7-91D3-B38C-4307AA889F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5453" y="4201129"/>
            <a:ext cx="3538415" cy="598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dirty="0"/>
              <a:t>Reverse a list:</a:t>
            </a:r>
          </a:p>
        </p:txBody>
      </p:sp>
      <p:sp>
        <p:nvSpPr>
          <p:cNvPr id="7" name="Text Box 7">
            <a:extLst>
              <a:ext uri="{FF2B5EF4-FFF2-40B4-BE49-F238E27FC236}">
                <a16:creationId xmlns:a16="http://schemas.microsoft.com/office/drawing/2014/main" id="{AA5A6A2C-8D1D-6833-945C-2DEE3691D8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15593" y="4153725"/>
            <a:ext cx="4097112" cy="87011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reverse [1,2,3,4,5]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[5,4,3,2,1]</a:t>
            </a:r>
          </a:p>
        </p:txBody>
      </p:sp>
    </p:spTree>
    <p:extLst>
      <p:ext uri="{BB962C8B-B14F-4D97-AF65-F5344CB8AC3E}">
        <p14:creationId xmlns:p14="http://schemas.microsoft.com/office/powerpoint/2010/main" val="40308576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6" grpId="0"/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231295" y="736975"/>
            <a:ext cx="8138532" cy="685800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Function Application in Haskell</a:t>
            </a:r>
          </a:p>
        </p:txBody>
      </p:sp>
      <p:sp>
        <p:nvSpPr>
          <p:cNvPr id="2355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E38AAA3-FE12-9D41-818B-DF0C6FF442C1}" type="slidenum">
              <a:rPr lang="en-US" sz="1400"/>
              <a:pPr/>
              <a:t>8</a:t>
            </a:fld>
            <a:endParaRPr lang="en-US" sz="1400"/>
          </a:p>
        </p:txBody>
      </p:sp>
      <p:sp>
        <p:nvSpPr>
          <p:cNvPr id="23556" name="Text Box 5"/>
          <p:cNvSpPr txBox="1">
            <a:spLocks noChangeArrowheads="1"/>
          </p:cNvSpPr>
          <p:nvPr/>
        </p:nvSpPr>
        <p:spPr bwMode="auto">
          <a:xfrm>
            <a:off x="1149345" y="3449700"/>
            <a:ext cx="2416046" cy="83099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Java:</a:t>
            </a:r>
          </a:p>
          <a:p>
            <a:r>
              <a:rPr lang="en-US" sz="2400" dirty="0">
                <a:latin typeface="Lucida Sans Typewriter" charset="0"/>
              </a:rPr>
              <a:t>f(</a:t>
            </a:r>
            <a:r>
              <a:rPr lang="en-US" sz="2400" dirty="0" err="1">
                <a:latin typeface="Lucida Sans Typewriter" charset="0"/>
              </a:rPr>
              <a:t>a,b</a:t>
            </a:r>
            <a:r>
              <a:rPr lang="en-US" sz="2400" dirty="0">
                <a:latin typeface="Lucida Sans Typewriter" charset="0"/>
              </a:rPr>
              <a:t>) + c d</a:t>
            </a:r>
          </a:p>
        </p:txBody>
      </p:sp>
      <p:sp>
        <p:nvSpPr>
          <p:cNvPr id="23557" name="AutoShape 6"/>
          <p:cNvSpPr>
            <a:spLocks noChangeArrowheads="1"/>
          </p:cNvSpPr>
          <p:nvPr/>
        </p:nvSpPr>
        <p:spPr bwMode="auto">
          <a:xfrm>
            <a:off x="1104900" y="5229225"/>
            <a:ext cx="7085013" cy="1028700"/>
          </a:xfrm>
          <a:prstGeom prst="wedgeRoundRectCallout">
            <a:avLst>
              <a:gd name="adj1" fmla="val -27528"/>
              <a:gd name="adj2" fmla="val -124227"/>
              <a:gd name="adj3" fmla="val 16667"/>
            </a:avLst>
          </a:prstGeom>
          <a:noFill/>
          <a:ln w="12700" cap="sq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dirty="0"/>
              <a:t>Apply the function f to a and b, and add the result to the product of c and d.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8609AB-F0A6-F6D3-5201-66C27C47DD0F}"/>
              </a:ext>
            </a:extLst>
          </p:cNvPr>
          <p:cNvSpPr txBox="1"/>
          <p:nvPr/>
        </p:nvSpPr>
        <p:spPr>
          <a:xfrm>
            <a:off x="231295" y="1946951"/>
            <a:ext cx="842303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Syntax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dirty="0"/>
              <a:t>Function application uses spaces instead of parentheses: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IE" dirty="0"/>
          </a:p>
          <a:p>
            <a:pPr lvl="1"/>
            <a:endParaRPr lang="en-US" dirty="0"/>
          </a:p>
        </p:txBody>
      </p:sp>
      <p:sp>
        <p:nvSpPr>
          <p:cNvPr id="3" name="Text Box 5">
            <a:extLst>
              <a:ext uri="{FF2B5EF4-FFF2-40B4-BE49-F238E27FC236}">
                <a16:creationId xmlns:a16="http://schemas.microsoft.com/office/drawing/2014/main" id="{63D42958-F219-BB64-E7CB-1A8B4EB16C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0754" y="3429000"/>
            <a:ext cx="2787943" cy="83099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Haskell:</a:t>
            </a:r>
          </a:p>
          <a:p>
            <a:r>
              <a:rPr lang="en-US" sz="2400" dirty="0">
                <a:latin typeface="Lucida Sans Typewriter" charset="0"/>
              </a:rPr>
              <a:t>f a b  + c * d</a:t>
            </a: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00E31D75-2664-8C83-6601-E9428A9A4420}"/>
              </a:ext>
            </a:extLst>
          </p:cNvPr>
          <p:cNvSpPr/>
          <p:nvPr/>
        </p:nvSpPr>
        <p:spPr bwMode="auto">
          <a:xfrm>
            <a:off x="3762329" y="3670326"/>
            <a:ext cx="1001486" cy="348343"/>
          </a:xfrm>
          <a:prstGeom prst="rightArrow">
            <a:avLst/>
          </a:prstGeom>
          <a:solidFill>
            <a:schemeClr val="accent1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itchFamily="-1" charset="0"/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35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35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35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35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6" grpId="0" animBg="1"/>
      <p:bldP spid="23557" grpId="0" animBg="1"/>
      <p:bldP spid="3" grpId="0" animBg="1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4467740-7AC7-0A47-B6D9-4DCC00FDA825}" type="slidenum">
              <a:rPr lang="en-US" sz="1400"/>
              <a:pPr/>
              <a:t>9</a:t>
            </a:fld>
            <a:endParaRPr lang="en-US" sz="1400"/>
          </a:p>
        </p:txBody>
      </p:sp>
      <p:sp>
        <p:nvSpPr>
          <p:cNvPr id="25602" name="Text Box 5"/>
          <p:cNvSpPr txBox="1">
            <a:spLocks noChangeArrowheads="1"/>
          </p:cNvSpPr>
          <p:nvPr/>
        </p:nvSpPr>
        <p:spPr bwMode="auto">
          <a:xfrm>
            <a:off x="305860" y="2111375"/>
            <a:ext cx="8174038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Moreover, function application is assumed to have </a:t>
            </a:r>
            <a:r>
              <a:rPr lang="en-US" u="sng" dirty="0"/>
              <a:t>higher priority</a:t>
            </a:r>
            <a:r>
              <a:rPr lang="en-US" dirty="0"/>
              <a:t> than all other operators.</a:t>
            </a:r>
          </a:p>
        </p:txBody>
      </p:sp>
      <p:sp>
        <p:nvSpPr>
          <p:cNvPr id="25603" name="Text Box 6"/>
          <p:cNvSpPr txBox="1">
            <a:spLocks noChangeArrowheads="1"/>
          </p:cNvSpPr>
          <p:nvPr/>
        </p:nvSpPr>
        <p:spPr bwMode="auto">
          <a:xfrm>
            <a:off x="1641475" y="3235325"/>
            <a:ext cx="14732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f a + b</a:t>
            </a:r>
          </a:p>
        </p:txBody>
      </p:sp>
      <p:sp>
        <p:nvSpPr>
          <p:cNvPr id="25604" name="AutoShape 9"/>
          <p:cNvSpPr>
            <a:spLocks noChangeArrowheads="1"/>
          </p:cNvSpPr>
          <p:nvPr/>
        </p:nvSpPr>
        <p:spPr bwMode="auto">
          <a:xfrm>
            <a:off x="850900" y="4994275"/>
            <a:ext cx="6915150" cy="566738"/>
          </a:xfrm>
          <a:prstGeom prst="wedgeRoundRectCallout">
            <a:avLst>
              <a:gd name="adj1" fmla="val -27389"/>
              <a:gd name="adj2" fmla="val -197375"/>
              <a:gd name="adj3" fmla="val 16667"/>
            </a:avLst>
          </a:prstGeom>
          <a:noFill/>
          <a:ln w="12700" cap="sq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/>
              <a:t>Means (f a) + b, rather than f (a + b).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52340E9F-2A7A-149C-B5C7-7F79563CDD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31295" y="736975"/>
            <a:ext cx="8138532" cy="685800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Function Application in Haskell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Examples</a:t>
            </a:r>
          </a:p>
        </p:txBody>
      </p:sp>
      <p:sp>
        <p:nvSpPr>
          <p:cNvPr id="2662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0E087749-1F4D-9B44-AB89-0370833F3286}" type="slidenum">
              <a:rPr lang="en-US" sz="1400"/>
              <a:pPr/>
              <a:t>10</a:t>
            </a:fld>
            <a:endParaRPr lang="en-US" sz="1400"/>
          </a:p>
        </p:txBody>
      </p:sp>
      <p:grpSp>
        <p:nvGrpSpPr>
          <p:cNvPr id="26627" name="Group 46"/>
          <p:cNvGrpSpPr>
            <a:grpSpLocks/>
          </p:cNvGrpSpPr>
          <p:nvPr/>
        </p:nvGrpSpPr>
        <p:grpSpPr bwMode="auto">
          <a:xfrm>
            <a:off x="1587345" y="2105624"/>
            <a:ext cx="5056188" cy="4595812"/>
            <a:chOff x="1240" y="938"/>
            <a:chExt cx="3185" cy="2895"/>
          </a:xfrm>
        </p:grpSpPr>
        <p:sp>
          <p:nvSpPr>
            <p:cNvPr id="26628" name="Text Box 5"/>
            <p:cNvSpPr txBox="1">
              <a:spLocks noChangeArrowheads="1"/>
            </p:cNvSpPr>
            <p:nvPr/>
          </p:nvSpPr>
          <p:spPr bwMode="auto">
            <a:xfrm>
              <a:off x="1240" y="938"/>
              <a:ext cx="1360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u="sng" dirty="0"/>
                <a:t>Mathematics</a:t>
              </a:r>
            </a:p>
          </p:txBody>
        </p:sp>
        <p:sp>
          <p:nvSpPr>
            <p:cNvPr id="26629" name="Text Box 6"/>
            <p:cNvSpPr txBox="1">
              <a:spLocks noChangeArrowheads="1"/>
            </p:cNvSpPr>
            <p:nvPr/>
          </p:nvSpPr>
          <p:spPr bwMode="auto">
            <a:xfrm>
              <a:off x="3205" y="939"/>
              <a:ext cx="817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u="sng"/>
                <a:t>Haskell</a:t>
              </a:r>
              <a:endParaRPr lang="en-US"/>
            </a:p>
          </p:txBody>
        </p:sp>
        <p:sp>
          <p:nvSpPr>
            <p:cNvPr id="26630" name="Text Box 7"/>
            <p:cNvSpPr txBox="1">
              <a:spLocks noChangeArrowheads="1"/>
            </p:cNvSpPr>
            <p:nvPr/>
          </p:nvSpPr>
          <p:spPr bwMode="auto">
            <a:xfrm>
              <a:off x="1291" y="1507"/>
              <a:ext cx="580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 dirty="0">
                  <a:latin typeface="Lucida Sans Typewriter" charset="0"/>
                </a:rPr>
                <a:t>f(x)</a:t>
              </a:r>
            </a:p>
          </p:txBody>
        </p:sp>
        <p:sp>
          <p:nvSpPr>
            <p:cNvPr id="26631" name="Text Box 8"/>
            <p:cNvSpPr txBox="1">
              <a:spLocks noChangeArrowheads="1"/>
            </p:cNvSpPr>
            <p:nvPr/>
          </p:nvSpPr>
          <p:spPr bwMode="auto">
            <a:xfrm>
              <a:off x="1291" y="2017"/>
              <a:ext cx="812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f(x,y)</a:t>
              </a:r>
            </a:p>
          </p:txBody>
        </p:sp>
        <p:sp>
          <p:nvSpPr>
            <p:cNvPr id="26632" name="Text Box 9"/>
            <p:cNvSpPr txBox="1">
              <a:spLocks noChangeArrowheads="1"/>
            </p:cNvSpPr>
            <p:nvPr/>
          </p:nvSpPr>
          <p:spPr bwMode="auto">
            <a:xfrm>
              <a:off x="1291" y="2528"/>
              <a:ext cx="928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f(g(x))</a:t>
              </a:r>
            </a:p>
          </p:txBody>
        </p:sp>
        <p:sp>
          <p:nvSpPr>
            <p:cNvPr id="26633" name="Text Box 10"/>
            <p:cNvSpPr txBox="1">
              <a:spLocks noChangeArrowheads="1"/>
            </p:cNvSpPr>
            <p:nvPr/>
          </p:nvSpPr>
          <p:spPr bwMode="auto">
            <a:xfrm>
              <a:off x="1291" y="3039"/>
              <a:ext cx="1160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f(x,g(y))</a:t>
              </a:r>
            </a:p>
          </p:txBody>
        </p:sp>
        <p:sp>
          <p:nvSpPr>
            <p:cNvPr id="26634" name="Text Box 11"/>
            <p:cNvSpPr txBox="1">
              <a:spLocks noChangeArrowheads="1"/>
            </p:cNvSpPr>
            <p:nvPr/>
          </p:nvSpPr>
          <p:spPr bwMode="auto">
            <a:xfrm>
              <a:off x="1292" y="3542"/>
              <a:ext cx="1044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f(x)g(y)</a:t>
              </a:r>
            </a:p>
          </p:txBody>
        </p:sp>
        <p:sp>
          <p:nvSpPr>
            <p:cNvPr id="26635" name="Text Box 18"/>
            <p:cNvSpPr txBox="1">
              <a:spLocks noChangeArrowheads="1"/>
            </p:cNvSpPr>
            <p:nvPr/>
          </p:nvSpPr>
          <p:spPr bwMode="auto">
            <a:xfrm>
              <a:off x="3264" y="1503"/>
              <a:ext cx="464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f x</a:t>
              </a:r>
            </a:p>
          </p:txBody>
        </p:sp>
        <p:sp>
          <p:nvSpPr>
            <p:cNvPr id="26636" name="Text Box 19"/>
            <p:cNvSpPr txBox="1">
              <a:spLocks noChangeArrowheads="1"/>
            </p:cNvSpPr>
            <p:nvPr/>
          </p:nvSpPr>
          <p:spPr bwMode="auto">
            <a:xfrm>
              <a:off x="3264" y="2013"/>
              <a:ext cx="696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f x y</a:t>
              </a:r>
            </a:p>
          </p:txBody>
        </p:sp>
        <p:sp>
          <p:nvSpPr>
            <p:cNvPr id="26637" name="Text Box 20"/>
            <p:cNvSpPr txBox="1">
              <a:spLocks noChangeArrowheads="1"/>
            </p:cNvSpPr>
            <p:nvPr/>
          </p:nvSpPr>
          <p:spPr bwMode="auto">
            <a:xfrm>
              <a:off x="3264" y="2524"/>
              <a:ext cx="928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f (g x)</a:t>
              </a:r>
            </a:p>
          </p:txBody>
        </p:sp>
        <p:sp>
          <p:nvSpPr>
            <p:cNvPr id="26638" name="Text Box 21"/>
            <p:cNvSpPr txBox="1">
              <a:spLocks noChangeArrowheads="1"/>
            </p:cNvSpPr>
            <p:nvPr/>
          </p:nvSpPr>
          <p:spPr bwMode="auto">
            <a:xfrm>
              <a:off x="3264" y="3034"/>
              <a:ext cx="1160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f x (g y)</a:t>
              </a:r>
            </a:p>
          </p:txBody>
        </p:sp>
        <p:sp>
          <p:nvSpPr>
            <p:cNvPr id="26639" name="Text Box 22"/>
            <p:cNvSpPr txBox="1">
              <a:spLocks noChangeArrowheads="1"/>
            </p:cNvSpPr>
            <p:nvPr/>
          </p:nvSpPr>
          <p:spPr bwMode="auto">
            <a:xfrm>
              <a:off x="3265" y="3545"/>
              <a:ext cx="1160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f x * g y</a:t>
              </a:r>
            </a:p>
          </p:txBody>
        </p:sp>
      </p:grp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510241" y="753228"/>
            <a:ext cx="7210396" cy="1080938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</a:rPr>
              <a:t>Haskell</a:t>
            </a:r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 Scripts</a:t>
            </a:r>
          </a:p>
        </p:txBody>
      </p:sp>
      <p:sp>
        <p:nvSpPr>
          <p:cNvPr id="27651" name="Rectangle 3"/>
          <p:cNvSpPr>
            <a:spLocks noGrp="1" noChangeArrowheads="1"/>
          </p:cNvSpPr>
          <p:nvPr>
            <p:ph idx="1"/>
          </p:nvPr>
        </p:nvSpPr>
        <p:spPr>
          <a:xfrm>
            <a:off x="510241" y="2095799"/>
            <a:ext cx="7959202" cy="4625220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Tahoma" charset="0"/>
                <a:ea typeface="ＭＳ Ｐゴシック" charset="0"/>
              </a:rPr>
              <a:t>What is a script? </a:t>
            </a:r>
          </a:p>
          <a:p>
            <a:pPr lvl="1"/>
            <a:r>
              <a:rPr lang="en-IE" sz="2800" dirty="0">
                <a:latin typeface="Tahoma" charset="0"/>
                <a:ea typeface="ＭＳ Ｐゴシック" charset="0"/>
              </a:rPr>
              <a:t>Text files containing Haskell code, typically with a .</a:t>
            </a:r>
            <a:r>
              <a:rPr lang="en-IE" sz="2800" dirty="0" err="1">
                <a:latin typeface="Tahoma" charset="0"/>
                <a:ea typeface="ＭＳ Ｐゴシック" charset="0"/>
              </a:rPr>
              <a:t>hs</a:t>
            </a:r>
            <a:r>
              <a:rPr lang="en-IE" sz="2800" dirty="0">
                <a:latin typeface="Tahoma" charset="0"/>
                <a:ea typeface="ＭＳ Ｐゴシック" charset="0"/>
              </a:rPr>
              <a:t> extension</a:t>
            </a:r>
            <a:r>
              <a:rPr lang="en-IE" dirty="0"/>
              <a:t>.</a:t>
            </a:r>
            <a:endParaRPr lang="en-US" dirty="0">
              <a:latin typeface="Tahoma" charset="0"/>
              <a:ea typeface="ＭＳ Ｐゴシック" charset="0"/>
              <a:cs typeface="ＭＳ Ｐゴシック" charset="0"/>
            </a:endParaRPr>
          </a:p>
          <a:p>
            <a:endParaRPr lang="en-US" dirty="0">
              <a:latin typeface="Tahoma" charset="0"/>
              <a:ea typeface="ＭＳ Ｐゴシック" charset="0"/>
              <a:cs typeface="ＭＳ Ｐゴシック" charset="0"/>
            </a:endParaRPr>
          </a:p>
          <a:p>
            <a:r>
              <a:rPr lang="en-US" sz="2800" dirty="0">
                <a:latin typeface="Tahoma" charset="0"/>
                <a:ea typeface="ＭＳ Ｐゴシック" charset="0"/>
              </a:rPr>
              <a:t>Example Script</a:t>
            </a:r>
            <a:r>
              <a:rPr lang="en-US" dirty="0">
                <a:latin typeface="Tahoma" charset="0"/>
                <a:ea typeface="ＭＳ Ｐゴシック" charset="0"/>
                <a:cs typeface="ＭＳ Ｐゴシック" charset="0"/>
              </a:rPr>
              <a:t>:</a:t>
            </a:r>
          </a:p>
          <a:p>
            <a:endParaRPr lang="en-US" dirty="0">
              <a:latin typeface="Tahoma" charset="0"/>
              <a:ea typeface="ＭＳ Ｐゴシック" charset="0"/>
              <a:cs typeface="ＭＳ Ｐゴシック" charset="0"/>
            </a:endParaRPr>
          </a:p>
          <a:p>
            <a:pPr marL="0" indent="0">
              <a:buNone/>
            </a:pPr>
            <a:endParaRPr lang="en-US" dirty="0">
              <a:latin typeface="Tahoma" charset="0"/>
              <a:ea typeface="ＭＳ Ｐゴシック" charset="0"/>
              <a:cs typeface="ＭＳ Ｐゴシック" charset="0"/>
            </a:endParaRPr>
          </a:p>
          <a:p>
            <a:r>
              <a:rPr lang="en-IE" sz="2800" dirty="0">
                <a:latin typeface="Tahoma" charset="0"/>
                <a:ea typeface="ＭＳ Ｐゴシック" charset="0"/>
              </a:rPr>
              <a:t>Save the file as </a:t>
            </a:r>
            <a:r>
              <a:rPr lang="en-IE" sz="2800" dirty="0" err="1">
                <a:latin typeface="Tahoma" charset="0"/>
                <a:ea typeface="ＭＳ Ｐゴシック" charset="0"/>
              </a:rPr>
              <a:t>test.hs</a:t>
            </a:r>
            <a:r>
              <a:rPr lang="en-IE" sz="2800" dirty="0">
                <a:latin typeface="Tahoma" charset="0"/>
                <a:ea typeface="ＭＳ Ｐゴシック" charset="0"/>
              </a:rPr>
              <a:t> and load it into </a:t>
            </a:r>
            <a:r>
              <a:rPr lang="en-IE" sz="2800" dirty="0" err="1">
                <a:latin typeface="Tahoma" charset="0"/>
                <a:ea typeface="ＭＳ Ｐゴシック" charset="0"/>
              </a:rPr>
              <a:t>GHCi</a:t>
            </a:r>
            <a:endParaRPr lang="en-US" sz="2800" dirty="0">
              <a:latin typeface="Tahoma" charset="0"/>
              <a:ea typeface="ＭＳ Ｐゴシック" charset="0"/>
            </a:endParaRPr>
          </a:p>
        </p:txBody>
      </p:sp>
      <p:sp>
        <p:nvSpPr>
          <p:cNvPr id="27649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734FCE1A-107E-2443-88F3-C8A4A32F4223}" type="slidenum">
              <a:rPr lang="en-US" sz="1400"/>
              <a:pPr/>
              <a:t>11</a:t>
            </a:fld>
            <a:endParaRPr lang="en-US" sz="1400"/>
          </a:p>
        </p:txBody>
      </p:sp>
      <p:sp>
        <p:nvSpPr>
          <p:cNvPr id="2" name="Text Box 6">
            <a:extLst>
              <a:ext uri="{FF2B5EF4-FFF2-40B4-BE49-F238E27FC236}">
                <a16:creationId xmlns:a16="http://schemas.microsoft.com/office/drawing/2014/main" id="{C034B2F6-EA47-0681-954B-5513AD7293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94936" y="3691784"/>
            <a:ext cx="5949064" cy="83099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double x = x + x</a:t>
            </a:r>
          </a:p>
          <a:p>
            <a:r>
              <a:rPr lang="en-US" sz="2400" dirty="0">
                <a:latin typeface="Lucida Sans Typewriter" charset="0"/>
              </a:rPr>
              <a:t>quadruple x = double (double x)</a:t>
            </a:r>
          </a:p>
        </p:txBody>
      </p:sp>
      <p:sp>
        <p:nvSpPr>
          <p:cNvPr id="3" name="Text Box 6">
            <a:extLst>
              <a:ext uri="{FF2B5EF4-FFF2-40B4-BE49-F238E27FC236}">
                <a16:creationId xmlns:a16="http://schemas.microsoft.com/office/drawing/2014/main" id="{FDD773B8-A555-B314-6CF0-9876EDE9F1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6786" y="5520690"/>
            <a:ext cx="5499935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$ </a:t>
            </a:r>
            <a:r>
              <a:rPr lang="en-US" sz="2400" dirty="0" err="1">
                <a:latin typeface="Lucida Sans Typewriter" charset="0"/>
              </a:rPr>
              <a:t>ghci</a:t>
            </a:r>
            <a:r>
              <a:rPr lang="en-US" sz="2400" dirty="0">
                <a:latin typeface="Lucida Sans Typewriter" charset="0"/>
              </a:rPr>
              <a:t> </a:t>
            </a:r>
            <a:r>
              <a:rPr lang="en-US" sz="2400" dirty="0" err="1">
                <a:latin typeface="Lucida Sans Typewriter" charset="0"/>
              </a:rPr>
              <a:t>test.hs</a:t>
            </a:r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&gt; quadruple 10 -- 40</a:t>
            </a:r>
          </a:p>
          <a:p>
            <a:endParaRPr lang="en-US" sz="2400" dirty="0">
              <a:latin typeface="Lucida Sans Typewriter" charset="0"/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76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76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1" grpId="0" build="p"/>
      <p:bldP spid="2" grpId="0" animBg="1"/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3D80B69E-20D5-3A43-A858-E6D71E7A76AB}" type="slidenum">
              <a:rPr lang="en-US" sz="1400"/>
              <a:pPr/>
              <a:t>12</a:t>
            </a:fld>
            <a:endParaRPr lang="en-US" sz="1400"/>
          </a:p>
        </p:txBody>
      </p:sp>
      <p:sp>
        <p:nvSpPr>
          <p:cNvPr id="30722" name="Rectangle 2"/>
          <p:cNvSpPr>
            <a:spLocks noChangeArrowheads="1"/>
          </p:cNvSpPr>
          <p:nvPr/>
        </p:nvSpPr>
        <p:spPr bwMode="auto">
          <a:xfrm>
            <a:off x="1641572" y="3392490"/>
            <a:ext cx="5391219" cy="46166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r>
              <a:rPr lang="en-US" sz="2400" dirty="0">
                <a:latin typeface="Lucida Sans Typewriter" charset="0"/>
              </a:rPr>
              <a:t>factorial n = product [1..n]</a:t>
            </a:r>
          </a:p>
        </p:txBody>
      </p:sp>
      <p:sp>
        <p:nvSpPr>
          <p:cNvPr id="30723" name="Text Box 3"/>
          <p:cNvSpPr txBox="1">
            <a:spLocks noChangeArrowheads="1"/>
          </p:cNvSpPr>
          <p:nvPr/>
        </p:nvSpPr>
        <p:spPr bwMode="auto">
          <a:xfrm>
            <a:off x="266511" y="2444277"/>
            <a:ext cx="8288338" cy="3108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>
                <a:latin typeface="Tahoma" charset="0"/>
                <a:ea typeface="ＭＳ Ｐゴシック" charset="0"/>
                <a:cs typeface="ＭＳ Ｐゴシック" charset="0"/>
              </a:rPr>
              <a:t>Examples:</a:t>
            </a:r>
          </a:p>
          <a:p>
            <a:pPr marL="1200150" lvl="1" indent="-457200">
              <a:buFont typeface="Arial" panose="020B0604020202020204" pitchFamily="34" charset="0"/>
              <a:buChar char="•"/>
            </a:pPr>
            <a:r>
              <a:rPr lang="en-US" dirty="0"/>
              <a:t>factorial</a:t>
            </a:r>
          </a:p>
          <a:p>
            <a:pPr marL="1200150" lvl="1" indent="-457200">
              <a:buFont typeface="Arial" panose="020B0604020202020204" pitchFamily="34" charset="0"/>
              <a:buChar char="•"/>
            </a:pPr>
            <a:endParaRPr lang="en-US" dirty="0">
              <a:latin typeface="Tahoma" charset="0"/>
              <a:ea typeface="ＭＳ Ｐゴシック" charset="0"/>
              <a:cs typeface="ＭＳ Ｐゴシック" charset="0"/>
            </a:endParaRPr>
          </a:p>
          <a:p>
            <a:pPr marL="1200150" lvl="1" indent="-457200">
              <a:buFont typeface="Arial" panose="020B0604020202020204" pitchFamily="34" charset="0"/>
              <a:buChar char="•"/>
            </a:pPr>
            <a:endParaRPr lang="en-US" dirty="0"/>
          </a:p>
          <a:p>
            <a:pPr marL="1200150" lvl="1" indent="-457200">
              <a:buFont typeface="Arial" panose="020B0604020202020204" pitchFamily="34" charset="0"/>
              <a:buChar char="•"/>
            </a:pPr>
            <a:r>
              <a:rPr lang="en-US" dirty="0"/>
              <a:t>a</a:t>
            </a:r>
            <a:r>
              <a:rPr lang="en-US" dirty="0">
                <a:latin typeface="Tahoma" charset="0"/>
                <a:ea typeface="ＭＳ Ｐゴシック" charset="0"/>
                <a:cs typeface="ＭＳ Ｐゴシック" charset="0"/>
              </a:rPr>
              <a:t>verage</a:t>
            </a:r>
          </a:p>
          <a:p>
            <a:pPr marL="1200150" lvl="1" indent="-457200">
              <a:buFont typeface="Arial" panose="020B0604020202020204" pitchFamily="34" charset="0"/>
              <a:buChar char="•"/>
            </a:pPr>
            <a:endParaRPr lang="en-US" dirty="0"/>
          </a:p>
          <a:p>
            <a:pPr marL="1200150" lvl="1" indent="-457200">
              <a:buFont typeface="Arial" panose="020B0604020202020204" pitchFamily="34" charset="0"/>
              <a:buChar char="•"/>
            </a:pPr>
            <a:endParaRPr lang="en-US" dirty="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30724" name="Rectangle 8"/>
          <p:cNvSpPr>
            <a:spLocks noChangeArrowheads="1"/>
          </p:cNvSpPr>
          <p:nvPr/>
        </p:nvSpPr>
        <p:spPr bwMode="auto">
          <a:xfrm>
            <a:off x="354870" y="5270694"/>
            <a:ext cx="8557835" cy="169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514350" indent="-514350">
              <a:spcBef>
                <a:spcPct val="2000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dirty="0"/>
              <a:t>Use backticks for infix notation: sum ns `div` length ns`</a:t>
            </a:r>
            <a:endParaRPr kumimoji="1" lang="en-US" dirty="0"/>
          </a:p>
          <a:p>
            <a:pPr marL="457200" indent="-457200">
              <a:spcBef>
                <a:spcPct val="2000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en-US" dirty="0"/>
              <a:t>x `f` y is just </a:t>
            </a:r>
            <a:r>
              <a:rPr kumimoji="1" lang="en-US" u="sng" dirty="0"/>
              <a:t>syntactic sugar</a:t>
            </a:r>
            <a:r>
              <a:rPr kumimoji="1" lang="en-US" dirty="0"/>
              <a:t> for f x y.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246A7A-50EF-4544-D5D3-68D556F9E988}"/>
              </a:ext>
            </a:extLst>
          </p:cNvPr>
          <p:cNvSpPr txBox="1"/>
          <p:nvPr/>
        </p:nvSpPr>
        <p:spPr>
          <a:xfrm>
            <a:off x="742950" y="1025162"/>
            <a:ext cx="5096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b="1" dirty="0">
                <a:latin typeface="Arial" panose="020B0604020202020204" pitchFamily="34" charset="0"/>
                <a:cs typeface="Arial" panose="020B0604020202020204" pitchFamily="34" charset="0"/>
              </a:rPr>
              <a:t>Defining Functions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384DB20-A590-FF3A-30DA-96550883B8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1572" y="4710129"/>
            <a:ext cx="6692858" cy="46166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r>
              <a:rPr lang="en-US" sz="2400" dirty="0">
                <a:latin typeface="Lucida Sans Typewriter" charset="0"/>
              </a:rPr>
              <a:t>average ns = sum ns `div` length ns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07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07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07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07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07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07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2" grpId="0" animBg="1"/>
      <p:bldP spid="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0B14E4C1-AAF0-FD40-9241-254D62A910F0}" type="slidenum">
              <a:rPr lang="en-US" sz="1400"/>
              <a:pPr/>
              <a:t>13</a:t>
            </a:fld>
            <a:endParaRPr lang="en-US" sz="1400"/>
          </a:p>
        </p:txBody>
      </p:sp>
      <p:sp>
        <p:nvSpPr>
          <p:cNvPr id="31747" name="Text Box 3"/>
          <p:cNvSpPr txBox="1">
            <a:spLocks noChangeArrowheads="1"/>
          </p:cNvSpPr>
          <p:nvPr/>
        </p:nvSpPr>
        <p:spPr bwMode="auto">
          <a:xfrm>
            <a:off x="365125" y="850434"/>
            <a:ext cx="8288338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b="1" dirty="0"/>
              <a:t>Useful GHCI Commands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2F1124A-4434-FF34-7D9F-04E702D42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4882304"/>
              </p:ext>
            </p:extLst>
          </p:nvPr>
        </p:nvGraphicFramePr>
        <p:xfrm>
          <a:off x="984354" y="2986946"/>
          <a:ext cx="6105994" cy="21097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1936">
                  <a:extLst>
                    <a:ext uri="{9D8B030D-6E8A-4147-A177-3AD203B41FA5}">
                      <a16:colId xmlns:a16="http://schemas.microsoft.com/office/drawing/2014/main" val="3565237971"/>
                    </a:ext>
                  </a:extLst>
                </a:gridCol>
                <a:gridCol w="4134058">
                  <a:extLst>
                    <a:ext uri="{9D8B030D-6E8A-4147-A177-3AD203B41FA5}">
                      <a16:colId xmlns:a16="http://schemas.microsoft.com/office/drawing/2014/main" val="3323255465"/>
                    </a:ext>
                  </a:extLst>
                </a:gridCol>
              </a:tblGrid>
              <a:tr h="421942">
                <a:tc>
                  <a:txBody>
                    <a:bodyPr/>
                    <a:lstStyle/>
                    <a:p>
                      <a:r>
                        <a:rPr lang="en-US" dirty="0"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0049281"/>
                  </a:ext>
                </a:extLst>
              </a:tr>
              <a:tr h="421942">
                <a:tc>
                  <a:txBody>
                    <a:bodyPr/>
                    <a:lstStyle/>
                    <a:p>
                      <a:r>
                        <a:rPr lang="en-US" dirty="0"/>
                        <a:t>:load &lt;file&gt;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Load a Haskell script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8588214"/>
                  </a:ext>
                </a:extLst>
              </a:tr>
              <a:tr h="421942">
                <a:tc>
                  <a:txBody>
                    <a:bodyPr/>
                    <a:lstStyle/>
                    <a:p>
                      <a:r>
                        <a:rPr lang="en-US" dirty="0"/>
                        <a:t>:reload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Reload the current script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9757908"/>
                  </a:ext>
                </a:extLst>
              </a:tr>
              <a:tr h="421942">
                <a:tc>
                  <a:txBody>
                    <a:bodyPr/>
                    <a:lstStyle/>
                    <a:p>
                      <a:r>
                        <a:rPr lang="en-US" dirty="0"/>
                        <a:t>:type &lt;expr&gt;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Show the type of an expression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8122286"/>
                  </a:ext>
                </a:extLst>
              </a:tr>
              <a:tr h="421942">
                <a:tc>
                  <a:txBody>
                    <a:bodyPr/>
                    <a:lstStyle/>
                    <a:p>
                      <a:r>
                        <a:rPr lang="en-US" dirty="0"/>
                        <a:t>:quit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Exit </a:t>
                      </a:r>
                      <a:r>
                        <a:rPr lang="en-US" dirty="0" err="1"/>
                        <a:t>GHCi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27085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909379A-D9F8-E312-D2A2-9185CE885D02}"/>
              </a:ext>
            </a:extLst>
          </p:cNvPr>
          <p:cNvSpPr txBox="1"/>
          <p:nvPr/>
        </p:nvSpPr>
        <p:spPr>
          <a:xfrm>
            <a:off x="1214203" y="5831174"/>
            <a:ext cx="7418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Tip : use :q in </a:t>
            </a:r>
            <a:r>
              <a:rPr lang="en-US" dirty="0" err="1"/>
              <a:t>GHCi</a:t>
            </a:r>
            <a:r>
              <a:rPr lang="en-US" dirty="0"/>
              <a:t> for a list of all commands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Naming Requirements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idx="1"/>
          </p:nvPr>
        </p:nvSpPr>
        <p:spPr>
          <a:xfrm>
            <a:off x="395288" y="2174081"/>
            <a:ext cx="8178800" cy="109537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Tahoma" charset="0"/>
                <a:ea typeface="ＭＳ Ｐゴシック" charset="0"/>
              </a:rPr>
              <a:t>Function and argument names must begin with a lower-case letter.  For example:</a:t>
            </a:r>
          </a:p>
        </p:txBody>
      </p:sp>
      <p:sp>
        <p:nvSpPr>
          <p:cNvPr id="33793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7FBB9433-BABE-544F-BBCC-4B7707DDC055}" type="slidenum">
              <a:rPr lang="en-US" sz="1400"/>
              <a:pPr/>
              <a:t>14</a:t>
            </a:fld>
            <a:endParaRPr lang="en-US" sz="1400"/>
          </a:p>
        </p:txBody>
      </p:sp>
      <p:sp>
        <p:nvSpPr>
          <p:cNvPr id="33796" name="Text Box 4"/>
          <p:cNvSpPr txBox="1">
            <a:spLocks noChangeArrowheads="1"/>
          </p:cNvSpPr>
          <p:nvPr/>
        </p:nvSpPr>
        <p:spPr bwMode="auto">
          <a:xfrm>
            <a:off x="1568450" y="3113088"/>
            <a:ext cx="11049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2400" dirty="0" err="1">
                <a:latin typeface="Lucida Sans Typewriter" charset="0"/>
              </a:rPr>
              <a:t>myFun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33797" name="Text Box 5"/>
          <p:cNvSpPr txBox="1">
            <a:spLocks noChangeArrowheads="1"/>
          </p:cNvSpPr>
          <p:nvPr/>
        </p:nvSpPr>
        <p:spPr bwMode="auto">
          <a:xfrm>
            <a:off x="3563938" y="3113088"/>
            <a:ext cx="92075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2400">
                <a:latin typeface="Lucida Sans Typewriter" charset="0"/>
              </a:rPr>
              <a:t>fun1</a:t>
            </a:r>
          </a:p>
        </p:txBody>
      </p:sp>
      <p:sp>
        <p:nvSpPr>
          <p:cNvPr id="33798" name="Text Box 6"/>
          <p:cNvSpPr txBox="1">
            <a:spLocks noChangeArrowheads="1"/>
          </p:cNvSpPr>
          <p:nvPr/>
        </p:nvSpPr>
        <p:spPr bwMode="auto">
          <a:xfrm>
            <a:off x="5375275" y="3113088"/>
            <a:ext cx="11049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2400">
                <a:latin typeface="Lucida Sans Typewriter" charset="0"/>
              </a:rPr>
              <a:t>arg_2</a:t>
            </a:r>
          </a:p>
        </p:txBody>
      </p:sp>
      <p:sp>
        <p:nvSpPr>
          <p:cNvPr id="33799" name="Text Box 7"/>
          <p:cNvSpPr txBox="1">
            <a:spLocks noChangeArrowheads="1"/>
          </p:cNvSpPr>
          <p:nvPr/>
        </p:nvSpPr>
        <p:spPr bwMode="auto">
          <a:xfrm>
            <a:off x="7372350" y="3113088"/>
            <a:ext cx="55245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2400">
                <a:latin typeface="Lucida Sans Typewriter" charset="0"/>
              </a:rPr>
              <a:t>x</a:t>
            </a:r>
            <a:r>
              <a:rPr lang="ja-JP" altLang="en-US" sz="2400">
                <a:latin typeface="Lucida Sans Typewriter" charset="0"/>
              </a:rPr>
              <a:t>’</a:t>
            </a:r>
            <a:endParaRPr lang="en-US" sz="2400">
              <a:latin typeface="Lucida Sans Typewriter" charset="0"/>
            </a:endParaRPr>
          </a:p>
        </p:txBody>
      </p:sp>
      <p:sp>
        <p:nvSpPr>
          <p:cNvPr id="33800" name="Rectangle 9"/>
          <p:cNvSpPr>
            <a:spLocks noChangeArrowheads="1"/>
          </p:cNvSpPr>
          <p:nvPr/>
        </p:nvSpPr>
        <p:spPr bwMode="auto">
          <a:xfrm>
            <a:off x="509588" y="4064000"/>
            <a:ext cx="8178800" cy="109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en-US" dirty="0"/>
              <a:t>By convention, list arguments usually have an </a:t>
            </a:r>
            <a:r>
              <a:rPr kumimoji="1" lang="en-US" u="sng" dirty="0"/>
              <a:t>s</a:t>
            </a:r>
            <a:r>
              <a:rPr kumimoji="1" lang="en-US" dirty="0"/>
              <a:t> suffix on their name.  For example:</a:t>
            </a:r>
          </a:p>
        </p:txBody>
      </p:sp>
      <p:grpSp>
        <p:nvGrpSpPr>
          <p:cNvPr id="33801" name="Group 15"/>
          <p:cNvGrpSpPr>
            <a:grpSpLocks/>
          </p:cNvGrpSpPr>
          <p:nvPr/>
        </p:nvGrpSpPr>
        <p:grpSpPr bwMode="auto">
          <a:xfrm>
            <a:off x="1660525" y="5653088"/>
            <a:ext cx="3667125" cy="457200"/>
            <a:chOff x="1053" y="3265"/>
            <a:chExt cx="2310" cy="288"/>
          </a:xfrm>
        </p:grpSpPr>
        <p:sp>
          <p:nvSpPr>
            <p:cNvPr id="33802" name="Text Box 10"/>
            <p:cNvSpPr txBox="1">
              <a:spLocks noChangeArrowheads="1"/>
            </p:cNvSpPr>
            <p:nvPr/>
          </p:nvSpPr>
          <p:spPr bwMode="auto">
            <a:xfrm>
              <a:off x="1053" y="3265"/>
              <a:ext cx="348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xs</a:t>
              </a:r>
            </a:p>
          </p:txBody>
        </p:sp>
        <p:sp>
          <p:nvSpPr>
            <p:cNvPr id="33803" name="Text Box 11"/>
            <p:cNvSpPr txBox="1">
              <a:spLocks noChangeArrowheads="1"/>
            </p:cNvSpPr>
            <p:nvPr/>
          </p:nvSpPr>
          <p:spPr bwMode="auto">
            <a:xfrm>
              <a:off x="1976" y="3265"/>
              <a:ext cx="348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ns</a:t>
              </a:r>
            </a:p>
          </p:txBody>
        </p:sp>
        <p:sp>
          <p:nvSpPr>
            <p:cNvPr id="33804" name="Text Box 12"/>
            <p:cNvSpPr txBox="1">
              <a:spLocks noChangeArrowheads="1"/>
            </p:cNvSpPr>
            <p:nvPr/>
          </p:nvSpPr>
          <p:spPr bwMode="auto">
            <a:xfrm>
              <a:off x="2899" y="3265"/>
              <a:ext cx="464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nss</a:t>
              </a:r>
            </a:p>
          </p:txBody>
        </p:sp>
      </p:grp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Comments in Haskell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2600" y="2123606"/>
            <a:ext cx="8178800" cy="4876800"/>
          </a:xfrm>
        </p:spPr>
        <p:txBody>
          <a:bodyPr>
            <a:normAutofit/>
          </a:bodyPr>
          <a:lstStyle/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Strive to write clear, self-explanatory code (see 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4"/>
              </a:rPr>
              <a:t>https://wiki.haskell.org/Commenting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</a:t>
            </a:r>
          </a:p>
          <a:p>
            <a:pPr marL="0" indent="0">
              <a:buNone/>
            </a:pPr>
            <a:endParaRPr lang="en-IE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en-IE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en-IE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Avoid redundant comments</a:t>
            </a:r>
          </a:p>
          <a:p>
            <a:pPr marL="742950" lvl="1" indent="-285750"/>
            <a:endParaRPr lang="en-IE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buFont typeface="Wingdings" panose="05000000000000000000" pitchFamily="2" charset="2"/>
              <a:buChar char="q"/>
            </a:pPr>
            <a:endParaRPr lang="en-IE" dirty="0"/>
          </a:p>
          <a:p>
            <a:pPr marL="0" indent="0">
              <a:buNone/>
            </a:pPr>
            <a:endParaRPr lang="en-IE" dirty="0"/>
          </a:p>
          <a:p>
            <a:pPr marL="0" indent="0">
              <a:buNone/>
            </a:pPr>
            <a:endParaRPr lang="en-IE" dirty="0"/>
          </a:p>
          <a:p>
            <a:pPr marL="0" indent="0">
              <a:buNone/>
            </a:pPr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  <p:sp>
        <p:nvSpPr>
          <p:cNvPr id="10" name="Rectangle 2"/>
          <p:cNvSpPr txBox="1">
            <a:spLocks noChangeArrowheads="1"/>
          </p:cNvSpPr>
          <p:nvPr/>
        </p:nvSpPr>
        <p:spPr bwMode="auto">
          <a:xfrm>
            <a:off x="1188134" y="3429000"/>
            <a:ext cx="6767732" cy="46166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z"/>
              <a:defRPr kumimoji="1" sz="2800">
                <a:solidFill>
                  <a:schemeClr val="tx1"/>
                </a:solidFill>
                <a:latin typeface="+mn-lt"/>
                <a:ea typeface="ＭＳ Ｐゴシック" pitchFamily="-1" charset="-128"/>
                <a:cs typeface="ＭＳ Ｐゴシック" pitchFamily="-1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y"/>
              <a:defRPr kumimoji="1" sz="2400">
                <a:solidFill>
                  <a:schemeClr val="tx1"/>
                </a:solidFill>
                <a:latin typeface="+mn-lt"/>
                <a:ea typeface="ＭＳ Ｐゴシック" pitchFamily="-1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x"/>
              <a:defRPr kumimoji="1" sz="2000">
                <a:solidFill>
                  <a:schemeClr val="tx1"/>
                </a:solidFill>
                <a:latin typeface="+mn-lt"/>
                <a:ea typeface="ＭＳ Ｐゴシック" pitchFamily="-1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+mn-lt"/>
                <a:ea typeface="ＭＳ Ｐゴシック" pitchFamily="-1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ＭＳ Ｐゴシック" pitchFamily="-1" charset="-128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ＭＳ Ｐゴシック" pitchFamily="-1" charset="-128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ＭＳ Ｐゴシック" pitchFamily="-1" charset="-128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ＭＳ Ｐゴシック" pitchFamily="-1" charset="-128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ＭＳ Ｐゴシック" pitchFamily="-1" charset="-128"/>
              </a:defRPr>
            </a:lvl9pPr>
          </a:lstStyle>
          <a:p>
            <a:pPr marL="0" indent="0">
              <a:buNone/>
            </a:pPr>
            <a:r>
              <a:rPr lang="en-US" sz="2400" kern="0" dirty="0">
                <a:latin typeface="Lucida Sans Typewriter" charset="0"/>
              </a:rPr>
              <a:t>swap :: (</a:t>
            </a:r>
            <a:r>
              <a:rPr lang="en-US" sz="2400" kern="0" dirty="0" err="1">
                <a:latin typeface="Lucida Sans Typewriter" charset="0"/>
              </a:rPr>
              <a:t>a,b</a:t>
            </a:r>
            <a:r>
              <a:rPr lang="en-US" sz="2400" kern="0" dirty="0">
                <a:latin typeface="Lucida Sans Typewriter" charset="0"/>
              </a:rPr>
              <a:t>) -&gt; (</a:t>
            </a:r>
            <a:r>
              <a:rPr lang="en-US" sz="2400" kern="0" dirty="0" err="1">
                <a:latin typeface="Lucida Sans Typewriter" charset="0"/>
              </a:rPr>
              <a:t>b,a</a:t>
            </a:r>
            <a:r>
              <a:rPr lang="en-US" sz="2400" kern="0" dirty="0">
                <a:latin typeface="Lucida Sans Typewriter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523611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Comments in Haskell - Syntax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  <p:sp>
        <p:nvSpPr>
          <p:cNvPr id="13" name="Rectangle 2"/>
          <p:cNvSpPr>
            <a:spLocks noChangeArrowheads="1"/>
          </p:cNvSpPr>
          <p:nvPr/>
        </p:nvSpPr>
        <p:spPr bwMode="auto">
          <a:xfrm>
            <a:off x="1300909" y="4920526"/>
            <a:ext cx="5949064" cy="46166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r>
              <a:rPr lang="en-US" sz="2400" dirty="0">
                <a:latin typeface="Lucida Sans Typewriter" charset="0"/>
              </a:rPr>
              <a:t>let </a:t>
            </a:r>
            <a:r>
              <a:rPr lang="en-US" sz="2400" dirty="0" err="1">
                <a:latin typeface="Lucida Sans Typewriter" charset="0"/>
              </a:rPr>
              <a:t>newCounter</a:t>
            </a:r>
            <a:r>
              <a:rPr lang="en-US" sz="2400" dirty="0">
                <a:latin typeface="Lucida Sans Typewriter" charset="0"/>
              </a:rPr>
              <a:t> = </a:t>
            </a:r>
            <a:r>
              <a:rPr lang="en-US" sz="2400" dirty="0" err="1">
                <a:latin typeface="Lucida Sans Typewriter" charset="0"/>
              </a:rPr>
              <a:t>oldCounter</a:t>
            </a:r>
            <a:r>
              <a:rPr lang="en-US" sz="2400" dirty="0">
                <a:latin typeface="Lucida Sans Typewriter" charset="0"/>
              </a:rPr>
              <a:t> + 1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57F0DA-7EA2-BF8F-68B1-EDC20EB95C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063" y="2684848"/>
            <a:ext cx="7064755" cy="46166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r>
              <a:rPr lang="en-US" sz="2400" dirty="0">
                <a:latin typeface="Lucida Sans Typewriter" charset="0"/>
              </a:rPr>
              <a:t>-- A one-line comment looks like this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689758A2-1844-8B50-B51D-CD0C297203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063" y="4181862"/>
            <a:ext cx="7616188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r>
              <a:rPr lang="en-US" sz="2400" dirty="0">
                <a:latin typeface="Lucida Sans Typewriter" charset="0"/>
              </a:rPr>
              <a:t>{- A multiline</a:t>
            </a:r>
          </a:p>
          <a:p>
            <a:r>
              <a:rPr lang="en-US" sz="2400" dirty="0">
                <a:latin typeface="Lucida Sans Typewriter" charset="0"/>
              </a:rPr>
              <a:t>	comment can continue for many lines</a:t>
            </a:r>
          </a:p>
          <a:p>
            <a:r>
              <a:rPr lang="en-US" sz="2400" dirty="0">
                <a:latin typeface="Lucida Sans Typewriter" charset="0"/>
              </a:rPr>
              <a:t>-}</a:t>
            </a:r>
          </a:p>
        </p:txBody>
      </p:sp>
    </p:spTree>
    <p:extLst>
      <p:ext uri="{BB962C8B-B14F-4D97-AF65-F5344CB8AC3E}">
        <p14:creationId xmlns:p14="http://schemas.microsoft.com/office/powerpoint/2010/main" val="2767621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The Layout Rule</a:t>
            </a:r>
          </a:p>
        </p:txBody>
      </p:sp>
      <p:sp>
        <p:nvSpPr>
          <p:cNvPr id="3481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0F18ED2-FA50-CE42-B148-F46DA97C8814}" type="slidenum">
              <a:rPr lang="en-US" sz="1400"/>
              <a:pPr/>
              <a:t>17</a:t>
            </a:fld>
            <a:endParaRPr lang="en-US" sz="1400"/>
          </a:p>
        </p:txBody>
      </p:sp>
      <p:sp>
        <p:nvSpPr>
          <p:cNvPr id="34819" name="Text Box 3"/>
          <p:cNvSpPr txBox="1">
            <a:spLocks noChangeArrowheads="1"/>
          </p:cNvSpPr>
          <p:nvPr/>
        </p:nvSpPr>
        <p:spPr bwMode="auto">
          <a:xfrm>
            <a:off x="443706" y="1946577"/>
            <a:ext cx="8256588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In a sequence of definitions, each definition must begin in precisely the same column:</a:t>
            </a:r>
          </a:p>
        </p:txBody>
      </p:sp>
      <p:grpSp>
        <p:nvGrpSpPr>
          <p:cNvPr id="34820" name="Group 29"/>
          <p:cNvGrpSpPr>
            <a:grpSpLocks/>
          </p:cNvGrpSpPr>
          <p:nvPr/>
        </p:nvGrpSpPr>
        <p:grpSpPr bwMode="auto">
          <a:xfrm>
            <a:off x="1420813" y="3005138"/>
            <a:ext cx="6059487" cy="3000375"/>
            <a:chOff x="895" y="1893"/>
            <a:chExt cx="3817" cy="1890"/>
          </a:xfrm>
        </p:grpSpPr>
        <p:grpSp>
          <p:nvGrpSpPr>
            <p:cNvPr id="34821" name="Group 27"/>
            <p:cNvGrpSpPr>
              <a:grpSpLocks/>
            </p:cNvGrpSpPr>
            <p:nvPr/>
          </p:nvGrpSpPr>
          <p:grpSpPr bwMode="auto">
            <a:xfrm>
              <a:off x="895" y="1893"/>
              <a:ext cx="3817" cy="1208"/>
              <a:chOff x="895" y="1893"/>
              <a:chExt cx="3817" cy="1208"/>
            </a:xfrm>
          </p:grpSpPr>
          <p:sp>
            <p:nvSpPr>
              <p:cNvPr id="34832" name="Text Box 4"/>
              <p:cNvSpPr txBox="1">
                <a:spLocks noChangeArrowheads="1"/>
              </p:cNvSpPr>
              <p:nvPr/>
            </p:nvSpPr>
            <p:spPr bwMode="auto">
              <a:xfrm>
                <a:off x="895" y="1893"/>
                <a:ext cx="812" cy="120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r>
                  <a:rPr lang="en-US" sz="2400" dirty="0">
                    <a:latin typeface="Lucida Sans Typewriter" charset="0"/>
                  </a:rPr>
                  <a:t>a = 10</a:t>
                </a:r>
              </a:p>
              <a:p>
                <a:endParaRPr lang="en-US" sz="2400" dirty="0">
                  <a:latin typeface="Lucida Sans Typewriter" charset="0"/>
                </a:endParaRPr>
              </a:p>
              <a:p>
                <a:r>
                  <a:rPr lang="en-US" sz="2400" dirty="0">
                    <a:latin typeface="Lucida Sans Typewriter" charset="0"/>
                  </a:rPr>
                  <a:t>b = 20</a:t>
                </a:r>
              </a:p>
              <a:p>
                <a:endParaRPr lang="en-US" sz="2400" dirty="0">
                  <a:latin typeface="Lucida Sans Typewriter" charset="0"/>
                </a:endParaRPr>
              </a:p>
              <a:p>
                <a:r>
                  <a:rPr lang="en-US" sz="2400" dirty="0">
                    <a:latin typeface="Lucida Sans Typewriter" charset="0"/>
                  </a:rPr>
                  <a:t>c = 30</a:t>
                </a:r>
              </a:p>
            </p:txBody>
          </p:sp>
          <p:sp>
            <p:nvSpPr>
              <p:cNvPr id="34833" name="Text Box 5"/>
              <p:cNvSpPr txBox="1">
                <a:spLocks noChangeArrowheads="1"/>
              </p:cNvSpPr>
              <p:nvPr/>
            </p:nvSpPr>
            <p:spPr bwMode="auto">
              <a:xfrm>
                <a:off x="2281" y="1893"/>
                <a:ext cx="928" cy="120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r>
                  <a:rPr lang="en-US" sz="2400" dirty="0">
                    <a:latin typeface="Lucida Sans Typewriter" charset="0"/>
                  </a:rPr>
                  <a:t>a = 10</a:t>
                </a:r>
              </a:p>
              <a:p>
                <a:endParaRPr lang="en-US" sz="2400" dirty="0">
                  <a:latin typeface="Lucida Sans Typewriter" charset="0"/>
                </a:endParaRPr>
              </a:p>
              <a:p>
                <a:r>
                  <a:rPr lang="en-US" sz="2400" dirty="0">
                    <a:latin typeface="Lucida Sans Typewriter" charset="0"/>
                  </a:rPr>
                  <a:t> b = 20</a:t>
                </a:r>
              </a:p>
              <a:p>
                <a:endParaRPr lang="en-US" sz="2400" dirty="0">
                  <a:latin typeface="Lucida Sans Typewriter" charset="0"/>
                </a:endParaRPr>
              </a:p>
              <a:p>
                <a:r>
                  <a:rPr lang="en-US" sz="2400" dirty="0">
                    <a:latin typeface="Lucida Sans Typewriter" charset="0"/>
                  </a:rPr>
                  <a:t>c = 30</a:t>
                </a:r>
              </a:p>
            </p:txBody>
          </p:sp>
          <p:sp>
            <p:nvSpPr>
              <p:cNvPr id="34834" name="Text Box 6"/>
              <p:cNvSpPr txBox="1">
                <a:spLocks noChangeArrowheads="1"/>
              </p:cNvSpPr>
              <p:nvPr/>
            </p:nvSpPr>
            <p:spPr bwMode="auto">
              <a:xfrm>
                <a:off x="3784" y="1893"/>
                <a:ext cx="928" cy="120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r>
                  <a:rPr lang="en-US" sz="2400">
                    <a:latin typeface="Lucida Sans Typewriter" charset="0"/>
                  </a:rPr>
                  <a:t> a = 10</a:t>
                </a:r>
              </a:p>
              <a:p>
                <a:endParaRPr lang="en-US" sz="2400">
                  <a:latin typeface="Lucida Sans Typewriter" charset="0"/>
                </a:endParaRPr>
              </a:p>
              <a:p>
                <a:r>
                  <a:rPr lang="en-US" sz="2400">
                    <a:latin typeface="Lucida Sans Typewriter" charset="0"/>
                  </a:rPr>
                  <a:t>b = 20</a:t>
                </a:r>
              </a:p>
              <a:p>
                <a:endParaRPr lang="en-US" sz="2400">
                  <a:latin typeface="Lucida Sans Typewriter" charset="0"/>
                </a:endParaRPr>
              </a:p>
              <a:p>
                <a:r>
                  <a:rPr lang="en-US" sz="2400">
                    <a:latin typeface="Lucida Sans Typewriter" charset="0"/>
                  </a:rPr>
                  <a:t> c = 30</a:t>
                </a:r>
              </a:p>
            </p:txBody>
          </p:sp>
        </p:grpSp>
        <p:grpSp>
          <p:nvGrpSpPr>
            <p:cNvPr id="34822" name="Group 28"/>
            <p:cNvGrpSpPr>
              <a:grpSpLocks/>
            </p:cNvGrpSpPr>
            <p:nvPr/>
          </p:nvGrpSpPr>
          <p:grpSpPr bwMode="auto">
            <a:xfrm>
              <a:off x="1089" y="3495"/>
              <a:ext cx="3303" cy="288"/>
              <a:chOff x="1089" y="3495"/>
              <a:chExt cx="3303" cy="288"/>
            </a:xfrm>
          </p:grpSpPr>
          <p:grpSp>
            <p:nvGrpSpPr>
              <p:cNvPr id="34823" name="Group 15"/>
              <p:cNvGrpSpPr>
                <a:grpSpLocks/>
              </p:cNvGrpSpPr>
              <p:nvPr/>
            </p:nvGrpSpPr>
            <p:grpSpPr bwMode="auto">
              <a:xfrm>
                <a:off x="2601" y="3495"/>
                <a:ext cx="287" cy="288"/>
                <a:chOff x="1085" y="3117"/>
                <a:chExt cx="411" cy="416"/>
              </a:xfrm>
            </p:grpSpPr>
            <p:sp>
              <p:nvSpPr>
                <p:cNvPr id="34830" name="Line 13"/>
                <p:cNvSpPr>
                  <a:spLocks noChangeShapeType="1"/>
                </p:cNvSpPr>
                <p:nvPr/>
              </p:nvSpPr>
              <p:spPr bwMode="auto">
                <a:xfrm>
                  <a:off x="1091" y="3117"/>
                  <a:ext cx="405" cy="406"/>
                </a:xfrm>
                <a:prstGeom prst="line">
                  <a:avLst/>
                </a:prstGeom>
                <a:noFill/>
                <a:ln w="127000" cap="sq">
                  <a:solidFill>
                    <a:srgbClr val="FF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4831" name="Line 14"/>
                <p:cNvSpPr>
                  <a:spLocks noChangeShapeType="1"/>
                </p:cNvSpPr>
                <p:nvPr/>
              </p:nvSpPr>
              <p:spPr bwMode="auto">
                <a:xfrm flipH="1">
                  <a:off x="1085" y="3127"/>
                  <a:ext cx="405" cy="406"/>
                </a:xfrm>
                <a:prstGeom prst="line">
                  <a:avLst/>
                </a:prstGeom>
                <a:noFill/>
                <a:ln w="127000" cap="sq">
                  <a:solidFill>
                    <a:srgbClr val="FF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34824" name="Group 16"/>
              <p:cNvGrpSpPr>
                <a:grpSpLocks/>
              </p:cNvGrpSpPr>
              <p:nvPr/>
            </p:nvGrpSpPr>
            <p:grpSpPr bwMode="auto">
              <a:xfrm>
                <a:off x="4104" y="3495"/>
                <a:ext cx="288" cy="288"/>
                <a:chOff x="1085" y="3117"/>
                <a:chExt cx="411" cy="416"/>
              </a:xfrm>
            </p:grpSpPr>
            <p:sp>
              <p:nvSpPr>
                <p:cNvPr id="34828" name="Line 17"/>
                <p:cNvSpPr>
                  <a:spLocks noChangeShapeType="1"/>
                </p:cNvSpPr>
                <p:nvPr/>
              </p:nvSpPr>
              <p:spPr bwMode="auto">
                <a:xfrm>
                  <a:off x="1091" y="3117"/>
                  <a:ext cx="405" cy="406"/>
                </a:xfrm>
                <a:prstGeom prst="line">
                  <a:avLst/>
                </a:prstGeom>
                <a:noFill/>
                <a:ln w="127000" cap="sq">
                  <a:solidFill>
                    <a:srgbClr val="FF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4829" name="Line 18"/>
                <p:cNvSpPr>
                  <a:spLocks noChangeShapeType="1"/>
                </p:cNvSpPr>
                <p:nvPr/>
              </p:nvSpPr>
              <p:spPr bwMode="auto">
                <a:xfrm flipH="1">
                  <a:off x="1085" y="3127"/>
                  <a:ext cx="405" cy="406"/>
                </a:xfrm>
                <a:prstGeom prst="line">
                  <a:avLst/>
                </a:prstGeom>
                <a:noFill/>
                <a:ln w="127000" cap="sq">
                  <a:solidFill>
                    <a:srgbClr val="FF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34825" name="Group 24"/>
              <p:cNvGrpSpPr>
                <a:grpSpLocks/>
              </p:cNvGrpSpPr>
              <p:nvPr/>
            </p:nvGrpSpPr>
            <p:grpSpPr bwMode="auto">
              <a:xfrm>
                <a:off x="1089" y="3495"/>
                <a:ext cx="423" cy="281"/>
                <a:chOff x="958" y="3028"/>
                <a:chExt cx="604" cy="406"/>
              </a:xfrm>
            </p:grpSpPr>
            <p:sp>
              <p:nvSpPr>
                <p:cNvPr id="34826" name="Line 22"/>
                <p:cNvSpPr>
                  <a:spLocks noChangeShapeType="1"/>
                </p:cNvSpPr>
                <p:nvPr/>
              </p:nvSpPr>
              <p:spPr bwMode="auto">
                <a:xfrm flipH="1">
                  <a:off x="1157" y="3028"/>
                  <a:ext cx="405" cy="406"/>
                </a:xfrm>
                <a:prstGeom prst="line">
                  <a:avLst/>
                </a:prstGeom>
                <a:noFill/>
                <a:ln w="127000" cap="sq">
                  <a:solidFill>
                    <a:srgbClr val="008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34827" name="Line 23"/>
                <p:cNvSpPr>
                  <a:spLocks noChangeShapeType="1"/>
                </p:cNvSpPr>
                <p:nvPr/>
              </p:nvSpPr>
              <p:spPr bwMode="auto">
                <a:xfrm>
                  <a:off x="958" y="3242"/>
                  <a:ext cx="187" cy="187"/>
                </a:xfrm>
                <a:prstGeom prst="line">
                  <a:avLst/>
                </a:prstGeom>
                <a:noFill/>
                <a:ln w="127000" cap="sq">
                  <a:solidFill>
                    <a:srgbClr val="008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</p:grp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48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48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The Layout Rule</a:t>
            </a:r>
          </a:p>
        </p:txBody>
      </p:sp>
      <p:sp>
        <p:nvSpPr>
          <p:cNvPr id="3481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0F18ED2-FA50-CE42-B148-F46DA97C8814}" type="slidenum">
              <a:rPr lang="en-US" sz="1400"/>
              <a:pPr/>
              <a:t>18</a:t>
            </a:fld>
            <a:endParaRPr lang="en-US" sz="1400"/>
          </a:p>
        </p:txBody>
      </p:sp>
      <p:grpSp>
        <p:nvGrpSpPr>
          <p:cNvPr id="2" name="Group 22">
            <a:extLst>
              <a:ext uri="{FF2B5EF4-FFF2-40B4-BE49-F238E27FC236}">
                <a16:creationId xmlns:a16="http://schemas.microsoft.com/office/drawing/2014/main" id="{14F0BF4E-9154-9420-45E4-713954B264F3}"/>
              </a:ext>
            </a:extLst>
          </p:cNvPr>
          <p:cNvGrpSpPr>
            <a:grpSpLocks/>
          </p:cNvGrpSpPr>
          <p:nvPr/>
        </p:nvGrpSpPr>
        <p:grpSpPr bwMode="auto">
          <a:xfrm>
            <a:off x="3622675" y="3347435"/>
            <a:ext cx="1347787" cy="730250"/>
            <a:chOff x="2268" y="2127"/>
            <a:chExt cx="849" cy="460"/>
          </a:xfrm>
        </p:grpSpPr>
        <p:sp>
          <p:nvSpPr>
            <p:cNvPr id="3" name="AutoShape 21">
              <a:extLst>
                <a:ext uri="{FF2B5EF4-FFF2-40B4-BE49-F238E27FC236}">
                  <a16:creationId xmlns:a16="http://schemas.microsoft.com/office/drawing/2014/main" id="{FC9C99E3-150D-8FA1-1EE2-1D270A3C42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68" y="2127"/>
              <a:ext cx="849" cy="460"/>
            </a:xfrm>
            <a:prstGeom prst="rightArrow">
              <a:avLst>
                <a:gd name="adj1" fmla="val 50000"/>
                <a:gd name="adj2" fmla="val 46141"/>
              </a:avLst>
            </a:prstGeom>
            <a:solidFill>
              <a:srgbClr val="008000"/>
            </a:solidFill>
            <a:ln w="12700" cap="sq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" name="Text Box 18">
              <a:extLst>
                <a:ext uri="{FF2B5EF4-FFF2-40B4-BE49-F238E27FC236}">
                  <a16:creationId xmlns:a16="http://schemas.microsoft.com/office/drawing/2014/main" id="{A3CB5317-DA1A-2B61-61E8-112B8C6AF9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77" y="2176"/>
              <a:ext cx="765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dirty="0"/>
                <a:t>means</a:t>
              </a:r>
            </a:p>
          </p:txBody>
        </p:sp>
      </p:grpSp>
      <p:sp>
        <p:nvSpPr>
          <p:cNvPr id="5" name="Text Box 3">
            <a:extLst>
              <a:ext uri="{FF2B5EF4-FFF2-40B4-BE49-F238E27FC236}">
                <a16:creationId xmlns:a16="http://schemas.microsoft.com/office/drawing/2014/main" id="{C366C0B8-6D9D-6219-629D-492292AC3B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6798" y="2915104"/>
            <a:ext cx="2209800" cy="19177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a = b + c</a:t>
            </a:r>
          </a:p>
          <a:p>
            <a:r>
              <a:rPr lang="en-US" sz="2400" dirty="0">
                <a:latin typeface="Lucida Sans Typewriter" charset="0"/>
              </a:rPr>
              <a:t>    where</a:t>
            </a:r>
          </a:p>
          <a:p>
            <a:r>
              <a:rPr lang="en-US" sz="2400" dirty="0">
                <a:latin typeface="Lucida Sans Typewriter" charset="0"/>
              </a:rPr>
              <a:t>      b = 1</a:t>
            </a:r>
          </a:p>
          <a:p>
            <a:r>
              <a:rPr lang="en-US" sz="2400" dirty="0">
                <a:latin typeface="Lucida Sans Typewriter" charset="0"/>
              </a:rPr>
              <a:t>      c = 2</a:t>
            </a:r>
          </a:p>
          <a:p>
            <a:r>
              <a:rPr lang="en-US" sz="2400" dirty="0">
                <a:latin typeface="Lucida Sans Typewriter" charset="0"/>
              </a:rPr>
              <a:t>d = a * 2</a:t>
            </a:r>
          </a:p>
        </p:txBody>
      </p:sp>
      <p:sp>
        <p:nvSpPr>
          <p:cNvPr id="6" name="Text Box 10">
            <a:extLst>
              <a:ext uri="{FF2B5EF4-FFF2-40B4-BE49-F238E27FC236}">
                <a16:creationId xmlns:a16="http://schemas.microsoft.com/office/drawing/2014/main" id="{F1E8E3A5-B41F-EB0B-7543-4DBFD37A3F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24475" y="2915104"/>
            <a:ext cx="2595563" cy="193992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a = b + c</a:t>
            </a:r>
          </a:p>
          <a:p>
            <a:r>
              <a:rPr lang="en-US" sz="2400" dirty="0">
                <a:latin typeface="Lucida Sans Typewriter" charset="0"/>
              </a:rPr>
              <a:t>    where</a:t>
            </a:r>
          </a:p>
          <a:p>
            <a:r>
              <a:rPr lang="en-US" sz="2400" dirty="0">
                <a:latin typeface="Lucida Sans Typewriter" charset="0"/>
              </a:rPr>
              <a:t>      {b = 1;</a:t>
            </a:r>
          </a:p>
          <a:p>
            <a:r>
              <a:rPr lang="en-US" sz="2400" dirty="0">
                <a:latin typeface="Lucida Sans Typewriter" charset="0"/>
              </a:rPr>
              <a:t>       c = 2}</a:t>
            </a:r>
          </a:p>
          <a:p>
            <a:r>
              <a:rPr lang="en-US" sz="2400" dirty="0">
                <a:latin typeface="Lucida Sans Typewriter" charset="0"/>
              </a:rPr>
              <a:t> d = a * 2</a:t>
            </a:r>
          </a:p>
        </p:txBody>
      </p:sp>
      <p:sp>
        <p:nvSpPr>
          <p:cNvPr id="7" name="AutoShape 14">
            <a:extLst>
              <a:ext uri="{FF2B5EF4-FFF2-40B4-BE49-F238E27FC236}">
                <a16:creationId xmlns:a16="http://schemas.microsoft.com/office/drawing/2014/main" id="{30E479DD-0C64-94AB-8C8E-44CB9009FD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588" y="5541963"/>
            <a:ext cx="3113087" cy="566737"/>
          </a:xfrm>
          <a:prstGeom prst="wedgeRoundRectCallout">
            <a:avLst>
              <a:gd name="adj1" fmla="val -2625"/>
              <a:gd name="adj2" fmla="val -136273"/>
              <a:gd name="adj3" fmla="val 16667"/>
            </a:avLst>
          </a:prstGeom>
          <a:noFill/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/>
              <a:t>implicit grouping</a:t>
            </a:r>
          </a:p>
        </p:txBody>
      </p:sp>
      <p:sp>
        <p:nvSpPr>
          <p:cNvPr id="8" name="AutoShape 15">
            <a:extLst>
              <a:ext uri="{FF2B5EF4-FFF2-40B4-BE49-F238E27FC236}">
                <a16:creationId xmlns:a16="http://schemas.microsoft.com/office/drawing/2014/main" id="{105C6083-660B-B40E-3731-DB4F51A971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4475" y="5541963"/>
            <a:ext cx="3113088" cy="566737"/>
          </a:xfrm>
          <a:prstGeom prst="wedgeRoundRectCallout">
            <a:avLst>
              <a:gd name="adj1" fmla="val -3801"/>
              <a:gd name="adj2" fmla="val -127593"/>
              <a:gd name="adj3" fmla="val 16667"/>
            </a:avLst>
          </a:prstGeom>
          <a:noFill/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dirty="0"/>
              <a:t>explicit grouping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81767BEA-1BE4-5303-3AA1-E01297720F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011" y="1901560"/>
            <a:ext cx="8139113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The layout rule avoids the need for explicit syntax to indicate the grouping of definitions.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3B2B69-5403-DD32-FC08-5C4CEA6A0148}"/>
              </a:ext>
            </a:extLst>
          </p:cNvPr>
          <p:cNvSpPr txBox="1"/>
          <p:nvPr/>
        </p:nvSpPr>
        <p:spPr>
          <a:xfrm>
            <a:off x="949872" y="6244357"/>
            <a:ext cx="748769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b="1" dirty="0"/>
              <a:t>Tip</a:t>
            </a:r>
            <a:r>
              <a:rPr lang="en-IE" dirty="0"/>
              <a:t>: Align code neatly to avoid syntax errors.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43636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Recap</a:t>
            </a:r>
          </a:p>
        </p:txBody>
      </p:sp>
      <p:sp>
        <p:nvSpPr>
          <p:cNvPr id="3481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0F18ED2-FA50-CE42-B148-F46DA97C8814}" type="slidenum">
              <a:rPr lang="en-US" sz="1400"/>
              <a:pPr/>
              <a:t>19</a:t>
            </a:fld>
            <a:endParaRPr lang="en-US" sz="1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7989C6-71EC-C9C3-2232-E078CE611EE8}"/>
              </a:ext>
            </a:extLst>
          </p:cNvPr>
          <p:cNvSpPr txBox="1"/>
          <p:nvPr/>
        </p:nvSpPr>
        <p:spPr>
          <a:xfrm>
            <a:off x="2518348" y="6370820"/>
            <a:ext cx="648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B46C17-EA47-204B-E9FF-6CACBF75405C}"/>
              </a:ext>
            </a:extLst>
          </p:cNvPr>
          <p:cNvSpPr txBox="1"/>
          <p:nvPr/>
        </p:nvSpPr>
        <p:spPr>
          <a:xfrm>
            <a:off x="484553" y="2056177"/>
            <a:ext cx="7562539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E" b="1" dirty="0"/>
              <a:t>Key Takeaways</a:t>
            </a:r>
            <a:r>
              <a:rPr lang="en-IE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endParaRPr lang="en-IE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IE" dirty="0" err="1"/>
              <a:t>GHCi</a:t>
            </a:r>
            <a:r>
              <a:rPr lang="en-IE" dirty="0"/>
              <a:t> is an interactive and powerful environment for Haskell.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IE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IE" dirty="0"/>
              <a:t>Use the Prelude for built-in functions and utilities.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IE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IE" dirty="0"/>
              <a:t>Write clean, concise scripts and test them in </a:t>
            </a:r>
            <a:r>
              <a:rPr lang="en-IE" dirty="0" err="1"/>
              <a:t>GHCi</a:t>
            </a:r>
            <a:r>
              <a:rPr lang="en-IE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3368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577FC6-C59C-2669-4EF6-7A0FEDBE8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52FD39C-9ADB-C245-9503-846EF8BEFA4C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  <p:pic>
        <p:nvPicPr>
          <p:cNvPr id="4" name="Picture 3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0F2E1EFF-4C98-7A67-9191-8B8D24E858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3100" y="178406"/>
            <a:ext cx="5257800" cy="5257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0DBB535-4846-79B5-29B5-3BAB2EE500A1}"/>
              </a:ext>
            </a:extLst>
          </p:cNvPr>
          <p:cNvSpPr txBox="1"/>
          <p:nvPr/>
        </p:nvSpPr>
        <p:spPr>
          <a:xfrm>
            <a:off x="2581551" y="5602461"/>
            <a:ext cx="398089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Any Questions ? </a:t>
            </a:r>
          </a:p>
        </p:txBody>
      </p:sp>
    </p:spTree>
    <p:extLst>
      <p:ext uri="{BB962C8B-B14F-4D97-AF65-F5344CB8AC3E}">
        <p14:creationId xmlns:p14="http://schemas.microsoft.com/office/powerpoint/2010/main" val="824035140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Override1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2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3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4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5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6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7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8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9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10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11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12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13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14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15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16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17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18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19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20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1807</TotalTime>
  <Words>938</Words>
  <Application>Microsoft Macintosh PowerPoint</Application>
  <PresentationFormat>On-screen Show (4:3)</PresentationFormat>
  <Paragraphs>217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Arial</vt:lpstr>
      <vt:lpstr>Arial Black</vt:lpstr>
      <vt:lpstr>Lucida Sans Typewriter</vt:lpstr>
      <vt:lpstr>Tahoma</vt:lpstr>
      <vt:lpstr>Times New Roman</vt:lpstr>
      <vt:lpstr>Trebuchet MS</vt:lpstr>
      <vt:lpstr>Wingdings</vt:lpstr>
      <vt:lpstr>Berlin</vt:lpstr>
      <vt:lpstr>PowerPoint Presentation</vt:lpstr>
      <vt:lpstr>Introduction to GHC (Glasgow Haskell Compiler)</vt:lpstr>
      <vt:lpstr>Starting with GHCi</vt:lpstr>
      <vt:lpstr>PowerPoint Presentation</vt:lpstr>
      <vt:lpstr>The Standard Prelude</vt:lpstr>
      <vt:lpstr>The Standard Prelude</vt:lpstr>
      <vt:lpstr>The Standard Prelude</vt:lpstr>
      <vt:lpstr>The Standard Prelude</vt:lpstr>
      <vt:lpstr>Function Application in Haskell</vt:lpstr>
      <vt:lpstr>Function Application in Haskell</vt:lpstr>
      <vt:lpstr>Examples</vt:lpstr>
      <vt:lpstr>Haskell Scripts</vt:lpstr>
      <vt:lpstr>PowerPoint Presentation</vt:lpstr>
      <vt:lpstr>PowerPoint Presentation</vt:lpstr>
      <vt:lpstr>Naming Requirements</vt:lpstr>
      <vt:lpstr>Comments in Haskell </vt:lpstr>
      <vt:lpstr>Comments in Haskell - Syntax</vt:lpstr>
      <vt:lpstr>The Layout Rule</vt:lpstr>
      <vt:lpstr>The Layout Rule</vt:lpstr>
      <vt:lpstr>Recap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205</cp:revision>
  <cp:lastPrinted>2001-01-05T12:55:38Z</cp:lastPrinted>
  <dcterms:created xsi:type="dcterms:W3CDTF">2016-01-07T10:43:40Z</dcterms:created>
  <dcterms:modified xsi:type="dcterms:W3CDTF">2026-01-21T16:58:39Z</dcterms:modified>
</cp:coreProperties>
</file>