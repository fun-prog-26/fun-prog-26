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0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2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025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818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PROGRAMMING IN HASKELL</a:t>
            </a:r>
            <a:endParaRPr lang="en-US" sz="3600" dirty="0"/>
          </a:p>
        </p:txBody>
      </p:sp>
      <p:pic>
        <p:nvPicPr>
          <p:cNvPr id="6" name="Image 0" descr="/sessions/dazzling-youthful-einstein/haskel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325880"/>
            <a:ext cx="3108960" cy="1965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566160"/>
            <a:ext cx="7818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 13.3 – type, newtype &amp; Parser Combinators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 —  A Synonym, Not a New Type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type does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9C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</a:t>
            </a: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creates an </a:t>
            </a:r>
            <a:r>
              <a:rPr lang="en-US" sz="1100" b="1" dirty="0">
                <a:solidFill>
                  <a:srgbClr val="F4B9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alias</a:t>
            </a: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— a new name for an existing type.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compiler sees through it completely.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two names are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interchangeable.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new type is created at runtime.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3108960"/>
            <a:ext cx="3931920" cy="173736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3108960"/>
            <a:ext cx="54864" cy="17373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" y="31638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" y="3447288"/>
            <a:ext cx="37490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Error = String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means Error and String are the SAME type.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 pass a String wherever Error 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expected, and vice-versa — no wrapping needed.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777240"/>
            <a:ext cx="443484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11312" y="813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39CDE7"/>
                </a:solidFill>
              </a:rPr>
              <a:t>Haskell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562856" y="978408"/>
            <a:ext cx="41788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 our question: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Error  = String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Result a = Either Error (String, a)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These two are identical to the compiler: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showError :: Error  -&gt; String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showError :: String -&gt; String   -- same thing!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Result a expands to: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Either String (String, a)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newtype  —  A True New Type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newtype does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3931920" cy="9144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54864" cy="9144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Creates a distinct type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" y="152704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compiler treats it as genuinely different</a:t>
            </a:r>
            <a:endParaRPr lang="en-US" sz="10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the type it wraps. No accidental mixing.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3931920" cy="9144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54864" cy="91440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" y="22951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runtime overhead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2336" y="257860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wrapper is erased at compile time.</a:t>
            </a:r>
            <a:endParaRPr lang="en-US" sz="10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Exactly as fast as the underlying type.</a:t>
            </a:r>
            <a:endParaRPr lang="en-US" sz="1000" dirty="0">
              <a:solidFill>
                <a:schemeClr val="accent2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3931920" cy="9144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291840"/>
            <a:ext cx="54864" cy="9144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2336" y="33467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Exactly one field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2336" y="363016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4B942"/>
                </a:solidFill>
                <a:latin typeface="Consolas" pitchFamily="34" charset="0"/>
                <a:cs typeface="Consolas" pitchFamily="34" charset="-120"/>
              </a:rPr>
              <a:t>newtype must wrap exactly one value in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4B942"/>
                </a:solidFill>
                <a:latin typeface="Consolas" pitchFamily="34" charset="0"/>
                <a:cs typeface="Consolas" pitchFamily="34" charset="-120"/>
              </a:rPr>
              <a:t>one constructor — no more, no less.</a:t>
            </a:r>
          </a:p>
        </p:txBody>
      </p:sp>
      <p:sp>
        <p:nvSpPr>
          <p:cNvPr id="20" name="Shape 18"/>
          <p:cNvSpPr/>
          <p:nvPr/>
        </p:nvSpPr>
        <p:spPr>
          <a:xfrm>
            <a:off x="4434840" y="777240"/>
            <a:ext cx="443484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11312" y="813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39CDE7"/>
                </a:solidFill>
              </a:rPr>
              <a:t>Haskell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62856" y="978408"/>
            <a:ext cx="41788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newtype wraps one type in one constructor: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newtype Parser a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Parser { runParser :: String -&gt; Result a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The constructor wraps: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String -&gt; Result 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into the distinct type: Parser a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runParser UNWRAPS it: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runParser :: Parser a -&gt; (String -&gt; Result a)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You CANNOT accidentally pass a raw function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where a Parser is expected — the type system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enforces the boundary.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 vs  newtype  —  Key Differences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804672"/>
            <a:ext cx="1280160" cy="310896"/>
          </a:xfrm>
          <a:prstGeom prst="rect">
            <a:avLst/>
          </a:prstGeom>
          <a:solidFill>
            <a:srgbClr val="F4B942">
              <a:alpha val="80000"/>
            </a:srgbClr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8046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804672"/>
            <a:ext cx="1280160" cy="310896"/>
          </a:xfrm>
          <a:prstGeom prst="rect">
            <a:avLst/>
          </a:prstGeom>
          <a:solidFill>
            <a:srgbClr val="39CDE7">
              <a:alpha val="80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8046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newtype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777240"/>
            <a:ext cx="0" cy="4251960"/>
          </a:xfrm>
          <a:prstGeom prst="line">
            <a:avLst/>
          </a:prstGeom>
          <a:noFill/>
          <a:ln w="12700">
            <a:solidFill>
              <a:srgbClr val="A0C4C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" y="1234440"/>
            <a:ext cx="886968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8600" y="1280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type created?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68880" y="1280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B9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— just an alias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09160" y="1280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 — a distinct type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37160" y="1783080"/>
            <a:ext cx="8869680" cy="502920"/>
          </a:xfrm>
          <a:prstGeom prst="rect">
            <a:avLst/>
          </a:prstGeom>
          <a:solidFill>
            <a:srgbClr val="1A3B6E">
              <a:alpha val="6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 cost?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6888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B9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None (same type)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916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None (wrapper erased)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37160" y="2331720"/>
            <a:ext cx="886968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860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Type-checked boundary?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6888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— can mix freely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2377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 — enforced by compiler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37160" y="2880360"/>
            <a:ext cx="8869680" cy="502920"/>
          </a:xfrm>
          <a:prstGeom prst="rect">
            <a:avLst/>
          </a:prstGeom>
          <a:solidFill>
            <a:srgbClr val="1A3B6E">
              <a:alpha val="6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860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have instances?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6888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— same as wrapped type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09160" y="2926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 — own Functor, Monad etc.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37160" y="3429000"/>
            <a:ext cx="886968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2860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 accessor?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6888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n/a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09160" y="3474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 — runParser unwraps it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37160" y="3977640"/>
            <a:ext cx="8869680" cy="502920"/>
          </a:xfrm>
          <a:prstGeom prst="rect">
            <a:avLst/>
          </a:prstGeom>
          <a:solidFill>
            <a:srgbClr val="1A3B6E">
              <a:alpha val="6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28600" y="4023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46888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Readability / documentation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0916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Abstraction &amp; type safety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 newtype  for  Parser?  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C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interconnected reasons: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292608" cy="29260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115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C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Safety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would make Parser a just an alias for String → Result a. Any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of that type could be used as a Parser accidentally. With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newtype, the compiler enforces the distinction.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292608" cy="292608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22402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D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Typeclass Instances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25877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newtype lets us write Functor, Applicative, Monad instances specifically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Parser. A plain type alias cannot have its own instances — it would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conflict with existing instances for the underlying function type.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364992"/>
            <a:ext cx="292608" cy="29260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3364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B9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Named Accessor via Record Syntax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371246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record field { runParser :: ... } gives us a free unwrapping function.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runParser :: Parser a → String → Result a  is the "run" interface.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both idiomatic and zero-cost.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Parser Type — Unpacked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11312" y="813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39CDE7"/>
                </a:solidFill>
              </a:rPr>
              <a:t>Haskell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02336" y="978408"/>
            <a:ext cx="8339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 Error    = String                       -- alias: Error is just String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 Result a = Either Error (String, a)     -- alias: Either String (String, a)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newtype Parser a = Parser { runParser :: String -&gt; Result a 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2697480" cy="141732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54864" cy="141732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2336" y="19751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" y="2258568"/>
            <a:ext cx="25146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</a:t>
            </a:r>
            <a:endParaRPr lang="en-US" sz="10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10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remaining input</a:t>
            </a:r>
            <a:endParaRPr lang="en-US" sz="10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be parsed.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0" y="1929384"/>
            <a:ext cx="2880360" cy="141732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18688" y="1920240"/>
            <a:ext cx="54864" cy="141732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46704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46704" y="2258568"/>
            <a:ext cx="2697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Either Error (String, a)</a:t>
            </a:r>
            <a:endParaRPr lang="en-US" sz="10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sz="10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Left  → parse failure + message</a:t>
            </a:r>
            <a:endParaRPr lang="en-US" sz="10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 → (remaining, matched value)</a:t>
            </a:r>
            <a:endParaRPr lang="en-US" sz="1000" dirty="0">
              <a:solidFill>
                <a:schemeClr val="accent2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09360" y="1920240"/>
            <a:ext cx="2560320" cy="141732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09360" y="1920240"/>
            <a:ext cx="54864" cy="14173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37376" y="19751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 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37376" y="2258568"/>
            <a:ext cx="23774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F4B942"/>
                </a:solidFill>
                <a:latin typeface="Consolas" pitchFamily="34" charset="0"/>
                <a:cs typeface="Consolas" pitchFamily="34" charset="-120"/>
              </a:rPr>
              <a:t>The </a:t>
            </a:r>
            <a:r>
              <a:rPr lang="en-US" sz="1000" dirty="0" err="1">
                <a:solidFill>
                  <a:srgbClr val="F4B942"/>
                </a:solidFill>
                <a:latin typeface="Consolas" pitchFamily="34" charset="0"/>
                <a:cs typeface="Consolas" pitchFamily="34" charset="-120"/>
              </a:rPr>
              <a:t>newtype</a:t>
            </a:r>
            <a:r>
              <a:rPr lang="en-US" sz="1000" dirty="0">
                <a:solidFill>
                  <a:srgbClr val="F4B942"/>
                </a:solidFill>
                <a:latin typeface="Consolas" pitchFamily="34" charset="0"/>
                <a:cs typeface="Consolas" pitchFamily="34" charset="-120"/>
              </a:rPr>
              <a:t> wrapper around the function.</a:t>
            </a:r>
          </a:p>
          <a:p>
            <a:r>
              <a:rPr lang="en-US" sz="1000" dirty="0">
                <a:solidFill>
                  <a:srgbClr val="F4B942"/>
                </a:solidFill>
                <a:latin typeface="Consolas" pitchFamily="34" charset="0"/>
                <a:cs typeface="Consolas" pitchFamily="34" charset="-120"/>
              </a:rPr>
              <a:t>runParser unwraps it.</a:t>
            </a:r>
          </a:p>
        </p:txBody>
      </p:sp>
      <p:sp>
        <p:nvSpPr>
          <p:cNvPr id="23" name="Shape 21"/>
          <p:cNvSpPr/>
          <p:nvPr/>
        </p:nvSpPr>
        <p:spPr>
          <a:xfrm>
            <a:off x="3246120" y="2442210"/>
            <a:ext cx="2788920" cy="17526"/>
          </a:xfrm>
          <a:prstGeom prst="line">
            <a:avLst/>
          </a:prstGeom>
          <a:noFill/>
          <a:ln w="19050">
            <a:solidFill>
              <a:srgbClr val="60DE72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7180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C4CF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34930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use a Parser:   runParser myParser "input string"    → Result 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38221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build a Parser: Parser $ \input -&gt; ...              wraps any String → Result a function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 charP  Works  (the 4-mark answer)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4206240" cy="21945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22192" y="813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39CDE7"/>
                </a:solidFill>
              </a:rPr>
              <a:t>Haskell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02336" y="978408"/>
            <a:ext cx="39502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charP :: Char -&gt; Parser Char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charP c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Parser $ \input -&gt;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case input of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(x:xs) | x == c -&gt; Right (xs, 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_               -&gt; Left "character not found"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09160" y="8046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C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Step-by-step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115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charP 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Takes a target character c as argument.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 $ …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19933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Wraps a lambda in the Parser newtype.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2359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\input →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2615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run, receives the full input string.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9809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(x:xs) | x == 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32369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Destructs the string. If the first char matches c…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3602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(xs, x)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3858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…returns the remaining string xs and the matched char.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4224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→ Left …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4480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Anything else (empty or wrong char) returns a failure.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charP  Pattern Match  —  Visual Trace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0D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1: Pattern (x:xs)  where  x == c   ✓  Match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416052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76472" y="115214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39CDE7"/>
                </a:solidFill>
              </a:rPr>
              <a:t>GHCi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02336" y="1316736"/>
            <a:ext cx="39044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 =  "abc"     →  x = 'a',  xs = "bc"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    =  'a'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guard: x == c?   'a' == 'a'  →  True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Right ("bc", 'a')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--      ^^^   ^^^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--      xs    x  (the remaining string + matched char)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3520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2: No match — wildcard  _  catches everything else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858768"/>
            <a:ext cx="416052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76472" y="389534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39CDE7"/>
                </a:solidFill>
              </a:rPr>
              <a:t>GHCi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02336" y="4059936"/>
            <a:ext cx="3904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 =  "abc"     →  x = 'a',  xs = "bc"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    =  'x'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guard: x == c?   'a' == 'x'  →  False  (falls to _ branch)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Also fires for empty input: ""  (x:xs fails to match)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Left "character not found"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115568"/>
            <a:ext cx="4206240" cy="105156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1115568"/>
            <a:ext cx="54864" cy="105156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91456" y="1170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(xs, x)  — success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91456" y="1453896"/>
            <a:ext cx="4023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60DE72"/>
                </a:solidFill>
                <a:latin typeface="Consolas" pitchFamily="34" charset="0"/>
                <a:cs typeface="Consolas" pitchFamily="34" charset="-120"/>
              </a:rPr>
              <a:t>xs  = unconsumed remainder of input</a:t>
            </a:r>
          </a:p>
          <a:p>
            <a:r>
              <a:rPr lang="en-US" sz="1000" dirty="0">
                <a:solidFill>
                  <a:srgbClr val="60DE72"/>
                </a:solidFill>
                <a:latin typeface="Consolas" pitchFamily="34" charset="0"/>
                <a:cs typeface="Consolas" pitchFamily="34" charset="-120"/>
              </a:rPr>
              <a:t>x   = the matched character</a:t>
            </a:r>
          </a:p>
          <a:p>
            <a:r>
              <a:rPr lang="en-US" sz="1000" dirty="0">
                <a:solidFill>
                  <a:srgbClr val="60DE72"/>
                </a:solidFill>
                <a:latin typeface="Consolas" pitchFamily="34" charset="0"/>
                <a:cs typeface="Consolas" pitchFamily="34" charset="-120"/>
              </a:rPr>
              <a:t>Parser advances past x.</a:t>
            </a:r>
          </a:p>
        </p:txBody>
      </p:sp>
      <p:sp>
        <p:nvSpPr>
          <p:cNvPr id="19" name="Shape 17"/>
          <p:cNvSpPr/>
          <p:nvPr/>
        </p:nvSpPr>
        <p:spPr>
          <a:xfrm>
            <a:off x="4663440" y="2286000"/>
            <a:ext cx="4206240" cy="105156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2286000"/>
            <a:ext cx="54864" cy="10515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91456" y="23408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"character not found"  — failure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91456" y="2624328"/>
            <a:ext cx="4023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cs typeface="Consolas" pitchFamily="34" charset="-120"/>
              </a:rPr>
              <a:t>Input is NOT consumed on failure.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cs typeface="Consolas" pitchFamily="34" charset="-120"/>
              </a:rPr>
              <a:t>Caller knows the parse did not succeed.</a:t>
            </a:r>
          </a:p>
        </p:txBody>
      </p:sp>
      <p:sp>
        <p:nvSpPr>
          <p:cNvPr id="23" name="Shape 21"/>
          <p:cNvSpPr/>
          <p:nvPr/>
        </p:nvSpPr>
        <p:spPr>
          <a:xfrm>
            <a:off x="4663440" y="3456432"/>
            <a:ext cx="4206240" cy="150876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3456432"/>
            <a:ext cx="54864" cy="15087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91456" y="35112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reasons _ fires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91456" y="3794760"/>
            <a:ext cx="40233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4B942"/>
                </a:solidFill>
                <a:latin typeface="Consolas" pitchFamily="34" charset="0"/>
                <a:cs typeface="Consolas" pitchFamily="34" charset="-120"/>
              </a:rPr>
              <a:t>1. x:xs matched but guard x == c was False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F4B942"/>
                </a:solidFill>
                <a:latin typeface="Consolas" pitchFamily="34" charset="0"/>
                <a:cs typeface="Consolas" pitchFamily="34" charset="-120"/>
              </a:rPr>
              <a:t>   (wrong character at head)</a:t>
            </a:r>
          </a:p>
          <a:p>
            <a:pPr marL="0" indent="0">
              <a:buNone/>
            </a:pPr>
            <a:endParaRPr lang="en-US" sz="1000" b="1" dirty="0">
              <a:solidFill>
                <a:srgbClr val="F4B942"/>
              </a:solidFill>
              <a:latin typeface="Consolas" pitchFamily="34" charset="0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F4B942"/>
                </a:solidFill>
                <a:latin typeface="Consolas" pitchFamily="34" charset="0"/>
                <a:cs typeface="Consolas" pitchFamily="34" charset="-120"/>
              </a:rPr>
              <a:t>2. Input is ""  — x:xs cannot match empty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F4B942"/>
                </a:solidFill>
                <a:latin typeface="Consolas" pitchFamily="34" charset="0"/>
                <a:cs typeface="Consolas" pitchFamily="34" charset="-120"/>
              </a:rPr>
              <a:t>   string (no head to extract</a:t>
            </a: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).</a:t>
            </a:r>
            <a:endParaRPr lang="en-US" sz="95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runParser  —  Both Examples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runParser :: Parser a → String → Result 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228600" cy="22860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143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143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 'a'  in  "abc"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463040"/>
            <a:ext cx="4206240" cy="233172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22192" y="14996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39CDE7"/>
                </a:solidFill>
              </a:rPr>
              <a:t>GHCi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02336" y="1664208"/>
            <a:ext cx="395020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runParser (charP 'a') "abc"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charP 'a'  builds:  Parser (\input -&gt; case input of ...)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runParser  unwraps:  the lambda, then applies it to "abc"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input = "abc"  →  x = 'a',  xs = "bc"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guard: 'a' == 'a'  ✓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Right ("bc", 'a')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     ^^    ^^^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 remaining  matched char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886200"/>
            <a:ext cx="228600" cy="2286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3886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886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 'x'  in  "abc"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187952"/>
            <a:ext cx="420624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22192" y="4224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39CDE7"/>
                </a:solidFill>
              </a:rPr>
              <a:t>GHCi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02336" y="4389120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runParser (charP 'x') "abc"   = Left "character not found"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58868" y="1170432"/>
            <a:ext cx="4206240" cy="265176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1143000"/>
            <a:ext cx="54864" cy="265176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91456" y="11978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("bc", 'a')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91456" y="1481328"/>
            <a:ext cx="402336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</a:t>
            </a: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000" dirty="0">
                <a:solidFill>
                  <a:srgbClr val="60DE72"/>
                </a:solidFill>
                <a:latin typeface="Consolas" pitchFamily="34" charset="0"/>
                <a:cs typeface="Consolas" pitchFamily="34" charset="-120"/>
              </a:rPr>
              <a:t>Parse succeeded</a:t>
            </a:r>
          </a:p>
          <a:p>
            <a:endParaRPr lang="en-US" sz="1000" dirty="0">
              <a:solidFill>
                <a:srgbClr val="60DE72"/>
              </a:solidFill>
              <a:latin typeface="Consolas" pitchFamily="34" charset="0"/>
              <a:cs typeface="Consolas" pitchFamily="34" charset="-120"/>
            </a:endParaRPr>
          </a:p>
          <a:p>
            <a:r>
              <a:rPr lang="en-US" sz="1000" dirty="0">
                <a:solidFill>
                  <a:srgbClr val="60DE72"/>
                </a:solidFill>
                <a:latin typeface="Consolas" pitchFamily="34" charset="0"/>
                <a:cs typeface="Consolas" pitchFamily="34" charset="-120"/>
              </a:rPr>
              <a:t>• First element:  "</a:t>
            </a:r>
            <a:r>
              <a:rPr lang="en-US" sz="1000" dirty="0" err="1">
                <a:solidFill>
                  <a:srgbClr val="60DE72"/>
                </a:solidFill>
                <a:latin typeface="Consolas" pitchFamily="34" charset="0"/>
                <a:cs typeface="Consolas" pitchFamily="34" charset="-120"/>
              </a:rPr>
              <a:t>bc</a:t>
            </a:r>
            <a:r>
              <a:rPr lang="en-US" sz="1000" dirty="0">
                <a:solidFill>
                  <a:srgbClr val="60DE72"/>
                </a:solidFill>
                <a:latin typeface="Consolas" pitchFamily="34" charset="0"/>
                <a:cs typeface="Consolas" pitchFamily="34" charset="-120"/>
              </a:rPr>
              <a:t>"</a:t>
            </a:r>
          </a:p>
          <a:p>
            <a:r>
              <a:rPr lang="en-US" sz="1000" dirty="0">
                <a:solidFill>
                  <a:srgbClr val="60DE72"/>
                </a:solidFill>
                <a:latin typeface="Consolas" pitchFamily="34" charset="0"/>
                <a:cs typeface="Consolas" pitchFamily="34" charset="-120"/>
              </a:rPr>
              <a:t>  the remaining unconsumed input</a:t>
            </a:r>
          </a:p>
          <a:p>
            <a:endParaRPr lang="en-US" sz="1000" dirty="0">
              <a:solidFill>
                <a:srgbClr val="60DE72"/>
              </a:solidFill>
              <a:latin typeface="Consolas" pitchFamily="34" charset="0"/>
              <a:cs typeface="Consolas" pitchFamily="34" charset="-120"/>
            </a:endParaRPr>
          </a:p>
          <a:p>
            <a:r>
              <a:rPr lang="en-US" sz="1000" dirty="0">
                <a:solidFill>
                  <a:srgbClr val="60DE72"/>
                </a:solidFill>
                <a:latin typeface="Consolas" pitchFamily="34" charset="0"/>
                <a:cs typeface="Consolas" pitchFamily="34" charset="-120"/>
              </a:rPr>
              <a:t>• Second element: 'a'</a:t>
            </a:r>
          </a:p>
          <a:p>
            <a:r>
              <a:rPr lang="en-US" sz="1000" dirty="0">
                <a:solidFill>
                  <a:srgbClr val="60DE72"/>
                </a:solidFill>
                <a:latin typeface="Consolas" pitchFamily="34" charset="0"/>
                <a:cs typeface="Consolas" pitchFamily="34" charset="-120"/>
              </a:rPr>
              <a:t>  the character that was matched</a:t>
            </a:r>
          </a:p>
          <a:p>
            <a:endParaRPr lang="en-US" sz="1000" dirty="0">
              <a:solidFill>
                <a:srgbClr val="60DE72"/>
              </a:solidFill>
              <a:latin typeface="Consolas" pitchFamily="34" charset="0"/>
              <a:cs typeface="Consolas" pitchFamily="34" charset="-120"/>
            </a:endParaRPr>
          </a:p>
          <a:p>
            <a:r>
              <a:rPr lang="en-US" sz="1000" dirty="0">
                <a:solidFill>
                  <a:srgbClr val="60DE72"/>
                </a:solidFill>
                <a:latin typeface="Consolas" pitchFamily="34" charset="0"/>
                <a:cs typeface="Consolas" pitchFamily="34" charset="-120"/>
              </a:rPr>
              <a:t>• "bc" can now be fed into</a:t>
            </a:r>
          </a:p>
          <a:p>
            <a:r>
              <a:rPr lang="en-US" sz="1000" dirty="0">
                <a:solidFill>
                  <a:srgbClr val="60DE72"/>
                </a:solidFill>
                <a:latin typeface="Consolas" pitchFamily="34" charset="0"/>
                <a:cs typeface="Consolas" pitchFamily="34" charset="-120"/>
              </a:rPr>
              <a:t>  the next parser in a chain.</a:t>
            </a:r>
          </a:p>
        </p:txBody>
      </p:sp>
      <p:sp>
        <p:nvSpPr>
          <p:cNvPr id="24" name="Shape 22"/>
          <p:cNvSpPr/>
          <p:nvPr/>
        </p:nvSpPr>
        <p:spPr>
          <a:xfrm>
            <a:off x="4663440" y="3886200"/>
            <a:ext cx="4206240" cy="100584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3886200"/>
            <a:ext cx="54864" cy="10058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91456" y="39410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"character not found"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91456" y="422452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cs typeface="Consolas" pitchFamily="34" charset="-120"/>
              </a:rPr>
              <a:t>• Parse failed — 'a' ≠ 'x'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cs typeface="Consolas" pitchFamily="34" charset="-120"/>
              </a:rPr>
              <a:t>• Input "abc" is NOT consumed.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cs typeface="Consolas" pitchFamily="34" charset="-120"/>
              </a:rPr>
              <a:t>• The Left carries the error message</a:t>
            </a: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 Result Shape Enables Composition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a  =  Either Error (String, 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0789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remaining string in the Right case is the key to chaining parsers: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5486400" cy="260604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02352" y="145389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39CDE7"/>
                </a:solidFill>
              </a:rPr>
              <a:t>Haskell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02336" y="1618488"/>
            <a:ext cx="52303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Parse 'a' then 'b' from "abc"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step1 = runParser (charP 'a') "abc"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Right ("bc", 'a')         -- "bc" is passed forward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step2 = runParser (charP 'b') "bc"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Right ("c", 'b')          -- "c" is passed forward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Each successful parse returns the REMAINDER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so the next parser picks up exactly where the last left off.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 failing parse returns Left — no remainder, chain stops.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89320" y="1417320"/>
            <a:ext cx="2880360" cy="123444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89320" y="1417320"/>
            <a:ext cx="54864" cy="123444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17336" y="14721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success:  Right (rest, val)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17336" y="1755648"/>
            <a:ext cx="2697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0DE72"/>
                </a:solidFill>
                <a:latin typeface="Consolas" pitchFamily="34" charset="0"/>
                <a:cs typeface="Consolas" pitchFamily="34" charset="-120"/>
              </a:rPr>
              <a:t>"rest" threads to the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0DE72"/>
                </a:solidFill>
                <a:latin typeface="Consolas" pitchFamily="34" charset="0"/>
                <a:cs typeface="Consolas" pitchFamily="34" charset="-120"/>
              </a:rPr>
              <a:t>next parser automatically</a:t>
            </a: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2788920"/>
            <a:ext cx="2880360" cy="123444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89320" y="2788920"/>
            <a:ext cx="54864" cy="1234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17336" y="28437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failure:  Left msg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17336" y="3127248"/>
            <a:ext cx="2697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cs typeface="Consolas" pitchFamily="34" charset="-120"/>
              </a:rPr>
              <a:t>Chain short-circuits.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cs typeface="Consolas" pitchFamily="34" charset="-120"/>
              </a:rPr>
              <a:t>No further parsing attempted.</a:t>
            </a:r>
          </a:p>
        </p:txBody>
      </p:sp>
      <p:sp>
        <p:nvSpPr>
          <p:cNvPr id="20" name="Text 18"/>
          <p:cNvSpPr/>
          <p:nvPr/>
        </p:nvSpPr>
        <p:spPr>
          <a:xfrm>
            <a:off x="274320" y="41605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0C4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why Parser is a newtype and not a plain function — to allow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A0C4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to be a Monad, enabling &gt;&gt;= to thread the remaining input automatically.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1441</Words>
  <Application>Microsoft Macintosh PowerPoint</Application>
  <PresentationFormat>On-screen Show (16:9)</PresentationFormat>
  <Paragraphs>243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Consolas</vt:lpstr>
      <vt:lpstr>Trebuchet MS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type, newtype and Parser Combinators</dc:title>
  <dc:subject>PptxGenJS Presentation</dc:subject>
  <dc:creator>Mairead</dc:creator>
  <cp:lastModifiedBy>Mairead Meagher</cp:lastModifiedBy>
  <cp:revision>2</cp:revision>
  <dcterms:created xsi:type="dcterms:W3CDTF">2026-03-29T19:04:04Z</dcterms:created>
  <dcterms:modified xsi:type="dcterms:W3CDTF">2026-03-31T21:00:37Z</dcterms:modified>
</cp:coreProperties>
</file>