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1"/>
  </p:sldMasterIdLst>
  <p:notesMasterIdLst>
    <p:notesMasterId r:id="rId13"/>
  </p:notesMasterIdLst>
  <p:sldIdLst>
    <p:sldId id="328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329" r:id="rId18"/>
    <p:sldId id="330" r:id="rId19"/>
    <p:sldId id="331" r:id="rId20"/>
    <p:sldId id="332" r:id="rId21"/>
    <p:sldId id="333" r:id="rId22"/>
    <p:sldId id="334" r:id="rId23"/>
    <p:sldId id="335" r:id="rId24"/>
    <p:sldId id="336" r:id="rId25"/>
    <p:sldId id="337" r:id="rId26"/>
    <p:sldId id="338" r:id="rId27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>
        <p:scale>
          <a:sx n="164" d="100"/>
          <a:sy n="164" d="100"/>
        </p:scale>
        <p:origin x="20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
  <Relationship Id="rId18" Type="http://schemas.openxmlformats.org/officeDocument/2006/relationships/slide" Target="slides/slide12.xml"/>
  <Relationship Id="rId19" Type="http://schemas.openxmlformats.org/officeDocument/2006/relationships/slide" Target="slides/slide13.xml"/>
  <Relationship Id="rId20" Type="http://schemas.openxmlformats.org/officeDocument/2006/relationships/slide" Target="slides/slide14.xml"/>
  <Relationship Id="rId21" Type="http://schemas.openxmlformats.org/officeDocument/2006/relationships/slide" Target="slides/slide15.xml"/>
  <Relationship Id="rId22" Type="http://schemas.openxmlformats.org/officeDocument/2006/relationships/slide" Target="slides/slide16.xml"/>
  <Relationship Id="rId23" Type="http://schemas.openxmlformats.org/officeDocument/2006/relationships/slide" Target="slides/slide17.xml"/>
  <Relationship Id="rId24" Type="http://schemas.openxmlformats.org/officeDocument/2006/relationships/slide" Target="slides/slide18.xml"/>
  <Relationship Id="rId25" Type="http://schemas.openxmlformats.org/officeDocument/2006/relationships/slide" Target="slides/slide19.xml"/>
  <Relationship Id="rId26" Type="http://schemas.openxmlformats.org/officeDocument/2006/relationships/slide" Target="slides/slide20.xml"/>
  <Relationship Id="rId27" Type="http://schemas.openxmlformats.org/officeDocument/2006/relationships/slide" Target="slides/slide21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8995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182138"/>
            <a:ext cx="6726063" cy="206957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8" y="3182884"/>
            <a:ext cx="2307831" cy="20770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1942559"/>
            <a:ext cx="6726064" cy="12452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833787" y="1942559"/>
            <a:ext cx="2307832" cy="12452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050282"/>
            <a:ext cx="6108101" cy="1029803"/>
          </a:xfrm>
        </p:spPr>
        <p:txBody>
          <a:bodyPr anchor="b">
            <a:noAutofit/>
          </a:bodyPr>
          <a:lstStyle>
            <a:lvl1pPr algn="r">
              <a:defRPr sz="303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2" y="3295531"/>
            <a:ext cx="6108101" cy="838265"/>
          </a:xfrm>
        </p:spPr>
        <p:txBody>
          <a:bodyPr>
            <a:normAutofit/>
          </a:bodyPr>
          <a:lstStyle>
            <a:lvl1pPr marL="0" indent="0" algn="r">
              <a:buNone/>
              <a:defRPr sz="1125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A553F3B-B5E4-014D-856B-CF964DA80B47}" type="datetimeFigureOut">
              <a:rPr lang="en-US" smtClean="0"/>
              <a:pPr>
                <a:defRPr/>
              </a:pPr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41510" y="2062753"/>
            <a:ext cx="878916" cy="1017332"/>
          </a:xfrm>
        </p:spPr>
        <p:txBody>
          <a:bodyPr/>
          <a:lstStyle/>
          <a:p>
            <a:pPr>
              <a:defRPr/>
            </a:pPr>
            <a:fld id="{6C1A8497-227B-A147-A35E-F20B512D154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717077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B04E3FF-7AD7-4B48-9510-2F888209D81B}" type="datetimeFigureOut">
              <a:rPr lang="en-US" smtClean="0"/>
              <a:pPr>
                <a:defRPr/>
              </a:pPr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E3E25D-7147-4545-8FC6-7D29BC48FAA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241283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065180"/>
            <a:ext cx="7828359" cy="240873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8" y="3065926"/>
            <a:ext cx="1202248" cy="1082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0447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939370" y="20447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2152421"/>
            <a:ext cx="7210395" cy="818091"/>
          </a:xfrm>
        </p:spPr>
        <p:txBody>
          <a:bodyPr anchor="ctr">
            <a:normAutofit/>
          </a:bodyPr>
          <a:lstStyle>
            <a:lvl1pPr algn="r">
              <a:defRPr sz="202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1" y="3174130"/>
            <a:ext cx="7210395" cy="1278013"/>
          </a:xfrm>
        </p:spPr>
        <p:txBody>
          <a:bodyPr>
            <a:normAutofit/>
          </a:bodyPr>
          <a:lstStyle>
            <a:lvl1pPr marL="0" indent="0" algn="r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AC79FF3-C472-AD44-A731-0854478E68DA}" type="datetimeFigureOut">
              <a:rPr lang="en-US" smtClean="0"/>
              <a:pPr>
                <a:defRPr/>
              </a:pPr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7093" y="2152423"/>
            <a:ext cx="865613" cy="818092"/>
          </a:xfrm>
        </p:spPr>
        <p:txBody>
          <a:bodyPr/>
          <a:lstStyle/>
          <a:p>
            <a:pPr>
              <a:defRPr/>
            </a:pPr>
            <a:fld id="{8615277E-17BA-0544-8D3C-57CD0AE9F19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272748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0241" y="1752655"/>
            <a:ext cx="3523769" cy="26994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95593" y="1752655"/>
            <a:ext cx="3525044" cy="26994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7B27A86-9492-1A4C-B71C-C304174B6317}" type="datetimeFigureOut">
              <a:rPr lang="en-US" smtClean="0"/>
              <a:pPr>
                <a:defRPr/>
              </a:pPr>
              <a:t>3/26/26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D7D2E1-6E93-6747-B9E5-4A4F773EDE1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25150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564924"/>
            <a:ext cx="7210397" cy="81070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9764" y="1752657"/>
            <a:ext cx="3354245" cy="519851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43" y="2272508"/>
            <a:ext cx="3523766" cy="21796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5116" y="1752655"/>
            <a:ext cx="3355521" cy="519057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95594" y="2272508"/>
            <a:ext cx="3525044" cy="21796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50D0E10-0C68-2243-8EE7-3D9521A4B932}" type="datetimeFigureOut">
              <a:rPr lang="en-US" smtClean="0"/>
              <a:pPr>
                <a:defRPr/>
              </a:pPr>
              <a:t>3/26/26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954478-2D78-5E4A-AB13-E9B6FB7E006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73039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2C0760-190D-434A-8DA2-99E529858BF8}" type="datetimeFigureOut">
              <a:rPr lang="en-US" smtClean="0"/>
              <a:pPr>
                <a:defRPr/>
              </a:pPr>
              <a:t>3/26/26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0B520B-0227-344E-B2B9-09AB9C3995E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444160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F040D5B-8D0F-0D4C-BA1C-4C9EE60F29A4}" type="datetimeFigureOut">
              <a:rPr lang="en-US" smtClean="0"/>
              <a:pPr>
                <a:defRPr/>
              </a:pPr>
              <a:t>3/26/26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503BA8-2468-AB44-8B07-1D073A68F4E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381851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564920"/>
            <a:ext cx="7210394" cy="810705"/>
          </a:xfrm>
        </p:spPr>
        <p:txBody>
          <a:bodyPr anchor="ctr">
            <a:normAutofit/>
          </a:bodyPr>
          <a:lstStyle>
            <a:lvl1pPr>
              <a:defRPr sz="202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1752657"/>
            <a:ext cx="4206252" cy="269948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1752656"/>
            <a:ext cx="2842559" cy="2699488"/>
          </a:xfrm>
        </p:spPr>
        <p:txBody>
          <a:bodyPr anchor="ctr"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54FF3FE-9BF6-3441-A1AC-F82F76FF5AF8}" type="datetimeFigureOut">
              <a:rPr lang="en-US" smtClean="0"/>
              <a:pPr>
                <a:defRPr/>
              </a:pPr>
              <a:t>3/26/26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A2EE41-F49A-B54A-9F44-80E15777CA0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768334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564921"/>
            <a:ext cx="7210393" cy="810704"/>
          </a:xfrm>
        </p:spPr>
        <p:txBody>
          <a:bodyPr anchor="ctr">
            <a:normAutofit/>
          </a:bodyPr>
          <a:lstStyle>
            <a:lvl1pPr>
              <a:defRPr sz="202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51251" y="1752656"/>
            <a:ext cx="4069387" cy="2699484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1752657"/>
            <a:ext cx="2907192" cy="2699486"/>
          </a:xfrm>
        </p:spPr>
        <p:txBody>
          <a:bodyPr anchor="ctr"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D91B7B-F5D0-904E-AECB-684CA2129484}" type="datetimeFigureOut">
              <a:rPr lang="en-US" smtClean="0"/>
              <a:pPr>
                <a:defRPr/>
              </a:pPr>
              <a:t>3/26/26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9112BD-C6BF-2045-9788-A800E329A4B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315107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446471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4447216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3533714"/>
            <a:ext cx="7210394" cy="339788"/>
          </a:xfrm>
        </p:spPr>
        <p:txBody>
          <a:bodyPr anchor="b">
            <a:normAutofit/>
          </a:bodyPr>
          <a:lstStyle>
            <a:lvl1pPr>
              <a:defRPr sz="13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0242" y="457200"/>
            <a:ext cx="7210394" cy="2692181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0" y="3877189"/>
            <a:ext cx="7210397" cy="46722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ABA69B9-8BCD-1743-A7EA-A87148D43D98}" type="datetimeFigureOut">
              <a:rPr lang="en-US" smtClean="0"/>
              <a:pPr>
                <a:defRPr/>
              </a:pPr>
              <a:t>3/26/26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3" y="3533484"/>
            <a:ext cx="865613" cy="818092"/>
          </a:xfrm>
        </p:spPr>
        <p:txBody>
          <a:bodyPr/>
          <a:lstStyle/>
          <a:p>
            <a:pPr>
              <a:defRPr/>
            </a:pPr>
            <a:fld id="{FCE4EC0E-F0BA-9743-94AB-30575C262C2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182441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446471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4447216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457197"/>
            <a:ext cx="7210394" cy="2694563"/>
          </a:xfrm>
        </p:spPr>
        <p:txBody>
          <a:bodyPr anchor="ctr"/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3533713"/>
            <a:ext cx="7210394" cy="818092"/>
          </a:xfrm>
        </p:spPr>
        <p:txBody>
          <a:bodyPr anchor="ctr"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03B821F-F50B-B24A-AA3C-F5A9B8822722}" type="datetimeFigureOut">
              <a:rPr lang="en-US" smtClean="0"/>
              <a:pPr>
                <a:defRPr/>
              </a:pPr>
              <a:t>3/26/26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3" y="3533713"/>
            <a:ext cx="865613" cy="818092"/>
          </a:xfrm>
        </p:spPr>
        <p:txBody>
          <a:bodyPr/>
          <a:lstStyle/>
          <a:p>
            <a:pPr>
              <a:defRPr/>
            </a:pPr>
            <a:fld id="{A48E549A-BFD5-CA45-B65B-6AF2615F947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466935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446471"/>
            <a:ext cx="7828359" cy="240873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4447216"/>
            <a:ext cx="1202248" cy="10820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1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92" y="457199"/>
            <a:ext cx="6539158" cy="2277046"/>
          </a:xfrm>
        </p:spPr>
        <p:txBody>
          <a:bodyPr anchor="ctr"/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051717" y="2740034"/>
            <a:ext cx="6117434" cy="411726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3533713"/>
            <a:ext cx="7210394" cy="818092"/>
          </a:xfrm>
        </p:spPr>
        <p:txBody>
          <a:bodyPr anchor="ctr">
            <a:normAutofit/>
          </a:bodyPr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2EBF0D-18C4-0348-AC98-3C5EA586D714}" type="datetimeFigureOut">
              <a:rPr lang="en-US" smtClean="0"/>
              <a:pPr>
                <a:defRPr/>
              </a:pPr>
              <a:t>3/26/26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3" y="3532446"/>
            <a:ext cx="865613" cy="818092"/>
          </a:xfrm>
        </p:spPr>
        <p:txBody>
          <a:bodyPr/>
          <a:lstStyle/>
          <a:p>
            <a:pPr>
              <a:defRPr/>
            </a:pPr>
            <a:fld id="{851EAB7B-D94A-4F44-A743-EA9E70243C7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437679" y="561087"/>
            <a:ext cx="457200" cy="438582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405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7107" y="2275143"/>
            <a:ext cx="457200" cy="438582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405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230497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446471"/>
            <a:ext cx="7828359" cy="240873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4447216"/>
            <a:ext cx="1202248" cy="10820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1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3533713"/>
            <a:ext cx="7210397" cy="441401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0" y="3975114"/>
            <a:ext cx="7210397" cy="376691"/>
          </a:xfrm>
        </p:spPr>
        <p:txBody>
          <a:bodyPr anchor="t"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E178186-32BF-FA47-810E-787554D073F4}" type="datetimeFigureOut">
              <a:rPr lang="en-US" smtClean="0"/>
              <a:pPr>
                <a:defRPr/>
              </a:pPr>
              <a:t>3/26/26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3" y="3532446"/>
            <a:ext cx="865613" cy="818092"/>
          </a:xfrm>
        </p:spPr>
        <p:txBody>
          <a:bodyPr/>
          <a:lstStyle/>
          <a:p>
            <a:pPr>
              <a:defRPr/>
            </a:pPr>
            <a:fld id="{2D39529C-0C62-AC40-BC41-A432AF9A1EC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29610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01916" y="564921"/>
            <a:ext cx="7218720" cy="81070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495709" y="1752655"/>
            <a:ext cx="2302526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0242" y="2267006"/>
            <a:ext cx="2287277" cy="2185135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67019" y="1752655"/>
            <a:ext cx="2297430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59103" y="2267006"/>
            <a:ext cx="2297430" cy="2185135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18118" y="1752655"/>
            <a:ext cx="2302519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418118" y="2267006"/>
            <a:ext cx="2302519" cy="2185135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4CAE55-0504-6C4B-9D1C-F7DDA16C4459}" type="datetimeFigureOut">
              <a:rPr lang="en-US" smtClean="0"/>
              <a:pPr>
                <a:defRPr/>
              </a:pPr>
              <a:t>3/26/26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756C6E-C944-604E-8607-4CF6F94051F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817400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0241" y="564921"/>
            <a:ext cx="7210395" cy="81070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0240" y="3223127"/>
            <a:ext cx="2287279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0240" y="1752655"/>
            <a:ext cx="2287279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0240" y="3655324"/>
            <a:ext cx="2287279" cy="796817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59103" y="3223127"/>
            <a:ext cx="2297430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59103" y="1752655"/>
            <a:ext cx="2297430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58089" y="3655323"/>
            <a:ext cx="2300473" cy="796817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23010" y="3223127"/>
            <a:ext cx="2297629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423009" y="1752655"/>
            <a:ext cx="2297629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422915" y="3655321"/>
            <a:ext cx="2300672" cy="796817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4CD8F05-0F1C-F34F-BB46-6EFF1FC57164}" type="datetimeFigureOut">
              <a:rPr lang="en-US" smtClean="0"/>
              <a:pPr>
                <a:defRPr/>
              </a:pPr>
              <a:t>3/26/26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07A0F4-D0AD-8D4E-94FD-3B938370633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885606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9CD70A7-F553-0043-B575-3F8D67C58C20}" type="datetimeFigureOut">
              <a:rPr lang="en-US" smtClean="0"/>
              <a:pPr>
                <a:defRPr/>
              </a:pPr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E2E05E-56D5-624A-AF72-262359EA23E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235972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6087155" y="1402047"/>
            <a:ext cx="3830241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7401153" y="4029304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96924" y="457198"/>
            <a:ext cx="805352" cy="326532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457199"/>
            <a:ext cx="6652503" cy="399494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05344" y="4452142"/>
            <a:ext cx="2057400" cy="273844"/>
          </a:xfrm>
        </p:spPr>
        <p:txBody>
          <a:bodyPr/>
          <a:lstStyle/>
          <a:p>
            <a:pPr>
              <a:defRPr/>
            </a:pPr>
            <a:fld id="{32E94331-9661-474D-B360-50A2564AE4C7}" type="datetimeFigureOut">
              <a:rPr lang="en-US" smtClean="0"/>
              <a:pPr>
                <a:defRPr/>
              </a:pPr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4452143"/>
            <a:ext cx="4595104" cy="27384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73164" y="4048976"/>
            <a:ext cx="865613" cy="818092"/>
          </a:xfrm>
        </p:spPr>
        <p:txBody>
          <a:bodyPr anchor="t"/>
          <a:lstStyle>
            <a:lvl1pPr algn="ctr">
              <a:defRPr/>
            </a:lvl1pPr>
          </a:lstStyle>
          <a:p>
            <a:pPr>
              <a:defRPr/>
            </a:pPr>
            <a:fld id="{032EDDE4-274F-6344-934D-869911BB516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1104964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B845E-7084-EC53-DEC0-D55CE275D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11BAE0-29F1-9FB8-C8DA-BEF4B32FF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6D6170B-327F-AF4D-8FE0-BC6D94704B24}" type="datetimeFigureOut">
              <a:rPr lang="en-US" smtClean="0"/>
              <a:pPr>
                <a:defRPr/>
              </a:pPr>
              <a:t>3/26/26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A5552C-4C59-1B08-B0A8-A00799DB8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B8C5CC-2F04-A369-FA4B-E3C3E04C6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06C416A-7973-DB47-8808-E6843CBC59D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4352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20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0241" y="564921"/>
            <a:ext cx="7210396" cy="810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1" y="1752655"/>
            <a:ext cx="7210396" cy="2699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3236" y="4452142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9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6D6170B-327F-AF4D-8FE0-BC6D94704B24}" type="datetimeFigureOut">
              <a:rPr lang="en-US" smtClean="0"/>
              <a:pPr>
                <a:defRPr/>
              </a:pPr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0242" y="4452143"/>
            <a:ext cx="515299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9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47093" y="564921"/>
            <a:ext cx="865613" cy="8180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06C416A-7973-DB47-8808-E6843CBC59D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67943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7" r:id="rId18"/>
  </p:sldLayoutIdLst>
  <p:hf sldNum="0" hdr="0" ftr="0" dt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0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
  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
  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/Relationships>
</file>

<file path=ppt/slides/_rels/slide14.xml.rels><?xml version="1.0" encoding="UTF-8" standalone="yes"?>
<Relationships xmlns="http://schemas.openxmlformats.org/package/2006/relationships">
  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
  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
  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
  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
  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
  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
  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
  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E7B5135-177D-EE42-9C5F-82759AF30F9B}" type="slidenum">
              <a:rPr lang="en-US" sz="1050"/>
              <a:pPr/>
              <a:t>1</a:t>
            </a:fld>
            <a:endParaRPr lang="en-US" sz="1050" dirty="0"/>
          </a:p>
        </p:txBody>
      </p:sp>
      <p:sp>
        <p:nvSpPr>
          <p:cNvPr id="291842" name="Text Box 2"/>
          <p:cNvSpPr txBox="1">
            <a:spLocks noChangeArrowheads="1"/>
          </p:cNvSpPr>
          <p:nvPr/>
        </p:nvSpPr>
        <p:spPr bwMode="auto">
          <a:xfrm>
            <a:off x="1229916" y="751285"/>
            <a:ext cx="6682978" cy="507831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700" b="1" dirty="0">
                <a:solidFill>
                  <a:schemeClr val="tx2"/>
                </a:solidFill>
                <a:latin typeface="Arial Black" charset="0"/>
              </a:rPr>
              <a:t>PROGRAMMING IN HASKELL</a:t>
            </a:r>
          </a:p>
        </p:txBody>
      </p:sp>
      <p:sp>
        <p:nvSpPr>
          <p:cNvPr id="291843" name="Rectangle 3"/>
          <p:cNvSpPr>
            <a:spLocks noChangeArrowheads="1"/>
          </p:cNvSpPr>
          <p:nvPr/>
        </p:nvSpPr>
        <p:spPr bwMode="auto">
          <a:xfrm>
            <a:off x="1275160" y="3873104"/>
            <a:ext cx="6593681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/>
          <a:p>
            <a:pPr algn="ctr">
              <a:defRPr/>
            </a:pPr>
            <a:r>
              <a:rPr kumimoji="1" lang="en-US" sz="2400" dirty="0"/>
              <a:t>Topic 13 – XML Parsing in Haskell</a:t>
            </a:r>
          </a:p>
        </p:txBody>
      </p:sp>
      <p:pic>
        <p:nvPicPr>
          <p:cNvPr id="15364" name="Picture 5" descr="2000px-Haskell-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391" y="1819275"/>
            <a:ext cx="2131219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XML?</a:t>
            </a:r>
          </a:p>
        </p:txBody>
      </p:sp>
      <p:sp>
        <p:nvSpPr>
          <p:cNvPr id="3" name="Rectangle 2"/>
          <p:cNvSpPr/>
          <p:nvPr/>
        </p:nvSpPr>
        <p:spPr>
          <a:xfrm>
            <a:off x="205740" y="1474470"/>
            <a:ext cx="3771900" cy="809244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" name="TextBox 3"/>
          <p:cNvSpPr txBox="1"/>
          <p:nvPr/>
        </p:nvSpPr>
        <p:spPr>
          <a:xfrm>
            <a:off x="288036" y="1522475"/>
            <a:ext cx="17219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dirty="0" err="1">
                <a:solidFill>
                  <a:srgbClr val="4DD0E1"/>
                </a:solidFill>
                <a:latin typeface="Trebuchet MS"/>
              </a:rPr>
              <a:t>eXtensible</a:t>
            </a:r>
            <a:r>
              <a:rPr sz="900" b="1" dirty="0">
                <a:solidFill>
                  <a:srgbClr val="4DD0E1"/>
                </a:solidFill>
                <a:latin typeface="Trebuchet MS"/>
              </a:rPr>
              <a:t> Markup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" y="1776223"/>
            <a:ext cx="363474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 dirty="0">
                <a:solidFill>
                  <a:srgbClr val="FFFFFF"/>
                </a:solidFill>
                <a:latin typeface="Trebuchet MS"/>
              </a:rPr>
              <a:t>A text format for structured data — human-readable and machine-</a:t>
            </a:r>
            <a:r>
              <a:rPr sz="825" dirty="0" err="1">
                <a:solidFill>
                  <a:srgbClr val="FFFFFF"/>
                </a:solidFill>
                <a:latin typeface="Trebuchet MS"/>
              </a:rPr>
              <a:t>parseable</a:t>
            </a:r>
            <a:r>
              <a:rPr sz="825" dirty="0">
                <a:solidFill>
                  <a:srgbClr val="FFFFFF"/>
                </a:solidFill>
                <a:latin typeface="Trebuchet MS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205740" y="2352293"/>
            <a:ext cx="3771900" cy="809244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TextBox 6"/>
          <p:cNvSpPr txBox="1"/>
          <p:nvPr/>
        </p:nvSpPr>
        <p:spPr>
          <a:xfrm>
            <a:off x="288037" y="2400299"/>
            <a:ext cx="107112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DD0E1"/>
                </a:solidFill>
                <a:latin typeface="Trebuchet MS"/>
              </a:rPr>
              <a:t>Tags &amp;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" y="2654046"/>
            <a:ext cx="363474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>
                <a:solidFill>
                  <a:srgbClr val="FFFFFF"/>
                </a:solidFill>
                <a:latin typeface="Trebuchet MS"/>
              </a:rPr>
              <a:t>Data is wrapped in opening &lt;tag&gt; and closing &lt;/tag&gt; pairs, forming a tree.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740" y="3230118"/>
            <a:ext cx="3771900" cy="809244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" name="TextBox 9"/>
          <p:cNvSpPr txBox="1"/>
          <p:nvPr/>
        </p:nvSpPr>
        <p:spPr>
          <a:xfrm>
            <a:off x="288036" y="3278124"/>
            <a:ext cx="73289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dirty="0">
                <a:solidFill>
                  <a:srgbClr val="4DD0E1"/>
                </a:solidFill>
                <a:latin typeface="Trebuchet MS"/>
              </a:rPr>
              <a:t>Attributes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" y="3531871"/>
            <a:ext cx="3634740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>
                <a:solidFill>
                  <a:srgbClr val="FFFFFF"/>
                </a:solidFill>
                <a:latin typeface="Trebuchet MS"/>
              </a:rPr>
              <a:t>Extra metadata lives inside the opening tag as key="value" pairs.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5740" y="4107942"/>
            <a:ext cx="3771900" cy="809244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" name="TextBox 12"/>
          <p:cNvSpPr txBox="1"/>
          <p:nvPr/>
        </p:nvSpPr>
        <p:spPr>
          <a:xfrm>
            <a:off x="288036" y="4155948"/>
            <a:ext cx="58381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DD0E1"/>
                </a:solidFill>
                <a:latin typeface="Trebuchet MS"/>
              </a:rPr>
              <a:t>Nesting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" y="4409695"/>
            <a:ext cx="363474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>
                <a:solidFill>
                  <a:srgbClr val="FFFFFF"/>
                </a:solidFill>
                <a:latin typeface="Trebuchet MS"/>
              </a:rPr>
              <a:t>Elements can contain other elements — a hierarchy of parent to child nodes.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1474470"/>
            <a:ext cx="4800600" cy="2880360"/>
          </a:xfrm>
          <a:prstGeom prst="rect">
            <a:avLst/>
          </a:prstGeom>
          <a:solidFill>
            <a:srgbClr val="0D2137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" name="TextBox 15"/>
          <p:cNvSpPr txBox="1"/>
          <p:nvPr/>
        </p:nvSpPr>
        <p:spPr>
          <a:xfrm>
            <a:off x="4197096" y="1543050"/>
            <a:ext cx="2236510" cy="10618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dirty="0">
                <a:solidFill>
                  <a:srgbClr val="4DD0E1"/>
                </a:solidFill>
                <a:latin typeface="Consolas"/>
              </a:rPr>
              <a:t>&lt;?xml version="1.0"?&gt;</a:t>
            </a:r>
          </a:p>
          <a:p>
            <a:r>
              <a:rPr sz="900" b="1" dirty="0">
                <a:solidFill>
                  <a:srgbClr val="4DD0E1"/>
                </a:solidFill>
                <a:latin typeface="Consolas"/>
              </a:rPr>
              <a:t>&lt;catalogue&gt;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</a:t>
            </a:r>
            <a:r>
              <a:rPr sz="900" b="1" dirty="0">
                <a:solidFill>
                  <a:srgbClr val="4DD0E1"/>
                </a:solidFill>
                <a:latin typeface="Consolas"/>
              </a:rPr>
              <a:t>&lt;book </a:t>
            </a:r>
            <a:r>
              <a:rPr sz="900" b="1" dirty="0" err="1">
                <a:solidFill>
                  <a:srgbClr val="4DD0E1"/>
                </a:solidFill>
                <a:latin typeface="Consolas"/>
              </a:rPr>
              <a:t>isbn</a:t>
            </a:r>
            <a:r>
              <a:rPr sz="900" b="1" dirty="0">
                <a:solidFill>
                  <a:srgbClr val="4DD0E1"/>
                </a:solidFill>
                <a:latin typeface="Consolas"/>
              </a:rPr>
              <a:t>="9780000000002"&gt;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  </a:t>
            </a:r>
            <a:r>
              <a:rPr sz="900" b="1" dirty="0">
                <a:solidFill>
                  <a:srgbClr val="4DD0E1"/>
                </a:solidFill>
                <a:latin typeface="Consolas"/>
              </a:rPr>
              <a:t>&lt;title&gt;</a:t>
            </a:r>
            <a:r>
              <a:rPr sz="900" dirty="0">
                <a:solidFill>
                  <a:srgbClr val="FFFFFF"/>
                </a:solidFill>
                <a:latin typeface="Consolas"/>
              </a:rPr>
              <a:t>Learn Haskell</a:t>
            </a:r>
            <a:r>
              <a:rPr sz="900" b="1" dirty="0">
                <a:solidFill>
                  <a:srgbClr val="4DD0E1"/>
                </a:solidFill>
                <a:latin typeface="Consolas"/>
              </a:rPr>
              <a:t>&lt;/title&gt;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  ...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</a:t>
            </a:r>
            <a:r>
              <a:rPr sz="900" b="1" dirty="0">
                <a:solidFill>
                  <a:srgbClr val="4DD0E1"/>
                </a:solidFill>
                <a:latin typeface="Consolas"/>
              </a:rPr>
              <a:t>&lt;/book&gt;</a:t>
            </a:r>
          </a:p>
          <a:p>
            <a:r>
              <a:rPr sz="900" b="1" dirty="0">
                <a:solidFill>
                  <a:srgbClr val="4DD0E1"/>
                </a:solidFill>
                <a:latin typeface="Consolas"/>
              </a:rPr>
              <a:t>&lt;/catalogue&gt;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423409"/>
            <a:ext cx="4800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dirty="0">
                <a:solidFill>
                  <a:srgbClr val="4DD0E1"/>
                </a:solidFill>
              </a:rPr>
              <a:t>We'll use </a:t>
            </a:r>
            <a:r>
              <a:rPr sz="900" dirty="0" err="1">
                <a:solidFill>
                  <a:srgbClr val="4DD0E1"/>
                </a:solidFill>
              </a:rPr>
              <a:t>books.xml</a:t>
            </a:r>
            <a:r>
              <a:rPr sz="900" dirty="0">
                <a:solidFill>
                  <a:srgbClr val="4DD0E1"/>
                </a:solidFill>
              </a:rPr>
              <a:t> as our running example throughout.</a:t>
            </a:r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8380A171-4C4E-B2F1-630C-DD1A7E4B1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7093" y="564921"/>
            <a:ext cx="865613" cy="818092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E7B5135-177D-EE42-9C5F-82759AF30F9B}" type="slidenum">
              <a:rPr lang="en-US" sz="1050"/>
              <a:pPr/>
              <a:t>2</a:t>
            </a:fld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6" grpId="0" animBg="1"/>
      <p:bldP spid="7" grpId="0"/>
      <p:bldP spid="8" grpId="0"/>
      <p:bldP spid="9" grpId="0" animBg="1"/>
      <p:bldP spid="10" grpId="0"/>
      <p:bldP spid="11" grpId="0"/>
      <p:bldP spid="12" grpId="0" animBg="1"/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books.xml — Full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205740" y="1474470"/>
            <a:ext cx="4663440" cy="3497580"/>
          </a:xfrm>
          <a:prstGeom prst="rect">
            <a:avLst/>
          </a:prstGeom>
          <a:solidFill>
            <a:srgbClr val="0D2137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" name="TextBox 3"/>
          <p:cNvSpPr txBox="1"/>
          <p:nvPr/>
        </p:nvSpPr>
        <p:spPr>
          <a:xfrm>
            <a:off x="288037" y="1543051"/>
            <a:ext cx="2839239" cy="27584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25" b="1" dirty="0">
                <a:solidFill>
                  <a:srgbClr val="4DD0E1"/>
                </a:solidFill>
                <a:latin typeface="Consolas"/>
              </a:rPr>
              <a:t>&lt;catalogue&gt;</a:t>
            </a:r>
          </a:p>
          <a:p>
            <a:endParaRPr sz="825" b="1" dirty="0">
              <a:solidFill>
                <a:srgbClr val="4DD0E1"/>
              </a:solidFill>
              <a:latin typeface="Consolas"/>
            </a:endParaRP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&lt;book </a:t>
            </a:r>
            <a:r>
              <a:rPr sz="825" b="1" dirty="0" err="1">
                <a:solidFill>
                  <a:srgbClr val="4DD0E1"/>
                </a:solidFill>
                <a:latin typeface="Consolas"/>
              </a:rPr>
              <a:t>isbn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="9780000000002"&gt;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&lt;title&gt;</a:t>
            </a:r>
            <a:r>
              <a:rPr sz="825" dirty="0">
                <a:solidFill>
                  <a:srgbClr val="FFFFFF"/>
                </a:solidFill>
                <a:latin typeface="Consolas"/>
              </a:rPr>
              <a:t>Learn Haskell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&lt;/title&gt;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&lt;subtitle&gt;</a:t>
            </a:r>
            <a:r>
              <a:rPr sz="825" dirty="0">
                <a:solidFill>
                  <a:srgbClr val="FFFFFF"/>
                </a:solidFill>
                <a:latin typeface="Consolas"/>
              </a:rPr>
              <a:t>Type-safe wizardry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&lt;/subtitle&gt;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&lt;authors&gt;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  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&lt;author id="a1"&gt;</a:t>
            </a:r>
            <a:r>
              <a:rPr sz="825" dirty="0">
                <a:solidFill>
                  <a:srgbClr val="FFFFFF"/>
                </a:solidFill>
                <a:latin typeface="Consolas"/>
              </a:rPr>
              <a:t>Mairead Example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&lt;/author&gt;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  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&lt;author id="a2"&gt;</a:t>
            </a:r>
            <a:r>
              <a:rPr sz="825" dirty="0">
                <a:solidFill>
                  <a:srgbClr val="FFFFFF"/>
                </a:solidFill>
                <a:latin typeface="Consolas"/>
              </a:rPr>
              <a:t>Co Author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&lt;/author&gt;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&lt;/authors&gt;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&lt;published year="2024"/&gt;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&lt;/book&gt;</a:t>
            </a:r>
          </a:p>
          <a:p>
            <a:endParaRPr sz="825" b="1" dirty="0">
              <a:solidFill>
                <a:srgbClr val="4DD0E1"/>
              </a:solidFill>
              <a:latin typeface="Consolas"/>
            </a:endParaRP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&lt;book </a:t>
            </a:r>
            <a:r>
              <a:rPr sz="825" b="1" dirty="0" err="1">
                <a:solidFill>
                  <a:srgbClr val="4DD0E1"/>
                </a:solidFill>
                <a:latin typeface="Consolas"/>
              </a:rPr>
              <a:t>isbn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="9780000000003"&gt;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&lt;title&gt;</a:t>
            </a:r>
            <a:r>
              <a:rPr sz="825" dirty="0">
                <a:solidFill>
                  <a:srgbClr val="FFFFFF"/>
                </a:solidFill>
                <a:latin typeface="Consolas"/>
              </a:rPr>
              <a:t>Streaming XML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&lt;/title&gt;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&lt;authors&gt;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  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&lt;author id="a3"&gt;</a:t>
            </a:r>
            <a:r>
              <a:rPr sz="825" dirty="0">
                <a:solidFill>
                  <a:srgbClr val="FFFFFF"/>
                </a:solidFill>
                <a:latin typeface="Consolas"/>
              </a:rPr>
              <a:t>Someone Else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&lt;/author&gt;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&lt;/authors&gt;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&lt;published year="2023"/&gt;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&lt;/book&gt;</a:t>
            </a:r>
          </a:p>
          <a:p>
            <a:endParaRPr sz="825" b="1" dirty="0">
              <a:solidFill>
                <a:srgbClr val="4DD0E1"/>
              </a:solidFill>
              <a:latin typeface="Consolas"/>
            </a:endParaRPr>
          </a:p>
          <a:p>
            <a:r>
              <a:rPr sz="825" b="1" dirty="0">
                <a:solidFill>
                  <a:srgbClr val="4DD0E1"/>
                </a:solidFill>
                <a:latin typeface="Consolas"/>
              </a:rPr>
              <a:t>&lt;/catalogue&gt;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5074920" y="1474470"/>
            <a:ext cx="3840480" cy="528066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" name="TextBox 5"/>
          <p:cNvSpPr txBox="1"/>
          <p:nvPr/>
        </p:nvSpPr>
        <p:spPr>
          <a:xfrm>
            <a:off x="5157216" y="1522476"/>
            <a:ext cx="849913" cy="2192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25" b="1">
                <a:solidFill>
                  <a:srgbClr val="4DD0E1"/>
                </a:solidFill>
                <a:latin typeface="Trebuchet MS"/>
              </a:rPr>
              <a:t>Root element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57217" y="1776222"/>
            <a:ext cx="370331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FFFFFF"/>
                </a:solidFill>
                <a:latin typeface="Trebuchet MS"/>
              </a:rPr>
              <a:t>Every XML doc has exactly one root — here &lt;catalogue&gt;.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74920" y="2050542"/>
            <a:ext cx="3840480" cy="528066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" name="TextBox 8"/>
          <p:cNvSpPr txBox="1"/>
          <p:nvPr/>
        </p:nvSpPr>
        <p:spPr>
          <a:xfrm>
            <a:off x="5157217" y="2098548"/>
            <a:ext cx="1173719" cy="2192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25" b="1">
                <a:solidFill>
                  <a:srgbClr val="4DD0E1"/>
                </a:solidFill>
                <a:latin typeface="Trebuchet MS"/>
              </a:rPr>
              <a:t>Element + Attribute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57217" y="2352294"/>
            <a:ext cx="370331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FFFFFF"/>
                </a:solidFill>
                <a:latin typeface="Trebuchet MS"/>
              </a:rPr>
              <a:t>&lt;book isbn="..."&gt; — book is the element; isbn is an attribute.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2626614"/>
            <a:ext cx="3840480" cy="528066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" name="TextBox 11"/>
          <p:cNvSpPr txBox="1"/>
          <p:nvPr/>
        </p:nvSpPr>
        <p:spPr>
          <a:xfrm>
            <a:off x="5157216" y="2674621"/>
            <a:ext cx="920445" cy="2192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25" b="1">
                <a:solidFill>
                  <a:srgbClr val="4DD0E1"/>
                </a:solidFill>
                <a:latin typeface="Trebuchet MS"/>
              </a:rPr>
              <a:t>Child elements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57217" y="2928366"/>
            <a:ext cx="370331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FFFFFF"/>
                </a:solidFill>
                <a:latin typeface="Trebuchet MS"/>
              </a:rPr>
              <a:t>&lt;title&gt;, &lt;subtitle&gt;, &lt;authors&gt; are children of &lt;book&gt;.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4920" y="3202686"/>
            <a:ext cx="3840480" cy="528066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5" name="TextBox 14"/>
          <p:cNvSpPr txBox="1"/>
          <p:nvPr/>
        </p:nvSpPr>
        <p:spPr>
          <a:xfrm>
            <a:off x="5157216" y="3250693"/>
            <a:ext cx="824265" cy="2192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25" b="1">
                <a:solidFill>
                  <a:srgbClr val="4DD0E1"/>
                </a:solidFill>
                <a:latin typeface="Trebuchet MS"/>
              </a:rPr>
              <a:t>Text 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7" y="3504438"/>
            <a:ext cx="370331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FFFFFF"/>
                </a:solidFill>
                <a:latin typeface="Trebuchet MS"/>
              </a:rPr>
              <a:t>Text sits between tags: &lt;title&gt;Learn Haskell&lt;/title&gt;.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3778758"/>
            <a:ext cx="3840480" cy="528066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8" name="TextBox 17"/>
          <p:cNvSpPr txBox="1"/>
          <p:nvPr/>
        </p:nvSpPr>
        <p:spPr>
          <a:xfrm>
            <a:off x="5157216" y="3826765"/>
            <a:ext cx="926857" cy="2192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25" b="1">
                <a:solidFill>
                  <a:srgbClr val="4DD0E1"/>
                </a:solidFill>
                <a:latin typeface="Trebuchet MS"/>
              </a:rPr>
              <a:t>Self-closing tag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7" y="4080510"/>
            <a:ext cx="370331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FFFFFF"/>
                </a:solidFill>
                <a:latin typeface="Trebuchet MS"/>
              </a:rPr>
              <a:t>&lt;published year="2024"/&gt; — no children, closes immediately.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74920" y="4354830"/>
            <a:ext cx="3840480" cy="528066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1" name="TextBox 20"/>
          <p:cNvSpPr txBox="1"/>
          <p:nvPr/>
        </p:nvSpPr>
        <p:spPr>
          <a:xfrm>
            <a:off x="5157216" y="4402837"/>
            <a:ext cx="1042273" cy="2192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25" b="1">
                <a:solidFill>
                  <a:srgbClr val="4DD0E1"/>
                </a:solidFill>
                <a:latin typeface="Trebuchet MS"/>
              </a:rPr>
              <a:t>Optional element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7" y="4656582"/>
            <a:ext cx="370331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FFFFFF"/>
                </a:solidFill>
                <a:latin typeface="Trebuchet MS"/>
              </a:rPr>
              <a:t>&lt;subtitle&gt; appears in book 1 but not book 2 — it is optional.</a:t>
            </a:r>
          </a:p>
        </p:txBody>
      </p:sp>
      <p:sp>
        <p:nvSpPr>
          <p:cNvPr id="23" name="Slide Number Placeholder 1">
            <a:extLst>
              <a:ext uri="{FF2B5EF4-FFF2-40B4-BE49-F238E27FC236}">
                <a16:creationId xmlns:a16="http://schemas.microsoft.com/office/drawing/2014/main" id="{06D51878-3586-4FBB-B69E-C8FD6B57C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7093" y="564921"/>
            <a:ext cx="865613" cy="818092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E7B5135-177D-EE42-9C5F-82759AF30F9B}" type="slidenum">
              <a:rPr lang="en-US" sz="1050"/>
              <a:pPr/>
              <a:t>3</a:t>
            </a:fld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 animBg="1"/>
      <p:bldP spid="9" grpId="0"/>
      <p:bldP spid="10" grpId="0"/>
      <p:bldP spid="11" grpId="0" animBg="1"/>
      <p:bldP spid="12" grpId="0"/>
      <p:bldP spid="13" grpId="0"/>
      <p:bldP spid="14" grpId="0" animBg="1"/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XML as a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5740" y="1268729"/>
            <a:ext cx="87302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FFFFFF"/>
                </a:solidFill>
              </a:rPr>
              <a:t>Every XML document is a tree. Understanding this makes parsing straightforward.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3051811" y="1724263"/>
            <a:ext cx="960120" cy="308610"/>
          </a:xfrm>
          <a:prstGeom prst="rect">
            <a:avLst/>
          </a:prstGeom>
          <a:solidFill>
            <a:srgbClr val="000000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3" b="1" dirty="0">
                <a:solidFill>
                  <a:srgbClr val="FFFFFF"/>
                </a:solidFill>
                <a:latin typeface="Consolas"/>
              </a:rPr>
              <a:t>catalogue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5846" y="2204086"/>
            <a:ext cx="960120" cy="308610"/>
          </a:xfrm>
          <a:prstGeom prst="rect">
            <a:avLst/>
          </a:prstGeom>
          <a:solidFill>
            <a:srgbClr val="000000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3" b="1" dirty="0">
                <a:solidFill>
                  <a:srgbClr val="FFFFFF"/>
                </a:solidFill>
                <a:latin typeface="Consolas"/>
              </a:rPr>
              <a:t>book [</a:t>
            </a:r>
            <a:r>
              <a:rPr sz="713" b="1" dirty="0" err="1">
                <a:solidFill>
                  <a:srgbClr val="FFFFFF"/>
                </a:solidFill>
                <a:latin typeface="Consolas"/>
              </a:rPr>
              <a:t>isbn</a:t>
            </a:r>
            <a:r>
              <a:rPr sz="713" b="1" dirty="0">
                <a:solidFill>
                  <a:srgbClr val="FFFFFF"/>
                </a:solidFill>
                <a:latin typeface="Consolas"/>
              </a:rPr>
              <a:t>=...]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5908" y="2204086"/>
            <a:ext cx="960120" cy="308610"/>
          </a:xfrm>
          <a:prstGeom prst="rect">
            <a:avLst/>
          </a:prstGeom>
          <a:solidFill>
            <a:srgbClr val="000000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3" b="1" dirty="0">
                <a:solidFill>
                  <a:srgbClr val="FFFFFF"/>
                </a:solidFill>
                <a:latin typeface="Consolas"/>
              </a:rPr>
              <a:t>book [</a:t>
            </a:r>
            <a:r>
              <a:rPr sz="713" b="1" dirty="0" err="1">
                <a:solidFill>
                  <a:srgbClr val="FFFFFF"/>
                </a:solidFill>
                <a:latin typeface="Consolas"/>
              </a:rPr>
              <a:t>isbn</a:t>
            </a:r>
            <a:r>
              <a:rPr sz="713" b="1" dirty="0">
                <a:solidFill>
                  <a:srgbClr val="FFFFFF"/>
                </a:solidFill>
                <a:latin typeface="Consolas"/>
              </a:rPr>
              <a:t>=...]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0" y="2023110"/>
            <a:ext cx="0" cy="342900"/>
          </a:xfrm>
          <a:prstGeom prst="line">
            <a:avLst/>
          </a:prstGeom>
          <a:ln w="1524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2023110"/>
            <a:ext cx="0" cy="342900"/>
          </a:xfrm>
          <a:prstGeom prst="line">
            <a:avLst/>
          </a:prstGeom>
          <a:ln w="1524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02871" y="3068439"/>
            <a:ext cx="684442" cy="288206"/>
          </a:xfrm>
          <a:prstGeom prst="rect">
            <a:avLst/>
          </a:prstGeom>
          <a:solidFill>
            <a:srgbClr val="4DD0E1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3" b="1" dirty="0">
                <a:solidFill>
                  <a:srgbClr val="000000"/>
                </a:solidFill>
                <a:latin typeface="Consolas"/>
              </a:rPr>
              <a:t>title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0" y="2674620"/>
            <a:ext cx="0" cy="377190"/>
          </a:xfrm>
          <a:prstGeom prst="line">
            <a:avLst/>
          </a:prstGeom>
          <a:ln w="1524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027343" y="3051585"/>
            <a:ext cx="582930" cy="288206"/>
          </a:xfrm>
          <a:prstGeom prst="rect">
            <a:avLst/>
          </a:prstGeom>
          <a:solidFill>
            <a:srgbClr val="4DD0E1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3" b="1" dirty="0">
                <a:solidFill>
                  <a:srgbClr val="000000"/>
                </a:solidFill>
                <a:latin typeface="Consolas"/>
              </a:rPr>
              <a:t>subtitle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0" y="2674620"/>
            <a:ext cx="0" cy="377190"/>
          </a:xfrm>
          <a:prstGeom prst="line">
            <a:avLst/>
          </a:prstGeom>
          <a:ln w="1524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781921" y="3034149"/>
            <a:ext cx="737716" cy="274319"/>
          </a:xfrm>
          <a:prstGeom prst="rect">
            <a:avLst/>
          </a:prstGeom>
          <a:solidFill>
            <a:srgbClr val="4DD0E1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3" b="1">
                <a:solidFill>
                  <a:srgbClr val="000000"/>
                </a:solidFill>
                <a:latin typeface="Consolas"/>
              </a:rPr>
              <a:t>authors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0" y="2674620"/>
            <a:ext cx="0" cy="377190"/>
          </a:xfrm>
          <a:prstGeom prst="line">
            <a:avLst/>
          </a:prstGeom>
          <a:ln w="1524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708911" y="3028469"/>
            <a:ext cx="822960" cy="274319"/>
          </a:xfrm>
          <a:prstGeom prst="rect">
            <a:avLst/>
          </a:prstGeom>
          <a:solidFill>
            <a:srgbClr val="4DD0E1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3" b="1" dirty="0">
                <a:solidFill>
                  <a:srgbClr val="000000"/>
                </a:solidFill>
                <a:latin typeface="Consolas"/>
              </a:rPr>
              <a:t>published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0" y="2674620"/>
            <a:ext cx="0" cy="377190"/>
          </a:xfrm>
          <a:prstGeom prst="line">
            <a:avLst/>
          </a:prstGeom>
          <a:ln w="1524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0" y="2674620"/>
            <a:ext cx="0" cy="377190"/>
          </a:xfrm>
          <a:prstGeom prst="line">
            <a:avLst/>
          </a:prstGeom>
          <a:ln w="1524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674620"/>
            <a:ext cx="0" cy="377190"/>
          </a:xfrm>
          <a:prstGeom prst="line">
            <a:avLst/>
          </a:prstGeom>
          <a:ln w="1524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2674620"/>
            <a:ext cx="0" cy="377190"/>
          </a:xfrm>
          <a:prstGeom prst="line">
            <a:avLst/>
          </a:prstGeom>
          <a:ln w="1524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899291" y="3902119"/>
            <a:ext cx="960120" cy="308610"/>
          </a:xfrm>
          <a:prstGeom prst="rect">
            <a:avLst/>
          </a:prstGeom>
          <a:solidFill>
            <a:srgbClr val="000000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3" b="1" dirty="0">
                <a:solidFill>
                  <a:srgbClr val="FFFFFF"/>
                </a:solidFill>
                <a:latin typeface="Consolas"/>
              </a:rPr>
              <a:t>author [id=a1]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07471" y="3885993"/>
            <a:ext cx="960120" cy="308610"/>
          </a:xfrm>
          <a:prstGeom prst="rect">
            <a:avLst/>
          </a:prstGeom>
          <a:solidFill>
            <a:srgbClr val="000000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3" b="1">
                <a:solidFill>
                  <a:srgbClr val="FFFFFF"/>
                </a:solidFill>
                <a:latin typeface="Consolas"/>
              </a:rPr>
              <a:t>author [id=a2]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0" y="3360420"/>
            <a:ext cx="0" cy="377190"/>
          </a:xfrm>
          <a:prstGeom prst="line">
            <a:avLst/>
          </a:prstGeom>
          <a:ln w="1524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360420"/>
            <a:ext cx="0" cy="377190"/>
          </a:xfrm>
          <a:prstGeom prst="line">
            <a:avLst/>
          </a:prstGeom>
          <a:ln w="1524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05740" y="4491991"/>
            <a:ext cx="8730234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 dirty="0">
                <a:solidFill>
                  <a:srgbClr val="4DD0E1"/>
                </a:solidFill>
              </a:rPr>
              <a:t>Key insight: one root; every element has exactly one parent (except the root).</a:t>
            </a:r>
          </a:p>
        </p:txBody>
      </p:sp>
      <p:sp>
        <p:nvSpPr>
          <p:cNvPr id="28" name="Slide Number Placeholder 1">
            <a:extLst>
              <a:ext uri="{FF2B5EF4-FFF2-40B4-BE49-F238E27FC236}">
                <a16:creationId xmlns:a16="http://schemas.microsoft.com/office/drawing/2014/main" id="{29089A95-4218-DC42-52A7-75FF75E79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7093" y="564921"/>
            <a:ext cx="865613" cy="818092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E7B5135-177D-EE42-9C5F-82759AF30F9B}" type="slidenum">
              <a:rPr lang="en-US" sz="1050"/>
              <a:pPr/>
              <a:t>4</a:t>
            </a:fld>
            <a:endParaRPr lang="en-US" sz="1050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426DA97-0DE8-0083-BC77-BC48E0CE32C3}"/>
              </a:ext>
            </a:extLst>
          </p:cNvPr>
          <p:cNvCxnSpPr>
            <a:stCxn id="5" idx="0"/>
            <a:endCxn id="4" idx="2"/>
          </p:cNvCxnSpPr>
          <p:nvPr/>
        </p:nvCxnSpPr>
        <p:spPr>
          <a:xfrm flipV="1">
            <a:off x="1525906" y="2032873"/>
            <a:ext cx="2005965" cy="171213"/>
          </a:xfrm>
          <a:prstGeom prst="line">
            <a:avLst/>
          </a:prstGeom>
          <a:ln w="222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61B7E5A-AB73-D24A-CD75-2BDAA692EBB5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3531871" y="2032873"/>
            <a:ext cx="1974097" cy="171213"/>
          </a:xfrm>
          <a:prstGeom prst="line">
            <a:avLst/>
          </a:prstGeom>
          <a:ln w="222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2D628DF-D2C6-0739-24AA-BDA2A63A57D4}"/>
              </a:ext>
            </a:extLst>
          </p:cNvPr>
          <p:cNvCxnSpPr>
            <a:cxnSpLocks/>
            <a:stCxn id="9" idx="0"/>
            <a:endCxn id="5" idx="2"/>
          </p:cNvCxnSpPr>
          <p:nvPr/>
        </p:nvCxnSpPr>
        <p:spPr>
          <a:xfrm flipV="1">
            <a:off x="445092" y="2512696"/>
            <a:ext cx="1080814" cy="555743"/>
          </a:xfrm>
          <a:prstGeom prst="line">
            <a:avLst/>
          </a:prstGeom>
          <a:ln w="222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F43789E-94DE-4CFD-29E0-C8710E1A6179}"/>
              </a:ext>
            </a:extLst>
          </p:cNvPr>
          <p:cNvCxnSpPr>
            <a:cxnSpLocks/>
            <a:stCxn id="11" idx="0"/>
            <a:endCxn id="5" idx="2"/>
          </p:cNvCxnSpPr>
          <p:nvPr/>
        </p:nvCxnSpPr>
        <p:spPr>
          <a:xfrm flipV="1">
            <a:off x="1318808" y="2512696"/>
            <a:ext cx="207098" cy="538889"/>
          </a:xfrm>
          <a:prstGeom prst="line">
            <a:avLst/>
          </a:prstGeom>
          <a:ln w="222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C16B17F-4C77-B130-1295-7AB7EBFE82AC}"/>
              </a:ext>
            </a:extLst>
          </p:cNvPr>
          <p:cNvCxnSpPr>
            <a:cxnSpLocks/>
            <a:stCxn id="5" idx="2"/>
            <a:endCxn id="13" idx="0"/>
          </p:cNvCxnSpPr>
          <p:nvPr/>
        </p:nvCxnSpPr>
        <p:spPr>
          <a:xfrm>
            <a:off x="1525906" y="2512696"/>
            <a:ext cx="624873" cy="521453"/>
          </a:xfrm>
          <a:prstGeom prst="line">
            <a:avLst/>
          </a:prstGeom>
          <a:ln w="222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63CAD4D-8038-A0F1-7A64-50FF17BB6EEC}"/>
              </a:ext>
            </a:extLst>
          </p:cNvPr>
          <p:cNvCxnSpPr>
            <a:cxnSpLocks/>
            <a:stCxn id="5" idx="2"/>
            <a:endCxn id="15" idx="0"/>
          </p:cNvCxnSpPr>
          <p:nvPr/>
        </p:nvCxnSpPr>
        <p:spPr>
          <a:xfrm>
            <a:off x="1525906" y="2512696"/>
            <a:ext cx="1594485" cy="515773"/>
          </a:xfrm>
          <a:prstGeom prst="line">
            <a:avLst/>
          </a:prstGeom>
          <a:ln w="222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9F58CF1-9259-4DA4-4E23-EE9CCCF91030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2150779" y="3355061"/>
            <a:ext cx="736752" cy="530932"/>
          </a:xfrm>
          <a:prstGeom prst="line">
            <a:avLst/>
          </a:prstGeom>
          <a:ln w="222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403388E-16AE-FC06-25AF-978DD89676DC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1379351" y="3343986"/>
            <a:ext cx="778982" cy="558133"/>
          </a:xfrm>
          <a:prstGeom prst="line">
            <a:avLst/>
          </a:prstGeom>
          <a:ln w="222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B3FA5D5D-F567-201F-4667-AF6AC1098438}"/>
              </a:ext>
            </a:extLst>
          </p:cNvPr>
          <p:cNvSpPr/>
          <p:nvPr/>
        </p:nvSpPr>
        <p:spPr>
          <a:xfrm>
            <a:off x="4090003" y="3068439"/>
            <a:ext cx="684442" cy="288206"/>
          </a:xfrm>
          <a:prstGeom prst="rect">
            <a:avLst/>
          </a:prstGeom>
          <a:solidFill>
            <a:srgbClr val="4DD0E1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3" b="1" dirty="0">
                <a:solidFill>
                  <a:srgbClr val="000000"/>
                </a:solidFill>
                <a:latin typeface="Consolas"/>
              </a:rPr>
              <a:t>title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4B800E7-15DD-A95A-2774-335968824792}"/>
              </a:ext>
            </a:extLst>
          </p:cNvPr>
          <p:cNvSpPr/>
          <p:nvPr/>
        </p:nvSpPr>
        <p:spPr>
          <a:xfrm>
            <a:off x="5025908" y="3075382"/>
            <a:ext cx="737716" cy="274319"/>
          </a:xfrm>
          <a:prstGeom prst="rect">
            <a:avLst/>
          </a:prstGeom>
          <a:solidFill>
            <a:srgbClr val="4DD0E1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3" b="1" dirty="0">
                <a:solidFill>
                  <a:srgbClr val="000000"/>
                </a:solidFill>
                <a:latin typeface="Consolas"/>
              </a:rPr>
              <a:t>authors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0D7F81A-E18D-D769-982F-2B2591F37E21}"/>
              </a:ext>
            </a:extLst>
          </p:cNvPr>
          <p:cNvSpPr/>
          <p:nvPr/>
        </p:nvSpPr>
        <p:spPr>
          <a:xfrm>
            <a:off x="5884608" y="3068439"/>
            <a:ext cx="656741" cy="253917"/>
          </a:xfrm>
          <a:prstGeom prst="rect">
            <a:avLst/>
          </a:prstGeom>
          <a:solidFill>
            <a:srgbClr val="4DD0E1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3" b="1" dirty="0">
                <a:solidFill>
                  <a:srgbClr val="000000"/>
                </a:solidFill>
                <a:latin typeface="Consolas"/>
              </a:rPr>
              <a:t>published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A6C567DC-74B8-0620-0959-A70B8B5622F7}"/>
              </a:ext>
            </a:extLst>
          </p:cNvPr>
          <p:cNvCxnSpPr>
            <a:cxnSpLocks/>
          </p:cNvCxnSpPr>
          <p:nvPr/>
        </p:nvCxnSpPr>
        <p:spPr>
          <a:xfrm flipV="1">
            <a:off x="4457022" y="2495842"/>
            <a:ext cx="1048946" cy="555743"/>
          </a:xfrm>
          <a:prstGeom prst="line">
            <a:avLst/>
          </a:prstGeom>
          <a:ln w="222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10690CC9-11AC-589D-664C-B62CD49B4DB9}"/>
              </a:ext>
            </a:extLst>
          </p:cNvPr>
          <p:cNvCxnSpPr>
            <a:cxnSpLocks/>
          </p:cNvCxnSpPr>
          <p:nvPr/>
        </p:nvCxnSpPr>
        <p:spPr>
          <a:xfrm flipV="1">
            <a:off x="5330738" y="2495842"/>
            <a:ext cx="175230" cy="538889"/>
          </a:xfrm>
          <a:prstGeom prst="line">
            <a:avLst/>
          </a:prstGeom>
          <a:ln w="222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0E536A85-C4A9-BEE3-0882-ED33C5C3CE3C}"/>
              </a:ext>
            </a:extLst>
          </p:cNvPr>
          <p:cNvCxnSpPr>
            <a:cxnSpLocks/>
          </p:cNvCxnSpPr>
          <p:nvPr/>
        </p:nvCxnSpPr>
        <p:spPr>
          <a:xfrm>
            <a:off x="5495119" y="2510472"/>
            <a:ext cx="656741" cy="521453"/>
          </a:xfrm>
          <a:prstGeom prst="line">
            <a:avLst/>
          </a:prstGeom>
          <a:ln w="222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9" grpId="0" animBg="1"/>
      <p:bldP spid="11" grpId="0" animBg="1"/>
      <p:bldP spid="13" grpId="0" animBg="1"/>
      <p:bldP spid="15" grpId="0" animBg="1"/>
      <p:bldP spid="23" grpId="0" animBg="1"/>
      <p:bldP spid="24" grpId="0" animBg="1"/>
      <p:bldP spid="72" grpId="0" animBg="1"/>
      <p:bldP spid="74" grpId="0" animBg="1"/>
      <p:bldP spid="7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xml-conduit Sees XML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Haskell library's view of the document tree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A125C4AE-FF6A-837D-5E1A-162D28D2E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00952" y="2152420"/>
            <a:ext cx="865613" cy="818092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E7B5135-177D-EE42-9C5F-82759AF30F9B}" type="slidenum">
              <a:rPr lang="en-US" sz="1050"/>
              <a:pPr/>
              <a:t>5</a:t>
            </a:fld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xml-conduit — Core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5740" y="1405889"/>
            <a:ext cx="87302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dirty="0">
                <a:solidFill>
                  <a:srgbClr val="FFFFFF"/>
                </a:solidFill>
              </a:rPr>
              <a:t>xml-conduit models XML as Haskell data types. Every piece of an XML document maps to one of these:</a:t>
            </a:r>
          </a:p>
        </p:txBody>
      </p:sp>
      <p:sp>
        <p:nvSpPr>
          <p:cNvPr id="4" name="Rectangle 3"/>
          <p:cNvSpPr/>
          <p:nvPr/>
        </p:nvSpPr>
        <p:spPr>
          <a:xfrm>
            <a:off x="205740" y="1762506"/>
            <a:ext cx="3771900" cy="925830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288036" y="1810511"/>
            <a:ext cx="73289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DD0E1"/>
                </a:solidFill>
                <a:latin typeface="Trebuchet MS"/>
              </a:rPr>
              <a:t>Document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" y="2064259"/>
            <a:ext cx="3634740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>
                <a:solidFill>
                  <a:srgbClr val="FFFFFF"/>
                </a:solidFill>
                <a:latin typeface="Trebuchet MS"/>
              </a:rPr>
              <a:t>The whole file. Contains a prologue (&lt;?xml ...?&gt;) and the root Element.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205740" y="2777490"/>
            <a:ext cx="3771900" cy="925830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" name="TextBox 7"/>
          <p:cNvSpPr txBox="1"/>
          <p:nvPr/>
        </p:nvSpPr>
        <p:spPr>
          <a:xfrm>
            <a:off x="288036" y="2825496"/>
            <a:ext cx="63030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DD0E1"/>
                </a:solidFill>
                <a:latin typeface="Trebuchet MS"/>
              </a:rPr>
              <a:t>Element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" y="3079243"/>
            <a:ext cx="3634740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>
                <a:solidFill>
                  <a:srgbClr val="FFFFFF"/>
                </a:solidFill>
                <a:latin typeface="Trebuchet MS"/>
              </a:rPr>
              <a:t>A tag with a Name, a map of Attributes, and a list of Nodes as children.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5740" y="3792473"/>
            <a:ext cx="3771900" cy="925830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" name="TextBox 10"/>
          <p:cNvSpPr txBox="1"/>
          <p:nvPr/>
        </p:nvSpPr>
        <p:spPr>
          <a:xfrm>
            <a:off x="288036" y="3840480"/>
            <a:ext cx="4603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DD0E1"/>
                </a:solidFill>
                <a:latin typeface="Trebuchet MS"/>
              </a:rPr>
              <a:t>Node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" y="4094227"/>
            <a:ext cx="363474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>
                <a:solidFill>
                  <a:srgbClr val="FFFFFF"/>
                </a:solidFill>
                <a:latin typeface="Trebuchet MS"/>
              </a:rPr>
              <a:t>What lives inside an element: another Element, plain Text, or a Comment.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762506"/>
            <a:ext cx="4663440" cy="3291840"/>
          </a:xfrm>
          <a:prstGeom prst="rect">
            <a:avLst/>
          </a:prstGeom>
          <a:solidFill>
            <a:srgbClr val="0D2137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" name="TextBox 13"/>
          <p:cNvSpPr txBox="1"/>
          <p:nvPr/>
        </p:nvSpPr>
        <p:spPr>
          <a:xfrm>
            <a:off x="4334256" y="1831086"/>
            <a:ext cx="2621230" cy="25853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dirty="0">
                <a:solidFill>
                  <a:srgbClr val="FFFFFF"/>
                </a:solidFill>
                <a:latin typeface="Consolas"/>
              </a:rPr>
              <a:t>data Document = Document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{ 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documentPrologue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:: Prologue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, 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documentRoot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    :: Element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}</a:t>
            </a:r>
          </a:p>
          <a:p>
            <a:endParaRPr sz="900" dirty="0">
              <a:solidFill>
                <a:srgbClr val="FFFFFF"/>
              </a:solidFill>
              <a:latin typeface="Consolas"/>
            </a:endParaRPr>
          </a:p>
          <a:p>
            <a:endParaRPr lang="en-IE" sz="900" dirty="0">
              <a:solidFill>
                <a:srgbClr val="FFFFFF"/>
              </a:solidFill>
              <a:latin typeface="Consolas"/>
            </a:endParaRPr>
          </a:p>
          <a:p>
            <a:endParaRPr lang="en-IE" sz="900" dirty="0">
              <a:solidFill>
                <a:srgbClr val="FFFFFF"/>
              </a:solidFill>
              <a:latin typeface="Consolas"/>
            </a:endParaRP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data Element = Element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{ 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elementName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      :: Name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, 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elementAttributes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:: Map Name Text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, 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elementNodes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     :: [Node]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}</a:t>
            </a:r>
          </a:p>
          <a:p>
            <a:endParaRPr sz="900" dirty="0">
              <a:solidFill>
                <a:srgbClr val="FFFFFF"/>
              </a:solidFill>
              <a:latin typeface="Consolas"/>
            </a:endParaRPr>
          </a:p>
          <a:p>
            <a:endParaRPr lang="en-IE" sz="900" dirty="0">
              <a:solidFill>
                <a:srgbClr val="FFFFFF"/>
              </a:solidFill>
              <a:latin typeface="Consolas"/>
            </a:endParaRP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data Node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= 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NodeElement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Element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| 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NodeContent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 Text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| 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NodeComment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 Text</a:t>
            </a:r>
          </a:p>
        </p:txBody>
      </p:sp>
      <p:sp>
        <p:nvSpPr>
          <p:cNvPr id="15" name="Slide Number Placeholder 1">
            <a:extLst>
              <a:ext uri="{FF2B5EF4-FFF2-40B4-BE49-F238E27FC236}">
                <a16:creationId xmlns:a16="http://schemas.microsoft.com/office/drawing/2014/main" id="{C8AC7E91-E8BE-BFF0-453B-5425DF4E4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7093" y="564921"/>
            <a:ext cx="865613" cy="818092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E7B5135-177D-EE42-9C5F-82759AF30F9B}" type="slidenum">
              <a:rPr lang="en-US" sz="1050"/>
              <a:pPr/>
              <a:t>6</a:t>
            </a:fld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/>
      <p:bldP spid="6" grpId="0"/>
      <p:bldP spid="7" grpId="0" animBg="1"/>
      <p:bldP spid="8" grpId="0"/>
      <p:bldP spid="9" grpId="0"/>
      <p:bldP spid="10" grpId="0" animBg="1"/>
      <p:bldP spid="11" grpId="0"/>
      <p:bldP spid="12" grpId="0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Name Type — Handling Namespaces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5740" y="1405889"/>
            <a:ext cx="87302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dirty="0">
                <a:solidFill>
                  <a:srgbClr val="FFFFFF"/>
                </a:solidFill>
              </a:rPr>
              <a:t>xml-conduit uses a Name type instead of a plain String for tag names. This handles XML namespaces correctly.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205740" y="1714500"/>
            <a:ext cx="8730234" cy="1920240"/>
          </a:xfrm>
          <a:prstGeom prst="rect">
            <a:avLst/>
          </a:prstGeom>
          <a:solidFill>
            <a:srgbClr val="0D2137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288036" y="1783080"/>
            <a:ext cx="4224233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  <a:latin typeface="Consolas"/>
              </a:rPr>
              <a:t>data Name = Name</a:t>
            </a:r>
          </a:p>
          <a:p>
            <a:r>
              <a:rPr sz="900">
                <a:solidFill>
                  <a:srgbClr val="FFFFFF"/>
                </a:solidFill>
                <a:latin typeface="Consolas"/>
              </a:rPr>
              <a:t>  { nameLocalName  :: Text       -- e.g. "book"</a:t>
            </a:r>
          </a:p>
          <a:p>
            <a:r>
              <a:rPr sz="900">
                <a:solidFill>
                  <a:srgbClr val="FFFFFF"/>
                </a:solidFill>
                <a:latin typeface="Consolas"/>
              </a:rPr>
              <a:t>  , nameNamespace  :: Maybe Text -- e.g. Nothing (no namespace)</a:t>
            </a:r>
          </a:p>
          <a:p>
            <a:r>
              <a:rPr sz="900">
                <a:solidFill>
                  <a:srgbClr val="FFFFFF"/>
                </a:solidFill>
                <a:latin typeface="Consolas"/>
              </a:rPr>
              <a:t>  , namePrefix     :: Maybe Text -- e.g. Nothing</a:t>
            </a:r>
          </a:p>
          <a:p>
            <a:r>
              <a:rPr sz="900">
                <a:solidFill>
                  <a:srgbClr val="FFFFFF"/>
                </a:solidFill>
                <a:latin typeface="Consolas"/>
              </a:rPr>
              <a:t>  }</a:t>
            </a:r>
          </a:p>
          <a:p>
            <a:endParaRPr sz="900">
              <a:solidFill>
                <a:srgbClr val="FFFFFF"/>
              </a:solidFill>
              <a:latin typeface="Consolas"/>
            </a:endParaRPr>
          </a:p>
          <a:p>
            <a:r>
              <a:rPr sz="900">
                <a:solidFill>
                  <a:srgbClr val="FFFFFF"/>
                </a:solidFill>
                <a:latin typeface="Consolas"/>
              </a:rPr>
              <a:t>-- OverloadedStrings lets you write:</a:t>
            </a:r>
          </a:p>
          <a:p>
            <a:r>
              <a:rPr sz="900">
                <a:solidFill>
                  <a:srgbClr val="FFFFFF"/>
                </a:solidFill>
                <a:latin typeface="Consolas"/>
              </a:rPr>
              <a:t>"book" :: Name   -- same as Name "book" Nothing Nothing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05741" y="3737609"/>
            <a:ext cx="2811779" cy="1028700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TextBox 6"/>
          <p:cNvSpPr txBox="1"/>
          <p:nvPr/>
        </p:nvSpPr>
        <p:spPr>
          <a:xfrm>
            <a:off x="288036" y="3785616"/>
            <a:ext cx="153439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DD0E1"/>
                </a:solidFill>
                <a:latin typeface="Trebuchet MS"/>
              </a:rPr>
              <a:t>No namespace (our case)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7" y="4039362"/>
            <a:ext cx="2674619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>
                <a:solidFill>
                  <a:srgbClr val="FFFFFF"/>
                </a:solidFill>
                <a:latin typeface="Trebuchet MS"/>
              </a:rPr>
              <a:t>books.xml uses no namespace — nameNamespace = Nothing. Write tag names as plain strings.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188970" y="3737609"/>
            <a:ext cx="2811779" cy="1028700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" name="TextBox 9"/>
          <p:cNvSpPr txBox="1"/>
          <p:nvPr/>
        </p:nvSpPr>
        <p:spPr>
          <a:xfrm>
            <a:off x="3271266" y="3785616"/>
            <a:ext cx="106952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DD0E1"/>
                </a:solidFill>
                <a:latin typeface="Trebuchet MS"/>
              </a:rPr>
              <a:t>With namespace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1267" y="4039362"/>
            <a:ext cx="2674619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>
                <a:solidFill>
                  <a:srgbClr val="FFFFFF"/>
                </a:solidFill>
                <a:latin typeface="Trebuchet MS"/>
              </a:rPr>
              <a:t>XHTML and SOAP use namespaces like {http://www.w3.org/1999/xhtml}html — xml-conduit handles these automatically.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1" y="3737609"/>
            <a:ext cx="2811779" cy="1028700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" name="TextBox 12"/>
          <p:cNvSpPr txBox="1"/>
          <p:nvPr/>
        </p:nvSpPr>
        <p:spPr>
          <a:xfrm>
            <a:off x="6254496" y="3785616"/>
            <a:ext cx="83869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DD0E1"/>
                </a:solidFill>
                <a:latin typeface="Trebuchet MS"/>
              </a:rPr>
              <a:t>Practical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4496" y="4039362"/>
            <a:ext cx="2674619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>
                <a:solidFill>
                  <a:srgbClr val="FFFFFF"/>
                </a:solidFill>
                <a:latin typeface="Trebuchet MS"/>
              </a:rPr>
              <a:t>Enable {-# LANGUAGE OverloadedStrings #-}. Then write "book" instead of Name "book" Nothing Nothing.</a:t>
            </a:r>
          </a:p>
        </p:txBody>
      </p:sp>
      <p:sp>
        <p:nvSpPr>
          <p:cNvPr id="15" name="Slide Number Placeholder 1">
            <a:extLst>
              <a:ext uri="{FF2B5EF4-FFF2-40B4-BE49-F238E27FC236}">
                <a16:creationId xmlns:a16="http://schemas.microsoft.com/office/drawing/2014/main" id="{6993530B-67AE-A666-2C2B-41E02C306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7093" y="564921"/>
            <a:ext cx="865613" cy="818092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E7B5135-177D-EE42-9C5F-82759AF30F9B}" type="slidenum">
              <a:rPr lang="en-US" sz="1050"/>
              <a:pPr/>
              <a:t>7</a:t>
            </a:fld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books.xml Through xml-conduit's Eyes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5740" y="1440180"/>
            <a:ext cx="30861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4DD0E1"/>
                </a:solidFill>
              </a:rPr>
              <a:t>XML</a:t>
            </a:r>
          </a:p>
        </p:txBody>
      </p:sp>
      <p:sp>
        <p:nvSpPr>
          <p:cNvPr id="4" name="Rectangle 3"/>
          <p:cNvSpPr/>
          <p:nvPr/>
        </p:nvSpPr>
        <p:spPr>
          <a:xfrm>
            <a:off x="205740" y="1666493"/>
            <a:ext cx="3771900" cy="3017520"/>
          </a:xfrm>
          <a:prstGeom prst="rect">
            <a:avLst/>
          </a:prstGeom>
          <a:solidFill>
            <a:srgbClr val="0D2137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288036" y="1735074"/>
            <a:ext cx="2108269" cy="13388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DD0E1"/>
                </a:solidFill>
                <a:latin typeface="Consolas"/>
              </a:rPr>
              <a:t>&lt;book isbn="9780000000002"&gt;</a:t>
            </a:r>
          </a:p>
          <a:p>
            <a:r>
              <a:rPr sz="900">
                <a:solidFill>
                  <a:srgbClr val="FFFFFF"/>
                </a:solidFill>
                <a:latin typeface="Consolas"/>
              </a:rPr>
              <a:t>  </a:t>
            </a:r>
            <a:r>
              <a:rPr sz="900" b="1">
                <a:solidFill>
                  <a:srgbClr val="4DD0E1"/>
                </a:solidFill>
                <a:latin typeface="Consolas"/>
              </a:rPr>
              <a:t>&lt;title&gt;</a:t>
            </a:r>
            <a:r>
              <a:rPr sz="900">
                <a:solidFill>
                  <a:srgbClr val="FFFFFF"/>
                </a:solidFill>
                <a:latin typeface="Consolas"/>
              </a:rPr>
              <a:t>Learn Haskell</a:t>
            </a:r>
            <a:r>
              <a:rPr sz="900" b="1">
                <a:solidFill>
                  <a:srgbClr val="4DD0E1"/>
                </a:solidFill>
                <a:latin typeface="Consolas"/>
              </a:rPr>
              <a:t>&lt;/title&gt;</a:t>
            </a:r>
          </a:p>
          <a:p>
            <a:r>
              <a:rPr sz="900">
                <a:solidFill>
                  <a:srgbClr val="FFFFFF"/>
                </a:solidFill>
                <a:latin typeface="Consolas"/>
              </a:rPr>
              <a:t>  </a:t>
            </a:r>
            <a:r>
              <a:rPr sz="900" b="1">
                <a:solidFill>
                  <a:srgbClr val="4DD0E1"/>
                </a:solidFill>
                <a:latin typeface="Consolas"/>
              </a:rPr>
              <a:t>&lt;authors&gt;</a:t>
            </a:r>
          </a:p>
          <a:p>
            <a:r>
              <a:rPr sz="900">
                <a:solidFill>
                  <a:srgbClr val="FFFFFF"/>
                </a:solidFill>
                <a:latin typeface="Consolas"/>
              </a:rPr>
              <a:t>    </a:t>
            </a:r>
            <a:r>
              <a:rPr sz="900" b="1">
                <a:solidFill>
                  <a:srgbClr val="4DD0E1"/>
                </a:solidFill>
                <a:latin typeface="Consolas"/>
              </a:rPr>
              <a:t>&lt;author id="a1"&gt;</a:t>
            </a:r>
          </a:p>
          <a:p>
            <a:r>
              <a:rPr sz="900">
                <a:solidFill>
                  <a:srgbClr val="FFFFFF"/>
                </a:solidFill>
                <a:latin typeface="Consolas"/>
              </a:rPr>
              <a:t>      Mairead Example</a:t>
            </a:r>
          </a:p>
          <a:p>
            <a:r>
              <a:rPr sz="900">
                <a:solidFill>
                  <a:srgbClr val="FFFFFF"/>
                </a:solidFill>
                <a:latin typeface="Consolas"/>
              </a:rPr>
              <a:t>    </a:t>
            </a:r>
            <a:r>
              <a:rPr sz="900" b="1">
                <a:solidFill>
                  <a:srgbClr val="4DD0E1"/>
                </a:solidFill>
                <a:latin typeface="Consolas"/>
              </a:rPr>
              <a:t>&lt;/author&gt;</a:t>
            </a:r>
          </a:p>
          <a:p>
            <a:r>
              <a:rPr sz="900">
                <a:solidFill>
                  <a:srgbClr val="FFFFFF"/>
                </a:solidFill>
                <a:latin typeface="Consolas"/>
              </a:rPr>
              <a:t>  </a:t>
            </a:r>
            <a:r>
              <a:rPr sz="900" b="1">
                <a:solidFill>
                  <a:srgbClr val="4DD0E1"/>
                </a:solidFill>
                <a:latin typeface="Consolas"/>
              </a:rPr>
              <a:t>&lt;/authors&gt;</a:t>
            </a:r>
          </a:p>
          <a:p>
            <a:r>
              <a:rPr sz="900">
                <a:solidFill>
                  <a:srgbClr val="FFFFFF"/>
                </a:solidFill>
                <a:latin typeface="Consolas"/>
              </a:rPr>
              <a:t>  </a:t>
            </a:r>
            <a:r>
              <a:rPr sz="900" b="1">
                <a:solidFill>
                  <a:srgbClr val="4DD0E1"/>
                </a:solidFill>
                <a:latin typeface="Consolas"/>
              </a:rPr>
              <a:t>&lt;published year="2024"/&gt;</a:t>
            </a:r>
          </a:p>
          <a:p>
            <a:r>
              <a:rPr sz="900" b="1">
                <a:solidFill>
                  <a:srgbClr val="4DD0E1"/>
                </a:solidFill>
                <a:latin typeface="Consolas"/>
              </a:rPr>
              <a:t>&lt;/book&gt;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80510" y="2983229"/>
            <a:ext cx="5486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440180"/>
            <a:ext cx="41148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4DD0E1"/>
                </a:solidFill>
              </a:rPr>
              <a:t>Haskell Value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666493"/>
            <a:ext cx="4251960" cy="3360420"/>
          </a:xfrm>
          <a:prstGeom prst="rect">
            <a:avLst/>
          </a:prstGeom>
          <a:solidFill>
            <a:srgbClr val="0D2137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" name="TextBox 8"/>
          <p:cNvSpPr txBox="1"/>
          <p:nvPr/>
        </p:nvSpPr>
        <p:spPr>
          <a:xfrm>
            <a:off x="4745737" y="1735074"/>
            <a:ext cx="2839239" cy="21236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25" dirty="0">
                <a:solidFill>
                  <a:srgbClr val="FFFFFF"/>
                </a:solidFill>
                <a:latin typeface="Consolas"/>
              </a:rPr>
              <a:t>Element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{ </a:t>
            </a:r>
            <a:r>
              <a:rPr sz="825" dirty="0" err="1">
                <a:solidFill>
                  <a:srgbClr val="FFFFFF"/>
                </a:solidFill>
                <a:latin typeface="Consolas"/>
              </a:rPr>
              <a:t>elementName</a:t>
            </a:r>
            <a:r>
              <a:rPr sz="825" dirty="0">
                <a:solidFill>
                  <a:srgbClr val="FFFFFF"/>
                </a:solidFill>
                <a:latin typeface="Consolas"/>
              </a:rPr>
              <a:t> = "book"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, </a:t>
            </a:r>
            <a:r>
              <a:rPr sz="825" dirty="0" err="1">
                <a:solidFill>
                  <a:srgbClr val="FFFFFF"/>
                </a:solidFill>
                <a:latin typeface="Consolas"/>
              </a:rPr>
              <a:t>elementAttributes</a:t>
            </a:r>
            <a:r>
              <a:rPr sz="825" dirty="0">
                <a:solidFill>
                  <a:srgbClr val="FFFFFF"/>
                </a:solidFill>
                <a:latin typeface="Consolas"/>
              </a:rPr>
              <a:t> =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  </a:t>
            </a:r>
            <a:r>
              <a:rPr sz="825" dirty="0" err="1">
                <a:solidFill>
                  <a:srgbClr val="FFFFFF"/>
                </a:solidFill>
                <a:latin typeface="Consolas"/>
              </a:rPr>
              <a:t>Map.fromList</a:t>
            </a:r>
            <a:endParaRPr sz="825" dirty="0">
              <a:solidFill>
                <a:srgbClr val="FFFFFF"/>
              </a:solidFill>
              <a:latin typeface="Consolas"/>
            </a:endParaRP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    [("</a:t>
            </a:r>
            <a:r>
              <a:rPr sz="825" dirty="0" err="1">
                <a:solidFill>
                  <a:srgbClr val="FFFFFF"/>
                </a:solidFill>
                <a:latin typeface="Consolas"/>
              </a:rPr>
              <a:t>isbn</a:t>
            </a:r>
            <a:r>
              <a:rPr sz="825" dirty="0">
                <a:solidFill>
                  <a:srgbClr val="FFFFFF"/>
                </a:solidFill>
                <a:latin typeface="Consolas"/>
              </a:rPr>
              <a:t>", "9780000000002")]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, </a:t>
            </a:r>
            <a:r>
              <a:rPr sz="825" dirty="0" err="1">
                <a:solidFill>
                  <a:srgbClr val="FFFFFF"/>
                </a:solidFill>
                <a:latin typeface="Consolas"/>
              </a:rPr>
              <a:t>elementNodes</a:t>
            </a:r>
            <a:r>
              <a:rPr sz="825" dirty="0">
                <a:solidFill>
                  <a:srgbClr val="FFFFFF"/>
                </a:solidFill>
                <a:latin typeface="Consolas"/>
              </a:rPr>
              <a:t> =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  [ </a:t>
            </a:r>
            <a:r>
              <a:rPr sz="825" dirty="0" err="1">
                <a:solidFill>
                  <a:srgbClr val="FFFFFF"/>
                </a:solidFill>
                <a:latin typeface="Consolas"/>
              </a:rPr>
              <a:t>NodeElement</a:t>
            </a:r>
            <a:r>
              <a:rPr sz="825" dirty="0">
                <a:solidFill>
                  <a:srgbClr val="FFFFFF"/>
                </a:solidFill>
                <a:latin typeface="Consolas"/>
              </a:rPr>
              <a:t> (Element "title"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      [</a:t>
            </a:r>
            <a:r>
              <a:rPr sz="825" dirty="0" err="1">
                <a:solidFill>
                  <a:srgbClr val="FFFFFF"/>
                </a:solidFill>
                <a:latin typeface="Consolas"/>
              </a:rPr>
              <a:t>NodeContent</a:t>
            </a:r>
            <a:r>
              <a:rPr sz="825" dirty="0">
                <a:solidFill>
                  <a:srgbClr val="FFFFFF"/>
                </a:solidFill>
                <a:latin typeface="Consolas"/>
              </a:rPr>
              <a:t> "Learn Haskell"])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  , </a:t>
            </a:r>
            <a:r>
              <a:rPr sz="825" dirty="0" err="1">
                <a:solidFill>
                  <a:srgbClr val="FFFFFF"/>
                </a:solidFill>
                <a:latin typeface="Consolas"/>
              </a:rPr>
              <a:t>NodeElement</a:t>
            </a:r>
            <a:r>
              <a:rPr sz="825" dirty="0">
                <a:solidFill>
                  <a:srgbClr val="FFFFFF"/>
                </a:solidFill>
                <a:latin typeface="Consolas"/>
              </a:rPr>
              <a:t> (Element "authors"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      [</a:t>
            </a:r>
            <a:r>
              <a:rPr sz="825" dirty="0" err="1">
                <a:solidFill>
                  <a:srgbClr val="FFFFFF"/>
                </a:solidFill>
                <a:latin typeface="Consolas"/>
              </a:rPr>
              <a:t>NodeElement</a:t>
            </a:r>
            <a:r>
              <a:rPr sz="825" dirty="0">
                <a:solidFill>
                  <a:srgbClr val="FFFFFF"/>
                </a:solidFill>
                <a:latin typeface="Consolas"/>
              </a:rPr>
              <a:t> (Element "author"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        </a:t>
            </a:r>
            <a:r>
              <a:rPr sz="825" dirty="0" err="1">
                <a:solidFill>
                  <a:srgbClr val="FFFFFF"/>
                </a:solidFill>
                <a:latin typeface="Consolas"/>
              </a:rPr>
              <a:t>Map.fromList</a:t>
            </a:r>
            <a:r>
              <a:rPr sz="825" dirty="0">
                <a:solidFill>
                  <a:srgbClr val="FFFFFF"/>
                </a:solidFill>
                <a:latin typeface="Consolas"/>
              </a:rPr>
              <a:t> [("id","a1")]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        [</a:t>
            </a:r>
            <a:r>
              <a:rPr sz="825" dirty="0" err="1">
                <a:solidFill>
                  <a:srgbClr val="FFFFFF"/>
                </a:solidFill>
                <a:latin typeface="Consolas"/>
              </a:rPr>
              <a:t>NodeContent</a:t>
            </a:r>
            <a:r>
              <a:rPr sz="825" dirty="0">
                <a:solidFill>
                  <a:srgbClr val="FFFFFF"/>
                </a:solidFill>
                <a:latin typeface="Consolas"/>
              </a:rPr>
              <a:t> "Mairead Example"])])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  , </a:t>
            </a:r>
            <a:r>
              <a:rPr sz="825" dirty="0" err="1">
                <a:solidFill>
                  <a:srgbClr val="FFFFFF"/>
                </a:solidFill>
                <a:latin typeface="Consolas"/>
              </a:rPr>
              <a:t>NodeElement</a:t>
            </a:r>
            <a:r>
              <a:rPr sz="825" dirty="0">
                <a:solidFill>
                  <a:srgbClr val="FFFFFF"/>
                </a:solidFill>
                <a:latin typeface="Consolas"/>
              </a:rPr>
              <a:t> (Element "published"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      </a:t>
            </a:r>
            <a:r>
              <a:rPr sz="825" dirty="0" err="1">
                <a:solidFill>
                  <a:srgbClr val="FFFFFF"/>
                </a:solidFill>
                <a:latin typeface="Consolas"/>
              </a:rPr>
              <a:t>Map.fromList</a:t>
            </a:r>
            <a:r>
              <a:rPr sz="825" dirty="0">
                <a:solidFill>
                  <a:srgbClr val="FFFFFF"/>
                </a:solidFill>
                <a:latin typeface="Consolas"/>
              </a:rPr>
              <a:t> [("year","2024")] [])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  ]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}</a:t>
            </a: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12E80C55-8573-C0FA-37A9-696AC7333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7093" y="564921"/>
            <a:ext cx="865613" cy="818092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E7B5135-177D-EE42-9C5F-82759AF30F9B}" type="slidenum">
              <a:rPr lang="en-US" sz="1050"/>
              <a:pPr/>
              <a:t>8</a:t>
            </a:fld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Navigating the Tree — Key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5740" y="1405889"/>
            <a:ext cx="87302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dirty="0">
                <a:solidFill>
                  <a:srgbClr val="FFFFFF"/>
                </a:solidFill>
              </a:rPr>
              <a:t>xml-conduit provides cursor-based navigation. Import </a:t>
            </a:r>
            <a:r>
              <a:rPr sz="1050" dirty="0" err="1">
                <a:solidFill>
                  <a:srgbClr val="FFFFFF"/>
                </a:solidFill>
              </a:rPr>
              <a:t>Text.XML</a:t>
            </a:r>
            <a:r>
              <a:rPr sz="1050" dirty="0">
                <a:solidFill>
                  <a:srgbClr val="FFFFFF"/>
                </a:solidFill>
              </a:rPr>
              <a:t> and </a:t>
            </a:r>
            <a:r>
              <a:rPr sz="1050" dirty="0" err="1">
                <a:solidFill>
                  <a:srgbClr val="FFFFFF"/>
                </a:solidFill>
              </a:rPr>
              <a:t>Text.XML.Cursor</a:t>
            </a:r>
            <a:r>
              <a:rPr sz="1050" dirty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205740" y="1693926"/>
            <a:ext cx="4800600" cy="3291840"/>
          </a:xfrm>
          <a:prstGeom prst="rect">
            <a:avLst/>
          </a:prstGeom>
          <a:solidFill>
            <a:srgbClr val="0D2137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288037" y="1762506"/>
            <a:ext cx="3070071" cy="24468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dirty="0">
                <a:solidFill>
                  <a:srgbClr val="FFFFFF"/>
                </a:solidFill>
                <a:latin typeface="Consolas"/>
              </a:rPr>
              <a:t>import 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Text.XML</a:t>
            </a:r>
            <a:endParaRPr sz="900" dirty="0">
              <a:solidFill>
                <a:srgbClr val="FFFFFF"/>
              </a:solidFill>
              <a:latin typeface="Consolas"/>
            </a:endParaRP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import 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Text.XML.Cursor</a:t>
            </a:r>
            <a:endParaRPr sz="900" dirty="0">
              <a:solidFill>
                <a:srgbClr val="FFFFFF"/>
              </a:solidFill>
              <a:latin typeface="Consolas"/>
            </a:endParaRPr>
          </a:p>
          <a:p>
            <a:endParaRPr sz="900" dirty="0">
              <a:solidFill>
                <a:srgbClr val="FFFFFF"/>
              </a:solidFill>
              <a:latin typeface="Consolas"/>
            </a:endParaRP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-- Parse the file into a Document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doc    &lt;- 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Text.XML.readFile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def "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books.xml</a:t>
            </a:r>
            <a:r>
              <a:rPr sz="900" dirty="0">
                <a:solidFill>
                  <a:srgbClr val="FFFFFF"/>
                </a:solidFill>
                <a:latin typeface="Consolas"/>
              </a:rPr>
              <a:t>"</a:t>
            </a:r>
          </a:p>
          <a:p>
            <a:endParaRPr sz="900" dirty="0">
              <a:solidFill>
                <a:srgbClr val="FFFFFF"/>
              </a:solidFill>
              <a:latin typeface="Consolas"/>
            </a:endParaRP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-- Turn the root element into a Cursor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let cursor = 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fromDocument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doc</a:t>
            </a:r>
          </a:p>
          <a:p>
            <a:endParaRPr sz="900" dirty="0">
              <a:solidFill>
                <a:srgbClr val="FFFFFF"/>
              </a:solidFill>
              <a:latin typeface="Consolas"/>
            </a:endParaRP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-- Select all </a:t>
            </a:r>
            <a:r>
              <a:rPr sz="900" b="1" dirty="0">
                <a:solidFill>
                  <a:srgbClr val="4DD0E1"/>
                </a:solidFill>
                <a:latin typeface="Consolas"/>
              </a:rPr>
              <a:t>&lt;book&gt;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children of root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let books  = cursor $// element "book"</a:t>
            </a:r>
          </a:p>
          <a:p>
            <a:endParaRPr sz="900" dirty="0">
              <a:solidFill>
                <a:srgbClr val="FFFFFF"/>
              </a:solidFill>
              <a:latin typeface="Consolas"/>
            </a:endParaRP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-- For each book, get the text inside </a:t>
            </a:r>
            <a:r>
              <a:rPr sz="900" b="1" dirty="0">
                <a:solidFill>
                  <a:srgbClr val="4DD0E1"/>
                </a:solidFill>
                <a:latin typeface="Consolas"/>
              </a:rPr>
              <a:t>&lt;title&gt;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let titles = books &gt;&gt;= child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                 &gt;&gt;= element "title"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                 &gt;&gt;= descendant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                 &gt;&gt;= content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80" y="1693926"/>
            <a:ext cx="3703320" cy="432054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TextBox 6"/>
          <p:cNvSpPr txBox="1"/>
          <p:nvPr/>
        </p:nvSpPr>
        <p:spPr>
          <a:xfrm>
            <a:off x="5196865" y="1789013"/>
            <a:ext cx="39305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4DD0E1"/>
                </a:solidFill>
                <a:latin typeface="Trebuchet MS"/>
              </a:rPr>
              <a:t>$//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12870" y="1823715"/>
            <a:ext cx="3566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FFFFFF"/>
                </a:solidFill>
                <a:latin typeface="Trebuchet MS"/>
              </a:rPr>
              <a:t>All descendants matching a predicate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5209386" y="2173985"/>
            <a:ext cx="3703320" cy="432054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" name="TextBox 9"/>
          <p:cNvSpPr txBox="1"/>
          <p:nvPr/>
        </p:nvSpPr>
        <p:spPr>
          <a:xfrm>
            <a:off x="5209386" y="2243365"/>
            <a:ext cx="33374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4DD0E1"/>
                </a:solidFill>
                <a:latin typeface="Trebuchet MS"/>
              </a:rPr>
              <a:t>$/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2870" y="2226629"/>
            <a:ext cx="34155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FFFFFF"/>
                </a:solidFill>
                <a:latin typeface="Trebuchet MS"/>
              </a:rPr>
              <a:t>Immediate children matching a predicate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0" y="2654045"/>
            <a:ext cx="3703320" cy="432054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" name="TextBox 12"/>
          <p:cNvSpPr txBox="1"/>
          <p:nvPr/>
        </p:nvSpPr>
        <p:spPr>
          <a:xfrm>
            <a:off x="5147444" y="2733585"/>
            <a:ext cx="102303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4DD0E1"/>
                </a:solidFill>
                <a:latin typeface="Trebuchet MS"/>
              </a:rPr>
              <a:t>element "x"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8184" y="2744619"/>
            <a:ext cx="3566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FFFFFF"/>
                </a:solidFill>
                <a:latin typeface="Trebuchet MS"/>
              </a:rPr>
              <a:t>Match elements named 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0" y="3134105"/>
            <a:ext cx="3703320" cy="432054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" name="TextBox 15"/>
          <p:cNvSpPr txBox="1"/>
          <p:nvPr/>
        </p:nvSpPr>
        <p:spPr>
          <a:xfrm>
            <a:off x="5181282" y="3190054"/>
            <a:ext cx="53572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4DD0E1"/>
                </a:solidFill>
                <a:latin typeface="Trebuchet MS"/>
              </a:rPr>
              <a:t>child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12870" y="3236516"/>
            <a:ext cx="3566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FFFFFF"/>
                </a:solidFill>
                <a:latin typeface="Trebuchet MS"/>
              </a:rPr>
              <a:t>Move to direct children (all nodes)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09386" y="3644945"/>
            <a:ext cx="3703320" cy="432054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9" name="TextBox 18"/>
          <p:cNvSpPr txBox="1"/>
          <p:nvPr/>
        </p:nvSpPr>
        <p:spPr>
          <a:xfrm>
            <a:off x="5160524" y="3700224"/>
            <a:ext cx="101021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4DD0E1"/>
                </a:solidFill>
                <a:latin typeface="Trebuchet MS"/>
              </a:rPr>
              <a:t>descendant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8184" y="3700224"/>
            <a:ext cx="27142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FFFFFF"/>
                </a:solidFill>
                <a:latin typeface="Trebuchet MS"/>
              </a:rPr>
              <a:t>Move to all descendants recursively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2080" y="4094226"/>
            <a:ext cx="3703320" cy="432054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2" name="TextBox 21"/>
          <p:cNvSpPr txBox="1"/>
          <p:nvPr/>
        </p:nvSpPr>
        <p:spPr>
          <a:xfrm>
            <a:off x="5180147" y="4150111"/>
            <a:ext cx="74251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4DD0E1"/>
                </a:solidFill>
                <a:latin typeface="Trebuchet MS"/>
              </a:rPr>
              <a:t>content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8184" y="4143459"/>
            <a:ext cx="3566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FFFFFF"/>
                </a:solidFill>
                <a:latin typeface="Trebuchet MS"/>
              </a:rPr>
              <a:t>Extract text from </a:t>
            </a:r>
            <a:r>
              <a:rPr sz="1200" dirty="0" err="1">
                <a:solidFill>
                  <a:srgbClr val="FFFFFF"/>
                </a:solidFill>
                <a:latin typeface="Trebuchet MS"/>
              </a:rPr>
              <a:t>NodeContent</a:t>
            </a:r>
            <a:r>
              <a:rPr sz="1200" dirty="0">
                <a:solidFill>
                  <a:srgbClr val="FFFFFF"/>
                </a:solidFill>
                <a:latin typeface="Trebuchet MS"/>
              </a:rPr>
              <a:t> nodes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12080" y="4574285"/>
            <a:ext cx="3703320" cy="432054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5" name="TextBox 24"/>
          <p:cNvSpPr txBox="1"/>
          <p:nvPr/>
        </p:nvSpPr>
        <p:spPr>
          <a:xfrm>
            <a:off x="5161117" y="4647268"/>
            <a:ext cx="107433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4DD0E1"/>
                </a:solidFill>
                <a:latin typeface="Trebuchet MS"/>
              </a:rPr>
              <a:t>attribute "k"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8184" y="4659288"/>
            <a:ext cx="3566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FFFFFF"/>
                </a:solidFill>
                <a:latin typeface="Trebuchet MS"/>
              </a:rPr>
              <a:t>Extract the value of attribute k</a:t>
            </a:r>
          </a:p>
        </p:txBody>
      </p:sp>
      <p:sp>
        <p:nvSpPr>
          <p:cNvPr id="27" name="Slide Number Placeholder 1">
            <a:extLst>
              <a:ext uri="{FF2B5EF4-FFF2-40B4-BE49-F238E27FC236}">
                <a16:creationId xmlns:a16="http://schemas.microsoft.com/office/drawing/2014/main" id="{4C2C04DB-895C-9E12-E5F9-8B6D6C37F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7093" y="564921"/>
            <a:ext cx="865613" cy="818092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E7B5135-177D-EE42-9C5F-82759AF30F9B}" type="slidenum">
              <a:rPr lang="en-US" sz="1050"/>
              <a:pPr/>
              <a:t>9</a:t>
            </a:fld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9" grpId="0" animBg="1"/>
      <p:bldP spid="10" grpId="0"/>
      <p:bldP spid="11" grpId="0"/>
      <p:bldP spid="12" grpId="0" animBg="1"/>
      <p:bldP spid="13" grpId="0"/>
      <p:bldP spid="14" grpId="0"/>
      <p:bldP spid="15" grpId="0" animBg="1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  <p:bldP spid="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xml-light vs xml-conduit — Which to Use?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5740" y="1540861"/>
            <a:ext cx="87302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FFFFFF"/>
                </a:solidFill>
              </a:rPr>
              <a:t>Both libraries parse XML, but they make different trade-offs:</a:t>
            </a:r>
          </a:p>
        </p:txBody>
      </p:sp>
      <p:sp>
        <p:nvSpPr>
          <p:cNvPr id="4" name="Rectangle 3"/>
          <p:cNvSpPr/>
          <p:nvPr/>
        </p:nvSpPr>
        <p:spPr>
          <a:xfrm>
            <a:off x="205740" y="1959419"/>
            <a:ext cx="1714500" cy="445770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Rectangle 4"/>
          <p:cNvSpPr/>
          <p:nvPr/>
        </p:nvSpPr>
        <p:spPr>
          <a:xfrm>
            <a:off x="1920240" y="1959419"/>
            <a:ext cx="3086100" cy="445770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4DD0E1"/>
                </a:solidFill>
                <a:latin typeface="Trebuchet MS"/>
              </a:rPr>
              <a:t>xml-light / xml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6340" y="1959419"/>
            <a:ext cx="3086100" cy="445770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4DD0E1"/>
                </a:solidFill>
                <a:latin typeface="Trebuchet MS"/>
              </a:rPr>
              <a:t>xml-conduit</a:t>
            </a:r>
          </a:p>
        </p:txBody>
      </p:sp>
      <p:sp>
        <p:nvSpPr>
          <p:cNvPr id="7" name="Rectangle 6"/>
          <p:cNvSpPr/>
          <p:nvPr/>
        </p:nvSpPr>
        <p:spPr>
          <a:xfrm>
            <a:off x="205740" y="2405189"/>
            <a:ext cx="1714500" cy="445770"/>
          </a:xfrm>
          <a:prstGeom prst="rect">
            <a:avLst/>
          </a:prstGeom>
          <a:solidFill>
            <a:srgbClr val="000000"/>
          </a:solidFill>
          <a:ln w="63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75" b="1" dirty="0">
                <a:solidFill>
                  <a:srgbClr val="4DD0E1"/>
                </a:solidFill>
                <a:latin typeface="Trebuchet MS"/>
              </a:rPr>
              <a:t>String 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2405189"/>
            <a:ext cx="3086100" cy="445770"/>
          </a:xfrm>
          <a:prstGeom prst="rect">
            <a:avLst/>
          </a:prstGeom>
          <a:solidFill>
            <a:srgbClr val="000000"/>
          </a:solidFill>
          <a:ln w="63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75">
                <a:solidFill>
                  <a:srgbClr val="FFFFFF"/>
                </a:solidFill>
                <a:latin typeface="Trebuchet MS"/>
              </a:rPr>
              <a:t>String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6340" y="2405189"/>
            <a:ext cx="3086100" cy="445770"/>
          </a:xfrm>
          <a:prstGeom prst="rect">
            <a:avLst/>
          </a:prstGeom>
          <a:solidFill>
            <a:srgbClr val="000000"/>
          </a:solidFill>
          <a:ln w="63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75">
                <a:solidFill>
                  <a:srgbClr val="FFFFFF"/>
                </a:solidFill>
                <a:latin typeface="Trebuchet MS"/>
              </a:rPr>
              <a:t>Text (efficient)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5740" y="2850959"/>
            <a:ext cx="1714500" cy="445770"/>
          </a:xfrm>
          <a:prstGeom prst="rect">
            <a:avLst/>
          </a:prstGeom>
          <a:solidFill>
            <a:srgbClr val="000000"/>
          </a:solidFill>
          <a:ln w="63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75" b="1" dirty="0">
                <a:solidFill>
                  <a:srgbClr val="4DD0E1"/>
                </a:solidFill>
                <a:latin typeface="Trebuchet MS"/>
              </a:rPr>
              <a:t>Namespaces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20240" y="2850959"/>
            <a:ext cx="3086100" cy="445770"/>
          </a:xfrm>
          <a:prstGeom prst="rect">
            <a:avLst/>
          </a:prstGeom>
          <a:solidFill>
            <a:srgbClr val="000000"/>
          </a:solidFill>
          <a:ln w="63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75">
                <a:solidFill>
                  <a:srgbClr val="FFFFFF"/>
                </a:solidFill>
                <a:latin typeface="Trebuchet MS"/>
              </a:rPr>
              <a:t>Basic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6340" y="2850959"/>
            <a:ext cx="3086100" cy="445770"/>
          </a:xfrm>
          <a:prstGeom prst="rect">
            <a:avLst/>
          </a:prstGeom>
          <a:solidFill>
            <a:srgbClr val="000000"/>
          </a:solidFill>
          <a:ln w="63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75">
                <a:solidFill>
                  <a:srgbClr val="FFFFFF"/>
                </a:solidFill>
                <a:latin typeface="Trebuchet MS"/>
              </a:rPr>
              <a:t>Full support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5740" y="3296729"/>
            <a:ext cx="1714500" cy="445770"/>
          </a:xfrm>
          <a:prstGeom prst="rect">
            <a:avLst/>
          </a:prstGeom>
          <a:solidFill>
            <a:srgbClr val="000000"/>
          </a:solidFill>
          <a:ln w="63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75" b="1" dirty="0">
                <a:solidFill>
                  <a:srgbClr val="4DD0E1"/>
                </a:solidFill>
                <a:latin typeface="Trebuchet MS"/>
              </a:rPr>
              <a:t>Navigation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20240" y="3296729"/>
            <a:ext cx="3086100" cy="445770"/>
          </a:xfrm>
          <a:prstGeom prst="rect">
            <a:avLst/>
          </a:prstGeom>
          <a:solidFill>
            <a:srgbClr val="000000"/>
          </a:solidFill>
          <a:ln w="63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75">
                <a:solidFill>
                  <a:srgbClr val="FFFFFF"/>
                </a:solidFill>
                <a:latin typeface="Trebuchet MS"/>
              </a:rPr>
              <a:t>find / findChild helpers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6340" y="3296729"/>
            <a:ext cx="3086100" cy="445770"/>
          </a:xfrm>
          <a:prstGeom prst="rect">
            <a:avLst/>
          </a:prstGeom>
          <a:solidFill>
            <a:srgbClr val="000000"/>
          </a:solidFill>
          <a:ln w="63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75">
                <a:solidFill>
                  <a:srgbClr val="FFFFFF"/>
                </a:solidFill>
                <a:latin typeface="Trebuchet MS"/>
              </a:rPr>
              <a:t>Cursor axes ($// $/)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5740" y="3742499"/>
            <a:ext cx="1714500" cy="445770"/>
          </a:xfrm>
          <a:prstGeom prst="rect">
            <a:avLst/>
          </a:prstGeom>
          <a:solidFill>
            <a:srgbClr val="000000"/>
          </a:solidFill>
          <a:ln w="63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75" b="1">
                <a:solidFill>
                  <a:srgbClr val="4DD0E1"/>
                </a:solidFill>
                <a:latin typeface="Trebuchet MS"/>
              </a:rPr>
              <a:t>Streaming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0240" y="3742499"/>
            <a:ext cx="3086100" cy="445770"/>
          </a:xfrm>
          <a:prstGeom prst="rect">
            <a:avLst/>
          </a:prstGeom>
          <a:solidFill>
            <a:srgbClr val="000000"/>
          </a:solidFill>
          <a:ln w="63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75">
                <a:solidFill>
                  <a:srgbClr val="FFFFFF"/>
                </a:solidFill>
                <a:latin typeface="Trebuchet MS"/>
              </a:rPr>
              <a:t>No (loads whole file)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6340" y="3742499"/>
            <a:ext cx="3086100" cy="445770"/>
          </a:xfrm>
          <a:prstGeom prst="rect">
            <a:avLst/>
          </a:prstGeom>
          <a:solidFill>
            <a:srgbClr val="000000"/>
          </a:solidFill>
          <a:ln w="63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75">
                <a:solidFill>
                  <a:srgbClr val="FFFFFF"/>
                </a:solidFill>
                <a:latin typeface="Trebuchet MS"/>
              </a:rPr>
              <a:t>Yes (conduit)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5740" y="4188269"/>
            <a:ext cx="1714500" cy="445770"/>
          </a:xfrm>
          <a:prstGeom prst="rect">
            <a:avLst/>
          </a:prstGeom>
          <a:solidFill>
            <a:srgbClr val="000000"/>
          </a:solidFill>
          <a:ln w="63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75" b="1">
                <a:solidFill>
                  <a:srgbClr val="4DD0E1"/>
                </a:solidFill>
                <a:latin typeface="Trebuchet MS"/>
              </a:rPr>
              <a:t>Best for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20240" y="4188269"/>
            <a:ext cx="3086100" cy="445770"/>
          </a:xfrm>
          <a:prstGeom prst="rect">
            <a:avLst/>
          </a:prstGeom>
          <a:solidFill>
            <a:srgbClr val="000000"/>
          </a:solidFill>
          <a:ln w="63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75">
                <a:solidFill>
                  <a:srgbClr val="FFFFFF"/>
                </a:solidFill>
                <a:latin typeface="Trebuchet MS"/>
              </a:rPr>
              <a:t>Teaching, small files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6340" y="4188269"/>
            <a:ext cx="3086100" cy="445770"/>
          </a:xfrm>
          <a:prstGeom prst="rect">
            <a:avLst/>
          </a:prstGeom>
          <a:solidFill>
            <a:srgbClr val="000000"/>
          </a:solidFill>
          <a:ln w="63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75">
                <a:solidFill>
                  <a:srgbClr val="FFFFFF"/>
                </a:solidFill>
                <a:latin typeface="Trebuchet MS"/>
              </a:rPr>
              <a:t>Production, large files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472" y="4783320"/>
            <a:ext cx="8730234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 dirty="0"/>
              <a:t>For this </a:t>
            </a:r>
            <a:r>
              <a:rPr lang="en-IE" sz="825" dirty="0"/>
              <a:t>assignment</a:t>
            </a:r>
            <a:r>
              <a:rPr sz="825" dirty="0"/>
              <a:t> we use the xml package)</a:t>
            </a:r>
            <a:r>
              <a:rPr lang="en-IE" sz="825" dirty="0"/>
              <a:t> </a:t>
            </a:r>
            <a:r>
              <a:rPr sz="825" dirty="0"/>
              <a:t> xml-conduit is shown here for completeness — it is the industry choice for production code.</a:t>
            </a:r>
          </a:p>
        </p:txBody>
      </p:sp>
      <p:sp>
        <p:nvSpPr>
          <p:cNvPr id="26" name="Slide Number Placeholder 1">
            <a:extLst>
              <a:ext uri="{FF2B5EF4-FFF2-40B4-BE49-F238E27FC236}">
                <a16:creationId xmlns:a16="http://schemas.microsoft.com/office/drawing/2014/main" id="{572B6018-9327-B10D-D8D9-41EB60226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7093" y="564921"/>
            <a:ext cx="865613" cy="818092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E7B5135-177D-EE42-9C5F-82759AF30F9B}" type="slidenum">
              <a:rPr lang="en-US" sz="1050"/>
              <a:pPr/>
              <a:t>10</a:t>
            </a:fld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474470"/>
            <a:ext cx="8593074" cy="603504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" name="TextBox 3"/>
          <p:cNvSpPr txBox="1"/>
          <p:nvPr/>
        </p:nvSpPr>
        <p:spPr>
          <a:xfrm>
            <a:off x="356616" y="1522475"/>
            <a:ext cx="88197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DD0E1"/>
                </a:solidFill>
                <a:latin typeface="Trebuchet MS"/>
              </a:rPr>
              <a:t>XML is a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" y="1776223"/>
            <a:ext cx="8455914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>
                <a:solidFill>
                  <a:srgbClr val="FFFFFF"/>
                </a:solidFill>
                <a:latin typeface="Trebuchet MS"/>
              </a:rPr>
              <a:t>One root element; elements nest inside each other; text lives at the leaves.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146554"/>
            <a:ext cx="8593074" cy="603504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TextBox 6"/>
          <p:cNvSpPr txBox="1"/>
          <p:nvPr/>
        </p:nvSpPr>
        <p:spPr>
          <a:xfrm>
            <a:off x="356616" y="2194559"/>
            <a:ext cx="133562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DD0E1"/>
                </a:solidFill>
                <a:latin typeface="Trebuchet MS"/>
              </a:rPr>
              <a:t>Tags, attributes, 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" y="2448307"/>
            <a:ext cx="8455914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>
                <a:solidFill>
                  <a:srgbClr val="FFFFFF"/>
                </a:solidFill>
                <a:latin typeface="Trebuchet MS"/>
              </a:rPr>
              <a:t>Tags name elements; attributes add metadata; text content sits between tags.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818637"/>
            <a:ext cx="8593074" cy="603504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" name="TextBox 9"/>
          <p:cNvSpPr txBox="1"/>
          <p:nvPr/>
        </p:nvSpPr>
        <p:spPr>
          <a:xfrm>
            <a:off x="356616" y="2866643"/>
            <a:ext cx="115929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DD0E1"/>
                </a:solidFill>
                <a:latin typeface="Trebuchet MS"/>
              </a:rPr>
              <a:t>xml-conduit 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" y="3120391"/>
            <a:ext cx="8455914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>
                <a:solidFill>
                  <a:srgbClr val="FFFFFF"/>
                </a:solidFill>
                <a:latin typeface="Trebuchet MS"/>
              </a:rPr>
              <a:t>Document -&gt; Element -&gt; [Node], where Node is Element | Text | Comment.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490722"/>
            <a:ext cx="8593074" cy="603504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" name="TextBox 12"/>
          <p:cNvSpPr txBox="1"/>
          <p:nvPr/>
        </p:nvSpPr>
        <p:spPr>
          <a:xfrm>
            <a:off x="356616" y="3538728"/>
            <a:ext cx="105509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DD0E1"/>
                </a:solidFill>
                <a:latin typeface="Trebuchet MS"/>
              </a:rPr>
              <a:t>Name not String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3792475"/>
            <a:ext cx="8455914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>
                <a:solidFill>
                  <a:srgbClr val="FFFFFF"/>
                </a:solidFill>
                <a:latin typeface="Trebuchet MS"/>
              </a:rPr>
              <a:t>Tag names are the Name type — this correctly handles XML namespaces.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162806"/>
            <a:ext cx="8593074" cy="603504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" name="TextBox 15"/>
          <p:cNvSpPr txBox="1"/>
          <p:nvPr/>
        </p:nvSpPr>
        <p:spPr>
          <a:xfrm>
            <a:off x="356616" y="4210812"/>
            <a:ext cx="113204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DD0E1"/>
                </a:solidFill>
                <a:latin typeface="Trebuchet MS"/>
              </a:rPr>
              <a:t>Cursor navigation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4464559"/>
            <a:ext cx="8455914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>
                <a:solidFill>
                  <a:srgbClr val="FFFFFF"/>
                </a:solidFill>
                <a:latin typeface="Trebuchet MS"/>
              </a:rPr>
              <a:t>$// and $/ traverse the tree; element, content, attribute extract values.</a:t>
            </a:r>
          </a:p>
        </p:txBody>
      </p:sp>
      <p:sp>
        <p:nvSpPr>
          <p:cNvPr id="18" name="Slide Number Placeholder 1">
            <a:extLst>
              <a:ext uri="{FF2B5EF4-FFF2-40B4-BE49-F238E27FC236}">
                <a16:creationId xmlns:a16="http://schemas.microsoft.com/office/drawing/2014/main" id="{4E4A2805-7E4D-F15B-57D8-829B2F511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7093" y="564921"/>
            <a:ext cx="865613" cy="818092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E7B5135-177D-EE42-9C5F-82759AF30F9B}" type="slidenum">
              <a:rPr lang="en-US" sz="1050"/>
              <a:pPr/>
              <a:t>11</a:t>
            </a:fld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6" grpId="0" animBg="1"/>
      <p:bldP spid="7" grpId="0"/>
      <p:bldP spid="8" grpId="0"/>
      <p:bldP spid="9" grpId="0" animBg="1"/>
      <p:bldP spid="10" grpId="0"/>
      <p:bldP spid="11" grpId="0"/>
      <p:bldP spid="12" grpId="0" animBg="1"/>
      <p:bldP spid="13" grpId="0"/>
      <p:bldP spid="14" grpId="0"/>
      <p:bldP spid="15" grpId="0" animBg="1"/>
      <p:bldP spid="16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5486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PROGRAMMING IN HASKELL</a:t>
            </a:r>
            <a:endParaRPr lang="en-US" sz="48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pic>
        <p:nvPicPr>
          <p:cNvPr id="6" name="Image 0" descr="/sessions/dazzling-youthful-einstein/haskell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0" y="1767840"/>
            <a:ext cx="4267200" cy="2682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4876800"/>
            <a:ext cx="104241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32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Topic 13.2– XML to Markdown with xml-conduit</a:t>
            </a:r>
            <a:endParaRPr lang="en-US" sz="3200" dirty="0">
              <a:solidFill>
                <a:prstClr val="white"/>
              </a:solidFill>
              <a:latin typeface="Trebuchet MS" panose="020B0603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878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31520" y="5388864"/>
            <a:ext cx="1950720" cy="60960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5388864"/>
            <a:ext cx="19507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467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books.xml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682240" y="5644896"/>
            <a:ext cx="268224" cy="731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950464" y="5388864"/>
            <a:ext cx="1950720" cy="609600"/>
          </a:xfrm>
          <a:prstGeom prst="rect">
            <a:avLst/>
          </a:prstGeom>
          <a:solidFill>
            <a:srgbClr val="1A1A2E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950464" y="5388864"/>
            <a:ext cx="19507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467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Parse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901184" y="5644896"/>
            <a:ext cx="268224" cy="731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169408" y="5388864"/>
            <a:ext cx="1950720" cy="609600"/>
          </a:xfrm>
          <a:prstGeom prst="rect">
            <a:avLst/>
          </a:prstGeom>
          <a:solidFill>
            <a:srgbClr val="1A1A2E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169408" y="5388864"/>
            <a:ext cx="19507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467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Types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120128" y="5644896"/>
            <a:ext cx="268224" cy="731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388352" y="5388864"/>
            <a:ext cx="1950720" cy="609600"/>
          </a:xfrm>
          <a:prstGeom prst="rect">
            <a:avLst/>
          </a:prstGeom>
          <a:solidFill>
            <a:srgbClr val="1A1A2E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388352" y="5388864"/>
            <a:ext cx="19507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467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339072" y="5644896"/>
            <a:ext cx="268224" cy="731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607296" y="5388864"/>
            <a:ext cx="1950720" cy="60960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607296" y="5388864"/>
            <a:ext cx="19507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467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books.md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654F9DF5-D0F6-B42D-95E6-6F2D4089D0E8}"/>
              </a:ext>
            </a:extLst>
          </p:cNvPr>
          <p:cNvSpPr/>
          <p:nvPr/>
        </p:nvSpPr>
        <p:spPr>
          <a:xfrm>
            <a:off x="901018" y="2712720"/>
            <a:ext cx="95097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36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XML → Markdown   - Our workflow</a:t>
            </a:r>
            <a:endParaRPr lang="en-US" sz="3600" dirty="0">
              <a:solidFill>
                <a:prstClr val="white"/>
              </a:solidFill>
              <a:latin typeface="Trebuchet MS" panose="020B0603020202020204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155680" cy="8778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0"/>
            <a:ext cx="10607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2933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We're Building</a:t>
            </a:r>
            <a:endParaRPr lang="en-US" sz="2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1036320"/>
            <a:ext cx="3657600" cy="60960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7680" y="1036320"/>
            <a:ext cx="365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867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</a:t>
            </a:r>
            <a:endParaRPr lang="en-US" sz="18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87680" y="1645920"/>
            <a:ext cx="3657600" cy="463296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87680" y="1828800"/>
            <a:ext cx="3657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4000" dirty="0">
                <a:solidFill>
                  <a:srgbClr val="000000"/>
                </a:solidFill>
                <a:latin typeface="Trebuchet MS" panose="020B0603020202020204"/>
              </a:rPr>
              <a:t>📄</a:t>
            </a:r>
            <a:endParaRPr lang="en-US" sz="40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2804160"/>
            <a:ext cx="3169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28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books.xml catalogue with nested authors, ISBNs &amp; publish dates.</a:t>
            </a:r>
            <a:endParaRPr lang="en-US" sz="28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389120" y="1036320"/>
            <a:ext cx="3657600" cy="609600"/>
          </a:xfrm>
          <a:prstGeom prst="rect">
            <a:avLst/>
          </a:prstGeom>
          <a:solidFill>
            <a:srgbClr val="60DE72"/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389120" y="1036320"/>
            <a:ext cx="365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867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Haskell Pipeline</a:t>
            </a:r>
            <a:endParaRPr lang="en-US" sz="18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389120" y="1645920"/>
            <a:ext cx="3657600" cy="463296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389120" y="1828800"/>
            <a:ext cx="3657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4000" dirty="0">
                <a:solidFill>
                  <a:srgbClr val="000000"/>
                </a:solidFill>
                <a:latin typeface="Trebuchet MS" panose="020B0603020202020204"/>
              </a:rPr>
              <a:t>⚙</a:t>
            </a:r>
            <a:endParaRPr lang="en-US" sz="40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632960" y="2804160"/>
            <a:ext cx="3169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24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xml-conduit Cursors parse XML into typed records. Pure functions render each Book to Markdown.</a:t>
            </a:r>
            <a:endParaRPr lang="en-US" sz="24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290560" y="1036320"/>
            <a:ext cx="3657600" cy="609600"/>
          </a:xfrm>
          <a:prstGeom prst="rect">
            <a:avLst/>
          </a:prstGeom>
          <a:solidFill>
            <a:srgbClr val="F49D50"/>
          </a:solidFill>
          <a:ln w="12700">
            <a:solidFill>
              <a:srgbClr val="F49D50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90560" y="1036320"/>
            <a:ext cx="365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867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18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290560" y="1645920"/>
            <a:ext cx="3657600" cy="463296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F49D50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90560" y="1828800"/>
            <a:ext cx="3657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4000" dirty="0">
                <a:solidFill>
                  <a:srgbClr val="000000"/>
                </a:solidFill>
                <a:latin typeface="Trebuchet MS" panose="020B0603020202020204"/>
              </a:rPr>
              <a:t>📝</a:t>
            </a:r>
            <a:endParaRPr lang="en-US" sz="40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534400" y="2804160"/>
            <a:ext cx="3169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2400" dirty="0">
                <a:solidFill>
                  <a:srgbClr val="E7E6E6"/>
                </a:solidFill>
                <a:latin typeface="Trebuchet MS" pitchFamily="34" charset="0"/>
              </a:rPr>
              <a:t>One </a:t>
            </a:r>
            <a:r>
              <a:rPr lang="en-US" sz="2400" dirty="0" err="1">
                <a:solidFill>
                  <a:srgbClr val="E7E6E6"/>
                </a:solidFill>
                <a:latin typeface="Trebuchet MS" pitchFamily="34" charset="0"/>
              </a:rPr>
              <a:t>catalogue.md</a:t>
            </a:r>
            <a:r>
              <a:rPr lang="en-US" sz="2400" dirty="0">
                <a:solidFill>
                  <a:srgbClr val="E7E6E6"/>
                </a:solidFill>
                <a:latin typeface="Trebuchet MS" pitchFamily="34" charset="0"/>
              </a:rPr>
              <a:t> ready for rendering to pdfs etc</a:t>
            </a:r>
            <a:r>
              <a:rPr lang="en-US" sz="1733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1733" dirty="0">
              <a:solidFill>
                <a:prstClr val="white"/>
              </a:solidFill>
              <a:latin typeface="Trebuchet MS" panose="020B0603020202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155680" cy="8778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0"/>
            <a:ext cx="10607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2933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Haskell Data Model</a:t>
            </a:r>
            <a:endParaRPr lang="en-US" sz="2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1036320"/>
            <a:ext cx="5364480" cy="213360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4974336" y="1085088"/>
            <a:ext cx="79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09585"/>
            <a:r>
              <a:rPr lang="en-US" sz="933" i="1" dirty="0">
                <a:solidFill>
                  <a:srgbClr val="39CDE7"/>
                </a:solidFill>
                <a:latin typeface="Trebuchet MS" panose="020B0603020202020204"/>
              </a:rPr>
              <a:t>Haskell</a:t>
            </a:r>
            <a:endParaRPr lang="en-US" sz="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" y="1304544"/>
            <a:ext cx="5023104" cy="1743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Author = Author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authorId   :: String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authorName :: String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deriving (Show)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17920" y="1036320"/>
            <a:ext cx="5364480" cy="268224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704576" y="1085088"/>
            <a:ext cx="79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09585"/>
            <a:r>
              <a:rPr lang="en-US" sz="933" i="1" dirty="0">
                <a:solidFill>
                  <a:srgbClr val="39CDE7"/>
                </a:solidFill>
                <a:latin typeface="Trebuchet MS" panose="020B0603020202020204"/>
              </a:rPr>
              <a:t>Haskell</a:t>
            </a:r>
            <a:endParaRPr lang="en-US" sz="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388608" y="1304544"/>
            <a:ext cx="5023104" cy="229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Book = Book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isbn      :: String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title     :: String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subtitle  :: Maybe String  -- optional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authors   :: [Author]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pubYear   :: String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deriving (Show)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7680" y="3267456"/>
            <a:ext cx="53644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733" b="1" dirty="0">
                <a:solidFill>
                  <a:srgbClr val="39CD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Author</a:t>
            </a:r>
            <a:endParaRPr lang="en-US" sz="17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17920" y="3816096"/>
            <a:ext cx="53644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733" b="1" dirty="0">
                <a:solidFill>
                  <a:srgbClr val="60DE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</a:t>
            </a:r>
            <a:endParaRPr lang="en-US" sz="17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7680" y="3718560"/>
            <a:ext cx="5364480" cy="999744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87680" y="3718560"/>
            <a:ext cx="73152" cy="99974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70560" y="3779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 record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70560" y="4181856"/>
            <a:ext cx="512064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 is parsed from an XML attribute, name from element text content.</a:t>
            </a:r>
            <a:endParaRPr lang="en-US" sz="1333" dirty="0">
              <a:latin typeface="Trebuchet MS" panose="020B060302020202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87680" y="4815840"/>
            <a:ext cx="5364480" cy="999744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87680" y="4815840"/>
            <a:ext cx="73152" cy="999744"/>
          </a:xfrm>
          <a:prstGeom prst="rect">
            <a:avLst/>
          </a:prstGeom>
          <a:solidFill>
            <a:srgbClr val="60DE72"/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70560" y="4876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[Author] list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70560" y="5279136"/>
            <a:ext cx="512064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Natural fit for zero-or-more &lt;author&gt; children inside &lt;authors&gt;.</a:t>
            </a:r>
            <a:endParaRPr lang="en-US" sz="1333" dirty="0">
              <a:latin typeface="Trebuchet MS" panose="020B060302020202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217920" y="4267200"/>
            <a:ext cx="5364480" cy="999744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F49D50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217920" y="4267200"/>
            <a:ext cx="73152" cy="999744"/>
          </a:xfrm>
          <a:prstGeom prst="rect">
            <a:avLst/>
          </a:prstGeom>
          <a:solidFill>
            <a:srgbClr val="F49D50"/>
          </a:solidFill>
          <a:ln w="12700">
            <a:solidFill>
              <a:srgbClr val="F49D50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00800" y="4328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F49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Maybe String for subtitle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00800" y="4730496"/>
            <a:ext cx="512064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Captures the optional &lt;subtitle&gt; element cleanly — Nothing if absent.</a:t>
            </a:r>
            <a:endParaRPr lang="en-US" sz="1333" dirty="0">
              <a:latin typeface="Trebuchet MS" panose="020B060302020202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217920" y="5364480"/>
            <a:ext cx="5364480" cy="999744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217920" y="5364480"/>
            <a:ext cx="73152" cy="99974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00800" y="5425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deriving (Show)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400800" y="5827776"/>
            <a:ext cx="512064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Automatic Show instances for quick debugging in GHCi.</a:t>
            </a:r>
            <a:endParaRPr lang="en-US" sz="1333" dirty="0">
              <a:latin typeface="Trebuchet MS" panose="020B060302020202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155680" cy="8778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0"/>
            <a:ext cx="10607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2933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xml-conduit: Core Concepts</a:t>
            </a:r>
            <a:endParaRPr lang="en-US" sz="2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1036320"/>
            <a:ext cx="3596640" cy="51206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7680" y="1036320"/>
            <a:ext cx="359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467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&amp; Element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87680" y="1548384"/>
            <a:ext cx="3596640" cy="280416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09600" y="1609344"/>
            <a:ext cx="3352800" cy="268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Text.XML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Data.Map (Map)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Document contains the root Element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Element has: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Name, [Node],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Map Name Text (attributes)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9600" y="4389120"/>
            <a:ext cx="3352800" cy="2438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87680" y="4389120"/>
            <a:ext cx="3596640" cy="2097024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9600" y="4450080"/>
            <a:ext cx="335280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467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Text.XML is the high-level API. Elements carry attributes as a Map.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364736" y="1036320"/>
            <a:ext cx="3596640" cy="51206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364736" y="1036320"/>
            <a:ext cx="359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467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Cursor API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364736" y="1548384"/>
            <a:ext cx="3596640" cy="280416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486656" y="1609344"/>
            <a:ext cx="3352800" cy="268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Text.XML.Cursor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fromDocument :: Document -&gt; Cursor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element / content / attribute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($/) ($//)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composable axis operators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486656" y="4389120"/>
            <a:ext cx="3352800" cy="2438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364736" y="4389120"/>
            <a:ext cx="3596640" cy="2097024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486656" y="4450080"/>
            <a:ext cx="335280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467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Cursors let you navigate the tree with composable axis functions.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241792" y="1036320"/>
            <a:ext cx="3596640" cy="51206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241792" y="1036320"/>
            <a:ext cx="359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467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Parsing Entry Points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241792" y="1548384"/>
            <a:ext cx="3596640" cy="280416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363712" y="1609344"/>
            <a:ext cx="3352800" cy="268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readFile def "books.xml"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:: IO Document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parseLBS def lazyBS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:: Either SomException Document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parseText def lazyText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:: Either SomeException Document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363712" y="4389120"/>
            <a:ext cx="3352800" cy="2438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241792" y="4389120"/>
            <a:ext cx="3596640" cy="2097024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363712" y="4450080"/>
            <a:ext cx="335280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467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 = default ParseSettings. Use readFile in IO, parseLBS for in-memory.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155680" cy="8778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0"/>
            <a:ext cx="10607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2933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Parsing the Catalogue with xml-conduit</a:t>
            </a:r>
            <a:endParaRPr lang="en-US" sz="2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1036320"/>
            <a:ext cx="6827520" cy="5754624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37376" y="1085088"/>
            <a:ext cx="79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09585"/>
            <a:r>
              <a:rPr lang="en-US" sz="933" i="1" dirty="0">
                <a:solidFill>
                  <a:srgbClr val="39CDE7"/>
                </a:solidFill>
                <a:latin typeface="Trebuchet MS" panose="020B0603020202020204"/>
              </a:rPr>
              <a:t>Haskell</a:t>
            </a:r>
            <a:endParaRPr lang="en-US" sz="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" y="1304544"/>
            <a:ext cx="6486144" cy="536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Text.XML          (readFile, def, Document)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Text.XML.Cursor   (fromDocument, Cursor, ($/)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, element, content, attribute)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Data.Text         (Text)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qualified Data.Text as T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Helper: text of first matching child element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childText :: Name -&gt; Cursor -&gt; Maybe Text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childText n cur =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listToMaybe $ cur $/ element n &amp;/ content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Parse one &lt;author&gt; cursor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parseAuthor :: Cursor -&gt; Author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parseAuthor cur = Author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authorId   = T.unpack . head . attribute "id" $ cur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authorName = T.unpack . T.concat $ cur $/ content }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Parse one &lt;book&gt; cursor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parseBook :: Cursor -&gt; Book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parseBook cur = Book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isbn     = T.unpack . head $ attribute "isbn" cur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title    = maybe "" T.unpack (childText "title" cur)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subtitle = fmap T.unpack   (childText "subtitle" cur)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authors  = map parseAuthor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(cur $/ element "authors" $/ element "author")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pubYear  = T.unpack . head $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cur $/ element "published" &gt;=&gt; attribute "year" }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Entry point: Document -&gt; [Book]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parseCatalogue :: Document -&gt; [Book]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parseCatalogue doc = map parseBook $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fromDocument doc $/ element "catalogue" &amp;/ element "book"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59040" y="1036320"/>
            <a:ext cx="426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867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Operators</a:t>
            </a:r>
            <a:endParaRPr lang="en-US" sz="18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559040" y="1584960"/>
            <a:ext cx="4267200" cy="1121664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559040" y="1584960"/>
            <a:ext cx="73152" cy="112166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41920" y="1645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($/) axis op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41920" y="2048256"/>
            <a:ext cx="4023360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Descend into direct children matching the predicate. Composes naturally.</a:t>
            </a:r>
            <a:endParaRPr lang="en-US" sz="1333" dirty="0">
              <a:latin typeface="Trebuchet MS" panose="020B060302020202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559040" y="2901696"/>
            <a:ext cx="4267200" cy="1121664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559040" y="2901696"/>
            <a:ext cx="73152" cy="1121664"/>
          </a:xfrm>
          <a:prstGeom prst="rect">
            <a:avLst/>
          </a:prstGeom>
          <a:solidFill>
            <a:srgbClr val="60DE72"/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741920" y="296265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 "name"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741920" y="3364992"/>
            <a:ext cx="4023360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Selects child elements by local name — the core traversal primitive.</a:t>
            </a:r>
            <a:endParaRPr lang="en-US" sz="1333" dirty="0">
              <a:latin typeface="Trebuchet MS" panose="020B060302020202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559040" y="4218432"/>
            <a:ext cx="4267200" cy="1121664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F49D50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559040" y="4218432"/>
            <a:ext cx="73152" cy="1121664"/>
          </a:xfrm>
          <a:prstGeom prst="rect">
            <a:avLst/>
          </a:prstGeom>
          <a:solidFill>
            <a:srgbClr val="F49D50"/>
          </a:solidFill>
          <a:ln w="12700">
            <a:solidFill>
              <a:srgbClr val="F49D50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741920" y="42793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F49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attribute "n"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741920" y="4681728"/>
            <a:ext cx="4023360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Reads a named attribute from the current element cursor.</a:t>
            </a:r>
            <a:endParaRPr lang="en-US" sz="1333" dirty="0">
              <a:latin typeface="Trebuchet MS" panose="020B060302020202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559040" y="5535168"/>
            <a:ext cx="4267200" cy="1121664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559040" y="5535168"/>
            <a:ext cx="73152" cy="112166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741920" y="55961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(&gt;=&gt;)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741920" y="5998464"/>
            <a:ext cx="4023360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Kleisli composition — chains steps: find child, then read attr.</a:t>
            </a:r>
            <a:endParaRPr lang="en-US" sz="1333" dirty="0">
              <a:latin typeface="Trebuchet MS" panose="020B060302020202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155680" cy="8778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0"/>
            <a:ext cx="10607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2933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Rendering Books to Markdown</a:t>
            </a:r>
            <a:endParaRPr lang="en-US" sz="2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1036320"/>
            <a:ext cx="5669280" cy="560832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5279136" y="1085088"/>
            <a:ext cx="79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09585"/>
            <a:r>
              <a:rPr lang="en-US" sz="933" i="1" dirty="0">
                <a:solidFill>
                  <a:srgbClr val="39CDE7"/>
                </a:solidFill>
                <a:latin typeface="Trebuchet MS" panose="020B0603020202020204"/>
              </a:rPr>
              <a:t>Haskell</a:t>
            </a:r>
            <a:endParaRPr lang="en-US" sz="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" y="1304544"/>
            <a:ext cx="5327904" cy="521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Render a single Author inline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renderAuthor :: Author -&gt; String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renderAuthor a =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"- **[" ++ authorId a ++ "]** 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++ authorName a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Render one Book as a Markdown section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renderBook :: Book -&gt; String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renderBook b = unlines $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 "## " ++ title b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"| Field | Value |"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"|-------|-------|"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"| ISBN  | `" ++ isbn b ++ "` |"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"| Year  | " ++ pubYear b ++ " |"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 ++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maybe []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(\s -&gt; ["| Sub | " ++ s ++ " |"])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(subtitle b) ++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 "", "### Authors" ] ++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map renderAuthor (authors b)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61760" y="1036320"/>
            <a:ext cx="5181600" cy="341376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765536" y="1085088"/>
            <a:ext cx="79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09585"/>
            <a:r>
              <a:rPr lang="en-US" sz="933" i="1" dirty="0">
                <a:solidFill>
                  <a:srgbClr val="39CDE7"/>
                </a:solidFill>
                <a:latin typeface="Trebuchet MS" panose="020B0603020202020204"/>
              </a:rPr>
              <a:t>Haskell</a:t>
            </a:r>
            <a:endParaRPr lang="en-US" sz="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632448" y="1304544"/>
            <a:ext cx="4840224" cy="3023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Build catalogue.md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renderCatalogue :: [Book] -&gt; String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renderCatalogue books = unlines $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 "# Book Catalogue"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""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show (length books)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++ " book(s)."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""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 ++ map renderBook books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Write to a file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writeCatalogue :: FilePath -&gt; [Book] -&gt; IO ()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writeCatalogue path books =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writeFile path (renderCatalogue books)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61760" y="4572000"/>
            <a:ext cx="5181600" cy="2133600"/>
          </a:xfrm>
          <a:prstGeom prst="rect">
            <a:avLst/>
          </a:prstGeom>
          <a:solidFill>
            <a:srgbClr val="F0FFFE">
              <a:alpha val="95000"/>
            </a:srgbClr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61760" y="4572000"/>
            <a:ext cx="5181600" cy="30480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pPr algn="r" defTabSz="609585"/>
            <a:r>
              <a:rPr lang="en-US" sz="1067" i="1" dirty="0">
                <a:solidFill>
                  <a:srgbClr val="60DE72"/>
                </a:solidFill>
                <a:latin typeface="Trebuchet MS" panose="020B0603020202020204"/>
              </a:rPr>
              <a:t>Sample Output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644640" y="4901184"/>
            <a:ext cx="4815840" cy="1743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Haskell Programming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ISBN | `978-1593272838` |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Year | 2010 |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Authors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**[a1]** Bryan O'Sullivan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155680" cy="8778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0"/>
            <a:ext cx="10607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2933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Wiring It All Together</a:t>
            </a:r>
            <a:endParaRPr lang="en-US" sz="2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1036320"/>
            <a:ext cx="7071360" cy="414528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681216" y="1085088"/>
            <a:ext cx="79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09585"/>
            <a:r>
              <a:rPr lang="en-US" sz="933" i="1" dirty="0">
                <a:solidFill>
                  <a:srgbClr val="39CDE7"/>
                </a:solidFill>
                <a:latin typeface="Trebuchet MS" panose="020B0603020202020204"/>
              </a:rPr>
              <a:t>Haskell</a:t>
            </a:r>
            <a:endParaRPr lang="en-US" sz="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" y="1304544"/>
            <a:ext cx="6729984" cy="3755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Main where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Text.XML          (readFile, def)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Text.XML.Cursor   (fromDocument)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Prelude hiding    (readFile)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System.Environment (getArgs)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:: IO ()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= do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args &lt;- getArgs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args of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[xmlPath, mdPath] -&gt; do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doc   &lt;- Text.XML.readFile def xmlPath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let books = parseCatalogue doc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putStrLn $ "Parsed " ++ show (length books) ++ " book(s)."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writeCatalogue mdPath books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putStrLn $ "Written to " ++ mdPath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 -&gt;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putStrLn "Usage: parse-books &lt;input.xml&gt; &lt;output.md&gt;"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985760" y="1158240"/>
            <a:ext cx="548640" cy="548640"/>
          </a:xfrm>
          <a:prstGeom prst="ellipse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85760" y="1158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656320" y="11704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XML</a:t>
            </a:r>
            <a:endParaRPr lang="en-US" sz="16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656320" y="1548384"/>
            <a:ext cx="31089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readFile parses the file into a Document, throwing on malformed XML.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29600" y="1743456"/>
            <a:ext cx="60960" cy="67056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985760" y="2523744"/>
            <a:ext cx="548640" cy="548640"/>
          </a:xfrm>
          <a:prstGeom prst="ellipse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985760" y="25237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656320" y="25359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Parse</a:t>
            </a:r>
            <a:endParaRPr lang="en-US" sz="16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656320" y="2913888"/>
            <a:ext cx="31089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parseCatalogue walks the cursor tree → [Book].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229600" y="3108960"/>
            <a:ext cx="60960" cy="67056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985760" y="3889248"/>
            <a:ext cx="548640" cy="548640"/>
          </a:xfrm>
          <a:prstGeom prst="ellipse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985760" y="3889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656320" y="3901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</a:t>
            </a:r>
            <a:endParaRPr lang="en-US" sz="16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656320" y="4279392"/>
            <a:ext cx="31089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renderCatalogue converts [Book] → Markdown String.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229600" y="4474464"/>
            <a:ext cx="60960" cy="67056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985760" y="5254752"/>
            <a:ext cx="548640" cy="548640"/>
          </a:xfrm>
          <a:prstGeom prst="ellipse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985760" y="5254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656320" y="52669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</a:t>
            </a:r>
            <a:endParaRPr lang="en-US" sz="16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656320" y="5644896"/>
            <a:ext cx="31089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writeFile saves the result to the output path.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87680" y="5340096"/>
            <a:ext cx="707136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70560" y="5340096"/>
            <a:ext cx="670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733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stack run -- books.xml catalogue.md</a:t>
            </a:r>
            <a:endParaRPr lang="en-US" sz="1733" dirty="0">
              <a:solidFill>
                <a:prstClr val="white"/>
              </a:solidFill>
              <a:latin typeface="Trebuchet MS" panose="020B060302020202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155680" cy="8778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0"/>
            <a:ext cx="10607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2933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Extension: One .md File per Book</a:t>
            </a:r>
            <a:endParaRPr lang="en-US" sz="2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1036320"/>
            <a:ext cx="6827520" cy="469392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37376" y="1085088"/>
            <a:ext cx="79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09585"/>
            <a:r>
              <a:rPr lang="en-US" sz="933" i="1" dirty="0">
                <a:solidFill>
                  <a:srgbClr val="39CDE7"/>
                </a:solidFill>
                <a:latin typeface="Trebuchet MS" panose="020B0603020202020204"/>
              </a:rPr>
              <a:t>Haskell</a:t>
            </a:r>
            <a:endParaRPr lang="en-US" sz="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" y="1304544"/>
            <a:ext cx="6486144" cy="430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System.Directory (createDirectoryIfMissing)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System.FilePath  ((&lt;/&gt;), (&lt;.&gt;))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Sanitise a title for use as a filename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safeFileName :: String -&gt; String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safeFileName = map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(\c -&gt; if c `elem` " /\\:*?&lt;&gt;|" then '-' else c)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Write each book to its own Markdown file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writeBookFiles :: FilePath -&gt; [Book] -&gt; IO ()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writeBookFiles dir books = do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createDirectoryIfMissing True dir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mapM_ (writeOne dir) books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writeOne :: FilePath -&gt; Book -&gt; IO ()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writeOne dir b = do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name    = safeFileName (title b) &lt;.&gt; "md"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outPath = dir &lt;/&gt; name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writeFile outPath (renderBook b)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putStrLn $ "  Wrote: " ++ outPath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59040" y="1036320"/>
            <a:ext cx="426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867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Functions</a:t>
            </a:r>
            <a:endParaRPr lang="en-US" sz="18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559040" y="1584960"/>
            <a:ext cx="4267200" cy="121920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559040" y="1584960"/>
            <a:ext cx="73152" cy="121920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41920" y="1645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createDirectoryIfMissing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41920" y="2048256"/>
            <a:ext cx="40233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Creates the output directory (and parents) if it does not exist yet.</a:t>
            </a:r>
            <a:endParaRPr lang="en-US" sz="1333" dirty="0">
              <a:latin typeface="Trebuchet MS" panose="020B060302020202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559040" y="3023616"/>
            <a:ext cx="4267200" cy="121920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559040" y="3023616"/>
            <a:ext cx="73152" cy="1219200"/>
          </a:xfrm>
          <a:prstGeom prst="rect">
            <a:avLst/>
          </a:prstGeom>
          <a:solidFill>
            <a:srgbClr val="60DE72"/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741920" y="308457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safeFileName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741920" y="3486912"/>
            <a:ext cx="40233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Strips characters invalid in file paths across platforms.</a:t>
            </a:r>
            <a:endParaRPr lang="en-US" sz="1333" dirty="0">
              <a:latin typeface="Trebuchet MS" panose="020B060302020202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559040" y="4462272"/>
            <a:ext cx="4267200" cy="121920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F49D50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559040" y="4462272"/>
            <a:ext cx="73152" cy="1219200"/>
          </a:xfrm>
          <a:prstGeom prst="rect">
            <a:avLst/>
          </a:prstGeom>
          <a:solidFill>
            <a:srgbClr val="F49D50"/>
          </a:solidFill>
          <a:ln w="12700">
            <a:solidFill>
              <a:srgbClr val="F49D50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741920" y="45232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F49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mapM_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741920" y="4925568"/>
            <a:ext cx="40233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Idiomatic way to perform an IO action for each item in a list.</a:t>
            </a:r>
            <a:endParaRPr lang="en-US" sz="1333" dirty="0">
              <a:latin typeface="Trebuchet MS" panose="020B060302020202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87680" y="5913120"/>
            <a:ext cx="11277600" cy="670560"/>
          </a:xfrm>
          <a:prstGeom prst="rect">
            <a:avLst/>
          </a:prstGeom>
          <a:solidFill>
            <a:srgbClr val="0D1B2A"/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70560" y="591312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267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output/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Haskell-Programming.md   Real-World-Haskell.md   Learn-You-a-Haskell.md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219456"/>
            <a:ext cx="10363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40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926592"/>
            <a:ext cx="10972800" cy="48768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1219200"/>
            <a:ext cx="5486400" cy="146304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7680" y="1219200"/>
            <a:ext cx="73152" cy="146304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33984" y="1341120"/>
            <a:ext cx="6705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3733" dirty="0">
                <a:solidFill>
                  <a:srgbClr val="39CDE7"/>
                </a:solidFill>
                <a:latin typeface="Trebuchet MS" panose="020B0603020202020204"/>
              </a:rPr>
              <a:t>①</a:t>
            </a:r>
            <a:endParaRPr lang="en-US" sz="37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402080" y="1438656"/>
            <a:ext cx="438912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6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 domain types (Book, Author) before writing any parser.</a:t>
            </a:r>
            <a:endParaRPr lang="en-US" sz="16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339840" y="1219200"/>
            <a:ext cx="5486400" cy="146304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339840" y="1219200"/>
            <a:ext cx="73152" cy="146304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86144" y="1341120"/>
            <a:ext cx="6705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3733" dirty="0">
                <a:solidFill>
                  <a:srgbClr val="39CDE7"/>
                </a:solidFill>
                <a:latin typeface="Trebuchet MS" panose="020B0603020202020204"/>
              </a:rPr>
              <a:t>②</a:t>
            </a:r>
            <a:endParaRPr lang="en-US" sz="37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254240" y="1438656"/>
            <a:ext cx="438912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6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xml-conduit Cursors give composable, type-safe XML traversal.</a:t>
            </a:r>
            <a:endParaRPr lang="en-US" sz="16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7680" y="2987040"/>
            <a:ext cx="5486400" cy="146304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87680" y="2987040"/>
            <a:ext cx="73152" cy="146304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33984" y="3108960"/>
            <a:ext cx="6705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3733" dirty="0">
                <a:solidFill>
                  <a:srgbClr val="39CDE7"/>
                </a:solidFill>
                <a:latin typeface="Trebuchet MS" panose="020B0603020202020204"/>
              </a:rPr>
              <a:t>③</a:t>
            </a:r>
            <a:endParaRPr lang="en-US" sz="37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402080" y="3206496"/>
            <a:ext cx="438912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6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Separate parsing from rendering — pure functions, easy to test.</a:t>
            </a:r>
            <a:endParaRPr lang="en-US" sz="16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339840" y="2987040"/>
            <a:ext cx="5486400" cy="146304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339840" y="2987040"/>
            <a:ext cx="73152" cy="146304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86144" y="3108960"/>
            <a:ext cx="6705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3733" dirty="0">
                <a:solidFill>
                  <a:srgbClr val="39CDE7"/>
                </a:solidFill>
                <a:latin typeface="Trebuchet MS" panose="020B0603020202020204"/>
              </a:rPr>
              <a:t>④</a:t>
            </a:r>
            <a:endParaRPr lang="en-US" sz="37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254240" y="3206496"/>
            <a:ext cx="438912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6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Maybe for optional fields; handle missing data at the type level.</a:t>
            </a:r>
            <a:endParaRPr lang="en-US" sz="16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87680" y="4754880"/>
            <a:ext cx="5486400" cy="146304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87680" y="4754880"/>
            <a:ext cx="73152" cy="146304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33984" y="4876800"/>
            <a:ext cx="6705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3733" dirty="0">
                <a:solidFill>
                  <a:srgbClr val="39CDE7"/>
                </a:solidFill>
                <a:latin typeface="Trebuchet MS" panose="020B0603020202020204"/>
              </a:rPr>
              <a:t>⑤</a:t>
            </a:r>
            <a:endParaRPr lang="en-US" sz="37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402080" y="4974336"/>
            <a:ext cx="438912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6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mapM_ / mapM make it trivial to process every book in the catalogue.</a:t>
            </a:r>
            <a:endParaRPr lang="en-US" sz="16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339840" y="4754880"/>
            <a:ext cx="5486400" cy="146304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339840" y="4754880"/>
            <a:ext cx="73152" cy="146304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86144" y="4876800"/>
            <a:ext cx="6705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3733" dirty="0">
                <a:solidFill>
                  <a:srgbClr val="39CDE7"/>
                </a:solidFill>
                <a:latin typeface="Trebuchet MS" panose="020B0603020202020204"/>
              </a:rPr>
              <a:t>⑥</a:t>
            </a:r>
            <a:endParaRPr lang="en-US" sz="37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254240" y="4974336"/>
            <a:ext cx="438912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6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writeFile / createDirectoryIfMissing handle all file-system output.</a:t>
            </a:r>
            <a:endParaRPr lang="en-US" sz="16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09600" y="6522720"/>
            <a:ext cx="10972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067" dirty="0">
                <a:solidFill>
                  <a:srgbClr val="A0C4C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hackage.haskell.org/package/xml-conduit  ·  Trebuchet MS / Berlin theme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a-recursion</Template>
  <TotalTime>633</TotalTime>
  <Words>1229</Words>
  <Application>Microsoft Macintosh PowerPoint</Application>
  <PresentationFormat>On-screen Show (16:9)</PresentationFormat>
  <Paragraphs>216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Consolas</vt:lpstr>
      <vt:lpstr>Trebuchet MS</vt:lpstr>
      <vt:lpstr>Berlin</vt:lpstr>
      <vt:lpstr>PowerPoint Presentation</vt:lpstr>
      <vt:lpstr>What is XML?</vt:lpstr>
      <vt:lpstr>books.xml — Full Structure</vt:lpstr>
      <vt:lpstr>XML as a Tree</vt:lpstr>
      <vt:lpstr>How xml-conduit Sees XML</vt:lpstr>
      <vt:lpstr>xml-conduit — Core Types</vt:lpstr>
      <vt:lpstr>The Name Type — Handling Namespaces</vt:lpstr>
      <vt:lpstr>books.xml Through xml-conduit's Eyes</vt:lpstr>
      <vt:lpstr>Navigating the Tree — Key Functions</vt:lpstr>
      <vt:lpstr>xml-light vs xml-conduit — Which to Use?</vt:lpstr>
      <vt:lpstr>Summary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XML Parsing in Haskell</dc:title>
  <dc:subject>PptxGenJS Presentation</dc:subject>
  <dc:creator>PptxGenJS</dc:creator>
  <cp:lastModifiedBy>Mairead Meagher</cp:lastModifiedBy>
  <cp:revision>8</cp:revision>
  <dcterms:created xsi:type="dcterms:W3CDTF">2026-03-26T23:19:25Z</dcterms:created>
  <dcterms:modified xsi:type="dcterms:W3CDTF">2026-03-27T09:55:09Z</dcterms:modified>
</cp:coreProperties>
</file>