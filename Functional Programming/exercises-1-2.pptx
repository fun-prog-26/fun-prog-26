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9"/>
    <p:restoredTop sz="94610"/>
  </p:normalViewPr>
  <p:slideViewPr>
    <p:cSldViewPr snapToGrid="0" snapToObjects="1">
      <p:cViewPr>
        <p:scale>
          <a:sx n="124" d="100"/>
          <a:sy n="124" d="100"/>
        </p:scale>
        <p:origin x="-168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17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Functors and I/O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CCEE"/>
                </a:solidFill>
              </a:rPr>
              <a:t>Worked Examples — Exercises 1 &amp;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794760" y="3474720"/>
            <a:ext cx="45720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BB"/>
                </a:solidFill>
              </a:rPr>
              <a:t>Programming in Haskell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Exercise 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fmap for IO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Recap: fmap on Functor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fmap lets you apply a function to a value inside a container — without unwrapping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On Maybe: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00" cy="77724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404872"/>
            <a:ext cx="521208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(+1) (Just 3)   ==&gt;  Just 4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(+1) Nothing    ==&gt;  Nothing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On List: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486400" cy="50292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685032"/>
            <a:ext cx="52120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(*2) [1,2,3]    ==&gt;  [2,4,6]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12064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The general type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6560" y="2331720"/>
            <a:ext cx="4754880" cy="68580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2404872"/>
            <a:ext cx="448056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Functor f where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fmap :: (a -&gt; b) -&gt; f a -&gt; f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31089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Now the question is:
what does fmap look like when
</a:t>
            </a:r>
            <a:r>
              <a:rPr lang="en-US" sz="1600" b="1" dirty="0">
                <a:solidFill>
                  <a:srgbClr val="2E86AB"/>
                </a:solidFill>
              </a:rPr>
              <a:t>f = IO</a:t>
            </a:r>
            <a:r>
              <a:rPr lang="en-US" sz="1600" dirty="0">
                <a:solidFill>
                  <a:srgbClr val="1A1A2E"/>
                </a:solidFill>
              </a:rPr>
              <a:t> 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66"/>
                </a:solidFill>
              </a:rPr>
              <a:t>Exercise 1 asks us to write this for IO.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1: The Type Signature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We are given: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9144000" cy="59436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88696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:: (a -&gt; b) -&gt; IO a -&gt; IO 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0" cy="32004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a function from a to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0" cy="32004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7B39"/>
                </a:solidFill>
              </a:rPr>
              <a:t>an IO 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7B39"/>
                </a:solidFill>
              </a:rPr>
              <a:t>that produces an 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2286000"/>
            <a:ext cx="0" cy="320040"/>
          </a:xfrm>
          <a:prstGeom prst="line">
            <a:avLst/>
          </a:prstGeom>
          <a:noFill/>
          <a:ln w="190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9E6B"/>
                </a:solidFill>
              </a:rPr>
              <a:t>an IO 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9E6B"/>
                </a:solidFill>
              </a:rPr>
              <a:t>that produces a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In plain English: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Given a function  </a:t>
            </a:r>
            <a:r>
              <a:rPr lang="en-US" sz="18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:: a -&gt; b</a:t>
            </a:r>
            <a:r>
              <a:rPr lang="en-US" sz="1800" dirty="0">
                <a:solidFill>
                  <a:srgbClr val="1A1A2E"/>
                </a:solidFill>
              </a:rPr>
              <a:t>  and an IO interaction  </a:t>
            </a:r>
            <a:r>
              <a:rPr lang="en-US" sz="18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:: IO a</a:t>
            </a:r>
            <a:r>
              <a:rPr lang="en-US" sz="1800" dirty="0">
                <a:solidFill>
                  <a:srgbClr val="1A1A2E"/>
                </a:solidFill>
              </a:rPr>
              <a:t>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run the interaction, then apply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800" dirty="0">
                <a:solidFill>
                  <a:srgbClr val="1A1A2E"/>
                </a:solidFill>
              </a:rPr>
              <a:t> to the result, and wrap it back in IO.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1: Building 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Strategy using do notation — three steps: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Run the IO action  m  to get its result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194560"/>
            <a:ext cx="3200400" cy="45720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Apply function  f  to the result  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3246120"/>
            <a:ext cx="3200400" cy="45720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3192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x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Wrap the result back in IO using  return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4297680"/>
            <a:ext cx="3200400" cy="45720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437083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(f x)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645920"/>
            <a:ext cx="4846320" cy="324612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737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Putting it together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40880" y="2148840"/>
            <a:ext cx="4480560" cy="100584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2221992"/>
            <a:ext cx="42062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f 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do x &lt;- 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(f x)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3200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66"/>
                </a:solidFill>
              </a:rPr>
              <a:t>Steps 2 and 3 are combined: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66"/>
                </a:solidFill>
              </a:rPr>
              <a:t>apply f and return in one go.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1: Full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772400" cy="150876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749808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:: (a -&gt; b) -&gt; IO a -&gt; IO b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f m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do x &lt;- m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 (f x)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Concrete example: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66"/>
                </a:solidFill>
              </a:rPr>
              <a:t>Suppose we want to read a line and make it uppercase: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772400" cy="246888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913632"/>
            <a:ext cx="74980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Data.Char (toUpper)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Without fmap: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line &lt;- getLine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(map toUpper line)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With fmap: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fmap (map toUpper) getLine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1280160"/>
            <a:ext cx="3200400" cy="3200400"/>
          </a:xfrm>
          <a:prstGeom prst="rect">
            <a:avLst/>
          </a:prstGeom>
          <a:solidFill>
            <a:srgbClr val="FFF8E7"/>
          </a:solidFill>
          <a:ln w="12700">
            <a:solidFill>
              <a:srgbClr val="F0D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7800"/>
                </a:solidFill>
              </a:rPr>
              <a:t>Key insight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0" y="178308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fmap for IO lets us post-process the result of any IO action without writing a new do block each time.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It's just the Functor pattern applied to IO!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4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Exercise 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ADDCC"/>
                </a:solidFill>
              </a:rPr>
              <a:t>repeat — looping with IO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2: The Type Signature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We need to define: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9144000" cy="59436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88696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:: IO Bool -&gt; IO () -&gt; IO ()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So that: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486400" cy="50292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907792"/>
            <a:ext cx="52120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test oper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…keeps running oper until test returns True.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1645920"/>
            <a:ext cx="3200400" cy="2194560"/>
          </a:xfrm>
          <a:prstGeom prst="rect">
            <a:avLst/>
          </a:prstGeom>
          <a:solidFill>
            <a:srgbClr val="F0F8FF"/>
          </a:solidFill>
          <a:ln w="12700">
            <a:solidFill>
              <a:srgbClr val="B8D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Unpacking the 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214884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 Bool</a:t>
            </a:r>
            <a:r>
              <a:rPr lang="en-US" sz="1300" dirty="0">
                <a:solidFill>
                  <a:srgbClr val="1A1A2E"/>
                </a:solidFill>
              </a:rPr>
              <a:t>
→ an action that checks a condition
</a:t>
            </a: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 ()</a:t>
            </a:r>
            <a:r>
              <a:rPr lang="en-US" sz="1300" dirty="0">
                <a:solidFill>
                  <a:srgbClr val="1A1A2E"/>
                </a:solidFill>
              </a:rPr>
              <a:t>
→ an action that does something
   (result discarded)
</a:t>
            </a: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 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→ the combined loop 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66"/>
                </a:solidFill>
              </a:rPr>
              <a:t>Example use: keep asking for a password until the user enters the correct one.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2: Strategy — Recursion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66"/>
                </a:solidFill>
              </a:rPr>
              <a:t>The key idea: recursion! Repeat = check once, then recurse if needed.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9E6B"/>
                </a:solidFill>
              </a:rPr>
              <a:t>Base case — test is True: stop.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858000" cy="86868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658368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res &lt;- test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res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then return ()   -- done, stop here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</a:rPr>
              <a:t>Recursive case — test is False: run oper, then call repeat again.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685032"/>
            <a:ext cx="795528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else do m              -- run the operation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repeat test m  -- recurse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03920" y="1645920"/>
            <a:ext cx="3200400" cy="3200400"/>
          </a:xfrm>
          <a:prstGeom prst="rect">
            <a:avLst/>
          </a:prstGeom>
          <a:solidFill>
            <a:srgbClr val="F0FFF4"/>
          </a:solidFill>
          <a:ln w="12700">
            <a:solidFill>
              <a:srgbClr val="90C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E3A"/>
                </a:solidFill>
              </a:rPr>
              <a:t>Control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2148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True?  →  return 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 No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oper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(again...)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4466"/>
                </a:solidFill>
              </a:rPr>
              <a:t>Notice: we pass both test and m to the recursive call — they don't change.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Exercise 2: Full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772400" cy="233172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749808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:: IO Bool -&gt; IO () -&gt; IO ()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test 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do res &lt;- test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if res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return ()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else do 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repeat test 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011680"/>
            <a:ext cx="118872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076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66"/>
                </a:solidFill>
              </a:rPr>
              <a:t>run test, bind result to 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2487168"/>
            <a:ext cx="1188720" cy="0"/>
          </a:xfrm>
          <a:prstGeom prst="line">
            <a:avLst/>
          </a:prstGeom>
          <a:noFill/>
          <a:ln w="12700">
            <a:solidFill>
              <a:srgbClr val="2D9E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80760" y="2304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9E6B"/>
                </a:solidFill>
              </a:rPr>
              <a:t>if True → done (base case)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118872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2971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if False → run oper then recurse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</a:rPr>
              <a:t>Example usage: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27939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Keep reading lines until the user enters "quit"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(fmap (== "quit") getLine) (putStrLn "Try again!")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</a:rPr>
              <a:t>Exercise 1 — fmap for IO
</a:t>
            </a:r>
            <a:r>
              <a:rPr lang="en-US" sz="1700" dirty="0">
                <a:solidFill>
                  <a:srgbClr val="1A1A2E"/>
                </a:solidFill>
              </a:rPr>
              <a:t>Use </a:t>
            </a:r>
            <a:r>
              <a:rPr lang="en-US" sz="17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700" dirty="0">
                <a:solidFill>
                  <a:srgbClr val="1A1A2E"/>
                </a:solidFill>
              </a:rPr>
              <a:t> to run the IO action, then apply the function and </a:t>
            </a:r>
            <a:r>
              <a:rPr lang="en-US" sz="17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700" dirty="0">
                <a:solidFill>
                  <a:srgbClr val="1A1A2E"/>
                </a:solidFill>
              </a:rPr>
              <a:t> the result. This is just the Functor pattern lifted to IO.
</a:t>
            </a:r>
            <a:r>
              <a:rPr lang="en-US" sz="2000" b="1" dirty="0">
                <a:solidFill>
                  <a:srgbClr val="1A4E3A"/>
                </a:solidFill>
              </a:rPr>
              <a:t>Exercise 2 — repeat
</a:t>
            </a:r>
            <a:r>
              <a:rPr lang="en-US" sz="1700" dirty="0">
                <a:solidFill>
                  <a:srgbClr val="1A1A2E"/>
                </a:solidFill>
              </a:rPr>
              <a:t>Use recursion: run the test, and if </a:t>
            </a:r>
            <a:r>
              <a:rPr lang="en-US" sz="17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700" dirty="0">
                <a:solidFill>
                  <a:srgbClr val="1A1A2E"/>
                </a:solidFill>
              </a:rPr>
              <a:t> stop with </a:t>
            </a:r>
            <a:r>
              <a:rPr lang="en-US" sz="17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()</a:t>
            </a:r>
            <a:r>
              <a:rPr lang="en-US" sz="1700" dirty="0">
                <a:solidFill>
                  <a:srgbClr val="1A1A2E"/>
                </a:solidFill>
              </a:rPr>
              <a:t>; if </a:t>
            </a:r>
            <a:r>
              <a:rPr lang="en-US" sz="17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700" dirty="0">
                <a:solidFill>
                  <a:srgbClr val="1A1A2E"/>
                </a:solidFill>
              </a:rPr>
              <a:t> run the operation and recurse.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1247120" cy="1508760"/>
          </a:xfrm>
          <a:prstGeom prst="rect">
            <a:avLst/>
          </a:prstGeom>
          <a:solidFill>
            <a:srgbClr val="EFF2F7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Key patterns to remember: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15968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do x &lt;- action; return (f x)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</a:rPr>
              <a:t>    lifts a pure function into IO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do res &lt;- test; if res then return () else do m; recurse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</a:rPr>
              <a:t>    is the standard IO loop pattern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834</Words>
  <Application>Microsoft Macintosh PowerPoint</Application>
  <PresentationFormat>Widescreen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Mairead Meagher</cp:lastModifiedBy>
  <cp:revision>2</cp:revision>
  <dcterms:created xsi:type="dcterms:W3CDTF">2026-03-31T19:03:52Z</dcterms:created>
  <dcterms:modified xsi:type="dcterms:W3CDTF">2026-04-01T23:37:17Z</dcterms:modified>
</cp:coreProperties>
</file>