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Functors and I/O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14400" y="265176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ACCEE"/>
                </a:solidFill>
              </a:rPr>
              <a:t>Worked Examples — Exercises 1 &amp; 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794760" y="3474720"/>
            <a:ext cx="4572000" cy="54864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37490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99BB"/>
                </a:solidFill>
              </a:rPr>
              <a:t>Programming in Haskell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E86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Exercise 1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914400" y="265176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fmap for IO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515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Recap: fmap on Functor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66"/>
                </a:solidFill>
              </a:rPr>
              <a:t>fmap lets you apply a function to a value inside a container — without unwrapping it.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On Maybe: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5486400" cy="777240"/>
          </a:xfrm>
          <a:prstGeom prst="rect">
            <a:avLst/>
          </a:prstGeom>
          <a:solidFill>
            <a:srgbClr val="EFF2F7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404872"/>
            <a:ext cx="521208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fmap (+1) (Just 3)   ==&gt;  Just 4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fmap (+1) Nothing    ==&gt;  Nothing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7200" y="3246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On List: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5486400" cy="502920"/>
          </a:xfrm>
          <a:prstGeom prst="rect">
            <a:avLst/>
          </a:prstGeom>
          <a:solidFill>
            <a:srgbClr val="EFF2F7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3685032"/>
            <a:ext cx="5212080" cy="3566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fmap (*2) [1,2,3]    ==&gt;  [2,4,6]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583680" y="1828800"/>
            <a:ext cx="5120640" cy="2560320"/>
          </a:xfrm>
          <a:prstGeom prst="rect">
            <a:avLst/>
          </a:prstGeom>
          <a:solidFill>
            <a:srgbClr val="E8F4FD"/>
          </a:solidFill>
          <a:ln w="12700">
            <a:solidFill>
              <a:srgbClr val="B8D4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0" y="192024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6AB"/>
                </a:solidFill>
              </a:rPr>
              <a:t>The general type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766560" y="2331720"/>
            <a:ext cx="4754880" cy="685800"/>
          </a:xfrm>
          <a:prstGeom prst="rect">
            <a:avLst/>
          </a:prstGeom>
          <a:solidFill>
            <a:srgbClr val="EFF2F7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03720" y="2404872"/>
            <a:ext cx="4480560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Functor f where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fmap :: (a -&gt; b) -&gt; f a -&gt; f b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66560" y="310896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</a:rPr>
              <a:t>Now the question is:
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</a:rPr>
              <a:t>what does fmap look like when
</a:t>
            </a:r>
            <a:pPr indent="0" marL="0">
              <a:buNone/>
            </a:pPr>
            <a:r>
              <a:rPr lang="en-US" sz="1600" b="1" dirty="0">
                <a:solidFill>
                  <a:srgbClr val="2E86AB"/>
                </a:solidFill>
              </a:rPr>
              <a:t>f = IO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</a:rPr>
              <a:t> ?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44466"/>
                </a:solidFill>
              </a:rPr>
              <a:t>Exercise 1 asks us to write this for IO.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515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Exercise 1: The Type Signature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66"/>
                </a:solidFill>
              </a:rPr>
              <a:t>We are given: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9144000" cy="594360"/>
          </a:xfrm>
          <a:prstGeom prst="rect">
            <a:avLst/>
          </a:prstGeom>
          <a:solidFill>
            <a:srgbClr val="EFF2F7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19072"/>
            <a:ext cx="8869680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fmap :: (a -&gt; b) -&gt; IO a -&gt; IO b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005840" y="2286000"/>
            <a:ext cx="0" cy="320040"/>
          </a:xfrm>
          <a:prstGeom prst="line">
            <a:avLst/>
          </a:prstGeom>
          <a:noFill/>
          <a:ln w="19050">
            <a:solidFill>
              <a:srgbClr val="2E86A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26060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E86AB"/>
                </a:solidFill>
              </a:rPr>
              <a:t>a function from a to b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520440" y="2286000"/>
            <a:ext cx="0" cy="320040"/>
          </a:xfrm>
          <a:prstGeom prst="line">
            <a:avLst/>
          </a:prstGeom>
          <a:noFill/>
          <a:ln w="19050">
            <a:solidFill>
              <a:srgbClr val="E07B3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0" y="26060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07B39"/>
                </a:solidFill>
              </a:rPr>
              <a:t>an IO action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E07B39"/>
                </a:solidFill>
              </a:rPr>
              <a:t>that produces an 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532120" y="2286000"/>
            <a:ext cx="0" cy="320040"/>
          </a:xfrm>
          <a:prstGeom prst="line">
            <a:avLst/>
          </a:prstGeom>
          <a:noFill/>
          <a:ln w="19050">
            <a:solidFill>
              <a:srgbClr val="2D9E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26060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9E6B"/>
                </a:solidFill>
              </a:rPr>
              <a:t>an IO action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9E6B"/>
                </a:solidFill>
              </a:rPr>
              <a:t>that produces a 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2004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</a:rPr>
              <a:t>In plain English: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7200" y="36576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</a:rPr>
              <a:t>Given a function  </a:t>
            </a:r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:: a -&gt; b</a:t>
            </a:r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</a:rPr>
              <a:t>  and an IO interaction  </a:t>
            </a:r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:: IO a</a:t>
            </a:r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</a:rPr>
              <a:t>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</a:rPr>
              <a:t>run the interaction, then apply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</a:rPr>
              <a:t> to the result, and wrap it back in IO.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515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Exercise 1: Building the Solution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66"/>
                </a:solidFill>
              </a:rPr>
              <a:t>Strategy using do notation — three steps: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7373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</a:rPr>
              <a:t>Run the IO action  m  to get its result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05840" y="2194560"/>
            <a:ext cx="3200400" cy="457200"/>
          </a:xfrm>
          <a:prstGeom prst="rect">
            <a:avLst/>
          </a:prstGeom>
          <a:solidFill>
            <a:srgbClr val="EFF2F7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226771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m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7200" y="2788920"/>
            <a:ext cx="411480" cy="41148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788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27889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</a:rPr>
              <a:t>Apply function  f  to the result  x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05840" y="3246120"/>
            <a:ext cx="3200400" cy="457200"/>
          </a:xfrm>
          <a:prstGeom prst="rect">
            <a:avLst/>
          </a:prstGeom>
          <a:solidFill>
            <a:srgbClr val="EFF2F7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331927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x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05840" y="38404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</a:rPr>
              <a:t>Wrap the result back in IO using  return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005840" y="4297680"/>
            <a:ext cx="3200400" cy="457200"/>
          </a:xfrm>
          <a:prstGeom prst="rect">
            <a:avLst/>
          </a:prstGeom>
          <a:solidFill>
            <a:srgbClr val="EFF2F7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43000" y="437083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(f x)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858000" y="1645920"/>
            <a:ext cx="4846320" cy="3246120"/>
          </a:xfrm>
          <a:prstGeom prst="rect">
            <a:avLst/>
          </a:prstGeom>
          <a:solidFill>
            <a:srgbClr val="E8F4FD"/>
          </a:solidFill>
          <a:ln w="12700">
            <a:solidFill>
              <a:srgbClr val="B8D4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173736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6AB"/>
                </a:solidFill>
              </a:rPr>
              <a:t>Putting it together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040880" y="2148840"/>
            <a:ext cx="4480560" cy="1005840"/>
          </a:xfrm>
          <a:prstGeom prst="rect">
            <a:avLst/>
          </a:prstGeom>
          <a:solidFill>
            <a:srgbClr val="EFF2F7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78040" y="2221992"/>
            <a:ext cx="420624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fmap f m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do x &lt;- m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return (f x)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040880" y="320040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66"/>
                </a:solidFill>
              </a:rPr>
              <a:t>Steps 2 and 3 are combined: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44466"/>
                </a:solidFill>
              </a:rPr>
              <a:t>apply f and return in one go.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515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Exercise 1: Full Solution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7772400" cy="1508760"/>
          </a:xfrm>
          <a:prstGeom prst="rect">
            <a:avLst/>
          </a:prstGeom>
          <a:solidFill>
            <a:srgbClr val="EFF2F7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53312"/>
            <a:ext cx="7498080" cy="1362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fmap :: (a -&gt; b) -&gt; IO a -&gt; IO b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fmap f m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do x &lt;- m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return (f x)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9718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</a:rPr>
              <a:t>Concrete example: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44466"/>
                </a:solidFill>
              </a:rPr>
              <a:t>Suppose we want to read a line and make it uppercase: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840480"/>
            <a:ext cx="7772400" cy="2468880"/>
          </a:xfrm>
          <a:prstGeom prst="rect">
            <a:avLst/>
          </a:prstGeom>
          <a:solidFill>
            <a:srgbClr val="EFF2F7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3913632"/>
            <a:ext cx="7498080" cy="2322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Data.Char (toUpper)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Without fmap: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line &lt;- getLine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return (map toUpper line)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With fmap: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fmap (map toUpper) getLine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503920" y="1280160"/>
            <a:ext cx="3200400" cy="3200400"/>
          </a:xfrm>
          <a:prstGeom prst="rect">
            <a:avLst/>
          </a:prstGeom>
          <a:solidFill>
            <a:srgbClr val="FFF8E7"/>
          </a:solidFill>
          <a:ln w="12700">
            <a:solidFill>
              <a:srgbClr val="F0D0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0" y="13716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800"/>
                </a:solidFill>
              </a:rPr>
              <a:t>Key insight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0" y="1783080"/>
            <a:ext cx="28346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fmap for IO lets us post-process the result of any IO action without writing a new do block each time.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It's just the Functor pattern applied to IO!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4E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Exercise 2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914400" y="265176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AADDCC"/>
                </a:solidFill>
              </a:rPr>
              <a:t>repeat — looping with IO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515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Exercise 2: The Type Signature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66"/>
                </a:solidFill>
              </a:rPr>
              <a:t>We need to define: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9144000" cy="594360"/>
          </a:xfrm>
          <a:prstGeom prst="rect">
            <a:avLst/>
          </a:prstGeom>
          <a:solidFill>
            <a:srgbClr val="EFF2F7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19072"/>
            <a:ext cx="8869680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 :: IO Bool -&gt; IO () -&gt; IO ()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66"/>
                </a:solidFill>
              </a:rPr>
              <a:t>So that: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834640"/>
            <a:ext cx="5486400" cy="502920"/>
          </a:xfrm>
          <a:prstGeom prst="rect">
            <a:avLst/>
          </a:prstGeom>
          <a:solidFill>
            <a:srgbClr val="EFF2F7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907792"/>
            <a:ext cx="5212080" cy="3566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 test oper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</a:rPr>
              <a:t>…keeps running oper until test returns True.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503920" y="1645920"/>
            <a:ext cx="3200400" cy="2194560"/>
          </a:xfrm>
          <a:prstGeom prst="rect">
            <a:avLst/>
          </a:prstGeom>
          <a:solidFill>
            <a:srgbClr val="F0F8FF"/>
          </a:solidFill>
          <a:ln w="12700">
            <a:solidFill>
              <a:srgbClr val="B8D4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0" y="17373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6AB"/>
                </a:solidFill>
              </a:rPr>
              <a:t>Unpacking the type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0" y="2148840"/>
            <a:ext cx="283464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 Bool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</a:rPr>
              <a:t>
→ an action that checks a condition
</a:t>
            </a:r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 ()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</a:rPr>
              <a:t>
→ an action that does something
   (result discarded)
</a:t>
            </a:r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 ()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</a:rPr>
              <a:t>→ the combined loop action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4023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44466"/>
                </a:solidFill>
              </a:rPr>
              <a:t>Example use: keep asking for a password until the user enters the correct one.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515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Exercise 2: Strategy — Recursion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66"/>
                </a:solidFill>
              </a:rPr>
              <a:t>The key idea: recursion! Repeat = check once, then recurse if needed.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9E6B"/>
                </a:solidFill>
              </a:rPr>
              <a:t>Base case — test is True: stop.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6858000" cy="868680"/>
          </a:xfrm>
          <a:prstGeom prst="rect">
            <a:avLst/>
          </a:prstGeom>
          <a:solidFill>
            <a:srgbClr val="EFF2F7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267712"/>
            <a:ext cx="6583680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res &lt;- test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if res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then return ()   -- done, stop here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7200" y="3200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Recursive case — test is False: run oper, then call repeat again.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8229600" cy="685800"/>
          </a:xfrm>
          <a:prstGeom prst="rect">
            <a:avLst/>
          </a:prstGeom>
          <a:solidFill>
            <a:srgbClr val="EFF2F7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3685032"/>
            <a:ext cx="7955280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else do m              -- run the operation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repeat test m  -- recurse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503920" y="1645920"/>
            <a:ext cx="3200400" cy="3200400"/>
          </a:xfrm>
          <a:prstGeom prst="rect">
            <a:avLst/>
          </a:prstGeom>
          <a:solidFill>
            <a:srgbClr val="F0FFF4"/>
          </a:solidFill>
          <a:ln w="12700">
            <a:solidFill>
              <a:srgbClr val="90C9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0" y="17373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E3A"/>
                </a:solidFill>
              </a:rPr>
              <a:t>Control flow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0" y="2148840"/>
            <a:ext cx="28346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test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↓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True?  →  return 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↓ No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 oper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↓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 test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(again...)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44466"/>
                </a:solidFill>
              </a:rPr>
              <a:t>Notice: we pass both test and m to the recursive call — they don't change.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515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Exercise 2: Full Solution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7772400" cy="2331720"/>
          </a:xfrm>
          <a:prstGeom prst="rect">
            <a:avLst/>
          </a:prstGeom>
          <a:solidFill>
            <a:srgbClr val="EFF2F7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53312"/>
            <a:ext cx="7498080" cy="2185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 :: IO Bool -&gt; IO () -&gt; IO ()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 test 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do res &lt;- test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if res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then return ()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else do 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repeat test m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800600" y="2011680"/>
            <a:ext cx="1188720" cy="0"/>
          </a:xfrm>
          <a:prstGeom prst="line">
            <a:avLst/>
          </a:prstGeom>
          <a:noFill/>
          <a:ln w="12700">
            <a:solidFill>
              <a:srgbClr val="444466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080760" y="18288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66"/>
                </a:solidFill>
              </a:rPr>
              <a:t>run test, bind result to res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2487168"/>
            <a:ext cx="1188720" cy="0"/>
          </a:xfrm>
          <a:prstGeom prst="line">
            <a:avLst/>
          </a:prstGeom>
          <a:noFill/>
          <a:ln w="12700">
            <a:solidFill>
              <a:srgbClr val="2D9E6B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080760" y="2304288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9E6B"/>
                </a:solidFill>
              </a:rPr>
              <a:t>if True → done (base case)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00600" y="3154680"/>
            <a:ext cx="1188720" cy="0"/>
          </a:xfrm>
          <a:prstGeom prst="line">
            <a:avLst/>
          </a:prstGeom>
          <a:noFill/>
          <a:ln w="12700">
            <a:solidFill>
              <a:srgbClr val="C0392B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6080760" y="29718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392B"/>
                </a:solidFill>
              </a:rPr>
              <a:t>if False → run oper then recurse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3794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</a:rPr>
              <a:t>Example usage: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57200" y="4206240"/>
            <a:ext cx="11247120" cy="777240"/>
          </a:xfrm>
          <a:prstGeom prst="rect">
            <a:avLst/>
          </a:prstGeom>
          <a:solidFill>
            <a:srgbClr val="EFF2F7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4279392"/>
            <a:ext cx="109728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Keep reading lines until the user enters "quit"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 (fmap (== "quit") getLine) (putStrLn "Try again!")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515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Summary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12471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6AB"/>
                </a:solidFill>
              </a:rPr>
              <a:t>Exercise 1 — fmap for IO
</a:t>
            </a:r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</a:rPr>
              <a:t>Use </a:t>
            </a:r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</a:t>
            </a:r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</a:rPr>
              <a:t> to run the IO action, then apply the function and </a:t>
            </a:r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</a:rPr>
              <a:t> the result. This is just the Functor pattern lifted to IO.
</a:t>
            </a:r>
            <a:pPr indent="0" marL="0">
              <a:buNone/>
            </a:pPr>
            <a:r>
              <a:rPr lang="en-US" sz="2000" b="1" dirty="0">
                <a:solidFill>
                  <a:srgbClr val="1A4E3A"/>
                </a:solidFill>
              </a:rPr>
              <a:t>Exercise 2 — repeat
</a:t>
            </a:r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</a:rPr>
              <a:t>Use recursion: run the test, and if </a:t>
            </a:r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</a:rPr>
              <a:t> stop with </a:t>
            </a:r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()</a:t>
            </a:r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</a:rPr>
              <a:t>; if </a:t>
            </a:r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</a:rPr>
              <a:t> run the operation and recurse.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1247120" cy="1508760"/>
          </a:xfrm>
          <a:prstGeom prst="rect">
            <a:avLst/>
          </a:prstGeom>
          <a:solidFill>
            <a:srgbClr val="EFF2F7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931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Key patterns to remember: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315968"/>
            <a:ext cx="10972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• do x &lt;- action; return (f x)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6C757D"/>
                </a:solidFill>
              </a:rPr>
              <a:t>    lifts a pure function into IO  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• do res &lt;- test; if res then return () else do m; recurse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6C757D"/>
                </a:solidFill>
              </a:rPr>
              <a:t>    is the standard IO loop pattern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2026-03-31T19:03:52Z</dcterms:created>
  <dcterms:modified xsi:type="dcterms:W3CDTF">2026-03-31T19:03:52Z</dcterms:modified>
</cp:coreProperties>
</file>