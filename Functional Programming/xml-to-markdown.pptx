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" y="91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10058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" y="19202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" y="28346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" y="37490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" y="4663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91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560" y="10058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1560" y="19202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51560" y="28346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1560" y="37490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51560" y="4663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11680" y="91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11680" y="10058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11680" y="19202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11680" y="28346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11680" y="37490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11680" y="4663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1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71800" y="10058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19202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28346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37490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4663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31920" y="91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931920" y="10058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931920" y="19202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931920" y="28346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31920" y="37490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931920" y="4663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92040" y="91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92040" y="10058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92040" y="19202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92040" y="28346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92040" y="37490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92040" y="4663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852160" y="91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852160" y="10058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2160" y="19202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852160" y="28346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852160" y="37490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852160" y="4663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812280" y="91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812280" y="10058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812280" y="19202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812280" y="28346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812280" y="37490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812280" y="4663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772400" y="91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772400" y="10058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772400" y="19202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772400" y="28346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772400" y="37490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772400" y="4663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732520" y="91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732520" y="10058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732520" y="19202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732520" y="28346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732520" y="37490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732520" y="4663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48640" y="1463040"/>
            <a:ext cx="73152" cy="15087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7240" y="14173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XML → Markdown</a:t>
            </a:r>
            <a:endParaRPr lang="en-US" sz="5200" dirty="0"/>
          </a:p>
        </p:txBody>
      </p:sp>
      <p:sp>
        <p:nvSpPr>
          <p:cNvPr id="64" name="Text 62"/>
          <p:cNvSpPr/>
          <p:nvPr/>
        </p:nvSpPr>
        <p:spPr>
          <a:xfrm>
            <a:off x="777240" y="22402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Book Catalogues with xml-conduit in Haskell</a:t>
            </a:r>
            <a:endParaRPr lang="en-US" sz="2000" dirty="0"/>
          </a:p>
        </p:txBody>
      </p:sp>
      <p:sp>
        <p:nvSpPr>
          <p:cNvPr id="65" name="Text 63"/>
          <p:cNvSpPr/>
          <p:nvPr/>
        </p:nvSpPr>
        <p:spPr>
          <a:xfrm>
            <a:off x="777240" y="28346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Programming  ·  Haskell  ·  xml-conduit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457200" y="4160520"/>
            <a:ext cx="1417320" cy="5029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57200" y="41605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books.xml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1874520" y="4370832"/>
            <a:ext cx="36576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240280" y="4160520"/>
            <a:ext cx="1417320" cy="502920"/>
          </a:xfrm>
          <a:prstGeom prst="rect">
            <a:avLst/>
          </a:prstGeom>
          <a:solidFill>
            <a:srgbClr val="1A2B3C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240280" y="41605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3657600" y="4370832"/>
            <a:ext cx="36576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023360" y="4160520"/>
            <a:ext cx="1417320" cy="502920"/>
          </a:xfrm>
          <a:prstGeom prst="rect">
            <a:avLst/>
          </a:prstGeom>
          <a:solidFill>
            <a:srgbClr val="1A2B3C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023360" y="41605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Types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440680" y="4370832"/>
            <a:ext cx="365760" cy="6400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5806440" y="4160520"/>
            <a:ext cx="1417320" cy="502920"/>
          </a:xfrm>
          <a:prstGeom prst="rect">
            <a:avLst/>
          </a:prstGeom>
          <a:solidFill>
            <a:srgbClr val="1A2B3C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806440" y="41605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7223760" y="4370832"/>
            <a:ext cx="36576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7589520" y="4160520"/>
            <a:ext cx="1417320" cy="5029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589520" y="41605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books.md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Building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60120"/>
            <a:ext cx="26974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60120"/>
            <a:ext cx="64008" cy="35661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60120"/>
            <a:ext cx="2697480" cy="5029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960120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30352" y="1554480"/>
            <a:ext cx="2624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📄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2148840"/>
            <a:ext cx="2377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books.xml catalogue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nested authors,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ISBNs &amp; publish dates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55848" y="960120"/>
            <a:ext cx="26974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55848" y="960120"/>
            <a:ext cx="64008" cy="356616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55848" y="960120"/>
            <a:ext cx="2697480" cy="5029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960120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Haskell Pipeline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554480"/>
            <a:ext cx="2624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⚙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538728" y="2148840"/>
            <a:ext cx="2377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xml-conduit parses XML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typed records.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functions render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Book to Markdown.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54496" y="960120"/>
            <a:ext cx="26974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54496" y="960120"/>
            <a:ext cx="64008" cy="356616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960120"/>
            <a:ext cx="2697480" cy="50292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27648" y="960120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327648" y="1554480"/>
            <a:ext cx="2624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📝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6437376" y="2148840"/>
            <a:ext cx="2377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catalogue.md file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(or one .md per book)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for docs, wikis,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static sites.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035808" y="2468880"/>
            <a:ext cx="256032" cy="64008"/>
          </a:xfrm>
          <a:prstGeom prst="rect">
            <a:avLst/>
          </a:prstGeom>
          <a:solidFill>
            <a:srgbClr val="4A6580"/>
          </a:solidFill>
          <a:ln w="12700">
            <a:solidFill>
              <a:srgbClr val="4A65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34456" y="2468880"/>
            <a:ext cx="256032" cy="64008"/>
          </a:xfrm>
          <a:prstGeom prst="rect">
            <a:avLst/>
          </a:prstGeom>
          <a:solidFill>
            <a:srgbClr val="4A6580"/>
          </a:solidFill>
          <a:ln w="12700">
            <a:solidFill>
              <a:srgbClr val="4A658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XML Catalogue Structure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4160520" cy="3931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0B4D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914400"/>
            <a:ext cx="4160520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00B4D8"/>
                </a:solidFill>
              </a:rPr>
              <a:t>XML Tree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23444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&lt;catalogue&gt;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50392" y="162763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&lt;book isbn="0-00-000"&gt;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106424" y="202082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&lt;title&gt;...&lt;/title&gt;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106424" y="241401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&lt;subtitle&gt;...&lt;/subtitle&gt;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106424" y="280720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&lt;authors&gt;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362456" y="32004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&lt;author id="a1"&gt;...&lt;/author&gt;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106424" y="359359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&lt;published year="2024"/&gt;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50392" y="398678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&lt;/book&gt;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94360" y="437997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&lt;/catalogue&gt;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846320" y="9144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Parsing Notes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846320" y="1325880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46320" y="1325880"/>
            <a:ext cx="64008" cy="7772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0" y="13716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isbn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162763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on &lt;book&gt; — not a child element. Use attribute.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46320" y="2194560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46320" y="2194560"/>
            <a:ext cx="64008" cy="7772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0" y="224028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subtitle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249631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child — parse with childText + fmap.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46320" y="3063240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46320" y="3063240"/>
            <a:ext cx="64008" cy="7772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0" y="31089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authors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29200" y="33649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container: element "author" inside &lt;authors&gt;.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46320" y="3931920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46320" y="3931920"/>
            <a:ext cx="64008" cy="7772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0" y="397764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29200" y="42336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on &lt;published&gt; — drill two levels then read attr.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Haskell Data Model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3977640" cy="1508760"/>
          </a:xfrm>
          <a:prstGeom prst="rect">
            <a:avLst/>
          </a:prstGeom>
          <a:solidFill>
            <a:srgbClr val="0D1B2A"/>
          </a:solidFill>
          <a:ln w="12700">
            <a:solidFill>
              <a:srgbClr val="00B4D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794760" y="960120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00B4D8"/>
                </a:solidFill>
              </a:rPr>
              <a:t>Haskell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1115568"/>
            <a:ext cx="370332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Author = Author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authorId   :: String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authorName :: String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 deriving (Show)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09160" y="914400"/>
            <a:ext cx="3977640" cy="1920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0B4D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046720" y="960120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00B4D8"/>
                </a:solidFill>
              </a:rPr>
              <a:t>Haskell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846320" y="1115568"/>
            <a:ext cx="370332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Book = Book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isbn      :: String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title     :: String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subtitle  :: Maybe String   -- optional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authors   :: [Author]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pubYear   :: String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 deriving (Show)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8046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09160" y="8046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606040"/>
            <a:ext cx="39776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606040"/>
            <a:ext cx="64008" cy="6400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5176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record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290779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is parsed from an XML attribute, name from element text content.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09160" y="3017520"/>
            <a:ext cx="39776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3017520"/>
            <a:ext cx="64008" cy="64008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30632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Maybe String for subtitle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92040" y="331927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the optional &lt;subtitle&gt; element cleanly — Nothing if absent.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337560"/>
            <a:ext cx="39776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337560"/>
            <a:ext cx="64008" cy="6400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38328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[Author] list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36393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fit for zero-or-more &lt;author&gt; children inside &lt;authors&gt;.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xml-conduit: Core Concepts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60120"/>
            <a:ext cx="2743200" cy="3931920"/>
          </a:xfrm>
          <a:prstGeom prst="rect">
            <a:avLst/>
          </a:prstGeom>
          <a:solidFill>
            <a:srgbClr val="1A2B3C"/>
          </a:solidFill>
          <a:ln w="12700">
            <a:solidFill>
              <a:srgbClr val="00B4D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60120"/>
            <a:ext cx="2743200" cy="38404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9601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&amp; Element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417320"/>
            <a:ext cx="25237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Text.XML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Data.Map (Map)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Document contains the root Element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Element has Name, [Node], Map Name Text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3246120"/>
            <a:ext cx="2523744" cy="1828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3310128"/>
            <a:ext cx="25237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Text.XML is the high-level API. Elements carry attributes as a Map.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55848" y="960120"/>
            <a:ext cx="2743200" cy="3931920"/>
          </a:xfrm>
          <a:prstGeom prst="rect">
            <a:avLst/>
          </a:prstGeom>
          <a:solidFill>
            <a:srgbClr val="1A2B3C"/>
          </a:solidFill>
          <a:ln w="12700">
            <a:solidFill>
              <a:srgbClr val="00B4D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55848" y="960120"/>
            <a:ext cx="2743200" cy="38404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47288" y="9601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 API (Text.XML.Cursor)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65576" y="1417320"/>
            <a:ext cx="25237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Text.XML.Cursor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fromDocument :: Document -&gt; Cursor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element / content / attribute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($/) ($//): axis traversal operators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465576" y="3246120"/>
            <a:ext cx="2523744" cy="1828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65576" y="3310128"/>
            <a:ext cx="25237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Cursors let you navigate the XML tree with composable axis functions.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54496" y="960120"/>
            <a:ext cx="2743200" cy="3931920"/>
          </a:xfrm>
          <a:prstGeom prst="rect">
            <a:avLst/>
          </a:prstGeom>
          <a:solidFill>
            <a:srgbClr val="1A2B3C"/>
          </a:solidFill>
          <a:ln w="12700">
            <a:solidFill>
              <a:srgbClr val="00B4D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54496" y="960120"/>
            <a:ext cx="2743200" cy="38404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45936" y="9601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Entry Points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64224" y="1417320"/>
            <a:ext cx="25237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readFile  def "books.xml"   :: IO Document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parseLBS  def lazyBS       :: Either SomeException Document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parseText def lazyText     :: Either SomeException Document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364224" y="3246120"/>
            <a:ext cx="2523744" cy="1828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64224" y="3310128"/>
            <a:ext cx="25237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 supplies default ParseSettings. Use readFile in IO, parseLBS for in-memory.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the Catalogue with xml-conduit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868680"/>
            <a:ext cx="5120640" cy="4114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0B4D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937760" y="914400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00B4D8"/>
                </a:solidFill>
              </a:rPr>
              <a:t>Haskell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1069848"/>
            <a:ext cx="4846320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Text.XML          (readFile, def, Document)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Text.XML.Cursor   (fromDocument, Cursor, ($/)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, element, content, attribute)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Data.Text         (Text)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qualified Data.Text as T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Helper: text of the first matching child element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childText :: Name -&gt; Cursor -&gt; Maybe Text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childText n cur =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listToMaybe $ cur $/ element n &amp;/ content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Parse one &lt;author&gt; cursor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parseAuthor :: Cursor -&gt; Author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parseAuthor cur = Author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authorId   = T.unpack . head . attribute "id" $ cur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authorName = T.unpack . T.concat $ cur $/ content }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Parse one &lt;book&gt; cursor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parseBook :: Cursor -&gt; Book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parseBook cur = Book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isbn     = T.unpack . head $ attribute "isbn" cur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title    = maybe "" T.unpack (childText "title" cur)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subtitle = fmap T.unpack   (childText "subtitle" cur)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authors  = map parseAuthor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(cur $/ element "authors" $/ element "author")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pubYear  = T.unpack . head $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cur $/ element "published" &gt;=&gt; attribute "year" }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Entry point: Document -&gt; [Book]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parseCatalogue :: Document -&gt; [Book]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parseCatalogue doc = map parseBook $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fromDocument doc $/ element "catalogue" &amp;/ element "book"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760720" y="868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Operators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760720" y="1280160"/>
            <a:ext cx="29260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760720" y="1280160"/>
            <a:ext cx="64008" cy="7772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0" y="13258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($/) axis operator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0" y="158191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Descend into direct children matching the predicate. Composes naturally.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760720" y="2194560"/>
            <a:ext cx="29260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760720" y="2194560"/>
            <a:ext cx="64008" cy="7772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0" y="22402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element "name"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0" y="249631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Selects child elements by local name — the core traversal primitive.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760720" y="3108960"/>
            <a:ext cx="29260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760720" y="3108960"/>
            <a:ext cx="64008" cy="77724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0" y="31546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attribute "isbn"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0" y="341071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 named attribute from the current element cursor.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760720" y="4023360"/>
            <a:ext cx="29260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760720" y="4023360"/>
            <a:ext cx="64008" cy="7772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40690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(&gt;=&gt;)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943600" y="432511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Kleisli composition; chains steps e.g. find child, then read attribute.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Rendering Books to Markdown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4206240" cy="3657600"/>
          </a:xfrm>
          <a:prstGeom prst="rect">
            <a:avLst/>
          </a:prstGeom>
          <a:solidFill>
            <a:srgbClr val="0D1B2A"/>
          </a:solidFill>
          <a:ln w="12700">
            <a:solidFill>
              <a:srgbClr val="00B4D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023360" y="960120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00B4D8"/>
                </a:solidFill>
              </a:rPr>
              <a:t>Haskell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1115568"/>
            <a:ext cx="3931920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Render a single Author as inline Markdown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renderAuthor :: Author -&gt; String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renderAuthor a =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"- **[" ++ authorId a ++ "]** " ++ authorName a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Render one Book as a Markdown section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renderBook :: Book -&gt; String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renderBook b = unlines $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 "## " ++ title b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""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"| Field    | Value |"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"|----------|-------|"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"| ISBN     | `" ++ isbn b ++ "` |"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"| Year     | " ++ pubYear b ++ " |"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 ++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maybe [] (\s -&gt; ["| Subtitle | " ++ s ++ " |"]) (subtitle b) ++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 ""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"### Authors"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 ++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map renderAuthor (authors b)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892040" y="914400"/>
            <a:ext cx="3794760" cy="2377440"/>
          </a:xfrm>
          <a:prstGeom prst="rect">
            <a:avLst/>
          </a:prstGeom>
          <a:solidFill>
            <a:srgbClr val="0D1B2A"/>
          </a:solidFill>
          <a:ln w="12700">
            <a:solidFill>
              <a:srgbClr val="00B4D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046720" y="960120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00B4D8"/>
                </a:solidFill>
              </a:rPr>
              <a:t>Haskell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5029200" y="1115568"/>
            <a:ext cx="352044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Build a full catalogue.md document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renderCatalogue :: [Book] -&gt; String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renderCatalogue books = unlines $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 "# Book Catalogue"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show (length books)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++ " book(s) in collection."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, 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 ++ map renderBook books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Write Markdown to a file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writeCatalogue :: FilePath -&gt; [Book] -&gt; IO 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writeCatalogue path books =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writeFile path (renderCatalogue books)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892040" y="3429000"/>
            <a:ext cx="3794760" cy="1188720"/>
          </a:xfrm>
          <a:prstGeom prst="rect">
            <a:avLst/>
          </a:prstGeom>
          <a:solidFill>
            <a:srgbClr val="F8FFFC"/>
          </a:solidFill>
          <a:ln w="1270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92040" y="3429000"/>
            <a:ext cx="3794760" cy="228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02C39A"/>
                </a:solidFill>
              </a:rPr>
              <a:t>Sample Output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0" y="3675888"/>
            <a:ext cx="3566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2B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Haskell Programming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2B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ISBN | `978-1593272838` |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2B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Year | 2010 |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2B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Authors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2B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**[a1]** Bryan O'Sullivan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92040" y="4663440"/>
            <a:ext cx="3794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4A6580"/>
                </a:solidFill>
              </a:rPr>
              <a:t>Markdown preview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Wiring It All Together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5212080" cy="2926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0B4D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0" y="960120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00B4D8"/>
                </a:solidFill>
              </a:rPr>
              <a:t>Haskell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1115568"/>
            <a:ext cx="4937760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 Main where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Text.XML          (readFile, def)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Text.XML.Cursor   (fromDocument)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Prelude hiding    (readFile)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 :: IO ()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 = do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args &lt;- getArgs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case args of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[xmlPath, mdPath] -&gt; do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doc   &lt;- Text.XML.readFile def xmlPath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let books = parseCatalogue doc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putStrLn $ "Parsed " ++ show (length books) ++ " book(s)."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writeCatalogue mdPath books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putStrLn $ "Written to " ++ mdPath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_ -&gt;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putStrLn "Usage: parse-books &lt;input.xml&gt; &lt;output.md&gt;"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0" y="1005840"/>
            <a:ext cx="384048" cy="38404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0" y="1005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46520" y="98755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XML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46520" y="12344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Text.XML.readFile parses the file into a Document, throwing on malformed XML.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08192" y="1417320"/>
            <a:ext cx="54864" cy="3657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0" y="1965960"/>
            <a:ext cx="384048" cy="38404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46520" y="19476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2194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parseCatalogue walks the cursor tree and returns [Book].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08192" y="2377440"/>
            <a:ext cx="54864" cy="3657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0" y="2926080"/>
            <a:ext cx="384048" cy="38404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46520" y="290779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46520" y="31546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renderCatalogue converts [Book] → String of Markdown.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08192" y="3337560"/>
            <a:ext cx="54864" cy="3657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0" y="3886200"/>
            <a:ext cx="384048" cy="38404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46520" y="386791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46520" y="41148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writeFile saves the result to the output path.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3977640"/>
            <a:ext cx="521208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9776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stack run -- books.xml catalogue.md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Extension: One .md File per Book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82296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5029200" cy="3337560"/>
          </a:xfrm>
          <a:prstGeom prst="rect">
            <a:avLst/>
          </a:prstGeom>
          <a:solidFill>
            <a:srgbClr val="0D1B2A"/>
          </a:solidFill>
          <a:ln w="12700">
            <a:solidFill>
              <a:srgbClr val="00B4D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846320" y="960120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00B4D8"/>
                </a:solidFill>
              </a:rPr>
              <a:t>Haskell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1115568"/>
            <a:ext cx="4754880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System.Directory (createDirectoryIfMissing)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System.FilePath  ((&lt;/&gt;), (&lt;.&gt;))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Sanitise a title for use as a filename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safeFileName :: String -&gt; String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safeFileName = map (\c -&gt; if c `elem` " /\\:*?&lt;&gt;|" then '-' else c)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Write each book to its own Markdown file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writeBookFiles :: FilePath -&gt; [Book] -&gt; IO 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writeBookFiles dir books = do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createDirectoryIfMissing True dir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mapM_ (writeOne dir) books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writeOne :: FilePath -&gt; Book -&gt; IO 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writeOne dir b = do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let name    = safeFileName (title b) &lt;.&gt; "md"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outPath = dir &lt;/&gt; name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writeFile outPath (renderBook b)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F4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putStrLn $ "  Wrote: " ++ outPath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669280" y="9144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Functions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0" y="1325880"/>
            <a:ext cx="30175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669280" y="1325880"/>
            <a:ext cx="64008" cy="9144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createDirectoryIfMissing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52160" y="16733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the output directory (and parents) if it does not exist yet.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69280" y="2377440"/>
            <a:ext cx="30175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669280" y="2377440"/>
            <a:ext cx="64008" cy="9144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52160" y="2423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safeFileName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52160" y="272491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Strips characters that would be invalid in file paths across platforms.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0" y="3429000"/>
            <a:ext cx="30175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669280" y="3429000"/>
            <a:ext cx="64008" cy="9144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52160" y="3474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mapM_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852160" y="377647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idiomatic way to perform an IO action for each item in a list.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4389120"/>
            <a:ext cx="8229600" cy="502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43891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output/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Haskell-Programming.md   Real-World-Haskell.md   Learn-You-a-Haskell.md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" y="91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10058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" y="19202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" y="28346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" y="37490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" y="4663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91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560" y="10058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1560" y="19202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51560" y="28346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1560" y="37490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51560" y="4663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11680" y="91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11680" y="10058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11680" y="19202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11680" y="28346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11680" y="37490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11680" y="4663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1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71800" y="10058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19202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28346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37490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4663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31920" y="91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931920" y="10058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931920" y="19202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931920" y="28346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31920" y="37490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931920" y="4663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92040" y="91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92040" y="10058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92040" y="19202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92040" y="28346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92040" y="37490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92040" y="4663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852160" y="91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852160" y="10058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2160" y="19202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852160" y="28346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852160" y="37490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852160" y="4663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812280" y="91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812280" y="10058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812280" y="19202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812280" y="28346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812280" y="37490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812280" y="4663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772400" y="91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772400" y="10058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772400" y="19202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772400" y="28346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772400" y="37490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772400" y="4663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732520" y="91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732520" y="10058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732520" y="19202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732520" y="28346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732520" y="37490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732520" y="4663440"/>
            <a:ext cx="45720" cy="4572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3200" dirty="0"/>
          </a:p>
        </p:txBody>
      </p:sp>
      <p:sp>
        <p:nvSpPr>
          <p:cNvPr id="63" name="Shape 61"/>
          <p:cNvSpPr/>
          <p:nvPr/>
        </p:nvSpPr>
        <p:spPr>
          <a:xfrm>
            <a:off x="457200" y="822960"/>
            <a:ext cx="82296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57200" y="1051560"/>
            <a:ext cx="4023360" cy="1005840"/>
          </a:xfrm>
          <a:prstGeom prst="rect">
            <a:avLst/>
          </a:prstGeom>
          <a:solidFill>
            <a:srgbClr val="1A2B3C"/>
          </a:solidFill>
          <a:ln w="12700">
            <a:solidFill>
              <a:srgbClr val="00B4D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548640" y="109728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B4D8"/>
                </a:solidFill>
              </a:rPr>
              <a:t>①</a:t>
            </a:r>
            <a:endParaRPr lang="en-US" sz="2600" dirty="0"/>
          </a:p>
        </p:txBody>
      </p:sp>
      <p:sp>
        <p:nvSpPr>
          <p:cNvPr id="66" name="Text 64"/>
          <p:cNvSpPr/>
          <p:nvPr/>
        </p:nvSpPr>
        <p:spPr>
          <a:xfrm>
            <a:off x="1143000" y="118872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your domain types (Book, Author) before writing any parser.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846320" y="1051560"/>
            <a:ext cx="4023360" cy="1005840"/>
          </a:xfrm>
          <a:prstGeom prst="rect">
            <a:avLst/>
          </a:prstGeom>
          <a:solidFill>
            <a:srgbClr val="1A2B3C"/>
          </a:solidFill>
          <a:ln w="12700">
            <a:solidFill>
              <a:srgbClr val="00B4D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8" name="Text 66"/>
          <p:cNvSpPr/>
          <p:nvPr/>
        </p:nvSpPr>
        <p:spPr>
          <a:xfrm>
            <a:off x="4937760" y="109728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B4D8"/>
                </a:solidFill>
              </a:rPr>
              <a:t>②</a:t>
            </a:r>
            <a:endParaRPr lang="en-US" sz="2600" dirty="0"/>
          </a:p>
        </p:txBody>
      </p:sp>
      <p:sp>
        <p:nvSpPr>
          <p:cNvPr id="69" name="Text 67"/>
          <p:cNvSpPr/>
          <p:nvPr/>
        </p:nvSpPr>
        <p:spPr>
          <a:xfrm>
            <a:off x="5532120" y="118872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xml-conduit Cursors give you composable, type-safe XML traversal.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457200" y="2286000"/>
            <a:ext cx="4023360" cy="1005840"/>
          </a:xfrm>
          <a:prstGeom prst="rect">
            <a:avLst/>
          </a:prstGeom>
          <a:solidFill>
            <a:srgbClr val="1A2B3C"/>
          </a:solidFill>
          <a:ln w="12700">
            <a:solidFill>
              <a:srgbClr val="00B4D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1" name="Text 69"/>
          <p:cNvSpPr/>
          <p:nvPr/>
        </p:nvSpPr>
        <p:spPr>
          <a:xfrm>
            <a:off x="548640" y="233172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B4D8"/>
                </a:solidFill>
              </a:rPr>
              <a:t>③</a:t>
            </a:r>
            <a:endParaRPr lang="en-US" sz="2600" dirty="0"/>
          </a:p>
        </p:txBody>
      </p:sp>
      <p:sp>
        <p:nvSpPr>
          <p:cNvPr id="72" name="Text 70"/>
          <p:cNvSpPr/>
          <p:nvPr/>
        </p:nvSpPr>
        <p:spPr>
          <a:xfrm>
            <a:off x="1143000" y="242316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parsing from rendering — pure functions, easy to test.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4846320" y="2286000"/>
            <a:ext cx="4023360" cy="1005840"/>
          </a:xfrm>
          <a:prstGeom prst="rect">
            <a:avLst/>
          </a:prstGeom>
          <a:solidFill>
            <a:srgbClr val="1A2B3C"/>
          </a:solidFill>
          <a:ln w="12700">
            <a:solidFill>
              <a:srgbClr val="00B4D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4937760" y="233172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B4D8"/>
                </a:solidFill>
              </a:rPr>
              <a:t>④</a:t>
            </a:r>
            <a:endParaRPr lang="en-US" sz="2600" dirty="0"/>
          </a:p>
        </p:txBody>
      </p:sp>
      <p:sp>
        <p:nvSpPr>
          <p:cNvPr id="75" name="Text 73"/>
          <p:cNvSpPr/>
          <p:nvPr/>
        </p:nvSpPr>
        <p:spPr>
          <a:xfrm>
            <a:off x="5532120" y="242316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Maybe for optional fields; handle missing data at the type level.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457200" y="3520440"/>
            <a:ext cx="4023360" cy="1005840"/>
          </a:xfrm>
          <a:prstGeom prst="rect">
            <a:avLst/>
          </a:prstGeom>
          <a:solidFill>
            <a:srgbClr val="1A2B3C"/>
          </a:solidFill>
          <a:ln w="12700">
            <a:solidFill>
              <a:srgbClr val="00B4D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7" name="Text 75"/>
          <p:cNvSpPr/>
          <p:nvPr/>
        </p:nvSpPr>
        <p:spPr>
          <a:xfrm>
            <a:off x="548640" y="356616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B4D8"/>
                </a:solidFill>
              </a:rPr>
              <a:t>⑤</a:t>
            </a:r>
            <a:endParaRPr lang="en-US" sz="2600" dirty="0"/>
          </a:p>
        </p:txBody>
      </p:sp>
      <p:sp>
        <p:nvSpPr>
          <p:cNvPr id="78" name="Text 76"/>
          <p:cNvSpPr/>
          <p:nvPr/>
        </p:nvSpPr>
        <p:spPr>
          <a:xfrm>
            <a:off x="1143000" y="365760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mapM_ / mapM make it trivial to process every book in the catalogue.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4846320" y="3520440"/>
            <a:ext cx="4023360" cy="1005840"/>
          </a:xfrm>
          <a:prstGeom prst="rect">
            <a:avLst/>
          </a:prstGeom>
          <a:solidFill>
            <a:srgbClr val="1A2B3C"/>
          </a:solidFill>
          <a:ln w="12700">
            <a:solidFill>
              <a:srgbClr val="00B4D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4937760" y="356616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B4D8"/>
                </a:solidFill>
              </a:rPr>
              <a:t>⑥</a:t>
            </a:r>
            <a:endParaRPr lang="en-US" sz="2600" dirty="0"/>
          </a:p>
        </p:txBody>
      </p:sp>
      <p:sp>
        <p:nvSpPr>
          <p:cNvPr id="81" name="Text 79"/>
          <p:cNvSpPr/>
          <p:nvPr/>
        </p:nvSpPr>
        <p:spPr>
          <a:xfrm>
            <a:off x="5532120" y="365760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writeFile / createDirectoryIfMissing handle all file-system output.</a:t>
            </a:r>
            <a:endParaRPr lang="en-US" sz="1200" dirty="0"/>
          </a:p>
        </p:txBody>
      </p:sp>
      <p:sp>
        <p:nvSpPr>
          <p:cNvPr id="82" name="Text 80"/>
          <p:cNvSpPr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github.com/your-handle/booksxml  ·  Haskell xml-conduit docs: hackage.haskell.org/package/xml-conduit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XML to Markdown with xml-conduit</dc:title>
  <dc:subject>PptxGenJS Presentation</dc:subject>
  <dc:creator>Mairead</dc:creator>
  <cp:lastModifiedBy>Mairead</cp:lastModifiedBy>
  <cp:revision>1</cp:revision>
  <dcterms:created xsi:type="dcterms:W3CDTF">2026-03-27T10:12:01Z</dcterms:created>
  <dcterms:modified xsi:type="dcterms:W3CDTF">2026-03-27T10:12:01Z</dcterms:modified>
</cp:coreProperties>
</file>