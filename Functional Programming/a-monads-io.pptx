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4299" r:id="rId1"/>
  </p:sldMasterIdLst>
  <p:notesMasterIdLst>
    <p:notesMasterId r:id="rId33"/>
  </p:notesMasterIdLst>
  <p:handoutMasterIdLst>
    <p:handoutMasterId r:id="rId34"/>
  </p:handoutMasterIdLst>
  <p:sldIdLst>
    <p:sldId id="328" r:id="rId2"/>
    <p:sldId id="390" r:id="rId3"/>
    <p:sldId id="391" r:id="rId4"/>
    <p:sldId id="389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0" r:id="rId14"/>
    <p:sldId id="375" r:id="rId15"/>
    <p:sldId id="401" r:id="rId16"/>
    <p:sldId id="402" r:id="rId17"/>
    <p:sldId id="403" r:id="rId18"/>
    <p:sldId id="404" r:id="rId19"/>
    <p:sldId id="405" r:id="rId20"/>
    <p:sldId id="408" r:id="rId21"/>
    <p:sldId id="409" r:id="rId22"/>
    <p:sldId id="406" r:id="rId23"/>
    <p:sldId id="407" r:id="rId24"/>
    <p:sldId id="384" r:id="rId25"/>
    <p:sldId id="383" r:id="rId26"/>
    <p:sldId id="411" r:id="rId27"/>
    <p:sldId id="412" r:id="rId28"/>
    <p:sldId id="413" r:id="rId29"/>
    <p:sldId id="414" r:id="rId30"/>
    <p:sldId id="415" r:id="rId31"/>
    <p:sldId id="416" r:id="rId32"/>
  </p:sldIdLst>
  <p:sldSz cx="12192000" cy="6858000"/>
  <p:notesSz cx="7089775" cy="102187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8">
          <p15:clr>
            <a:srgbClr val="A4A3A4"/>
          </p15:clr>
        </p15:guide>
        <p15:guide id="2" pos="22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459"/>
    <p:restoredTop sz="91346"/>
  </p:normalViewPr>
  <p:slideViewPr>
    <p:cSldViewPr snapToGrid="0">
      <p:cViewPr varScale="1">
        <p:scale>
          <a:sx n="66" d="100"/>
          <a:sy n="66" d="100"/>
        </p:scale>
        <p:origin x="224" y="11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3360"/>
    </p:cViewPr>
  </p:sorterViewPr>
  <p:notesViewPr>
    <p:cSldViewPr snapToGrid="0">
      <p:cViewPr varScale="1">
        <p:scale>
          <a:sx n="52" d="100"/>
          <a:sy n="52" d="100"/>
        </p:scale>
        <p:origin x="-1866" y="-78"/>
      </p:cViewPr>
      <p:guideLst>
        <p:guide orient="horz" pos="3218"/>
        <p:guide pos="22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6069455A-69AD-B76C-28DD-EE2C04243FF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989013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6555D4FE-456F-CFAC-83E1-F30CE94396D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7963" y="0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989013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A2E920E5-3493-7246-61D5-B0D72A61B82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7563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989013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D776A930-9F5E-6A55-DDE9-F6B390F6399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7963" y="9707563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989013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F2FFC19B-7923-4441-BEA0-55B1C9DA85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5122">
            <a:extLst>
              <a:ext uri="{FF2B5EF4-FFF2-40B4-BE49-F238E27FC236}">
                <a16:creationId xmlns:a16="http://schemas.microsoft.com/office/drawing/2014/main" id="{E0B6F059-25B1-6680-DF78-4A8CCAED1C2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2163" name="Rectangle 5123">
            <a:extLst>
              <a:ext uri="{FF2B5EF4-FFF2-40B4-BE49-F238E27FC236}">
                <a16:creationId xmlns:a16="http://schemas.microsoft.com/office/drawing/2014/main" id="{3D0109B6-DE04-CB8F-D6D3-892800F80A3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8" name="Rectangle 5124">
            <a:extLst>
              <a:ext uri="{FF2B5EF4-FFF2-40B4-BE49-F238E27FC236}">
                <a16:creationId xmlns:a16="http://schemas.microsoft.com/office/drawing/2014/main" id="{BC61C446-29EC-1074-9F7D-48BA6447C28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95263" y="762000"/>
            <a:ext cx="6772275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165" name="Rectangle 5125">
            <a:extLst>
              <a:ext uri="{FF2B5EF4-FFF2-40B4-BE49-F238E27FC236}">
                <a16:creationId xmlns:a16="http://schemas.microsoft.com/office/drawing/2014/main" id="{416C0B38-15BF-368B-9EC4-4787E815AC0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5126">
            <a:extLst>
              <a:ext uri="{FF2B5EF4-FFF2-40B4-BE49-F238E27FC236}">
                <a16:creationId xmlns:a16="http://schemas.microsoft.com/office/drawing/2014/main" id="{0A3A53CE-7B07-8E12-3801-0BD8B92B5EA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2167" name="Rectangle 5127">
            <a:extLst>
              <a:ext uri="{FF2B5EF4-FFF2-40B4-BE49-F238E27FC236}">
                <a16:creationId xmlns:a16="http://schemas.microsoft.com/office/drawing/2014/main" id="{6B1CB3EA-FDA4-1416-AB0A-F4FC42CB33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F33ACC7-9D5C-574E-8DDC-58E3330852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7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11716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5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41"/>
            <a:ext cx="8144135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8A071C-7CBF-B943-827E-D1D0B8851AF7}" type="datetimeFigureOut">
              <a:rPr lang="en-US" smtClean="0"/>
              <a:pPr>
                <a:defRPr/>
              </a:pPr>
              <a:t>3/31/26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7" y="2750337"/>
            <a:ext cx="1171888" cy="1356442"/>
          </a:xfrm>
        </p:spPr>
        <p:txBody>
          <a:bodyPr/>
          <a:lstStyle/>
          <a:p>
            <a:pPr>
              <a:defRPr/>
            </a:pPr>
            <a:fld id="{7C93F7A7-7A99-9242-974D-539ACDFACED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847136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E0F32E-CE95-D14E-B25C-9491886AFABB}" type="datetimeFigureOut">
              <a:rPr lang="en-US" smtClean="0"/>
              <a:pPr>
                <a:defRPr/>
              </a:pPr>
              <a:t>3/31/26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7220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585826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3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149F6E-8873-C44F-9276-853DCBB4D783}" type="datetimeFigureOut">
              <a:rPr lang="en-US" smtClean="0"/>
              <a:pPr>
                <a:defRPr/>
              </a:pPr>
              <a:t>3/31/26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7" y="2869897"/>
            <a:ext cx="1154151" cy="1090789"/>
          </a:xfrm>
        </p:spPr>
        <p:txBody>
          <a:bodyPr/>
          <a:lstStyle/>
          <a:p>
            <a:pPr>
              <a:defRPr/>
            </a:pPr>
            <a:fld id="{AA1F8F63-00AE-7D4A-B052-3984B6AC762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2002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46983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D6653C-32A1-844D-A2AE-380E002D4E2F}" type="datetimeFigureOut">
              <a:rPr lang="en-US" smtClean="0"/>
              <a:pPr>
                <a:defRPr/>
              </a:pPr>
              <a:t>3/31/26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6F6D41-C9B0-554D-B7E9-E2C029A9056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2005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0" y="753231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1" y="2336875"/>
            <a:ext cx="4472327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3" y="3030010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4" y="3030010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E61581-1128-4A42-BA79-051D619ABDD9}" type="datetimeFigureOut">
              <a:rPr lang="en-US" smtClean="0"/>
              <a:pPr>
                <a:defRPr/>
              </a:pPr>
              <a:t>3/31/26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1F950C-F7C8-1D46-A400-662EB31D51A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6650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86CA17-14A4-DC42-B657-4EF08608BEFF}" type="datetimeFigureOut">
              <a:rPr lang="en-US" smtClean="0"/>
              <a:pPr>
                <a:defRPr/>
              </a:pPr>
              <a:t>3/31/26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67B2D9-430A-AF4D-A757-E186D446FA5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870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62963A-5387-7540-9489-6871CA4D412B}" type="datetimeFigureOut">
              <a:rPr lang="en-US" smtClean="0"/>
              <a:pPr>
                <a:defRPr/>
              </a:pPr>
              <a:t>3/31/26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BB1747-987C-FF4E-B016-100C52060B6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3591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7" y="2336875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4"/>
            <a:ext cx="379007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88FDAE-9199-2B45-BB21-116A06E10FB3}" type="datetimeFigureOut">
              <a:rPr lang="en-US" smtClean="0"/>
              <a:pPr>
                <a:defRPr/>
              </a:pPr>
              <a:t>3/31/26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13CEE-E17D-4D46-874A-5272FDCA697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5383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4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5"/>
            <a:ext cx="3876256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8C32F1-3472-E54D-B618-B5C4D1C39A8B}" type="datetimeFigureOut">
              <a:rPr lang="en-US" smtClean="0"/>
              <a:pPr>
                <a:defRPr/>
              </a:pPr>
              <a:t>3/31/26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87934F-D9EA-B141-9D34-23BC1FD77CF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397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8"/>
            <a:ext cx="9613859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9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5"/>
            <a:ext cx="9613863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472CA-22E3-2448-91C6-6784558DB7A0}" type="datetimeFigureOut">
              <a:rPr lang="en-US" smtClean="0"/>
              <a:pPr>
                <a:defRPr/>
              </a:pPr>
              <a:t>3/31/26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311"/>
            <a:ext cx="1154151" cy="1090789"/>
          </a:xfrm>
        </p:spPr>
        <p:txBody>
          <a:bodyPr/>
          <a:lstStyle/>
          <a:p>
            <a:pPr>
              <a:defRPr/>
            </a:pPr>
            <a:fld id="{AE11955C-9B72-E94B-8CA0-D4F41106C1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589750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7BFD4E8-9082-0F47-8521-EF9ED98DD025}" type="datetimeFigureOut">
              <a:rPr lang="en-US" smtClean="0"/>
              <a:pPr>
                <a:defRPr/>
              </a:pPr>
              <a:t>3/31/26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617"/>
            <a:ext cx="1154151" cy="1090789"/>
          </a:xfrm>
        </p:spPr>
        <p:txBody>
          <a:bodyPr/>
          <a:lstStyle/>
          <a:p>
            <a:pPr>
              <a:defRPr/>
            </a:pPr>
            <a:fld id="{7C4A921C-B5A2-1F4C-8772-F111FB15DE7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827596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F31DC-ECD2-144E-96D8-5AB4F1097806}" type="datetimeFigureOut">
              <a:rPr lang="en-US" smtClean="0"/>
              <a:pPr>
                <a:defRPr/>
              </a:pPr>
              <a:t>3/31/26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CA96A414-17EE-BB48-B3F4-37966D9CE34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938836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7"/>
            <a:ext cx="9613863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51"/>
            <a:ext cx="9613863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53997D-001A-A446-947E-495DE3DE6F4E}" type="datetimeFigureOut">
              <a:rPr lang="en-US" smtClean="0"/>
              <a:pPr>
                <a:defRPr/>
              </a:pPr>
              <a:t>3/31/26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4BED40C1-AFAE-0848-85B2-ED9EC050C7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381826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4"/>
            <a:ext cx="3049703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1" y="3022674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7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7" y="3022674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49C8FC-B45D-944F-AF3F-0E3D4FD5BE6F}" type="datetimeFigureOut">
              <a:rPr lang="en-US" smtClean="0"/>
              <a:pPr>
                <a:defRPr/>
              </a:pPr>
              <a:t>3/31/26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D60A0A-6515-734B-A7C2-4048036F956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045284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20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2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20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8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80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8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AB3B27-27FC-7A49-AB59-AF431E8AEC87}" type="datetimeFigureOut">
              <a:rPr lang="en-US" smtClean="0"/>
              <a:pPr>
                <a:defRPr/>
              </a:pPr>
              <a:t>3/31/26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75C5CB-C8A8-2449-AD19-8B0802F6E07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806398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42C0D6D-2C2C-6744-86E2-786537E07F00}" type="datetimeFigureOut">
              <a:rPr lang="en-US" smtClean="0"/>
              <a:pPr>
                <a:defRPr/>
              </a:pPr>
              <a:t>3/31/26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1C121-BD1B-9F48-B799-7EBACBC612E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51618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9868203" y="5372404"/>
            <a:ext cx="1602997" cy="1368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3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9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5" y="5936189"/>
            <a:ext cx="2743200" cy="365125"/>
          </a:xfrm>
        </p:spPr>
        <p:txBody>
          <a:bodyPr/>
          <a:lstStyle/>
          <a:p>
            <a:pPr>
              <a:defRPr/>
            </a:pPr>
            <a:fld id="{7AB7477D-2AFE-B14E-AED4-6BE841F2B247}" type="datetimeFigureOut">
              <a:rPr lang="en-US" smtClean="0"/>
              <a:pPr>
                <a:defRPr/>
              </a:pPr>
              <a:t>3/31/26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90"/>
            <a:ext cx="6126805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1" y="5398635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A1FD5FB0-5A17-8742-B185-C5466D325EC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6554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21A3C28-C226-D44F-9C82-0D3F3C052EE3}" type="datetimeFigureOut">
              <a:rPr lang="en-US" smtClean="0"/>
              <a:pPr>
                <a:defRPr/>
              </a:pPr>
              <a:t>3/31/26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2" y="5936190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7" y="753228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CBE0FA-37F9-1248-9D3E-76B79A45F26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7035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00" r:id="rId1"/>
    <p:sldLayoutId id="2147484301" r:id="rId2"/>
    <p:sldLayoutId id="2147484302" r:id="rId3"/>
    <p:sldLayoutId id="2147484303" r:id="rId4"/>
    <p:sldLayoutId id="2147484304" r:id="rId5"/>
    <p:sldLayoutId id="2147484305" r:id="rId6"/>
    <p:sldLayoutId id="2147484306" r:id="rId7"/>
    <p:sldLayoutId id="2147484307" r:id="rId8"/>
    <p:sldLayoutId id="2147484308" r:id="rId9"/>
    <p:sldLayoutId id="2147484309" r:id="rId10"/>
    <p:sldLayoutId id="2147484310" r:id="rId11"/>
    <p:sldLayoutId id="2147484311" r:id="rId12"/>
    <p:sldLayoutId id="2147484312" r:id="rId13"/>
    <p:sldLayoutId id="2147484313" r:id="rId14"/>
    <p:sldLayoutId id="2147484314" r:id="rId15"/>
    <p:sldLayoutId id="2147484315" r:id="rId16"/>
    <p:sldLayoutId id="2147484316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>
            <a:extLst>
              <a:ext uri="{FF2B5EF4-FFF2-40B4-BE49-F238E27FC236}">
                <a16:creationId xmlns:a16="http://schemas.microsoft.com/office/drawing/2014/main" id="{5FE8611F-C5E2-C51A-3E12-3469845FC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fld id="{17D5F683-A68F-A548-BE3D-6C3D8694E0E8}" type="slidenum">
              <a:rPr lang="en-US" sz="1050"/>
              <a:pPr>
                <a:defRPr/>
              </a:pPr>
              <a:t>0</a:t>
            </a:fld>
            <a:endParaRPr lang="en-US" sz="1050"/>
          </a:p>
        </p:txBody>
      </p:sp>
      <p:sp>
        <p:nvSpPr>
          <p:cNvPr id="3074" name="Text Box 2">
            <a:extLst>
              <a:ext uri="{FF2B5EF4-FFF2-40B4-BE49-F238E27FC236}">
                <a16:creationId xmlns:a16="http://schemas.microsoft.com/office/drawing/2014/main" id="{89345F94-1247-5048-3D0C-714A07945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4313" y="1608138"/>
            <a:ext cx="668337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eaLnBrk="1" hangingPunct="1"/>
            <a:r>
              <a:rPr lang="en-US" altLang="en-US" sz="2700" b="1">
                <a:solidFill>
                  <a:schemeClr val="tx2"/>
                </a:solidFill>
                <a:latin typeface="Arial Black" panose="020B0604020202020204" pitchFamily="34" charset="0"/>
                <a:ea typeface="MS PGothic" panose="020B0600070205080204" pitchFamily="34" charset="-128"/>
              </a:rPr>
              <a:t>PROGRAMMING IN HASKELL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18C107D-BBC4-BCB7-0B59-060837B13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763" y="4730750"/>
            <a:ext cx="6594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algn="ctr" eaLnBrk="1" hangingPunct="1"/>
            <a:r>
              <a:rPr kumimoji="1" lang="en-US" altLang="en-US" sz="2400">
                <a:latin typeface="Tahoma" panose="020B0604030504040204" pitchFamily="34" charset="0"/>
                <a:ea typeface="MS PGothic" panose="020B0600070205080204" pitchFamily="34" charset="-128"/>
              </a:rPr>
              <a:t>Topic 12.1 – Monads</a:t>
            </a:r>
          </a:p>
        </p:txBody>
      </p:sp>
      <p:pic>
        <p:nvPicPr>
          <p:cNvPr id="3076" name="Picture 5" descr="2000px-Haskell-Logo.png">
            <a:extLst>
              <a:ext uri="{FF2B5EF4-FFF2-40B4-BE49-F238E27FC236}">
                <a16:creationId xmlns:a16="http://schemas.microsoft.com/office/drawing/2014/main" id="{94FE481D-19BC-360B-38B3-DA53C2F77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788" y="2676525"/>
            <a:ext cx="2130425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1867A-0013-6160-A670-13A968F3D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on functor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435EE-2BFC-DF68-0A06-9E18D0C6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235078E4-C556-1B9A-F407-743029CB5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444" y="2224316"/>
            <a:ext cx="5962204" cy="93474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c</a:t>
            </a:r>
            <a:r>
              <a:rPr lang="en-US" sz="2400" dirty="0">
                <a:latin typeface="Lucida Sans Typewriter" charset="0"/>
                <a:cs typeface="+mn-cs"/>
              </a:rPr>
              <a:t>lass Functor f where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  fmap :: (a-&gt; b) -&gt; f a -&gt; f b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08586207-8D5F-39D4-7150-44D6121F2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444" y="3413538"/>
            <a:ext cx="5962204" cy="315073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latin typeface="Lucida Sans Typewriter" charset="0"/>
              </a:rPr>
              <a:t>f</a:t>
            </a:r>
            <a:r>
              <a:rPr lang="en-US" sz="2400" dirty="0">
                <a:latin typeface="Lucida Sans Typewriter" charset="0"/>
                <a:cs typeface="+mn-cs"/>
              </a:rPr>
              <a:t>map (+2) [1,2,3]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[3,4,5]</a:t>
            </a:r>
          </a:p>
          <a:p>
            <a:pPr marL="342900" indent="-342900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latin typeface="Lucida Sans Typewriter" charset="0"/>
              </a:rPr>
              <a:t>f</a:t>
            </a:r>
            <a:r>
              <a:rPr lang="en-US" sz="2400" dirty="0">
                <a:latin typeface="Lucida Sans Typewriter" charset="0"/>
                <a:cs typeface="+mn-cs"/>
              </a:rPr>
              <a:t>map (+2) (Just 1)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Just 2</a:t>
            </a:r>
            <a:endParaRPr lang="en-US" sz="2400" dirty="0">
              <a:latin typeface="Lucida Sans Typewriter" charset="0"/>
              <a:cs typeface="+mn-cs"/>
            </a:endParaRPr>
          </a:p>
          <a:p>
            <a:pPr marL="342900" indent="-342900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latin typeface="Lucida Sans Typewriter" charset="0"/>
              </a:rPr>
              <a:t>fmap (+2)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Nothing</a:t>
            </a:r>
          </a:p>
          <a:p>
            <a:pPr marL="342900" indent="-342900">
              <a:lnSpc>
                <a:spcPct val="120000"/>
              </a:lnSpc>
              <a:buFont typeface="Wingdings" pitchFamily="2" charset="2"/>
              <a:buChar char="Ø"/>
              <a:defRPr/>
            </a:pPr>
            <a:endParaRPr lang="en-US" sz="2400" dirty="0">
              <a:latin typeface="Lucida Sans Typewriter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337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A6FFA-09A7-B12B-49D5-430C704F0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on Applicative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B0B1D-BE33-27D7-C0AA-6B4F23E40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236455"/>
          </a:xfrm>
        </p:spPr>
        <p:txBody>
          <a:bodyPr/>
          <a:lstStyle/>
          <a:p>
            <a:r>
              <a:rPr lang="en-US" sz="2800" dirty="0">
                <a:latin typeface="+mj-lt"/>
              </a:rPr>
              <a:t>Generalise the idea of Functors to functions with more than one argument or parameter</a:t>
            </a:r>
          </a:p>
          <a:p>
            <a:r>
              <a:rPr lang="en-US" sz="2800" dirty="0">
                <a:latin typeface="+mj-lt"/>
              </a:rPr>
              <a:t>This gives rise to an Applicative Functor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38C42-9277-5582-95AE-1319DE727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33F03DD-3372-76DF-C750-4D762A667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7818" y="3977404"/>
            <a:ext cx="7194424" cy="137794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c</a:t>
            </a:r>
            <a:r>
              <a:rPr lang="en-US" sz="2400" dirty="0">
                <a:latin typeface="Lucida Sans Typewriter" charset="0"/>
                <a:cs typeface="+mn-cs"/>
              </a:rPr>
              <a:t>lass Functor f =&gt; Applicative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pure :: a -&gt; f a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  ( &lt;*&gt; ) :: f (a-&gt; b) -&gt; fa -&gt; fb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7C4F7-A703-7B6C-7004-A0EE6AE145AC}"/>
              </a:ext>
            </a:extLst>
          </p:cNvPr>
          <p:cNvSpPr txBox="1"/>
          <p:nvPr/>
        </p:nvSpPr>
        <p:spPr>
          <a:xfrm>
            <a:off x="1897818" y="6024565"/>
            <a:ext cx="1897811" cy="64633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 structure of functions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64C9E6-55A2-A7C1-F2C7-8DCAAC926789}"/>
              </a:ext>
            </a:extLst>
          </p:cNvPr>
          <p:cNvSpPr txBox="1"/>
          <p:nvPr/>
        </p:nvSpPr>
        <p:spPr>
          <a:xfrm>
            <a:off x="5361959" y="5914501"/>
            <a:ext cx="1544499" cy="923330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 structure of arguments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C20CB2-486E-16A3-E42C-924CC9995472}"/>
              </a:ext>
            </a:extLst>
          </p:cNvPr>
          <p:cNvSpPr txBox="1"/>
          <p:nvPr/>
        </p:nvSpPr>
        <p:spPr>
          <a:xfrm>
            <a:off x="8499099" y="5934670"/>
            <a:ext cx="1544499" cy="923330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 structure of results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CF6932E-087D-E6AC-3D74-635AB0343082}"/>
              </a:ext>
            </a:extLst>
          </p:cNvPr>
          <p:cNvCxnSpPr>
            <a:stCxn id="6" idx="0"/>
          </p:cNvCxnSpPr>
          <p:nvPr/>
        </p:nvCxnSpPr>
        <p:spPr>
          <a:xfrm flipV="1">
            <a:off x="2846724" y="5393354"/>
            <a:ext cx="2152075" cy="631211"/>
          </a:xfrm>
          <a:prstGeom prst="straightConnector1">
            <a:avLst/>
          </a:prstGeom>
          <a:ln w="412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CE44B9-4F3E-F965-514E-52B2ECF828EB}"/>
              </a:ext>
            </a:extLst>
          </p:cNvPr>
          <p:cNvCxnSpPr>
            <a:stCxn id="7" idx="0"/>
          </p:cNvCxnSpPr>
          <p:nvPr/>
        </p:nvCxnSpPr>
        <p:spPr>
          <a:xfrm flipV="1">
            <a:off x="6134209" y="5393354"/>
            <a:ext cx="727895" cy="521147"/>
          </a:xfrm>
          <a:prstGeom prst="straightConnector1">
            <a:avLst/>
          </a:prstGeom>
          <a:ln w="317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BB20235-C0E7-0696-3BB6-C9A0C0ED8F17}"/>
              </a:ext>
            </a:extLst>
          </p:cNvPr>
          <p:cNvCxnSpPr>
            <a:cxnSpLocks/>
          </p:cNvCxnSpPr>
          <p:nvPr/>
        </p:nvCxnSpPr>
        <p:spPr>
          <a:xfrm flipH="1" flipV="1">
            <a:off x="8151549" y="5393354"/>
            <a:ext cx="1124313" cy="518709"/>
          </a:xfrm>
          <a:prstGeom prst="straightConnector1">
            <a:avLst/>
          </a:prstGeom>
          <a:ln w="317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745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9E3B75-A539-F836-DE70-1BB328664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BFE9FD-10C5-A202-FA1E-B04DCC47A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BB1747-987C-FF4E-B016-100C52060B68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DB800B7-A9C5-24EF-77EB-FB2949906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651" y="3077671"/>
            <a:ext cx="7530601" cy="18211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latin typeface="Lucida Sans Typewriter" charset="0"/>
              </a:rPr>
              <a:t>pure (+) &lt;*&gt; Just 1 &lt;*&gt; Just 2</a:t>
            </a:r>
            <a:endParaRPr lang="en-US" sz="2400" dirty="0">
              <a:latin typeface="Lucida Sans Typewriter" charset="0"/>
              <a:cs typeface="+mn-cs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Just 3</a:t>
            </a:r>
          </a:p>
          <a:p>
            <a:pPr marL="342900" indent="-342900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latin typeface="Lucida Sans Typewriter" charset="0"/>
              </a:rPr>
              <a:t>pure (+) &lt;*&gt; Nothing &lt;*&gt; Just 2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Nothing</a:t>
            </a:r>
            <a:endParaRPr lang="en-US" sz="2400" dirty="0">
              <a:latin typeface="Lucida Sans Typewriter" charset="0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F53E41-F299-2511-FD2D-AE8C0EEDDA68}"/>
              </a:ext>
            </a:extLst>
          </p:cNvPr>
          <p:cNvSpPr txBox="1"/>
          <p:nvPr/>
        </p:nvSpPr>
        <p:spPr>
          <a:xfrm>
            <a:off x="1630651" y="5555411"/>
            <a:ext cx="7739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Applicative handles Errors (Nothing) correctly. </a:t>
            </a:r>
          </a:p>
        </p:txBody>
      </p:sp>
    </p:spTree>
    <p:extLst>
      <p:ext uri="{BB962C8B-B14F-4D97-AF65-F5344CB8AC3E}">
        <p14:creationId xmlns:p14="http://schemas.microsoft.com/office/powerpoint/2010/main" val="3133533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D45A3-159F-0471-BA35-EABABEDC7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Introduce Monads – Example a simple evaluator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F4712-F746-3A87-1363-0D0D5C2AC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7DFF9401-8F6A-A518-2444-2E6224199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651" y="3077671"/>
            <a:ext cx="7530601" cy="18211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data Expr = Val Int | Div Expr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e.g.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e:: Expr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</a:t>
            </a:r>
            <a:r>
              <a:rPr lang="en-US" sz="2400" dirty="0">
                <a:latin typeface="Lucida Sans Typewriter" charset="0"/>
                <a:cs typeface="+mn-cs"/>
              </a:rPr>
              <a:t> = Div (Val 6) (Val 3) </a:t>
            </a:r>
          </a:p>
        </p:txBody>
      </p:sp>
    </p:spTree>
    <p:extLst>
      <p:ext uri="{BB962C8B-B14F-4D97-AF65-F5344CB8AC3E}">
        <p14:creationId xmlns:p14="http://schemas.microsoft.com/office/powerpoint/2010/main" val="304032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E7ECF-C165-EBF2-F149-4BF257B4D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05BE0-40CA-66CF-C9F7-E036B9666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4B24C613-162E-0A25-E95C-E121920CD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651" y="3077671"/>
            <a:ext cx="7530601" cy="18211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:: Expr -&gt; Maybe Int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(Val n) = n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(Div  x y ) = eval x `div` eval 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D2CCF5-5DE0-B161-5003-39D6ECAD6A84}"/>
              </a:ext>
            </a:extLst>
          </p:cNvPr>
          <p:cNvSpPr txBox="1"/>
          <p:nvPr/>
        </p:nvSpPr>
        <p:spPr>
          <a:xfrm>
            <a:off x="1117365" y="5581552"/>
            <a:ext cx="10766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Problem – how do we deal with division by zero (this would crash)</a:t>
            </a:r>
          </a:p>
        </p:txBody>
      </p:sp>
    </p:spTree>
    <p:extLst>
      <p:ext uri="{BB962C8B-B14F-4D97-AF65-F5344CB8AC3E}">
        <p14:creationId xmlns:p14="http://schemas.microsoft.com/office/powerpoint/2010/main" val="93783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680E-4622-CED4-CF7A-1F021EA70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to refine program to deal with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11BD4-D0E2-E51D-E3EB-DF4F5B60B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How to capture failure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3079F-FD54-A8E4-ADC5-EFDC75BBC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03230E55-17F5-F925-5259-EF3958BD1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651" y="3077671"/>
            <a:ext cx="7530601" cy="18211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safeDiv :: Int -&gt; Int -&gt; Maybe Int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safeDiv _ 0   = Nothing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safeDiv n m   = Just (n `div` n) </a:t>
            </a:r>
          </a:p>
        </p:txBody>
      </p:sp>
    </p:spTree>
    <p:extLst>
      <p:ext uri="{BB962C8B-B14F-4D97-AF65-F5344CB8AC3E}">
        <p14:creationId xmlns:p14="http://schemas.microsoft.com/office/powerpoint/2010/main" val="241313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42E54-EB03-8A5E-2193-FB4A5B4F6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Now, rewrite eval to use safeDiv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CC8C1-13CE-DBB8-F71B-624715A81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5E29C75-0DC5-F846-CE02-997AAC710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651" y="2191275"/>
            <a:ext cx="8375991" cy="359393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eval:: Expr -&gt; Maybe Int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(Val n) = Just n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(Div x y) = case eval x of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	Nothing -&gt;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	Just n -&gt; case eval y of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			Nothing -&gt; Nothing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			Just m -&gt; safeDiv n 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C77F1-58D7-E77D-2DD7-93641963373E}"/>
              </a:ext>
            </a:extLst>
          </p:cNvPr>
          <p:cNvSpPr txBox="1"/>
          <p:nvPr/>
        </p:nvSpPr>
        <p:spPr>
          <a:xfrm>
            <a:off x="2639683" y="6142317"/>
            <a:ext cx="5279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Can we simplify?</a:t>
            </a:r>
          </a:p>
        </p:txBody>
      </p:sp>
    </p:spTree>
    <p:extLst>
      <p:ext uri="{BB962C8B-B14F-4D97-AF65-F5344CB8AC3E}">
        <p14:creationId xmlns:p14="http://schemas.microsoft.com/office/powerpoint/2010/main" val="277923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FD604-02C3-7E10-0EBC-9DC3AA330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Applicative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A4371-CCCB-D52E-6F30-9A60E36B6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A459A2A7-FF90-BCAE-3382-11CC2C036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824" y="3397235"/>
            <a:ext cx="10411825" cy="18211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eval:: Expr -&gt; Maybe Int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(Val n) = pure n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(Div x y) = pure safeDiv &lt;*&gt; eval x &lt;*&gt; eval 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E7185F-C3CA-F9B8-38D5-865B5A7BCB1F}"/>
              </a:ext>
            </a:extLst>
          </p:cNvPr>
          <p:cNvSpPr txBox="1"/>
          <p:nvPr/>
        </p:nvSpPr>
        <p:spPr>
          <a:xfrm>
            <a:off x="7410335" y="5920106"/>
            <a:ext cx="1280381" cy="36933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Maybe Int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490C0B-F4E1-2608-9CAE-1E9564C5E46C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8050526" y="5218375"/>
            <a:ext cx="0" cy="701731"/>
          </a:xfrm>
          <a:prstGeom prst="straightConnector1">
            <a:avLst/>
          </a:prstGeom>
          <a:ln w="317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126F7ED-A254-A86D-E244-FAE172814752}"/>
              </a:ext>
            </a:extLst>
          </p:cNvPr>
          <p:cNvSpPr txBox="1"/>
          <p:nvPr/>
        </p:nvSpPr>
        <p:spPr>
          <a:xfrm>
            <a:off x="9381618" y="5905238"/>
            <a:ext cx="1280381" cy="36933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Maybe Int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BB2A32-4395-E9AD-A9C1-F21546BCC078}"/>
              </a:ext>
            </a:extLst>
          </p:cNvPr>
          <p:cNvCxnSpPr>
            <a:cxnSpLocks/>
          </p:cNvCxnSpPr>
          <p:nvPr/>
        </p:nvCxnSpPr>
        <p:spPr>
          <a:xfrm flipV="1">
            <a:off x="10001931" y="5218375"/>
            <a:ext cx="0" cy="701731"/>
          </a:xfrm>
          <a:prstGeom prst="straightConnector1">
            <a:avLst/>
          </a:prstGeom>
          <a:ln w="317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5499C56-7C33-CB73-69DD-41CB8B97BD08}"/>
              </a:ext>
            </a:extLst>
          </p:cNvPr>
          <p:cNvSpPr txBox="1"/>
          <p:nvPr/>
        </p:nvSpPr>
        <p:spPr>
          <a:xfrm>
            <a:off x="2654709" y="5829814"/>
            <a:ext cx="3905932" cy="36933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Applicative needs Int -&gt; Int -&gt; Int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E7DB1F-F559-4096-8DA2-9CDAEEF39FC5}"/>
              </a:ext>
            </a:extLst>
          </p:cNvPr>
          <p:cNvSpPr txBox="1"/>
          <p:nvPr/>
        </p:nvSpPr>
        <p:spPr>
          <a:xfrm>
            <a:off x="2464804" y="6289438"/>
            <a:ext cx="3905932" cy="36933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But we have Int -&gt; Int -&gt; Maybe Int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9C7E2E-152A-719D-E04D-B978DB62BB04}"/>
              </a:ext>
            </a:extLst>
          </p:cNvPr>
          <p:cNvCxnSpPr>
            <a:cxnSpLocks/>
          </p:cNvCxnSpPr>
          <p:nvPr/>
        </p:nvCxnSpPr>
        <p:spPr>
          <a:xfrm flipV="1">
            <a:off x="4978482" y="5218375"/>
            <a:ext cx="645941" cy="611439"/>
          </a:xfrm>
          <a:prstGeom prst="straightConnector1">
            <a:avLst/>
          </a:prstGeom>
          <a:ln w="317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83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F13D1-AB5F-920C-C6CC-15DC3A47C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Monads – observe a common pattern and abstracting it out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4C2B5-FDD0-084C-3E28-0D42DD2EA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D1C1FA20-E731-D1FB-02E4-7318136FD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9255" y="2510839"/>
            <a:ext cx="8375991" cy="359393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eval:: Expr -&gt; Maybe Int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(Val n) = Just n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(Div x y) = case eval x of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	Nothing -&gt;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	Just n -&gt; case eval y of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			Nothing -&gt; Nothing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			Just m -&gt; safeDiv n m</a:t>
            </a: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399AE3D3-36B2-FC20-1A37-DAECAF7AA9B3}"/>
              </a:ext>
            </a:extLst>
          </p:cNvPr>
          <p:cNvSpPr/>
          <p:nvPr/>
        </p:nvSpPr>
        <p:spPr>
          <a:xfrm>
            <a:off x="5262113" y="3812875"/>
            <a:ext cx="1449238" cy="603850"/>
          </a:xfrm>
          <a:prstGeom prst="fram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6EA23670-6E92-B637-CD81-C2AECE9F94F6}"/>
              </a:ext>
            </a:extLst>
          </p:cNvPr>
          <p:cNvSpPr/>
          <p:nvPr/>
        </p:nvSpPr>
        <p:spPr>
          <a:xfrm>
            <a:off x="7191555" y="4741652"/>
            <a:ext cx="1449238" cy="603850"/>
          </a:xfrm>
          <a:prstGeom prst="fram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002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1E91C-67C0-E7C2-F48F-A9B83248C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pattern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16B10-E3ED-9286-2AFD-2454386A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DDA3267E-411A-B041-8610-EECC82246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9254" y="3324713"/>
            <a:ext cx="8375991" cy="22643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case of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Nothing -&gt;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Just x -&gt;</a:t>
            </a: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45C1EC-DAFA-082E-1B5C-7FD021BDD781}"/>
              </a:ext>
            </a:extLst>
          </p:cNvPr>
          <p:cNvSpPr/>
          <p:nvPr/>
        </p:nvSpPr>
        <p:spPr>
          <a:xfrm>
            <a:off x="2792083" y="3659544"/>
            <a:ext cx="1276709" cy="56934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33527A-2F54-E1B0-2C76-2C124BCEB029}"/>
              </a:ext>
            </a:extLst>
          </p:cNvPr>
          <p:cNvSpPr/>
          <p:nvPr/>
        </p:nvSpPr>
        <p:spPr>
          <a:xfrm>
            <a:off x="5121213" y="4636071"/>
            <a:ext cx="1276709" cy="56934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A9A158-E4C0-4FC6-F94B-079769940985}"/>
              </a:ext>
            </a:extLst>
          </p:cNvPr>
          <p:cNvSpPr/>
          <p:nvPr/>
        </p:nvSpPr>
        <p:spPr>
          <a:xfrm>
            <a:off x="3882736" y="2348186"/>
            <a:ext cx="1604514" cy="79733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Maybe (monadic)  value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07C811-378B-32BE-C1D2-D45D5C2E1520}"/>
              </a:ext>
            </a:extLst>
          </p:cNvPr>
          <p:cNvSpPr/>
          <p:nvPr/>
        </p:nvSpPr>
        <p:spPr>
          <a:xfrm>
            <a:off x="6878127" y="5663460"/>
            <a:ext cx="1627518" cy="88262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Some function on x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AE53CE-AE93-8D0A-F08A-C6D1942702CE}"/>
              </a:ext>
            </a:extLst>
          </p:cNvPr>
          <p:cNvCxnSpPr>
            <a:stCxn id="8" idx="2"/>
            <a:endCxn id="6" idx="0"/>
          </p:cNvCxnSpPr>
          <p:nvPr/>
        </p:nvCxnSpPr>
        <p:spPr>
          <a:xfrm flipH="1">
            <a:off x="3430438" y="3145524"/>
            <a:ext cx="1254555" cy="514020"/>
          </a:xfrm>
          <a:prstGeom prst="straightConnector1">
            <a:avLst/>
          </a:prstGeom>
          <a:ln w="444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236E1AA-A97D-0893-A8F4-24629C1C34B3}"/>
              </a:ext>
            </a:extLst>
          </p:cNvPr>
          <p:cNvCxnSpPr>
            <a:cxnSpLocks/>
          </p:cNvCxnSpPr>
          <p:nvPr/>
        </p:nvCxnSpPr>
        <p:spPr>
          <a:xfrm flipH="1" flipV="1">
            <a:off x="5759568" y="5115335"/>
            <a:ext cx="1932318" cy="548125"/>
          </a:xfrm>
          <a:prstGeom prst="straightConnector1">
            <a:avLst/>
          </a:prstGeom>
          <a:ln w="444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66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36A2D-78BD-2472-70C0-52A4F73BF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52BF9-D2EA-D5C3-442F-1928F6959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pattern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C7BBA-5A79-D23C-49E3-E05BFD8E5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5F66E1E-1608-8404-7AE8-081484AA9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9256" y="3175636"/>
            <a:ext cx="6153968" cy="22643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case mx of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Nothing -&gt;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Just x -&gt;  f x</a:t>
            </a: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253372-C4BD-0308-91BB-FAC6F245F200}"/>
              </a:ext>
            </a:extLst>
          </p:cNvPr>
          <p:cNvSpPr txBox="1"/>
          <p:nvPr/>
        </p:nvSpPr>
        <p:spPr>
          <a:xfrm>
            <a:off x="7211683" y="5848709"/>
            <a:ext cx="2264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want to turn this into a definition.</a:t>
            </a:r>
          </a:p>
        </p:txBody>
      </p:sp>
    </p:spTree>
    <p:extLst>
      <p:ext uri="{BB962C8B-B14F-4D97-AF65-F5344CB8AC3E}">
        <p14:creationId xmlns:p14="http://schemas.microsoft.com/office/powerpoint/2010/main" val="3162599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8E367-ED78-47A2-68A9-E9C8CF044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1E5E9-44ED-3598-2234-BB5A7F0C5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pattern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7E9A3-B75F-DC81-A6FD-3EFEAF870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D89A88EF-484B-6252-8475-828E7795F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834" y="2338334"/>
            <a:ext cx="2513618" cy="7351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1200" dirty="0">
                <a:latin typeface="Lucida Sans Typewriter" charset="0"/>
              </a:rPr>
              <a:t>case mx of </a:t>
            </a:r>
          </a:p>
          <a:p>
            <a:pPr>
              <a:lnSpc>
                <a:spcPct val="120000"/>
              </a:lnSpc>
              <a:defRPr/>
            </a:pPr>
            <a:r>
              <a:rPr lang="en-US" sz="1200" dirty="0">
                <a:latin typeface="Lucida Sans Typewriter" charset="0"/>
              </a:rPr>
              <a:t>	Nothing -&gt;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1200" dirty="0">
                <a:latin typeface="Lucida Sans Typewriter" charset="0"/>
              </a:rPr>
              <a:t>	Just x -&gt;  f 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0F1DCB-C416-C40F-D5A2-C19796A1175F}"/>
              </a:ext>
            </a:extLst>
          </p:cNvPr>
          <p:cNvSpPr txBox="1"/>
          <p:nvPr/>
        </p:nvSpPr>
        <p:spPr>
          <a:xfrm>
            <a:off x="495693" y="3784529"/>
            <a:ext cx="2264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want to turn this into a definition.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CF9CA887-4ED3-BD40-63F4-1030A3A98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5489" y="2463242"/>
            <a:ext cx="6153968" cy="226433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mx &gt;&gt;= f = case mx of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Nothing -&gt;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Just x -&gt;  f x</a:t>
            </a: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8AB1BCB5-A689-25F5-F3BB-672970E4F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6628" y="5170778"/>
            <a:ext cx="8483099" cy="137794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“into”     “bind”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(&gt;&gt;=) :: Maybe a -&gt; (a-&gt; Maybe b) -&gt; Maybe b</a:t>
            </a: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437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1">
            <a:extLst>
              <a:ext uri="{FF2B5EF4-FFF2-40B4-BE49-F238E27FC236}">
                <a16:creationId xmlns:a16="http://schemas.microsoft.com/office/drawing/2014/main" id="{AC943F2C-5A0E-6AC4-8203-B4898B4044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 sz="3600" b="1"/>
              <a:t>&gt;&gt;=</a:t>
            </a:r>
            <a:endParaRPr lang="en-US" altLang="en-US" sz="3600" b="1"/>
          </a:p>
        </p:txBody>
      </p:sp>
      <p:sp>
        <p:nvSpPr>
          <p:cNvPr id="7170" name="Slide Number Placeholder 1">
            <a:extLst>
              <a:ext uri="{FF2B5EF4-FFF2-40B4-BE49-F238E27FC236}">
                <a16:creationId xmlns:a16="http://schemas.microsoft.com/office/drawing/2014/main" id="{0608DCFA-09E2-2BB7-9D74-A9C1F164FB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EE47C76-2410-5542-82B1-EEA64A49EA89}" type="slidenum"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 sz="1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E101CA77-0D67-C400-63F4-DF7EB24F8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163" y="2295525"/>
            <a:ext cx="54737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63D38-FB1D-6753-8924-DEBED0C8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evaluation function using &gt;&gt;=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7209F-6AE9-B5BE-3079-F9746FB72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A2E6DF5-ADDC-8B45-F285-283DF37AA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669" y="3111336"/>
            <a:ext cx="7302304" cy="27075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:: Expr -&gt; Maybe Int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(Val n) 	= Just n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(Div x y) = eval x &gt;&gt;= (\n -&gt;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  eval y &gt;&gt;= (\m -&gt;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  safeDiv n m)		)	</a:t>
            </a:r>
          </a:p>
        </p:txBody>
      </p:sp>
    </p:spTree>
    <p:extLst>
      <p:ext uri="{BB962C8B-B14F-4D97-AF65-F5344CB8AC3E}">
        <p14:creationId xmlns:p14="http://schemas.microsoft.com/office/powerpoint/2010/main" val="1897039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C9F0E-119B-F0E6-788D-A4277CD39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4E674-4FA9-6C34-638C-B9492B4C0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pattern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2F2E1-3009-73C3-B113-BCB52A0E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8DE61051-8FC1-D772-90D2-362EA0BC8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856" y="2510839"/>
            <a:ext cx="4006331" cy="359393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m</a:t>
            </a:r>
            <a:r>
              <a:rPr lang="en-US" sz="2400" baseline="-25000" dirty="0">
                <a:latin typeface="Lucida Sans Typewriter" charset="0"/>
              </a:rPr>
              <a:t>1</a:t>
            </a:r>
            <a:r>
              <a:rPr lang="en-US" sz="2400" dirty="0">
                <a:latin typeface="Lucida Sans Typewriter" charset="0"/>
              </a:rPr>
              <a:t> &gt;&gt;= \x</a:t>
            </a:r>
            <a:r>
              <a:rPr lang="en-US" sz="2400" baseline="-25000" dirty="0">
                <a:latin typeface="Lucida Sans Typewriter" charset="0"/>
              </a:rPr>
              <a:t>1</a:t>
            </a:r>
            <a:r>
              <a:rPr lang="en-US" sz="2400" dirty="0">
                <a:latin typeface="Lucida Sans Typewriter" charset="0"/>
              </a:rPr>
              <a:t> -&gt;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m</a:t>
            </a:r>
            <a:r>
              <a:rPr lang="en-US" sz="2400" baseline="-25000" dirty="0">
                <a:latin typeface="Lucida Sans Typewriter" charset="0"/>
              </a:rPr>
              <a:t>2 </a:t>
            </a:r>
            <a:r>
              <a:rPr lang="en-US" sz="2400" dirty="0">
                <a:latin typeface="Lucida Sans Typewriter" charset="0"/>
              </a:rPr>
              <a:t>&gt;&gt;= \x</a:t>
            </a:r>
            <a:r>
              <a:rPr lang="en-US" sz="2400" baseline="-25000" dirty="0">
                <a:latin typeface="Lucida Sans Typewriter" charset="0"/>
              </a:rPr>
              <a:t>2</a:t>
            </a:r>
            <a:r>
              <a:rPr lang="en-US" sz="2400" dirty="0">
                <a:latin typeface="Lucida Sans Typewriter" charset="0"/>
              </a:rPr>
              <a:t> -&gt;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m</a:t>
            </a:r>
            <a:r>
              <a:rPr lang="en-US" sz="2400" baseline="-25000" dirty="0">
                <a:latin typeface="Lucida Sans Typewriter" charset="0"/>
              </a:rPr>
              <a:t>3</a:t>
            </a:r>
            <a:r>
              <a:rPr lang="en-US" sz="2400" dirty="0">
                <a:latin typeface="Lucida Sans Typewriter" charset="0"/>
              </a:rPr>
              <a:t> &gt;&gt;= \x</a:t>
            </a:r>
            <a:r>
              <a:rPr lang="en-US" sz="2400" baseline="-25000" dirty="0">
                <a:latin typeface="Lucida Sans Typewriter" charset="0"/>
              </a:rPr>
              <a:t>3</a:t>
            </a:r>
            <a:r>
              <a:rPr lang="en-US" sz="2400" dirty="0">
                <a:latin typeface="Lucida Sans Typewriter" charset="0"/>
              </a:rPr>
              <a:t> -&gt;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: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: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 err="1">
                <a:latin typeface="Lucida Sans Typewriter" charset="0"/>
              </a:rPr>
              <a:t>m</a:t>
            </a:r>
            <a:r>
              <a:rPr lang="en-US" sz="2400" baseline="-25000" dirty="0" err="1">
                <a:latin typeface="Lucida Sans Typewriter" charset="0"/>
              </a:rPr>
              <a:t>n</a:t>
            </a:r>
            <a:r>
              <a:rPr lang="en-US" sz="2400" dirty="0">
                <a:latin typeface="Lucida Sans Typewriter" charset="0"/>
              </a:rPr>
              <a:t> &gt;&gt;= \</a:t>
            </a:r>
            <a:r>
              <a:rPr lang="en-US" sz="2400" dirty="0" err="1">
                <a:latin typeface="Lucida Sans Typewriter" charset="0"/>
              </a:rPr>
              <a:t>x</a:t>
            </a:r>
            <a:r>
              <a:rPr lang="en-US" sz="2400" baseline="-25000" dirty="0" err="1">
                <a:latin typeface="Lucida Sans Typewriter" charset="0"/>
              </a:rPr>
              <a:t>n</a:t>
            </a:r>
            <a:r>
              <a:rPr lang="en-US" sz="2400" dirty="0">
                <a:latin typeface="Lucida Sans Typewriter" charset="0"/>
              </a:rPr>
              <a:t> -&gt;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f x</a:t>
            </a:r>
            <a:r>
              <a:rPr lang="en-US" sz="2400" baseline="-25000" dirty="0">
                <a:latin typeface="Lucida Sans Typewriter" charset="0"/>
              </a:rPr>
              <a:t>1</a:t>
            </a:r>
            <a:r>
              <a:rPr lang="en-US" sz="2400" dirty="0">
                <a:latin typeface="Lucida Sans Typewriter" charset="0"/>
              </a:rPr>
              <a:t> x</a:t>
            </a:r>
            <a:r>
              <a:rPr lang="en-US" sz="2400" baseline="-25000" dirty="0">
                <a:latin typeface="Lucida Sans Typewriter" charset="0"/>
              </a:rPr>
              <a:t>2</a:t>
            </a:r>
            <a:r>
              <a:rPr lang="en-US" sz="2400" dirty="0">
                <a:latin typeface="Lucida Sans Typewriter" charset="0"/>
              </a:rPr>
              <a:t>   .. </a:t>
            </a:r>
            <a:r>
              <a:rPr lang="en-US" sz="2400" dirty="0" err="1">
                <a:latin typeface="Lucida Sans Typewriter" charset="0"/>
              </a:rPr>
              <a:t>x</a:t>
            </a:r>
            <a:r>
              <a:rPr lang="en-US" sz="2400" baseline="-25000" dirty="0" err="1">
                <a:latin typeface="Lucida Sans Typewriter" charset="0"/>
              </a:rPr>
              <a:t>n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681AEAF5-BD58-EAD5-AAD8-181D2A9E4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9602" y="2510840"/>
            <a:ext cx="4006331" cy="3593933"/>
          </a:xfrm>
          <a:prstGeom prst="rect">
            <a:avLst/>
          </a:prstGeom>
          <a:solidFill>
            <a:schemeClr val="accent4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“This is what we use”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do x</a:t>
            </a:r>
            <a:r>
              <a:rPr lang="en-US" sz="2400" baseline="-25000" dirty="0">
                <a:latin typeface="Lucida Sans Typewriter" charset="0"/>
              </a:rPr>
              <a:t>1 </a:t>
            </a:r>
            <a:r>
              <a:rPr lang="en-US" sz="2400" dirty="0">
                <a:latin typeface="Lucida Sans Typewriter" charset="0"/>
              </a:rPr>
              <a:t> &lt;- m</a:t>
            </a:r>
            <a:r>
              <a:rPr lang="en-US" sz="2400" baseline="-25000" dirty="0">
                <a:latin typeface="Lucida Sans Typewriter" charset="0"/>
              </a:rPr>
              <a:t>1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x</a:t>
            </a:r>
            <a:r>
              <a:rPr lang="en-US" sz="2400" baseline="-25000" dirty="0">
                <a:latin typeface="Lucida Sans Typewriter" charset="0"/>
              </a:rPr>
              <a:t>2</a:t>
            </a:r>
            <a:r>
              <a:rPr lang="en-US" sz="2400" dirty="0">
                <a:latin typeface="Lucida Sans Typewriter" charset="0"/>
              </a:rPr>
              <a:t>  &lt;- m</a:t>
            </a:r>
            <a:r>
              <a:rPr lang="en-US" sz="2400" baseline="-25000" dirty="0">
                <a:latin typeface="Lucida Sans Typewriter" charset="0"/>
              </a:rPr>
              <a:t>2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x</a:t>
            </a:r>
            <a:r>
              <a:rPr lang="en-US" sz="2400" baseline="-25000" dirty="0">
                <a:latin typeface="Lucida Sans Typewriter" charset="0"/>
              </a:rPr>
              <a:t>3</a:t>
            </a:r>
            <a:r>
              <a:rPr lang="en-US" sz="2400" dirty="0">
                <a:latin typeface="Lucida Sans Typewriter" charset="0"/>
              </a:rPr>
              <a:t>  &lt;- m</a:t>
            </a:r>
            <a:r>
              <a:rPr lang="en-US" sz="2400" baseline="-25000" dirty="0">
                <a:latin typeface="Lucida Sans Typewriter" charset="0"/>
              </a:rPr>
              <a:t>3</a:t>
            </a: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</a:t>
            </a:r>
            <a:r>
              <a:rPr lang="en-US" sz="2400" dirty="0" err="1">
                <a:latin typeface="Lucida Sans Typewriter" charset="0"/>
              </a:rPr>
              <a:t>x</a:t>
            </a:r>
            <a:r>
              <a:rPr lang="en-US" sz="2400" baseline="-25000" dirty="0" err="1">
                <a:latin typeface="Lucida Sans Typewriter" charset="0"/>
              </a:rPr>
              <a:t>n</a:t>
            </a:r>
            <a:r>
              <a:rPr lang="en-US" sz="2400" dirty="0">
                <a:latin typeface="Lucida Sans Typewriter" charset="0"/>
              </a:rPr>
              <a:t>  &lt;- </a:t>
            </a:r>
            <a:r>
              <a:rPr lang="en-US" sz="2400" dirty="0" err="1">
                <a:latin typeface="Lucida Sans Typewriter" charset="0"/>
              </a:rPr>
              <a:t>m</a:t>
            </a:r>
            <a:r>
              <a:rPr lang="en-US" sz="2400" baseline="-25000" dirty="0" err="1">
                <a:latin typeface="Lucida Sans Typewriter" charset="0"/>
              </a:rPr>
              <a:t>n</a:t>
            </a: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f x</a:t>
            </a:r>
            <a:r>
              <a:rPr lang="en-US" sz="2400" baseline="-25000" dirty="0">
                <a:latin typeface="Lucida Sans Typewriter" charset="0"/>
              </a:rPr>
              <a:t>1</a:t>
            </a:r>
            <a:r>
              <a:rPr lang="en-US" sz="2400" dirty="0">
                <a:latin typeface="Lucida Sans Typewriter" charset="0"/>
              </a:rPr>
              <a:t> x</a:t>
            </a:r>
            <a:r>
              <a:rPr lang="en-US" sz="2400" baseline="-25000" dirty="0">
                <a:latin typeface="Lucida Sans Typewriter" charset="0"/>
              </a:rPr>
              <a:t>2</a:t>
            </a:r>
            <a:r>
              <a:rPr lang="en-US" sz="2400" dirty="0">
                <a:latin typeface="Lucida Sans Typewriter" charset="0"/>
              </a:rPr>
              <a:t> x</a:t>
            </a:r>
            <a:r>
              <a:rPr lang="en-US" sz="2400" baseline="-25000" dirty="0">
                <a:latin typeface="Lucida Sans Typewriter" charset="0"/>
              </a:rPr>
              <a:t>3</a:t>
            </a:r>
            <a:r>
              <a:rPr lang="en-US" sz="2400" dirty="0">
                <a:latin typeface="Lucida Sans Typewriter" charset="0"/>
              </a:rPr>
              <a:t> .. </a:t>
            </a:r>
            <a:r>
              <a:rPr lang="en-US" sz="2400" dirty="0" err="1">
                <a:latin typeface="Lucida Sans Typewriter" charset="0"/>
              </a:rPr>
              <a:t>x</a:t>
            </a:r>
            <a:r>
              <a:rPr lang="en-US" sz="2400" baseline="-25000" dirty="0" err="1">
                <a:latin typeface="Lucida Sans Typewriter" charset="0"/>
              </a:rPr>
              <a:t>n</a:t>
            </a:r>
            <a:r>
              <a:rPr lang="en-US" sz="2400" dirty="0">
                <a:latin typeface="Lucida Sans Typewriter" charset="0"/>
              </a:rPr>
              <a:t> 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13D9E18-B563-4CF6-7A2F-CD0673B49E45}"/>
              </a:ext>
            </a:extLst>
          </p:cNvPr>
          <p:cNvSpPr/>
          <p:nvPr/>
        </p:nvSpPr>
        <p:spPr>
          <a:xfrm>
            <a:off x="4391187" y="3921071"/>
            <a:ext cx="2128415" cy="4649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1CC5F0-4BFB-1F95-C90A-3900F54EB21B}"/>
              </a:ext>
            </a:extLst>
          </p:cNvPr>
          <p:cNvSpPr txBox="1"/>
          <p:nvPr/>
        </p:nvSpPr>
        <p:spPr>
          <a:xfrm>
            <a:off x="4618494" y="3551739"/>
            <a:ext cx="2329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Syntactic sugar</a:t>
            </a:r>
          </a:p>
        </p:txBody>
      </p:sp>
    </p:spTree>
    <p:extLst>
      <p:ext uri="{BB962C8B-B14F-4D97-AF65-F5344CB8AC3E}">
        <p14:creationId xmlns:p14="http://schemas.microsoft.com/office/powerpoint/2010/main" val="2415602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428FA-0B3F-6D67-435E-11EA3662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B2244-0605-5203-8924-C04B25F11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evaluation function using do (final version)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E34A6-5F5A-5A09-E657-CFD46337D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1754B3B-4555-BFFA-DD1E-67CFDE6D1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669" y="3111336"/>
            <a:ext cx="7302304" cy="270753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:: Expr -&gt; Maybe Int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(Val n) 	= Just n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eval (Div x y) = do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	  n &lt;- eval x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    m &lt;- eval y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					    safeDiv n m	</a:t>
            </a:r>
          </a:p>
        </p:txBody>
      </p:sp>
    </p:spTree>
    <p:extLst>
      <p:ext uri="{BB962C8B-B14F-4D97-AF65-F5344CB8AC3E}">
        <p14:creationId xmlns:p14="http://schemas.microsoft.com/office/powerpoint/2010/main" val="214124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7184-B725-1815-2A20-C51635DB3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6E303-6527-9EBC-996C-C517AA31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now we are ready for Monads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8BD1F-2891-73F6-9BBA-EE88DBA7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8C230A0B-9BD7-8DAE-0389-08E5B85DB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669" y="3554534"/>
            <a:ext cx="7302304" cy="182114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class Applicative m =&gt; Monad m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(&gt;&gt;= ) :: m a -&gt; (a -&gt; mb) -&gt; mb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return :: a -&gt; ma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return = pure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32938-CE00-247D-CFE5-F8A5486B5B42}"/>
              </a:ext>
            </a:extLst>
          </p:cNvPr>
          <p:cNvSpPr txBox="1"/>
          <p:nvPr/>
        </p:nvSpPr>
        <p:spPr>
          <a:xfrm>
            <a:off x="1591427" y="2217296"/>
            <a:ext cx="90091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Now that we have bind (&gt;&gt;=) we now can define this kind of applicative that has bind. </a:t>
            </a:r>
          </a:p>
        </p:txBody>
      </p:sp>
    </p:spTree>
    <p:extLst>
      <p:ext uri="{BB962C8B-B14F-4D97-AF65-F5344CB8AC3E}">
        <p14:creationId xmlns:p14="http://schemas.microsoft.com/office/powerpoint/2010/main" val="283666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0B802-BE8C-1D86-5C55-2373D74A6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 - Maybe – already have Functor, Applicative </a:t>
            </a:r>
            <a:r>
              <a:rPr lang="en-US" dirty="0" err="1"/>
              <a:t>defs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9B549-00D1-EF07-9A21-0E6ABD304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CA138AD6-6EF3-983D-6780-5B03A4696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3607" y="8570068"/>
            <a:ext cx="10724827" cy="226433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instance Monad Maybe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-- (&gt;&gt;=) :: Maybe a -&gt; (a -&gt; Maybe b ) -&gt; Maybe b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Nothing &gt;&gt;= f =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Just x &gt;&gt;= f = </a:t>
            </a:r>
            <a:r>
              <a:rPr lang="en-US" sz="2400" dirty="0" err="1">
                <a:latin typeface="Lucida Sans Typewriter" charset="0"/>
              </a:rPr>
              <a:t>fx</a:t>
            </a: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2B5E2671-34E1-E54E-0F09-52A962E76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467" y="2374138"/>
            <a:ext cx="10724827" cy="403713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data </a:t>
            </a:r>
            <a:r>
              <a:rPr lang="en-US" sz="2400" dirty="0" err="1">
                <a:latin typeface="Lucida Sans Typewriter" charset="0"/>
              </a:rPr>
              <a:t>myMaybe</a:t>
            </a:r>
            <a:r>
              <a:rPr lang="en-US" sz="2400" dirty="0">
                <a:latin typeface="Lucida Sans Typewriter" charset="0"/>
              </a:rPr>
              <a:t> a = Just a | Nothing deriving (Eq, Show)</a:t>
            </a: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instance Functor Maybe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fmap f (Just x) = Just (f x)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fmap _ _        =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instance Applicative Maybe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pure = Just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Nothing &lt;*&gt; _ = Nothing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(Just f ) &lt;*&gt; something. = fmap f something</a:t>
            </a:r>
          </a:p>
        </p:txBody>
      </p:sp>
    </p:spTree>
    <p:extLst>
      <p:ext uri="{BB962C8B-B14F-4D97-AF65-F5344CB8AC3E}">
        <p14:creationId xmlns:p14="http://schemas.microsoft.com/office/powerpoint/2010/main" val="2292364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CEED1-714D-6B82-91CC-EEF880AAF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0DAB2-2B43-F1CC-8D8C-73A3B9BE2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 - Maybe – already have Functor, Applicative </a:t>
            </a:r>
            <a:r>
              <a:rPr lang="en-US" dirty="0" err="1"/>
              <a:t>defs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48ABE-1F84-BB8C-C76E-D9C7F1276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67836C5-1A6E-1AFB-0E46-8A9066F01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3607" y="8570068"/>
            <a:ext cx="10724827" cy="226433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instance Monad Maybe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-- (&gt;&gt;=) :: Maybe a -&gt; (a -&gt; Maybe b ) -&gt; Maybe b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Nothing &gt;&gt;= f =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Just x &gt;&gt;= f = </a:t>
            </a:r>
            <a:r>
              <a:rPr lang="en-US" sz="2400" dirty="0" err="1">
                <a:latin typeface="Lucida Sans Typewriter" charset="0"/>
              </a:rPr>
              <a:t>fx</a:t>
            </a: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9D308381-280A-7394-963C-6C4E34B60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467" y="2374138"/>
            <a:ext cx="10724827" cy="403713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data </a:t>
            </a:r>
            <a:r>
              <a:rPr lang="en-US" sz="2400" dirty="0" err="1">
                <a:latin typeface="Lucida Sans Typewriter" charset="0"/>
              </a:rPr>
              <a:t>myMaybe</a:t>
            </a:r>
            <a:r>
              <a:rPr lang="en-US" sz="2400" dirty="0">
                <a:latin typeface="Lucida Sans Typewriter" charset="0"/>
              </a:rPr>
              <a:t> a = Just a | Nothing deriving (Eq, Show)</a:t>
            </a: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instance Functor Maybe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fmap f (Just x) = Just (f x)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fmap _ _        =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instance Applicative Maybe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pure = Just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Nothing &lt;*&gt; _ = Nothing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(Just f ) &lt;*&gt; something. = fmap f something</a:t>
            </a:r>
          </a:p>
        </p:txBody>
      </p:sp>
    </p:spTree>
    <p:extLst>
      <p:ext uri="{BB962C8B-B14F-4D97-AF65-F5344CB8AC3E}">
        <p14:creationId xmlns:p14="http://schemas.microsoft.com/office/powerpoint/2010/main" val="127593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FF251-F339-DE0A-E35B-8F9AFC4DB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5829-A0EC-FB40-FFFE-CDA1AE3A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 - Maybe – already have Functor, Applicative </a:t>
            </a:r>
            <a:r>
              <a:rPr lang="en-US" dirty="0" err="1"/>
              <a:t>defs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EDA06-7DCD-52F6-8D96-FDF752159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1F4F32A-52AD-9C9C-032C-BB009C22B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3607" y="8570068"/>
            <a:ext cx="10724827" cy="226433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instance Monad Maybe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-- (&gt;&gt;=) :: Maybe a -&gt; (a -&gt; Maybe b ) -&gt; Maybe b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Nothing &gt;&gt;= f = Nothing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Just x &gt;&gt;= f = </a:t>
            </a:r>
            <a:r>
              <a:rPr lang="en-US" sz="2400" dirty="0" err="1">
                <a:latin typeface="Lucida Sans Typewriter" charset="0"/>
              </a:rPr>
              <a:t>fx</a:t>
            </a: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5A1CEF-CD10-B2F2-A9C1-9F390F35E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9754"/>
            <a:ext cx="3461766" cy="1347282"/>
          </a:xfrm>
          <a:prstGeom prst="rect">
            <a:avLst/>
          </a:prstGeom>
        </p:spPr>
      </p:pic>
      <p:sp>
        <p:nvSpPr>
          <p:cNvPr id="6" name="Text Box 4">
            <a:extLst>
              <a:ext uri="{FF2B5EF4-FFF2-40B4-BE49-F238E27FC236}">
                <a16:creationId xmlns:a16="http://schemas.microsoft.com/office/drawing/2014/main" id="{B4C3752E-E7ED-65D5-F8A8-9D4F7114D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034" y="3727986"/>
            <a:ext cx="11027573" cy="182114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instance Monad Maybe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-- (&gt;&gt;=) :: Maybe a -&gt; (a -&gt; Maybe b) -&gt; Maybe b)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Nothing &gt;&gt;= f  = Nothing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Just f  &gt;&gt;= f = f x</a:t>
            </a:r>
          </a:p>
        </p:txBody>
      </p:sp>
    </p:spTree>
    <p:extLst>
      <p:ext uri="{BB962C8B-B14F-4D97-AF65-F5344CB8AC3E}">
        <p14:creationId xmlns:p14="http://schemas.microsoft.com/office/powerpoint/2010/main" val="1047320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D40DC-F0B8-6AA2-93D4-48FD569C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40B78-A408-BF62-7BEA-2A4BF0C09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 - Lists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87975-A7CB-4933-3569-0CE3A756E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6D81EA38-E5E6-B12E-C3D2-669AF853C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351" y="2518430"/>
            <a:ext cx="8462074" cy="182114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instance Monad []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-- (&gt;&gt;=) :: [a] -&gt; (a -&gt; [b] ) -&gt; [b]</a:t>
            </a:r>
          </a:p>
          <a:p>
            <a:pPr marL="681038"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Nothing &gt;&gt;= f  = Nothing</a:t>
            </a:r>
          </a:p>
          <a:p>
            <a:pPr marL="681038"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 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 &gt;&gt;= f  = </a:t>
            </a:r>
            <a:r>
              <a:rPr lang="en-US" sz="2400" dirty="0" err="1">
                <a:latin typeface="Lucida Sans Typewriter" charset="0"/>
              </a:rPr>
              <a:t>concat</a:t>
            </a:r>
            <a:r>
              <a:rPr lang="en-US" sz="2400" dirty="0">
                <a:latin typeface="Lucida Sans Typewriter" charset="0"/>
              </a:rPr>
              <a:t>  map f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 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CBDEA162-AB97-2A25-921F-EDCC2D5EE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351" y="4778599"/>
            <a:ext cx="8462074" cy="182114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instance Monad [] where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-- (&gt;&gt;=) :: [a] -&gt; (a -&gt; [b] ) -&gt; [b]</a:t>
            </a:r>
          </a:p>
          <a:p>
            <a:pPr marL="681038"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Nothing &gt;&gt;= f  = Nothing</a:t>
            </a:r>
          </a:p>
          <a:p>
            <a:pPr marL="681038"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	 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 &gt;&gt;= f  = [y| x &lt;-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, y &lt;- f x]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15F66-AE54-14CD-8735-7E7888607CA0}"/>
              </a:ext>
            </a:extLst>
          </p:cNvPr>
          <p:cNvSpPr txBox="1"/>
          <p:nvPr/>
        </p:nvSpPr>
        <p:spPr>
          <a:xfrm>
            <a:off x="325464" y="5315919"/>
            <a:ext cx="728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167438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09FE6-75FD-CCF3-02B5-A4D4CE54D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7B74E-A78E-62D5-44A2-79704161E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 - using List monads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530F5-F5F5-FA2D-8CD9-CFD0876EE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257F2C98-62C8-A0BD-BD94-E2F489A37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351" y="2961628"/>
            <a:ext cx="8462074" cy="93474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latin typeface="Lucida Sans Typewriter" charset="0"/>
              </a:rPr>
              <a:t>pairs [1,2] [3,4]   -- cartesian product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[(1,3), 1,4), (2,3), 2,4) 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7E9E4A24-65E6-D516-6A91-E30650EF5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351" y="4778599"/>
            <a:ext cx="8462074" cy="182114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pairs :: [a] -&gt; [b] -&gt; [(</a:t>
            </a:r>
            <a:r>
              <a:rPr lang="en-US" sz="2400" dirty="0" err="1">
                <a:latin typeface="Lucida Sans Typewriter" charset="0"/>
              </a:rPr>
              <a:t>a,b</a:t>
            </a:r>
            <a:r>
              <a:rPr lang="en-US" sz="2400" dirty="0">
                <a:latin typeface="Lucida Sans Typewriter" charset="0"/>
              </a:rPr>
              <a:t>)]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pairs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 </a:t>
            </a:r>
            <a:r>
              <a:rPr lang="en-US" sz="2400" dirty="0" err="1">
                <a:latin typeface="Lucida Sans Typewriter" charset="0"/>
              </a:rPr>
              <a:t>ys</a:t>
            </a:r>
            <a:r>
              <a:rPr lang="en-US" sz="2400" dirty="0">
                <a:latin typeface="Lucida Sans Typewriter" charset="0"/>
              </a:rPr>
              <a:t> = do x &lt;- </a:t>
            </a:r>
            <a:r>
              <a:rPr lang="en-US" sz="2400" dirty="0" err="1">
                <a:latin typeface="Lucida Sans Typewriter" charset="0"/>
              </a:rPr>
              <a:t>xs</a:t>
            </a: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              y &lt;- </a:t>
            </a:r>
            <a:r>
              <a:rPr lang="en-US" sz="2400" dirty="0" err="1">
                <a:latin typeface="Lucida Sans Typewriter" charset="0"/>
              </a:rPr>
              <a:t>ys</a:t>
            </a: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                 return (</a:t>
            </a:r>
            <a:r>
              <a:rPr lang="en-US" sz="2400" dirty="0" err="1">
                <a:latin typeface="Lucida Sans Typewriter" charset="0"/>
              </a:rPr>
              <a:t>x,y</a:t>
            </a:r>
            <a:r>
              <a:rPr lang="en-US" sz="2400" dirty="0">
                <a:latin typeface="Lucida Sans Typewriter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52058E-4C39-88DA-272D-0CA3A15E537E}"/>
              </a:ext>
            </a:extLst>
          </p:cNvPr>
          <p:cNvSpPr txBox="1"/>
          <p:nvPr/>
        </p:nvSpPr>
        <p:spPr>
          <a:xfrm>
            <a:off x="325464" y="5315919"/>
            <a:ext cx="728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91313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1">
            <a:extLst>
              <a:ext uri="{FF2B5EF4-FFF2-40B4-BE49-F238E27FC236}">
                <a16:creationId xmlns:a16="http://schemas.microsoft.com/office/drawing/2014/main" id="{F9B7DCD1-F77B-FDDA-21DE-8768402C1F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DEB4B68-9CEF-C841-A605-4708AC6299DC}" type="slidenum"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en-US" sz="1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6E26EC5D-A7D0-9C76-CF10-015C7BDBC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8" y="955675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/>
            <a:r>
              <a:rPr kumimoji="1" lang="en-US" altLang="en-US" sz="3600">
                <a:solidFill>
                  <a:schemeClr val="tx2"/>
                </a:solidFill>
                <a:latin typeface="Arial Black" panose="020B0604020202020204" pitchFamily="34" charset="0"/>
                <a:ea typeface="MS PGothic" panose="020B0600070205080204" pitchFamily="34" charset="-128"/>
              </a:rPr>
              <a:t>Monad laws</a:t>
            </a:r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67BC2E0A-A1C2-37AC-834F-F6792AD2E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800" y="2405063"/>
            <a:ext cx="8389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/>
            <a:r>
              <a:rPr lang="en-US" altLang="en-US" sz="2800">
                <a:latin typeface="Tahoma" panose="020B0604030504040204" pitchFamily="34" charset="0"/>
                <a:ea typeface="MS PGothic" panose="020B0600070205080204" pitchFamily="34" charset="-128"/>
              </a:rPr>
              <a:t>Monads are required to obey 3 laws:</a:t>
            </a:r>
          </a:p>
        </p:txBody>
      </p:sp>
      <p:sp>
        <p:nvSpPr>
          <p:cNvPr id="35844" name="Text Box 3">
            <a:extLst>
              <a:ext uri="{FF2B5EF4-FFF2-40B4-BE49-F238E27FC236}">
                <a16:creationId xmlns:a16="http://schemas.microsoft.com/office/drawing/2014/main" id="{F8D93593-B998-2E2E-A845-5D534BD01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288" y="4657725"/>
            <a:ext cx="10366375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Monads originally come from a branch of mathematics called Category Theory. </a:t>
            </a:r>
          </a:p>
          <a:p>
            <a:pPr eaLnBrk="1" hangingPunct="1"/>
            <a:endParaRPr lang="en-US" altLang="en-US" sz="2400" dirty="0">
              <a:latin typeface="Tahoma" panose="020B0604030504040204" pitchFamily="34" charset="0"/>
              <a:ea typeface="MS PGothic" panose="020B0600070205080204" pitchFamily="34" charset="-128"/>
            </a:endParaRPr>
          </a:p>
          <a:p>
            <a:pPr eaLnBrk="1" hangingPunct="1"/>
            <a:r>
              <a:rPr lang="en-US" alt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(Fortunately, it is entirely unnecessary to understand category theory in order to understand and use monads in Haskell.)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2B32F94A-A81C-9880-2759-10DA25E64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7049" y="3104361"/>
            <a:ext cx="8657902" cy="1377941"/>
          </a:xfrm>
          <a:prstGeom prst="rect">
            <a:avLst/>
          </a:prstGeom>
          <a:solidFill>
            <a:schemeClr val="accent4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r &gt;&gt;= return 	= m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return x &gt;&gt;= f = f x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( m &gt;&gt;= f ) &gt;&gt;= g = m &gt;&gt;= (\x  -&gt; f x &gt;&gt;= g)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1">
            <a:extLst>
              <a:ext uri="{FF2B5EF4-FFF2-40B4-BE49-F238E27FC236}">
                <a16:creationId xmlns:a16="http://schemas.microsoft.com/office/drawing/2014/main" id="{AD49C7CF-C7AA-E5B2-5FBC-F2CB3803B3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75451CC-F1D8-F14B-8FF6-EF91B1CAFD0C}" type="slidenum">
              <a:rPr lang="en-US" altLang="en-US" sz="1400">
                <a:latin typeface="Tahoma" panose="020B0604030504040204" pitchFamily="34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en-US" sz="140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B2D13598-F734-3E91-41C9-612B6193F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752475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/>
            <a:r>
              <a:rPr kumimoji="1" lang="en-US" altLang="en-US" sz="3600">
                <a:solidFill>
                  <a:schemeClr val="tx2"/>
                </a:solidFill>
                <a:latin typeface="Arial Black" panose="020B0604020202020204" pitchFamily="34" charset="0"/>
                <a:ea typeface="MS PGothic" panose="020B0600070205080204" pitchFamily="34" charset="-128"/>
              </a:rPr>
              <a:t>Monadic Programming</a:t>
            </a: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15F75A07-01E7-A730-4709-B3765D9F1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241" y="2274773"/>
            <a:ext cx="10617291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1200150" indent="-4572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>
              <a:buFont typeface="Monotype Sorts" pitchFamily="2" charset="2"/>
              <a:buNone/>
            </a:pPr>
            <a:r>
              <a:rPr lang="en-US" alt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Having designed a Monad (i.e. ‘I need a Monad with this shape), we define an instance of a Monad. 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2400" dirty="0">
              <a:latin typeface="Tahoma" panose="020B0604030504040204" pitchFamily="34" charset="0"/>
              <a:ea typeface="MS PGothic" panose="020B0600070205080204" pitchFamily="34" charset="-128"/>
            </a:endParaRP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400" dirty="0">
                <a:latin typeface="Tahoma" panose="020B0604030504040204" pitchFamily="34" charset="0"/>
                <a:ea typeface="MS PGothic" panose="020B0600070205080204" pitchFamily="34" charset="-128"/>
              </a:rPr>
              <a:t>This involves essentially writing what 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2400" dirty="0">
              <a:latin typeface="Tahoma" panose="020B0604030504040204" pitchFamily="34" charset="0"/>
              <a:ea typeface="MS PGothic" panose="020B0600070205080204" pitchFamily="34" charset="-128"/>
            </a:endParaRPr>
          </a:p>
          <a:p>
            <a:pPr lvl="1" eaLnBrk="1" hangingPunct="1">
              <a:buFont typeface="Arial Black" panose="020B0604020202020204" pitchFamily="34" charset="0"/>
              <a:buAutoNum type="arabicPeriod"/>
            </a:pPr>
            <a:r>
              <a:rPr lang="en-US" altLang="en-US" sz="2000" dirty="0">
                <a:latin typeface="Tahoma" panose="020B0604030504040204" pitchFamily="34" charset="0"/>
                <a:ea typeface="MS PGothic" panose="020B0600070205080204" pitchFamily="34" charset="-128"/>
              </a:rPr>
              <a:t>return   and</a:t>
            </a:r>
          </a:p>
          <a:p>
            <a:pPr lvl="1" eaLnBrk="1" hangingPunct="1">
              <a:buFont typeface="Arial Black" panose="020B0604020202020204" pitchFamily="34" charset="0"/>
              <a:buAutoNum type="arabicPeriod"/>
            </a:pPr>
            <a:r>
              <a:rPr lang="en-US" altLang="en-US" sz="2000" dirty="0">
                <a:latin typeface="Tahoma" panose="020B0604030504040204" pitchFamily="34" charset="0"/>
                <a:ea typeface="MS PGothic" panose="020B0600070205080204" pitchFamily="34" charset="-128"/>
              </a:rPr>
              <a:t>&gt;&gt;=     mean in this Monad</a:t>
            </a:r>
          </a:p>
          <a:p>
            <a:pPr eaLnBrk="1" hangingPunct="1">
              <a:buFont typeface="Arial Black" panose="020B0604020202020204" pitchFamily="34" charset="0"/>
              <a:buAutoNum type="arabicPeriod"/>
            </a:pPr>
            <a:endParaRPr lang="en-US" altLang="en-US" sz="2400" dirty="0">
              <a:latin typeface="Tahoma" panose="020B0604030504040204" pitchFamily="34" charset="0"/>
              <a:ea typeface="MS PGothic" panose="020B0600070205080204" pitchFamily="34" charset="-128"/>
            </a:endParaRPr>
          </a:p>
          <a:p>
            <a:pPr eaLnBrk="1" hangingPunct="1">
              <a:buFont typeface="Monotype Sorts" pitchFamily="2" charset="2"/>
              <a:buNone/>
            </a:pPr>
            <a:endParaRPr lang="en-US" altLang="en-US" sz="2400" dirty="0"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7184-B725-1815-2A20-C51635DB3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6E303-6527-9EBC-996C-C517AA31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IO Monad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8BD1F-2891-73F6-9BBA-EE88DBA7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8C230A0B-9BD7-8DAE-0389-08E5B85DB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6098" y="3602291"/>
            <a:ext cx="8744815" cy="271856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-- IO is a type constructor: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newtype IO a  -- a computation returning a value of type a</a:t>
            </a:r>
          </a:p>
          <a:p>
            <a:pPr>
              <a:lnSpc>
                <a:spcPct val="120000"/>
              </a:lnSpc>
              <a:defRPr/>
            </a:pPr>
            <a:endParaRPr lang="en-US" sz="18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-- Common IO actions: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putStr    :: String -&gt; IO ()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putStrLn  :: String -&gt; IO ()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getLine   :: IO String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readFile  :: FilePath -&gt; IO String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32938-CE00-247D-CFE5-F8A5486B5B42}"/>
              </a:ext>
            </a:extLst>
          </p:cNvPr>
          <p:cNvSpPr txBox="1"/>
          <p:nvPr/>
        </p:nvSpPr>
        <p:spPr>
          <a:xfrm>
            <a:off x="287383" y="2217296"/>
            <a:ext cx="114430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Haskell is a pure language — functions have no side effects. The IO Monad is Haskell's controlled way of handling side effects like reading input, writing output, and file access.</a:t>
            </a:r>
          </a:p>
        </p:txBody>
      </p:sp>
    </p:spTree>
    <p:extLst>
      <p:ext uri="{BB962C8B-B14F-4D97-AF65-F5344CB8AC3E}">
        <p14:creationId xmlns:p14="http://schemas.microsoft.com/office/powerpoint/2010/main" val="283666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7184-B725-1815-2A20-C51635DB3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6E303-6527-9EBC-996C-C517AA31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Problem: Side Effects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8BD1F-2891-73F6-9BBA-EE88DBA7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8C230A0B-9BD7-8DAE-0389-08E5B85DB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669" y="3554534"/>
            <a:ext cx="7302304" cy="238616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-- This is pure — no IO: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double :: Int -&gt; Int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double n = n * 2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 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-- This performs IO — the type says so: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greet :: String -&gt; IO ()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greet name = putStrLn ("Hello, " ++ name)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32938-CE00-247D-CFE5-F8A5486B5B42}"/>
              </a:ext>
            </a:extLst>
          </p:cNvPr>
          <p:cNvSpPr txBox="1"/>
          <p:nvPr/>
        </p:nvSpPr>
        <p:spPr>
          <a:xfrm>
            <a:off x="339635" y="2044005"/>
            <a:ext cx="112209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Pure functions have no side effects — results depend only on inputs. The type IO a in a signature signals that a function interacts with the outside world.</a:t>
            </a:r>
          </a:p>
        </p:txBody>
      </p:sp>
    </p:spTree>
    <p:extLst>
      <p:ext uri="{BB962C8B-B14F-4D97-AF65-F5344CB8AC3E}">
        <p14:creationId xmlns:p14="http://schemas.microsoft.com/office/powerpoint/2010/main" val="2836662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7184-B725-1815-2A20-C51635DB3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6E303-6527-9EBC-996C-C517AA31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IO as a Monad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8BD1F-2891-73F6-9BBA-EE88DBA7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8C230A0B-9BD7-8DAE-0389-08E5B85DB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2732" y="4104427"/>
            <a:ext cx="8497840" cy="2053767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instance Monad IO where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  return :: a -&gt; IO a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  return x = ...   -- wrap x in a do-nothing IO action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 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  (&gt;&gt;=) :: IO a -&gt; (a -&gt; IO b) -&gt; IO b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  m &gt;&gt;= f = ...    -- run m, pass result to f, run 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32938-CE00-247D-CFE5-F8A5486B5B42}"/>
              </a:ext>
            </a:extLst>
          </p:cNvPr>
          <p:cNvSpPr txBox="1"/>
          <p:nvPr/>
        </p:nvSpPr>
        <p:spPr>
          <a:xfrm>
            <a:off x="352697" y="2217296"/>
            <a:ext cx="102478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IO is an instance of the Monad typeclass. The bind operator (&gt;&gt;=) sequences IO actions, passing the result of one action into the next.</a:t>
            </a:r>
          </a:p>
        </p:txBody>
      </p:sp>
    </p:spTree>
    <p:extLst>
      <p:ext uri="{BB962C8B-B14F-4D97-AF65-F5344CB8AC3E}">
        <p14:creationId xmlns:p14="http://schemas.microsoft.com/office/powerpoint/2010/main" val="2836662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7184-B725-1815-2A20-C51635DB3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6E303-6527-9EBC-996C-C517AA31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Sequencing IO with 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8BD1F-2891-73F6-9BBA-EE88DBA7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8C230A0B-9BD7-8DAE-0389-08E5B85DB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8858" y="3872912"/>
            <a:ext cx="7302304" cy="238616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-- Using &gt;&gt;= (bind):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getLine &gt;&gt;= \name -&gt;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  putStrLn ("Hello, " ++ name)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 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-- Using do notation (same thing):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do name &lt;- getLine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   putStrLn ("Hello, " ++ name)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32938-CE00-247D-CFE5-F8A5486B5B42}"/>
              </a:ext>
            </a:extLst>
          </p:cNvPr>
          <p:cNvSpPr txBox="1"/>
          <p:nvPr/>
        </p:nvSpPr>
        <p:spPr>
          <a:xfrm>
            <a:off x="548641" y="2217296"/>
            <a:ext cx="100519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IO actions are sequenced with &gt;&gt;= (bind) or with do notation. The do block is syntactic sugar — each line binds the result of an IO action to a name.</a:t>
            </a:r>
          </a:p>
        </p:txBody>
      </p:sp>
    </p:spTree>
    <p:extLst>
      <p:ext uri="{BB962C8B-B14F-4D97-AF65-F5344CB8AC3E}">
        <p14:creationId xmlns:p14="http://schemas.microsoft.com/office/powerpoint/2010/main" val="2836662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7184-B725-1815-2A20-C51635DB3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6E303-6527-9EBC-996C-C517AA31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 Complete IO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8BD1F-2891-73F6-9BBA-EE88DBA7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8C230A0B-9BD7-8DAE-0389-08E5B85DB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6606" y="3386207"/>
            <a:ext cx="7302304" cy="271856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main :: IO ()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main = do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  putStrLn "What is your name?"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  name &lt;- getLine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  putStrLn "How old are you?"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  age  &lt;- getLine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  putStrLn ("Hello " ++ name ++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            ", you are " ++ age ++ " years old!")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32938-CE00-247D-CFE5-F8A5486B5B42}"/>
              </a:ext>
            </a:extLst>
          </p:cNvPr>
          <p:cNvSpPr txBox="1"/>
          <p:nvPr/>
        </p:nvSpPr>
        <p:spPr>
          <a:xfrm>
            <a:off x="156755" y="2217296"/>
            <a:ext cx="104438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Every Haskell program starts at main :: IO (). It sequences IO actions to interact with the world.</a:t>
            </a:r>
          </a:p>
        </p:txBody>
      </p:sp>
    </p:spTree>
    <p:extLst>
      <p:ext uri="{BB962C8B-B14F-4D97-AF65-F5344CB8AC3E}">
        <p14:creationId xmlns:p14="http://schemas.microsoft.com/office/powerpoint/2010/main" val="283666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7184-B725-1815-2A20-C51635DB3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6E303-6527-9EBC-996C-C517AA31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IO Monad – Key 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8BD1F-2891-73F6-9BBA-EE88DBA7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203E6A-16B6-0645-AB6E-2D8EFE6BB347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8C230A0B-9BD7-8DAE-0389-08E5B85DB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7387" y="3474638"/>
            <a:ext cx="9009145" cy="3383362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-- IO actions are values — combine them freely: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askTwice :: IO (String, String)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askTwice = do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  x &lt;- getLine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  y &lt;- getLine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  return (x, y)</a:t>
            </a:r>
          </a:p>
          <a:p>
            <a:pPr>
              <a:lnSpc>
                <a:spcPct val="120000"/>
              </a:lnSpc>
              <a:defRPr/>
            </a:pPr>
            <a:endParaRPr lang="en-US" sz="1800" dirty="0">
              <a:latin typeface="Lucida Sans Typewriter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-- return wraps a pure value in IO: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return  :: a -&gt; IO a</a:t>
            </a:r>
          </a:p>
          <a:p>
            <a:pPr>
              <a:lnSpc>
                <a:spcPct val="120000"/>
              </a:lnSpc>
              <a:defRPr/>
            </a:pPr>
            <a:r>
              <a:rPr lang="en-US" sz="1800" dirty="0">
                <a:latin typeface="Lucida Sans Typewriter" charset="0"/>
              </a:rPr>
              <a:t>(&gt;&gt;=)   :: IO a -&gt; (a -&gt; IO b) -&gt; IO 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32938-CE00-247D-CFE5-F8A5486B5B42}"/>
              </a:ext>
            </a:extLst>
          </p:cNvPr>
          <p:cNvSpPr txBox="1"/>
          <p:nvPr/>
        </p:nvSpPr>
        <p:spPr>
          <a:xfrm>
            <a:off x="1" y="2217296"/>
            <a:ext cx="116259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IO Monad makes side effects explicit in the type system. IO actions are first-class values — they can be stored, passed to functions, and combined freely.</a:t>
            </a:r>
          </a:p>
        </p:txBody>
      </p:sp>
    </p:spTree>
    <p:extLst>
      <p:ext uri="{BB962C8B-B14F-4D97-AF65-F5344CB8AC3E}">
        <p14:creationId xmlns:p14="http://schemas.microsoft.com/office/powerpoint/2010/main" val="283666244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a-functions</Template>
  <TotalTime>19333</TotalTime>
  <Words>1949</Words>
  <Application>Microsoft Macintosh PowerPoint</Application>
  <PresentationFormat>Widescreen</PresentationFormat>
  <Paragraphs>291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Arial Black</vt:lpstr>
      <vt:lpstr>Calibri</vt:lpstr>
      <vt:lpstr>Lucida Sans Typewriter</vt:lpstr>
      <vt:lpstr>Monotype Sorts</vt:lpstr>
      <vt:lpstr>Tahoma</vt:lpstr>
      <vt:lpstr>Times New Roman</vt:lpstr>
      <vt:lpstr>Trebuchet MS</vt:lpstr>
      <vt:lpstr>Wingdings</vt:lpstr>
      <vt:lpstr>Berlin</vt:lpstr>
      <vt:lpstr>PowerPoint Presentation</vt:lpstr>
      <vt:lpstr>Recap on functor </vt:lpstr>
      <vt:lpstr>Recap on Applicative</vt:lpstr>
      <vt:lpstr>Examples</vt:lpstr>
      <vt:lpstr>Introduce Monads – Example a simple evaluator</vt:lpstr>
      <vt:lpstr>PowerPoint Presentation</vt:lpstr>
      <vt:lpstr>Need to refine program to deal with this</vt:lpstr>
      <vt:lpstr>Now, rewrite eval to use safeDiv</vt:lpstr>
      <vt:lpstr>Problem with Applicative</vt:lpstr>
      <vt:lpstr>Monads – observe a common pattern and abstracting it out </vt:lpstr>
      <vt:lpstr>See pattern</vt:lpstr>
      <vt:lpstr>See pattern</vt:lpstr>
      <vt:lpstr>See pattern</vt:lpstr>
      <vt:lpstr>&gt;&gt;=</vt:lpstr>
      <vt:lpstr>New evaluation function using &gt;&gt;= </vt:lpstr>
      <vt:lpstr>General pattern</vt:lpstr>
      <vt:lpstr>New evaluation function using do (final version) </vt:lpstr>
      <vt:lpstr>So now we are ready for Monads</vt:lpstr>
      <vt:lpstr>Example  - Maybe – already have Functor, Applicative defs </vt:lpstr>
      <vt:lpstr>Example  - Maybe – already have Functor, Applicative defs </vt:lpstr>
      <vt:lpstr>Example  - Maybe – already have Functor, Applicative defs </vt:lpstr>
      <vt:lpstr>Example  - Lists </vt:lpstr>
      <vt:lpstr>Example  - using List monads</vt:lpstr>
      <vt:lpstr>PowerPoint Presentation</vt:lpstr>
      <vt:lpstr>PowerPoint Presentation</vt:lpstr>
      <vt:lpstr>The IO Monad</vt:lpstr>
      <vt:lpstr>The Problem: Side Effects</vt:lpstr>
      <vt:lpstr>IO as a Monad</vt:lpstr>
      <vt:lpstr>Sequencing IO with do</vt:lpstr>
      <vt:lpstr>A Complete IO Example</vt:lpstr>
      <vt:lpstr>IO Monad – Key Points</vt:lpstr>
    </vt:vector>
  </TitlesOfParts>
  <Company>University of Nottingham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creator>Dr. Graham Hutton</dc:creator>
  <cp:lastModifiedBy>Mairead Meagher</cp:lastModifiedBy>
  <cp:revision>279</cp:revision>
  <cp:lastPrinted>2020-04-23T09:46:28Z</cp:lastPrinted>
  <dcterms:created xsi:type="dcterms:W3CDTF">2000-11-20T11:40:19Z</dcterms:created>
  <dcterms:modified xsi:type="dcterms:W3CDTF">2026-03-31T21:00:33Z</dcterms:modified>
</cp:coreProperties>
</file>