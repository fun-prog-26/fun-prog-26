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29" r:id="rId1"/>
  </p:sldMasterIdLst>
  <p:notesMasterIdLst>
    <p:notesMasterId r:id="rId32"/>
  </p:notesMasterIdLst>
  <p:handoutMasterIdLst>
    <p:handoutMasterId r:id="rId33"/>
  </p:handoutMasterIdLst>
  <p:sldIdLst>
    <p:sldId id="30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8" r:id="rId13"/>
    <p:sldId id="307" r:id="rId14"/>
    <p:sldId id="281" r:id="rId15"/>
    <p:sldId id="284" r:id="rId16"/>
    <p:sldId id="312" r:id="rId17"/>
    <p:sldId id="313" r:id="rId18"/>
    <p:sldId id="314" r:id="rId19"/>
    <p:sldId id="288" r:id="rId20"/>
    <p:sldId id="290" r:id="rId21"/>
    <p:sldId id="291" r:id="rId22"/>
    <p:sldId id="293" r:id="rId23"/>
    <p:sldId id="296" r:id="rId24"/>
    <p:sldId id="297" r:id="rId25"/>
    <p:sldId id="300" r:id="rId26"/>
    <p:sldId id="309" r:id="rId27"/>
    <p:sldId id="310" r:id="rId28"/>
    <p:sldId id="301" r:id="rId29"/>
    <p:sldId id="315" r:id="rId30"/>
    <p:sldId id="316" r:id="rId31"/>
  </p:sldIdLst>
  <p:sldSz cx="9144000" cy="6858000" type="screen4x3"/>
  <p:notesSz cx="7089775" cy="102187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Tahom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58"/>
  </p:normalViewPr>
  <p:slideViewPr>
    <p:cSldViewPr snapToGrid="0">
      <p:cViewPr varScale="1">
        <p:scale>
          <a:sx n="116" d="100"/>
          <a:sy n="116" d="100"/>
        </p:scale>
        <p:origin x="96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2051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2052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2053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F74290DC-920F-4F4F-928D-D9E78B962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75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2051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205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5080000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165" name="Rectangle 205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205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205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3514E8C-AAE0-5645-8347-9C02EFD9C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723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haskell.org/Commenting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see </a:t>
            </a:r>
            <a:r>
              <a:rPr lang="en-IE" dirty="0">
                <a:hlinkClick r:id="rId3"/>
              </a:rPr>
              <a:t>https://wiki.haskell.org/Commenting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514E8C-AAE0-5645-8347-9C02EFD9C06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00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733709"/>
            <a:ext cx="6108101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746E87-F5CB-2947-9C43-6AD4847B896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750337"/>
            <a:ext cx="878916" cy="1356442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3062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D947AD-825A-F146-BBF9-54EA2008604E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4087901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726267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869895"/>
            <a:ext cx="7210395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4232172"/>
            <a:ext cx="7210395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C0D36E-8206-564B-B2A1-1AAB2B32758F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869896"/>
            <a:ext cx="865613" cy="1090789"/>
          </a:xfrm>
        </p:spPr>
        <p:txBody>
          <a:bodyPr/>
          <a:lstStyle/>
          <a:p>
            <a:pPr>
              <a:defRPr/>
            </a:pPr>
            <a:fld id="{08AC770D-4187-B643-B651-7C2396F259F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81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2336873"/>
            <a:ext cx="352376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2336873"/>
            <a:ext cx="3525044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08CC03-50C4-124F-9CF3-D3293E51A4B6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A3F454-4803-BE4E-A4C9-D0AB6CC2A0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9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30"/>
            <a:ext cx="7210397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2336874"/>
            <a:ext cx="3354245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3030009"/>
            <a:ext cx="3523766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2336873"/>
            <a:ext cx="3355521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3030009"/>
            <a:ext cx="3525044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3325FF-0F5B-BB49-B69C-EFCF2084E94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1125D7-0927-D54A-8169-F3C5D05E93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6967E3-DF49-4044-89F4-CE2764162D95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2FD39C-9ADB-C245-9503-846EF8BEFA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3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AE39BF-D60A-6D45-9C6C-9CCC6328517E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F41AF7-5567-D741-8F34-DE634B40BB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3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753227"/>
            <a:ext cx="7210394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4206252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2336873"/>
            <a:ext cx="284255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A9CC54-BBB1-5C4A-838D-AB744647544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F441E4-FAB9-C646-A3CA-EB59A4BA24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753228"/>
            <a:ext cx="7210393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2336874"/>
            <a:ext cx="406938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2336874"/>
            <a:ext cx="2907192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187542-FDF5-5246-AB78-5770354305AE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A40A2D-3EAF-8C40-9E51-E3D1278D108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4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4711617"/>
            <a:ext cx="7210394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609598"/>
            <a:ext cx="721039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5169584"/>
            <a:ext cx="7210397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11310"/>
            <a:ext cx="865613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4346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609597"/>
            <a:ext cx="7210394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6"/>
            <a:ext cx="7210394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11616"/>
            <a:ext cx="865613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7870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609598"/>
            <a:ext cx="6539158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3653379"/>
            <a:ext cx="611743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4711616"/>
            <a:ext cx="7210394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09926"/>
            <a:ext cx="865613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74811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30335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190562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7828359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5929622"/>
            <a:ext cx="1202248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4567988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4711616"/>
            <a:ext cx="7210397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5300150"/>
            <a:ext cx="7210397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4709926"/>
            <a:ext cx="865613" cy="1090789"/>
          </a:xfrm>
        </p:spPr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7087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753228"/>
            <a:ext cx="721872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2336873"/>
            <a:ext cx="2302526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3022674"/>
            <a:ext cx="2287277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233687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3022674"/>
            <a:ext cx="229743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2336873"/>
            <a:ext cx="230251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3022674"/>
            <a:ext cx="2302519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3359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5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4297503"/>
            <a:ext cx="228727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2336873"/>
            <a:ext cx="22872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4873765"/>
            <a:ext cx="228727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4297503"/>
            <a:ext cx="229743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2336873"/>
            <a:ext cx="229743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4873764"/>
            <a:ext cx="230047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4297503"/>
            <a:ext cx="229762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2336873"/>
            <a:ext cx="229762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4873762"/>
            <a:ext cx="2300672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1852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7828359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971234"/>
            <a:ext cx="1202248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90BA56-BDCD-C643-80CF-58841B686DE9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C0C35-3D7C-B541-A38B-FDC2B086A0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88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5448782" y="2040420"/>
            <a:ext cx="5106988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200777" y="5543428"/>
            <a:ext cx="1602997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609597"/>
            <a:ext cx="80535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652503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5936188"/>
            <a:ext cx="2057400" cy="365125"/>
          </a:xfrm>
        </p:spPr>
        <p:txBody>
          <a:bodyPr/>
          <a:lstStyle/>
          <a:p>
            <a:pPr>
              <a:defRPr/>
            </a:pPr>
            <a:fld id="{812B3317-FDA4-6C49-B281-E0300FE30B29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95104" cy="365125"/>
          </a:xfrm>
        </p:spPr>
        <p:txBody>
          <a:bodyPr/>
          <a:lstStyle/>
          <a:p>
            <a:pPr>
              <a:defRPr/>
            </a:pPr>
            <a:r>
              <a:rPr lang="en-GB" altLang="en-US"/>
              <a:t>Objects First with Java - A Practical Introduction using BlueJ, © David J. Barnes, Michael Kölling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5398634"/>
            <a:ext cx="865613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8771FEFC-E74C-F640-BE0B-37559422D8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53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462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753228"/>
            <a:ext cx="7210396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2336873"/>
            <a:ext cx="721039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DC09DD-5E67-3143-91BE-96DC7061707A}" type="datetime1">
              <a:rPr lang="en-US" altLang="en-US" smtClean="0"/>
              <a:pPr>
                <a:defRPr/>
              </a:pPr>
              <a:t>4/10/26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5936189"/>
            <a:ext cx="5152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753228"/>
            <a:ext cx="865613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7CFC444-A655-D742-8217-1C95AF70FBF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9250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hyperlink" Target="https://wiki.haskell.org/Commenting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E08685F-6324-1642-88D7-16A6D01BA5BE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15888" y="1001713"/>
            <a:ext cx="8910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3600" b="1" dirty="0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76213" y="5164137"/>
            <a:ext cx="8791575" cy="98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kumimoji="1" lang="en-US" sz="3200" dirty="0"/>
              <a:t>Chapter 2 - First Steps</a:t>
            </a:r>
          </a:p>
          <a:p>
            <a:pPr algn="ctr"/>
            <a:r>
              <a:rPr kumimoji="1" lang="en-US" sz="2000" dirty="0"/>
              <a:t>Based on “Programming in Haskell” by Graham Hutton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24003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91690"/>
            <a:ext cx="64008" cy="2743200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07340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4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PROGRAMMING  ·  DECK 1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2393442"/>
            <a:ext cx="7955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Invariants</a:t>
            </a:r>
            <a:endParaRPr lang="en-US" sz="4400" dirty="0"/>
          </a:p>
          <a:p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Concept to Haskell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94360" y="424053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matter, and how Haskell encodes them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841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Invariant?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90881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4D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condition that always holds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649474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invariant is a property of a system that remains true before and after every operation.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guarantee — not a comment, not a convention, and not an assumption.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invariant holds we say the system is in a valid state.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190881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0" y="1908810"/>
            <a:ext cx="3931920" cy="64008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201853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 balance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92040" y="261289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drops below its minimum — guaranteed after every transaction.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3262122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3262122"/>
            <a:ext cx="3931920" cy="64008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337185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Calendar date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396621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stays 1–31, month 1–12. No valid operation produces an out-of-range date.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4615434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4615434"/>
            <a:ext cx="3931920" cy="64008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472516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size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92040" y="531952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count equals the number of pushes minus pops — always.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841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Invariants in Software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86309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abstraction relies on invariants to remain coherent.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366010"/>
            <a:ext cx="27432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366010"/>
            <a:ext cx="2743200" cy="64008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47573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Structures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070098"/>
            <a:ext cx="24688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search tree assumes left &lt; root &lt; right at every node. Violate it once and search is silently broken.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366010"/>
            <a:ext cx="27432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37560" y="2366010"/>
            <a:ext cx="2743200" cy="64008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47573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Machines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3070098"/>
            <a:ext cx="24688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TCP connection cannot be CLOSED and ESTABLISHED simultaneously. The state type makes the invalid state inexpressible.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366010"/>
            <a:ext cx="27432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2366010"/>
            <a:ext cx="2743200" cy="64008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247573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3070098"/>
            <a:ext cx="24688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maintains a sorted invariant on every sub-list. The merge step is only correct because both halves are already sorted.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841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Invariants Matter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204597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045970"/>
            <a:ext cx="2743200" cy="64008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15569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Correctness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750058"/>
            <a:ext cx="24688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maintains its invariants cannot produce a whole class of bugs. Violations are caught at the boundary, not buried deep in a call stack.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04597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37560" y="2045970"/>
            <a:ext cx="2743200" cy="64008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215569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Refactoring Safety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2750058"/>
            <a:ext cx="24688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invariants are explicit and enforced, you can safely change internals. Callers cannot accidentally break what they cannot construct.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045970"/>
            <a:ext cx="27432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2045970"/>
            <a:ext cx="2743200" cy="64008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215569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Documentation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5080" y="2750058"/>
            <a:ext cx="24688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that enforces its invariant is documentation that never goes stale. The constraint is read, checked, and enforced by the compiler.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841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as Invariant Enforcers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86309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Haskell's type system makes some invariants impossible to violate — not because you tested them, but because ill-formed programs don't compile.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50317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4D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 for free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42082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— use Maybe to make absence explicit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mixing of incompatible units (metres vs feet)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pattern matching — all cases handled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types for logically distinct concepts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250317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4D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2942082"/>
            <a:ext cx="3931920" cy="219456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3051810"/>
            <a:ext cx="365760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Maybe makes absence explicit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:: [Int] -&gt; Int -&gt; Maybe Int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Can't pass a raw String as an Email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Compiler catches missing cases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:: Bool -&gt; String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True  = "yes"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False = "no"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841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Constructors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86309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constructor hides the raw data constructor and validates the invariant at the point of creation — so an invalid value can never be built.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73177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4D7E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143250"/>
            <a:ext cx="384048" cy="384048"/>
          </a:xfrm>
          <a:prstGeom prst="ellipse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15239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17068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type inside a dedicated module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710178"/>
            <a:ext cx="384048" cy="384048"/>
          </a:xfrm>
          <a:prstGeom prst="ellipse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71932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373761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only the smart constructor — not the data constructor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277106"/>
            <a:ext cx="384048" cy="384048"/>
          </a:xfrm>
          <a:prstGeom prst="ellipse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28625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430453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Maybe or Either to signal invalid input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1863090"/>
            <a:ext cx="3931920" cy="329184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1972818"/>
            <a:ext cx="36576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Calendar (Day, mkDay, getDay) where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Constructor hidden from callers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Day = Day Int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:: Int -&gt; Maybe Day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n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n &gt;= 1 &amp;&amp; n &lt;= 31 = Just (Day n)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otherwise         = Nothing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:: Day -&gt; Int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(Day n) = 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841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newtype and Phantom Types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86309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lightweight tools for encoding invariants with zero runtime cost.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302002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302002"/>
            <a:ext cx="3840480" cy="64008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41173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newtype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006090"/>
            <a:ext cx="3566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type to give it a distinct identity at compile time. An Email and a plain String are different types — you cannot pass one where the other is expected.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10178"/>
            <a:ext cx="384048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381990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 :: Email -&gt; IO ()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Cannot pass a raw String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302002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2302002"/>
            <a:ext cx="3840480" cy="64008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241173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Phantom Types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83480" y="3006090"/>
            <a:ext cx="35661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parameter that carries compile-time information but holds no value at runtime. Useful for tagging validated vs unvalidated data without overhead.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3710178"/>
            <a:ext cx="384048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381990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Validated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Raw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Tagged t a = Tagged a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:: Tagged Raw String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-&gt; Maybe (Tagged Validated String)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841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Typeclass Laws as Invariants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8630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instances are contracts. The laws are the invariants every conforming instance must preserve — forever.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366010"/>
            <a:ext cx="2743200" cy="438912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2384298"/>
            <a:ext cx="2523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Functor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841498"/>
            <a:ext cx="274320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95122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id  ≡  id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(f . g)  ≡  fmap f . fmap 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80161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preserves structure. The container is never altered by fmap.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366010"/>
            <a:ext cx="2743200" cy="438912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7288" y="2384298"/>
            <a:ext cx="2523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Monoid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2841498"/>
            <a:ext cx="274320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295122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mempty &lt;&gt; x  ≡  x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&lt;&gt; mempty  ≡  x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&lt;&gt; y) &lt;&gt; z  ≡  x &lt;&gt; (y &lt;&gt; z)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380161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is associative and mempty is a genuine neutral element.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366010"/>
            <a:ext cx="2743200" cy="438912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2384298"/>
            <a:ext cx="25237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841498"/>
            <a:ext cx="2743200" cy="914400"/>
          </a:xfrm>
          <a:prstGeom prst="rect">
            <a:avLst/>
          </a:prstGeom>
          <a:solidFill>
            <a:srgbClr val="E8EDF8"/>
          </a:solidFill>
          <a:ln w="12700">
            <a:solidFill>
              <a:srgbClr val="B0B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2951226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 &gt;&gt;= f  ≡  f a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&gt;&gt;= return   ≡  m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&gt;&gt;= f) &gt;&gt;= g</a:t>
            </a:r>
            <a:endParaRPr lang="en-US" sz="1200" dirty="0"/>
          </a:p>
          <a:p>
            <a:r>
              <a:rPr lang="en-US" sz="1200" dirty="0">
                <a:solidFill>
                  <a:srgbClr val="1A2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≡  m &gt;&gt;= (f &gt;=&gt; 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801618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is a neutral wrap. Sequencing is associative.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841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A2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Types Aren't Enough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84480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system is powerful but bounded. Some invariants live in logic, not in shape.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320290"/>
            <a:ext cx="3840480" cy="438912"/>
          </a:xfrm>
          <a:prstGeom prst="rect">
            <a:avLst/>
          </a:prstGeom>
          <a:solidFill>
            <a:srgbClr val="2A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33857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CAN enforce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82321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is never null  (Maybe)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arguments share the same type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non-empty  (NonEmpty)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always positive  (smart constructor)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2320290"/>
            <a:ext cx="3840480" cy="438912"/>
          </a:xfrm>
          <a:prstGeom prst="rect">
            <a:avLst/>
          </a:prstGeom>
          <a:solidFill>
            <a:srgbClr val="C97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33857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CANNOT enforce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82321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 function actually produces a sorted list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and decode are true inverses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stays in range after arbitrary arithmetic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structures stay mutually consistent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561213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these, we need property-based testing — covered in Deck 2.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63090"/>
            <a:ext cx="64008" cy="3017520"/>
          </a:xfrm>
          <a:prstGeom prst="rect">
            <a:avLst/>
          </a:prstGeom>
          <a:solidFill>
            <a:srgbClr val="4D7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84480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400" dirty="0">
                <a:solidFill>
                  <a:srgbClr val="4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215569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Covered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2795778"/>
            <a:ext cx="7955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Invariants are guarantees — conditions that must always hold</a:t>
            </a:r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Haskell's type system enforces many invariants at compile time</a:t>
            </a:r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Smart constructors and newtypes push invariants to the boundary</a:t>
            </a:r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Typeclass laws are formal, checkable invariants</a:t>
            </a:r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Some invariants live in logic — and need explicit verification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556641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4D7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Deck 2: Property-Based Testing with QuickCheck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0999"/>
            <a:ext cx="7772400" cy="970723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Introduction to GHC (Glasgow Haskell Compiler)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6039678" cy="455874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E" b="1" dirty="0"/>
              <a:t>What is GHC?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The leading implementation of Haskell, comprising a compiler and interpreter.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Interactive interpreter (</a:t>
            </a:r>
            <a:r>
              <a:rPr lang="en-IE" i="1" dirty="0" err="1"/>
              <a:t>GHCi</a:t>
            </a:r>
            <a:r>
              <a:rPr lang="en-IE" dirty="0"/>
              <a:t>) suitable for teaching, prototyping, and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b="1" dirty="0"/>
              <a:t>Availability</a:t>
            </a:r>
            <a:r>
              <a:rPr lang="en-IE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Freely available at </a:t>
            </a:r>
            <a:r>
              <a:rPr lang="en-IE" dirty="0" err="1"/>
              <a:t>www.haskell.org</a:t>
            </a:r>
            <a:endParaRPr lang="en-IE" dirty="0"/>
          </a:p>
        </p:txBody>
      </p:sp>
      <p:sp>
        <p:nvSpPr>
          <p:cNvPr id="1638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35990BC-941F-5B40-AA99-85A5C70022F6}" type="slidenum">
              <a:rPr lang="en-US" sz="1400"/>
              <a:pPr/>
              <a:t>11</a:t>
            </a:fld>
            <a:endParaRPr lang="en-US" sz="1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735956-41F2-EDB5-D0E8-46B906ACB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300" y="5712790"/>
            <a:ext cx="5575300" cy="9652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Starting with </a:t>
            </a:r>
            <a:r>
              <a:rPr lang="en-US" dirty="0" err="1">
                <a:latin typeface="Arial Black" charset="0"/>
                <a:ea typeface="ＭＳ Ｐゴシック" charset="0"/>
                <a:cs typeface="ＭＳ Ｐゴシック" charset="0"/>
              </a:rPr>
              <a:t>GHCi</a:t>
            </a:r>
            <a:endParaRPr lang="en-US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0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F8A67C0-1329-EC4D-AAE7-7810FC8CE882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693737" y="2201207"/>
            <a:ext cx="7688263" cy="1604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700" dirty="0">
                <a:latin typeface="Lucida Sans Typewriter" charset="0"/>
              </a:rPr>
              <a:t>$ </a:t>
            </a:r>
            <a:r>
              <a:rPr lang="en-US" sz="1700" dirty="0" err="1">
                <a:latin typeface="Lucida Sans Typewriter" charset="0"/>
              </a:rPr>
              <a:t>ghci</a:t>
            </a:r>
            <a:endParaRPr lang="en-US" sz="1700" dirty="0">
              <a:latin typeface="Lucida Sans Typewriter" charset="0"/>
            </a:endParaRPr>
          </a:p>
          <a:p>
            <a:pPr>
              <a:spcBef>
                <a:spcPts val="400"/>
              </a:spcBef>
            </a:pPr>
            <a:endParaRPr lang="en-US" sz="1700" dirty="0">
              <a:latin typeface="Lucida Sans Typewriter" charset="0"/>
            </a:endParaRPr>
          </a:p>
          <a:p>
            <a:pPr>
              <a:spcBef>
                <a:spcPts val="400"/>
              </a:spcBef>
            </a:pPr>
            <a:r>
              <a:rPr lang="en-US" sz="1700" dirty="0" err="1">
                <a:latin typeface="Lucida Sans Typewriter" charset="0"/>
              </a:rPr>
              <a:t>GHCi</a:t>
            </a:r>
            <a:r>
              <a:rPr lang="en-US" sz="1700" dirty="0">
                <a:latin typeface="Lucida Sans Typewriter" charset="0"/>
              </a:rPr>
              <a:t>, version X: http://</a:t>
            </a:r>
            <a:r>
              <a:rPr lang="en-US" sz="1700" dirty="0" err="1">
                <a:latin typeface="Lucida Sans Typewriter" charset="0"/>
              </a:rPr>
              <a:t>www.haskell.org</a:t>
            </a:r>
            <a:r>
              <a:rPr lang="en-US" sz="1700" dirty="0">
                <a:latin typeface="Lucida Sans Typewriter" charset="0"/>
              </a:rPr>
              <a:t>/</a:t>
            </a:r>
            <a:r>
              <a:rPr lang="en-US" sz="1700" dirty="0" err="1">
                <a:latin typeface="Lucida Sans Typewriter" charset="0"/>
              </a:rPr>
              <a:t>ghc</a:t>
            </a:r>
            <a:r>
              <a:rPr lang="en-US" sz="1700" dirty="0">
                <a:latin typeface="Lucida Sans Typewriter" charset="0"/>
              </a:rPr>
              <a:t>/  :? for help</a:t>
            </a:r>
          </a:p>
          <a:p>
            <a:pPr>
              <a:spcBef>
                <a:spcPts val="400"/>
              </a:spcBef>
            </a:pPr>
            <a:endParaRPr lang="en-US" sz="1700" dirty="0">
              <a:latin typeface="Lucida Sans Typewriter" charset="0"/>
            </a:endParaRPr>
          </a:p>
          <a:p>
            <a:pPr>
              <a:spcBef>
                <a:spcPts val="400"/>
              </a:spcBef>
            </a:pPr>
            <a:r>
              <a:rPr lang="en-US" sz="1700" dirty="0" err="1">
                <a:latin typeface="Lucida Sans Typewriter" charset="0"/>
              </a:rPr>
              <a:t>ghci</a:t>
            </a:r>
            <a:r>
              <a:rPr lang="en-US" sz="1700" dirty="0">
                <a:latin typeface="Lucida Sans Typewriter" charset="0"/>
              </a:rPr>
              <a:t>&gt; 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415925" y="1555750"/>
            <a:ext cx="83343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How to start 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668337" y="4469294"/>
            <a:ext cx="80184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IE" dirty="0" err="1"/>
              <a:t>GHCi</a:t>
            </a:r>
            <a:r>
              <a:rPr lang="en-IE" dirty="0"/>
              <a:t> prompt (</a:t>
            </a:r>
            <a:r>
              <a:rPr lang="en-IE" b="1" i="1" dirty="0" err="1"/>
              <a:t>ghci</a:t>
            </a:r>
            <a:r>
              <a:rPr lang="en-IE" b="1" i="1" dirty="0"/>
              <a:t>&gt;</a:t>
            </a:r>
            <a:r>
              <a:rPr lang="en-IE" dirty="0"/>
              <a:t>) indicates the interpreter is ready for expressions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B47B8C8-9379-7647-8785-297B65A0FF90}" type="slidenum">
              <a:rPr lang="en-US" sz="1400"/>
              <a:pPr/>
              <a:t>13</a:t>
            </a:fld>
            <a:endParaRPr lang="en-US" sz="1400"/>
          </a:p>
        </p:txBody>
      </p: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749300" y="667434"/>
            <a:ext cx="76327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kumimoji="1" lang="en-US" sz="3600" dirty="0">
                <a:solidFill>
                  <a:schemeClr val="tx2"/>
                </a:solidFill>
                <a:latin typeface="Arial Black" charset="0"/>
              </a:rPr>
              <a:t>Starting with </a:t>
            </a:r>
            <a:r>
              <a:rPr kumimoji="1" lang="en-US" sz="3600" dirty="0" err="1">
                <a:solidFill>
                  <a:schemeClr val="tx2"/>
                </a:solidFill>
                <a:latin typeface="Arial Black" charset="0"/>
              </a:rPr>
              <a:t>GHCi</a:t>
            </a:r>
            <a:endParaRPr kumimoji="1" lang="en-US" sz="3600" dirty="0">
              <a:solidFill>
                <a:schemeClr val="tx2"/>
              </a:solidFill>
              <a:latin typeface="Arial Black" charset="0"/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360971" y="1804184"/>
            <a:ext cx="4833374" cy="224676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&gt; 2 + 3 * 4    -- 14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Lucida Sans Typewriter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&gt; (2 + 3) * 4  -- 20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Lucida Sans Typewriter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&gt; sqrt (3^2 + 4^2) -- 5.0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41E66A-8D5D-7C39-E9CA-B858F2BDC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691" y="5105400"/>
            <a:ext cx="6223000" cy="12954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Standard Prelude</a:t>
            </a:r>
          </a:p>
        </p:txBody>
      </p:sp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DA19D7A-0922-5844-9E78-B2F290CA9868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383249" y="1933942"/>
            <a:ext cx="796766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E" dirty="0"/>
              <a:t>Library Overview: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 Haskell includes many built-in functions for lists and numbers.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E" b="1" dirty="0"/>
              <a:t>Examples</a:t>
            </a:r>
            <a:r>
              <a:rPr lang="en-IE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Select the first element: </a:t>
            </a:r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Remove the first element: </a:t>
            </a:r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  <a:p>
            <a:pPr>
              <a:buFont typeface="Arial" panose="020B0604020202020204" pitchFamily="34" charset="0"/>
              <a:buChar char="•"/>
            </a:pPr>
            <a:endParaRPr lang="en-IE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Sum of a list:</a:t>
            </a:r>
            <a:r>
              <a:rPr lang="en-US" dirty="0"/>
              <a:t>.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5490386" y="3545664"/>
            <a:ext cx="3345788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&gt;head [1,2,3,4,5]</a:t>
            </a:r>
          </a:p>
          <a:p>
            <a:r>
              <a:rPr lang="en-US" sz="2400" dirty="0">
                <a:latin typeface="Lucida Sans Typewriter" charset="0"/>
              </a:rPr>
              <a:t>&gt; 1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CB084E8B-17F8-EEC3-9050-249015FD9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855" y="4842047"/>
            <a:ext cx="349885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tail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[2,3,4,5]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7F44F063-B357-6CF7-728E-959C925BB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051" y="5937327"/>
            <a:ext cx="331470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sum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15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nimBg="1"/>
      <p:bldP spid="2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Standard Prelude</a:t>
            </a:r>
          </a:p>
        </p:txBody>
      </p:sp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DA19D7A-0922-5844-9E78-B2F290CA9868}" type="slidenum">
              <a:rPr lang="en-US" sz="1400"/>
              <a:pPr/>
              <a:t>15</a:t>
            </a:fld>
            <a:endParaRPr lang="en-US" sz="14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EF1C41-8E49-A6DB-BC29-42EBB825B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718" y="2148935"/>
            <a:ext cx="4624467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Select the nth element of a list: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FF5ABD4-F241-EF83-9A23-96DA3003D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5947" y="2164270"/>
            <a:ext cx="3498850" cy="968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&gt; [1,2,3,4,5] !! 2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3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257D64-397A-2C0C-E980-78DDC051E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49" y="3530290"/>
            <a:ext cx="4624467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Select the first n elements of a list: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DEACDD11-0DB6-E7F8-AE84-2FB9A79D2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5947" y="3644938"/>
            <a:ext cx="3867150" cy="8223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take 3 [1,2,3,4,5]</a:t>
            </a:r>
          </a:p>
          <a:p>
            <a:r>
              <a:rPr lang="en-US" sz="2400" dirty="0">
                <a:latin typeface="Lucida Sans Typewriter" charset="0"/>
              </a:rPr>
              <a:t>[1,2,3]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DE1826A-C6AF-478B-2313-2D65E3D31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49" y="4828769"/>
            <a:ext cx="4413451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Remove the first n elements from a list: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F3867E8A-2D04-9D0B-BA12-7281476C6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5947" y="5023835"/>
            <a:ext cx="3867150" cy="895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drop 3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[4,5]</a:t>
            </a:r>
          </a:p>
        </p:txBody>
      </p:sp>
    </p:spTree>
    <p:extLst>
      <p:ext uri="{BB962C8B-B14F-4D97-AF65-F5344CB8AC3E}">
        <p14:creationId xmlns:p14="http://schemas.microsoft.com/office/powerpoint/2010/main" val="1086355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11" grpId="0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Standard Prelude</a:t>
            </a:r>
          </a:p>
        </p:txBody>
      </p:sp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DA19D7A-0922-5844-9E78-B2F290CA9868}" type="slidenum">
              <a:rPr lang="en-US" sz="1400"/>
              <a:pPr/>
              <a:t>16</a:t>
            </a:fld>
            <a:endParaRPr lang="en-US" sz="1400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AC4FD67-3FEF-77D5-400B-30D48DD49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9" y="2206130"/>
            <a:ext cx="4510331" cy="85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Calculate the length of a list: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32198E36-C10A-76DD-6D99-10DB8DBD7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5615" y="2093626"/>
            <a:ext cx="3878385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length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5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B51EF529-1FCF-D982-EAF5-603CDA3D0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9" y="3429000"/>
            <a:ext cx="4510331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Calculate the sum of a list of numbers: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AC83DBB4-A585-9837-9254-690EC98D1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241" y="3351113"/>
            <a:ext cx="3647090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sum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15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FF35E07-3D7B-ABEA-61A5-808A39230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9" y="4689450"/>
            <a:ext cx="4510331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Calculate the product of a list of numbers: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1C8B8A96-9AA8-7058-E24E-7F888888E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669" y="4702368"/>
            <a:ext cx="4510331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product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2666801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10" grpId="0"/>
      <p:bldP spid="11" grpId="0" animBg="1"/>
      <p:bldP spid="12" grpId="0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Standard Prelude</a:t>
            </a:r>
          </a:p>
        </p:txBody>
      </p:sp>
      <p:sp>
        <p:nvSpPr>
          <p:cNvPr id="1945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DA19D7A-0922-5844-9E78-B2F290CA9868}" type="slidenum">
              <a:rPr lang="en-US" sz="1400"/>
              <a:pPr/>
              <a:t>17</a:t>
            </a:fld>
            <a:endParaRPr lang="en-US" sz="14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844C627-A8B0-C2F8-F631-9FF0E1327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53" y="2326421"/>
            <a:ext cx="3538415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Append two lists: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80B838E-91B3-37CD-D5D8-3931F766C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8323" y="2356343"/>
            <a:ext cx="3538415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[1,2,3] ++ [4,5]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[1,2,3,4,5]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7AF011-DDC7-91D3-B38C-4307AA889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53" y="4201129"/>
            <a:ext cx="3538415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dirty="0"/>
              <a:t>Reverse a list: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AA5A6A2C-8D1D-6833-945C-2DEE3691D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593" y="4153725"/>
            <a:ext cx="4097112" cy="87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&gt; reverse [1,2,3,4,5]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[5,4,3,2,1]</a:t>
            </a:r>
          </a:p>
        </p:txBody>
      </p:sp>
    </p:spTree>
    <p:extLst>
      <p:ext uri="{BB962C8B-B14F-4D97-AF65-F5344CB8AC3E}">
        <p14:creationId xmlns:p14="http://schemas.microsoft.com/office/powerpoint/2010/main" val="4030857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5" y="736975"/>
            <a:ext cx="8138532" cy="685800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Function Application in Haskell</a:t>
            </a:r>
          </a:p>
        </p:txBody>
      </p:sp>
      <p:sp>
        <p:nvSpPr>
          <p:cNvPr id="2355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E38AAA3-FE12-9D41-818B-DF0C6FF442C1}" type="slidenum">
              <a:rPr lang="en-US" sz="1400"/>
              <a:pPr/>
              <a:t>18</a:t>
            </a:fld>
            <a:endParaRPr lang="en-US" sz="1400"/>
          </a:p>
        </p:txBody>
      </p:sp>
      <p:sp>
        <p:nvSpPr>
          <p:cNvPr id="23556" name="Text Box 5"/>
          <p:cNvSpPr txBox="1">
            <a:spLocks noChangeArrowheads="1"/>
          </p:cNvSpPr>
          <p:nvPr/>
        </p:nvSpPr>
        <p:spPr bwMode="auto">
          <a:xfrm>
            <a:off x="1423535" y="3114200"/>
            <a:ext cx="2416046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Java:</a:t>
            </a:r>
          </a:p>
          <a:p>
            <a:r>
              <a:rPr lang="en-US" sz="2400" dirty="0">
                <a:latin typeface="Lucida Sans Typewriter" charset="0"/>
              </a:rPr>
              <a:t>f(</a:t>
            </a:r>
            <a:r>
              <a:rPr lang="en-US" sz="2400" dirty="0" err="1">
                <a:latin typeface="Lucida Sans Typewriter" charset="0"/>
              </a:rPr>
              <a:t>a,b</a:t>
            </a:r>
            <a:r>
              <a:rPr lang="en-US" sz="2400" dirty="0">
                <a:latin typeface="Lucida Sans Typewriter" charset="0"/>
              </a:rPr>
              <a:t>) + c d</a:t>
            </a:r>
          </a:p>
        </p:txBody>
      </p:sp>
      <p:sp>
        <p:nvSpPr>
          <p:cNvPr id="23557" name="AutoShape 6"/>
          <p:cNvSpPr>
            <a:spLocks noChangeArrowheads="1"/>
          </p:cNvSpPr>
          <p:nvPr/>
        </p:nvSpPr>
        <p:spPr bwMode="auto">
          <a:xfrm>
            <a:off x="1104900" y="5229225"/>
            <a:ext cx="7085013" cy="1028700"/>
          </a:xfrm>
          <a:prstGeom prst="wedgeRoundRectCallout">
            <a:avLst>
              <a:gd name="adj1" fmla="val -27528"/>
              <a:gd name="adj2" fmla="val -124227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dirty="0"/>
              <a:t>Apply the function f to a and b, and add the result to the product of c and 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609AB-F0A6-F6D3-5201-66C27C47DD0F}"/>
              </a:ext>
            </a:extLst>
          </p:cNvPr>
          <p:cNvSpPr txBox="1"/>
          <p:nvPr/>
        </p:nvSpPr>
        <p:spPr>
          <a:xfrm>
            <a:off x="381000" y="1831525"/>
            <a:ext cx="84230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Syntax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dirty="0"/>
              <a:t>Function application uses spaces instead of parentheses: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E" dirty="0"/>
          </a:p>
          <a:p>
            <a:pPr lvl="1"/>
            <a:endParaRPr lang="en-US" dirty="0"/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63D42958-F219-BB64-E7CB-1A8B4EB16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4944" y="3093500"/>
            <a:ext cx="2787943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Haskell:</a:t>
            </a:r>
          </a:p>
          <a:p>
            <a:r>
              <a:rPr lang="en-US" sz="2400" dirty="0">
                <a:latin typeface="Lucida Sans Typewriter" charset="0"/>
              </a:rPr>
              <a:t>f a b  + c * d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0E31D75-2664-8C83-6601-E9428A9A4420}"/>
              </a:ext>
            </a:extLst>
          </p:cNvPr>
          <p:cNvSpPr/>
          <p:nvPr/>
        </p:nvSpPr>
        <p:spPr bwMode="auto">
          <a:xfrm>
            <a:off x="4036519" y="3334826"/>
            <a:ext cx="1001486" cy="348343"/>
          </a:xfrm>
          <a:prstGeom prst="rightArrow">
            <a:avLst/>
          </a:prstGeom>
          <a:solidFill>
            <a:schemeClr val="accent1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-1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/>
      <p:bldP spid="23557" grpId="0" animBg="1"/>
      <p:bldP spid="3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4467740-7AC7-0A47-B6D9-4DCC00FDA825}" type="slidenum">
              <a:rPr lang="en-US" sz="1400"/>
              <a:pPr/>
              <a:t>19</a:t>
            </a:fld>
            <a:endParaRPr lang="en-US" sz="1400"/>
          </a:p>
        </p:txBody>
      </p:sp>
      <p:sp>
        <p:nvSpPr>
          <p:cNvPr id="25602" name="Text Box 5"/>
          <p:cNvSpPr txBox="1">
            <a:spLocks noChangeArrowheads="1"/>
          </p:cNvSpPr>
          <p:nvPr/>
        </p:nvSpPr>
        <p:spPr bwMode="auto">
          <a:xfrm>
            <a:off x="305860" y="2111375"/>
            <a:ext cx="81740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Moreover, function application is assumed to have </a:t>
            </a:r>
            <a:r>
              <a:rPr lang="en-US" u="sng" dirty="0"/>
              <a:t>higher priority</a:t>
            </a:r>
            <a:r>
              <a:rPr lang="en-US" dirty="0"/>
              <a:t> than all other operators.</a:t>
            </a:r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1641475" y="3235325"/>
            <a:ext cx="14732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f a + b</a:t>
            </a:r>
          </a:p>
        </p:txBody>
      </p:sp>
      <p:sp>
        <p:nvSpPr>
          <p:cNvPr id="25604" name="AutoShape 9"/>
          <p:cNvSpPr>
            <a:spLocks noChangeArrowheads="1"/>
          </p:cNvSpPr>
          <p:nvPr/>
        </p:nvSpPr>
        <p:spPr bwMode="auto">
          <a:xfrm>
            <a:off x="850900" y="4994275"/>
            <a:ext cx="6915150" cy="566738"/>
          </a:xfrm>
          <a:prstGeom prst="wedgeRoundRectCallout">
            <a:avLst>
              <a:gd name="adj1" fmla="val -27389"/>
              <a:gd name="adj2" fmla="val -197375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/>
              <a:t>Means (f a) + b, rather than f (a + b).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340E9F-2A7A-149C-B5C7-7F79563CD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1295" y="736975"/>
            <a:ext cx="8138532" cy="685800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Function Application in Haskell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  <a:cs typeface="ＭＳ Ｐゴシック" charset="0"/>
              </a:rPr>
              <a:t>Examples</a:t>
            </a:r>
          </a:p>
        </p:txBody>
      </p:sp>
      <p:sp>
        <p:nvSpPr>
          <p:cNvPr id="2662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E087749-1F4D-9B44-AB89-0370833F3286}" type="slidenum">
              <a:rPr lang="en-US" sz="1400"/>
              <a:pPr/>
              <a:t>20</a:t>
            </a:fld>
            <a:endParaRPr lang="en-US" sz="1400"/>
          </a:p>
        </p:txBody>
      </p:sp>
      <p:grpSp>
        <p:nvGrpSpPr>
          <p:cNvPr id="26627" name="Group 46"/>
          <p:cNvGrpSpPr>
            <a:grpSpLocks/>
          </p:cNvGrpSpPr>
          <p:nvPr/>
        </p:nvGrpSpPr>
        <p:grpSpPr bwMode="auto">
          <a:xfrm>
            <a:off x="1587345" y="2105624"/>
            <a:ext cx="5056188" cy="4595812"/>
            <a:chOff x="1240" y="938"/>
            <a:chExt cx="3185" cy="2895"/>
          </a:xfrm>
        </p:grpSpPr>
        <p:sp>
          <p:nvSpPr>
            <p:cNvPr id="26628" name="Text Box 5"/>
            <p:cNvSpPr txBox="1">
              <a:spLocks noChangeArrowheads="1"/>
            </p:cNvSpPr>
            <p:nvPr/>
          </p:nvSpPr>
          <p:spPr bwMode="auto">
            <a:xfrm>
              <a:off x="1240" y="938"/>
              <a:ext cx="1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u="sng" dirty="0"/>
                <a:t>Mathematics</a:t>
              </a:r>
            </a:p>
          </p:txBody>
        </p:sp>
        <p:sp>
          <p:nvSpPr>
            <p:cNvPr id="26629" name="Text Box 6"/>
            <p:cNvSpPr txBox="1">
              <a:spLocks noChangeArrowheads="1"/>
            </p:cNvSpPr>
            <p:nvPr/>
          </p:nvSpPr>
          <p:spPr bwMode="auto">
            <a:xfrm>
              <a:off x="3205" y="939"/>
              <a:ext cx="8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u="sng"/>
                <a:t>Haskell</a:t>
              </a:r>
              <a:endParaRPr lang="en-US"/>
            </a:p>
          </p:txBody>
        </p:sp>
        <p:sp>
          <p:nvSpPr>
            <p:cNvPr id="26630" name="Text Box 7"/>
            <p:cNvSpPr txBox="1">
              <a:spLocks noChangeArrowheads="1"/>
            </p:cNvSpPr>
            <p:nvPr/>
          </p:nvSpPr>
          <p:spPr bwMode="auto">
            <a:xfrm>
              <a:off x="1291" y="1507"/>
              <a:ext cx="580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 dirty="0">
                  <a:latin typeface="Lucida Sans Typewriter" charset="0"/>
                </a:rPr>
                <a:t>f(x)</a:t>
              </a:r>
            </a:p>
          </p:txBody>
        </p:sp>
        <p:sp>
          <p:nvSpPr>
            <p:cNvPr id="26631" name="Text Box 8"/>
            <p:cNvSpPr txBox="1">
              <a:spLocks noChangeArrowheads="1"/>
            </p:cNvSpPr>
            <p:nvPr/>
          </p:nvSpPr>
          <p:spPr bwMode="auto">
            <a:xfrm>
              <a:off x="1291" y="2017"/>
              <a:ext cx="812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f(x,y)</a:t>
              </a:r>
            </a:p>
          </p:txBody>
        </p:sp>
        <p:sp>
          <p:nvSpPr>
            <p:cNvPr id="26632" name="Text Box 9"/>
            <p:cNvSpPr txBox="1">
              <a:spLocks noChangeArrowheads="1"/>
            </p:cNvSpPr>
            <p:nvPr/>
          </p:nvSpPr>
          <p:spPr bwMode="auto">
            <a:xfrm>
              <a:off x="1291" y="2528"/>
              <a:ext cx="92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f(g(x))</a:t>
              </a:r>
            </a:p>
          </p:txBody>
        </p:sp>
        <p:sp>
          <p:nvSpPr>
            <p:cNvPr id="26633" name="Text Box 10"/>
            <p:cNvSpPr txBox="1">
              <a:spLocks noChangeArrowheads="1"/>
            </p:cNvSpPr>
            <p:nvPr/>
          </p:nvSpPr>
          <p:spPr bwMode="auto">
            <a:xfrm>
              <a:off x="1291" y="3039"/>
              <a:ext cx="1160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f(x,g(y))</a:t>
              </a:r>
            </a:p>
          </p:txBody>
        </p:sp>
        <p:sp>
          <p:nvSpPr>
            <p:cNvPr id="26634" name="Text Box 11"/>
            <p:cNvSpPr txBox="1">
              <a:spLocks noChangeArrowheads="1"/>
            </p:cNvSpPr>
            <p:nvPr/>
          </p:nvSpPr>
          <p:spPr bwMode="auto">
            <a:xfrm>
              <a:off x="1292" y="3542"/>
              <a:ext cx="1044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f(x)g(y)</a:t>
              </a:r>
            </a:p>
          </p:txBody>
        </p:sp>
        <p:sp>
          <p:nvSpPr>
            <p:cNvPr id="26635" name="Text Box 18"/>
            <p:cNvSpPr txBox="1">
              <a:spLocks noChangeArrowheads="1"/>
            </p:cNvSpPr>
            <p:nvPr/>
          </p:nvSpPr>
          <p:spPr bwMode="auto">
            <a:xfrm>
              <a:off x="3264" y="1503"/>
              <a:ext cx="464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x</a:t>
              </a:r>
            </a:p>
          </p:txBody>
        </p:sp>
        <p:sp>
          <p:nvSpPr>
            <p:cNvPr id="26636" name="Text Box 19"/>
            <p:cNvSpPr txBox="1">
              <a:spLocks noChangeArrowheads="1"/>
            </p:cNvSpPr>
            <p:nvPr/>
          </p:nvSpPr>
          <p:spPr bwMode="auto">
            <a:xfrm>
              <a:off x="3264" y="2013"/>
              <a:ext cx="696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x y</a:t>
              </a:r>
            </a:p>
          </p:txBody>
        </p:sp>
        <p:sp>
          <p:nvSpPr>
            <p:cNvPr id="26637" name="Text Box 20"/>
            <p:cNvSpPr txBox="1">
              <a:spLocks noChangeArrowheads="1"/>
            </p:cNvSpPr>
            <p:nvPr/>
          </p:nvSpPr>
          <p:spPr bwMode="auto">
            <a:xfrm>
              <a:off x="3264" y="2524"/>
              <a:ext cx="92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(g x)</a:t>
              </a:r>
            </a:p>
          </p:txBody>
        </p:sp>
        <p:sp>
          <p:nvSpPr>
            <p:cNvPr id="26638" name="Text Box 21"/>
            <p:cNvSpPr txBox="1">
              <a:spLocks noChangeArrowheads="1"/>
            </p:cNvSpPr>
            <p:nvPr/>
          </p:nvSpPr>
          <p:spPr bwMode="auto">
            <a:xfrm>
              <a:off x="3264" y="3034"/>
              <a:ext cx="1160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x (g y)</a:t>
              </a:r>
            </a:p>
          </p:txBody>
        </p:sp>
        <p:sp>
          <p:nvSpPr>
            <p:cNvPr id="26639" name="Text Box 22"/>
            <p:cNvSpPr txBox="1">
              <a:spLocks noChangeArrowheads="1"/>
            </p:cNvSpPr>
            <p:nvPr/>
          </p:nvSpPr>
          <p:spPr bwMode="auto">
            <a:xfrm>
              <a:off x="3265" y="3545"/>
              <a:ext cx="1160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f x * g y</a:t>
              </a: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10241" y="753228"/>
            <a:ext cx="7210396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Haskell</a:t>
            </a:r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 Scripts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510241" y="2095799"/>
            <a:ext cx="7959202" cy="462522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ahoma" charset="0"/>
                <a:ea typeface="ＭＳ Ｐゴシック" charset="0"/>
              </a:rPr>
              <a:t>What is a script? </a:t>
            </a:r>
          </a:p>
          <a:p>
            <a:pPr lvl="1"/>
            <a:r>
              <a:rPr lang="en-IE" sz="2800" dirty="0">
                <a:latin typeface="Tahoma" charset="0"/>
                <a:ea typeface="ＭＳ Ｐゴシック" charset="0"/>
              </a:rPr>
              <a:t>Text files containing Haskell code, typically with a .</a:t>
            </a:r>
            <a:r>
              <a:rPr lang="en-IE" sz="2800" dirty="0" err="1">
                <a:latin typeface="Tahoma" charset="0"/>
                <a:ea typeface="ＭＳ Ｐゴシック" charset="0"/>
              </a:rPr>
              <a:t>hs</a:t>
            </a:r>
            <a:r>
              <a:rPr lang="en-IE" sz="2800" dirty="0">
                <a:latin typeface="Tahoma" charset="0"/>
                <a:ea typeface="ＭＳ Ｐゴシック" charset="0"/>
              </a:rPr>
              <a:t> extension</a:t>
            </a:r>
            <a:r>
              <a:rPr lang="en-IE" dirty="0"/>
              <a:t>.</a:t>
            </a: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latin typeface="Tahoma" charset="0"/>
                <a:ea typeface="ＭＳ Ｐゴシック" charset="0"/>
              </a:rPr>
              <a:t>Example Script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:</a:t>
            </a:r>
          </a:p>
          <a:p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0" indent="0">
              <a:buNone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r>
              <a:rPr lang="en-IE" sz="2800" dirty="0">
                <a:latin typeface="Tahoma" charset="0"/>
                <a:ea typeface="ＭＳ Ｐゴシック" charset="0"/>
              </a:rPr>
              <a:t>Save the file as </a:t>
            </a:r>
            <a:r>
              <a:rPr lang="en-IE" sz="2800" dirty="0" err="1">
                <a:latin typeface="Tahoma" charset="0"/>
                <a:ea typeface="ＭＳ Ｐゴシック" charset="0"/>
              </a:rPr>
              <a:t>test.hs</a:t>
            </a:r>
            <a:r>
              <a:rPr lang="en-IE" sz="2800" dirty="0">
                <a:latin typeface="Tahoma" charset="0"/>
                <a:ea typeface="ＭＳ Ｐゴシック" charset="0"/>
              </a:rPr>
              <a:t> and load it into </a:t>
            </a:r>
            <a:r>
              <a:rPr lang="en-IE" sz="2800" dirty="0" err="1">
                <a:latin typeface="Tahoma" charset="0"/>
                <a:ea typeface="ＭＳ Ｐゴシック" charset="0"/>
              </a:rPr>
              <a:t>GHCi</a:t>
            </a:r>
            <a:endParaRPr lang="en-US" sz="2800" dirty="0">
              <a:latin typeface="Tahoma" charset="0"/>
              <a:ea typeface="ＭＳ Ｐゴシック" charset="0"/>
            </a:endParaRPr>
          </a:p>
        </p:txBody>
      </p:sp>
      <p:sp>
        <p:nvSpPr>
          <p:cNvPr id="2764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34FCE1A-107E-2443-88F3-C8A4A32F4223}" type="slidenum">
              <a:rPr lang="en-US" sz="1400"/>
              <a:pPr/>
              <a:t>21</a:t>
            </a:fld>
            <a:endParaRPr lang="en-US" sz="1400"/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C034B2F6-EA47-0681-954B-5513AD729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936" y="3691784"/>
            <a:ext cx="5949064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double x = x + x</a:t>
            </a:r>
          </a:p>
          <a:p>
            <a:r>
              <a:rPr lang="en-US" sz="2400" dirty="0">
                <a:latin typeface="Lucida Sans Typewriter" charset="0"/>
              </a:rPr>
              <a:t>quadruple x = double (double x)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FDD773B8-A555-B314-6CF0-9876EDE9F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86" y="5520690"/>
            <a:ext cx="5499935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$ </a:t>
            </a:r>
            <a:r>
              <a:rPr lang="en-US" sz="2400" dirty="0" err="1">
                <a:latin typeface="Lucida Sans Typewriter" charset="0"/>
              </a:rPr>
              <a:t>ghci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test.hs</a:t>
            </a:r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&gt; quadruple 10 -- 40</a:t>
            </a:r>
          </a:p>
          <a:p>
            <a:endParaRPr lang="en-US" sz="2400" dirty="0">
              <a:latin typeface="Lucida Sans Typewriter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" grpId="0" animBg="1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D80B69E-20D5-3A43-A858-E6D71E7A76AB}" type="slidenum">
              <a:rPr lang="en-US" sz="1400"/>
              <a:pPr/>
              <a:t>22</a:t>
            </a:fld>
            <a:endParaRPr lang="en-US" sz="140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1641572" y="3392490"/>
            <a:ext cx="5391219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factorial n = product [1..n]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66511" y="2444277"/>
            <a:ext cx="8288338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Examples: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factorial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  <a:r>
              <a:rPr lang="en-US" dirty="0">
                <a:latin typeface="Tahoma" charset="0"/>
                <a:ea typeface="ＭＳ Ｐゴシック" charset="0"/>
                <a:cs typeface="ＭＳ Ｐゴシック" charset="0"/>
              </a:rPr>
              <a:t>verage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US" dirty="0">
              <a:latin typeface="Tahom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0724" name="Rectangle 8"/>
          <p:cNvSpPr>
            <a:spLocks noChangeArrowheads="1"/>
          </p:cNvSpPr>
          <p:nvPr/>
        </p:nvSpPr>
        <p:spPr bwMode="auto">
          <a:xfrm>
            <a:off x="354870" y="5270694"/>
            <a:ext cx="8557835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14350" indent="-51435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/>
              <a:t>Use backticks for infix notation: sum ns `div` length ns`</a:t>
            </a:r>
            <a:endParaRPr kumimoji="1" lang="en-US" dirty="0"/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x `f` y is just </a:t>
            </a:r>
            <a:r>
              <a:rPr kumimoji="1" lang="en-US" u="sng" dirty="0"/>
              <a:t>syntactic sugar</a:t>
            </a:r>
            <a:r>
              <a:rPr kumimoji="1" lang="en-US" dirty="0"/>
              <a:t> for f x 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6A7A-50EF-4544-D5D3-68D556F9E988}"/>
              </a:ext>
            </a:extLst>
          </p:cNvPr>
          <p:cNvSpPr txBox="1"/>
          <p:nvPr/>
        </p:nvSpPr>
        <p:spPr>
          <a:xfrm>
            <a:off x="742950" y="1025162"/>
            <a:ext cx="5096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Defining Functions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84DB20-A590-FF3A-30DA-96550883B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572" y="4710129"/>
            <a:ext cx="6692858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average ns = sum ns `div` length ns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B14E4C1-AAF0-FD40-9241-254D62A910F0}" type="slidenum">
              <a:rPr lang="en-US" sz="1400"/>
              <a:pPr/>
              <a:t>23</a:t>
            </a:fld>
            <a:endParaRPr lang="en-US" sz="1400"/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365125" y="850434"/>
            <a:ext cx="828833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b="1" dirty="0"/>
              <a:t>Useful GHCI Commands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F1124A-4434-FF34-7D9F-04E702D42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882304"/>
              </p:ext>
            </p:extLst>
          </p:nvPr>
        </p:nvGraphicFramePr>
        <p:xfrm>
          <a:off x="984354" y="2986946"/>
          <a:ext cx="6105994" cy="2109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936">
                  <a:extLst>
                    <a:ext uri="{9D8B030D-6E8A-4147-A177-3AD203B41FA5}">
                      <a16:colId xmlns:a16="http://schemas.microsoft.com/office/drawing/2014/main" val="3565237971"/>
                    </a:ext>
                  </a:extLst>
                </a:gridCol>
                <a:gridCol w="4134058">
                  <a:extLst>
                    <a:ext uri="{9D8B030D-6E8A-4147-A177-3AD203B41FA5}">
                      <a16:colId xmlns:a16="http://schemas.microsoft.com/office/drawing/2014/main" val="3323255465"/>
                    </a:ext>
                  </a:extLst>
                </a:gridCol>
              </a:tblGrid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049281"/>
                  </a:ext>
                </a:extLst>
              </a:tr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:load &lt;file&gt;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 a Haskell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588214"/>
                  </a:ext>
                </a:extLst>
              </a:tr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:reload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Reload the current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757908"/>
                  </a:ext>
                </a:extLst>
              </a:tr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:type &lt;expr&gt;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the type of an 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122286"/>
                  </a:ext>
                </a:extLst>
              </a:tr>
              <a:tr h="421942">
                <a:tc>
                  <a:txBody>
                    <a:bodyPr/>
                    <a:lstStyle/>
                    <a:p>
                      <a:r>
                        <a:rPr lang="en-US" dirty="0"/>
                        <a:t>:quit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Exit </a:t>
                      </a:r>
                      <a:r>
                        <a:rPr lang="en-US" dirty="0" err="1"/>
                        <a:t>GHCi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2708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909379A-D9F8-E312-D2A2-9185CE885D02}"/>
              </a:ext>
            </a:extLst>
          </p:cNvPr>
          <p:cNvSpPr txBox="1"/>
          <p:nvPr/>
        </p:nvSpPr>
        <p:spPr>
          <a:xfrm>
            <a:off x="1214203" y="5831174"/>
            <a:ext cx="741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Tip : use :q in </a:t>
            </a:r>
            <a:r>
              <a:rPr lang="en-US" dirty="0" err="1"/>
              <a:t>GHCi</a:t>
            </a:r>
            <a:r>
              <a:rPr lang="en-US" dirty="0"/>
              <a:t> for a list of all commands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Naming Requirements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2174081"/>
            <a:ext cx="8178800" cy="109537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ahoma" charset="0"/>
                <a:ea typeface="ＭＳ Ｐゴシック" charset="0"/>
              </a:rPr>
              <a:t>Function and argument names must begin with a lower-case letter.  For example:</a:t>
            </a:r>
          </a:p>
        </p:txBody>
      </p:sp>
      <p:sp>
        <p:nvSpPr>
          <p:cNvPr id="3379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FBB9433-BABE-544F-BBCC-4B7707DDC055}" type="slidenum">
              <a:rPr lang="en-US" sz="1400"/>
              <a:pPr/>
              <a:t>24</a:t>
            </a:fld>
            <a:endParaRPr lang="en-US" sz="1400"/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568450" y="3113088"/>
            <a:ext cx="11049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 dirty="0" err="1">
                <a:latin typeface="Lucida Sans Typewriter" charset="0"/>
              </a:rPr>
              <a:t>myFun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3563938" y="3113088"/>
            <a:ext cx="920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>
                <a:latin typeface="Lucida Sans Typewriter" charset="0"/>
              </a:rPr>
              <a:t>fun1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5375275" y="3113088"/>
            <a:ext cx="11049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>
                <a:latin typeface="Lucida Sans Typewriter" charset="0"/>
              </a:rPr>
              <a:t>arg_2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7372350" y="3113088"/>
            <a:ext cx="5524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400">
                <a:latin typeface="Lucida Sans Typewriter" charset="0"/>
              </a:rPr>
              <a:t>x</a:t>
            </a:r>
            <a:r>
              <a:rPr lang="ja-JP" altLang="en-US" sz="2400">
                <a:latin typeface="Lucida Sans Typewriter" charset="0"/>
              </a:rPr>
              <a:t>’</a:t>
            </a:r>
            <a:endParaRPr lang="en-US" sz="2400">
              <a:latin typeface="Lucida Sans Typewriter" charset="0"/>
            </a:endParaRPr>
          </a:p>
        </p:txBody>
      </p:sp>
      <p:sp>
        <p:nvSpPr>
          <p:cNvPr id="33800" name="Rectangle 9"/>
          <p:cNvSpPr>
            <a:spLocks noChangeArrowheads="1"/>
          </p:cNvSpPr>
          <p:nvPr/>
        </p:nvSpPr>
        <p:spPr bwMode="auto">
          <a:xfrm>
            <a:off x="509588" y="4064000"/>
            <a:ext cx="81788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dirty="0"/>
              <a:t>By convention, list arguments usually have an </a:t>
            </a:r>
            <a:r>
              <a:rPr kumimoji="1" lang="en-US" u="sng" dirty="0"/>
              <a:t>s</a:t>
            </a:r>
            <a:r>
              <a:rPr kumimoji="1" lang="en-US" dirty="0"/>
              <a:t> suffix on their name.  For example:</a:t>
            </a:r>
          </a:p>
        </p:txBody>
      </p:sp>
      <p:grpSp>
        <p:nvGrpSpPr>
          <p:cNvPr id="33801" name="Group 15"/>
          <p:cNvGrpSpPr>
            <a:grpSpLocks/>
          </p:cNvGrpSpPr>
          <p:nvPr/>
        </p:nvGrpSpPr>
        <p:grpSpPr bwMode="auto">
          <a:xfrm>
            <a:off x="1660525" y="5653088"/>
            <a:ext cx="3667125" cy="457200"/>
            <a:chOff x="1053" y="3265"/>
            <a:chExt cx="2310" cy="288"/>
          </a:xfrm>
        </p:grpSpPr>
        <p:sp>
          <p:nvSpPr>
            <p:cNvPr id="33802" name="Text Box 10"/>
            <p:cNvSpPr txBox="1">
              <a:spLocks noChangeArrowheads="1"/>
            </p:cNvSpPr>
            <p:nvPr/>
          </p:nvSpPr>
          <p:spPr bwMode="auto">
            <a:xfrm>
              <a:off x="1053" y="3265"/>
              <a:ext cx="34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xs</a:t>
              </a:r>
            </a:p>
          </p:txBody>
        </p:sp>
        <p:sp>
          <p:nvSpPr>
            <p:cNvPr id="33803" name="Text Box 11"/>
            <p:cNvSpPr txBox="1">
              <a:spLocks noChangeArrowheads="1"/>
            </p:cNvSpPr>
            <p:nvPr/>
          </p:nvSpPr>
          <p:spPr bwMode="auto">
            <a:xfrm>
              <a:off x="1976" y="3265"/>
              <a:ext cx="348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ns</a:t>
              </a:r>
            </a:p>
          </p:txBody>
        </p:sp>
        <p:sp>
          <p:nvSpPr>
            <p:cNvPr id="33804" name="Text Box 12"/>
            <p:cNvSpPr txBox="1">
              <a:spLocks noChangeArrowheads="1"/>
            </p:cNvSpPr>
            <p:nvPr/>
          </p:nvSpPr>
          <p:spPr bwMode="auto">
            <a:xfrm>
              <a:off x="2899" y="3265"/>
              <a:ext cx="464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400">
                  <a:latin typeface="Lucida Sans Typewriter" charset="0"/>
                </a:rPr>
                <a:t>nss</a:t>
              </a: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Comments in Haskell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2123606"/>
            <a:ext cx="8178800" cy="4876800"/>
          </a:xfrm>
        </p:spPr>
        <p:txBody>
          <a:bodyPr>
            <a:normAutofit/>
          </a:bodyPr>
          <a:lstStyle/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Strive to write clear, self-explanatory code (see 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/>
              </a:rPr>
              <a:t>https://wiki.haskell.org/Commenting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0" indent="0">
              <a:buNone/>
            </a:pPr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Avoid redundant comments</a:t>
            </a:r>
          </a:p>
          <a:p>
            <a:pPr marL="742950" lvl="1" indent="-285750"/>
            <a:endParaRPr lang="en-IE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188134" y="3429000"/>
            <a:ext cx="6767732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z"/>
              <a:defRPr kumimoji="1" sz="2800">
                <a:solidFill>
                  <a:schemeClr val="tx1"/>
                </a:solidFill>
                <a:latin typeface="+mn-lt"/>
                <a:ea typeface="ＭＳ Ｐゴシック" pitchFamily="-1" charset="-128"/>
                <a:cs typeface="ＭＳ Ｐゴシック" pitchFamily="-1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y"/>
              <a:defRPr kumimoji="1" sz="2400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x"/>
              <a:defRPr kumimoji="1" sz="2000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pitchFamily="-1" charset="-128"/>
              </a:defRPr>
            </a:lvl9pPr>
          </a:lstStyle>
          <a:p>
            <a:pPr marL="0" indent="0">
              <a:buNone/>
            </a:pPr>
            <a:r>
              <a:rPr lang="en-US" sz="2400" kern="0" dirty="0">
                <a:latin typeface="Lucida Sans Typewriter" charset="0"/>
              </a:rPr>
              <a:t>swap :: (</a:t>
            </a:r>
            <a:r>
              <a:rPr lang="en-US" sz="2400" kern="0" dirty="0" err="1">
                <a:latin typeface="Lucida Sans Typewriter" charset="0"/>
              </a:rPr>
              <a:t>a,b</a:t>
            </a:r>
            <a:r>
              <a:rPr lang="en-US" sz="2400" kern="0" dirty="0">
                <a:latin typeface="Lucida Sans Typewriter" charset="0"/>
              </a:rPr>
              <a:t>) -&gt; (</a:t>
            </a:r>
            <a:r>
              <a:rPr lang="en-US" sz="2400" kern="0" dirty="0" err="1">
                <a:latin typeface="Lucida Sans Typewriter" charset="0"/>
              </a:rPr>
              <a:t>b,a</a:t>
            </a:r>
            <a:r>
              <a:rPr lang="en-US" sz="2400" kern="0" dirty="0">
                <a:latin typeface="Lucida Sans Typewriter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2361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Comments in Haskell - Syntax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CA5543-1E1F-F043-9EBC-BC37C93D492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300909" y="4920526"/>
            <a:ext cx="5949064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let </a:t>
            </a:r>
            <a:r>
              <a:rPr lang="en-US" sz="2400" dirty="0" err="1">
                <a:latin typeface="Lucida Sans Typewriter" charset="0"/>
              </a:rPr>
              <a:t>newCounter</a:t>
            </a:r>
            <a:r>
              <a:rPr lang="en-US" sz="2400" dirty="0">
                <a:latin typeface="Lucida Sans Typewriter" charset="0"/>
              </a:rPr>
              <a:t> = </a:t>
            </a:r>
            <a:r>
              <a:rPr lang="en-US" sz="2400" dirty="0" err="1">
                <a:latin typeface="Lucida Sans Typewriter" charset="0"/>
              </a:rPr>
              <a:t>oldCounter</a:t>
            </a:r>
            <a:r>
              <a:rPr lang="en-US" sz="2400" dirty="0">
                <a:latin typeface="Lucida Sans Typewriter" charset="0"/>
              </a:rPr>
              <a:t> + 1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57F0DA-7EA2-BF8F-68B1-EDC20EB95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63" y="2684848"/>
            <a:ext cx="7064755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-- A one-line comment looks like this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9758A2-1844-8B50-B51D-CD0C29720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63" y="4181862"/>
            <a:ext cx="7616188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2400" dirty="0">
                <a:latin typeface="Lucida Sans Typewriter" charset="0"/>
              </a:rPr>
              <a:t>{- A multiline</a:t>
            </a:r>
          </a:p>
          <a:p>
            <a:r>
              <a:rPr lang="en-US" sz="2400" dirty="0">
                <a:latin typeface="Lucida Sans Typewriter" charset="0"/>
              </a:rPr>
              <a:t>	comment can continue for many lines</a:t>
            </a:r>
          </a:p>
          <a:p>
            <a:r>
              <a:rPr lang="en-US" sz="2400" dirty="0">
                <a:latin typeface="Lucida Sans Typewriter" charset="0"/>
              </a:rPr>
              <a:t>-}</a:t>
            </a:r>
          </a:p>
        </p:txBody>
      </p:sp>
    </p:spTree>
    <p:extLst>
      <p:ext uri="{BB962C8B-B14F-4D97-AF65-F5344CB8AC3E}">
        <p14:creationId xmlns:p14="http://schemas.microsoft.com/office/powerpoint/2010/main" val="276762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Layout Rule</a:t>
            </a:r>
          </a:p>
        </p:txBody>
      </p:sp>
      <p:sp>
        <p:nvSpPr>
          <p:cNvPr id="3481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0F18ED2-FA50-CE42-B148-F46DA97C8814}" type="slidenum">
              <a:rPr lang="en-US" sz="1400"/>
              <a:pPr/>
              <a:t>27</a:t>
            </a:fld>
            <a:endParaRPr lang="en-US" sz="1400"/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443706" y="1946577"/>
            <a:ext cx="82565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In a sequence of definitions, each definition must begin in precisely the same column:</a:t>
            </a:r>
          </a:p>
        </p:txBody>
      </p:sp>
      <p:grpSp>
        <p:nvGrpSpPr>
          <p:cNvPr id="34820" name="Group 29"/>
          <p:cNvGrpSpPr>
            <a:grpSpLocks/>
          </p:cNvGrpSpPr>
          <p:nvPr/>
        </p:nvGrpSpPr>
        <p:grpSpPr bwMode="auto">
          <a:xfrm>
            <a:off x="1420813" y="3005138"/>
            <a:ext cx="6059487" cy="3000375"/>
            <a:chOff x="895" y="1893"/>
            <a:chExt cx="3817" cy="1890"/>
          </a:xfrm>
        </p:grpSpPr>
        <p:grpSp>
          <p:nvGrpSpPr>
            <p:cNvPr id="34821" name="Group 27"/>
            <p:cNvGrpSpPr>
              <a:grpSpLocks/>
            </p:cNvGrpSpPr>
            <p:nvPr/>
          </p:nvGrpSpPr>
          <p:grpSpPr bwMode="auto">
            <a:xfrm>
              <a:off x="895" y="1893"/>
              <a:ext cx="3817" cy="1208"/>
              <a:chOff x="895" y="1893"/>
              <a:chExt cx="3817" cy="1208"/>
            </a:xfrm>
          </p:grpSpPr>
          <p:sp>
            <p:nvSpPr>
              <p:cNvPr id="34832" name="Text Box 4"/>
              <p:cNvSpPr txBox="1">
                <a:spLocks noChangeArrowheads="1"/>
              </p:cNvSpPr>
              <p:nvPr/>
            </p:nvSpPr>
            <p:spPr bwMode="auto">
              <a:xfrm>
                <a:off x="895" y="1893"/>
                <a:ext cx="812" cy="12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 sz="2400" dirty="0">
                    <a:latin typeface="Lucida Sans Typewriter" charset="0"/>
                  </a:rPr>
                  <a:t>a = 10</a:t>
                </a:r>
              </a:p>
              <a:p>
                <a:endParaRPr lang="en-US" sz="2400" dirty="0">
                  <a:latin typeface="Lucida Sans Typewriter" charset="0"/>
                </a:endParaRPr>
              </a:p>
              <a:p>
                <a:r>
                  <a:rPr lang="en-US" sz="2400" dirty="0">
                    <a:latin typeface="Lucida Sans Typewriter" charset="0"/>
                  </a:rPr>
                  <a:t>b = 20</a:t>
                </a:r>
              </a:p>
              <a:p>
                <a:endParaRPr lang="en-US" sz="2400" dirty="0">
                  <a:latin typeface="Lucida Sans Typewriter" charset="0"/>
                </a:endParaRPr>
              </a:p>
              <a:p>
                <a:r>
                  <a:rPr lang="en-US" sz="2400" dirty="0">
                    <a:latin typeface="Lucida Sans Typewriter" charset="0"/>
                  </a:rPr>
                  <a:t>c = 30</a:t>
                </a:r>
              </a:p>
            </p:txBody>
          </p:sp>
          <p:sp>
            <p:nvSpPr>
              <p:cNvPr id="34833" name="Text Box 5"/>
              <p:cNvSpPr txBox="1">
                <a:spLocks noChangeArrowheads="1"/>
              </p:cNvSpPr>
              <p:nvPr/>
            </p:nvSpPr>
            <p:spPr bwMode="auto">
              <a:xfrm>
                <a:off x="2281" y="1893"/>
                <a:ext cx="928" cy="12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 sz="2400" dirty="0">
                    <a:latin typeface="Lucida Sans Typewriter" charset="0"/>
                  </a:rPr>
                  <a:t>a = 10</a:t>
                </a:r>
              </a:p>
              <a:p>
                <a:endParaRPr lang="en-US" sz="2400" dirty="0">
                  <a:latin typeface="Lucida Sans Typewriter" charset="0"/>
                </a:endParaRPr>
              </a:p>
              <a:p>
                <a:r>
                  <a:rPr lang="en-US" sz="2400" dirty="0">
                    <a:latin typeface="Lucida Sans Typewriter" charset="0"/>
                  </a:rPr>
                  <a:t> b = 20</a:t>
                </a:r>
              </a:p>
              <a:p>
                <a:endParaRPr lang="en-US" sz="2400" dirty="0">
                  <a:latin typeface="Lucida Sans Typewriter" charset="0"/>
                </a:endParaRPr>
              </a:p>
              <a:p>
                <a:r>
                  <a:rPr lang="en-US" sz="2400" dirty="0">
                    <a:latin typeface="Lucida Sans Typewriter" charset="0"/>
                  </a:rPr>
                  <a:t>c = 30</a:t>
                </a:r>
              </a:p>
            </p:txBody>
          </p:sp>
          <p:sp>
            <p:nvSpPr>
              <p:cNvPr id="34834" name="Text Box 6"/>
              <p:cNvSpPr txBox="1">
                <a:spLocks noChangeArrowheads="1"/>
              </p:cNvSpPr>
              <p:nvPr/>
            </p:nvSpPr>
            <p:spPr bwMode="auto">
              <a:xfrm>
                <a:off x="3784" y="1893"/>
                <a:ext cx="928" cy="120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r>
                  <a:rPr lang="en-US" sz="2400">
                    <a:latin typeface="Lucida Sans Typewriter" charset="0"/>
                  </a:rPr>
                  <a:t> a = 10</a:t>
                </a:r>
              </a:p>
              <a:p>
                <a:endParaRPr lang="en-US" sz="2400">
                  <a:latin typeface="Lucida Sans Typewriter" charset="0"/>
                </a:endParaRPr>
              </a:p>
              <a:p>
                <a:r>
                  <a:rPr lang="en-US" sz="2400">
                    <a:latin typeface="Lucida Sans Typewriter" charset="0"/>
                  </a:rPr>
                  <a:t>b = 20</a:t>
                </a:r>
              </a:p>
              <a:p>
                <a:endParaRPr lang="en-US" sz="2400">
                  <a:latin typeface="Lucida Sans Typewriter" charset="0"/>
                </a:endParaRPr>
              </a:p>
              <a:p>
                <a:r>
                  <a:rPr lang="en-US" sz="2400">
                    <a:latin typeface="Lucida Sans Typewriter" charset="0"/>
                  </a:rPr>
                  <a:t> c = 30</a:t>
                </a:r>
              </a:p>
            </p:txBody>
          </p:sp>
        </p:grpSp>
        <p:grpSp>
          <p:nvGrpSpPr>
            <p:cNvPr id="34822" name="Group 28"/>
            <p:cNvGrpSpPr>
              <a:grpSpLocks/>
            </p:cNvGrpSpPr>
            <p:nvPr/>
          </p:nvGrpSpPr>
          <p:grpSpPr bwMode="auto">
            <a:xfrm>
              <a:off x="1089" y="3495"/>
              <a:ext cx="3303" cy="288"/>
              <a:chOff x="1089" y="3495"/>
              <a:chExt cx="3303" cy="288"/>
            </a:xfrm>
          </p:grpSpPr>
          <p:grpSp>
            <p:nvGrpSpPr>
              <p:cNvPr id="34823" name="Group 15"/>
              <p:cNvGrpSpPr>
                <a:grpSpLocks/>
              </p:cNvGrpSpPr>
              <p:nvPr/>
            </p:nvGrpSpPr>
            <p:grpSpPr bwMode="auto">
              <a:xfrm>
                <a:off x="2601" y="3495"/>
                <a:ext cx="287" cy="288"/>
                <a:chOff x="1085" y="3117"/>
                <a:chExt cx="411" cy="416"/>
              </a:xfrm>
            </p:grpSpPr>
            <p:sp>
              <p:nvSpPr>
                <p:cNvPr id="34830" name="Line 13"/>
                <p:cNvSpPr>
                  <a:spLocks noChangeShapeType="1"/>
                </p:cNvSpPr>
                <p:nvPr/>
              </p:nvSpPr>
              <p:spPr bwMode="auto">
                <a:xfrm>
                  <a:off x="1091" y="3117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31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1085" y="3127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824" name="Group 16"/>
              <p:cNvGrpSpPr>
                <a:grpSpLocks/>
              </p:cNvGrpSpPr>
              <p:nvPr/>
            </p:nvGrpSpPr>
            <p:grpSpPr bwMode="auto">
              <a:xfrm>
                <a:off x="4104" y="3495"/>
                <a:ext cx="288" cy="288"/>
                <a:chOff x="1085" y="3117"/>
                <a:chExt cx="411" cy="416"/>
              </a:xfrm>
            </p:grpSpPr>
            <p:sp>
              <p:nvSpPr>
                <p:cNvPr id="34828" name="Line 17"/>
                <p:cNvSpPr>
                  <a:spLocks noChangeShapeType="1"/>
                </p:cNvSpPr>
                <p:nvPr/>
              </p:nvSpPr>
              <p:spPr bwMode="auto">
                <a:xfrm>
                  <a:off x="1091" y="3117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829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1085" y="3127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4825" name="Group 24"/>
              <p:cNvGrpSpPr>
                <a:grpSpLocks/>
              </p:cNvGrpSpPr>
              <p:nvPr/>
            </p:nvGrpSpPr>
            <p:grpSpPr bwMode="auto">
              <a:xfrm>
                <a:off x="1089" y="3495"/>
                <a:ext cx="423" cy="281"/>
                <a:chOff x="958" y="3028"/>
                <a:chExt cx="604" cy="406"/>
              </a:xfrm>
            </p:grpSpPr>
            <p:sp>
              <p:nvSpPr>
                <p:cNvPr id="34826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157" y="3028"/>
                  <a:ext cx="405" cy="406"/>
                </a:xfrm>
                <a:prstGeom prst="line">
                  <a:avLst/>
                </a:prstGeom>
                <a:noFill/>
                <a:ln w="127000" cap="sq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4827" name="Line 23"/>
                <p:cNvSpPr>
                  <a:spLocks noChangeShapeType="1"/>
                </p:cNvSpPr>
                <p:nvPr/>
              </p:nvSpPr>
              <p:spPr bwMode="auto">
                <a:xfrm>
                  <a:off x="958" y="3242"/>
                  <a:ext cx="187" cy="187"/>
                </a:xfrm>
                <a:prstGeom prst="line">
                  <a:avLst/>
                </a:prstGeom>
                <a:noFill/>
                <a:ln w="127000" cap="sq">
                  <a:solidFill>
                    <a:srgbClr val="008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The Layout Rule</a:t>
            </a:r>
          </a:p>
        </p:txBody>
      </p:sp>
      <p:sp>
        <p:nvSpPr>
          <p:cNvPr id="3481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0F18ED2-FA50-CE42-B148-F46DA97C8814}" type="slidenum">
              <a:rPr lang="en-US" sz="1400"/>
              <a:pPr/>
              <a:t>28</a:t>
            </a:fld>
            <a:endParaRPr lang="en-US" sz="1400"/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14F0BF4E-9154-9420-45E4-713954B264F3}"/>
              </a:ext>
            </a:extLst>
          </p:cNvPr>
          <p:cNvGrpSpPr>
            <a:grpSpLocks/>
          </p:cNvGrpSpPr>
          <p:nvPr/>
        </p:nvGrpSpPr>
        <p:grpSpPr bwMode="auto">
          <a:xfrm>
            <a:off x="3622675" y="3347435"/>
            <a:ext cx="1347787" cy="730250"/>
            <a:chOff x="2268" y="2127"/>
            <a:chExt cx="849" cy="460"/>
          </a:xfrm>
        </p:grpSpPr>
        <p:sp>
          <p:nvSpPr>
            <p:cNvPr id="3" name="AutoShape 21">
              <a:extLst>
                <a:ext uri="{FF2B5EF4-FFF2-40B4-BE49-F238E27FC236}">
                  <a16:creationId xmlns:a16="http://schemas.microsoft.com/office/drawing/2014/main" id="{FC9C99E3-150D-8FA1-1EE2-1D270A3C4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" y="2127"/>
              <a:ext cx="849" cy="460"/>
            </a:xfrm>
            <a:prstGeom prst="rightArrow">
              <a:avLst>
                <a:gd name="adj1" fmla="val 50000"/>
                <a:gd name="adj2" fmla="val 46141"/>
              </a:avLst>
            </a:prstGeom>
            <a:solidFill>
              <a:srgbClr val="00800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Text Box 18">
              <a:extLst>
                <a:ext uri="{FF2B5EF4-FFF2-40B4-BE49-F238E27FC236}">
                  <a16:creationId xmlns:a16="http://schemas.microsoft.com/office/drawing/2014/main" id="{A3CB5317-DA1A-2B61-61E8-112B8C6AF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7" y="2176"/>
              <a:ext cx="7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algn="ctr"/>
              <a:r>
                <a:rPr lang="en-US" dirty="0"/>
                <a:t>means</a:t>
              </a:r>
            </a:p>
          </p:txBody>
        </p:sp>
      </p:grpSp>
      <p:sp>
        <p:nvSpPr>
          <p:cNvPr id="5" name="Text Box 3">
            <a:extLst>
              <a:ext uri="{FF2B5EF4-FFF2-40B4-BE49-F238E27FC236}">
                <a16:creationId xmlns:a16="http://schemas.microsoft.com/office/drawing/2014/main" id="{C366C0B8-6D9D-6219-629D-492292AC3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798" y="2915104"/>
            <a:ext cx="2209800" cy="1917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a = b + c</a:t>
            </a:r>
          </a:p>
          <a:p>
            <a:r>
              <a:rPr lang="en-US" sz="2400" dirty="0">
                <a:latin typeface="Lucida Sans Typewriter" charset="0"/>
              </a:rPr>
              <a:t>    where</a:t>
            </a:r>
          </a:p>
          <a:p>
            <a:r>
              <a:rPr lang="en-US" sz="2400" dirty="0">
                <a:latin typeface="Lucida Sans Typewriter" charset="0"/>
              </a:rPr>
              <a:t>      b = 1</a:t>
            </a:r>
          </a:p>
          <a:p>
            <a:r>
              <a:rPr lang="en-US" sz="2400" dirty="0">
                <a:latin typeface="Lucida Sans Typewriter" charset="0"/>
              </a:rPr>
              <a:t>      c = 2</a:t>
            </a:r>
          </a:p>
          <a:p>
            <a:r>
              <a:rPr lang="en-US" sz="2400" dirty="0">
                <a:latin typeface="Lucida Sans Typewriter" charset="0"/>
              </a:rPr>
              <a:t>d = a * 2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F1E8E3A5-B41F-EB0B-7543-4DBFD37A3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4475" y="2915104"/>
            <a:ext cx="2595563" cy="19399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a = b + c</a:t>
            </a:r>
          </a:p>
          <a:p>
            <a:r>
              <a:rPr lang="en-US" sz="2400" dirty="0">
                <a:latin typeface="Lucida Sans Typewriter" charset="0"/>
              </a:rPr>
              <a:t>    where</a:t>
            </a:r>
          </a:p>
          <a:p>
            <a:r>
              <a:rPr lang="en-US" sz="2400" dirty="0">
                <a:latin typeface="Lucida Sans Typewriter" charset="0"/>
              </a:rPr>
              <a:t>      {b = 1;</a:t>
            </a:r>
          </a:p>
          <a:p>
            <a:r>
              <a:rPr lang="en-US" sz="2400" dirty="0">
                <a:latin typeface="Lucida Sans Typewriter" charset="0"/>
              </a:rPr>
              <a:t>       c = 2}</a:t>
            </a:r>
          </a:p>
          <a:p>
            <a:r>
              <a:rPr lang="en-US" sz="2400" dirty="0">
                <a:latin typeface="Lucida Sans Typewriter" charset="0"/>
              </a:rPr>
              <a:t> d = a * 2</a:t>
            </a:r>
          </a:p>
        </p:txBody>
      </p:sp>
      <p:sp>
        <p:nvSpPr>
          <p:cNvPr id="7" name="AutoShape 14">
            <a:extLst>
              <a:ext uri="{FF2B5EF4-FFF2-40B4-BE49-F238E27FC236}">
                <a16:creationId xmlns:a16="http://schemas.microsoft.com/office/drawing/2014/main" id="{30E479DD-0C64-94AB-8C8E-44CB9009F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5541963"/>
            <a:ext cx="3113087" cy="566737"/>
          </a:xfrm>
          <a:prstGeom prst="wedgeRoundRectCallout">
            <a:avLst>
              <a:gd name="adj1" fmla="val -2625"/>
              <a:gd name="adj2" fmla="val -136273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/>
              <a:t>implicit grouping</a:t>
            </a:r>
          </a:p>
        </p:txBody>
      </p:sp>
      <p:sp>
        <p:nvSpPr>
          <p:cNvPr id="8" name="AutoShape 15">
            <a:extLst>
              <a:ext uri="{FF2B5EF4-FFF2-40B4-BE49-F238E27FC236}">
                <a16:creationId xmlns:a16="http://schemas.microsoft.com/office/drawing/2014/main" id="{105C6083-660B-B40E-3731-DB4F51A97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5541963"/>
            <a:ext cx="3113088" cy="566737"/>
          </a:xfrm>
          <a:prstGeom prst="wedgeRoundRectCallout">
            <a:avLst>
              <a:gd name="adj1" fmla="val -3801"/>
              <a:gd name="adj2" fmla="val -127593"/>
              <a:gd name="adj3" fmla="val 16667"/>
            </a:avLst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/>
              <a:t>explicit grouping</a:t>
            </a: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81767BEA-1BE4-5303-3AA1-E01297720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11" y="1901560"/>
            <a:ext cx="81391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layout rule avoids the need for explicit syntax to indicate the grouping of definitions.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3B2B69-5403-DD32-FC08-5C4CEA6A0148}"/>
              </a:ext>
            </a:extLst>
          </p:cNvPr>
          <p:cNvSpPr txBox="1"/>
          <p:nvPr/>
        </p:nvSpPr>
        <p:spPr>
          <a:xfrm>
            <a:off x="949872" y="6244357"/>
            <a:ext cx="74876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b="1" dirty="0"/>
              <a:t>Tip</a:t>
            </a:r>
            <a:r>
              <a:rPr lang="en-IE" dirty="0"/>
              <a:t>: Align code neatly to avoid syntax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363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  <a:cs typeface="ＭＳ Ｐゴシック" charset="0"/>
              </a:rPr>
              <a:t>Recap</a:t>
            </a:r>
          </a:p>
        </p:txBody>
      </p:sp>
      <p:sp>
        <p:nvSpPr>
          <p:cNvPr id="3481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0F18ED2-FA50-CE42-B148-F46DA97C8814}" type="slidenum">
              <a:rPr lang="en-US" sz="1400"/>
              <a:pPr/>
              <a:t>29</a:t>
            </a:fld>
            <a:endParaRPr lang="en-US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7989C6-71EC-C9C3-2232-E078CE611EE8}"/>
              </a:ext>
            </a:extLst>
          </p:cNvPr>
          <p:cNvSpPr txBox="1"/>
          <p:nvPr/>
        </p:nvSpPr>
        <p:spPr>
          <a:xfrm>
            <a:off x="2518348" y="6370820"/>
            <a:ext cx="648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46C17-EA47-204B-E9FF-6CACBF75405C}"/>
              </a:ext>
            </a:extLst>
          </p:cNvPr>
          <p:cNvSpPr txBox="1"/>
          <p:nvPr/>
        </p:nvSpPr>
        <p:spPr>
          <a:xfrm>
            <a:off x="1011835" y="2687945"/>
            <a:ext cx="756253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E" b="1" dirty="0"/>
              <a:t>Key Takeaways</a:t>
            </a:r>
            <a:r>
              <a:rPr lang="en-IE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 err="1"/>
              <a:t>GHCi</a:t>
            </a:r>
            <a:r>
              <a:rPr lang="en-IE" dirty="0"/>
              <a:t> is an interactive and powerful environment for Haskell.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Use the Prelude for built-in functions and utilities.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dirty="0"/>
              <a:t>Write clean, concise scripts and test them in </a:t>
            </a:r>
            <a:r>
              <a:rPr lang="en-IE" dirty="0" err="1"/>
              <a:t>GHCi</a:t>
            </a:r>
            <a:r>
              <a:rPr lang="en-I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3368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-first-steps" id="{114FA3A5-54B0-F648-8A82-5F4E33E8EA9F}" vid="{544CB0E1-D8E5-D147-98C3-612C8FAB38E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3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4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5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6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7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8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9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0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3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4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5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6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7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8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19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0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3661</TotalTime>
  <Words>1883</Words>
  <Application>Microsoft Macintosh PowerPoint</Application>
  <PresentationFormat>On-screen Show (4:3)</PresentationFormat>
  <Paragraphs>348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Arial Black</vt:lpstr>
      <vt:lpstr>Calibri</vt:lpstr>
      <vt:lpstr>Consolas</vt:lpstr>
      <vt:lpstr>Georgia</vt:lpstr>
      <vt:lpstr>Lucida Sans Typewriter</vt:lpstr>
      <vt:lpstr>Tahoma</vt:lpstr>
      <vt:lpstr>Times New Roman</vt:lpstr>
      <vt:lpstr>Trebuchet MS</vt:lpstr>
      <vt:lpstr>Wingdings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GHC (Glasgow Haskell Compiler)</vt:lpstr>
      <vt:lpstr>Starting with GHCi</vt:lpstr>
      <vt:lpstr>PowerPoint Presentation</vt:lpstr>
      <vt:lpstr>The Standard Prelude</vt:lpstr>
      <vt:lpstr>The Standard Prelude</vt:lpstr>
      <vt:lpstr>The Standard Prelude</vt:lpstr>
      <vt:lpstr>The Standard Prelude</vt:lpstr>
      <vt:lpstr>Function Application in Haskell</vt:lpstr>
      <vt:lpstr>Function Application in Haskell</vt:lpstr>
      <vt:lpstr>Examples</vt:lpstr>
      <vt:lpstr>Haskell Scripts</vt:lpstr>
      <vt:lpstr>PowerPoint Presentation</vt:lpstr>
      <vt:lpstr>PowerPoint Presentation</vt:lpstr>
      <vt:lpstr>Naming Requirements</vt:lpstr>
      <vt:lpstr>Comments in Haskell </vt:lpstr>
      <vt:lpstr>Comments in Haskell - Syntax</vt:lpstr>
      <vt:lpstr>The Layout Rule</vt:lpstr>
      <vt:lpstr>The Layout Rule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Mairead Meagher</dc:creator>
  <cp:lastModifiedBy>Mairead Meagher</cp:lastModifiedBy>
  <cp:revision>1</cp:revision>
  <cp:lastPrinted>2001-01-05T12:55:38Z</cp:lastPrinted>
  <dcterms:created xsi:type="dcterms:W3CDTF">2026-04-10T10:34:47Z</dcterms:created>
  <dcterms:modified xsi:type="dcterms:W3CDTF">2026-04-12T23:36:18Z</dcterms:modified>
</cp:coreProperties>
</file>