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  <p:sldMasterId id="2147483720" r:id="rId2"/>
  </p:sldMasterIdLst>
  <p:notesMasterIdLst>
    <p:notesMasterId r:id="rId14"/>
  </p:notesMasterIdLst>
  <p:sldIdLst>
    <p:sldId id="31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343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52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0" y="1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83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785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50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0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30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3"/>
            <a:ext cx="865613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920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3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011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4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4" y="1752657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3" y="2272508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2272508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678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004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268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7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585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1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7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87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4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200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4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780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3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463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29909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4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399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2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959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89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915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3" y="4029304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4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2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3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8649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8676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069268" cy="1029803"/>
          </a:xfrm>
        </p:spPr>
        <p:txBody>
          <a:bodyPr anchor="b">
            <a:no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4452141"/>
            <a:ext cx="2057400" cy="273844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4452142"/>
            <a:ext cx="4021666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2062753"/>
            <a:ext cx="1370293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6884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9280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046325"/>
            <a:ext cx="9161969" cy="1257776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152421"/>
            <a:ext cx="6889150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3174129"/>
            <a:ext cx="6889150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4452141"/>
            <a:ext cx="2057400" cy="273844"/>
          </a:xfrm>
        </p:spPr>
        <p:txBody>
          <a:bodyPr/>
          <a:lstStyle/>
          <a:p>
            <a:fld id="{8DFA1846-DA80-1C48-A609-854EA85C59AD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4452142"/>
            <a:ext cx="483467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152422"/>
            <a:ext cx="1149836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3132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64921"/>
            <a:ext cx="688739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752655"/>
            <a:ext cx="335789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9" y="1752655"/>
            <a:ext cx="3359661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9159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3"/>
            <a:ext cx="6896534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1752656"/>
            <a:ext cx="3145080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2272507"/>
            <a:ext cx="3367045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7" y="1752655"/>
            <a:ext cx="3145527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2272507"/>
            <a:ext cx="3367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4762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9446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479946"/>
            <a:ext cx="1444752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70" y="457200"/>
            <a:ext cx="1433231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9406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0"/>
            <a:ext cx="689653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6"/>
            <a:ext cx="3913788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1752655"/>
            <a:ext cx="2796240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210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1752656"/>
            <a:ext cx="391721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1752656"/>
            <a:ext cx="2798487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42957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3533713"/>
            <a:ext cx="6894770" cy="408362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457199"/>
            <a:ext cx="689653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3942074"/>
            <a:ext cx="6894772" cy="41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3483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65029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457197"/>
            <a:ext cx="689653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3532755"/>
            <a:ext cx="6889151" cy="826323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3712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6028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462737"/>
            <a:ext cx="6425147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9" y="2745572"/>
            <a:ext cx="5987731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3532755"/>
            <a:ext cx="6903919" cy="82632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2445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561087"/>
            <a:ext cx="5334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248930"/>
            <a:ext cx="457200" cy="43858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5862344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3532755"/>
            <a:ext cx="6896534" cy="4423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3975112"/>
            <a:ext cx="6896534" cy="383966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2445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64129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1747117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2261468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1752655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2255930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1752655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2255929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4941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2" y="3223127"/>
            <a:ext cx="2192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2" y="1752655"/>
            <a:ext cx="219225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2" y="3655324"/>
            <a:ext cx="2192257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3223127"/>
            <a:ext cx="221507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1752655"/>
            <a:ext cx="221507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3655323"/>
            <a:ext cx="2218004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9" y="3223127"/>
            <a:ext cx="2194333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8" y="1752655"/>
            <a:ext cx="2194333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5" y="3655321"/>
            <a:ext cx="219723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65244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32761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5433125" y="1889359"/>
            <a:ext cx="5146916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457198"/>
            <a:ext cx="1069602" cy="334645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576359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4452141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2"/>
            <a:ext cx="451895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4074375"/>
            <a:ext cx="1149636" cy="954825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56142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82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3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254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35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1752655"/>
            <a:ext cx="6887389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1" y="4452142"/>
            <a:ext cx="483467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564921"/>
            <a:ext cx="1157674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877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1</a:t>
            </a:fld>
            <a:endParaRPr lang="en-US" sz="105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229916" y="751285"/>
            <a:ext cx="668297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7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275160" y="3873104"/>
            <a:ext cx="659368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sz="2400" dirty="0"/>
              <a:t>Topic 14 - </a:t>
            </a:r>
            <a:r>
              <a:rPr lang="en-US" sz="2400" dirty="0">
                <a:solidFill>
                  <a:srgbClr val="FFFFFF"/>
                </a:solidFill>
              </a:rPr>
              <a:t>Invariants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</a:rPr>
              <a:t>From Concept to Haskell</a:t>
            </a:r>
          </a:p>
          <a:p>
            <a:pPr algn="ctr"/>
            <a:endParaRPr kumimoji="1" lang="en-US" sz="2400" dirty="0"/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91" y="1819275"/>
            <a:ext cx="2131219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72B90AB4-40D2-06D4-02B4-744A280FB4F8}"/>
              </a:ext>
            </a:extLst>
          </p:cNvPr>
          <p:cNvSpPr/>
          <p:nvPr/>
        </p:nvSpPr>
        <p:spPr>
          <a:xfrm>
            <a:off x="567369" y="451342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and how Haskell encodes them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130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Invariant?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that always holds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4581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invariant is a property of a system that remains true before and after every operation.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guarantee — not a comment, not a convention, and not an assumption.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invariant holds we say the system is in a valid state.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63440" y="15910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balance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78691" y="187004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drops below its minimum — guaranteed after every transaction.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255117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9169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stays 1–31, month 1–12. No valid operation produces an out-of-range date.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355701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9227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count equals the number of pushes minus pops — always.</a:t>
            </a:r>
            <a:endParaRPr lang="en-US" sz="1400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F8ACFDC8-0C3E-5D5D-2285-3BB24424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 smtClean="0"/>
              <a:pPr/>
              <a:t>2</a:t>
            </a:fld>
            <a:r>
              <a:rPr lang="en-US" sz="1400" dirty="0"/>
              <a:t>c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931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in Software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80369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abstraction relies on invariants to remain coherent.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5795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943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search tree assumes left &lt; root &lt; right at every node. Violate it once and search is silently broken.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2037569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2449049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TCP connection cannot be CLOSED and ESTABLISHED simultaneously. The state type makes the invalid state inexpressible.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037569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2449049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maintains a sorted invariant on every sub-list. The merge step is only correct because both halves are already sorted.</a:t>
            </a:r>
            <a:endParaRPr lang="en-US" sz="1300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58D7970-9F70-77BA-817C-DBB35F05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3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37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Invariants Matter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maintains its invariants cannot produce a whole class of bugs. Violations are caught at the boundary, not buried deep in a call stack.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3756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Safety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invariants are explicit and enforced, you can safely change internals. Callers cannot accidentally break what they cannot construct.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that enforces its invariant is documentation that never goes stale. The constraint is read, checked, and enforced by the compiler.</a:t>
            </a:r>
            <a:endParaRPr lang="en-US" sz="13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E01580A-61BC-DF07-5C0D-5A8A5703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4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2031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 as Invariant Enforcers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0075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Haskell's type system makes some invariants impossible to violate — not because you tested them, but because ill-formed programs don't compile.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4939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for free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871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— use Maybe to make absence explicit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mixing of incompatible units (metres vs feet)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pattern matching — all cases handled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types for logically distinct concepts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14939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2560871"/>
            <a:ext cx="4023360" cy="1920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2652311"/>
            <a:ext cx="38039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Maybe makes absence explicit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:: [Int] -&gt; Int -&gt; Maybe Int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Can't pass a raw String as an Email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Compiler catches missing cases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:: Bool -&gt;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True  = "yes"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False = "no"</a:t>
            </a:r>
            <a:endParaRPr lang="en-US" sz="11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298CBE4-546D-9FA8-7C23-8A204BD0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5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228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 Constructors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23633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constructor hides the raw data constructor and validates the invariant at the point of creation — so an invalid value can never be built.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93776" y="230087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58073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type inside a dedicated module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only the smart constructor — not the data constructor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Maybe or Either to signal invalid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481218"/>
            <a:ext cx="4023360" cy="2743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73168" y="1615073"/>
            <a:ext cx="38039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Calendar (Day, mkDay, getDay) where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Constructor hidden from callers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Day = Day Int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:: Int -&gt; Maybe Day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 &gt;= 1 &amp;&amp; n &lt;= 31 = Just (Day 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otherwise         = Nothing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:: Day -&gt; Int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(Day n) = n</a:t>
            </a:r>
            <a:endParaRPr lang="en-US" sz="1100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C58FEA0-46A6-473C-1FC2-6EFFB99A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6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69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newtype and Phantom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1848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lightweight tools for encoding invariants with zero runtime cost.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29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newtype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414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type to give it a distinct identity at compile time. An Email and a plain String are different types — you cannot pass one where the other is expected.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10128"/>
            <a:ext cx="402336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3401568"/>
            <a:ext cx="38039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 :: Email -&gt; IO 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Cannot pass a raw String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029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Types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4414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parameter that carries compile-time information but holds no value at runtime. Useful for tagging validated vs unvalidated data without overhead.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310128"/>
            <a:ext cx="4023360" cy="162113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82896" y="3299111"/>
            <a:ext cx="38039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Validated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Raw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Tagged t a = Tagged a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:: Tagged Raw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 Maybe (Tagged Validated String)</a:t>
            </a:r>
            <a:endParaRPr lang="en-US" sz="1100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F5FE8753-91E5-E221-B7B0-110B7B3A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7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790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as Invariants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886" y="173050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instances are contracts. The laws are the invariants every conforming instance must preserve — forever.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id  ≡  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(f . g)  ≡  fmap f . fmap 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preserves structure. The container is never altered by fmap.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4728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4728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701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mempty &lt;&gt; x  ≡  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&lt;&gt; mempty  ≡  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&lt;&gt; y) &lt;&gt; z  ≡  x &lt;&gt; (y &lt;&gt; z)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4728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is associative and mempty is a genuine neutral element.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764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2764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 &gt;&gt;= f  ≡  f 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&gt;&gt;= return   ≡  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&gt;&gt;= f) &gt;&gt;= 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≡  m &gt;&gt;= (f &gt;=&gt; 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a neutral wrap. Sequencing is associative.</a:t>
            </a:r>
            <a:endParaRPr lang="en-US" sz="1200" dirty="0"/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76DBCEC6-F0AB-CF0A-87D5-4190461E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8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9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Types Aren't Enough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10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system is powerful but bounded. Some invariants live in logic, not in shape.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68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CAN enforce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796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is never null  (Maybe)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arguments share the same type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non-empty  (NonEmpty)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always positive  (smart constructor)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168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CANNOT enforce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25796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 function actually produces a sorted list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and decode are true inverses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stays in range after arbitrary arithmetic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structures stay mutually consistent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these, we need property-based testing  - covered in next slide deck</a:t>
            </a:r>
            <a:endParaRPr lang="en-US" sz="11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5C2B3A2D-DE3D-F3A3-D809-6BFBEDC7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9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36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Recap: What We Covered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11702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are guarantees — conditions that must always hold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Haskell's type system enforces many invariants at compile time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constructors and newtypes push invariants to the boundary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are formal, checkable invariants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invariants live in logic — and need explicit verification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1B4825-DB00-088E-CE47-5EAF9747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10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57" y="889254"/>
            <a:ext cx="4887829" cy="371475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450"/>
              </a:spcAft>
            </a:pPr>
            <a:fld id="{CC73A6B6-49ED-C641-8D95-0A84FA800C15}" type="slidenum">
              <a:rPr lang="en-US" sz="1050"/>
              <a:pPr>
                <a:spcAft>
                  <a:spcPts val="450"/>
                </a:spcAft>
              </a:pPr>
              <a:t>11</a:t>
            </a:fld>
            <a:endParaRPr lang="en-US" sz="10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6013343" y="34871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1_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5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938</Words>
  <Application>Microsoft Macintosh PowerPoint</Application>
  <PresentationFormat>On-screen Show (16:9)</PresentationFormat>
  <Paragraphs>141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Trebuchet MS</vt:lpstr>
      <vt:lpstr>Berlin</vt:lpstr>
      <vt:lpstr>1_Berlin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Invariants — From Concept to Haskell (Plain)</dc:title>
  <dc:subject>PptxGenJS Presentation</dc:subject>
  <dc:creator>PptxGenJS</dc:creator>
  <cp:lastModifiedBy>Mairead Meagher</cp:lastModifiedBy>
  <cp:revision>2</cp:revision>
  <dcterms:created xsi:type="dcterms:W3CDTF">2026-04-12T23:46:10Z</dcterms:created>
  <dcterms:modified xsi:type="dcterms:W3CDTF">2026-04-13T00:15:21Z</dcterms:modified>
</cp:coreProperties>
</file>