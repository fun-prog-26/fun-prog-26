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89" r:id="rId1"/>
  </p:sldMasterIdLst>
  <p:notesMasterIdLst>
    <p:notesMasterId r:id="rId42"/>
  </p:notesMasterIdLst>
  <p:handoutMasterIdLst>
    <p:handoutMasterId r:id="rId43"/>
  </p:handoutMasterIdLst>
  <p:sldIdLst>
    <p:sldId id="319" r:id="rId2"/>
    <p:sldId id="278" r:id="rId3"/>
    <p:sldId id="336" r:id="rId4"/>
    <p:sldId id="337" r:id="rId5"/>
    <p:sldId id="338" r:id="rId6"/>
    <p:sldId id="339" r:id="rId7"/>
    <p:sldId id="340" r:id="rId8"/>
    <p:sldId id="341" r:id="rId9"/>
    <p:sldId id="335" r:id="rId10"/>
    <p:sldId id="307" r:id="rId11"/>
    <p:sldId id="281" r:id="rId12"/>
    <p:sldId id="282" r:id="rId13"/>
    <p:sldId id="288" r:id="rId14"/>
    <p:sldId id="297" r:id="rId15"/>
    <p:sldId id="284" r:id="rId16"/>
    <p:sldId id="285" r:id="rId17"/>
    <p:sldId id="298" r:id="rId18"/>
    <p:sldId id="308" r:id="rId19"/>
    <p:sldId id="300" r:id="rId20"/>
    <p:sldId id="309" r:id="rId21"/>
    <p:sldId id="320" r:id="rId22"/>
    <p:sldId id="334" r:id="rId23"/>
    <p:sldId id="321" r:id="rId24"/>
    <p:sldId id="304" r:id="rId25"/>
    <p:sldId id="314" r:id="rId26"/>
    <p:sldId id="302" r:id="rId27"/>
    <p:sldId id="313" r:id="rId28"/>
    <p:sldId id="316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43" r:id="rId41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5274"/>
  </p:normalViewPr>
  <p:slideViewPr>
    <p:cSldViewPr snapToGrid="0">
      <p:cViewPr varScale="1">
        <p:scale>
          <a:sx n="116" d="100"/>
          <a:sy n="116" d="100"/>
        </p:scale>
        <p:origin x="38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
  <Relationship Id="rId48" Type="http://schemas.openxmlformats.org/officeDocument/2006/relationships/slide" Target="slides/slide41.xml"/>
  <Relationship Id="rId49" Type="http://schemas.openxmlformats.org/officeDocument/2006/relationships/slide" Target="slides/slide42.xml"/>
  <Relationship Id="rId50" Type="http://schemas.openxmlformats.org/officeDocument/2006/relationships/slide" Target="slides/slide43.xml"/>
  <Relationship Id="rId51" Type="http://schemas.openxmlformats.org/officeDocument/2006/relationships/slide" Target="slides/slide44.xml"/>
  <Relationship Id="rId52" Type="http://schemas.openxmlformats.org/officeDocument/2006/relationships/slide" Target="slides/slide45.xml"/>
  <Relationship Id="rId53" Type="http://schemas.openxmlformats.org/officeDocument/2006/relationships/slide" Target="slides/slide46.xml"/>
  <Relationship Id="rId54" Type="http://schemas.openxmlformats.org/officeDocument/2006/relationships/slide" Target="slides/slide47.xml"/>
  <Relationship Id="rId55" Type="http://schemas.openxmlformats.org/officeDocument/2006/relationships/slide" Target="slides/slide48.xml"/>
  <Relationship Id="rId56" Type="http://schemas.openxmlformats.org/officeDocument/2006/relationships/slide" Target="slides/slide49.xml"/>
  <Relationship Id="rId57" Type="http://schemas.openxmlformats.org/officeDocument/2006/relationships/slide" Target="slides/slide50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E739CC59-873E-FF43-BEA1-C0C74234B5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92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1348EA3-C290-8148-9528-44C1485A20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9884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7A2AD6-D65D-AC4E-AA17-D4EE367446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1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C35C18D2-0C4F-1048-8791-EAC4D231C6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2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CA77CA-13E0-A143-9FB5-3BE16FE492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7D068B-B1E1-A342-A203-AB047747FD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2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8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0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2E12D2-2E02-2549-8554-5CB9074C30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8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131DF-2DA6-134A-8D48-D9596DDC1E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3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554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9417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21020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0120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8659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3010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0BBEC0-C82C-5F41-BED6-03FAE84AE0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45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8EB7279E-AD12-3E4F-89E5-A6CAD29802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78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84A282C-62D1-674F-A99D-F0AF13D7C534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361474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361475" name="Rectangle 3"/>
          <p:cNvSpPr>
            <a:spLocks noChangeArrowheads="1"/>
          </p:cNvSpPr>
          <p:nvPr/>
        </p:nvSpPr>
        <p:spPr bwMode="auto">
          <a:xfrm>
            <a:off x="1700214" y="5164138"/>
            <a:ext cx="8967787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7.1 – Recursive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7870634" cy="1183395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What do we mean by recursion ?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1</a:t>
            </a:fld>
            <a:endParaRPr lang="en-US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6BE4D-4373-1D45-B443-8633264E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03" y="2484690"/>
            <a:ext cx="9144000" cy="27038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A1734-B317-8741-A1DA-C100E014BA2E}"/>
              </a:ext>
            </a:extLst>
          </p:cNvPr>
          <p:cNvSpPr txBox="1"/>
          <p:nvPr/>
        </p:nvSpPr>
        <p:spPr>
          <a:xfrm>
            <a:off x="1818912" y="5860974"/>
            <a:ext cx="9105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Something is recursive if it is defined in terms of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21887" y="866668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v iteration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1182210" y="2175428"/>
            <a:ext cx="831272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both cases we repeat a task.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Iteration – repeat a task while a given </a:t>
            </a:r>
          </a:p>
          <a:p>
            <a:r>
              <a:rPr lang="en-US" sz="2800" dirty="0"/>
              <a:t>condition holds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Recursion – repeat a task on (a) smaller part(s) </a:t>
            </a:r>
          </a:p>
          <a:p>
            <a:r>
              <a:rPr lang="en-US" sz="2800" dirty="0"/>
              <a:t>of the problem</a:t>
            </a:r>
          </a:p>
        </p:txBody>
      </p:sp>
    </p:spTree>
    <p:extLst>
      <p:ext uri="{BB962C8B-B14F-4D97-AF65-F5344CB8AC3E}">
        <p14:creationId xmlns:p14="http://schemas.microsoft.com/office/powerpoint/2010/main" val="218589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5178" y="1061224"/>
            <a:ext cx="8680660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example ‘take one, pass them on’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225178" y="2338307"/>
            <a:ext cx="11784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teacher comes into the classroom with a pile of pages.  Each of the 100 students need to be handed a page. The instructions that the teacher gives to the students are : 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Take the pile of pages from the previous student</a:t>
            </a:r>
          </a:p>
          <a:p>
            <a:pPr marL="514350" indent="-514350">
              <a:buAutoNum type="arabicPeriod"/>
            </a:pPr>
            <a:r>
              <a:rPr lang="en-US" sz="2800" dirty="0"/>
              <a:t>Take one for yourself</a:t>
            </a:r>
          </a:p>
          <a:p>
            <a:pPr marL="514350" indent="-514350">
              <a:buAutoNum type="arabicPeriod"/>
            </a:pPr>
            <a:r>
              <a:rPr lang="en-US" sz="2800" dirty="0"/>
              <a:t>Pass on the (smaller) pile to the next student if there are still some pages left.</a:t>
            </a:r>
          </a:p>
          <a:p>
            <a:r>
              <a:rPr lang="en-US" sz="2800" dirty="0"/>
              <a:t>4. If there is no page left, inform the teacher.</a:t>
            </a:r>
          </a:p>
        </p:txBody>
      </p:sp>
    </p:spTree>
    <p:extLst>
      <p:ext uri="{BB962C8B-B14F-4D97-AF65-F5344CB8AC3E}">
        <p14:creationId xmlns:p14="http://schemas.microsoft.com/office/powerpoint/2010/main" val="132677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8365" y="927408"/>
            <a:ext cx="8967439" cy="104976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example ‘take one, pass them on’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816908" y="2391162"/>
            <a:ext cx="104896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need to slightly reword the instructions to the </a:t>
            </a:r>
          </a:p>
          <a:p>
            <a:r>
              <a:rPr lang="en-US" sz="2800" dirty="0"/>
              <a:t>students to be clearer: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Take the pile of pages from the previous student</a:t>
            </a:r>
          </a:p>
          <a:p>
            <a:pPr marL="514350" indent="-514350">
              <a:buAutoNum type="arabicPeriod"/>
            </a:pPr>
            <a:r>
              <a:rPr lang="en-US" sz="2800" dirty="0"/>
              <a:t>Take a page from the pile (your page)</a:t>
            </a:r>
          </a:p>
          <a:p>
            <a:pPr marL="514350" indent="-514350">
              <a:buAutoNum type="arabicPeriod"/>
            </a:pPr>
            <a:r>
              <a:rPr lang="en-US" sz="2800" dirty="0"/>
              <a:t>Check the number of pages left in the pile</a:t>
            </a: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If</a:t>
            </a:r>
            <a:r>
              <a:rPr lang="en-US" sz="2800" dirty="0"/>
              <a:t> the number is zero -&gt; inform the teacher    ‘Job is done’ </a:t>
            </a:r>
          </a:p>
          <a:p>
            <a:r>
              <a:rPr lang="en-US" sz="2800" dirty="0"/>
              <a:t>    </a:t>
            </a:r>
            <a:r>
              <a:rPr lang="en-US" sz="2800" dirty="0">
                <a:solidFill>
                  <a:srgbClr val="FF0000"/>
                </a:solidFill>
              </a:rPr>
              <a:t>Otherwise</a:t>
            </a:r>
            <a:r>
              <a:rPr lang="en-US" sz="2800" dirty="0"/>
              <a:t>  -&gt; pass on the (smaller) pile to the next student.</a:t>
            </a:r>
          </a:p>
        </p:txBody>
      </p:sp>
    </p:spTree>
    <p:extLst>
      <p:ext uri="{BB962C8B-B14F-4D97-AF65-F5344CB8AC3E}">
        <p14:creationId xmlns:p14="http://schemas.microsoft.com/office/powerpoint/2010/main" val="110105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79087" y="1183888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 - Binary Search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663579" y="2047795"/>
            <a:ext cx="1006587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Many algorithms naturally fall into the recursive family, </a:t>
            </a:r>
          </a:p>
          <a:p>
            <a:r>
              <a:rPr lang="en-US" sz="2800" dirty="0"/>
              <a:t>e.g., </a:t>
            </a:r>
            <a:r>
              <a:rPr lang="en-US" sz="2800" dirty="0">
                <a:solidFill>
                  <a:schemeClr val="bg1"/>
                </a:solidFill>
              </a:rPr>
              <a:t>binary search</a:t>
            </a:r>
            <a:r>
              <a:rPr lang="en-US" sz="2800" dirty="0"/>
              <a:t>. </a:t>
            </a:r>
          </a:p>
          <a:p>
            <a:r>
              <a:rPr lang="en-US" sz="2800" dirty="0"/>
              <a:t>	‘Look for an element in a sorted list’</a:t>
            </a:r>
          </a:p>
          <a:p>
            <a:r>
              <a:rPr lang="en-US" sz="2800" dirty="0"/>
              <a:t>Check in the ‘middle’. Now what you’re looking for is one of </a:t>
            </a:r>
          </a:p>
          <a:p>
            <a:r>
              <a:rPr lang="en-US" sz="2800" dirty="0"/>
              <a:t>	-there (found it!!) </a:t>
            </a:r>
          </a:p>
          <a:p>
            <a:r>
              <a:rPr lang="en-US" sz="2800" dirty="0"/>
              <a:t>    - &lt; current element (in this case repeat on the left hand side, ignoring the right-hand side)</a:t>
            </a:r>
          </a:p>
          <a:p>
            <a:r>
              <a:rPr lang="en-US" sz="2800" dirty="0"/>
              <a:t>    - &gt; current element (in this case, repeat on the right hand, ignoring the left-hand side)</a:t>
            </a:r>
          </a:p>
          <a:p>
            <a:r>
              <a:rPr lang="en-US" sz="2800" dirty="0"/>
              <a:t>	- not there at all (when the remaining list is empty)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87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5205" y="980110"/>
            <a:ext cx="7870634" cy="599963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 and Iteration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1035205" y="2099017"/>
            <a:ext cx="8899744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Recursive definitions are elegant and easy to </a:t>
            </a:r>
          </a:p>
          <a:p>
            <a:r>
              <a:rPr lang="en-US" sz="2800" dirty="0"/>
              <a:t>understand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DOES NOT MEAN THAT  THEY ARE  EASY </a:t>
            </a:r>
          </a:p>
          <a:p>
            <a:r>
              <a:rPr lang="en-US" sz="2800" dirty="0"/>
              <a:t>TO WRITE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Iterative definitions (e.g., loops) are usually more </a:t>
            </a:r>
          </a:p>
          <a:p>
            <a:r>
              <a:rPr lang="en-US" sz="2800" dirty="0"/>
              <a:t>efficient.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can mechanically derive an iterative definition </a:t>
            </a:r>
          </a:p>
          <a:p>
            <a:r>
              <a:rPr lang="en-US" sz="2800" dirty="0"/>
              <a:t>from a recursive one. </a:t>
            </a:r>
          </a:p>
        </p:txBody>
      </p:sp>
    </p:spTree>
    <p:extLst>
      <p:ext uri="{BB962C8B-B14F-4D97-AF65-F5344CB8AC3E}">
        <p14:creationId xmlns:p14="http://schemas.microsoft.com/office/powerpoint/2010/main" val="709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6527" y="980110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 and Haskell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616526" y="2602512"/>
            <a:ext cx="104333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this course, we use recursion a lot, starting with lists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But first… try to think of something you do in your everyday life that you could describe recursively.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448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So, show me some Haskell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81619" name="Text Box 19"/>
          <p:cNvSpPr txBox="1">
            <a:spLocks noChangeArrowheads="1"/>
          </p:cNvSpPr>
          <p:nvPr/>
        </p:nvSpPr>
        <p:spPr bwMode="auto">
          <a:xfrm>
            <a:off x="1051719" y="2053733"/>
            <a:ext cx="8370888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As we have seen, many functions can naturally be defined in terms of other functions.</a:t>
            </a:r>
          </a:p>
        </p:txBody>
      </p:sp>
      <p:sp>
        <p:nvSpPr>
          <p:cNvPr id="281620" name="Text Box 20"/>
          <p:cNvSpPr txBox="1">
            <a:spLocks noChangeArrowheads="1"/>
          </p:cNvSpPr>
          <p:nvPr/>
        </p:nvSpPr>
        <p:spPr bwMode="auto">
          <a:xfrm>
            <a:off x="2994314" y="3429000"/>
            <a:ext cx="4264025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:: Int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n = product [1..n]</a:t>
            </a:r>
          </a:p>
        </p:txBody>
      </p:sp>
      <p:sp>
        <p:nvSpPr>
          <p:cNvPr id="281621" name="AutoShape 21"/>
          <p:cNvSpPr>
            <a:spLocks noChangeArrowheads="1"/>
          </p:cNvSpPr>
          <p:nvPr/>
        </p:nvSpPr>
        <p:spPr bwMode="auto">
          <a:xfrm>
            <a:off x="2665413" y="5184815"/>
            <a:ext cx="6470650" cy="1055608"/>
          </a:xfrm>
          <a:prstGeom prst="wedgeRoundRectCallout">
            <a:avLst>
              <a:gd name="adj1" fmla="val -23882"/>
              <a:gd name="adj2" fmla="val -11957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cs typeface="+mn-cs"/>
              </a:rPr>
              <a:t>fac maps any integer n to the product of the integers between 1 and n.</a:t>
            </a:r>
          </a:p>
        </p:txBody>
      </p:sp>
    </p:spTree>
    <p:extLst>
      <p:ext uri="{BB962C8B-B14F-4D97-AF65-F5344CB8AC3E}">
        <p14:creationId xmlns:p14="http://schemas.microsoft.com/office/powerpoint/2010/main" val="401696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19" grpId="0"/>
      <p:bldP spid="281620" grpId="0" animBg="1"/>
      <p:bldP spid="2816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555096-F9AF-C01A-5097-8B82574D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expressions</a:t>
            </a:r>
          </a:p>
        </p:txBody>
      </p:sp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E64531E-8429-8C4E-A46D-05849D801525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322562" name="Text Box 2"/>
          <p:cNvSpPr txBox="1">
            <a:spLocks noChangeArrowheads="1"/>
          </p:cNvSpPr>
          <p:nvPr/>
        </p:nvSpPr>
        <p:spPr bwMode="auto">
          <a:xfrm>
            <a:off x="581025" y="1937762"/>
            <a:ext cx="8391525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Expressions are </a:t>
            </a:r>
            <a:r>
              <a:rPr lang="en-US" sz="2800" u="sng" dirty="0">
                <a:cs typeface="+mn-cs"/>
              </a:rPr>
              <a:t>evaluated</a:t>
            </a:r>
            <a:r>
              <a:rPr lang="en-US" sz="2800" dirty="0">
                <a:cs typeface="+mn-cs"/>
              </a:rPr>
              <a:t> by a stepwise process of applying functions to their arguments.</a:t>
            </a:r>
          </a:p>
          <a:p>
            <a:pPr>
              <a:defRPr/>
            </a:pPr>
            <a:endParaRPr lang="en-US" sz="2800" dirty="0">
              <a:cs typeface="+mn-cs"/>
            </a:endParaRPr>
          </a:p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3853729" y="3103562"/>
            <a:ext cx="1111250" cy="4302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4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313979" y="3429000"/>
            <a:ext cx="3302000" cy="898525"/>
            <a:chOff x="665" y="1949"/>
            <a:chExt cx="2080" cy="566"/>
          </a:xfrm>
        </p:grpSpPr>
        <p:sp>
          <p:nvSpPr>
            <p:cNvPr id="322564" name="Text Box 4"/>
            <p:cNvSpPr txBox="1">
              <a:spLocks noChangeArrowheads="1"/>
            </p:cNvSpPr>
            <p:nvPr/>
          </p:nvSpPr>
          <p:spPr bwMode="auto">
            <a:xfrm>
              <a:off x="1005" y="2250"/>
              <a:ext cx="174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product [1..4]</a:t>
              </a:r>
            </a:p>
          </p:txBody>
        </p:sp>
        <p:sp>
          <p:nvSpPr>
            <p:cNvPr id="322568" name="Text Box 8"/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313979" y="4230686"/>
            <a:ext cx="3854450" cy="896938"/>
            <a:chOff x="665" y="2454"/>
            <a:chExt cx="2428" cy="565"/>
          </a:xfrm>
        </p:grpSpPr>
        <p:sp>
          <p:nvSpPr>
            <p:cNvPr id="322565" name="Text Box 5"/>
            <p:cNvSpPr txBox="1">
              <a:spLocks noChangeArrowheads="1"/>
            </p:cNvSpPr>
            <p:nvPr/>
          </p:nvSpPr>
          <p:spPr bwMode="auto">
            <a:xfrm>
              <a:off x="1005" y="2754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product [1,2,3,4]</a:t>
              </a:r>
            </a:p>
          </p:txBody>
        </p:sp>
        <p:sp>
          <p:nvSpPr>
            <p:cNvPr id="322569" name="Text Box 9"/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313979" y="5033962"/>
            <a:ext cx="2012950" cy="892175"/>
            <a:chOff x="665" y="2960"/>
            <a:chExt cx="1268" cy="562"/>
          </a:xfrm>
        </p:grpSpPr>
        <p:sp>
          <p:nvSpPr>
            <p:cNvPr id="322566" name="Text Box 6"/>
            <p:cNvSpPr txBox="1">
              <a:spLocks noChangeArrowheads="1"/>
            </p:cNvSpPr>
            <p:nvPr/>
          </p:nvSpPr>
          <p:spPr bwMode="auto">
            <a:xfrm>
              <a:off x="1005" y="3257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1*2*3*4</a:t>
              </a:r>
            </a:p>
          </p:txBody>
        </p:sp>
        <p:sp>
          <p:nvSpPr>
            <p:cNvPr id="322570" name="Text Box 10"/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313979" y="5837236"/>
            <a:ext cx="1092200" cy="889000"/>
            <a:chOff x="665" y="3466"/>
            <a:chExt cx="688" cy="560"/>
          </a:xfrm>
        </p:grpSpPr>
        <p:sp>
          <p:nvSpPr>
            <p:cNvPr id="322567" name="Text Box 7"/>
            <p:cNvSpPr txBox="1">
              <a:spLocks noChangeArrowheads="1"/>
            </p:cNvSpPr>
            <p:nvPr/>
          </p:nvSpPr>
          <p:spPr bwMode="auto">
            <a:xfrm>
              <a:off x="1005" y="3761"/>
              <a:ext cx="3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24</a:t>
              </a:r>
            </a:p>
          </p:txBody>
        </p:sp>
        <p:sp>
          <p:nvSpPr>
            <p:cNvPr id="322571" name="Text Box 11"/>
            <p:cNvSpPr txBox="1">
              <a:spLocks noChangeArrowheads="1"/>
            </p:cNvSpPr>
            <p:nvPr/>
          </p:nvSpPr>
          <p:spPr bwMode="auto">
            <a:xfrm>
              <a:off x="665" y="346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1207523-48C9-8C42-A928-0D916FBB234B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284675" name="Text Box 3"/>
          <p:cNvSpPr txBox="1">
            <a:spLocks noChangeArrowheads="1"/>
          </p:cNvSpPr>
          <p:nvPr/>
        </p:nvSpPr>
        <p:spPr bwMode="auto">
          <a:xfrm>
            <a:off x="744370" y="2339140"/>
            <a:ext cx="845185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+mj-lt"/>
                <a:cs typeface="+mn-cs"/>
              </a:rPr>
              <a:t>Let us look at the factorial function using recursion</a:t>
            </a:r>
          </a:p>
        </p:txBody>
      </p:sp>
      <p:sp>
        <p:nvSpPr>
          <p:cNvPr id="284676" name="Text Box 4"/>
          <p:cNvSpPr txBox="1">
            <a:spLocks noChangeArrowheads="1"/>
          </p:cNvSpPr>
          <p:nvPr/>
        </p:nvSpPr>
        <p:spPr bwMode="auto">
          <a:xfrm>
            <a:off x="2620964" y="3109913"/>
            <a:ext cx="4078287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0 = 1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n = n * fac (n-1)</a:t>
            </a:r>
          </a:p>
        </p:txBody>
      </p:sp>
      <p:sp>
        <p:nvSpPr>
          <p:cNvPr id="284677" name="AutoShape 5"/>
          <p:cNvSpPr>
            <a:spLocks noChangeArrowheads="1"/>
          </p:cNvSpPr>
          <p:nvPr/>
        </p:nvSpPr>
        <p:spPr bwMode="auto">
          <a:xfrm>
            <a:off x="2368550" y="4859339"/>
            <a:ext cx="6032500" cy="1531937"/>
          </a:xfrm>
          <a:prstGeom prst="wedgeRoundRectCallout">
            <a:avLst>
              <a:gd name="adj1" fmla="val -29932"/>
              <a:gd name="adj2" fmla="val -9842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cs typeface="+mn-cs"/>
              </a:rPr>
              <a:t>fac maps 0 to 1, and any other integer to the product of itself and the factorial of its predecessor.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8A8B7CC-2915-4C4D-BEB2-D91E4E367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158217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800" kern="0" dirty="0">
                <a:ea typeface="ＭＳ Ｐゴシック" charset="0"/>
              </a:rPr>
              <a:t>And now, recursive 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/>
      <p:bldP spid="284676" grpId="0" animBg="1"/>
      <p:bldP spid="2846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B2C0341-4F69-9E2C-E89E-8B275A8D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1945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DA7DF93-FD3E-9844-80F9-C96F7CA47FE4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85698" name="Text Box 2"/>
          <p:cNvSpPr txBox="1">
            <a:spLocks noChangeArrowheads="1"/>
          </p:cNvSpPr>
          <p:nvPr/>
        </p:nvSpPr>
        <p:spPr bwMode="auto">
          <a:xfrm>
            <a:off x="678959" y="878829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3067339" y="2007900"/>
            <a:ext cx="1111250" cy="4302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3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497427" y="2282537"/>
            <a:ext cx="2424112" cy="819150"/>
            <a:chOff x="779" y="984"/>
            <a:chExt cx="1527" cy="516"/>
          </a:xfrm>
        </p:grpSpPr>
        <p:sp>
          <p:nvSpPr>
            <p:cNvPr id="285701" name="Text Box 5"/>
            <p:cNvSpPr txBox="1">
              <a:spLocks noChangeArrowheads="1"/>
            </p:cNvSpPr>
            <p:nvPr/>
          </p:nvSpPr>
          <p:spPr bwMode="auto">
            <a:xfrm>
              <a:off x="1138" y="1229"/>
              <a:ext cx="1168" cy="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3 * fac 2</a:t>
              </a:r>
            </a:p>
          </p:txBody>
        </p:sp>
        <p:sp>
          <p:nvSpPr>
            <p:cNvPr id="285705" name="Text Box 9"/>
            <p:cNvSpPr txBox="1">
              <a:spLocks noChangeArrowheads="1"/>
            </p:cNvSpPr>
            <p:nvPr/>
          </p:nvSpPr>
          <p:spPr bwMode="auto">
            <a:xfrm>
              <a:off x="779" y="98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497427" y="2946112"/>
            <a:ext cx="3536950" cy="820738"/>
            <a:chOff x="779" y="1402"/>
            <a:chExt cx="2228" cy="517"/>
          </a:xfrm>
        </p:grpSpPr>
        <p:sp>
          <p:nvSpPr>
            <p:cNvPr id="285702" name="Text Box 6"/>
            <p:cNvSpPr txBox="1">
              <a:spLocks noChangeArrowheads="1"/>
            </p:cNvSpPr>
            <p:nvPr/>
          </p:nvSpPr>
          <p:spPr bwMode="auto">
            <a:xfrm>
              <a:off x="1138" y="1648"/>
              <a:ext cx="1869" cy="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fac 1)</a:t>
              </a:r>
            </a:p>
          </p:txBody>
        </p:sp>
        <p:sp>
          <p:nvSpPr>
            <p:cNvPr id="285706" name="Text Box 10"/>
            <p:cNvSpPr txBox="1">
              <a:spLocks noChangeArrowheads="1"/>
            </p:cNvSpPr>
            <p:nvPr/>
          </p:nvSpPr>
          <p:spPr bwMode="auto">
            <a:xfrm>
              <a:off x="779" y="140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497427" y="3609687"/>
            <a:ext cx="4648200" cy="820738"/>
            <a:chOff x="779" y="1820"/>
            <a:chExt cx="2928" cy="517"/>
          </a:xfrm>
        </p:grpSpPr>
        <p:sp>
          <p:nvSpPr>
            <p:cNvPr id="285703" name="Text Box 7"/>
            <p:cNvSpPr txBox="1">
              <a:spLocks noChangeArrowheads="1"/>
            </p:cNvSpPr>
            <p:nvPr/>
          </p:nvSpPr>
          <p:spPr bwMode="auto">
            <a:xfrm>
              <a:off x="1138" y="2066"/>
              <a:ext cx="2569" cy="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(1 * fac 0))</a:t>
              </a:r>
            </a:p>
          </p:txBody>
        </p:sp>
        <p:sp>
          <p:nvSpPr>
            <p:cNvPr id="285707" name="Text Box 11"/>
            <p:cNvSpPr txBox="1">
              <a:spLocks noChangeArrowheads="1"/>
            </p:cNvSpPr>
            <p:nvPr/>
          </p:nvSpPr>
          <p:spPr bwMode="auto">
            <a:xfrm>
              <a:off x="779" y="182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497427" y="4273263"/>
            <a:ext cx="3884612" cy="817563"/>
            <a:chOff x="779" y="2238"/>
            <a:chExt cx="2447" cy="515"/>
          </a:xfrm>
        </p:grpSpPr>
        <p:sp>
          <p:nvSpPr>
            <p:cNvPr id="285704" name="Text Box 8"/>
            <p:cNvSpPr txBox="1">
              <a:spLocks noChangeArrowheads="1"/>
            </p:cNvSpPr>
            <p:nvPr/>
          </p:nvSpPr>
          <p:spPr bwMode="auto">
            <a:xfrm>
              <a:off x="1138" y="2488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(1 * 1))</a:t>
              </a:r>
            </a:p>
          </p:txBody>
        </p:sp>
        <p:sp>
          <p:nvSpPr>
            <p:cNvPr id="285708" name="Text Box 12"/>
            <p:cNvSpPr txBox="1">
              <a:spLocks noChangeArrowheads="1"/>
            </p:cNvSpPr>
            <p:nvPr/>
          </p:nvSpPr>
          <p:spPr bwMode="auto">
            <a:xfrm>
              <a:off x="779" y="223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497427" y="4936838"/>
            <a:ext cx="2779712" cy="817563"/>
            <a:chOff x="779" y="2656"/>
            <a:chExt cx="1751" cy="515"/>
          </a:xfrm>
        </p:grpSpPr>
        <p:sp>
          <p:nvSpPr>
            <p:cNvPr id="285709" name="Text Box 13"/>
            <p:cNvSpPr txBox="1">
              <a:spLocks noChangeArrowheads="1"/>
            </p:cNvSpPr>
            <p:nvPr/>
          </p:nvSpPr>
          <p:spPr bwMode="auto">
            <a:xfrm>
              <a:off x="1138" y="2906"/>
              <a:ext cx="139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1)</a:t>
              </a:r>
            </a:p>
          </p:txBody>
        </p:sp>
        <p:sp>
          <p:nvSpPr>
            <p:cNvPr id="285711" name="Text Box 15"/>
            <p:cNvSpPr txBox="1">
              <a:spLocks noChangeArrowheads="1"/>
            </p:cNvSpPr>
            <p:nvPr/>
          </p:nvSpPr>
          <p:spPr bwMode="auto">
            <a:xfrm>
              <a:off x="779" y="265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157788" y="5932898"/>
            <a:ext cx="938212" cy="519113"/>
            <a:chOff x="779" y="3492"/>
            <a:chExt cx="591" cy="327"/>
          </a:xfrm>
        </p:grpSpPr>
        <p:sp>
          <p:nvSpPr>
            <p:cNvPr id="285712" name="Text Box 16"/>
            <p:cNvSpPr txBox="1">
              <a:spLocks noChangeArrowheads="1"/>
            </p:cNvSpPr>
            <p:nvPr/>
          </p:nvSpPr>
          <p:spPr bwMode="auto">
            <a:xfrm>
              <a:off x="779" y="349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  <p:sp>
          <p:nvSpPr>
            <p:cNvPr id="285713" name="Text Box 17"/>
            <p:cNvSpPr txBox="1">
              <a:spLocks noChangeArrowheads="1"/>
            </p:cNvSpPr>
            <p:nvPr/>
          </p:nvSpPr>
          <p:spPr bwMode="auto">
            <a:xfrm>
              <a:off x="1187" y="3521"/>
              <a:ext cx="183" cy="2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6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497427" y="5600412"/>
            <a:ext cx="1674812" cy="819150"/>
            <a:chOff x="779" y="3074"/>
            <a:chExt cx="1055" cy="516"/>
          </a:xfrm>
        </p:grpSpPr>
        <p:sp>
          <p:nvSpPr>
            <p:cNvPr id="285710" name="Text Box 14"/>
            <p:cNvSpPr txBox="1">
              <a:spLocks noChangeArrowheads="1"/>
            </p:cNvSpPr>
            <p:nvPr/>
          </p:nvSpPr>
          <p:spPr bwMode="auto">
            <a:xfrm>
              <a:off x="1138" y="3325"/>
              <a:ext cx="69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2</a:t>
              </a:r>
            </a:p>
          </p:txBody>
        </p:sp>
        <p:sp>
          <p:nvSpPr>
            <p:cNvPr id="285714" name="Text Box 18"/>
            <p:cNvSpPr txBox="1">
              <a:spLocks noChangeArrowheads="1"/>
            </p:cNvSpPr>
            <p:nvPr/>
          </p:nvSpPr>
          <p:spPr bwMode="auto">
            <a:xfrm>
              <a:off x="779" y="307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096621-E849-215B-6BE2-104F19DB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2048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AE03FC-75E5-FE41-983A-E09A83040FE7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293890" name="Text Box 2"/>
          <p:cNvSpPr txBox="1">
            <a:spLocks noChangeArrowheads="1"/>
          </p:cNvSpPr>
          <p:nvPr/>
        </p:nvSpPr>
        <p:spPr bwMode="auto">
          <a:xfrm>
            <a:off x="680321" y="1032087"/>
            <a:ext cx="107593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Note: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680321" y="2435235"/>
            <a:ext cx="10358580" cy="258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 err="1">
                <a:latin typeface="+mj-lt"/>
              </a:rPr>
              <a:t>fac</a:t>
            </a:r>
            <a:r>
              <a:rPr kumimoji="1" lang="en-US" sz="2800" dirty="0">
                <a:latin typeface="+mj-lt"/>
              </a:rPr>
              <a:t> 0 = 1 is appropriate because 1 is the identity for multiplication: 1</a:t>
            </a:r>
            <a:r>
              <a:rPr lang="en-US" sz="2800" dirty="0">
                <a:latin typeface="+mj-lt"/>
              </a:rPr>
              <a:t>*</a:t>
            </a:r>
            <a:r>
              <a:rPr kumimoji="1" lang="en-US" sz="2800" dirty="0">
                <a:latin typeface="+mj-lt"/>
              </a:rPr>
              <a:t>x = x = x</a:t>
            </a:r>
            <a:r>
              <a:rPr lang="en-US" sz="2800" dirty="0">
                <a:latin typeface="+mj-lt"/>
              </a:rPr>
              <a:t>*</a:t>
            </a:r>
            <a:r>
              <a:rPr kumimoji="1" lang="en-US" sz="2800" dirty="0">
                <a:latin typeface="+mj-lt"/>
              </a:rPr>
              <a:t>1.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>
              <a:latin typeface="+mj-lt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+mj-lt"/>
              </a:rPr>
              <a:t>The recursive definition </a:t>
            </a:r>
            <a:r>
              <a:rPr kumimoji="1" lang="en-US" sz="2800" u="sng" dirty="0">
                <a:latin typeface="+mj-lt"/>
              </a:rPr>
              <a:t>diverges</a:t>
            </a:r>
            <a:r>
              <a:rPr kumimoji="1" lang="en-US" sz="2800" dirty="0">
                <a:latin typeface="+mj-lt"/>
              </a:rPr>
              <a:t> on integers </a:t>
            </a:r>
            <a:r>
              <a:rPr kumimoji="1" lang="en-US" sz="2800" dirty="0">
                <a:latin typeface="+mj-lt"/>
                <a:sym typeface="Symbol" charset="0"/>
              </a:rPr>
              <a:t></a:t>
            </a:r>
            <a:r>
              <a:rPr kumimoji="1" lang="en-US" sz="2800" dirty="0">
                <a:latin typeface="+mj-lt"/>
              </a:rPr>
              <a:t> 0 because the base case is never reached:</a:t>
            </a:r>
          </a:p>
        </p:txBody>
      </p:sp>
      <p:sp>
        <p:nvSpPr>
          <p:cNvPr id="293893" name="Text Box 5"/>
          <p:cNvSpPr txBox="1">
            <a:spLocks noChangeArrowheads="1"/>
          </p:cNvSpPr>
          <p:nvPr/>
        </p:nvSpPr>
        <p:spPr bwMode="auto">
          <a:xfrm>
            <a:off x="2844804" y="5164715"/>
            <a:ext cx="5562600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&gt; fac (-1)</a:t>
            </a:r>
          </a:p>
          <a:p>
            <a:pPr>
              <a:defRPr/>
            </a:pPr>
            <a:endParaRPr lang="en-US" sz="2400" dirty="0">
              <a:latin typeface="Lucida Sans Typewriter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*** Exception: stack overflow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69485" y="864065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Why is Recursion Useful?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727113" y="2344016"/>
            <a:ext cx="10124501" cy="4153766"/>
          </a:xfrm>
        </p:spPr>
        <p:txBody>
          <a:bodyPr>
            <a:noAutofit/>
          </a:bodyPr>
          <a:lstStyle/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 Some functions, such as factorial, are </a:t>
            </a:r>
            <a:r>
              <a:rPr lang="en-US" sz="2800" u="sng" dirty="0">
                <a:latin typeface="Tahoma" charset="0"/>
                <a:ea typeface="ＭＳ Ｐゴシック" charset="0"/>
              </a:rPr>
              <a:t>simpler</a:t>
            </a:r>
            <a:r>
              <a:rPr lang="en-US" sz="2800" dirty="0">
                <a:latin typeface="Tahoma" charset="0"/>
                <a:ea typeface="ＭＳ Ｐゴシック" charset="0"/>
              </a:rPr>
              <a:t> to define in terms of other functions.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 As we shall see, however, many functions can </a:t>
            </a:r>
            <a:r>
              <a:rPr lang="en-US" sz="2800" u="sng" dirty="0">
                <a:latin typeface="Tahoma" charset="0"/>
                <a:ea typeface="ＭＳ Ｐゴシック" charset="0"/>
              </a:rPr>
              <a:t>naturally</a:t>
            </a:r>
            <a:r>
              <a:rPr lang="en-US" sz="2800" dirty="0">
                <a:latin typeface="Tahoma" charset="0"/>
                <a:ea typeface="ＭＳ Ｐゴシック" charset="0"/>
              </a:rPr>
              <a:t> be defined in terms of themselves.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 Properties of functions defined using recursion can be proved using the simple but powerful mathematical technique of </a:t>
            </a:r>
            <a:r>
              <a:rPr lang="en-US" sz="2800" u="sng" dirty="0">
                <a:latin typeface="Tahoma" charset="0"/>
                <a:ea typeface="ＭＳ Ｐゴシック" charset="0"/>
              </a:rPr>
              <a:t>induction</a:t>
            </a:r>
            <a:r>
              <a:rPr lang="en-US" sz="2800" dirty="0">
                <a:latin typeface="Tahoma" charset="0"/>
                <a:ea typeface="ＭＳ Ｐゴシック" charset="0"/>
              </a:rPr>
              <a:t>.</a:t>
            </a:r>
          </a:p>
        </p:txBody>
      </p:sp>
      <p:sp>
        <p:nvSpPr>
          <p:cNvPr id="2150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F2964F5-1747-7B49-84C4-9E8320BF56B6}" type="slidenum">
              <a:rPr lang="en-US" sz="1400"/>
              <a:pPr/>
              <a:t>13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</a:rPr>
              <a:t>Recursion on Lists</a:t>
            </a:r>
          </a:p>
        </p:txBody>
      </p:sp>
      <p:sp>
        <p:nvSpPr>
          <p:cNvPr id="2252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6A2EB82-3177-934B-9DBE-0C527C118B18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1529053" y="1983883"/>
            <a:ext cx="8296275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>
                <a:cs typeface="+mn-cs"/>
              </a:rPr>
              <a:t>Recursion is not restricted to numbers, but can also be used to define functions on </a:t>
            </a:r>
            <a:r>
              <a:rPr lang="en-US" sz="2800" u="sng">
                <a:cs typeface="+mn-cs"/>
              </a:rPr>
              <a:t>lists</a:t>
            </a:r>
            <a:r>
              <a:rPr lang="en-US" sz="2800">
                <a:cs typeface="+mn-cs"/>
              </a:rPr>
              <a:t>.</a:t>
            </a:r>
          </a:p>
        </p:txBody>
      </p:sp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2879726" y="3079751"/>
            <a:ext cx="5934075" cy="13065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:: Num a </a:t>
            </a:r>
            <a:r>
              <a:rPr lang="en-US" sz="2400" dirty="0">
                <a:latin typeface="Lucida Sans Typewriter" pitchFamily="-1" charset="0"/>
                <a:ea typeface="ＭＳ Ｐゴシック" pitchFamily="-1" charset="-128"/>
                <a:cs typeface="ＭＳ Ｐゴシック" pitchFamily="-1" charset="-128"/>
                <a:sym typeface="Symbol" pitchFamily="-1" charset="2"/>
              </a:rPr>
              <a:t></a:t>
            </a:r>
            <a:r>
              <a:rPr lang="en-US" sz="2400" dirty="0">
                <a:latin typeface="Lucida Sans Typewriter" charset="0"/>
                <a:cs typeface="+mn-cs"/>
              </a:rPr>
              <a:t> [a] </a:t>
            </a:r>
            <a:r>
              <a:rPr lang="en-US" sz="2400" dirty="0">
                <a:latin typeface="Lucida Sans Typewriter" charset="0"/>
                <a:cs typeface="ＭＳ Ｐゴシック" pitchFamily="-1" charset="-128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a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[]     = 1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(n:ns) = n * product ns</a:t>
            </a:r>
          </a:p>
        </p:txBody>
      </p:sp>
      <p:sp>
        <p:nvSpPr>
          <p:cNvPr id="287753" name="AutoShape 9"/>
          <p:cNvSpPr>
            <a:spLocks noChangeArrowheads="1"/>
          </p:cNvSpPr>
          <p:nvPr/>
        </p:nvSpPr>
        <p:spPr bwMode="auto">
          <a:xfrm>
            <a:off x="2700338" y="4898827"/>
            <a:ext cx="6210300" cy="1532334"/>
          </a:xfrm>
          <a:prstGeom prst="wedgeRoundRectCallout">
            <a:avLst>
              <a:gd name="adj1" fmla="val -26229"/>
              <a:gd name="adj2" fmla="val -8047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cs typeface="+mn-cs"/>
              </a:rPr>
              <a:t>product maps the empty list to 1, and any non-empty list to its head multiplied by the product of its tail.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2" grpId="0" animBg="1"/>
      <p:bldP spid="2877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14F6B4-BE11-B1F0-5B10-A3C054C3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product</a:t>
            </a:r>
          </a:p>
        </p:txBody>
      </p:sp>
      <p:sp>
        <p:nvSpPr>
          <p:cNvPr id="2355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54E7AD-6A91-F742-9EB4-37CB2602D64F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289794" name="Text Box 2"/>
          <p:cNvSpPr txBox="1">
            <a:spLocks noChangeArrowheads="1"/>
          </p:cNvSpPr>
          <p:nvPr/>
        </p:nvSpPr>
        <p:spPr bwMode="auto">
          <a:xfrm>
            <a:off x="210200" y="3558243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289796" name="Text Box 4"/>
          <p:cNvSpPr txBox="1">
            <a:spLocks noChangeArrowheads="1"/>
          </p:cNvSpPr>
          <p:nvPr/>
        </p:nvSpPr>
        <p:spPr bwMode="auto">
          <a:xfrm>
            <a:off x="3538393" y="2251074"/>
            <a:ext cx="29464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[2,3,4]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993881" y="2570163"/>
            <a:ext cx="3859212" cy="858837"/>
            <a:chOff x="795" y="1054"/>
            <a:chExt cx="2431" cy="541"/>
          </a:xfrm>
        </p:grpSpPr>
        <p:sp>
          <p:nvSpPr>
            <p:cNvPr id="289797" name="Text Box 5"/>
            <p:cNvSpPr txBox="1">
              <a:spLocks noChangeArrowheads="1"/>
            </p:cNvSpPr>
            <p:nvPr/>
          </p:nvSpPr>
          <p:spPr bwMode="auto">
            <a:xfrm>
              <a:off x="1138" y="1330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product [3,4]</a:t>
              </a:r>
            </a:p>
          </p:txBody>
        </p:sp>
        <p:sp>
          <p:nvSpPr>
            <p:cNvPr id="289801" name="Text Box 9"/>
            <p:cNvSpPr txBox="1">
              <a:spLocks noChangeArrowheads="1"/>
            </p:cNvSpPr>
            <p:nvPr/>
          </p:nvSpPr>
          <p:spPr bwMode="auto">
            <a:xfrm>
              <a:off x="795" y="10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993881" y="3325812"/>
            <a:ext cx="4595812" cy="862012"/>
            <a:chOff x="795" y="1530"/>
            <a:chExt cx="2895" cy="543"/>
          </a:xfrm>
        </p:grpSpPr>
        <p:sp>
          <p:nvSpPr>
            <p:cNvPr id="289798" name="Text Box 6"/>
            <p:cNvSpPr txBox="1">
              <a:spLocks noChangeArrowheads="1"/>
            </p:cNvSpPr>
            <p:nvPr/>
          </p:nvSpPr>
          <p:spPr bwMode="auto">
            <a:xfrm>
              <a:off x="1138" y="1808"/>
              <a:ext cx="255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(3 * product [4])</a:t>
              </a:r>
            </a:p>
          </p:txBody>
        </p:sp>
        <p:sp>
          <p:nvSpPr>
            <p:cNvPr id="289802" name="Text Box 10"/>
            <p:cNvSpPr txBox="1">
              <a:spLocks noChangeArrowheads="1"/>
            </p:cNvSpPr>
            <p:nvPr/>
          </p:nvSpPr>
          <p:spPr bwMode="auto">
            <a:xfrm>
              <a:off x="795" y="15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993881" y="4081463"/>
            <a:ext cx="5516562" cy="865187"/>
            <a:chOff x="795" y="2006"/>
            <a:chExt cx="3475" cy="545"/>
          </a:xfrm>
        </p:grpSpPr>
        <p:sp>
          <p:nvSpPr>
            <p:cNvPr id="289799" name="Text Box 7"/>
            <p:cNvSpPr txBox="1">
              <a:spLocks noChangeArrowheads="1"/>
            </p:cNvSpPr>
            <p:nvPr/>
          </p:nvSpPr>
          <p:spPr bwMode="auto">
            <a:xfrm>
              <a:off x="1138" y="2286"/>
              <a:ext cx="31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(3 * (4 * product []))</a:t>
              </a:r>
            </a:p>
          </p:txBody>
        </p:sp>
        <p:sp>
          <p:nvSpPr>
            <p:cNvPr id="289803" name="Text Box 11"/>
            <p:cNvSpPr txBox="1">
              <a:spLocks noChangeArrowheads="1"/>
            </p:cNvSpPr>
            <p:nvPr/>
          </p:nvSpPr>
          <p:spPr bwMode="auto">
            <a:xfrm>
              <a:off x="795" y="200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993881" y="4837112"/>
            <a:ext cx="3859212" cy="868362"/>
            <a:chOff x="795" y="2482"/>
            <a:chExt cx="2431" cy="547"/>
          </a:xfrm>
        </p:grpSpPr>
        <p:sp>
          <p:nvSpPr>
            <p:cNvPr id="289800" name="Text Box 8"/>
            <p:cNvSpPr txBox="1">
              <a:spLocks noChangeArrowheads="1"/>
            </p:cNvSpPr>
            <p:nvPr/>
          </p:nvSpPr>
          <p:spPr bwMode="auto">
            <a:xfrm>
              <a:off x="1138" y="2764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(3 * (4 * 1))</a:t>
              </a:r>
            </a:p>
          </p:txBody>
        </p:sp>
        <p:sp>
          <p:nvSpPr>
            <p:cNvPr id="289804" name="Text Box 12"/>
            <p:cNvSpPr txBox="1">
              <a:spLocks noChangeArrowheads="1"/>
            </p:cNvSpPr>
            <p:nvPr/>
          </p:nvSpPr>
          <p:spPr bwMode="auto">
            <a:xfrm>
              <a:off x="795" y="248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993881" y="5592763"/>
            <a:ext cx="1096962" cy="871537"/>
            <a:chOff x="795" y="2958"/>
            <a:chExt cx="691" cy="549"/>
          </a:xfrm>
        </p:grpSpPr>
        <p:sp>
          <p:nvSpPr>
            <p:cNvPr id="289805" name="Text Box 13"/>
            <p:cNvSpPr txBox="1">
              <a:spLocks noChangeArrowheads="1"/>
            </p:cNvSpPr>
            <p:nvPr/>
          </p:nvSpPr>
          <p:spPr bwMode="auto">
            <a:xfrm>
              <a:off x="1138" y="3242"/>
              <a:ext cx="3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24</a:t>
              </a:r>
            </a:p>
          </p:txBody>
        </p:sp>
        <p:sp>
          <p:nvSpPr>
            <p:cNvPr id="289807" name="Text Box 15"/>
            <p:cNvSpPr txBox="1">
              <a:spLocks noChangeArrowheads="1"/>
            </p:cNvSpPr>
            <p:nvPr/>
          </p:nvSpPr>
          <p:spPr bwMode="auto">
            <a:xfrm>
              <a:off x="795" y="295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4EE0-EC45-0869-94BF-63A3DBE0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function</a:t>
            </a:r>
          </a:p>
        </p:txBody>
      </p:sp>
      <p:sp>
        <p:nvSpPr>
          <p:cNvPr id="2457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23DAEA1-6567-C046-AFF8-4534355A68A3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311298" name="Text Box 2"/>
          <p:cNvSpPr txBox="1">
            <a:spLocks noChangeArrowheads="1"/>
          </p:cNvSpPr>
          <p:nvPr/>
        </p:nvSpPr>
        <p:spPr bwMode="auto">
          <a:xfrm>
            <a:off x="1001281" y="2048185"/>
            <a:ext cx="8943683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Using the same pattern of recursion as in product we can define the </a:t>
            </a:r>
            <a:r>
              <a:rPr lang="en-US" sz="2800" u="sng" dirty="0">
                <a:cs typeface="+mn-cs"/>
              </a:rPr>
              <a:t>length</a:t>
            </a:r>
            <a:r>
              <a:rPr lang="en-US" sz="2800" dirty="0">
                <a:cs typeface="+mn-cs"/>
              </a:rPr>
              <a:t> function on lists.</a:t>
            </a:r>
          </a:p>
        </p:txBody>
      </p:sp>
      <p:sp>
        <p:nvSpPr>
          <p:cNvPr id="311299" name="Text Box 3"/>
          <p:cNvSpPr txBox="1">
            <a:spLocks noChangeArrowheads="1"/>
          </p:cNvSpPr>
          <p:nvPr/>
        </p:nvSpPr>
        <p:spPr bwMode="auto">
          <a:xfrm>
            <a:off x="2786064" y="3450023"/>
            <a:ext cx="5978490" cy="1406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[]     = 0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(_:xs) = 1 + length xs</a:t>
            </a:r>
          </a:p>
        </p:txBody>
      </p:sp>
      <p:sp>
        <p:nvSpPr>
          <p:cNvPr id="311300" name="AutoShape 4"/>
          <p:cNvSpPr>
            <a:spLocks noChangeArrowheads="1"/>
          </p:cNvSpPr>
          <p:nvPr/>
        </p:nvSpPr>
        <p:spPr bwMode="auto">
          <a:xfrm>
            <a:off x="2786064" y="5433045"/>
            <a:ext cx="6385645" cy="1328023"/>
          </a:xfrm>
          <a:prstGeom prst="wedgeRoundRectCallout">
            <a:avLst>
              <a:gd name="adj1" fmla="val -23087"/>
              <a:gd name="adj2" fmla="val -7975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2400" dirty="0">
                <a:cs typeface="+mn-cs"/>
              </a:rPr>
              <a:t>length maps the empty list to 0, and any non-empty list to the successor of the length of its tail.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animBg="1"/>
      <p:bldP spid="3113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DD8B6A-09DD-2AE8-4A21-7C1F03F7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length</a:t>
            </a:r>
          </a:p>
        </p:txBody>
      </p:sp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363F264-F105-2F4C-B2ED-5B1AA220363B}" type="slidenum">
              <a:rPr lang="en-US" sz="1400"/>
              <a:pPr/>
              <a:t>17</a:t>
            </a:fld>
            <a:endParaRPr lang="en-US" sz="1400"/>
          </a:p>
        </p:txBody>
      </p:sp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138545" y="2609385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3418681" y="2146343"/>
            <a:ext cx="2762250" cy="4206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[1,2,3]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74169" y="2467018"/>
            <a:ext cx="3675062" cy="858838"/>
            <a:chOff x="795" y="1054"/>
            <a:chExt cx="2315" cy="541"/>
          </a:xfrm>
        </p:grpSpPr>
        <p:sp>
          <p:nvSpPr>
            <p:cNvPr id="325637" name="Text Box 5"/>
            <p:cNvSpPr txBox="1">
              <a:spLocks noChangeArrowheads="1"/>
            </p:cNvSpPr>
            <p:nvPr/>
          </p:nvSpPr>
          <p:spPr bwMode="auto">
            <a:xfrm>
              <a:off x="1138" y="1330"/>
              <a:ext cx="197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length [2,3]</a:t>
              </a:r>
            </a:p>
          </p:txBody>
        </p:sp>
        <p:sp>
          <p:nvSpPr>
            <p:cNvPr id="325638" name="Text Box 6"/>
            <p:cNvSpPr txBox="1">
              <a:spLocks noChangeArrowheads="1"/>
            </p:cNvSpPr>
            <p:nvPr/>
          </p:nvSpPr>
          <p:spPr bwMode="auto">
            <a:xfrm>
              <a:off x="795" y="10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74169" y="3222669"/>
            <a:ext cx="4411662" cy="862013"/>
            <a:chOff x="795" y="1530"/>
            <a:chExt cx="2779" cy="543"/>
          </a:xfrm>
        </p:grpSpPr>
        <p:sp>
          <p:nvSpPr>
            <p:cNvPr id="325640" name="Text Box 8"/>
            <p:cNvSpPr txBox="1">
              <a:spLocks noChangeArrowheads="1"/>
            </p:cNvSpPr>
            <p:nvPr/>
          </p:nvSpPr>
          <p:spPr bwMode="auto">
            <a:xfrm>
              <a:off x="1138" y="1808"/>
              <a:ext cx="243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(1 + length [3])</a:t>
              </a:r>
            </a:p>
          </p:txBody>
        </p:sp>
        <p:sp>
          <p:nvSpPr>
            <p:cNvPr id="325641" name="Text Box 9"/>
            <p:cNvSpPr txBox="1">
              <a:spLocks noChangeArrowheads="1"/>
            </p:cNvSpPr>
            <p:nvPr/>
          </p:nvSpPr>
          <p:spPr bwMode="auto">
            <a:xfrm>
              <a:off x="795" y="15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874169" y="3978318"/>
            <a:ext cx="5332412" cy="865188"/>
            <a:chOff x="795" y="2006"/>
            <a:chExt cx="3359" cy="545"/>
          </a:xfrm>
        </p:grpSpPr>
        <p:sp>
          <p:nvSpPr>
            <p:cNvPr id="325643" name="Text Box 11"/>
            <p:cNvSpPr txBox="1">
              <a:spLocks noChangeArrowheads="1"/>
            </p:cNvSpPr>
            <p:nvPr/>
          </p:nvSpPr>
          <p:spPr bwMode="auto">
            <a:xfrm>
              <a:off x="1138" y="2286"/>
              <a:ext cx="301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(1 + (1 + length []))</a:t>
              </a:r>
            </a:p>
          </p:txBody>
        </p:sp>
        <p:sp>
          <p:nvSpPr>
            <p:cNvPr id="325644" name="Text Box 12"/>
            <p:cNvSpPr txBox="1">
              <a:spLocks noChangeArrowheads="1"/>
            </p:cNvSpPr>
            <p:nvPr/>
          </p:nvSpPr>
          <p:spPr bwMode="auto">
            <a:xfrm>
              <a:off x="795" y="200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874169" y="4733969"/>
            <a:ext cx="3859212" cy="868363"/>
            <a:chOff x="795" y="2482"/>
            <a:chExt cx="2431" cy="547"/>
          </a:xfrm>
        </p:grpSpPr>
        <p:sp>
          <p:nvSpPr>
            <p:cNvPr id="325646" name="Text Box 14"/>
            <p:cNvSpPr txBox="1">
              <a:spLocks noChangeArrowheads="1"/>
            </p:cNvSpPr>
            <p:nvPr/>
          </p:nvSpPr>
          <p:spPr bwMode="auto">
            <a:xfrm>
              <a:off x="1138" y="2764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(1 + (1 + 0))</a:t>
              </a:r>
            </a:p>
          </p:txBody>
        </p:sp>
        <p:sp>
          <p:nvSpPr>
            <p:cNvPr id="325647" name="Text Box 15"/>
            <p:cNvSpPr txBox="1">
              <a:spLocks noChangeArrowheads="1"/>
            </p:cNvSpPr>
            <p:nvPr/>
          </p:nvSpPr>
          <p:spPr bwMode="auto">
            <a:xfrm>
              <a:off x="795" y="248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2874169" y="5489618"/>
            <a:ext cx="912812" cy="871538"/>
            <a:chOff x="795" y="2958"/>
            <a:chExt cx="575" cy="549"/>
          </a:xfrm>
        </p:grpSpPr>
        <p:sp>
          <p:nvSpPr>
            <p:cNvPr id="325649" name="Text Box 17"/>
            <p:cNvSpPr txBox="1">
              <a:spLocks noChangeArrowheads="1"/>
            </p:cNvSpPr>
            <p:nvPr/>
          </p:nvSpPr>
          <p:spPr bwMode="auto">
            <a:xfrm>
              <a:off x="1138" y="3242"/>
              <a:ext cx="2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</a:t>
              </a:r>
            </a:p>
          </p:txBody>
        </p:sp>
        <p:sp>
          <p:nvSpPr>
            <p:cNvPr id="325650" name="Text Box 18"/>
            <p:cNvSpPr txBox="1">
              <a:spLocks noChangeArrowheads="1"/>
            </p:cNvSpPr>
            <p:nvPr/>
          </p:nvSpPr>
          <p:spPr bwMode="auto">
            <a:xfrm>
              <a:off x="795" y="295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F892-9BD6-1B29-2442-E294BC6B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function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314375" name="Text Box 7"/>
          <p:cNvSpPr txBox="1">
            <a:spLocks noChangeArrowheads="1"/>
          </p:cNvSpPr>
          <p:nvPr/>
        </p:nvSpPr>
        <p:spPr bwMode="auto">
          <a:xfrm>
            <a:off x="1167535" y="1868130"/>
            <a:ext cx="8264525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Using a similar pattern of recursion we can define the </a:t>
            </a:r>
            <a:r>
              <a:rPr lang="en-US" sz="2800" u="sng" dirty="0">
                <a:cs typeface="+mn-cs"/>
              </a:rPr>
              <a:t>reverse</a:t>
            </a:r>
            <a:r>
              <a:rPr lang="en-US" sz="2800" dirty="0">
                <a:cs typeface="+mn-cs"/>
              </a:rPr>
              <a:t> function on lists.</a:t>
            </a:r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873375" y="2848244"/>
            <a:ext cx="6445250" cy="1406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[]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(x:xs) = reverse xs ++ [x]</a:t>
            </a:r>
          </a:p>
        </p:txBody>
      </p:sp>
      <p:sp>
        <p:nvSpPr>
          <p:cNvPr id="314372" name="AutoShape 4"/>
          <p:cNvSpPr>
            <a:spLocks noChangeArrowheads="1"/>
          </p:cNvSpPr>
          <p:nvPr/>
        </p:nvSpPr>
        <p:spPr bwMode="auto">
          <a:xfrm>
            <a:off x="2551113" y="4706740"/>
            <a:ext cx="7199312" cy="1532334"/>
          </a:xfrm>
          <a:prstGeom prst="wedgeRoundRectCallout">
            <a:avLst>
              <a:gd name="adj1" fmla="val -21708"/>
              <a:gd name="adj2" fmla="val -8020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cs typeface="+mn-cs"/>
              </a:rPr>
              <a:t>reverse maps the empty list to the empty list, and any non-empty list to the reverse of its tail appended to its head.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  <p:bldP spid="31437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F1572E-D277-B31D-8FB6-9C514371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of reverse function</a:t>
            </a:r>
          </a:p>
        </p:txBody>
      </p:sp>
      <p:sp>
        <p:nvSpPr>
          <p:cNvPr id="2764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40991F-626D-0B4F-B163-6E7F679C8AD5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215468" y="2957048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3385994" y="2160443"/>
            <a:ext cx="29464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[1,2,3]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41482" y="2479532"/>
            <a:ext cx="4411662" cy="858837"/>
            <a:chOff x="795" y="1054"/>
            <a:chExt cx="2779" cy="541"/>
          </a:xfrm>
        </p:grpSpPr>
        <p:sp>
          <p:nvSpPr>
            <p:cNvPr id="326661" name="Text Box 5"/>
            <p:cNvSpPr txBox="1">
              <a:spLocks noChangeArrowheads="1"/>
            </p:cNvSpPr>
            <p:nvPr/>
          </p:nvSpPr>
          <p:spPr bwMode="auto">
            <a:xfrm>
              <a:off x="1138" y="1330"/>
              <a:ext cx="243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reverse [2,3] ++ [1]</a:t>
              </a:r>
            </a:p>
          </p:txBody>
        </p:sp>
        <p:sp>
          <p:nvSpPr>
            <p:cNvPr id="326662" name="Text Box 6"/>
            <p:cNvSpPr txBox="1">
              <a:spLocks noChangeArrowheads="1"/>
            </p:cNvSpPr>
            <p:nvPr/>
          </p:nvSpPr>
          <p:spPr bwMode="auto">
            <a:xfrm>
              <a:off x="795" y="10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41482" y="3235181"/>
            <a:ext cx="5700712" cy="862012"/>
            <a:chOff x="795" y="1530"/>
            <a:chExt cx="3591" cy="543"/>
          </a:xfrm>
        </p:grpSpPr>
        <p:sp>
          <p:nvSpPr>
            <p:cNvPr id="326664" name="Text Box 8"/>
            <p:cNvSpPr txBox="1">
              <a:spLocks noChangeArrowheads="1"/>
            </p:cNvSpPr>
            <p:nvPr/>
          </p:nvSpPr>
          <p:spPr bwMode="auto">
            <a:xfrm>
              <a:off x="1138" y="1808"/>
              <a:ext cx="32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(reverse [3] ++ [2]) ++ [1]</a:t>
              </a:r>
            </a:p>
          </p:txBody>
        </p:sp>
        <p:sp>
          <p:nvSpPr>
            <p:cNvPr id="326665" name="Text Box 9"/>
            <p:cNvSpPr txBox="1">
              <a:spLocks noChangeArrowheads="1"/>
            </p:cNvSpPr>
            <p:nvPr/>
          </p:nvSpPr>
          <p:spPr bwMode="auto">
            <a:xfrm>
              <a:off x="795" y="15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841482" y="3990832"/>
            <a:ext cx="7173912" cy="865187"/>
            <a:chOff x="795" y="2006"/>
            <a:chExt cx="4519" cy="545"/>
          </a:xfrm>
        </p:grpSpPr>
        <p:sp>
          <p:nvSpPr>
            <p:cNvPr id="326667" name="Text Box 11"/>
            <p:cNvSpPr txBox="1">
              <a:spLocks noChangeArrowheads="1"/>
            </p:cNvSpPr>
            <p:nvPr/>
          </p:nvSpPr>
          <p:spPr bwMode="auto">
            <a:xfrm>
              <a:off x="1138" y="2286"/>
              <a:ext cx="417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((reverse [] ++ [3]) ++ [2]) ++ [1]</a:t>
              </a:r>
            </a:p>
          </p:txBody>
        </p:sp>
        <p:sp>
          <p:nvSpPr>
            <p:cNvPr id="326668" name="Text Box 12"/>
            <p:cNvSpPr txBox="1">
              <a:spLocks noChangeArrowheads="1"/>
            </p:cNvSpPr>
            <p:nvPr/>
          </p:nvSpPr>
          <p:spPr bwMode="auto">
            <a:xfrm>
              <a:off x="795" y="200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841482" y="4746481"/>
            <a:ext cx="5700712" cy="868362"/>
            <a:chOff x="795" y="2482"/>
            <a:chExt cx="3591" cy="547"/>
          </a:xfrm>
        </p:grpSpPr>
        <p:sp>
          <p:nvSpPr>
            <p:cNvPr id="326670" name="Text Box 14"/>
            <p:cNvSpPr txBox="1">
              <a:spLocks noChangeArrowheads="1"/>
            </p:cNvSpPr>
            <p:nvPr/>
          </p:nvSpPr>
          <p:spPr bwMode="auto">
            <a:xfrm>
              <a:off x="1138" y="2764"/>
              <a:ext cx="32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(([] ++ [3]) ++ [2]) ++ [1]</a:t>
              </a:r>
            </a:p>
          </p:txBody>
        </p:sp>
        <p:sp>
          <p:nvSpPr>
            <p:cNvPr id="326671" name="Text Box 15"/>
            <p:cNvSpPr txBox="1">
              <a:spLocks noChangeArrowheads="1"/>
            </p:cNvSpPr>
            <p:nvPr/>
          </p:nvSpPr>
          <p:spPr bwMode="auto">
            <a:xfrm>
              <a:off x="795" y="248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2841482" y="5502132"/>
            <a:ext cx="2017712" cy="871537"/>
            <a:chOff x="795" y="2958"/>
            <a:chExt cx="1271" cy="549"/>
          </a:xfrm>
        </p:grpSpPr>
        <p:sp>
          <p:nvSpPr>
            <p:cNvPr id="326673" name="Text Box 17"/>
            <p:cNvSpPr txBox="1">
              <a:spLocks noChangeArrowheads="1"/>
            </p:cNvSpPr>
            <p:nvPr/>
          </p:nvSpPr>
          <p:spPr bwMode="auto">
            <a:xfrm>
              <a:off x="1138" y="3242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[3,2,1]</a:t>
              </a:r>
            </a:p>
          </p:txBody>
        </p:sp>
        <p:sp>
          <p:nvSpPr>
            <p:cNvPr id="326674" name="Text Box 18"/>
            <p:cNvSpPr txBox="1">
              <a:spLocks noChangeArrowheads="1"/>
            </p:cNvSpPr>
            <p:nvPr/>
          </p:nvSpPr>
          <p:spPr bwMode="auto">
            <a:xfrm>
              <a:off x="795" y="295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6311AD-BB76-1FC9-185C-527A2EC9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20</a:t>
            </a:fld>
            <a:endParaRPr lang="en-US" sz="1400"/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1349594" y="3429000"/>
            <a:ext cx="8514319" cy="29291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IE" sz="2400" dirty="0"/>
          </a:p>
          <a:p>
            <a:pPr>
              <a:lnSpc>
                <a:spcPct val="120000"/>
              </a:lnSpc>
              <a:defRPr/>
            </a:pPr>
            <a:r>
              <a:rPr lang="en-IE" sz="2400" dirty="0"/>
              <a:t>recursiveFunction [] </a:t>
            </a:r>
            <a:r>
              <a:rPr lang="en-IE" dirty="0"/>
              <a:t>=</a:t>
            </a:r>
            <a:r>
              <a:rPr lang="en-IE" sz="2400" dirty="0"/>
              <a:t> [] </a:t>
            </a:r>
          </a:p>
          <a:p>
            <a:pPr>
              <a:lnSpc>
                <a:spcPct val="120000"/>
              </a:lnSpc>
              <a:defRPr/>
            </a:pPr>
            <a:endParaRPr lang="en-IE" sz="2400" dirty="0"/>
          </a:p>
          <a:p>
            <a:pPr>
              <a:lnSpc>
                <a:spcPct val="120000"/>
              </a:lnSpc>
              <a:defRPr/>
            </a:pPr>
            <a:r>
              <a:rPr lang="en-IE" sz="2400" dirty="0"/>
              <a:t>recursiveFunction (x </a:t>
            </a:r>
            <a:r>
              <a:rPr lang="en-IE" dirty="0"/>
              <a:t>:</a:t>
            </a:r>
            <a:r>
              <a:rPr lang="en-IE" sz="2400" dirty="0"/>
              <a:t> xs) </a:t>
            </a:r>
            <a:r>
              <a:rPr lang="en-IE" dirty="0"/>
              <a:t>=</a:t>
            </a:r>
            <a:r>
              <a:rPr lang="en-IE" sz="2400" dirty="0"/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IE" sz="2400" dirty="0"/>
              <a:t>                           doSomethingWith x </a:t>
            </a:r>
            <a:r>
              <a:rPr lang="en-IE" dirty="0"/>
              <a:t>:</a:t>
            </a:r>
            <a:r>
              <a:rPr lang="en-IE" sz="2400" dirty="0"/>
              <a:t> recursiveFunction xs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35039" y="2042391"/>
            <a:ext cx="68708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When applying recursion to lists, it usually takes on the following  structure:</a:t>
            </a:r>
          </a:p>
        </p:txBody>
      </p:sp>
      <p:sp>
        <p:nvSpPr>
          <p:cNvPr id="3" name="Sun 2">
            <a:extLst>
              <a:ext uri="{FF2B5EF4-FFF2-40B4-BE49-F238E27FC236}">
                <a16:creationId xmlns:a16="http://schemas.microsoft.com/office/drawing/2014/main" id="{99F2D19C-D5B0-4842-979B-B58FB277C54E}"/>
              </a:ext>
            </a:extLst>
          </p:cNvPr>
          <p:cNvSpPr/>
          <p:nvPr/>
        </p:nvSpPr>
        <p:spPr bwMode="auto">
          <a:xfrm>
            <a:off x="1440306" y="2524401"/>
            <a:ext cx="1559859" cy="1469469"/>
          </a:xfrm>
          <a:prstGeom prst="sun">
            <a:avLst/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Sun 3">
            <a:extLst>
              <a:ext uri="{FF2B5EF4-FFF2-40B4-BE49-F238E27FC236}">
                <a16:creationId xmlns:a16="http://schemas.microsoft.com/office/drawing/2014/main" id="{EE151A4D-96E8-9B4F-8446-B58DFC7F65FF}"/>
              </a:ext>
            </a:extLst>
          </p:cNvPr>
          <p:cNvSpPr/>
          <p:nvPr/>
        </p:nvSpPr>
        <p:spPr bwMode="auto">
          <a:xfrm>
            <a:off x="8901955" y="4158832"/>
            <a:ext cx="1649506" cy="1469469"/>
          </a:xfrm>
          <a:prstGeom prst="sun">
            <a:avLst/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4B4025A-7ACB-7948-A671-0989FC4E7BC7}"/>
              </a:ext>
            </a:extLst>
          </p:cNvPr>
          <p:cNvSpPr txBox="1">
            <a:spLocks noChangeArrowheads="1"/>
          </p:cNvSpPr>
          <p:nvPr/>
        </p:nvSpPr>
        <p:spPr>
          <a:xfrm>
            <a:off x="429716" y="782250"/>
            <a:ext cx="7870634" cy="8639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</a:rPr>
              <a:t>In General.. </a:t>
            </a:r>
          </a:p>
        </p:txBody>
      </p:sp>
    </p:spTree>
    <p:extLst>
      <p:ext uri="{BB962C8B-B14F-4D97-AF65-F5344CB8AC3E}">
        <p14:creationId xmlns:p14="http://schemas.microsoft.com/office/powerpoint/2010/main" val="307430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BAFF47-DCD8-E8D5-FCC6-6629BA53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first insert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21</a:t>
            </a:fld>
            <a:endParaRPr lang="en-US" sz="1400"/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477059" y="4064077"/>
            <a:ext cx="7237879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insert :: Ord a =&gt; a -&gt;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insert</a:t>
            </a:r>
            <a:r>
              <a:rPr lang="en-US" sz="2400" dirty="0">
                <a:latin typeface="Lucida Sans Typewriter" charset="0"/>
                <a:cs typeface="+mn-cs"/>
              </a:rPr>
              <a:t> x []		  = [x]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insert</a:t>
            </a:r>
            <a:r>
              <a:rPr lang="en-US" sz="2400" dirty="0">
                <a:latin typeface="Lucida Sans Typewriter" charset="0"/>
                <a:cs typeface="+mn-cs"/>
              </a:rPr>
              <a:t> x (y:ys)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		| x &lt;= y 	  = x : y : ys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		| otherwise = y: insert x ys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7084" y="2122809"/>
            <a:ext cx="100778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Looking at insertion sort, we first look at a function that inserts a new element of any Ordered type into a sorted list to return  another sorted list.  </a:t>
            </a:r>
          </a:p>
        </p:txBody>
      </p:sp>
    </p:spTree>
    <p:extLst>
      <p:ext uri="{BB962C8B-B14F-4D97-AF65-F5344CB8AC3E}">
        <p14:creationId xmlns:p14="http://schemas.microsoft.com/office/powerpoint/2010/main" val="211743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D0BD47-F35B-D5E2-1E1B-307EE214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22</a:t>
            </a:fld>
            <a:endParaRPr lang="en-US" sz="1400"/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631476" y="4968174"/>
            <a:ext cx="6692858" cy="14219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isort :: Ord a =&gt;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isort</a:t>
            </a:r>
            <a:r>
              <a:rPr lang="en-US" sz="2400" dirty="0">
                <a:latin typeface="Lucida Sans Typewriter" charset="0"/>
                <a:cs typeface="+mn-cs"/>
              </a:rPr>
              <a:t> []	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isort</a:t>
            </a:r>
            <a:r>
              <a:rPr lang="en-US" sz="2400" dirty="0">
                <a:latin typeface="Lucida Sans Typewriter" charset="0"/>
                <a:cs typeface="+mn-cs"/>
              </a:rPr>
              <a:t> (x:xs) = insert x (isort xs)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9621" y="2058799"/>
            <a:ext cx="104927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Now, using insert, we can define a function that implements </a:t>
            </a:r>
            <a:endParaRPr lang="en-IE" sz="2800" i="1" dirty="0"/>
          </a:p>
          <a:p>
            <a:pPr algn="ctr"/>
            <a:r>
              <a:rPr lang="en-IE" sz="2800" i="1" dirty="0"/>
              <a:t>Insertion sort</a:t>
            </a:r>
          </a:p>
          <a:p>
            <a:pPr algn="just"/>
            <a:endParaRPr lang="en-IE" sz="2800" dirty="0"/>
          </a:p>
          <a:p>
            <a:pPr algn="just"/>
            <a:r>
              <a:rPr lang="en-IE" sz="2800" dirty="0"/>
              <a:t>in which the empty list is already sorted and any non-empty list is sorted by inserting  its head into the list that results from sorting its tail. </a:t>
            </a:r>
          </a:p>
        </p:txBody>
      </p:sp>
    </p:spTree>
    <p:extLst>
      <p:ext uri="{BB962C8B-B14F-4D97-AF65-F5344CB8AC3E}">
        <p14:creationId xmlns:p14="http://schemas.microsoft.com/office/powerpoint/2010/main" val="242156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Multiple Arguments</a:t>
            </a:r>
          </a:p>
        </p:txBody>
      </p:sp>
      <p:sp>
        <p:nvSpPr>
          <p:cNvPr id="2867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64141E7-2612-E54E-A7EA-F527BEA1F246}" type="slidenum">
              <a:rPr lang="en-US" sz="1400"/>
              <a:pPr/>
              <a:t>23</a:t>
            </a:fld>
            <a:endParaRPr lang="en-US" sz="1400"/>
          </a:p>
        </p:txBody>
      </p:sp>
      <p:sp>
        <p:nvSpPr>
          <p:cNvPr id="318467" name="Text Box 3"/>
          <p:cNvSpPr txBox="1">
            <a:spLocks noChangeArrowheads="1"/>
          </p:cNvSpPr>
          <p:nvPr/>
        </p:nvSpPr>
        <p:spPr bwMode="auto">
          <a:xfrm>
            <a:off x="1539875" y="2192339"/>
            <a:ext cx="8583611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Functions with more than one argument can also be defined using recursion.  For example:</a:t>
            </a:r>
          </a:p>
        </p:txBody>
      </p:sp>
      <p:sp>
        <p:nvSpPr>
          <p:cNvPr id="28676" name="Rectangle 17"/>
          <p:cNvSpPr>
            <a:spLocks noChangeArrowheads="1"/>
          </p:cNvSpPr>
          <p:nvPr/>
        </p:nvSpPr>
        <p:spPr bwMode="auto">
          <a:xfrm>
            <a:off x="2068512" y="3328060"/>
            <a:ext cx="80549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Zipping the elements of two lists:</a:t>
            </a:r>
          </a:p>
        </p:txBody>
      </p:sp>
      <p:sp>
        <p:nvSpPr>
          <p:cNvPr id="318482" name="Text Box 18"/>
          <p:cNvSpPr txBox="1">
            <a:spLocks noChangeArrowheads="1"/>
          </p:cNvSpPr>
          <p:nvPr/>
        </p:nvSpPr>
        <p:spPr bwMode="auto">
          <a:xfrm>
            <a:off x="2508251" y="4254500"/>
            <a:ext cx="7046913" cy="185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[b]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[(</a:t>
            </a:r>
            <a:r>
              <a:rPr lang="en-US" sz="2400" dirty="0" err="1">
                <a:latin typeface="Lucida Sans Typewriter" charset="0"/>
                <a:cs typeface="+mn-cs"/>
              </a:rPr>
              <a:t>a,b</a:t>
            </a:r>
            <a:r>
              <a:rPr lang="en-US" sz="2400" dirty="0">
                <a:latin typeface="Lucida Sans Typewriter" charset="0"/>
                <a:cs typeface="+mn-cs"/>
              </a:rPr>
              <a:t>)]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[]     _ 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_      []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(x:xs) (y:ys) = (x,y) : zip xs 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8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1AE4A03-5943-774D-9D6F-590E3D985DEF}" type="slidenum">
              <a:rPr lang="en-US" sz="1400"/>
              <a:pPr/>
              <a:t>24</a:t>
            </a:fld>
            <a:endParaRPr lang="en-US" sz="1400"/>
          </a:p>
        </p:txBody>
      </p:sp>
      <p:sp>
        <p:nvSpPr>
          <p:cNvPr id="344072" name="Text Box 8"/>
          <p:cNvSpPr txBox="1">
            <a:spLocks noChangeArrowheads="1"/>
          </p:cNvSpPr>
          <p:nvPr/>
        </p:nvSpPr>
        <p:spPr bwMode="auto">
          <a:xfrm>
            <a:off x="5636671" y="2396409"/>
            <a:ext cx="5562600" cy="185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:: Int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0 xs     = xs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_ []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n (_:xs) = drop (n-1) xs</a:t>
            </a:r>
          </a:p>
        </p:txBody>
      </p:sp>
      <p:sp>
        <p:nvSpPr>
          <p:cNvPr id="29699" name="Rectangle 9"/>
          <p:cNvSpPr>
            <a:spLocks noChangeArrowheads="1"/>
          </p:cNvSpPr>
          <p:nvPr/>
        </p:nvSpPr>
        <p:spPr bwMode="auto">
          <a:xfrm>
            <a:off x="0" y="2599532"/>
            <a:ext cx="4908278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Remove the first n elements from a list:</a:t>
            </a:r>
          </a:p>
        </p:txBody>
      </p:sp>
      <p:sp>
        <p:nvSpPr>
          <p:cNvPr id="344074" name="Text Box 10"/>
          <p:cNvSpPr txBox="1">
            <a:spLocks noChangeArrowheads="1"/>
          </p:cNvSpPr>
          <p:nvPr/>
        </p:nvSpPr>
        <p:spPr bwMode="auto">
          <a:xfrm>
            <a:off x="5636671" y="4799826"/>
            <a:ext cx="5562600" cy="1512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(++)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3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[]     ++ ys = ys</a:t>
            </a:r>
          </a:p>
          <a:p>
            <a:pPr>
              <a:lnSpc>
                <a:spcPct val="13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(x:xs) ++ ys = x : (xs ++ ys)</a:t>
            </a:r>
          </a:p>
        </p:txBody>
      </p:sp>
      <p:sp>
        <p:nvSpPr>
          <p:cNvPr id="29701" name="Rectangle 11"/>
          <p:cNvSpPr>
            <a:spLocks noChangeArrowheads="1"/>
          </p:cNvSpPr>
          <p:nvPr/>
        </p:nvSpPr>
        <p:spPr bwMode="auto">
          <a:xfrm>
            <a:off x="109770" y="5381702"/>
            <a:ext cx="799306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Appending two lists: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31B59C-B090-B331-D3E1-C1A241069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Multiple Arguments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72" grpId="0" animBg="1"/>
      <p:bldP spid="344074" grpId="0" animBg="1"/>
      <p:bldP spid="2970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Quicksort</a:t>
            </a:r>
          </a:p>
        </p:txBody>
      </p:sp>
      <p:sp>
        <p:nvSpPr>
          <p:cNvPr id="3072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A7F05BD-1F34-B04E-8C88-39F5B54933E4}" type="slidenum">
              <a:rPr lang="en-US" sz="1400"/>
              <a:pPr/>
              <a:t>25</a:t>
            </a:fld>
            <a:endParaRPr lang="en-US" sz="1400"/>
          </a:p>
        </p:txBody>
      </p:sp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267286" y="2376487"/>
            <a:ext cx="10462171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The </a:t>
            </a:r>
            <a:r>
              <a:rPr lang="en-US" sz="2800" u="sng" dirty="0">
                <a:cs typeface="+mn-cs"/>
              </a:rPr>
              <a:t>quicksort</a:t>
            </a:r>
            <a:r>
              <a:rPr lang="en-US" sz="2800" dirty="0">
                <a:cs typeface="+mn-cs"/>
              </a:rPr>
              <a:t> algorithm for sorting a list of values can be specified by the following two rules: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456060" y="3871913"/>
            <a:ext cx="10157525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The empty list is already sorted;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Non-empty lists can be sorted by sorting the tail values </a:t>
            </a:r>
            <a:r>
              <a:rPr kumimoji="1" lang="en-US" sz="2800" dirty="0">
                <a:sym typeface="Symbol" charset="0"/>
              </a:rPr>
              <a:t></a:t>
            </a:r>
            <a:r>
              <a:rPr kumimoji="1" lang="en-US" sz="2800" dirty="0"/>
              <a:t> the head, sorting the tail values </a:t>
            </a:r>
            <a:r>
              <a:rPr kumimoji="1" lang="en-US" sz="2800" dirty="0">
                <a:sym typeface="Symbol" charset="0"/>
              </a:rPr>
              <a:t> the head, and then appending the resulting lists on either side of the head value.</a:t>
            </a:r>
            <a:endParaRPr kumimoji="1"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ED91F8-87C7-2149-8010-5C86312072F3}" type="slidenum">
              <a:rPr lang="en-US" sz="1400"/>
              <a:pPr/>
              <a:t>26</a:t>
            </a:fld>
            <a:endParaRPr lang="en-US" sz="1400"/>
          </a:p>
        </p:txBody>
      </p:sp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309489" y="1970061"/>
            <a:ext cx="10419968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Using recursion, this specification can be translated directly into an implementation:</a:t>
            </a:r>
          </a:p>
        </p:txBody>
      </p:sp>
      <p:sp>
        <p:nvSpPr>
          <p:cNvPr id="333827" name="Text Box 3"/>
          <p:cNvSpPr txBox="1">
            <a:spLocks noChangeArrowheads="1"/>
          </p:cNvSpPr>
          <p:nvPr/>
        </p:nvSpPr>
        <p:spPr bwMode="auto">
          <a:xfrm>
            <a:off x="2196310" y="2916211"/>
            <a:ext cx="6694471" cy="30396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qsort :: Ord a </a:t>
            </a:r>
            <a:r>
              <a:rPr lang="en-US" sz="2000" dirty="0">
                <a:latin typeface="Lucida Sans Typewriter" pitchFamily="-1" charset="0"/>
                <a:ea typeface="ＭＳ Ｐゴシック" pitchFamily="-1" charset="-128"/>
                <a:cs typeface="ＭＳ Ｐゴシック" pitchFamily="-1" charset="-128"/>
                <a:sym typeface="Symbol" pitchFamily="-1" charset="2"/>
              </a:rPr>
              <a:t> </a:t>
            </a:r>
            <a:r>
              <a:rPr lang="en-US" sz="2200" dirty="0">
                <a:latin typeface="Lucida Sans Typewriter" charset="0"/>
                <a:cs typeface="+mn-cs"/>
              </a:rPr>
              <a:t>[a] </a:t>
            </a:r>
            <a:r>
              <a:rPr lang="en-US" sz="22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2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qsort []     = []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qsort (x:xs) =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qsort smaller ++ [x] ++ qsort larger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where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   smaller = [a | a </a:t>
            </a:r>
            <a:r>
              <a:rPr lang="en-US" sz="2200" dirty="0">
                <a:latin typeface="Lucida Sans Typewriter" charset="0"/>
                <a:cs typeface="+mn-cs"/>
                <a:sym typeface="Symbol" charset="0"/>
              </a:rPr>
              <a:t></a:t>
            </a:r>
            <a:r>
              <a:rPr lang="en-US" sz="2200" dirty="0">
                <a:latin typeface="Lucida Sans Typewriter" charset="0"/>
                <a:cs typeface="+mn-cs"/>
              </a:rPr>
              <a:t> </a:t>
            </a:r>
            <a:r>
              <a:rPr lang="en-US" sz="2200" dirty="0" err="1">
                <a:latin typeface="Lucida Sans Typewriter" charset="0"/>
                <a:cs typeface="+mn-cs"/>
              </a:rPr>
              <a:t>xs</a:t>
            </a:r>
            <a:r>
              <a:rPr lang="en-US" sz="2200" dirty="0">
                <a:latin typeface="Lucida Sans Typewriter" charset="0"/>
                <a:cs typeface="+mn-cs"/>
              </a:rPr>
              <a:t>, a </a:t>
            </a:r>
            <a:r>
              <a:rPr lang="en-US" sz="2200" dirty="0">
                <a:latin typeface="Times New Roman" charset="0"/>
                <a:cs typeface="+mn-cs"/>
                <a:sym typeface="Symbol" charset="0"/>
              </a:rPr>
              <a:t></a:t>
            </a:r>
            <a:r>
              <a:rPr lang="en-US" sz="2200" dirty="0">
                <a:latin typeface="Lucida Sans Typewriter" charset="0"/>
                <a:cs typeface="+mn-cs"/>
              </a:rPr>
              <a:t> x]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   larger  = [b | b </a:t>
            </a:r>
            <a:r>
              <a:rPr lang="en-US" sz="2200" dirty="0">
                <a:latin typeface="Lucida Sans Typewriter" charset="0"/>
                <a:cs typeface="+mn-cs"/>
                <a:sym typeface="Symbol" charset="0"/>
              </a:rPr>
              <a:t></a:t>
            </a:r>
            <a:r>
              <a:rPr lang="en-US" sz="2200" dirty="0">
                <a:latin typeface="Lucida Sans Typewriter" charset="0"/>
                <a:cs typeface="+mn-cs"/>
              </a:rPr>
              <a:t> </a:t>
            </a:r>
            <a:r>
              <a:rPr lang="en-US" sz="2200" dirty="0" err="1">
                <a:latin typeface="Lucida Sans Typewriter" charset="0"/>
                <a:cs typeface="+mn-cs"/>
              </a:rPr>
              <a:t>xs</a:t>
            </a:r>
            <a:r>
              <a:rPr lang="en-US" sz="2200" dirty="0">
                <a:latin typeface="Lucida Sans Typewriter" charset="0"/>
                <a:cs typeface="+mn-cs"/>
              </a:rPr>
              <a:t>, b </a:t>
            </a:r>
            <a:r>
              <a:rPr lang="en-US" sz="2200" dirty="0">
                <a:latin typeface="Times New Roman" charset="0"/>
                <a:cs typeface="+mn-cs"/>
                <a:sym typeface="Symbol" charset="0"/>
              </a:rPr>
              <a:t></a:t>
            </a:r>
            <a:r>
              <a:rPr lang="en-US" sz="2200" dirty="0">
                <a:latin typeface="Lucida Sans Typewriter" charset="0"/>
                <a:cs typeface="+mn-cs"/>
              </a:rPr>
              <a:t> x]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259128" y="5955889"/>
            <a:ext cx="1058938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This is probably the </a:t>
            </a:r>
            <a:r>
              <a:rPr kumimoji="1" lang="en-US" sz="2800" u="sng" dirty="0"/>
              <a:t>simplest</a:t>
            </a:r>
            <a:r>
              <a:rPr kumimoji="1" lang="en-US" sz="2800" dirty="0"/>
              <a:t> implementation of quicksort in any programming language!</a:t>
            </a:r>
          </a:p>
        </p:txBody>
      </p:sp>
      <p:sp>
        <p:nvSpPr>
          <p:cNvPr id="333829" name="Text Box 5"/>
          <p:cNvSpPr txBox="1">
            <a:spLocks noChangeArrowheads="1"/>
          </p:cNvSpPr>
          <p:nvPr/>
        </p:nvSpPr>
        <p:spPr bwMode="auto">
          <a:xfrm>
            <a:off x="17107" y="6104772"/>
            <a:ext cx="132642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Note: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1C168F-0353-919C-3EA0-8878CC8DD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Quicksort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3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3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7" grpId="0" animBg="1"/>
      <p:bldP spid="317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3DD3F4-78D8-CE21-F27A-3752B29D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276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9968D6B-8E9F-B04F-A3A7-19087C7A8AB4}" type="slidenum">
              <a:rPr lang="en-US" sz="1400"/>
              <a:pPr/>
              <a:t>27</a:t>
            </a:fld>
            <a:endParaRPr lang="en-US" sz="1400"/>
          </a:p>
        </p:txBody>
      </p:sp>
      <p:sp>
        <p:nvSpPr>
          <p:cNvPr id="348162" name="Text Box 2"/>
          <p:cNvSpPr txBox="1">
            <a:spLocks noChangeArrowheads="1"/>
          </p:cNvSpPr>
          <p:nvPr/>
        </p:nvSpPr>
        <p:spPr bwMode="auto">
          <a:xfrm>
            <a:off x="628667" y="883057"/>
            <a:ext cx="83153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 (abbreviating qsort as q):</a:t>
            </a:r>
          </a:p>
        </p:txBody>
      </p:sp>
      <p:sp>
        <p:nvSpPr>
          <p:cNvPr id="348163" name="Text Box 3"/>
          <p:cNvSpPr txBox="1">
            <a:spLocks noChangeArrowheads="1"/>
          </p:cNvSpPr>
          <p:nvPr/>
        </p:nvSpPr>
        <p:spPr bwMode="auto">
          <a:xfrm>
            <a:off x="4805362" y="2004037"/>
            <a:ext cx="25781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q [3,2,4,1,5]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3659187" y="2522758"/>
            <a:ext cx="4870450" cy="1176338"/>
            <a:chOff x="1346" y="1354"/>
            <a:chExt cx="3068" cy="741"/>
          </a:xfrm>
        </p:grpSpPr>
        <p:sp>
          <p:nvSpPr>
            <p:cNvPr id="348165" name="Text Box 5"/>
            <p:cNvSpPr txBox="1">
              <a:spLocks noChangeArrowheads="1"/>
            </p:cNvSpPr>
            <p:nvPr/>
          </p:nvSpPr>
          <p:spPr bwMode="auto">
            <a:xfrm>
              <a:off x="1346" y="1830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[2,1]</a:t>
              </a:r>
            </a:p>
          </p:txBody>
        </p:sp>
        <p:sp>
          <p:nvSpPr>
            <p:cNvPr id="348189" name="Text Box 29"/>
            <p:cNvSpPr txBox="1">
              <a:spLocks noChangeArrowheads="1"/>
            </p:cNvSpPr>
            <p:nvPr/>
          </p:nvSpPr>
          <p:spPr bwMode="auto">
            <a:xfrm>
              <a:off x="2300" y="1830"/>
              <a:ext cx="116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++ [3] ++</a:t>
              </a:r>
            </a:p>
          </p:txBody>
        </p:sp>
        <p:sp>
          <p:nvSpPr>
            <p:cNvPr id="348190" name="Text Box 30"/>
            <p:cNvSpPr txBox="1">
              <a:spLocks noChangeArrowheads="1"/>
            </p:cNvSpPr>
            <p:nvPr/>
          </p:nvSpPr>
          <p:spPr bwMode="auto">
            <a:xfrm>
              <a:off x="3486" y="1830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[4,5]</a:t>
              </a:r>
            </a:p>
          </p:txBody>
        </p:sp>
        <p:sp>
          <p:nvSpPr>
            <p:cNvPr id="348200" name="AutoShape 40"/>
            <p:cNvSpPr>
              <a:spLocks noChangeArrowheads="1"/>
            </p:cNvSpPr>
            <p:nvPr/>
          </p:nvSpPr>
          <p:spPr bwMode="auto">
            <a:xfrm>
              <a:off x="2778" y="1354"/>
              <a:ext cx="202" cy="361"/>
            </a:xfrm>
            <a:prstGeom prst="downArrow">
              <a:avLst>
                <a:gd name="adj1" fmla="val 33333"/>
                <a:gd name="adj2" fmla="val 51194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1944688" y="3736978"/>
            <a:ext cx="3944937" cy="1185863"/>
            <a:chOff x="265" y="2217"/>
            <a:chExt cx="2485" cy="747"/>
          </a:xfrm>
        </p:grpSpPr>
        <p:sp>
          <p:nvSpPr>
            <p:cNvPr id="348168" name="Text Box 8"/>
            <p:cNvSpPr txBox="1">
              <a:spLocks noChangeArrowheads="1"/>
            </p:cNvSpPr>
            <p:nvPr/>
          </p:nvSpPr>
          <p:spPr bwMode="auto">
            <a:xfrm>
              <a:off x="265" y="2699"/>
              <a:ext cx="69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[1]</a:t>
              </a:r>
            </a:p>
          </p:txBody>
        </p:sp>
        <p:sp>
          <p:nvSpPr>
            <p:cNvPr id="348192" name="Text Box 32"/>
            <p:cNvSpPr txBox="1">
              <a:spLocks noChangeArrowheads="1"/>
            </p:cNvSpPr>
            <p:nvPr/>
          </p:nvSpPr>
          <p:spPr bwMode="auto">
            <a:xfrm>
              <a:off x="2170" y="2699"/>
              <a:ext cx="58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q []</a:t>
              </a:r>
            </a:p>
          </p:txBody>
        </p:sp>
        <p:sp>
          <p:nvSpPr>
            <p:cNvPr id="348193" name="Text Box 33"/>
            <p:cNvSpPr txBox="1">
              <a:spLocks noChangeArrowheads="1"/>
            </p:cNvSpPr>
            <p:nvPr/>
          </p:nvSpPr>
          <p:spPr bwMode="auto">
            <a:xfrm>
              <a:off x="981" y="2699"/>
              <a:ext cx="116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++ [2] ++</a:t>
              </a:r>
            </a:p>
          </p:txBody>
        </p:sp>
        <p:sp>
          <p:nvSpPr>
            <p:cNvPr id="348214" name="AutoShape 54"/>
            <p:cNvSpPr>
              <a:spLocks noChangeArrowheads="1"/>
            </p:cNvSpPr>
            <p:nvPr/>
          </p:nvSpPr>
          <p:spPr bwMode="auto">
            <a:xfrm>
              <a:off x="1695" y="2217"/>
              <a:ext cx="202" cy="361"/>
            </a:xfrm>
            <a:prstGeom prst="downArrow">
              <a:avLst>
                <a:gd name="adj1" fmla="val 33333"/>
                <a:gd name="adj2" fmla="val 51194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6347657" y="3813300"/>
            <a:ext cx="3946525" cy="1185863"/>
            <a:chOff x="3056" y="2217"/>
            <a:chExt cx="2486" cy="747"/>
          </a:xfrm>
        </p:grpSpPr>
        <p:sp>
          <p:nvSpPr>
            <p:cNvPr id="348194" name="Text Box 34"/>
            <p:cNvSpPr txBox="1">
              <a:spLocks noChangeArrowheads="1"/>
            </p:cNvSpPr>
            <p:nvPr/>
          </p:nvSpPr>
          <p:spPr bwMode="auto">
            <a:xfrm>
              <a:off x="3056" y="2699"/>
              <a:ext cx="58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[]</a:t>
              </a:r>
            </a:p>
          </p:txBody>
        </p:sp>
        <p:sp>
          <p:nvSpPr>
            <p:cNvPr id="348195" name="Text Box 35"/>
            <p:cNvSpPr txBox="1">
              <a:spLocks noChangeArrowheads="1"/>
            </p:cNvSpPr>
            <p:nvPr/>
          </p:nvSpPr>
          <p:spPr bwMode="auto">
            <a:xfrm>
              <a:off x="4846" y="2699"/>
              <a:ext cx="69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[5]</a:t>
              </a:r>
            </a:p>
          </p:txBody>
        </p:sp>
        <p:sp>
          <p:nvSpPr>
            <p:cNvPr id="348196" name="Text Box 36"/>
            <p:cNvSpPr txBox="1">
              <a:spLocks noChangeArrowheads="1"/>
            </p:cNvSpPr>
            <p:nvPr/>
          </p:nvSpPr>
          <p:spPr bwMode="auto">
            <a:xfrm>
              <a:off x="3661" y="2699"/>
              <a:ext cx="116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++ [4] ++</a:t>
              </a:r>
            </a:p>
          </p:txBody>
        </p:sp>
        <p:sp>
          <p:nvSpPr>
            <p:cNvPr id="348215" name="AutoShape 55"/>
            <p:cNvSpPr>
              <a:spLocks noChangeArrowheads="1"/>
            </p:cNvSpPr>
            <p:nvPr/>
          </p:nvSpPr>
          <p:spPr bwMode="auto">
            <a:xfrm>
              <a:off x="3849" y="2217"/>
              <a:ext cx="202" cy="361"/>
            </a:xfrm>
            <a:prstGeom prst="downArrow">
              <a:avLst>
                <a:gd name="adj1" fmla="val 33333"/>
                <a:gd name="adj2" fmla="val 51194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AFFCA4-7565-D947-3CC7-01785E8201D5}"/>
              </a:ext>
            </a:extLst>
          </p:cNvPr>
          <p:cNvGrpSpPr/>
          <p:nvPr/>
        </p:nvGrpSpPr>
        <p:grpSpPr>
          <a:xfrm>
            <a:off x="2128838" y="5022850"/>
            <a:ext cx="8008937" cy="1073151"/>
            <a:chOff x="2128838" y="5022850"/>
            <a:chExt cx="8008937" cy="1073151"/>
          </a:xfrm>
        </p:grpSpPr>
        <p:grpSp>
          <p:nvGrpSpPr>
            <p:cNvPr id="5" name="Group 63"/>
            <p:cNvGrpSpPr>
              <a:grpSpLocks/>
            </p:cNvGrpSpPr>
            <p:nvPr/>
          </p:nvGrpSpPr>
          <p:grpSpPr bwMode="auto">
            <a:xfrm>
              <a:off x="2128838" y="5043488"/>
              <a:ext cx="736600" cy="1052512"/>
              <a:chOff x="381" y="3177"/>
              <a:chExt cx="464" cy="663"/>
            </a:xfrm>
          </p:grpSpPr>
          <p:sp>
            <p:nvSpPr>
              <p:cNvPr id="348171" name="Text Box 11"/>
              <p:cNvSpPr txBox="1">
                <a:spLocks noChangeArrowheads="1"/>
              </p:cNvSpPr>
              <p:nvPr/>
            </p:nvSpPr>
            <p:spPr bwMode="auto">
              <a:xfrm>
                <a:off x="381" y="3575"/>
                <a:ext cx="464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[1]</a:t>
                </a:r>
              </a:p>
            </p:txBody>
          </p:sp>
          <p:sp>
            <p:nvSpPr>
              <p:cNvPr id="348216" name="AutoShape 56"/>
              <p:cNvSpPr>
                <a:spLocks noChangeArrowheads="1"/>
              </p:cNvSpPr>
              <p:nvPr/>
            </p:nvSpPr>
            <p:spPr bwMode="auto">
              <a:xfrm>
                <a:off x="498" y="3177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6" name="Group 64"/>
            <p:cNvGrpSpPr>
              <a:grpSpLocks/>
            </p:cNvGrpSpPr>
            <p:nvPr/>
          </p:nvGrpSpPr>
          <p:grpSpPr bwMode="auto">
            <a:xfrm>
              <a:off x="5153025" y="5027613"/>
              <a:ext cx="552450" cy="1055687"/>
              <a:chOff x="2286" y="3167"/>
              <a:chExt cx="348" cy="665"/>
            </a:xfrm>
          </p:grpSpPr>
          <p:sp>
            <p:nvSpPr>
              <p:cNvPr id="348180" name="Text Box 20"/>
              <p:cNvSpPr txBox="1">
                <a:spLocks noChangeArrowheads="1"/>
              </p:cNvSpPr>
              <p:nvPr/>
            </p:nvSpPr>
            <p:spPr bwMode="auto">
              <a:xfrm>
                <a:off x="2286" y="3567"/>
                <a:ext cx="348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[]</a:t>
                </a:r>
              </a:p>
            </p:txBody>
          </p:sp>
          <p:sp>
            <p:nvSpPr>
              <p:cNvPr id="348217" name="AutoShape 57"/>
              <p:cNvSpPr>
                <a:spLocks noChangeArrowheads="1"/>
              </p:cNvSpPr>
              <p:nvPr/>
            </p:nvSpPr>
            <p:spPr bwMode="auto">
              <a:xfrm>
                <a:off x="2359" y="3167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7" name="Group 65"/>
            <p:cNvGrpSpPr>
              <a:grpSpLocks/>
            </p:cNvGrpSpPr>
            <p:nvPr/>
          </p:nvGrpSpPr>
          <p:grpSpPr bwMode="auto">
            <a:xfrm>
              <a:off x="6559550" y="5022850"/>
              <a:ext cx="552450" cy="1073150"/>
              <a:chOff x="3172" y="3164"/>
              <a:chExt cx="348" cy="676"/>
            </a:xfrm>
          </p:grpSpPr>
          <p:sp>
            <p:nvSpPr>
              <p:cNvPr id="348183" name="Text Box 23"/>
              <p:cNvSpPr txBox="1">
                <a:spLocks noChangeArrowheads="1"/>
              </p:cNvSpPr>
              <p:nvPr/>
            </p:nvSpPr>
            <p:spPr bwMode="auto">
              <a:xfrm>
                <a:off x="3172" y="3575"/>
                <a:ext cx="348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[]</a:t>
                </a:r>
              </a:p>
            </p:txBody>
          </p:sp>
          <p:sp>
            <p:nvSpPr>
              <p:cNvPr id="348218" name="AutoShape 58"/>
              <p:cNvSpPr>
                <a:spLocks noChangeArrowheads="1"/>
              </p:cNvSpPr>
              <p:nvPr/>
            </p:nvSpPr>
            <p:spPr bwMode="auto">
              <a:xfrm>
                <a:off x="3245" y="3164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8" name="Group 66"/>
            <p:cNvGrpSpPr>
              <a:grpSpLocks/>
            </p:cNvGrpSpPr>
            <p:nvPr/>
          </p:nvGrpSpPr>
          <p:grpSpPr bwMode="auto">
            <a:xfrm>
              <a:off x="9401175" y="5032376"/>
              <a:ext cx="736600" cy="1063625"/>
              <a:chOff x="4962" y="3170"/>
              <a:chExt cx="464" cy="670"/>
            </a:xfrm>
          </p:grpSpPr>
          <p:sp>
            <p:nvSpPr>
              <p:cNvPr id="348177" name="Text Box 17"/>
              <p:cNvSpPr txBox="1">
                <a:spLocks noChangeArrowheads="1"/>
              </p:cNvSpPr>
              <p:nvPr/>
            </p:nvSpPr>
            <p:spPr bwMode="auto">
              <a:xfrm>
                <a:off x="4962" y="3575"/>
                <a:ext cx="464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[5]</a:t>
                </a:r>
              </a:p>
            </p:txBody>
          </p:sp>
          <p:sp>
            <p:nvSpPr>
              <p:cNvPr id="348219" name="AutoShape 59"/>
              <p:cNvSpPr>
                <a:spLocks noChangeArrowheads="1"/>
              </p:cNvSpPr>
              <p:nvPr/>
            </p:nvSpPr>
            <p:spPr bwMode="auto">
              <a:xfrm>
                <a:off x="5093" y="3170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Advice on Recursion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840245" y="2310461"/>
            <a:ext cx="585872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1 – Define the type,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2 – Enumerate the cases,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3 – Define the simple case,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4 – Define the other cases,</a:t>
            </a:r>
          </a:p>
          <a:p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5 – Generalise and simplify.</a:t>
            </a:r>
          </a:p>
        </p:txBody>
      </p:sp>
    </p:spTree>
    <p:extLst>
      <p:ext uri="{BB962C8B-B14F-4D97-AF65-F5344CB8AC3E}">
        <p14:creationId xmlns:p14="http://schemas.microsoft.com/office/powerpoint/2010/main" val="34692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10" y="677649"/>
            <a:ext cx="7772400" cy="1241946"/>
          </a:xfrm>
        </p:spPr>
        <p:txBody>
          <a:bodyPr>
            <a:normAutofit/>
          </a:bodyPr>
          <a:lstStyle/>
          <a:p>
            <a:r>
              <a:rPr lang="en-IE" sz="2800" dirty="0"/>
              <a:t>Example 1 – product  using steps – Step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80166" y="2044187"/>
            <a:ext cx="84577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b="1" dirty="0"/>
              <a:t>product</a:t>
            </a:r>
            <a:r>
              <a:rPr lang="en-IE" sz="2800" dirty="0"/>
              <a:t> – the function that takes a list and returns </a:t>
            </a:r>
          </a:p>
          <a:p>
            <a:r>
              <a:rPr lang="en-IE" sz="2800" dirty="0"/>
              <a:t>the product  of the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144" y="3242543"/>
            <a:ext cx="82906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IE" sz="2800" dirty="0">
                <a:solidFill>
                  <a:schemeClr val="tx2"/>
                </a:solidFill>
                <a:latin typeface="+mj-lt"/>
                <a:ea typeface="+mj-ea"/>
              </a:rPr>
              <a:t>Step 1 – Define the type</a:t>
            </a:r>
          </a:p>
          <a:p>
            <a:endParaRPr lang="en-IE" sz="2800" dirty="0">
              <a:latin typeface="+mj-lt"/>
            </a:endParaRPr>
          </a:p>
          <a:p>
            <a:endParaRPr lang="en-IE" sz="2800" dirty="0">
              <a:latin typeface="+mj-lt"/>
            </a:endParaRPr>
          </a:p>
          <a:p>
            <a:endParaRPr lang="en-IE" sz="2800" dirty="0">
              <a:latin typeface="+mj-lt"/>
            </a:endParaRPr>
          </a:p>
          <a:p>
            <a:endParaRPr lang="en-IE" sz="2800" dirty="0">
              <a:latin typeface="+mj-lt"/>
            </a:endParaRPr>
          </a:p>
          <a:p>
            <a:r>
              <a:rPr lang="en-IE" sz="2800" dirty="0">
                <a:latin typeface="+mj-lt"/>
              </a:rPr>
              <a:t>(Use the simplest type possible) 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832196" y="4350538"/>
            <a:ext cx="4997356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product :: [</a:t>
            </a:r>
            <a:r>
              <a:rPr lang="en-IE" sz="2400" dirty="0" err="1"/>
              <a:t>Int</a:t>
            </a:r>
            <a:r>
              <a:rPr lang="en-IE" sz="2400" dirty="0"/>
              <a:t>]  -&gt; </a:t>
            </a:r>
            <a:r>
              <a:rPr lang="en-IE" sz="2400" dirty="0" err="1"/>
              <a:t>Int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89955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449627-B638-52AD-A77A-38E228D0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8569" y="2206394"/>
            <a:ext cx="94630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For most types, there are a number of standard cases to consider.</a:t>
            </a:r>
          </a:p>
          <a:p>
            <a:endParaRPr lang="en-IE" sz="2800" dirty="0"/>
          </a:p>
          <a:p>
            <a:r>
              <a:rPr lang="en-IE" sz="2800" dirty="0"/>
              <a:t>For lists, these are 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empty list and</a:t>
            </a:r>
          </a:p>
          <a:p>
            <a:pPr lvl="3"/>
            <a:endParaRPr lang="en-IE" sz="2800" dirty="0"/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non-empty list</a:t>
            </a:r>
          </a:p>
          <a:p>
            <a:endParaRPr lang="en-IE" sz="2800" dirty="0"/>
          </a:p>
          <a:p>
            <a:endParaRPr lang="en-IE" sz="2800" dirty="0"/>
          </a:p>
          <a:p>
            <a:pPr lvl="2"/>
            <a:r>
              <a:rPr lang="en-IE" sz="2800" dirty="0"/>
              <a:t>	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68569" y="950797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b="1" dirty="0"/>
              <a:t>Step 2 – Enumerate the cases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B57FBDBB-4A57-C806-A52A-7C4A18E21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713" y="5430149"/>
            <a:ext cx="4997356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product [] 		= </a:t>
            </a:r>
          </a:p>
          <a:p>
            <a:r>
              <a:rPr lang="en-IE" dirty="0"/>
              <a:t>product  (</a:t>
            </a:r>
            <a:r>
              <a:rPr lang="en-IE" dirty="0" err="1"/>
              <a:t>n:ns</a:t>
            </a:r>
            <a:r>
              <a:rPr lang="en-IE" dirty="0"/>
              <a:t>) 	= </a:t>
            </a:r>
          </a:p>
        </p:txBody>
      </p:sp>
    </p:spTree>
    <p:extLst>
      <p:ext uri="{BB962C8B-B14F-4D97-AF65-F5344CB8AC3E}">
        <p14:creationId xmlns:p14="http://schemas.microsoft.com/office/powerpoint/2010/main" val="2773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9E8F18-82C1-850E-1E85-199EFC7C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0322" y="2626653"/>
            <a:ext cx="103768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sz="2800" dirty="0"/>
          </a:p>
          <a:p>
            <a:r>
              <a:rPr lang="en-IE" sz="2800" dirty="0"/>
              <a:t>By definition, the product of zero integers is one, because one is the identity for multiplication.</a:t>
            </a:r>
          </a:p>
          <a:p>
            <a:endParaRPr lang="en-IE" sz="2800" dirty="0"/>
          </a:p>
          <a:p>
            <a:r>
              <a:rPr lang="en-IE" sz="2800" dirty="0"/>
              <a:t>So: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84163" y="950797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b="1" dirty="0"/>
              <a:t>Step 3 – Define the simple case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988573" y="5113390"/>
            <a:ext cx="4997356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product [] 		= 1 </a:t>
            </a:r>
          </a:p>
          <a:p>
            <a:r>
              <a:rPr lang="en-IE" sz="2400" dirty="0"/>
              <a:t>product  (</a:t>
            </a:r>
            <a:r>
              <a:rPr lang="en-IE" sz="2400" dirty="0" err="1"/>
              <a:t>n:ns</a:t>
            </a:r>
            <a:r>
              <a:rPr lang="en-IE" sz="2400" dirty="0"/>
              <a:t>) 	= </a:t>
            </a:r>
          </a:p>
        </p:txBody>
      </p:sp>
    </p:spTree>
    <p:extLst>
      <p:ext uri="{BB962C8B-B14F-4D97-AF65-F5344CB8AC3E}">
        <p14:creationId xmlns:p14="http://schemas.microsoft.com/office/powerpoint/2010/main" val="244492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8545" y="2184591"/>
            <a:ext cx="101209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Consider the ingredients that can be used, e.g.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function itself (product)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arguments (n and ns)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library functions of the relevant types (+, -, *, /)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5325" y="875695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b="1" dirty="0"/>
              <a:t>Step 4 – Define other cases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811990" y="4632092"/>
            <a:ext cx="5734335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product [] 		= 1 </a:t>
            </a:r>
          </a:p>
          <a:p>
            <a:r>
              <a:rPr lang="en-IE" sz="2400" dirty="0"/>
              <a:t>product  (</a:t>
            </a:r>
            <a:r>
              <a:rPr lang="en-IE" sz="2400" dirty="0" err="1"/>
              <a:t>n:ns</a:t>
            </a:r>
            <a:r>
              <a:rPr lang="en-IE" sz="2400" dirty="0"/>
              <a:t>) 	= n * product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545" y="5832633"/>
            <a:ext cx="6986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The other cases are often recursive cases.</a:t>
            </a:r>
          </a:p>
        </p:txBody>
      </p:sp>
    </p:spTree>
    <p:extLst>
      <p:ext uri="{BB962C8B-B14F-4D97-AF65-F5344CB8AC3E}">
        <p14:creationId xmlns:p14="http://schemas.microsoft.com/office/powerpoint/2010/main" val="200085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6825" y="2020367"/>
            <a:ext cx="103714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sz="2800" dirty="0"/>
          </a:p>
          <a:p>
            <a:r>
              <a:rPr lang="en-IE" sz="2800" dirty="0"/>
              <a:t>We can generalise from integers to any numeric type</a:t>
            </a:r>
          </a:p>
          <a:p>
            <a:endParaRPr lang="en-IE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16825" y="932955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b="1" dirty="0"/>
              <a:t>Step 5 – Generalise and Simplify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160020" y="2909484"/>
            <a:ext cx="5734335" cy="138499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product :: [</a:t>
            </a:r>
            <a:r>
              <a:rPr lang="en-IE" dirty="0" err="1"/>
              <a:t>Int</a:t>
            </a:r>
            <a:r>
              <a:rPr lang="en-IE" dirty="0"/>
              <a:t>] -&gt; </a:t>
            </a:r>
            <a:r>
              <a:rPr lang="en-IE" dirty="0" err="1"/>
              <a:t>Int</a:t>
            </a:r>
            <a:endParaRPr lang="en-IE" dirty="0"/>
          </a:p>
          <a:p>
            <a:r>
              <a:rPr lang="en-IE" dirty="0"/>
              <a:t>product [] 		= 1 </a:t>
            </a:r>
          </a:p>
          <a:p>
            <a:r>
              <a:rPr lang="en-IE" dirty="0"/>
              <a:t>product  (</a:t>
            </a:r>
            <a:r>
              <a:rPr lang="en-IE" dirty="0" err="1"/>
              <a:t>n:ns</a:t>
            </a:r>
            <a:r>
              <a:rPr lang="en-IE" dirty="0"/>
              <a:t>) 	= n * product ns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174157" y="4754033"/>
            <a:ext cx="5734335" cy="138499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product :: </a:t>
            </a:r>
            <a:r>
              <a:rPr lang="en-IE" dirty="0" err="1"/>
              <a:t>Num</a:t>
            </a:r>
            <a:r>
              <a:rPr lang="en-IE" dirty="0"/>
              <a:t> a =&gt; [a] -&gt; a</a:t>
            </a:r>
          </a:p>
          <a:p>
            <a:r>
              <a:rPr lang="en-IE" dirty="0"/>
              <a:t>product [] 		= 1 </a:t>
            </a:r>
          </a:p>
          <a:p>
            <a:r>
              <a:rPr lang="en-IE" dirty="0"/>
              <a:t>product  (</a:t>
            </a:r>
            <a:r>
              <a:rPr lang="en-IE" dirty="0" err="1"/>
              <a:t>n:ns</a:t>
            </a:r>
            <a:r>
              <a:rPr lang="en-IE" dirty="0"/>
              <a:t>) 	= n * product 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908" y="6202025"/>
            <a:ext cx="7772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We will see how to simplify the definition later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714C9A34-AA28-175D-572C-A4E15E76F518}"/>
              </a:ext>
            </a:extLst>
          </p:cNvPr>
          <p:cNvSpPr/>
          <p:nvPr/>
        </p:nvSpPr>
        <p:spPr>
          <a:xfrm>
            <a:off x="4234375" y="4294479"/>
            <a:ext cx="182950" cy="558875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6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92" y="753228"/>
            <a:ext cx="7772400" cy="872221"/>
          </a:xfrm>
        </p:spPr>
        <p:txBody>
          <a:bodyPr>
            <a:normAutofit fontScale="90000"/>
          </a:bodyPr>
          <a:lstStyle/>
          <a:p>
            <a:r>
              <a:rPr kumimoji="1" lang="en-IE" sz="3600" b="1" dirty="0">
                <a:solidFill>
                  <a:schemeClr val="tx2"/>
                </a:solidFill>
              </a:rPr>
              <a:t>Example 2 – drop  using steps – Step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4583" y="2162747"/>
            <a:ext cx="11152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/>
              <a:t>drop</a:t>
            </a:r>
            <a:r>
              <a:rPr lang="en-IE" sz="2800" dirty="0"/>
              <a:t>  – the function that takes an integer (n)  and a list of values of some type a and returns a list with the first n elements dropped.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583" y="3362908"/>
            <a:ext cx="91198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Step 1 – Define the type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sz="2800" dirty="0"/>
              <a:t>(Use the simplest type possible) 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292522" y="4163128"/>
            <a:ext cx="4997356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:: </a:t>
            </a:r>
            <a:r>
              <a:rPr lang="en-IE" sz="2400" dirty="0" err="1"/>
              <a:t>Int</a:t>
            </a:r>
            <a:r>
              <a:rPr lang="en-IE" sz="2400" dirty="0"/>
              <a:t> -&gt;  [a]  -&gt; [a]</a:t>
            </a:r>
          </a:p>
        </p:txBody>
      </p:sp>
    </p:spTree>
    <p:extLst>
      <p:ext uri="{BB962C8B-B14F-4D97-AF65-F5344CB8AC3E}">
        <p14:creationId xmlns:p14="http://schemas.microsoft.com/office/powerpoint/2010/main" val="50358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4234" y="2090172"/>
            <a:ext cx="109024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For integer type, the two  standard cases are: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0 and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n</a:t>
            </a:r>
          </a:p>
          <a:p>
            <a:r>
              <a:rPr lang="en-IE" sz="2800" dirty="0"/>
              <a:t>For lists, these are 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empty list and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non-empty list	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76143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b="1" dirty="0">
                <a:solidFill>
                  <a:schemeClr val="tx1"/>
                </a:solidFill>
              </a:rPr>
              <a:t>Step 2 – Enumerate the cases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925764" y="5137956"/>
            <a:ext cx="4997356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0  [] 		= </a:t>
            </a:r>
          </a:p>
          <a:p>
            <a:r>
              <a:rPr lang="en-IE" sz="2400" dirty="0"/>
              <a:t>drop  0  (</a:t>
            </a:r>
            <a:r>
              <a:rPr lang="en-IE" sz="2400" dirty="0" err="1"/>
              <a:t>x:xs</a:t>
            </a:r>
            <a:r>
              <a:rPr lang="en-IE" sz="2400" dirty="0"/>
              <a:t>)	= </a:t>
            </a:r>
          </a:p>
          <a:p>
            <a:r>
              <a:rPr lang="en-IE" sz="2400" dirty="0"/>
              <a:t>drop  n  [] 		= </a:t>
            </a:r>
          </a:p>
          <a:p>
            <a:r>
              <a:rPr lang="en-IE" sz="2400" dirty="0"/>
              <a:t>drop  n  (</a:t>
            </a:r>
            <a:r>
              <a:rPr lang="en-IE" sz="2400" dirty="0" err="1"/>
              <a:t>x:xs</a:t>
            </a:r>
            <a:r>
              <a:rPr lang="en-IE" sz="2400" dirty="0"/>
              <a:t>)	= </a:t>
            </a:r>
          </a:p>
        </p:txBody>
      </p:sp>
    </p:spTree>
    <p:extLst>
      <p:ext uri="{BB962C8B-B14F-4D97-AF65-F5344CB8AC3E}">
        <p14:creationId xmlns:p14="http://schemas.microsoft.com/office/powerpoint/2010/main" val="267027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14023" y="2037472"/>
            <a:ext cx="928812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By definition, removing zero elements from the start </a:t>
            </a:r>
          </a:p>
          <a:p>
            <a:r>
              <a:rPr lang="en-IE" sz="2800" dirty="0"/>
              <a:t>	of a list gives the same list gives the same list.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Removing n elements from an empty list can return </a:t>
            </a:r>
          </a:p>
          <a:p>
            <a:r>
              <a:rPr lang="en-IE" sz="2800" dirty="0"/>
              <a:t>	an empty list (for safety).</a:t>
            </a:r>
          </a:p>
          <a:p>
            <a:endParaRPr lang="en-IE" sz="2800" dirty="0"/>
          </a:p>
          <a:p>
            <a:r>
              <a:rPr lang="en-IE" sz="2800" dirty="0"/>
              <a:t>So: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10274" y="955722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dirty="0">
                <a:solidFill>
                  <a:schemeClr val="tx1"/>
                </a:solidFill>
              </a:rPr>
              <a:t>Step 3 – Define the simple case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759405" y="4786127"/>
            <a:ext cx="4997356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drop  0  [] 		=   [] </a:t>
            </a:r>
          </a:p>
          <a:p>
            <a:r>
              <a:rPr lang="en-IE" dirty="0"/>
              <a:t>drop  0  (</a:t>
            </a:r>
            <a:r>
              <a:rPr lang="en-IE" dirty="0" err="1"/>
              <a:t>x:xs</a:t>
            </a:r>
            <a:r>
              <a:rPr lang="en-IE" dirty="0"/>
              <a:t>)	=   x:xs</a:t>
            </a:r>
          </a:p>
          <a:p>
            <a:r>
              <a:rPr lang="en-IE" dirty="0"/>
              <a:t>drop  n  [] 		=   []</a:t>
            </a:r>
          </a:p>
          <a:p>
            <a:r>
              <a:rPr lang="en-IE" dirty="0"/>
              <a:t>drop  n  (</a:t>
            </a:r>
            <a:r>
              <a:rPr lang="en-IE" dirty="0" err="1"/>
              <a:t>x:xs</a:t>
            </a:r>
            <a:r>
              <a:rPr lang="en-IE" dirty="0"/>
              <a:t>)	= </a:t>
            </a:r>
          </a:p>
        </p:txBody>
      </p:sp>
    </p:spTree>
    <p:extLst>
      <p:ext uri="{BB962C8B-B14F-4D97-AF65-F5344CB8AC3E}">
        <p14:creationId xmlns:p14="http://schemas.microsoft.com/office/powerpoint/2010/main" val="248779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2270" y="2062037"/>
            <a:ext cx="850264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Consider the ingredients that can be used, e.g.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function itself (drop)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arguments (x and xs)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library functions of the relevant types (+, -, *, /)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7589" y="1074241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dirty="0">
                <a:solidFill>
                  <a:schemeClr val="tx1"/>
                </a:solidFill>
              </a:rPr>
              <a:t>Step 4 – Define other cases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491853" y="4733913"/>
            <a:ext cx="5484529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0  [] 		=   [] </a:t>
            </a:r>
          </a:p>
          <a:p>
            <a:r>
              <a:rPr lang="en-IE" sz="2400" dirty="0"/>
              <a:t>drop  0  (x:xs)	=   x:xs</a:t>
            </a:r>
          </a:p>
          <a:p>
            <a:r>
              <a:rPr lang="en-IE" sz="2400" dirty="0"/>
              <a:t>drop  n  [] 		=   []</a:t>
            </a:r>
          </a:p>
          <a:p>
            <a:r>
              <a:rPr lang="en-IE" sz="2400" dirty="0"/>
              <a:t>drop  n  (x:xs)	=   drop (n-1) xs </a:t>
            </a:r>
          </a:p>
        </p:txBody>
      </p:sp>
    </p:spTree>
    <p:extLst>
      <p:ext uri="{BB962C8B-B14F-4D97-AF65-F5344CB8AC3E}">
        <p14:creationId xmlns:p14="http://schemas.microsoft.com/office/powerpoint/2010/main" val="127918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8474" y="4106537"/>
            <a:ext cx="12093525" cy="970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We can generalise from integers to any integral type and simplify otherwise: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52700" y="863782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dirty="0">
                <a:solidFill>
                  <a:schemeClr val="tx1"/>
                </a:solidFill>
              </a:rPr>
              <a:t>Step 5 – Generalise and Simplify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528287" y="2040108"/>
            <a:ext cx="7208294" cy="193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:: Int -&gt;  [a]  -&gt; [a]</a:t>
            </a:r>
          </a:p>
          <a:p>
            <a:r>
              <a:rPr lang="en-IE" sz="2400" dirty="0"/>
              <a:t>drop  0  [] 		=   [] </a:t>
            </a:r>
          </a:p>
          <a:p>
            <a:r>
              <a:rPr lang="en-IE" sz="2400" dirty="0"/>
              <a:t>drop  0  (x:xs)	=   x:xs</a:t>
            </a:r>
          </a:p>
          <a:p>
            <a:r>
              <a:rPr lang="en-IE" sz="2400" dirty="0"/>
              <a:t>drop  n  [] 		=   []</a:t>
            </a:r>
          </a:p>
          <a:p>
            <a:r>
              <a:rPr lang="en-IE" sz="2400" dirty="0"/>
              <a:t>drop  n  (x:xs)	=   drop (n-1) xs 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528287" y="5145744"/>
            <a:ext cx="7208294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pt-BR" sz="2400" dirty="0"/>
              <a:t>drop :: Integral b =&gt; b -&gt; [a] -&gt; [a]</a:t>
            </a:r>
          </a:p>
          <a:p>
            <a:r>
              <a:rPr lang="pt-BR" sz="2400" dirty="0"/>
              <a:t>drop  _  []           = [] </a:t>
            </a:r>
          </a:p>
          <a:p>
            <a:r>
              <a:rPr lang="pt-BR" sz="2400" dirty="0"/>
              <a:t>drop  0  xs          = xs</a:t>
            </a:r>
          </a:p>
          <a:p>
            <a:r>
              <a:rPr lang="pt-BR" sz="2400" dirty="0"/>
              <a:t>drop  n (_:xs)      = </a:t>
            </a:r>
            <a:r>
              <a:rPr lang="pt-BR" sz="2400" dirty="0" err="1"/>
              <a:t>drop</a:t>
            </a:r>
            <a:r>
              <a:rPr lang="pt-BR" sz="2400" dirty="0"/>
              <a:t> (n-1) xs </a:t>
            </a:r>
          </a:p>
        </p:txBody>
      </p:sp>
    </p:spTree>
    <p:extLst>
      <p:ext uri="{BB962C8B-B14F-4D97-AF65-F5344CB8AC3E}">
        <p14:creationId xmlns:p14="http://schemas.microsoft.com/office/powerpoint/2010/main" val="419156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15" y="206840"/>
            <a:ext cx="8479368" cy="644432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39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743200" cy="1828800"/>
          </a:xfrm>
          <a:prstGeom prst="rect">
            <a:avLst/>
          </a:prstGeom>
          <a:solidFill>
            <a:srgbClr val="1A3B6E">
              <a:alpha val="70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801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&gt;&gt;=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·  Topic: xml-conduit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041648"/>
            <a:ext cx="1463040" cy="457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12848" y="4041648"/>
            <a:ext cx="1463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75888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4041648"/>
            <a:ext cx="1463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0096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41264" y="4041648"/>
            <a:ext cx="1463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04304" y="4233672"/>
            <a:ext cx="201168" cy="548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4041648"/>
            <a:ext cx="1463040" cy="457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743200" cy="457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743200" cy="347472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777240"/>
            <a:ext cx="2743200" cy="457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743200" cy="347472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777240"/>
            <a:ext cx="2743200" cy="457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2743200" cy="347472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catalogue.md (or one .md per book) ready for docs, wikis, or static sites.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XML Catalogue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0624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136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3950208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&lt;catalogue&gt;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399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&lt;book isbn="0-00-000"&gt;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1792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&lt;title&gt;...&lt;/title&gt;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21854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&lt;subtitle&gt;...&lt;/subtitle&gt;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&lt;authors&gt;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 id="a1"&gt;...&lt;/author&gt;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364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&lt;published year="2024"/&gt;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7581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&lt;/book&gt;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&lt;/catalogue&gt;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7955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XML Tree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Parsing Notes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88720"/>
            <a:ext cx="54864" cy="8229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&lt;book&gt; — not a child element. Use attribute.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48840"/>
            <a:ext cx="54864" cy="82296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496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child — parse with childText + fmap.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108960"/>
            <a:ext cx="54864" cy="82296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456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container: element "author" inside &lt;authors&gt;.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40233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069080"/>
            <a:ext cx="54864" cy="8229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416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&lt;published&gt; — drill two levels then read attr.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02336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3767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02336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91456" y="978408"/>
            <a:ext cx="3767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862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88920"/>
            <a:ext cx="54864" cy="74980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11880"/>
            <a:ext cx="54864" cy="749808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5935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200400"/>
            <a:ext cx="54864" cy="749808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023360"/>
            <a:ext cx="4023360" cy="74980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023360"/>
            <a:ext cx="54864" cy="74980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37083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697480" cy="3840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161288"/>
            <a:ext cx="26974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514600" cy="1828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91840"/>
            <a:ext cx="2697480" cy="1572768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73552" y="777240"/>
            <a:ext cx="2697480" cy="3840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161288"/>
            <a:ext cx="26974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207008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3291840"/>
            <a:ext cx="2514600" cy="1828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3291840"/>
            <a:ext cx="2697480" cy="1572768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33375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777240"/>
            <a:ext cx="2697480" cy="3840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1161288"/>
            <a:ext cx="26974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207008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72784" y="3291840"/>
            <a:ext cx="2514600" cy="1828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3291840"/>
            <a:ext cx="2697480" cy="1572768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3375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120640" cy="4315968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4864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188720"/>
            <a:ext cx="54864" cy="8412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536192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176272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176272"/>
            <a:ext cx="54864" cy="841248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523744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163824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3163824"/>
            <a:ext cx="54864" cy="841248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209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51129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4151376"/>
            <a:ext cx="3200400" cy="841248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4151376"/>
            <a:ext cx="54864" cy="84124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4197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449884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Kleisli composition — chains steps: find child, then read attr.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5196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935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3995928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38862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7415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74336" y="978408"/>
            <a:ext cx="363016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3429000"/>
            <a:ext cx="3886200" cy="1600200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429000"/>
            <a:ext cx="388620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0DE72"/>
                </a:solidFill>
              </a:rPr>
              <a:t>Sample Output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3480" y="367588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303520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504748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 &lt;- getArgs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args 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[xmlPath, mdPath] -&gt; 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Text.XML.readFile def xmlPath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writeCatalogue mdPath books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"Usage: parse-books &lt;input.xml&gt; &lt;output.md&gt;"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868680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877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1612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307592"/>
            <a:ext cx="45720" cy="5029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892808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8541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331720"/>
            <a:ext cx="45720" cy="5029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2916936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2095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355848"/>
            <a:ext cx="45720" cy="50292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3941064"/>
            <a:ext cx="411480" cy="41148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2336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53035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050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stack run -- books.xml catalogue.md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667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12064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8138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39CDE7"/>
                </a:solidFill>
              </a:rPr>
              <a:t>Haskell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978408"/>
            <a:ext cx="4864608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20040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188720"/>
            <a:ext cx="54864" cy="9144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536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267712"/>
            <a:ext cx="320040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267712"/>
            <a:ext cx="54864" cy="9144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6151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346704"/>
            <a:ext cx="320040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3346704"/>
            <a:ext cx="54864" cy="9144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392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6941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8458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66760" y="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694944"/>
            <a:ext cx="8229600" cy="3657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DE7"/>
                </a:solidFill>
              </a:rPr>
              <a:t>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1078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1440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DE7"/>
                </a:solidFill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40680" y="1078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DE7"/>
                </a:solidFill>
              </a:rPr>
              <a:t>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51560" y="2404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DE7"/>
                </a:solidFill>
              </a:rPr>
              <a:t>④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2404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576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DE7"/>
                </a:solidFill>
              </a:rPr>
              <a:t>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51560" y="3730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6576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CDE7"/>
                </a:solidFill>
              </a:rPr>
              <a:t>⑥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40680" y="3730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hackage.haskell.org/package/xml-conduit  ·  Trebuchet MS / Berlin theme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6967</TotalTime>
  <Words>2427</Words>
  <Application>Microsoft Macintosh PowerPoint</Application>
  <PresentationFormat>Widescreen</PresentationFormat>
  <Paragraphs>390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ＭＳ Ｐゴシック</vt:lpstr>
      <vt:lpstr>Arial</vt:lpstr>
      <vt:lpstr>Arial Black</vt:lpstr>
      <vt:lpstr>Calibri</vt:lpstr>
      <vt:lpstr>Lucida Sans Typewriter</vt:lpstr>
      <vt:lpstr>Symbol</vt:lpstr>
      <vt:lpstr>Tahoma</vt:lpstr>
      <vt:lpstr>Times New Roman</vt:lpstr>
      <vt:lpstr>Trebuchet MS</vt:lpstr>
      <vt:lpstr>Wingdings</vt:lpstr>
      <vt:lpstr>Berlin</vt:lpstr>
      <vt:lpstr>PowerPoint Presentation</vt:lpstr>
      <vt:lpstr>What do we mean by recursion ?</vt:lpstr>
      <vt:lpstr>Recursion v iteration</vt:lpstr>
      <vt:lpstr>Recursion example ‘take one, pass them on’</vt:lpstr>
      <vt:lpstr>Recursion example ‘take one, pass them on’</vt:lpstr>
      <vt:lpstr>Recursion  - Binary Search</vt:lpstr>
      <vt:lpstr>Recursion  and Iteration</vt:lpstr>
      <vt:lpstr>Recursion  and Haskell</vt:lpstr>
      <vt:lpstr>So, show me some Haskell</vt:lpstr>
      <vt:lpstr>Evaluation of expressions</vt:lpstr>
      <vt:lpstr>PowerPoint Presentation</vt:lpstr>
      <vt:lpstr>   </vt:lpstr>
      <vt:lpstr>   </vt:lpstr>
      <vt:lpstr>Why is Recursion Useful?</vt:lpstr>
      <vt:lpstr>Recursion on Lists</vt:lpstr>
      <vt:lpstr>Example – product</vt:lpstr>
      <vt:lpstr>length function</vt:lpstr>
      <vt:lpstr>Evaluation of length</vt:lpstr>
      <vt:lpstr>reverse function</vt:lpstr>
      <vt:lpstr>Call of reverse function</vt:lpstr>
      <vt:lpstr> </vt:lpstr>
      <vt:lpstr>Insertion Sort – first insert</vt:lpstr>
      <vt:lpstr>Insertion Sort</vt:lpstr>
      <vt:lpstr>Multiple Arguments</vt:lpstr>
      <vt:lpstr>Multiple Arguments</vt:lpstr>
      <vt:lpstr>Quicksort</vt:lpstr>
      <vt:lpstr>Quicksort</vt:lpstr>
      <vt:lpstr> </vt:lpstr>
      <vt:lpstr>Advice on Recursion </vt:lpstr>
      <vt:lpstr>Example 1 – product  using steps – Step 1</vt:lpstr>
      <vt:lpstr> </vt:lpstr>
      <vt:lpstr> </vt:lpstr>
      <vt:lpstr>PowerPoint Presentation</vt:lpstr>
      <vt:lpstr>PowerPoint Presentation</vt:lpstr>
      <vt:lpstr>Example 2 – drop  using steps – Step 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445</cp:revision>
  <cp:lastPrinted>2001-01-23T09:38:59Z</cp:lastPrinted>
  <dcterms:created xsi:type="dcterms:W3CDTF">2000-11-20T11:40:19Z</dcterms:created>
  <dcterms:modified xsi:type="dcterms:W3CDTF">2026-02-27T13:37:25Z</dcterms:modified>
</cp:coreProperties>
</file>