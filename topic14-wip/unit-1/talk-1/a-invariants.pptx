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  <p:sldMasterId id="2147483720" r:id="rId2"/>
  </p:sldMasterIdLst>
  <p:notesMasterIdLst>
    <p:notesMasterId r:id="rId14"/>
  </p:notesMasterIdLst>
  <p:sldIdLst>
    <p:sldId id="31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343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17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1832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8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050282"/>
            <a:ext cx="6108101" cy="1029803"/>
          </a:xfrm>
        </p:spPr>
        <p:txBody>
          <a:bodyPr anchor="b">
            <a:noAutofit/>
          </a:bodyPr>
          <a:lstStyle>
            <a:lvl1pPr algn="r">
              <a:defRPr sz="303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2" y="3295531"/>
            <a:ext cx="6108101" cy="838265"/>
          </a:xfrm>
        </p:spPr>
        <p:txBody>
          <a:bodyPr>
            <a:normAutofit/>
          </a:bodyPr>
          <a:lstStyle>
            <a:lvl1pPr marL="0" indent="0" algn="r">
              <a:buNone/>
              <a:defRPr sz="1125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062753"/>
            <a:ext cx="878916" cy="101733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37858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F086EE-2306-114E-B592-A20E8DA936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504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651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3065926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0447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0" y="20447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2152421"/>
            <a:ext cx="7210395" cy="818091"/>
          </a:xfrm>
        </p:spPr>
        <p:txBody>
          <a:bodyPr anchor="ctr">
            <a:normAutofit/>
          </a:bodyPr>
          <a:lstStyle>
            <a:lvl1pPr algn="r"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3174130"/>
            <a:ext cx="7210395" cy="1278013"/>
          </a:xfrm>
        </p:spPr>
        <p:txBody>
          <a:bodyPr>
            <a:normAutofit/>
          </a:bodyPr>
          <a:lstStyle>
            <a:lvl1pPr marL="0" indent="0" algn="r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3" y="2152423"/>
            <a:ext cx="865613" cy="818092"/>
          </a:xfrm>
        </p:spPr>
        <p:txBody>
          <a:bodyPr/>
          <a:lstStyle/>
          <a:p>
            <a:pPr>
              <a:defRPr/>
            </a:pPr>
            <a:fld id="{42E285DE-A95B-594D-B03B-85B0E4A53C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9207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1" y="1752655"/>
            <a:ext cx="3523769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3" y="1752655"/>
            <a:ext cx="3525044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C68024-3AF8-C842-A3C7-A05010F2C7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30117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4"/>
            <a:ext cx="7210397" cy="81070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4" y="1752657"/>
            <a:ext cx="3354245" cy="519851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3" y="2272508"/>
            <a:ext cx="3523766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6" y="1752655"/>
            <a:ext cx="3355521" cy="519057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4" y="2272508"/>
            <a:ext cx="3525044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10CB9C-1E17-524C-8419-9DCEF2E838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6781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B4433C-DA95-0442-8811-B3EBF2CF494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00043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9F1807-43C9-FD48-8BD8-9E3656F3185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2684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564920"/>
            <a:ext cx="7210394" cy="810705"/>
          </a:xfrm>
        </p:spPr>
        <p:txBody>
          <a:bodyPr anchor="ctr">
            <a:normAutofit/>
          </a:bodyPr>
          <a:lstStyle>
            <a:lvl1pPr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1752657"/>
            <a:ext cx="4206252" cy="26994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6"/>
            <a:ext cx="2842559" cy="2699488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923FF4-DE3C-CF42-B10F-3DE8199486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5855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564921"/>
            <a:ext cx="7210393" cy="810704"/>
          </a:xfrm>
        </p:spPr>
        <p:txBody>
          <a:bodyPr anchor="ctr">
            <a:normAutofit/>
          </a:bodyPr>
          <a:lstStyle>
            <a:lvl1pPr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1" y="1752656"/>
            <a:ext cx="4069387" cy="2699484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7"/>
            <a:ext cx="2907192" cy="2699486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271704-EAF2-C54E-9532-E611244D8A8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3878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3533714"/>
            <a:ext cx="7210394" cy="339788"/>
          </a:xfrm>
        </p:spPr>
        <p:txBody>
          <a:bodyPr anchor="b">
            <a:normAutofit/>
          </a:bodyPr>
          <a:lstStyle>
            <a:lvl1pPr>
              <a:defRPr sz="13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457200"/>
            <a:ext cx="7210394" cy="269218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3877189"/>
            <a:ext cx="7210397" cy="46722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3484"/>
            <a:ext cx="865613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27809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457197"/>
            <a:ext cx="7210394" cy="2694563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3"/>
            <a:ext cx="7210394" cy="818092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3713"/>
            <a:ext cx="865613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1463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457199"/>
            <a:ext cx="6539158" cy="2277046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2740034"/>
            <a:ext cx="6117434" cy="411726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3"/>
            <a:ext cx="7210394" cy="818092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2446"/>
            <a:ext cx="865613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37679" y="561087"/>
            <a:ext cx="457200" cy="438582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405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2275143"/>
            <a:ext cx="457200" cy="438582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405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299091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3533713"/>
            <a:ext cx="7210397" cy="441401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3975114"/>
            <a:ext cx="7210397" cy="376691"/>
          </a:xfrm>
        </p:spPr>
        <p:txBody>
          <a:bodyPr anchor="t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2446"/>
            <a:ext cx="865613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3998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6" y="564921"/>
            <a:ext cx="7218720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1752655"/>
            <a:ext cx="2302526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2" y="2267006"/>
            <a:ext cx="2287277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1752655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2267006"/>
            <a:ext cx="2297430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18" y="1752655"/>
            <a:ext cx="230251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18" y="2267006"/>
            <a:ext cx="2302519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9597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5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40" y="3223127"/>
            <a:ext cx="228727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40" y="1752655"/>
            <a:ext cx="228727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40" y="3655324"/>
            <a:ext cx="2287279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3223127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1752655"/>
            <a:ext cx="2297430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89" y="3655323"/>
            <a:ext cx="2300473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10" y="3223127"/>
            <a:ext cx="229762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09" y="1752655"/>
            <a:ext cx="229762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3655321"/>
            <a:ext cx="2300672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8924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2D9394-4345-7848-A8CC-FD34D8A3AE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915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6087155" y="1402047"/>
            <a:ext cx="3830241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401153" y="4029304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4" y="457198"/>
            <a:ext cx="805352" cy="326532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457199"/>
            <a:ext cx="6652503" cy="399494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4452142"/>
            <a:ext cx="2057400" cy="273844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4452143"/>
            <a:ext cx="4595104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4" y="4048976"/>
            <a:ext cx="865613" cy="818092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4370930E-02DA-A947-8476-43050C9296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88649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18676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8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050282"/>
            <a:ext cx="6069268" cy="1029803"/>
          </a:xfrm>
        </p:spPr>
        <p:txBody>
          <a:bodyPr anchor="b">
            <a:noAutofit/>
          </a:bodyPr>
          <a:lstStyle>
            <a:lvl1pPr algn="r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2" y="3295531"/>
            <a:ext cx="6108101" cy="838265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4452141"/>
            <a:ext cx="2057400" cy="273844"/>
          </a:xfrm>
        </p:spPr>
        <p:txBody>
          <a:bodyPr/>
          <a:lstStyle/>
          <a:p>
            <a:fld id="{08B9EBBA-996F-894A-B54A-D6246ED52CEA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4452142"/>
            <a:ext cx="4021666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2062753"/>
            <a:ext cx="1370293" cy="101733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68843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F086EE-2306-114E-B592-A20E8DA936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992800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046325"/>
            <a:ext cx="9161969" cy="1257776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152421"/>
            <a:ext cx="6889150" cy="818091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3174129"/>
            <a:ext cx="6889150" cy="1278013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4452141"/>
            <a:ext cx="2057400" cy="273844"/>
          </a:xfrm>
        </p:spPr>
        <p:txBody>
          <a:bodyPr/>
          <a:lstStyle/>
          <a:p>
            <a:fld id="{8DFA1846-DA80-1C48-A609-854EA85C59AD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4452142"/>
            <a:ext cx="4834673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152422"/>
            <a:ext cx="1149836" cy="818092"/>
          </a:xfrm>
        </p:spPr>
        <p:txBody>
          <a:bodyPr/>
          <a:lstStyle/>
          <a:p>
            <a:pPr>
              <a:defRPr/>
            </a:pPr>
            <a:fld id="{42E285DE-A95B-594D-B03B-85B0E4A53C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131323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64921"/>
            <a:ext cx="6887390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752655"/>
            <a:ext cx="3357899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9" y="1752655"/>
            <a:ext cx="3359661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C68024-3AF8-C842-A3C7-A05010F2C7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9159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564923"/>
            <a:ext cx="6896534" cy="81070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1752656"/>
            <a:ext cx="3145080" cy="51985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2272507"/>
            <a:ext cx="3367045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7" y="1752655"/>
            <a:ext cx="3145527" cy="51905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2272507"/>
            <a:ext cx="3367044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10CB9C-1E17-524C-8419-9DCEF2E838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947629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B4433C-DA95-0442-8811-B3EBF2CF494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594465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479946"/>
            <a:ext cx="1444752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70" y="457200"/>
            <a:ext cx="1433231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9F1807-43C9-FD48-8BD8-9E3656F3185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294064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564920"/>
            <a:ext cx="6896534" cy="810705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1752656"/>
            <a:ext cx="3913788" cy="26994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1752655"/>
            <a:ext cx="2796240" cy="2699488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923FF4-DE3C-CF42-B10F-3DE8199486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21032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564921"/>
            <a:ext cx="6896534" cy="810704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1752656"/>
            <a:ext cx="3917217" cy="2699484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1752656"/>
            <a:ext cx="2798487" cy="269948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271704-EAF2-C54E-9532-E611244D8A8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742957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3429001"/>
            <a:ext cx="9161969" cy="1257776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3533713"/>
            <a:ext cx="6894770" cy="408362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457199"/>
            <a:ext cx="6896534" cy="269218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3942074"/>
            <a:ext cx="6894772" cy="4108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3533483"/>
            <a:ext cx="1149836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65029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3429001"/>
            <a:ext cx="9161969" cy="1257776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457197"/>
            <a:ext cx="6896534" cy="2694563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3532755"/>
            <a:ext cx="6889151" cy="826323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3533712"/>
            <a:ext cx="1149836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560282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3429001"/>
            <a:ext cx="9161969" cy="1257776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462737"/>
            <a:ext cx="6425147" cy="2277046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9" y="2745572"/>
            <a:ext cx="5987731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3532755"/>
            <a:ext cx="6903919" cy="826323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3532445"/>
            <a:ext cx="1149836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561087"/>
            <a:ext cx="5334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248930"/>
            <a:ext cx="457200" cy="43858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5862344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3429001"/>
            <a:ext cx="9161969" cy="1257776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3532755"/>
            <a:ext cx="6896534" cy="442359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3975112"/>
            <a:ext cx="6896534" cy="383966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3532445"/>
            <a:ext cx="1149836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064129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564921"/>
            <a:ext cx="6896534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1747117"/>
            <a:ext cx="219456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2261468"/>
            <a:ext cx="2194560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1752655"/>
            <a:ext cx="219456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2255930"/>
            <a:ext cx="2194560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1752655"/>
            <a:ext cx="219456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2255929"/>
            <a:ext cx="2194560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549416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564921"/>
            <a:ext cx="6896534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2" y="3223127"/>
            <a:ext cx="219225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2" y="1752655"/>
            <a:ext cx="2192257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2" y="3655324"/>
            <a:ext cx="2192257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3223127"/>
            <a:ext cx="221507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1752655"/>
            <a:ext cx="2215070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3655323"/>
            <a:ext cx="2218004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9" y="3223127"/>
            <a:ext cx="2194333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8" y="1752655"/>
            <a:ext cx="2194333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5" y="3655321"/>
            <a:ext cx="2197239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665244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564921"/>
            <a:ext cx="6896534" cy="810704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2D9394-4345-7848-A8CC-FD34D8A3AE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32761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5433125" y="1889359"/>
            <a:ext cx="5146916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457198"/>
            <a:ext cx="1069602" cy="334645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457199"/>
            <a:ext cx="6576359" cy="399494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4452141"/>
            <a:ext cx="2057400" cy="273844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4452142"/>
            <a:ext cx="451895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4074375"/>
            <a:ext cx="1149636" cy="954825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4370930E-02DA-A947-8476-43050C9296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56142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1828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6" cy="810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1752655"/>
            <a:ext cx="7210396" cy="2699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445214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2" y="4452143"/>
            <a:ext cx="51529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3" y="564921"/>
            <a:ext cx="865613" cy="8180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254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0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5143500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564921"/>
            <a:ext cx="6896534" cy="810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1" y="1752655"/>
            <a:ext cx="6887389" cy="2699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4452141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1" y="4452142"/>
            <a:ext cx="483467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564921"/>
            <a:ext cx="1157674" cy="8180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877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602D5B7-F433-CD47-8221-C8441923C425}" type="slidenum">
              <a:rPr lang="en-US" sz="1050"/>
              <a:pPr/>
              <a:t>1</a:t>
            </a:fld>
            <a:endParaRPr lang="en-US" sz="1050"/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229916" y="751285"/>
            <a:ext cx="668297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2700" b="1">
                <a:solidFill>
                  <a:schemeClr val="tx2"/>
                </a:solidFill>
                <a:latin typeface="Arial Black" charset="0"/>
              </a:rPr>
              <a:t>PROGRAMMING IN HASKELL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1275160" y="3873104"/>
            <a:ext cx="659368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en-US" sz="2400"/>
              <a:t>Topic 14.1 </a:t>
            </a:r>
            <a:r>
              <a:rPr kumimoji="1" lang="en-US" sz="2400" dirty="0"/>
              <a:t>- </a:t>
            </a:r>
            <a:r>
              <a:rPr lang="en-US" sz="2400" dirty="0">
                <a:solidFill>
                  <a:srgbClr val="FFFFFF"/>
                </a:solidFill>
              </a:rPr>
              <a:t>Invariants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FFFF"/>
                </a:solidFill>
              </a:rPr>
              <a:t>From Concept to Haskell</a:t>
            </a:r>
          </a:p>
          <a:p>
            <a:pPr algn="ctr"/>
            <a:endParaRPr kumimoji="1" lang="en-US" sz="2400" dirty="0"/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391" y="1819275"/>
            <a:ext cx="2131219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72B90AB4-40D2-06D4-02B4-744A280FB4F8}"/>
              </a:ext>
            </a:extLst>
          </p:cNvPr>
          <p:cNvSpPr/>
          <p:nvPr/>
        </p:nvSpPr>
        <p:spPr>
          <a:xfrm>
            <a:off x="567369" y="4513423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are, why they matter, and how Haskell encodes them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1309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Invariant?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 that always holds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145810"/>
            <a:ext cx="4023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invariant is a property of a system that remains true before and after every operation.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guarantee — not a comment, not a convention, and not an assumption.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invariant holds we say the system is in a valid state.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63440" y="159105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balance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78691" y="187004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drops below its minimum — guaranteed after every transaction.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3440" y="255117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291693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stays 1–31, month 1–12. No valid operation produces an out-of-range date.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355701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size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392277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element count equals the number of pushes minus pops — always.</a:t>
            </a:r>
            <a:endParaRPr lang="en-US" sz="1400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F8ACFDC8-0C3E-5D5D-2285-3BB24424B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 smtClean="0"/>
              <a:pPr/>
              <a:t>2</a:t>
            </a:fld>
            <a:r>
              <a:rPr lang="en-US" sz="1400" dirty="0"/>
              <a:t>c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6931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Invariants in Software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80369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abstraction relies on invariants to remain coherent.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05795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469430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search tree assumes left &lt; root &lt; right at every node. Violate it once and search is silently broken.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37560" y="2037569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37560" y="2449049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TCP connection cannot be CLOSED and ESTABLISHED simultaneously. The state type makes the invalid state inexpressible.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2037569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0" y="2449049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maintains a sorted invariant on every sub-list. The merge step is only correct because both halves are already sorted.</a:t>
            </a:r>
            <a:endParaRPr lang="en-US" sz="1300" dirty="0"/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C58D7970-9F70-77BA-817C-DBB35F054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3</a:t>
            </a:fld>
            <a:endParaRPr lang="en-US" sz="14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37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Invariants Matter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9125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369728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maintains its invariants cannot produce a whole class of bugs. Violations are caught at the boundary, not buried deep in a call stack.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37560" y="19125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Safety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37560" y="2369728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invariants are explicit and enforced, you can safely change internals. Callers cannot accidentally break what they cannot construct.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9125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Documentation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0" y="2369728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that enforces its invariant is documentation that never goes stale. The constraint is read, checked, and enforced by the compiler.</a:t>
            </a:r>
            <a:endParaRPr lang="en-US" sz="1300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4E01580A-61BC-DF07-5C0D-5A8A57030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4</a:t>
            </a:fld>
            <a:endParaRPr lang="en-US" sz="14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2031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Types as Invariant Enforcers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0075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Haskell's type system makes some invariants impossible to violate — not because you tested them, but because ill-formed programs don't compile.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49391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for free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60871"/>
            <a:ext cx="4023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 — use Maybe to make absence explicit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mixing of incompatible units (metres vs feet)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pattern matching — all cases handled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types for logically distinct concepts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2149391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2560871"/>
            <a:ext cx="4023360" cy="19202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73168" y="2652311"/>
            <a:ext cx="380390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Maybe makes absence explicit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:: [Int] -&gt; Int -&gt; Maybe Int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Can't pass a raw String as an Email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newtype Email = Email String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Compiler catches missing cases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 :: Bool -&gt; String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 True  = "yes"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 False = "no"</a:t>
            </a:r>
            <a:endParaRPr lang="en-US" sz="1100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3298CBE4-546D-9FA8-7C23-8A204BD06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5</a:t>
            </a:fld>
            <a:endParaRPr lang="en-US" sz="14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2284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Smart Constructors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23633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constructor hides the raw data constructor and validates the invariant at the point of creation — so an invalid value can never be built.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93776" y="2300873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758073"/>
            <a:ext cx="4114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type inside a dedicated module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only the smart constructor — not the data constructor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Maybe or Either to signal invalid input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481218"/>
            <a:ext cx="4023360" cy="2743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73168" y="1615073"/>
            <a:ext cx="380390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Calendar (Day, mkDay, getDay) where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Constructor hidden from callers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Day = Day Int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mkDay :: Int -&gt; Maybe Day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mkDay 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n &gt;= 1 &amp;&amp; n &lt;= 31 = Just (Day n)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otherwise         = Nothing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getDay :: Day -&gt; Int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getDay (Day n) = n</a:t>
            </a:r>
            <a:endParaRPr lang="en-US" sz="1100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5C58FEA0-46A6-473C-1FC2-6EFFB99AE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6</a:t>
            </a:fld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690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newtype and Phantom Types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1848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lightweight tools for encoding invariants with zero runtime cost.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0299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newtype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44144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 type to give it a distinct identity at compile time. An Email and a plain String are different types — you cannot pass one where the other is expected.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310128"/>
            <a:ext cx="4023360" cy="8229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3401568"/>
            <a:ext cx="38039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newtype Email = Email String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sendTo :: Email -&gt; IO 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Cannot pass a raw String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20299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Types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244144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parameter that carries compile-time information but holds no value at runtime. Useful for tagging validated vs unvalidated data without overhead.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3310128"/>
            <a:ext cx="4023360" cy="162113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82896" y="3299111"/>
            <a:ext cx="38039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Validated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Raw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newtype Tagged t a = Tagged a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 :: Tagged Raw String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-&gt; Maybe (Tagged Validated String)</a:t>
            </a:r>
            <a:endParaRPr lang="en-US" sz="1100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F5FE8753-91E5-E221-B7B0-110B7B3A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7</a:t>
            </a:fld>
            <a:endParaRPr lang="en-US" sz="14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37909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Typeclass Laws as Invariants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1886" y="173050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Typeclass instances are contracts. The laws are the invariants every conforming instance must preserve — forever.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284607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3230118"/>
            <a:ext cx="2651760" cy="9601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6656" y="3321558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fmap id  ≡  id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fmap (f . g)  ≡  fmap f . fmap 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4235958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preserves structure. The container is never altered by fmap.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47288" y="284607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Monoid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47288" y="3230118"/>
            <a:ext cx="2651760" cy="9601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57016" y="3321558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mempty &lt;&gt; x  ≡  x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&lt;&gt; mempty  ≡  x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&lt;&gt; y) &lt;&gt; z  ≡  x &lt;&gt; (y &lt;&gt; z)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47288" y="4235958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 is associative and mempty is a genuine neutral element.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27648" y="284607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27648" y="3230118"/>
            <a:ext cx="2651760" cy="9601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37376" y="3321558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 &gt;&gt;= f  ≡  f a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&gt;&gt;= return   ≡  m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 &gt;&gt;= f) &gt;&gt;= 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≡  m &gt;&gt;= (f &gt;=&gt; g)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27648" y="4235958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is a neutral wrap. Sequencing is associative.</a:t>
            </a:r>
            <a:endParaRPr lang="en-US" sz="1200" dirty="0"/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76DBCEC6-F0AB-CF0A-87D5-4190461E3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8</a:t>
            </a:fld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0196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Where Types Aren't Enough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710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system is powerful but bounded. Some invariants live in logic, not in shape.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68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CAN enforce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7960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is never null  (Maybe)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arguments share the same type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non-empty  (NonEmpty)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is always positive  (smart constructor)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2168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CANNOT enforce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63440" y="257960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sort function actually produces a sorted list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and decode are true inverses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stays in range after arbitrary arithmetic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 structures stay mutually consistent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these, we need property-based testing  - covered in next slide deck</a:t>
            </a:r>
            <a:endParaRPr lang="en-US" sz="1100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5C2B3A2D-DE3D-F3A3-D809-6BFBEDC76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9</a:t>
            </a:fld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369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Recap: What We Covered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911702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 are guarantees — conditions that must always hold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Haskell's type system enforces many invariants at compile time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constructors and newtypes push invariants to the boundary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Typeclass laws are formal, checkable invariants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invariants live in logic — and need explicit verification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851B4825-DB00-088E-CE47-5EAF97472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10</a:t>
            </a:fld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xt&#10;&#10;Description automatically generated">
            <a:extLst>
              <a:ext uri="{FF2B5EF4-FFF2-40B4-BE49-F238E27FC236}">
                <a16:creationId xmlns:a16="http://schemas.microsoft.com/office/drawing/2014/main" id="{2C6DED11-E24C-1747-9B8B-24AF63DEA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957" y="889254"/>
            <a:ext cx="4887829" cy="3714750"/>
          </a:xfrm>
          <a:prstGeom prst="rect">
            <a:avLst/>
          </a:prstGeom>
          <a:noFill/>
        </p:spPr>
      </p:pic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450"/>
              </a:spcAft>
            </a:pPr>
            <a:fld id="{CC73A6B6-49ED-C641-8D95-0A84FA800C15}" type="slidenum">
              <a:rPr lang="en-US" sz="1050"/>
              <a:pPr>
                <a:spcAft>
                  <a:spcPts val="450"/>
                </a:spcAft>
              </a:pPr>
              <a:t>11</a:t>
            </a:fld>
            <a:endParaRPr lang="en-US" sz="10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8BE327-ECF9-8AAA-101C-567717DCFCF3}"/>
              </a:ext>
            </a:extLst>
          </p:cNvPr>
          <p:cNvSpPr txBox="1"/>
          <p:nvPr/>
        </p:nvSpPr>
        <p:spPr>
          <a:xfrm>
            <a:off x="6013343" y="348712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20514501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1_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2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3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4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5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938</Words>
  <Application>Microsoft Macintosh PowerPoint</Application>
  <PresentationFormat>On-screen Show (16:9)</PresentationFormat>
  <Paragraphs>141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Black</vt:lpstr>
      <vt:lpstr>Calibri</vt:lpstr>
      <vt:lpstr>Consolas</vt:lpstr>
      <vt:lpstr>Trebuchet MS</vt:lpstr>
      <vt:lpstr>Berlin</vt:lpstr>
      <vt:lpstr>1_Berlin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Invariants — From Concept to Haskell (Plain)</dc:title>
  <dc:subject>PptxGenJS Presentation</dc:subject>
  <dc:creator>PptxGenJS</dc:creator>
  <cp:lastModifiedBy>Mairead Meagher</cp:lastModifiedBy>
  <cp:revision>3</cp:revision>
  <dcterms:created xsi:type="dcterms:W3CDTF">2026-04-12T23:46:10Z</dcterms:created>
  <dcterms:modified xsi:type="dcterms:W3CDTF">2026-04-13T00:29:44Z</dcterms:modified>
</cp:coreProperties>
</file>