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23"/>
  </p:notesMasterIdLst>
  <p:sldIdLst>
    <p:sldId id="32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99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553F3B-B5E4-014D-856B-CF964DA80B47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C1A8497-227B-A147-A35E-F20B512D15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1707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04E3FF-7AD7-4B48-9510-2F888209D81B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3E25D-7147-4545-8FC6-7D29BC48FA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4128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C79FF3-C472-AD44-A731-0854478E68DA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8615277E-17BA-0544-8D3C-57CD0AE9F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7274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B27A86-9492-1A4C-B71C-C304174B6317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7D2E1-6E93-6747-B9E5-4A4F773EDE1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515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0D0E10-0C68-2243-8EE7-3D9521A4B932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954478-2D78-5E4A-AB13-E9B6FB7E006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303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2C0760-190D-434A-8DA2-99E529858BF8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B520B-0227-344E-B2B9-09AB9C3995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4416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040D5B-8D0F-0D4C-BA1C-4C9EE60F29A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503BA8-2468-AB44-8B07-1D073A68F4E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8185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4FF3FE-9BF6-3441-A1AC-F82F76FF5AF8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2EE41-F49A-B54A-9F44-80E15777CA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683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D91B7B-F5D0-904E-AECB-684CA212948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9112BD-C6BF-2045-9788-A800E329A4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1510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BA69B9-8BCD-1743-A7EA-A87148D43D98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FCE4EC0E-F0BA-9743-94AB-30575C262C2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8244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3B821F-F50B-B24A-AA3C-F5A9B8822722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A48E549A-BFD5-CA45-B65B-6AF2615F94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6693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2EBF0D-18C4-0348-AC98-3C5EA586D71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851EAB7B-D94A-4F44-A743-EA9E70243C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3049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178186-32BF-FA47-810E-787554D073F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2D39529C-0C62-AC40-BC41-A432AF9A1E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961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4CAE55-0504-6C4B-9D1C-F7DDA16C4459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56C6E-C944-604E-8607-4CF6F94051F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1740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D8F05-0F1C-F34F-BB46-6EFF1FC5716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07A0F4-D0AD-8D4E-94FD-3B938370633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8560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CD70A7-F553-0043-B575-3F8D67C58C20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E2E05E-56D5-624A-AF72-262359EA23E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3597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pPr>
              <a:defRPr/>
            </a:pPr>
            <a:fld id="{32E94331-9661-474D-B360-50A2564AE4C7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032EDDE4-274F-6344-934D-869911BB516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10496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845E-7084-EC53-DEC0-D55CE275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1BAE0-29F1-9FB8-C8DA-BEF4B32F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D6170B-327F-AF4D-8FE0-BC6D94704B2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5552C-4C59-1B08-B0A8-A00799DB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8C5CC-2F04-A369-FA4B-E3C3E04C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6C416A-7973-DB47-8808-E6843CBC59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35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6D6170B-327F-AF4D-8FE0-BC6D94704B24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6C416A-7973-DB47-8808-E6843CBC59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794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7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</a:t>
            </a:fld>
            <a:endParaRPr lang="en-US" sz="105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2400" dirty="0"/>
              <a:t>Topic 13 – XML Parsing in Haskell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XML?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" y="1474470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88036" y="1522475"/>
            <a:ext cx="17219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 err="1">
                <a:solidFill>
                  <a:srgbClr val="4DD0E1"/>
                </a:solidFill>
                <a:latin typeface="Trebuchet MS"/>
              </a:rPr>
              <a:t>eXtensible</a:t>
            </a:r>
            <a:r>
              <a:rPr sz="900" b="1" dirty="0">
                <a:solidFill>
                  <a:srgbClr val="4DD0E1"/>
                </a:solidFill>
                <a:latin typeface="Trebuchet MS"/>
              </a:rPr>
              <a:t> Markup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" y="1776223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>
                <a:solidFill>
                  <a:srgbClr val="FFFFFF"/>
                </a:solidFill>
                <a:latin typeface="Trebuchet MS"/>
              </a:rPr>
              <a:t>A text format for structured data — human-readable and machine-</a:t>
            </a:r>
            <a:r>
              <a:rPr sz="825" dirty="0" err="1">
                <a:solidFill>
                  <a:srgbClr val="FFFFFF"/>
                </a:solidFill>
                <a:latin typeface="Trebuchet MS"/>
              </a:rPr>
              <a:t>parseable</a:t>
            </a:r>
            <a:r>
              <a:rPr sz="825" dirty="0">
                <a:solidFill>
                  <a:srgbClr val="FFFFFF"/>
                </a:solidFill>
                <a:latin typeface="Trebuchet M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" y="2352293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88037" y="2400299"/>
            <a:ext cx="107112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Tags &amp;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" y="2654046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Data is wrapped in opening &lt;tag&gt; and closing &lt;/tag&gt; pairs, forming a tree.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" y="3230118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88036" y="3278124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4DD0E1"/>
                </a:solidFill>
                <a:latin typeface="Trebuchet MS"/>
              </a:rPr>
              <a:t>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" y="3531871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Extra metadata lives inside the opening tag as key="value" pairs.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" y="4107942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88036" y="4155948"/>
            <a:ext cx="58381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" y="4409695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Elements can contain other elements — a hierarchy of parent to child nodes.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74470"/>
            <a:ext cx="4800600" cy="288036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4197096" y="1543050"/>
            <a:ext cx="2236510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&lt;?xml version="1.0"?&gt;</a:t>
            </a:r>
          </a:p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&lt;catalogue&gt;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900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="9780000000002"&gt;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900" dirty="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...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&lt;/catalogue&gt;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423409"/>
            <a:ext cx="4800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4DD0E1"/>
                </a:solidFill>
              </a:rPr>
              <a:t>We'll use </a:t>
            </a:r>
            <a:r>
              <a:rPr sz="900" dirty="0" err="1">
                <a:solidFill>
                  <a:srgbClr val="4DD0E1"/>
                </a:solidFill>
              </a:rPr>
              <a:t>books.xml</a:t>
            </a:r>
            <a:r>
              <a:rPr sz="900" dirty="0">
                <a:solidFill>
                  <a:srgbClr val="4DD0E1"/>
                </a:solidFill>
              </a:rPr>
              <a:t> as our running example throughout.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8380A171-4C4E-B2F1-630C-DD1A7E4B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2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books.xml — Full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" y="1474470"/>
            <a:ext cx="4663440" cy="349758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88037" y="1543051"/>
            <a:ext cx="2839239" cy="27584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 dirty="0">
                <a:solidFill>
                  <a:srgbClr val="4DD0E1"/>
                </a:solidFill>
                <a:latin typeface="Consolas"/>
              </a:rPr>
              <a:t>&lt;catalogue&gt;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825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="9780000000002"&gt;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&lt;subtitle&gt;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Type-safe wizardry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&lt;/subtitle&gt;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id="a1"&gt;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Mairead Example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id="a2"&gt;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Co Author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&lt;published year="2024"/&gt;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825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="9780000000003"&gt;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Streaming XML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id="a3"&gt;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Someone Else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&lt;published year="2023"/&gt;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b="1" dirty="0">
                <a:solidFill>
                  <a:srgbClr val="4DD0E1"/>
                </a:solidFill>
                <a:latin typeface="Consolas"/>
              </a:rPr>
              <a:t>&lt;/catalogue&gt;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1474470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5157216" y="1522476"/>
            <a:ext cx="84991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Root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217" y="1776222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Every XML doc has exactly one root — here &lt;catalogue&gt;.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050542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157217" y="2098548"/>
            <a:ext cx="1173719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Element + 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7" y="2352294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&lt;book isbn="..."&gt; — book is the element; isbn is an attribute.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626614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5157216" y="2674621"/>
            <a:ext cx="920445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Child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7" y="2928366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&lt;title&gt;, &lt;subtitle&gt;, &lt;authors&gt; are children of &lt;book&gt;.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3202686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157216" y="3250693"/>
            <a:ext cx="824265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Text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7" y="3504438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Text sits between tags: &lt;title&gt;Learn Haskell&lt;/title&gt;.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778758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5157216" y="3826765"/>
            <a:ext cx="926857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Self-closing 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7" y="4080510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FFFFFF"/>
                </a:solidFill>
                <a:latin typeface="Trebuchet MS"/>
              </a:rPr>
              <a:t>&lt;published year="2024"/&gt; — no children, closes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4354830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5157216" y="4402837"/>
            <a:ext cx="104227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Optional element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7" y="4656582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&lt;subtitle&gt; appears in book 1 but not book 2 — it is optional.</a:t>
            </a:r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06D51878-3586-4FBB-B69E-C8FD6B57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3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as a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26872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Every XML document is a tree. Understanding this makes parsing straightforward.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51811" y="1724263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catalogue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846" y="2204086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book [</a:t>
            </a:r>
            <a:r>
              <a:rPr sz="713" b="1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713" b="1" dirty="0">
                <a:solidFill>
                  <a:srgbClr val="FFFFFF"/>
                </a:solidFill>
                <a:latin typeface="Consolas"/>
              </a:rPr>
              <a:t>=...]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5908" y="2204086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book [</a:t>
            </a:r>
            <a:r>
              <a:rPr sz="713" b="1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713" b="1" dirty="0">
                <a:solidFill>
                  <a:srgbClr val="FFFFFF"/>
                </a:solidFill>
                <a:latin typeface="Consolas"/>
              </a:rPr>
              <a:t>=...]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0" y="2023110"/>
            <a:ext cx="0" cy="34290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023110"/>
            <a:ext cx="0" cy="34290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871" y="3068439"/>
            <a:ext cx="684442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title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27343" y="3051585"/>
            <a:ext cx="582930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subtitle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781921" y="3034149"/>
            <a:ext cx="737716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>
                <a:solidFill>
                  <a:srgbClr val="000000"/>
                </a:solidFill>
                <a:latin typeface="Consolas"/>
              </a:rPr>
              <a:t>authors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08911" y="3028469"/>
            <a:ext cx="822960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published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99291" y="3902119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author [id=a1]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7471" y="3885993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>
                <a:solidFill>
                  <a:srgbClr val="FFFFFF"/>
                </a:solidFill>
                <a:latin typeface="Consolas"/>
              </a:rPr>
              <a:t>author [id=a2]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0" y="33604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604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5740" y="4491991"/>
            <a:ext cx="873023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>
                <a:solidFill>
                  <a:srgbClr val="4DD0E1"/>
                </a:solidFill>
              </a:rPr>
              <a:t>Key insight: one root; every element has exactly one parent (except the root).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29089A95-4218-DC42-52A7-75FF75E7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4</a:t>
            </a:fld>
            <a:endParaRPr lang="en-US" sz="105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26DA97-0DE8-0083-BC77-BC48E0CE32C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525906" y="2032873"/>
            <a:ext cx="2005965" cy="17121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1B7E5A-AB73-D24A-CD75-2BDAA692EBB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3531871" y="2032873"/>
            <a:ext cx="1974097" cy="17121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D628DF-D2C6-0739-24AA-BDA2A63A57D4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45092" y="2512696"/>
            <a:ext cx="1080814" cy="55574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3789E-94DE-4CFD-29E0-C8710E1A6179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flipV="1">
            <a:off x="1318808" y="2512696"/>
            <a:ext cx="207098" cy="538889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16B17F-4C77-B130-1295-7AB7EBFE82AC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1525906" y="2512696"/>
            <a:ext cx="624873" cy="52145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3CAD4D-8038-A0F1-7A64-50FF17BB6EE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1525906" y="2512696"/>
            <a:ext cx="1594485" cy="51577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9F58CF1-9259-4DA4-4E23-EE9CCCF91030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150779" y="3355061"/>
            <a:ext cx="736752" cy="530932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03388E-16AE-FC06-25AF-978DD89676DC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379351" y="3343986"/>
            <a:ext cx="778982" cy="55813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3FA5D5D-F567-201F-4667-AF6AC1098438}"/>
              </a:ext>
            </a:extLst>
          </p:cNvPr>
          <p:cNvSpPr/>
          <p:nvPr/>
        </p:nvSpPr>
        <p:spPr>
          <a:xfrm>
            <a:off x="4090003" y="3068439"/>
            <a:ext cx="684442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4B800E7-15DD-A95A-2774-335968824792}"/>
              </a:ext>
            </a:extLst>
          </p:cNvPr>
          <p:cNvSpPr/>
          <p:nvPr/>
        </p:nvSpPr>
        <p:spPr>
          <a:xfrm>
            <a:off x="5025908" y="3075382"/>
            <a:ext cx="737716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authors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D7F81A-E18D-D769-982F-2B2591F37E21}"/>
              </a:ext>
            </a:extLst>
          </p:cNvPr>
          <p:cNvSpPr/>
          <p:nvPr/>
        </p:nvSpPr>
        <p:spPr>
          <a:xfrm>
            <a:off x="5884608" y="3068439"/>
            <a:ext cx="656741" cy="253917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published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C567DC-74B8-0620-0959-A70B8B5622F7}"/>
              </a:ext>
            </a:extLst>
          </p:cNvPr>
          <p:cNvCxnSpPr>
            <a:cxnSpLocks/>
          </p:cNvCxnSpPr>
          <p:nvPr/>
        </p:nvCxnSpPr>
        <p:spPr>
          <a:xfrm flipV="1">
            <a:off x="4457022" y="2495842"/>
            <a:ext cx="1048946" cy="55574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0690CC9-11AC-589D-664C-B62CD49B4DB9}"/>
              </a:ext>
            </a:extLst>
          </p:cNvPr>
          <p:cNvCxnSpPr>
            <a:cxnSpLocks/>
          </p:cNvCxnSpPr>
          <p:nvPr/>
        </p:nvCxnSpPr>
        <p:spPr>
          <a:xfrm flipV="1">
            <a:off x="5330738" y="2495842"/>
            <a:ext cx="175230" cy="538889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E536A85-C4A9-BEE3-0882-ED33C5C3CE3C}"/>
              </a:ext>
            </a:extLst>
          </p:cNvPr>
          <p:cNvCxnSpPr>
            <a:cxnSpLocks/>
          </p:cNvCxnSpPr>
          <p:nvPr/>
        </p:nvCxnSpPr>
        <p:spPr>
          <a:xfrm>
            <a:off x="5495119" y="2510472"/>
            <a:ext cx="656741" cy="52145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  <p:bldP spid="23" grpId="0" animBg="1"/>
      <p:bldP spid="24" grpId="0" animBg="1"/>
      <p:bldP spid="72" grpId="0" animBg="1"/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xml-conduit Sees XML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Haskell library's view of the document tree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125C4AE-FF6A-837D-5E1A-162D28D2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0952" y="2152420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5</a:t>
            </a:fld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xml-conduit — Core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models XML as Haskell data types. Every piece of an XML document maps to one of these: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762506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810511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" y="2064259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The whole file. Contains a prologue (&lt;?xml ...?&gt;) and the root Element.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" y="2777490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288036" y="2825496"/>
            <a:ext cx="6303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" y="3079243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A tag with a Name, a map of Attributes, and a list of Nodes as children.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" y="3792473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288036" y="3840480"/>
            <a:ext cx="4603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" y="4094227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What lives inside an element: another Element, plain Text, or a Comment.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62506"/>
            <a:ext cx="466344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334256" y="1831086"/>
            <a:ext cx="2621230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  <a:latin typeface="Consolas"/>
              </a:rPr>
              <a:t>data Document = Document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documentPrologue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:: Prologue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documentRoot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::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data Element =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elementName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  :: Name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elementAttributes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:: Map Name Text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elementNodes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 :: [Node]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data Node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=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|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Text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|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NodeComment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Text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C8AC7E91-E8BE-BFF0-453B-5425DF4E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6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Name Type — Handling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uses a Name type instead of a plain String for tag names. This handles XML namespaces correctly.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714500"/>
            <a:ext cx="8730234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783080"/>
            <a:ext cx="422423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onsolas"/>
              </a:rPr>
              <a:t>data Name = Name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{ nameLocalName  :: Text       -- e.g. "book"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, nameNamespace  :: Maybe Text -- e.g. Nothing (no namespace)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, namePrefix     :: Maybe Text -- e.g. Nothing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>
              <a:solidFill>
                <a:srgbClr val="FFFFFF"/>
              </a:solidFill>
              <a:latin typeface="Consolas"/>
            </a:endParaRPr>
          </a:p>
          <a:p>
            <a:r>
              <a:rPr sz="900">
                <a:solidFill>
                  <a:srgbClr val="FFFFFF"/>
                </a:solidFill>
                <a:latin typeface="Consolas"/>
              </a:rPr>
              <a:t>-- OverloadedStrings lets you write: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"book" :: Name   -- same as Name "book" Nothing Nothing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1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88036" y="3785616"/>
            <a:ext cx="15343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No namespace (our case)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7" y="4039362"/>
            <a:ext cx="267461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books.xml uses no namespace — nameNamespace = Nothing. Write tag names as plain strings.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8970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271266" y="3785616"/>
            <a:ext cx="106952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With 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1267" y="4039362"/>
            <a:ext cx="2674619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XHTML and SOAP use namespaces like {http://www.w3.org/1999/xhtml}html — xml-conduit handles these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1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254496" y="3785616"/>
            <a:ext cx="83869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Practical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4039362"/>
            <a:ext cx="2674619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Enable {-# LANGUAGE OverloadedStrings #-}. Then write "book" instead of Name "book" Nothing Nothing.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6993530B-67AE-A666-2C2B-41E02C3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7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books.xml Through xml-conduit's 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40180"/>
            <a:ext cx="3086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DD0E1"/>
                </a:solidFill>
              </a:rPr>
              <a:t>XML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666493"/>
            <a:ext cx="3771900" cy="301752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735074"/>
            <a:ext cx="2108269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Consolas"/>
              </a:rPr>
              <a:t>&lt;book isbn="9780000000002"&gt;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&lt;title&gt;</a:t>
            </a:r>
            <a:r>
              <a:rPr sz="90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&lt;author id="a1"&gt;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  Mairead Example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&lt;published year="2024"/&gt;</a:t>
            </a:r>
          </a:p>
          <a:p>
            <a:r>
              <a:rPr sz="900" b="1">
                <a:solidFill>
                  <a:srgbClr val="4DD0E1"/>
                </a:solidFill>
                <a:latin typeface="Consolas"/>
              </a:rPr>
              <a:t>&lt;/book&gt;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0510" y="2983229"/>
            <a:ext cx="548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0180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DD0E1"/>
                </a:solidFill>
              </a:rPr>
              <a:t>Haskell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666493"/>
            <a:ext cx="4251960" cy="336042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745737" y="1735074"/>
            <a:ext cx="2839239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dirty="0">
                <a:solidFill>
                  <a:srgbClr val="FFFFFF"/>
                </a:solidFill>
                <a:latin typeface="Consolas"/>
              </a:rPr>
              <a:t>Element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elementName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 "book"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elementAttributes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endParaRPr sz="825" dirty="0">
              <a:solidFill>
                <a:srgbClr val="FFFFFF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[("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825" dirty="0">
                <a:solidFill>
                  <a:srgbClr val="FFFFFF"/>
                </a:solidFill>
                <a:latin typeface="Consolas"/>
              </a:rPr>
              <a:t>", "9780000000002")]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elementNodes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[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"title"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"Learn Haskell"])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"authors"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"author"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[("id","a1")]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"Mairead Example"])])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"published"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[("year","2024")] [])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}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2E80C55-8573-C0FA-37A9-696AC733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8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Navigating the Tree — Key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provides cursor-based navigation. Import </a:t>
            </a:r>
            <a:r>
              <a:rPr sz="1050" dirty="0" err="1">
                <a:solidFill>
                  <a:srgbClr val="FFFFFF"/>
                </a:solidFill>
              </a:rPr>
              <a:t>Text.XML</a:t>
            </a:r>
            <a:r>
              <a:rPr sz="1050" dirty="0">
                <a:solidFill>
                  <a:srgbClr val="FFFFFF"/>
                </a:solidFill>
              </a:rPr>
              <a:t> and </a:t>
            </a:r>
            <a:r>
              <a:rPr sz="1050" dirty="0" err="1">
                <a:solidFill>
                  <a:srgbClr val="FFFFFF"/>
                </a:solidFill>
              </a:rPr>
              <a:t>Text.XML.Cursor</a:t>
            </a:r>
            <a:r>
              <a:rPr sz="105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693926"/>
            <a:ext cx="480060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7" y="1762506"/>
            <a:ext cx="3070071" cy="244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Text.XML.Cursor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Parse the file into a Document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doc    &lt;-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Text.XML.readFile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def "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books.xml</a:t>
            </a:r>
            <a:r>
              <a:rPr sz="900" dirty="0">
                <a:solidFill>
                  <a:srgbClr val="FFFFFF"/>
                </a:solidFill>
                <a:latin typeface="Consolas"/>
              </a:rPr>
              <a:t>"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Turn the root element into a Cursor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cursor =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fromDocument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doc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Select all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&lt;book&gt;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children of root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books  = cursor $// element "book"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For each book, get the text inside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&lt;title&gt;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titles = books &gt;&gt;= child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element "title"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descendant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693926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196865" y="1789013"/>
            <a:ext cx="3930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$//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2870" y="1823715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All descendants matching a predicate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9386" y="217398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5209386" y="2243365"/>
            <a:ext cx="3337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$/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2870" y="2226629"/>
            <a:ext cx="34155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Immediate children matching a predicate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65404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147444" y="2733585"/>
            <a:ext cx="10230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element "x"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8184" y="2744619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Match elements named 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313410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5181282" y="3190054"/>
            <a:ext cx="5357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2870" y="3236516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Move to direct children (all nodes)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9386" y="364494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5160524" y="3700224"/>
            <a:ext cx="10102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descendant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8184" y="3700224"/>
            <a:ext cx="2714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Move to all descendants recursively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094226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5180147" y="4150111"/>
            <a:ext cx="7425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8184" y="4143459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Extract text from </a:t>
            </a:r>
            <a:r>
              <a:rPr sz="1200" dirty="0" err="1">
                <a:solidFill>
                  <a:srgbClr val="FFFFFF"/>
                </a:solidFill>
                <a:latin typeface="Trebuchet MS"/>
              </a:rPr>
              <a:t>NodeContent</a:t>
            </a:r>
            <a:r>
              <a:rPr sz="1200" dirty="0">
                <a:solidFill>
                  <a:srgbClr val="FFFFFF"/>
                </a:solidFill>
                <a:latin typeface="Trebuchet MS"/>
              </a:rPr>
              <a:t>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57428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5161117" y="4647268"/>
            <a:ext cx="10743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attribute "k"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8184" y="4659288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Extract the value of attribute k</a:t>
            </a:r>
          </a:p>
        </p:txBody>
      </p:sp>
      <p:sp>
        <p:nvSpPr>
          <p:cNvPr id="27" name="Slide Number Placeholder 1">
            <a:extLst>
              <a:ext uri="{FF2B5EF4-FFF2-40B4-BE49-F238E27FC236}">
                <a16:creationId xmlns:a16="http://schemas.microsoft.com/office/drawing/2014/main" id="{4C2C04DB-895C-9E12-E5F9-8B6D6C37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9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xml-light vs xml-conduit — Which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540861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Both libraries parse XML, but they make different trade-offs: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959419"/>
            <a:ext cx="17145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920240" y="1959419"/>
            <a:ext cx="30861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DD0E1"/>
                </a:solidFill>
                <a:latin typeface="Trebuchet MS"/>
              </a:rPr>
              <a:t>xml-light / 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6340" y="1959419"/>
            <a:ext cx="30861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DD0E1"/>
                </a:solidFill>
                <a:latin typeface="Trebuchet MS"/>
              </a:rPr>
              <a:t>xml-conduit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" y="240518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String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40518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String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6340" y="240518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Text (efficient)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" y="285095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85095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Basic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6340" y="285095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Full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" y="329672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29672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find / findChild helpers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6340" y="329672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Cursor axes ($// $/)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" y="374249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>
                <a:solidFill>
                  <a:srgbClr val="4DD0E1"/>
                </a:solidFill>
                <a:latin typeface="Trebuchet MS"/>
              </a:rPr>
              <a:t>Streaming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74249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No (loads whole file)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6340" y="374249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Yes (conduit)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" y="418826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>
                <a:solidFill>
                  <a:srgbClr val="4DD0E1"/>
                </a:solidFill>
                <a:latin typeface="Trebuchet MS"/>
              </a:rPr>
              <a:t>Best for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18826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Teaching, small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6340" y="418826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Production, large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472" y="4783320"/>
            <a:ext cx="873023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/>
              <a:t>For this </a:t>
            </a:r>
            <a:r>
              <a:rPr lang="en-IE" sz="825" dirty="0"/>
              <a:t>assignment</a:t>
            </a:r>
            <a:r>
              <a:rPr sz="825" dirty="0"/>
              <a:t> we use the xml package)</a:t>
            </a:r>
            <a:r>
              <a:rPr lang="en-IE" sz="825" dirty="0"/>
              <a:t> </a:t>
            </a:r>
            <a:r>
              <a:rPr sz="825" dirty="0"/>
              <a:t> xml-conduit is shown here for completeness — it is the industry choice for production code.</a:t>
            </a:r>
          </a:p>
        </p:txBody>
      </p:sp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572B6018-9327-B10D-D8D9-41EB6022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10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74470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356616" y="1522475"/>
            <a:ext cx="88197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XML is a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776223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One root element; elements nest inside each other; text lives at the leaves.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46554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56616" y="2194559"/>
            <a:ext cx="13356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Tags, attributes,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2448307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Tags name elements; attributes add metadata; text content sits between tags.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18637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56616" y="2866643"/>
            <a:ext cx="11592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xml-conduit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3120391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Document -&gt; Element -&gt; [Node], where Node is Element | Text | Comment.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90722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356616" y="3538728"/>
            <a:ext cx="10550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Name not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3792475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Tag names are the Name type — this correctly handles XML namespaces.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62806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356616" y="4210812"/>
            <a:ext cx="113204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Cursor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4464559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$// and $/ traverse the tree; element, content, attribute extract values.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4E4A2805-7E4D-F15B-57D8-829B2F51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11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4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767840"/>
            <a:ext cx="4267200" cy="2682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76800"/>
            <a:ext cx="10424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13.2– XML to Markdown with xml-conduit</a:t>
            </a:r>
            <a:endParaRPr lang="en-US" sz="3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78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82240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01184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20128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39072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54F9DF5-D0F6-B42D-95E6-6F2D4089D0E8}"/>
              </a:ext>
            </a:extLst>
          </p:cNvPr>
          <p:cNvSpPr/>
          <p:nvPr/>
        </p:nvSpPr>
        <p:spPr>
          <a:xfrm>
            <a:off x="901018" y="2712720"/>
            <a:ext cx="950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 - Our workflow</a:t>
            </a:r>
            <a:endParaRPr lang="en-US" sz="3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📄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8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2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⚙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2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9056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056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📝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One </a:t>
            </a:r>
            <a:r>
              <a:rPr lang="en-US" sz="2400" dirty="0" err="1">
                <a:solidFill>
                  <a:srgbClr val="E7E6E6"/>
                </a:solidFill>
                <a:latin typeface="Trebuchet MS" pitchFamily="34" charset="0"/>
              </a:rPr>
              <a:t>catalogue.md</a:t>
            </a:r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 ready for rendering to pdfs etc</a:t>
            </a:r>
            <a:r>
              <a:rPr lang="en-US" sz="17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36448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743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023104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364480" cy="26822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045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8608" y="1304544"/>
            <a:ext cx="5023104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326745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81609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71856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71856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779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18185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81584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4815840"/>
            <a:ext cx="73152" cy="99974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" y="4876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527913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426720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0" y="4267200"/>
            <a:ext cx="73152" cy="99974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4328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473049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536448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536448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5425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582777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64736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6656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6656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64736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6656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41792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3712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41792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575462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536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2901696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2901696"/>
            <a:ext cx="73152" cy="112166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364992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218432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218432"/>
            <a:ext cx="73152" cy="112166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681728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59040" y="5535168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59040" y="5535168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1920" y="5596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41920" y="5998464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Kleisli composition — chains steps: find child, then read attr.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69280" cy="560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791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327904" cy="521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61760" y="1036320"/>
            <a:ext cx="5181600" cy="34137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655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32448" y="1304544"/>
            <a:ext cx="4840224" cy="302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1760" y="4572000"/>
            <a:ext cx="5181600" cy="2133600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1760" y="4572000"/>
            <a:ext cx="5181600" cy="3048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r" defTabSz="609585"/>
            <a:r>
              <a:rPr lang="en-US" sz="1067" i="1" dirty="0">
                <a:solidFill>
                  <a:srgbClr val="60DE72"/>
                </a:solidFill>
                <a:latin typeface="Trebuchet MS" panose="020B0603020202020204"/>
              </a:rPr>
              <a:t>Sample Output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44640" y="4901184"/>
            <a:ext cx="4815840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7071360" cy="414528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121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729984" cy="37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 &lt;- getArgs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args of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[xmlPath, mdPath] -&gt;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Text.XML.readFile def xmlPath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writeCatalogue mdPath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-&gt;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"Usage: parse-books &lt;input.xml&gt; &lt;output.md&gt;"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85760" y="1158240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5760" y="1158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5632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56320" y="1548384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743456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85760" y="2523744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8576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56320" y="2535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56320" y="2913888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0" y="3108960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85760" y="3889248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85760" y="3889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6320" y="3901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6320" y="4279392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4474464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85760" y="5254752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85760" y="525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6320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6320" y="5644896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340096"/>
            <a:ext cx="70713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0560" y="5340096"/>
            <a:ext cx="670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stack run -- books.xml catalogue.md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4693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430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219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3023616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3023616"/>
            <a:ext cx="73152" cy="1219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3084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486912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462272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462272"/>
            <a:ext cx="73152" cy="1219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52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925568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5913120"/>
            <a:ext cx="112776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0560" y="59131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9456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26592"/>
            <a:ext cx="10972800" cy="4876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①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0208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984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8614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②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424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③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208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8614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④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5424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98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⑤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0208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984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8614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⑥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5424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600" y="6522720"/>
            <a:ext cx="10972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067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hackage.haskell.org/package/xml-conduit  ·  Trebuchet MS / Berlin theme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a-recursion</Template>
  <TotalTime>4016</TotalTime>
  <Words>2620</Words>
  <Application>Microsoft Macintosh PowerPoint</Application>
  <PresentationFormat>On-screen Show (16:9)</PresentationFormat>
  <Paragraphs>461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Black</vt:lpstr>
      <vt:lpstr>Consolas</vt:lpstr>
      <vt:lpstr>Trebuchet MS</vt:lpstr>
      <vt:lpstr>Berlin</vt:lpstr>
      <vt:lpstr>PowerPoint Presentation</vt:lpstr>
      <vt:lpstr>What is XML?</vt:lpstr>
      <vt:lpstr>books.xml — Full Structure</vt:lpstr>
      <vt:lpstr>XML as a Tree</vt:lpstr>
      <vt:lpstr>How xml-conduit Sees XML</vt:lpstr>
      <vt:lpstr>xml-conduit — Core Types</vt:lpstr>
      <vt:lpstr>The Name Type — Handling Namespaces</vt:lpstr>
      <vt:lpstr>books.xml Through xml-conduit's Eyes</vt:lpstr>
      <vt:lpstr>Navigating the Tree — Key Functions</vt:lpstr>
      <vt:lpstr>xml-light vs xml-conduit — Which to Use?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Parsing in Haskell</dc:title>
  <dc:subject>PptxGenJS Presentation</dc:subject>
  <dc:creator>PptxGenJS</dc:creator>
  <cp:lastModifiedBy>Mairead Meagher</cp:lastModifiedBy>
  <cp:revision>9</cp:revision>
  <dcterms:created xsi:type="dcterms:W3CDTF">2026-03-26T23:19:25Z</dcterms:created>
  <dcterms:modified xsi:type="dcterms:W3CDTF">2026-04-03T22:29:44Z</dcterms:modified>
</cp:coreProperties>
</file>