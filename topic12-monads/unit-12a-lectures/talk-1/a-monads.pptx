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4299" r:id="rId1"/>
  </p:sldMasterIdLst>
  <p:notesMasterIdLst>
    <p:notesMasterId r:id="rId33"/>
  </p:notesMasterIdLst>
  <p:handoutMasterIdLst>
    <p:handoutMasterId r:id="rId34"/>
  </p:handoutMasterIdLst>
  <p:sldIdLst>
    <p:sldId id="328" r:id="rId2"/>
    <p:sldId id="390" r:id="rId3"/>
    <p:sldId id="391" r:id="rId4"/>
    <p:sldId id="389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375" r:id="rId15"/>
    <p:sldId id="401" r:id="rId16"/>
    <p:sldId id="402" r:id="rId17"/>
    <p:sldId id="403" r:id="rId18"/>
    <p:sldId id="404" r:id="rId19"/>
    <p:sldId id="405" r:id="rId20"/>
    <p:sldId id="408" r:id="rId21"/>
    <p:sldId id="409" r:id="rId22"/>
    <p:sldId id="406" r:id="rId23"/>
    <p:sldId id="407" r:id="rId24"/>
    <p:sldId id="372" r:id="rId25"/>
    <p:sldId id="384" r:id="rId26"/>
    <p:sldId id="383" r:id="rId27"/>
    <p:sldId id="410" r:id="rId28"/>
    <p:sldId id="411" r:id="rId29"/>
    <p:sldId id="412" r:id="rId30"/>
    <p:sldId id="413" r:id="rId31"/>
    <p:sldId id="343" r:id="rId32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44"/>
    <p:restoredTop sz="91458"/>
  </p:normalViewPr>
  <p:slideViewPr>
    <p:cSldViewPr snapToGrid="0">
      <p:cViewPr varScale="1">
        <p:scale>
          <a:sx n="90" d="100"/>
          <a:sy n="90" d="100"/>
        </p:scale>
        <p:origin x="216" y="6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336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069455A-69AD-B76C-28DD-EE2C04243FF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555D4FE-456F-CFAC-83E1-F30CE94396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A2E920E5-3493-7246-61D5-B0D72A61B82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D776A930-9F5E-6A55-DDE9-F6B390F6399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F2FFC19B-7923-4441-BEA0-55B1C9DA8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122">
            <a:extLst>
              <a:ext uri="{FF2B5EF4-FFF2-40B4-BE49-F238E27FC236}">
                <a16:creationId xmlns:a16="http://schemas.microsoft.com/office/drawing/2014/main" id="{E0B6F059-25B1-6680-DF78-4A8CCAED1C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63" name="Rectangle 5123">
            <a:extLst>
              <a:ext uri="{FF2B5EF4-FFF2-40B4-BE49-F238E27FC236}">
                <a16:creationId xmlns:a16="http://schemas.microsoft.com/office/drawing/2014/main" id="{3D0109B6-DE04-CB8F-D6D3-892800F80A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8" name="Rectangle 5124">
            <a:extLst>
              <a:ext uri="{FF2B5EF4-FFF2-40B4-BE49-F238E27FC236}">
                <a16:creationId xmlns:a16="http://schemas.microsoft.com/office/drawing/2014/main" id="{BC61C446-29EC-1074-9F7D-48BA6447C28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65" name="Rectangle 5125">
            <a:extLst>
              <a:ext uri="{FF2B5EF4-FFF2-40B4-BE49-F238E27FC236}">
                <a16:creationId xmlns:a16="http://schemas.microsoft.com/office/drawing/2014/main" id="{416C0B38-15BF-368B-9EC4-4787E815AC0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5126">
            <a:extLst>
              <a:ext uri="{FF2B5EF4-FFF2-40B4-BE49-F238E27FC236}">
                <a16:creationId xmlns:a16="http://schemas.microsoft.com/office/drawing/2014/main" id="{0A3A53CE-7B07-8E12-3801-0BD8B92B5E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67" name="Rectangle 5127">
            <a:extLst>
              <a:ext uri="{FF2B5EF4-FFF2-40B4-BE49-F238E27FC236}">
                <a16:creationId xmlns:a16="http://schemas.microsoft.com/office/drawing/2014/main" id="{6B1CB3EA-FDA4-1416-AB0A-F4FC42CB3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F33ACC7-9D5C-574E-8DDC-58E3330852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8A071C-7CBF-B943-827E-D1D0B8851AF7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7C93F7A7-7A99-9242-974D-539ACDFACED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4713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E0F32E-CE95-D14E-B25C-9491886AFABB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22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149F6E-8873-C44F-9276-853DCBB4D783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AA1F8F63-00AE-7D4A-B052-3984B6AC762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00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D6653C-32A1-844D-A2AE-380E002D4E2F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6F6D41-C9B0-554D-B7E9-E2C029A9056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00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61581-1128-4A42-BA79-051D619ABDD9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1F950C-F7C8-1D46-A400-662EB31D51A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65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6CA17-14A4-DC42-B657-4EF08608BEFF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7B2D9-430A-AF4D-A757-E186D446FA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70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62963A-5387-7540-9489-6871CA4D412B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BB1747-987C-FF4E-B016-100C52060B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59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88FDAE-9199-2B45-BB21-116A06E10FB3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13CEE-E17D-4D46-874A-5272FDCA69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38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8C32F1-3472-E54D-B618-B5C4D1C39A8B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7934F-D9EA-B141-9D34-23BC1FD77C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397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472CA-22E3-2448-91C6-6784558DB7A0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E11955C-9B72-E94B-8CA0-D4F41106C1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89750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BFD4E8-9082-0F47-8521-EF9ED98DD025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7C4A921C-B5A2-1F4C-8772-F111FB15DE7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2759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F31DC-ECD2-144E-96D8-5AB4F1097806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CA96A414-17EE-BB48-B3F4-37966D9CE3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938836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53997D-001A-A446-947E-495DE3DE6F4E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4BED40C1-AFAE-0848-85B2-ED9EC050C7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81826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49C8FC-B45D-944F-AF3F-0E3D4FD5BE6F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D60A0A-6515-734B-A7C2-4048036F95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4528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AB3B27-27FC-7A49-AB59-AF431E8AEC87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75C5CB-C8A8-2449-AD19-8B0802F6E0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806398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2C0D6D-2C2C-6744-86E2-786537E07F00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1C121-BD1B-9F48-B799-7EBACBC612E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161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pPr>
              <a:defRPr/>
            </a:pPr>
            <a:fld id="{7AB7477D-2AFE-B14E-AED4-6BE841F2B247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A1FD5FB0-5A17-8742-B185-C5466D325E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55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1A3C28-C226-D44F-9C82-0D3F3C052EE3}" type="datetimeFigureOut">
              <a:rPr lang="en-US" smtClean="0"/>
              <a:pPr>
                <a:defRPr/>
              </a:pPr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CBE0FA-37F9-1248-9D3E-76B79A45F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703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0" r:id="rId1"/>
    <p:sldLayoutId id="2147484301" r:id="rId2"/>
    <p:sldLayoutId id="2147484302" r:id="rId3"/>
    <p:sldLayoutId id="2147484303" r:id="rId4"/>
    <p:sldLayoutId id="2147484304" r:id="rId5"/>
    <p:sldLayoutId id="2147484305" r:id="rId6"/>
    <p:sldLayoutId id="2147484306" r:id="rId7"/>
    <p:sldLayoutId id="2147484307" r:id="rId8"/>
    <p:sldLayoutId id="2147484308" r:id="rId9"/>
    <p:sldLayoutId id="2147484309" r:id="rId10"/>
    <p:sldLayoutId id="2147484310" r:id="rId11"/>
    <p:sldLayoutId id="2147484311" r:id="rId12"/>
    <p:sldLayoutId id="2147484312" r:id="rId13"/>
    <p:sldLayoutId id="2147484313" r:id="rId14"/>
    <p:sldLayoutId id="2147484314" r:id="rId15"/>
    <p:sldLayoutId id="2147484315" r:id="rId16"/>
    <p:sldLayoutId id="2147484316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>
            <a:extLst>
              <a:ext uri="{FF2B5EF4-FFF2-40B4-BE49-F238E27FC236}">
                <a16:creationId xmlns:a16="http://schemas.microsoft.com/office/drawing/2014/main" id="{5FE8611F-C5E2-C51A-3E12-3469845F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fld id="{17D5F683-A68F-A548-BE3D-6C3D8694E0E8}" type="slidenum">
              <a:rPr lang="en-US" sz="1050"/>
              <a:pPr>
                <a:defRPr/>
              </a:pPr>
              <a:t>0</a:t>
            </a:fld>
            <a:endParaRPr lang="en-US" sz="1050"/>
          </a:p>
        </p:txBody>
      </p:sp>
      <p:sp>
        <p:nvSpPr>
          <p:cNvPr id="3074" name="Text Box 2">
            <a:extLst>
              <a:ext uri="{FF2B5EF4-FFF2-40B4-BE49-F238E27FC236}">
                <a16:creationId xmlns:a16="http://schemas.microsoft.com/office/drawing/2014/main" id="{89345F94-1247-5048-3D0C-714A07945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1608138"/>
            <a:ext cx="66833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en-US" altLang="en-US" sz="2700" b="1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PROGRAMMING IN HASKELL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18C107D-BBC4-BCB7-0B59-060837B13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4730750"/>
            <a:ext cx="659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kumimoji="1" lang="en-US" altLang="en-US" sz="2400">
                <a:latin typeface="Tahoma" panose="020B0604030504040204" pitchFamily="34" charset="0"/>
                <a:ea typeface="MS PGothic" panose="020B0600070205080204" pitchFamily="34" charset="-128"/>
              </a:rPr>
              <a:t>Topic 12 </a:t>
            </a:r>
            <a:r>
              <a:rPr kumimoji="1"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– Monads</a:t>
            </a:r>
          </a:p>
        </p:txBody>
      </p:sp>
      <p:pic>
        <p:nvPicPr>
          <p:cNvPr id="3076" name="Picture 5" descr="2000px-Haskell-Logo.png">
            <a:extLst>
              <a:ext uri="{FF2B5EF4-FFF2-40B4-BE49-F238E27FC236}">
                <a16:creationId xmlns:a16="http://schemas.microsoft.com/office/drawing/2014/main" id="{94FE481D-19BC-360B-38B3-DA53C2F77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88" y="2676525"/>
            <a:ext cx="21304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867A-0013-6160-A670-13A968F3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functor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35EE-2BFC-DF68-0A06-9E18D0C6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35078E4-C556-1B9A-F407-743029CB5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444" y="2224316"/>
            <a:ext cx="5962204" cy="9347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</a:t>
            </a:r>
            <a:r>
              <a:rPr lang="en-US" sz="2400" dirty="0">
                <a:latin typeface="Lucida Sans Typewriter" charset="0"/>
                <a:cs typeface="+mn-cs"/>
              </a:rPr>
              <a:t>lass Functor f where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fmap :: (a-&gt; b) -&gt; f a -&gt; f b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8586207-8D5F-39D4-7150-44D6121F2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444" y="3413538"/>
            <a:ext cx="5962204" cy="315073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f</a:t>
            </a:r>
            <a:r>
              <a:rPr lang="en-US" sz="2400" dirty="0">
                <a:latin typeface="Lucida Sans Typewriter" charset="0"/>
                <a:cs typeface="+mn-cs"/>
              </a:rPr>
              <a:t>map (+2) [1,2,3]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[3,4,5]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f</a:t>
            </a:r>
            <a:r>
              <a:rPr lang="en-US" sz="2400" dirty="0">
                <a:latin typeface="Lucida Sans Typewriter" charset="0"/>
                <a:cs typeface="+mn-cs"/>
              </a:rPr>
              <a:t>map (+2) (Just 1)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Just 2</a:t>
            </a:r>
            <a:endParaRPr lang="en-US" sz="2400" dirty="0">
              <a:latin typeface="Lucida Sans Typewriter" charset="0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fmap (+2)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Nothing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endParaRPr lang="en-US" sz="2400" dirty="0">
              <a:latin typeface="Lucida Sans Typewriter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37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6FFA-09A7-B12B-49D5-430C704F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Applicative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0B1D-BE33-27D7-C0AA-6B4F23E40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36455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Generalise the idea of Functors to functions with more than one argument or parameter</a:t>
            </a:r>
          </a:p>
          <a:p>
            <a:r>
              <a:rPr lang="en-US" sz="2800" dirty="0">
                <a:latin typeface="+mj-lt"/>
              </a:rPr>
              <a:t>This gives rise to an Applicative Functor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38C42-9277-5582-95AE-1319DE72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33F03DD-3372-76DF-C750-4D762A667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818" y="3977404"/>
            <a:ext cx="7194424" cy="137794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</a:t>
            </a:r>
            <a:r>
              <a:rPr lang="en-US" sz="2400" dirty="0">
                <a:latin typeface="Lucida Sans Typewriter" charset="0"/>
                <a:cs typeface="+mn-cs"/>
              </a:rPr>
              <a:t>lass Functor f =&gt; Applicative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pure :: a -&gt; f a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( &lt;*&gt; ) :: f (a-&gt; b) -&gt; fa -&gt; fb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7C4F7-A703-7B6C-7004-A0EE6AE145AC}"/>
              </a:ext>
            </a:extLst>
          </p:cNvPr>
          <p:cNvSpPr txBox="1"/>
          <p:nvPr/>
        </p:nvSpPr>
        <p:spPr>
          <a:xfrm>
            <a:off x="1897818" y="6024565"/>
            <a:ext cx="1897811" cy="64633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structure of functions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4C9E6-55A2-A7C1-F2C7-8DCAAC926789}"/>
              </a:ext>
            </a:extLst>
          </p:cNvPr>
          <p:cNvSpPr txBox="1"/>
          <p:nvPr/>
        </p:nvSpPr>
        <p:spPr>
          <a:xfrm>
            <a:off x="5361959" y="5914501"/>
            <a:ext cx="1544499" cy="923330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structure of arguments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20CB2-486E-16A3-E42C-924CC9995472}"/>
              </a:ext>
            </a:extLst>
          </p:cNvPr>
          <p:cNvSpPr txBox="1"/>
          <p:nvPr/>
        </p:nvSpPr>
        <p:spPr>
          <a:xfrm>
            <a:off x="8499099" y="5934670"/>
            <a:ext cx="1544499" cy="923330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structure of results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F6932E-087D-E6AC-3D74-635AB0343082}"/>
              </a:ext>
            </a:extLst>
          </p:cNvPr>
          <p:cNvCxnSpPr>
            <a:stCxn id="6" idx="0"/>
          </p:cNvCxnSpPr>
          <p:nvPr/>
        </p:nvCxnSpPr>
        <p:spPr>
          <a:xfrm flipV="1">
            <a:off x="2846724" y="5393354"/>
            <a:ext cx="2152075" cy="631211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CE44B9-4F3E-F965-514E-52B2ECF828EB}"/>
              </a:ext>
            </a:extLst>
          </p:cNvPr>
          <p:cNvCxnSpPr>
            <a:stCxn id="7" idx="0"/>
          </p:cNvCxnSpPr>
          <p:nvPr/>
        </p:nvCxnSpPr>
        <p:spPr>
          <a:xfrm flipV="1">
            <a:off x="6134209" y="5393354"/>
            <a:ext cx="727895" cy="521147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B20235-C0E7-0696-3BB6-C9A0C0ED8F17}"/>
              </a:ext>
            </a:extLst>
          </p:cNvPr>
          <p:cNvCxnSpPr>
            <a:cxnSpLocks/>
          </p:cNvCxnSpPr>
          <p:nvPr/>
        </p:nvCxnSpPr>
        <p:spPr>
          <a:xfrm flipH="1" flipV="1">
            <a:off x="8151549" y="5393354"/>
            <a:ext cx="1124313" cy="518709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74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E3B75-A539-F836-DE70-1BB32866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BFE9FD-10C5-A202-FA1E-B04DCC47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BB1747-987C-FF4E-B016-100C52060B68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DB800B7-A9C5-24EF-77EB-FB2949906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pure (+) &lt;*&gt; Just 1 &lt;*&gt; Just 2</a:t>
            </a: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Just 3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pure (+) &lt;*&gt; Nothing &lt;*&gt; Just 2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Nothing</a:t>
            </a: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53E41-F299-2511-FD2D-AE8C0EEDDA68}"/>
              </a:ext>
            </a:extLst>
          </p:cNvPr>
          <p:cNvSpPr txBox="1"/>
          <p:nvPr/>
        </p:nvSpPr>
        <p:spPr>
          <a:xfrm>
            <a:off x="1630651" y="5555411"/>
            <a:ext cx="7739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Applicative handles Errors (Nothing) correctly. </a:t>
            </a:r>
          </a:p>
        </p:txBody>
      </p:sp>
    </p:spTree>
    <p:extLst>
      <p:ext uri="{BB962C8B-B14F-4D97-AF65-F5344CB8AC3E}">
        <p14:creationId xmlns:p14="http://schemas.microsoft.com/office/powerpoint/2010/main" val="313353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45A3-159F-0471-BA35-EABABEDC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Monads – Example a simple evaluator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F4712-F746-3A87-1363-0D0D5C2A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DFF9401-8F6A-A518-2444-2E6224199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data Expr = Val Int | Div Expr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e.g.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e:: Expr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</a:t>
            </a:r>
            <a:r>
              <a:rPr lang="en-US" sz="2400" dirty="0">
                <a:latin typeface="Lucida Sans Typewriter" charset="0"/>
                <a:cs typeface="+mn-cs"/>
              </a:rPr>
              <a:t> = Div (Val 6) (Val 3) </a:t>
            </a:r>
          </a:p>
        </p:txBody>
      </p:sp>
    </p:spTree>
    <p:extLst>
      <p:ext uri="{BB962C8B-B14F-4D97-AF65-F5344CB8AC3E}">
        <p14:creationId xmlns:p14="http://schemas.microsoft.com/office/powerpoint/2010/main" val="304032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E7ECF-C165-EBF2-F149-4BF257B4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05BE0-40CA-66CF-C9F7-E036B966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B24C613-162E-0A25-E95C-E121920CD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		= n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 x y ) 	= eval x `div` eval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2CCF5-5DE0-B161-5003-39D6ECAD6A84}"/>
              </a:ext>
            </a:extLst>
          </p:cNvPr>
          <p:cNvSpPr txBox="1"/>
          <p:nvPr/>
        </p:nvSpPr>
        <p:spPr>
          <a:xfrm>
            <a:off x="1117365" y="5581552"/>
            <a:ext cx="10766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 – how do we deal with division by zero (this would crash)</a:t>
            </a:r>
          </a:p>
        </p:txBody>
      </p:sp>
    </p:spTree>
    <p:extLst>
      <p:ext uri="{BB962C8B-B14F-4D97-AF65-F5344CB8AC3E}">
        <p14:creationId xmlns:p14="http://schemas.microsoft.com/office/powerpoint/2010/main" val="93783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680E-4622-CED4-CF7A-1F021EA7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refine program to deal with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1BD4-D0E2-E51D-E3EB-DF4F5B60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How to capture failure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3079F-FD54-A8E4-ADC5-EFDC75BB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3230E55-17F5-F925-5259-EF3958BD1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safeDiv :: Int -&gt; Int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safeDiv _ 0  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safeDiv n m   = Just (n `div` n) </a:t>
            </a:r>
          </a:p>
        </p:txBody>
      </p:sp>
    </p:spTree>
    <p:extLst>
      <p:ext uri="{BB962C8B-B14F-4D97-AF65-F5344CB8AC3E}">
        <p14:creationId xmlns:p14="http://schemas.microsoft.com/office/powerpoint/2010/main" val="241313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2E54-EB03-8A5E-2193-FB4A5B4F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rewrite eval to use safeDiv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CC8C1-13CE-DBB8-F71B-624715A8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5E29C75-0DC5-F846-CE02-997AAC710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2191275"/>
            <a:ext cx="8375991" cy="35939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case eval 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Just n -&gt; case eval y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Nothing -&gt;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Just m -&gt; safeDiv n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C77F1-58D7-E77D-2DD7-93641963373E}"/>
              </a:ext>
            </a:extLst>
          </p:cNvPr>
          <p:cNvSpPr txBox="1"/>
          <p:nvPr/>
        </p:nvSpPr>
        <p:spPr>
          <a:xfrm>
            <a:off x="2639683" y="6142317"/>
            <a:ext cx="5279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we simplify?</a:t>
            </a:r>
          </a:p>
        </p:txBody>
      </p:sp>
    </p:spTree>
    <p:extLst>
      <p:ext uri="{BB962C8B-B14F-4D97-AF65-F5344CB8AC3E}">
        <p14:creationId xmlns:p14="http://schemas.microsoft.com/office/powerpoint/2010/main" val="27792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D604-02C3-7E10-0EBC-9DC3AA33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Applicative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A4371-CCCB-D52E-6F30-9A60E36B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459A2A7-FF90-BCAE-3382-11CC2C036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824" y="3397235"/>
            <a:ext cx="10411825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pure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pure safeDiv &lt;*&gt; eval x &lt;*&gt; eval 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7185F-C3CA-F9B8-38D5-865B5A7BCB1F}"/>
              </a:ext>
            </a:extLst>
          </p:cNvPr>
          <p:cNvSpPr txBox="1"/>
          <p:nvPr/>
        </p:nvSpPr>
        <p:spPr>
          <a:xfrm>
            <a:off x="7410335" y="5920106"/>
            <a:ext cx="1280381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Maybe Int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490C0B-F4E1-2608-9CAE-1E9564C5E46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050526" y="5218375"/>
            <a:ext cx="0" cy="701731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26F7ED-A254-A86D-E244-FAE172814752}"/>
              </a:ext>
            </a:extLst>
          </p:cNvPr>
          <p:cNvSpPr txBox="1"/>
          <p:nvPr/>
        </p:nvSpPr>
        <p:spPr>
          <a:xfrm>
            <a:off x="9381618" y="5905238"/>
            <a:ext cx="1280381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Maybe 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BB2A32-4395-E9AD-A9C1-F21546BCC078}"/>
              </a:ext>
            </a:extLst>
          </p:cNvPr>
          <p:cNvCxnSpPr>
            <a:cxnSpLocks/>
          </p:cNvCxnSpPr>
          <p:nvPr/>
        </p:nvCxnSpPr>
        <p:spPr>
          <a:xfrm flipV="1">
            <a:off x="10001931" y="5218375"/>
            <a:ext cx="0" cy="701731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499C56-7C33-CB73-69DD-41CB8B97BD08}"/>
              </a:ext>
            </a:extLst>
          </p:cNvPr>
          <p:cNvSpPr txBox="1"/>
          <p:nvPr/>
        </p:nvSpPr>
        <p:spPr>
          <a:xfrm>
            <a:off x="2654709" y="5829814"/>
            <a:ext cx="3905932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Applicative needs Int -&gt; Int -&gt; 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E7DB1F-F559-4096-8DA2-9CDAEEF39FC5}"/>
              </a:ext>
            </a:extLst>
          </p:cNvPr>
          <p:cNvSpPr txBox="1"/>
          <p:nvPr/>
        </p:nvSpPr>
        <p:spPr>
          <a:xfrm>
            <a:off x="2464804" y="6289438"/>
            <a:ext cx="3905932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But we have Int -&gt; Int -&gt; Maybe Int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9C7E2E-152A-719D-E04D-B978DB62BB04}"/>
              </a:ext>
            </a:extLst>
          </p:cNvPr>
          <p:cNvCxnSpPr>
            <a:cxnSpLocks/>
          </p:cNvCxnSpPr>
          <p:nvPr/>
        </p:nvCxnSpPr>
        <p:spPr>
          <a:xfrm flipV="1">
            <a:off x="4978482" y="5218375"/>
            <a:ext cx="645941" cy="611439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83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13D1-AB5F-920C-C6CC-15DC3A47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Monads – observe a common pattern and abstracting it out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C2B5-FDD0-084C-3E28-0D42DD2E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1C1FA20-E731-D1FB-02E4-7318136F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55" y="2510839"/>
            <a:ext cx="8375991" cy="35939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case eval 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Just n -&gt; case eval y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Nothing -&gt;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Just m -&gt; safeDiv n m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399AE3D3-36B2-FC20-1A37-DAECAF7AA9B3}"/>
              </a:ext>
            </a:extLst>
          </p:cNvPr>
          <p:cNvSpPr/>
          <p:nvPr/>
        </p:nvSpPr>
        <p:spPr>
          <a:xfrm>
            <a:off x="5262113" y="3812875"/>
            <a:ext cx="1449238" cy="603850"/>
          </a:xfrm>
          <a:prstGeom prst="fram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EA23670-6E92-B637-CD81-C2AECE9F94F6}"/>
              </a:ext>
            </a:extLst>
          </p:cNvPr>
          <p:cNvSpPr/>
          <p:nvPr/>
        </p:nvSpPr>
        <p:spPr>
          <a:xfrm>
            <a:off x="7191555" y="4741652"/>
            <a:ext cx="1449238" cy="603850"/>
          </a:xfrm>
          <a:prstGeom prst="fram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00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E91C-67C0-E7C2-F48F-A9B83248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16B10-E3ED-9286-2AFD-2454386A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DA3267E-411A-B041-8610-EECC8224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54" y="3324713"/>
            <a:ext cx="8375991" cy="2264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case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Just x -&gt;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45C1EC-DAFA-082E-1B5C-7FD021BDD781}"/>
              </a:ext>
            </a:extLst>
          </p:cNvPr>
          <p:cNvSpPr/>
          <p:nvPr/>
        </p:nvSpPr>
        <p:spPr>
          <a:xfrm>
            <a:off x="2792083" y="3659544"/>
            <a:ext cx="1276709" cy="5693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33527A-2F54-E1B0-2C76-2C124BCEB029}"/>
              </a:ext>
            </a:extLst>
          </p:cNvPr>
          <p:cNvSpPr/>
          <p:nvPr/>
        </p:nvSpPr>
        <p:spPr>
          <a:xfrm>
            <a:off x="5121213" y="4636071"/>
            <a:ext cx="1276709" cy="56934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A9A158-E4C0-4FC6-F94B-079769940985}"/>
              </a:ext>
            </a:extLst>
          </p:cNvPr>
          <p:cNvSpPr/>
          <p:nvPr/>
        </p:nvSpPr>
        <p:spPr>
          <a:xfrm>
            <a:off x="3882736" y="2348186"/>
            <a:ext cx="1604514" cy="79733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(monadic) 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7C811-378B-32BE-C1D2-D45D5C2E1520}"/>
              </a:ext>
            </a:extLst>
          </p:cNvPr>
          <p:cNvSpPr/>
          <p:nvPr/>
        </p:nvSpPr>
        <p:spPr>
          <a:xfrm>
            <a:off x="6878127" y="5663460"/>
            <a:ext cx="1627518" cy="88262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 function on x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AE53CE-AE93-8D0A-F08A-C6D1942702CE}"/>
              </a:ext>
            </a:extLst>
          </p:cNvPr>
          <p:cNvCxnSpPr>
            <a:stCxn id="8" idx="2"/>
            <a:endCxn id="6" idx="0"/>
          </p:cNvCxnSpPr>
          <p:nvPr/>
        </p:nvCxnSpPr>
        <p:spPr>
          <a:xfrm flipH="1">
            <a:off x="3430438" y="3145524"/>
            <a:ext cx="1254555" cy="514020"/>
          </a:xfrm>
          <a:prstGeom prst="straightConnector1">
            <a:avLst/>
          </a:prstGeom>
          <a:ln w="444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36E1AA-A97D-0893-A8F4-24629C1C34B3}"/>
              </a:ext>
            </a:extLst>
          </p:cNvPr>
          <p:cNvCxnSpPr>
            <a:cxnSpLocks/>
          </p:cNvCxnSpPr>
          <p:nvPr/>
        </p:nvCxnSpPr>
        <p:spPr>
          <a:xfrm flipH="1" flipV="1">
            <a:off x="5759568" y="5115335"/>
            <a:ext cx="1932318" cy="548125"/>
          </a:xfrm>
          <a:prstGeom prst="straightConnector1">
            <a:avLst/>
          </a:prstGeom>
          <a:ln w="444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66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6A2D-78BD-2472-70C0-52A4F73B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2BF9-D2EA-D5C3-442F-1928F695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C7BBA-5A79-D23C-49E3-E05BFD8E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F66E1E-1608-8404-7AE8-081484AA9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56" y="3175636"/>
            <a:ext cx="6153968" cy="2264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case mx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Just x -&gt;  f x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53372-C4BD-0308-91BB-FAC6F245F200}"/>
              </a:ext>
            </a:extLst>
          </p:cNvPr>
          <p:cNvSpPr txBox="1"/>
          <p:nvPr/>
        </p:nvSpPr>
        <p:spPr>
          <a:xfrm>
            <a:off x="7211683" y="5848709"/>
            <a:ext cx="2264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turn this into a definition.</a:t>
            </a:r>
          </a:p>
        </p:txBody>
      </p:sp>
    </p:spTree>
    <p:extLst>
      <p:ext uri="{BB962C8B-B14F-4D97-AF65-F5344CB8AC3E}">
        <p14:creationId xmlns:p14="http://schemas.microsoft.com/office/powerpoint/2010/main" val="3162599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E367-ED78-47A2-68A9-E9C8CF04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E5E9-44ED-3598-2234-BB5A7F0C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7E9A3-B75F-DC81-A6FD-3EFEAF87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89A88EF-484B-6252-8475-828E7795F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34" y="2338334"/>
            <a:ext cx="2513618" cy="735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200" dirty="0">
                <a:latin typeface="Lucida Sans Typewriter" charset="0"/>
              </a:rPr>
              <a:t>case mx of </a:t>
            </a:r>
          </a:p>
          <a:p>
            <a:pPr>
              <a:lnSpc>
                <a:spcPct val="120000"/>
              </a:lnSpc>
              <a:defRPr/>
            </a:pPr>
            <a:r>
              <a:rPr lang="en-US" sz="1200" dirty="0">
                <a:latin typeface="Lucida Sans Typewriter" charset="0"/>
              </a:rPr>
              <a:t>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1200" dirty="0">
                <a:latin typeface="Lucida Sans Typewriter" charset="0"/>
              </a:rPr>
              <a:t>	Just x -&gt;  f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F1DCB-C416-C40F-D5A2-C19796A1175F}"/>
              </a:ext>
            </a:extLst>
          </p:cNvPr>
          <p:cNvSpPr txBox="1"/>
          <p:nvPr/>
        </p:nvSpPr>
        <p:spPr>
          <a:xfrm>
            <a:off x="495693" y="3784529"/>
            <a:ext cx="2264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turn this into a definition.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F9CA887-4ED3-BD40-63F4-1030A3A98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489" y="2463242"/>
            <a:ext cx="6153968" cy="22643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mx &gt;&gt;= f = case mx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Just x -&gt;  f x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AB1BCB5-A689-25F5-F3BB-672970E4F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28" y="5170778"/>
            <a:ext cx="8483099" cy="137794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“into”     “bind”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(&gt;&gt;=) :: Maybe a -&gt; (a-&gt; Maybe b) -&gt; Maybe b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3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AC943F2C-5A0E-6AC4-8203-B4898B404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sz="3600" b="1"/>
              <a:t>&gt;&gt;=</a:t>
            </a:r>
            <a:endParaRPr lang="en-US" altLang="en-US" sz="3600" b="1"/>
          </a:p>
        </p:txBody>
      </p:sp>
      <p:sp>
        <p:nvSpPr>
          <p:cNvPr id="7170" name="Slide Number Placeholder 1">
            <a:extLst>
              <a:ext uri="{FF2B5EF4-FFF2-40B4-BE49-F238E27FC236}">
                <a16:creationId xmlns:a16="http://schemas.microsoft.com/office/drawing/2014/main" id="{0608DCFA-09E2-2BB7-9D74-A9C1F164FB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E47C76-2410-5542-82B1-EEA64A49EA89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E101CA77-0D67-C400-63F4-DF7EB24F8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2295525"/>
            <a:ext cx="54737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3D38-FB1D-6753-8924-DEBED0C8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evaluation function using &gt;&gt;=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7209F-6AE9-B5BE-3079-F9746FB7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A2E6DF5-ADDC-8B45-F285-283DF37AA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111336"/>
            <a:ext cx="7302304" cy="2707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	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eval x &gt;&gt;= (\n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eval y &gt;&gt;= (\m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safeDiv n m)		)	</a:t>
            </a:r>
          </a:p>
        </p:txBody>
      </p:sp>
    </p:spTree>
    <p:extLst>
      <p:ext uri="{BB962C8B-B14F-4D97-AF65-F5344CB8AC3E}">
        <p14:creationId xmlns:p14="http://schemas.microsoft.com/office/powerpoint/2010/main" val="1897039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9F0E-119B-F0E6-788D-A4277CD3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E674-4FA9-6C34-638C-B9492B4C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2F2E1-3009-73C3-B113-BCB52A0E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DE61051-8FC1-D772-90D2-362EA0BC8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56" y="2510839"/>
            <a:ext cx="4006331" cy="359393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&gt;&gt;= \x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</a:t>
            </a:r>
            <a:r>
              <a:rPr lang="en-US" sz="2400" baseline="-25000" dirty="0">
                <a:latin typeface="Lucida Sans Typewriter" charset="0"/>
              </a:rPr>
              <a:t>2 </a:t>
            </a:r>
            <a:r>
              <a:rPr lang="en-US" sz="2400" dirty="0">
                <a:latin typeface="Lucida Sans Typewriter" charset="0"/>
              </a:rPr>
              <a:t>&gt;&gt;= \x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&gt;&gt;= \x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 err="1">
                <a:latin typeface="Lucida Sans Typewriter" charset="0"/>
              </a:rPr>
              <a:t>m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&gt;&gt;= \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f x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  .. 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81AEAF5-BD58-EAD5-AAD8-181D2A9E4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602" y="2510840"/>
            <a:ext cx="4006331" cy="359393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“This is what we use”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do x</a:t>
            </a:r>
            <a:r>
              <a:rPr lang="en-US" sz="2400" baseline="-25000" dirty="0">
                <a:latin typeface="Lucida Sans Typewriter" charset="0"/>
              </a:rPr>
              <a:t>1 </a:t>
            </a:r>
            <a:r>
              <a:rPr lang="en-US" sz="2400" dirty="0">
                <a:latin typeface="Lucida Sans Typewriter" charset="0"/>
              </a:rPr>
              <a:t> &lt;- m</a:t>
            </a:r>
            <a:r>
              <a:rPr lang="en-US" sz="2400" baseline="-25000" dirty="0">
                <a:latin typeface="Lucida Sans Typewriter" charset="0"/>
              </a:rPr>
              <a:t>1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 &lt;- m</a:t>
            </a:r>
            <a:r>
              <a:rPr lang="en-US" sz="2400" baseline="-25000" dirty="0">
                <a:latin typeface="Lucida Sans Typewriter" charset="0"/>
              </a:rPr>
              <a:t>2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x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 &lt;- m</a:t>
            </a:r>
            <a:r>
              <a:rPr lang="en-US" sz="2400" baseline="-25000" dirty="0">
                <a:latin typeface="Lucida Sans Typewriter" charset="0"/>
              </a:rPr>
              <a:t>3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 &lt;- </a:t>
            </a:r>
            <a:r>
              <a:rPr lang="en-US" sz="2400" dirty="0" err="1">
                <a:latin typeface="Lucida Sans Typewriter" charset="0"/>
              </a:rPr>
              <a:t>m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f x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x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.. 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3D9E18-B563-4CF6-7A2F-CD0673B49E45}"/>
              </a:ext>
            </a:extLst>
          </p:cNvPr>
          <p:cNvSpPr/>
          <p:nvPr/>
        </p:nvSpPr>
        <p:spPr>
          <a:xfrm>
            <a:off x="4391187" y="3921071"/>
            <a:ext cx="2128415" cy="4649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CC5F0-4BFB-1F95-C90A-3900F54EB21B}"/>
              </a:ext>
            </a:extLst>
          </p:cNvPr>
          <p:cNvSpPr txBox="1"/>
          <p:nvPr/>
        </p:nvSpPr>
        <p:spPr>
          <a:xfrm>
            <a:off x="4618494" y="3551739"/>
            <a:ext cx="232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Syntactic sugar</a:t>
            </a:r>
          </a:p>
        </p:txBody>
      </p:sp>
    </p:spTree>
    <p:extLst>
      <p:ext uri="{BB962C8B-B14F-4D97-AF65-F5344CB8AC3E}">
        <p14:creationId xmlns:p14="http://schemas.microsoft.com/office/powerpoint/2010/main" val="241560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428FA-0B3F-6D67-435E-11EA3662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2244-0605-5203-8924-C04B25F1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evaluation function using do (final version)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E34A6-5F5A-5A09-E657-CFD46337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1754B3B-4555-BFFA-DD1E-67CFDE6D1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111336"/>
            <a:ext cx="7302304" cy="270753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	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do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  n &lt;- eval x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  m &lt;- eval y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  safeDiv n m	</a:t>
            </a:r>
          </a:p>
        </p:txBody>
      </p:sp>
    </p:spTree>
    <p:extLst>
      <p:ext uri="{BB962C8B-B14F-4D97-AF65-F5344CB8AC3E}">
        <p14:creationId xmlns:p14="http://schemas.microsoft.com/office/powerpoint/2010/main" val="214124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now we are ready for Monads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554534"/>
            <a:ext cx="7302304" cy="182114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class Applicative m =&gt; Monad m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(&gt;&gt;= ) :: m a -&gt; (a -&gt; mb) -&gt; mb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return :: a -&gt; ma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return = pure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1591427" y="2217296"/>
            <a:ext cx="90091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Now that we have bind (&gt;&gt;=) we now can define this kind of applicative that has bind. 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B802-BE8C-1D86-5C55-2373D74A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Maybe – already have Functor, Applicative </a:t>
            </a:r>
            <a:r>
              <a:rPr lang="en-US" dirty="0" err="1"/>
              <a:t>defs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9B549-00D1-EF07-9A21-0E6ABD30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A138AD6-6EF3-983D-6780-5B03A4696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3607" y="8570068"/>
            <a:ext cx="10724827" cy="22643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Maybe a -&gt; (a -&gt; Maybe b ) -&gt; Maybe 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x &gt;&gt;= f = </a:t>
            </a:r>
            <a:r>
              <a:rPr lang="en-US" sz="2400" dirty="0" err="1">
                <a:latin typeface="Lucida Sans Typewriter" charset="0"/>
              </a:rPr>
              <a:t>fx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B5E2671-34E1-E54E-0F09-52A962E7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67" y="2374138"/>
            <a:ext cx="10724827" cy="4037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data </a:t>
            </a:r>
            <a:r>
              <a:rPr lang="en-US" sz="2400" dirty="0" err="1">
                <a:latin typeface="Lucida Sans Typewriter" charset="0"/>
              </a:rPr>
              <a:t>myMaybe</a:t>
            </a:r>
            <a:r>
              <a:rPr lang="en-US" sz="2400" dirty="0">
                <a:latin typeface="Lucida Sans Typewriter" charset="0"/>
              </a:rPr>
              <a:t> a = Just a | Nothing deriving (Eq, Show)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Functor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f (Just x) = Just (f x)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_ _       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Applicative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pure = Just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Nothing &lt;*&gt; _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(Just f ) &lt;*&gt; something. = fmap f something</a:t>
            </a:r>
          </a:p>
        </p:txBody>
      </p:sp>
    </p:spTree>
    <p:extLst>
      <p:ext uri="{BB962C8B-B14F-4D97-AF65-F5344CB8AC3E}">
        <p14:creationId xmlns:p14="http://schemas.microsoft.com/office/powerpoint/2010/main" val="229236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EED1-714D-6B82-91CC-EEF880AA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DAB2-2B43-F1CC-8D8C-73A3B9BE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Maybe – already have Functor, Applicative </a:t>
            </a:r>
            <a:r>
              <a:rPr lang="en-US" dirty="0" err="1"/>
              <a:t>defs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48ABE-1F84-BB8C-C76E-D9C7F127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67836C5-1A6E-1AFB-0E46-8A9066F01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3607" y="8570068"/>
            <a:ext cx="10724827" cy="22643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Maybe a -&gt; (a -&gt; Maybe b ) -&gt; Maybe 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x &gt;&gt;= f = </a:t>
            </a:r>
            <a:r>
              <a:rPr lang="en-US" sz="2400" dirty="0" err="1">
                <a:latin typeface="Lucida Sans Typewriter" charset="0"/>
              </a:rPr>
              <a:t>fx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308381-280A-7394-963C-6C4E34B60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67" y="2374138"/>
            <a:ext cx="10724827" cy="4037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data </a:t>
            </a:r>
            <a:r>
              <a:rPr lang="en-US" sz="2400" dirty="0" err="1">
                <a:latin typeface="Lucida Sans Typewriter" charset="0"/>
              </a:rPr>
              <a:t>myMaybe</a:t>
            </a:r>
            <a:r>
              <a:rPr lang="en-US" sz="2400" dirty="0">
                <a:latin typeface="Lucida Sans Typewriter" charset="0"/>
              </a:rPr>
              <a:t> a = Just a | Nothing deriving (Eq, Show)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Functor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f (Just x) = Just (f x)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_ _       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Applicative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pure = Just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Nothing &lt;*&gt; _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(Just f ) &lt;*&gt; something. = fmap f something</a:t>
            </a:r>
          </a:p>
        </p:txBody>
      </p:sp>
    </p:spTree>
    <p:extLst>
      <p:ext uri="{BB962C8B-B14F-4D97-AF65-F5344CB8AC3E}">
        <p14:creationId xmlns:p14="http://schemas.microsoft.com/office/powerpoint/2010/main" val="127593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F251-F339-DE0A-E35B-8F9AFC4D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5829-A0EC-FB40-FFFE-CDA1AE3A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Maybe – already have Functor, Applicative </a:t>
            </a:r>
            <a:r>
              <a:rPr lang="en-US" dirty="0" err="1"/>
              <a:t>defs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DA06-7DCD-52F6-8D96-FDF75215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1F4F32A-52AD-9C9C-032C-BB009C22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3607" y="8570068"/>
            <a:ext cx="10724827" cy="22643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Maybe a -&gt; (a -&gt; Maybe b ) -&gt; Maybe 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x &gt;&gt;= f = </a:t>
            </a:r>
            <a:r>
              <a:rPr lang="en-US" sz="2400" dirty="0" err="1">
                <a:latin typeface="Lucida Sans Typewriter" charset="0"/>
              </a:rPr>
              <a:t>fx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A1CEF-CD10-B2F2-A9C1-9F390F35E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9754"/>
            <a:ext cx="3461766" cy="1347282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B4C3752E-E7ED-65D5-F8A8-9D4F7114D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34" y="3727986"/>
            <a:ext cx="11027573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-- (&gt;&gt;=) :: Maybe a -&gt; (a -&gt; Maybe b) -&gt; Maybe b)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Nothing &gt;&gt;= f 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f  &gt;&gt;= f = f x</a:t>
            </a:r>
          </a:p>
        </p:txBody>
      </p:sp>
    </p:spTree>
    <p:extLst>
      <p:ext uri="{BB962C8B-B14F-4D97-AF65-F5344CB8AC3E}">
        <p14:creationId xmlns:p14="http://schemas.microsoft.com/office/powerpoint/2010/main" val="104732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40DC-F0B8-6AA2-93D4-48FD569C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0B78-A408-BF62-7BEA-2A4BF0C0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Lists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87975-A7CB-4933-3569-0CE3A756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D81EA38-E5E6-B12E-C3D2-669AF853C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2518430"/>
            <a:ext cx="8462074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[]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[a] -&gt; (a -&gt; [b] ) -&gt; [b]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 = Nothing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 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&gt;&gt;= f  = </a:t>
            </a:r>
            <a:r>
              <a:rPr lang="en-US" sz="2400" dirty="0" err="1">
                <a:latin typeface="Lucida Sans Typewriter" charset="0"/>
              </a:rPr>
              <a:t>concat</a:t>
            </a:r>
            <a:r>
              <a:rPr lang="en-US" sz="2400" dirty="0">
                <a:latin typeface="Lucida Sans Typewriter" charset="0"/>
              </a:rPr>
              <a:t>  map f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BDEA162-AB97-2A25-921F-EDCC2D5EE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4778599"/>
            <a:ext cx="8462074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[]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[a] -&gt; (a -&gt; [b] ) -&gt; [b]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 = Nothing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 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&gt;&gt;= f  = [y| x &lt;-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, y &lt;- f x]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15F66-AE54-14CD-8735-7E7888607CA0}"/>
              </a:ext>
            </a:extLst>
          </p:cNvPr>
          <p:cNvSpPr txBox="1"/>
          <p:nvPr/>
        </p:nvSpPr>
        <p:spPr>
          <a:xfrm>
            <a:off x="325464" y="5315919"/>
            <a:ext cx="72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44119-CF4A-6EE2-47C7-79DE514F095F}"/>
              </a:ext>
            </a:extLst>
          </p:cNvPr>
          <p:cNvSpPr txBox="1"/>
          <p:nvPr/>
        </p:nvSpPr>
        <p:spPr>
          <a:xfrm>
            <a:off x="10580914" y="3801291"/>
            <a:ext cx="1123406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Note the </a:t>
            </a:r>
            <a:r>
              <a:rPr lang="en-US" dirty="0" err="1"/>
              <a:t>concat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38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9FE6-75FD-CCF3-02B5-A4D4CE54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7B74E-A78E-62D5-44A2-79704161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using List monads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530F5-F5F5-FA2D-8CD9-CFD0876E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57F2C98-62C8-A0BD-BD94-E2F489A37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2961628"/>
            <a:ext cx="8462074" cy="9347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pairs [1,2] [3,4]   -- cartesian product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[(1,3), 1,4), (2,3), 2,4)]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E9E4A24-65E6-D516-6A91-E30650EF5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4778599"/>
            <a:ext cx="8462074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pairs :: [a] -&gt; [b] -&gt; [(</a:t>
            </a:r>
            <a:r>
              <a:rPr lang="en-US" sz="2400" dirty="0" err="1">
                <a:latin typeface="Lucida Sans Typewriter" charset="0"/>
              </a:rPr>
              <a:t>a,b</a:t>
            </a:r>
            <a:r>
              <a:rPr lang="en-US" sz="2400" dirty="0">
                <a:latin typeface="Lucida Sans Typewriter" charset="0"/>
              </a:rPr>
              <a:t>)]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pairs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ys</a:t>
            </a:r>
            <a:r>
              <a:rPr lang="en-US" sz="2400" dirty="0">
                <a:latin typeface="Lucida Sans Typewriter" charset="0"/>
              </a:rPr>
              <a:t> = do x &lt;-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              y &lt;- </a:t>
            </a:r>
            <a:r>
              <a:rPr lang="en-US" sz="2400" dirty="0" err="1">
                <a:latin typeface="Lucida Sans Typewriter" charset="0"/>
              </a:rPr>
              <a:t>ys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              return 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313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>
            <a:extLst>
              <a:ext uri="{FF2B5EF4-FFF2-40B4-BE49-F238E27FC236}">
                <a16:creationId xmlns:a16="http://schemas.microsoft.com/office/drawing/2014/main" id="{477DA4E0-CF69-3D0C-A685-4A33ED512C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7289D0-9A1B-8542-BD22-9C0B457470F7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DE06BBD-789F-B879-E031-6D1BBD739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83" y="75548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kumimoji="1" lang="en-US" altLang="en-US" sz="3600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Monads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8A506EBA-7C6F-BC47-490B-48B42F33D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683" y="2545142"/>
            <a:ext cx="1133792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1085850" indent="-3429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A monad is defined by 3 things: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A type constructor 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A function return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An operator (&gt;&gt;=) – read as “bind”</a:t>
            </a:r>
          </a:p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Originally, these were introduced for IO, but they can be much more powerful.</a:t>
            </a:r>
          </a:p>
          <a:p>
            <a:pPr eaLnBrk="1" hangingPunct="1"/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/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/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The function and operator are methods of the Monad </a:t>
            </a:r>
            <a:r>
              <a:rPr lang="en-US" altLang="en-US" sz="2400" dirty="0" err="1">
                <a:latin typeface="Tahoma" panose="020B0604030504040204" pitchFamily="34" charset="0"/>
                <a:ea typeface="MS PGothic" panose="020B0600070205080204" pitchFamily="34" charset="-128"/>
              </a:rPr>
              <a:t>typeclass</a:t>
            </a: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 and have types themselves, which are required to obey 3 laws (more later):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DB5DFAF-3F62-1658-87C9-3D6C998AD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763" y="4603569"/>
            <a:ext cx="6887320" cy="9347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return :: a -&gt; m a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(&gt;&gt;=) :: m a -&gt; (a -&gt; m b) -&gt; m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1">
            <a:extLst>
              <a:ext uri="{FF2B5EF4-FFF2-40B4-BE49-F238E27FC236}">
                <a16:creationId xmlns:a16="http://schemas.microsoft.com/office/drawing/2014/main" id="{F9B7DCD1-F77B-FDDA-21DE-8768402C1F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EB4B68-9CEF-C841-A605-4708AC6299DC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E26EC5D-A7D0-9C76-CF10-015C7BDBC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95567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kumimoji="1" lang="en-US" altLang="en-US" sz="3600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Monad laws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67BC2E0A-A1C2-37AC-834F-F6792AD2E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2405063"/>
            <a:ext cx="8389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  <a:ea typeface="MS PGothic" panose="020B0600070205080204" pitchFamily="34" charset="-128"/>
              </a:rPr>
              <a:t>Monads are required to obey 3 laws:</a:t>
            </a:r>
          </a:p>
        </p:txBody>
      </p:sp>
      <p:sp>
        <p:nvSpPr>
          <p:cNvPr id="35844" name="Text Box 3">
            <a:extLst>
              <a:ext uri="{FF2B5EF4-FFF2-40B4-BE49-F238E27FC236}">
                <a16:creationId xmlns:a16="http://schemas.microsoft.com/office/drawing/2014/main" id="{F8D93593-B998-2E2E-A845-5D534BD01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4657725"/>
            <a:ext cx="1036637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Monads originally come from a branch of mathematics called Category Theory. </a:t>
            </a:r>
          </a:p>
          <a:p>
            <a:pPr eaLnBrk="1" hangingPunct="1"/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(Fortunately, it is entirely unnecessary to understand category theory in order to understand and use monads in Haskell.)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1A39A07C-414C-5569-02FD-6A1B73486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373" y="3104361"/>
            <a:ext cx="11313254" cy="137794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  &gt;&gt;= return  	= m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return x &gt;&gt;= f 	= f x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(m &gt;&gt;= f) &gt;&gt;= g 	= m &gt;&gt;= (\x -&gt; x &gt;&gt;= g) -- associativity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1">
            <a:extLst>
              <a:ext uri="{FF2B5EF4-FFF2-40B4-BE49-F238E27FC236}">
                <a16:creationId xmlns:a16="http://schemas.microsoft.com/office/drawing/2014/main" id="{AD49C7CF-C7AA-E5B2-5FBC-F2CB3803B3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75451CC-F1D8-F14B-8FF6-EF91B1CAFD0C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2D13598-F734-3E91-41C9-612B6193F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75247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kumimoji="1" lang="en-US" altLang="en-US" sz="3600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Monadic Programming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15F75A07-01E7-A730-4709-B3765D9F1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241" y="2274773"/>
            <a:ext cx="1061729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1200150" indent="-4572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Having designed a Monad (i.e. ‘I need a Monad with this shape’), we define an instance of a Monad. 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This involves essentially writing what 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lvl="1" eaLnBrk="1" hangingPunct="1">
              <a:buFont typeface="Arial Black" panose="020B0604020202020204" pitchFamily="34" charset="0"/>
              <a:buAutoNum type="arabicPeriod"/>
            </a:pPr>
            <a:r>
              <a:rPr lang="en-US" altLang="en-US" sz="2000" dirty="0">
                <a:latin typeface="Tahoma" panose="020B0604030504040204" pitchFamily="34" charset="0"/>
                <a:ea typeface="MS PGothic" panose="020B0600070205080204" pitchFamily="34" charset="-128"/>
              </a:rPr>
              <a:t>return   and</a:t>
            </a:r>
          </a:p>
          <a:p>
            <a:pPr lvl="1" eaLnBrk="1" hangingPunct="1">
              <a:buFont typeface="Arial Black" panose="020B0604020202020204" pitchFamily="34" charset="0"/>
              <a:buAutoNum type="arabicPeriod"/>
            </a:pPr>
            <a:r>
              <a:rPr lang="en-US" altLang="en-US" sz="2000" dirty="0">
                <a:latin typeface="Tahoma" panose="020B0604030504040204" pitchFamily="34" charset="0"/>
                <a:ea typeface="MS PGothic" panose="020B0600070205080204" pitchFamily="34" charset="-128"/>
              </a:rPr>
              <a:t>&gt;&gt;=     mean in this Monad</a:t>
            </a:r>
          </a:p>
          <a:p>
            <a:pPr eaLnBrk="1" hangingPunct="1">
              <a:buFont typeface="Arial Black" panose="020B0604020202020204" pitchFamily="34" charset="0"/>
              <a:buAutoNum type="arabicPeriod"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(this assumes you have written instances for Functor and Applicative)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DC5F-0D87-6850-C4F6-985CEF6F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monadic programming – 1 </a:t>
            </a:r>
            <a:r>
              <a:rPr lang="en-US"/>
              <a:t>- fmap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E264D-2B9B-9494-3CB3-728920EC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9CCF17A-D931-E03E-0C36-AF79B687B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926" y="2393631"/>
            <a:ext cx="7736439" cy="9347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--- fmap using IO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fmap :: (a -&gt; b) -&gt;  IO a -&gt; IO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66D11-A38A-1B39-D606-7457394002A3}"/>
              </a:ext>
            </a:extLst>
          </p:cNvPr>
          <p:cNvSpPr txBox="1"/>
          <p:nvPr/>
        </p:nvSpPr>
        <p:spPr>
          <a:xfrm>
            <a:off x="268942" y="3529627"/>
            <a:ext cx="1130755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Given </a:t>
            </a:r>
          </a:p>
          <a:p>
            <a:pPr marL="493713" lvl="1" indent="-36513">
              <a:buFont typeface="Arial" panose="020B0604020202020204" pitchFamily="34" charset="0"/>
              <a:buChar char="•"/>
            </a:pPr>
            <a:r>
              <a:rPr lang="en-US" sz="2800" dirty="0"/>
              <a:t>	a function  </a:t>
            </a:r>
            <a:r>
              <a:rPr lang="en-US" sz="2800" b="1" dirty="0">
                <a:ea typeface="Courier New" pitchFamily="34" charset="-122"/>
                <a:cs typeface="Courier New" pitchFamily="34" charset="-120"/>
              </a:rPr>
              <a:t>f :: a -&gt; b</a:t>
            </a:r>
            <a:r>
              <a:rPr lang="en-US" sz="2800" dirty="0"/>
              <a:t>  and </a:t>
            </a:r>
          </a:p>
          <a:p>
            <a:pPr marL="898525" lvl="1" indent="-441325">
              <a:buFont typeface="Arial" panose="020B0604020202020204" pitchFamily="34" charset="0"/>
              <a:buChar char="•"/>
            </a:pPr>
            <a:r>
              <a:rPr lang="en-US" sz="2800" dirty="0"/>
              <a:t>	an IO interaction  </a:t>
            </a:r>
            <a:r>
              <a:rPr lang="en-US" sz="2800" b="1" dirty="0">
                <a:ea typeface="Courier New" pitchFamily="34" charset="-122"/>
                <a:cs typeface="Courier New" pitchFamily="34" charset="-120"/>
              </a:rPr>
              <a:t>m :: IO a</a:t>
            </a:r>
            <a:r>
              <a:rPr lang="en-US" sz="2800" dirty="0"/>
              <a:t>,</a:t>
            </a:r>
          </a:p>
          <a:p>
            <a:endParaRPr lang="en-US" sz="2800" dirty="0"/>
          </a:p>
          <a:p>
            <a:r>
              <a:rPr lang="en-US" sz="2800" dirty="0"/>
              <a:t>run the interaction, </a:t>
            </a:r>
          </a:p>
          <a:p>
            <a:pPr marL="898525" lvl="1" indent="-458788">
              <a:buFont typeface="Arial" panose="020B0604020202020204" pitchFamily="34" charset="0"/>
              <a:buChar char="•"/>
            </a:pPr>
            <a:r>
              <a:rPr lang="en-US" sz="2800" dirty="0"/>
              <a:t>	then apply </a:t>
            </a:r>
            <a:r>
              <a:rPr lang="en-US" sz="2800" b="1" dirty="0"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2800" dirty="0"/>
              <a:t> to the result, and </a:t>
            </a:r>
          </a:p>
          <a:p>
            <a:pPr marL="898525" lvl="1" indent="-458788">
              <a:buFont typeface="Arial" panose="020B0604020202020204" pitchFamily="34" charset="0"/>
              <a:buChar char="•"/>
            </a:pPr>
            <a:r>
              <a:rPr lang="en-US" sz="2800" dirty="0"/>
              <a:t>	wrap it back in IO.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7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178B2-6827-A146-1F15-14D218C3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0E36-8693-ED53-FC9E-60CBD198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193E9-35F6-533D-280D-91F7CABD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19F4DE6-E771-8BF2-4C1D-C718E9A70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421" y="2436124"/>
            <a:ext cx="6712608" cy="4915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fmap :: (a -&gt; b) -&gt;  IO a -&gt; IO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EB078-9E89-6D7F-2A24-93F2325ACEA1}"/>
              </a:ext>
            </a:extLst>
          </p:cNvPr>
          <p:cNvSpPr txBox="1"/>
          <p:nvPr/>
        </p:nvSpPr>
        <p:spPr>
          <a:xfrm>
            <a:off x="268942" y="3529627"/>
            <a:ext cx="630002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Given </a:t>
            </a:r>
          </a:p>
          <a:p>
            <a:pPr marL="493713" lvl="1" indent="-36513">
              <a:buFont typeface="Arial" panose="020B0604020202020204" pitchFamily="34" charset="0"/>
              <a:buChar char="•"/>
            </a:pPr>
            <a:r>
              <a:rPr lang="en-US" sz="2800" dirty="0"/>
              <a:t>	a function  </a:t>
            </a:r>
            <a:r>
              <a:rPr lang="en-US" sz="2800" b="1" dirty="0">
                <a:ea typeface="Courier New" pitchFamily="34" charset="-122"/>
                <a:cs typeface="Courier New" pitchFamily="34" charset="-120"/>
              </a:rPr>
              <a:t>f :: a -&gt; b</a:t>
            </a:r>
            <a:r>
              <a:rPr lang="en-US" sz="2800" dirty="0"/>
              <a:t>  and </a:t>
            </a:r>
          </a:p>
          <a:p>
            <a:pPr marL="898525" lvl="1" indent="-441325">
              <a:buFont typeface="Arial" panose="020B0604020202020204" pitchFamily="34" charset="0"/>
              <a:buChar char="•"/>
            </a:pPr>
            <a:r>
              <a:rPr lang="en-US" sz="2800" dirty="0"/>
              <a:t>	an IO interaction  </a:t>
            </a:r>
            <a:r>
              <a:rPr lang="en-US" sz="2800" b="1" dirty="0">
                <a:ea typeface="Courier New" pitchFamily="34" charset="-122"/>
                <a:cs typeface="Courier New" pitchFamily="34" charset="-120"/>
              </a:rPr>
              <a:t>m :: IO a</a:t>
            </a:r>
            <a:r>
              <a:rPr lang="en-US" sz="2800" dirty="0"/>
              <a:t>,</a:t>
            </a:r>
          </a:p>
          <a:p>
            <a:r>
              <a:rPr lang="en-US" sz="2800" dirty="0"/>
              <a:t>We want to: </a:t>
            </a:r>
          </a:p>
          <a:p>
            <a:pPr marL="895350" indent="-457200">
              <a:buFont typeface="Arial" panose="020B0604020202020204" pitchFamily="34" charset="0"/>
              <a:buChar char="•"/>
            </a:pPr>
            <a:r>
              <a:rPr lang="en-US" sz="2800" dirty="0"/>
              <a:t> run the interaction, </a:t>
            </a:r>
          </a:p>
          <a:p>
            <a:pPr marL="895350" indent="-457200">
              <a:buFont typeface="Arial" panose="020B0604020202020204" pitchFamily="34" charset="0"/>
              <a:buChar char="•"/>
            </a:pPr>
            <a:r>
              <a:rPr lang="en-US" sz="2800" dirty="0"/>
              <a:t>	then apply </a:t>
            </a:r>
            <a:r>
              <a:rPr lang="en-US" sz="2800" b="1" dirty="0"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2800" dirty="0"/>
              <a:t> to the result, and </a:t>
            </a:r>
          </a:p>
          <a:p>
            <a:pPr marL="89535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	wrap it back in IO.</a:t>
            </a:r>
          </a:p>
          <a:p>
            <a:endParaRPr lang="en-US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14E5E02-14C9-EE30-70EA-572D91141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868" y="4103414"/>
            <a:ext cx="4176801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fmap f m =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 do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x &lt;- m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return(f x) </a:t>
            </a:r>
          </a:p>
        </p:txBody>
      </p:sp>
    </p:spTree>
    <p:extLst>
      <p:ext uri="{BB962C8B-B14F-4D97-AF65-F5344CB8AC3E}">
        <p14:creationId xmlns:p14="http://schemas.microsoft.com/office/powerpoint/2010/main" val="103149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8AB2-CD6C-5A74-A571-F9AEDA72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5BF0-5D1A-0180-65CD-DE7E62EA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753228"/>
            <a:ext cx="10122732" cy="1080938"/>
          </a:xfrm>
        </p:spPr>
        <p:txBody>
          <a:bodyPr/>
          <a:lstStyle/>
          <a:p>
            <a:r>
              <a:rPr lang="en-US" dirty="0"/>
              <a:t>Examples of monadic programming– 2 – using recursion - repeat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BAF3D-23A2-66B1-EEDF-AB62293C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20B0880-9EE8-7CAE-8F95-F67C24C40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694" y="2043661"/>
            <a:ext cx="7736439" cy="15696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repeat :: IO Bool -&gt; IO () -&gt; IO ()</a:t>
            </a:r>
          </a:p>
          <a:p>
            <a:r>
              <a:rPr lang="en-US" sz="2400" dirty="0">
                <a:latin typeface="Lucida Sans Typewriter" charset="0"/>
              </a:rPr>
              <a:t>So that </a:t>
            </a:r>
          </a:p>
          <a:p>
            <a:r>
              <a:rPr lang="en-US" sz="2400" dirty="0">
                <a:latin typeface="Lucida Sans Typewriter" charset="0"/>
              </a:rPr>
              <a:t>  </a:t>
            </a:r>
            <a:r>
              <a:rPr lang="en-US" sz="2400" b="1" dirty="0">
                <a:solidFill>
                  <a:schemeClr val="bg1"/>
                </a:solidFill>
                <a:latin typeface="Lucida Sans Typewriter" charset="0"/>
              </a:rPr>
              <a:t>repeat test </a:t>
            </a:r>
            <a:r>
              <a:rPr lang="en-US" sz="2400" b="1" dirty="0" err="1">
                <a:solidFill>
                  <a:schemeClr val="bg1"/>
                </a:solidFill>
                <a:latin typeface="Lucida Sans Typewriter" charset="0"/>
              </a:rPr>
              <a:t>oper</a:t>
            </a:r>
            <a:r>
              <a:rPr lang="en-US" sz="2400" b="1" dirty="0">
                <a:solidFill>
                  <a:schemeClr val="bg1"/>
                </a:solidFill>
                <a:latin typeface="Lucida Sans Typewriter" charset="0"/>
              </a:rPr>
              <a:t> </a:t>
            </a:r>
          </a:p>
          <a:p>
            <a:r>
              <a:rPr lang="en-US" sz="2400" dirty="0"/>
              <a:t>keeps running </a:t>
            </a:r>
            <a:r>
              <a:rPr lang="en-US" sz="2400" dirty="0" err="1">
                <a:solidFill>
                  <a:schemeClr val="bg1"/>
                </a:solidFill>
              </a:rPr>
              <a:t>oper</a:t>
            </a:r>
            <a:r>
              <a:rPr lang="en-US" sz="2400" dirty="0"/>
              <a:t> until </a:t>
            </a:r>
            <a:r>
              <a:rPr lang="en-US" sz="2400" dirty="0">
                <a:solidFill>
                  <a:schemeClr val="bg1"/>
                </a:solidFill>
              </a:rPr>
              <a:t>test</a:t>
            </a:r>
            <a:r>
              <a:rPr lang="en-US" sz="2400" dirty="0"/>
              <a:t> returns True.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3CE8338-DFA3-D3C8-92AA-9347A16FFF61}"/>
              </a:ext>
            </a:extLst>
          </p:cNvPr>
          <p:cNvSpPr/>
          <p:nvPr/>
        </p:nvSpPr>
        <p:spPr>
          <a:xfrm>
            <a:off x="171451" y="4882324"/>
            <a:ext cx="3943349" cy="180422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ea typeface="Courier New" pitchFamily="34" charset="-122"/>
                <a:cs typeface="Courier New" pitchFamily="34" charset="-120"/>
              </a:rPr>
              <a:t>do </a:t>
            </a:r>
            <a:r>
              <a:rPr lang="en-US" sz="2800" dirty="0"/>
              <a:t>res</a:t>
            </a:r>
            <a:r>
              <a:rPr lang="en-US" sz="2800" dirty="0">
                <a:ea typeface="Courier New" pitchFamily="34" charset="-122"/>
                <a:cs typeface="Courier New" pitchFamily="34" charset="-120"/>
              </a:rPr>
              <a:t> &lt;- test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ea typeface="Courier New" pitchFamily="34" charset="-122"/>
                <a:cs typeface="Courier New" pitchFamily="34" charset="-120"/>
              </a:rPr>
              <a:t>   if res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ea typeface="Courier New" pitchFamily="34" charset="-122"/>
                <a:cs typeface="Courier New" pitchFamily="34" charset="-120"/>
              </a:rPr>
              <a:t>     then return ()   </a:t>
            </a:r>
          </a:p>
          <a:p>
            <a:pPr marL="0" indent="0">
              <a:buNone/>
            </a:pPr>
            <a:r>
              <a:rPr lang="en-US" sz="2800" dirty="0">
                <a:ea typeface="Courier New" pitchFamily="34" charset="-122"/>
                <a:cs typeface="Courier New" pitchFamily="34" charset="-120"/>
              </a:rPr>
              <a:t>-- done, stop here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B2730F-0D0E-554D-64EC-2FBA499A411C}"/>
              </a:ext>
            </a:extLst>
          </p:cNvPr>
          <p:cNvSpPr/>
          <p:nvPr/>
        </p:nvSpPr>
        <p:spPr>
          <a:xfrm>
            <a:off x="6166268" y="5310949"/>
            <a:ext cx="5854282" cy="13756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t"/>
          <a:lstStyle/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800" dirty="0">
                <a:cs typeface="Courier New" pitchFamily="34" charset="-120"/>
              </a:rPr>
              <a:t>else do m       -- run the operation</a:t>
            </a:r>
          </a:p>
          <a:p>
            <a:r>
              <a:rPr lang="en-US" sz="2800" dirty="0">
                <a:cs typeface="Courier New" pitchFamily="34" charset="-120"/>
              </a:rPr>
              <a:t>    repeat test </a:t>
            </a:r>
            <a:r>
              <a:rPr lang="en-US" sz="2800" dirty="0" err="1">
                <a:cs typeface="Courier New" pitchFamily="34" charset="-120"/>
              </a:rPr>
              <a:t>oper</a:t>
            </a:r>
            <a:r>
              <a:rPr lang="en-US" sz="2800" dirty="0">
                <a:cs typeface="Courier New" pitchFamily="34" charset="-120"/>
              </a:rPr>
              <a:t>  -- recurse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D6600-2C5D-A1D3-715A-B5F5A74E60E0}"/>
              </a:ext>
            </a:extLst>
          </p:cNvPr>
          <p:cNvSpPr txBox="1"/>
          <p:nvPr/>
        </p:nvSpPr>
        <p:spPr>
          <a:xfrm>
            <a:off x="5145881" y="3822816"/>
            <a:ext cx="1712119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Recursion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DF537-FE97-CE25-F779-047E6912D864}"/>
              </a:ext>
            </a:extLst>
          </p:cNvPr>
          <p:cNvSpPr txBox="1"/>
          <p:nvPr/>
        </p:nvSpPr>
        <p:spPr>
          <a:xfrm>
            <a:off x="747712" y="4269326"/>
            <a:ext cx="1900237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Base Case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FC624-2382-0CD1-4CEC-FC6C602487CF}"/>
              </a:ext>
            </a:extLst>
          </p:cNvPr>
          <p:cNvSpPr txBox="1"/>
          <p:nvPr/>
        </p:nvSpPr>
        <p:spPr>
          <a:xfrm>
            <a:off x="8124714" y="4566883"/>
            <a:ext cx="2604743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Recursive case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E98996-FE58-B5EB-0FCA-963353200BF1}"/>
              </a:ext>
            </a:extLst>
          </p:cNvPr>
          <p:cNvCxnSpPr>
            <a:stCxn id="10" idx="2"/>
          </p:cNvCxnSpPr>
          <p:nvPr/>
        </p:nvCxnSpPr>
        <p:spPr>
          <a:xfrm flipH="1">
            <a:off x="2143125" y="4346036"/>
            <a:ext cx="3858816" cy="536288"/>
          </a:xfrm>
          <a:prstGeom prst="straightConnector1">
            <a:avLst/>
          </a:prstGeom>
          <a:ln w="603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AA6B56-6AB5-29EB-11C9-9A627464B15B}"/>
              </a:ext>
            </a:extLst>
          </p:cNvPr>
          <p:cNvCxnSpPr>
            <a:cxnSpLocks/>
          </p:cNvCxnSpPr>
          <p:nvPr/>
        </p:nvCxnSpPr>
        <p:spPr>
          <a:xfrm>
            <a:off x="6001941" y="4346036"/>
            <a:ext cx="3284934" cy="964913"/>
          </a:xfrm>
          <a:prstGeom prst="straightConnector1">
            <a:avLst/>
          </a:prstGeom>
          <a:ln w="603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3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EC8C4-0520-FD23-F219-E06FEFD1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3E9D-31D2-52B2-77BE-D6D25DC3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1" y="753228"/>
            <a:ext cx="10122732" cy="1080938"/>
          </a:xfrm>
        </p:spPr>
        <p:txBody>
          <a:bodyPr/>
          <a:lstStyle/>
          <a:p>
            <a:r>
              <a:rPr lang="en-US" dirty="0"/>
              <a:t>Examples of monadic programming– 2 – using recursion - repeat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2C4E9-2E0E-88B6-3F81-BF69061B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56D6791-FA92-2F2F-F464-84B6A34E7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4598" y="2416088"/>
            <a:ext cx="9836802" cy="35394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2800" dirty="0"/>
              <a:t>Full solution:</a:t>
            </a:r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repeat :: IO Bool -&gt; IO () -&gt; IO ()</a:t>
            </a:r>
            <a:endParaRPr lang="en-US" sz="2800" dirty="0"/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repeat test </a:t>
            </a:r>
            <a:r>
              <a:rPr lang="en-US" sz="2800" dirty="0" err="1">
                <a:ea typeface="Courier New" pitchFamily="34" charset="-122"/>
                <a:cs typeface="Courier New" pitchFamily="34" charset="-120"/>
              </a:rPr>
              <a:t>oper</a:t>
            </a:r>
            <a:endParaRPr lang="en-US" sz="2800" dirty="0"/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  = do res &lt;- test</a:t>
            </a:r>
            <a:endParaRPr lang="en-US" sz="2800" dirty="0"/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       if res</a:t>
            </a:r>
            <a:endParaRPr lang="en-US" sz="2800" dirty="0"/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         then return ()</a:t>
            </a:r>
            <a:endParaRPr lang="en-US" sz="2800" dirty="0"/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         else do </a:t>
            </a:r>
            <a:r>
              <a:rPr lang="en-US" sz="2800" dirty="0" err="1">
                <a:ea typeface="Courier New" pitchFamily="34" charset="-122"/>
                <a:cs typeface="Courier New" pitchFamily="34" charset="-120"/>
              </a:rPr>
              <a:t>oper</a:t>
            </a:r>
            <a:endParaRPr lang="en-US" sz="2800" dirty="0"/>
          </a:p>
          <a:p>
            <a:r>
              <a:rPr lang="en-US" sz="2800" dirty="0">
                <a:ea typeface="Courier New" pitchFamily="34" charset="-122"/>
                <a:cs typeface="Courier New" pitchFamily="34" charset="-120"/>
              </a:rPr>
              <a:t>                 repeat test m</a:t>
            </a:r>
            <a:r>
              <a:rPr lang="en-US" sz="2800" dirty="0"/>
              <a:t> 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D809E5E-96A0-B696-F246-0E84EC45EBFF}"/>
              </a:ext>
            </a:extLst>
          </p:cNvPr>
          <p:cNvSpPr/>
          <p:nvPr/>
        </p:nvSpPr>
        <p:spPr>
          <a:xfrm>
            <a:off x="6282999" y="377432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66"/>
                </a:solidFill>
              </a:rPr>
              <a:t>run test, bind result to res</a:t>
            </a:r>
            <a:endParaRPr lang="en-US" sz="13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264DBF9-9321-0DB7-81D6-5F7F9D75C317}"/>
              </a:ext>
            </a:extLst>
          </p:cNvPr>
          <p:cNvSpPr/>
          <p:nvPr/>
        </p:nvSpPr>
        <p:spPr>
          <a:xfrm>
            <a:off x="4699417" y="3980063"/>
            <a:ext cx="1188720" cy="0"/>
          </a:xfrm>
          <a:prstGeom prst="line">
            <a:avLst/>
          </a:prstGeom>
          <a:noFill/>
          <a:ln w="12700">
            <a:solidFill>
              <a:srgbClr val="44446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666B8EB-B5A5-B73A-3AAE-44A6115259B6}"/>
              </a:ext>
            </a:extLst>
          </p:cNvPr>
          <p:cNvSpPr/>
          <p:nvPr/>
        </p:nvSpPr>
        <p:spPr>
          <a:xfrm>
            <a:off x="6282999" y="4185803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9E6B"/>
                </a:solidFill>
              </a:rPr>
              <a:t>if True → done (base case)</a:t>
            </a:r>
            <a:endParaRPr lang="en-US" sz="13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0B76FCDC-D104-4A92-844D-CE553601B4F1}"/>
              </a:ext>
            </a:extLst>
          </p:cNvPr>
          <p:cNvSpPr/>
          <p:nvPr/>
        </p:nvSpPr>
        <p:spPr>
          <a:xfrm>
            <a:off x="4699417" y="4391543"/>
            <a:ext cx="1188720" cy="0"/>
          </a:xfrm>
          <a:prstGeom prst="line">
            <a:avLst/>
          </a:prstGeom>
          <a:noFill/>
          <a:ln w="12700">
            <a:solidFill>
              <a:srgbClr val="2D9E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8B55E4F3-C384-588B-5DE7-E9E69E70FD87}"/>
              </a:ext>
            </a:extLst>
          </p:cNvPr>
          <p:cNvSpPr/>
          <p:nvPr/>
        </p:nvSpPr>
        <p:spPr>
          <a:xfrm>
            <a:off x="4699417" y="4856348"/>
            <a:ext cx="118872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FA4D48B0-8389-2ECB-4198-15C7600668E3}"/>
              </a:ext>
            </a:extLst>
          </p:cNvPr>
          <p:cNvSpPr/>
          <p:nvPr/>
        </p:nvSpPr>
        <p:spPr>
          <a:xfrm>
            <a:off x="6282999" y="46591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if False → run oper then recurse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7698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41" descr="Text&#10;&#10;Description automatically generated">
            <a:extLst>
              <a:ext uri="{FF2B5EF4-FFF2-40B4-BE49-F238E27FC236}">
                <a16:creationId xmlns:a16="http://schemas.microsoft.com/office/drawing/2014/main" id="{C38DF21B-48E0-D995-FABC-D664CAF5B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2619375"/>
            <a:ext cx="488632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5" name="Slide Number Placeholder 2">
            <a:extLst>
              <a:ext uri="{FF2B5EF4-FFF2-40B4-BE49-F238E27FC236}">
                <a16:creationId xmlns:a16="http://schemas.microsoft.com/office/drawing/2014/main" id="{BBEFAE55-C2B9-0DDE-134C-1334B5E9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3500" y="5657850"/>
            <a:ext cx="457200" cy="228600"/>
          </a:xfrm>
        </p:spPr>
        <p:txBody>
          <a:bodyPr>
            <a:normAutofit fontScale="92500" lnSpcReduction="10000"/>
          </a:bodyPr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450"/>
              </a:spcAft>
              <a:defRPr/>
            </a:pPr>
            <a:fld id="{767B95DA-5B68-A24F-8D70-692F2511C1C6}" type="slidenum">
              <a:rPr lang="en-US" sz="1050"/>
              <a:pPr>
                <a:spcAft>
                  <a:spcPts val="450"/>
                </a:spcAft>
                <a:defRPr/>
              </a:pPr>
              <a:t>30</a:t>
            </a:fld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19438</TotalTime>
  <Words>1830</Words>
  <Application>Microsoft Macintosh PowerPoint</Application>
  <PresentationFormat>Widescreen</PresentationFormat>
  <Paragraphs>296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Arial Black</vt:lpstr>
      <vt:lpstr>Calibri</vt:lpstr>
      <vt:lpstr>Courier New</vt:lpstr>
      <vt:lpstr>Lucida Sans Typewriter</vt:lpstr>
      <vt:lpstr>Monotype Sorts</vt:lpstr>
      <vt:lpstr>Tahoma</vt:lpstr>
      <vt:lpstr>Times New Roman</vt:lpstr>
      <vt:lpstr>Trebuchet MS</vt:lpstr>
      <vt:lpstr>Wingdings</vt:lpstr>
      <vt:lpstr>Berlin</vt:lpstr>
      <vt:lpstr>PowerPoint Presentation</vt:lpstr>
      <vt:lpstr>Recap on functor </vt:lpstr>
      <vt:lpstr>Recap on Applicative</vt:lpstr>
      <vt:lpstr>Examples</vt:lpstr>
      <vt:lpstr>Introduce Monads – Example a simple evaluator</vt:lpstr>
      <vt:lpstr>PowerPoint Presentation</vt:lpstr>
      <vt:lpstr>Need to refine program to deal with this</vt:lpstr>
      <vt:lpstr>Now, rewrite eval to use safeDiv</vt:lpstr>
      <vt:lpstr>Problem with Applicative</vt:lpstr>
      <vt:lpstr>Monads – observe a common pattern and abstracting it out </vt:lpstr>
      <vt:lpstr>See pattern</vt:lpstr>
      <vt:lpstr>See pattern</vt:lpstr>
      <vt:lpstr>See pattern</vt:lpstr>
      <vt:lpstr>&gt;&gt;=</vt:lpstr>
      <vt:lpstr>New evaluation function using &gt;&gt;= </vt:lpstr>
      <vt:lpstr>General pattern</vt:lpstr>
      <vt:lpstr>New evaluation function using do (final version) </vt:lpstr>
      <vt:lpstr>So now we are ready for Monads</vt:lpstr>
      <vt:lpstr>Example  - Maybe – already have Functor, Applicative defs </vt:lpstr>
      <vt:lpstr>Example  - Maybe – already have Functor, Applicative defs </vt:lpstr>
      <vt:lpstr>Example  - Maybe – already have Functor, Applicative defs </vt:lpstr>
      <vt:lpstr>Example  - Lists </vt:lpstr>
      <vt:lpstr>Example  - using List monads</vt:lpstr>
      <vt:lpstr>PowerPoint Presentation</vt:lpstr>
      <vt:lpstr>PowerPoint Presentation</vt:lpstr>
      <vt:lpstr>PowerPoint Presentation</vt:lpstr>
      <vt:lpstr>Examples of monadic programming – 1 - fmap</vt:lpstr>
      <vt:lpstr>fmap</vt:lpstr>
      <vt:lpstr>Examples of monadic programming– 2 – using recursion - repeat</vt:lpstr>
      <vt:lpstr>Examples of monadic programming– 2 – using recursion - repeat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291</cp:revision>
  <cp:lastPrinted>2020-04-23T09:46:28Z</cp:lastPrinted>
  <dcterms:created xsi:type="dcterms:W3CDTF">2000-11-20T11:40:19Z</dcterms:created>
  <dcterms:modified xsi:type="dcterms:W3CDTF">2026-04-01T13:52:22Z</dcterms:modified>
</cp:coreProperties>
</file>