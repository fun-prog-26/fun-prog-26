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trictFirstAndLastChars="0" saveSubsetFonts="1" autoCompressPictures="0">
  <p:sldMasterIdLst>
    <p:sldMasterId id="2147484299" r:id="rId1"/>
  </p:sldMasterIdLst>
  <p:notesMasterIdLst>
    <p:notesMasterId r:id="rId35"/>
  </p:notesMasterIdLst>
  <p:handoutMasterIdLst>
    <p:handoutMasterId r:id="rId36"/>
  </p:handoutMasterIdLst>
  <p:sldIdLst>
    <p:sldId id="328" r:id="rId2"/>
    <p:sldId id="390" r:id="rId3"/>
    <p:sldId id="391" r:id="rId4"/>
    <p:sldId id="389" r:id="rId5"/>
    <p:sldId id="392" r:id="rId6"/>
    <p:sldId id="393" r:id="rId7"/>
    <p:sldId id="394" r:id="rId8"/>
    <p:sldId id="395" r:id="rId9"/>
    <p:sldId id="396" r:id="rId10"/>
    <p:sldId id="397" r:id="rId11"/>
    <p:sldId id="398" r:id="rId12"/>
    <p:sldId id="399" r:id="rId13"/>
    <p:sldId id="400" r:id="rId14"/>
    <p:sldId id="375" r:id="rId15"/>
    <p:sldId id="401" r:id="rId16"/>
    <p:sldId id="402" r:id="rId17"/>
    <p:sldId id="403" r:id="rId18"/>
    <p:sldId id="404" r:id="rId19"/>
    <p:sldId id="405" r:id="rId20"/>
    <p:sldId id="408" r:id="rId21"/>
    <p:sldId id="409" r:id="rId22"/>
    <p:sldId id="406" r:id="rId23"/>
    <p:sldId id="407" r:id="rId24"/>
    <p:sldId id="372" r:id="rId25"/>
    <p:sldId id="384" r:id="rId26"/>
    <p:sldId id="383" r:id="rId27"/>
    <p:sldId id="410" r:id="rId28"/>
    <p:sldId id="411" r:id="rId29"/>
    <p:sldId id="412" r:id="rId30"/>
    <p:sldId id="413" r:id="rId31"/>
    <p:sldId id="414" r:id="rId32"/>
    <p:sldId id="415" r:id="rId33"/>
    <p:sldId id="343" r:id="rId34"/>
  </p:sldIdLst>
  <p:sldSz cx="12192000" cy="6858000"/>
  <p:notesSz cx="7089775" cy="1021873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218">
          <p15:clr>
            <a:srgbClr val="A4A3A4"/>
          </p15:clr>
        </p15:guide>
        <p15:guide id="2" pos="2233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prnWhat="handouts6" clrMode="bw" frameSlides="1"/>
  <p:showPr showNarration="1">
    <p:browse/>
    <p:sldAll/>
    <p:penClr>
      <a:schemeClr val="tx1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203"/>
    <p:restoredTop sz="91458"/>
  </p:normalViewPr>
  <p:slideViewPr>
    <p:cSldViewPr snapToGrid="0">
      <p:cViewPr varScale="1">
        <p:scale>
          <a:sx n="80" d="100"/>
          <a:sy n="80" d="100"/>
        </p:scale>
        <p:origin x="224" y="82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200" d="100"/>
        <a:sy n="200" d="100"/>
      </p:scale>
      <p:origin x="0" y="3360"/>
    </p:cViewPr>
  </p:sorterViewPr>
  <p:notesViewPr>
    <p:cSldViewPr snapToGrid="0">
      <p:cViewPr varScale="1">
        <p:scale>
          <a:sx n="52" d="100"/>
          <a:sy n="52" d="100"/>
        </p:scale>
        <p:origin x="-1866" y="-78"/>
      </p:cViewPr>
      <p:guideLst>
        <p:guide orient="horz" pos="3218"/>
        <p:guide pos="2233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Rectangle 2">
            <a:extLst>
              <a:ext uri="{FF2B5EF4-FFF2-40B4-BE49-F238E27FC236}">
                <a16:creationId xmlns:a16="http://schemas.microsoft.com/office/drawing/2014/main" id="{6069455A-69AD-B76C-28DD-EE2C04243FFB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1813" cy="51117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8902" tIns="49451" rIns="98902" bIns="49451" numCol="1" anchor="t" anchorCtr="0" compatLnSpc="1">
            <a:prstTxWarp prst="textNoShape">
              <a:avLst/>
            </a:prstTxWarp>
          </a:bodyPr>
          <a:lstStyle>
            <a:lvl1pPr defTabSz="989013" eaLnBrk="1" fontAlgn="auto" hangingPunct="1">
              <a:spcBef>
                <a:spcPts val="0"/>
              </a:spcBef>
              <a:spcAft>
                <a:spcPts val="0"/>
              </a:spcAft>
              <a:defRPr sz="1300">
                <a:latin typeface="+mn-lt"/>
              </a:defRPr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66563" name="Rectangle 3">
            <a:extLst>
              <a:ext uri="{FF2B5EF4-FFF2-40B4-BE49-F238E27FC236}">
                <a16:creationId xmlns:a16="http://schemas.microsoft.com/office/drawing/2014/main" id="{6555D4FE-456F-CFAC-83E1-F30CE94396D7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017963" y="0"/>
            <a:ext cx="3071812" cy="51117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8902" tIns="49451" rIns="98902" bIns="49451" numCol="1" anchor="t" anchorCtr="0" compatLnSpc="1">
            <a:prstTxWarp prst="textNoShape">
              <a:avLst/>
            </a:prstTxWarp>
          </a:bodyPr>
          <a:lstStyle>
            <a:lvl1pPr algn="r" defTabSz="989013" eaLnBrk="1" fontAlgn="auto" hangingPunct="1">
              <a:spcBef>
                <a:spcPts val="0"/>
              </a:spcBef>
              <a:spcAft>
                <a:spcPts val="0"/>
              </a:spcAft>
              <a:defRPr sz="1300">
                <a:latin typeface="+mn-lt"/>
              </a:defRPr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66564" name="Rectangle 4">
            <a:extLst>
              <a:ext uri="{FF2B5EF4-FFF2-40B4-BE49-F238E27FC236}">
                <a16:creationId xmlns:a16="http://schemas.microsoft.com/office/drawing/2014/main" id="{A2E920E5-3493-7246-61D5-B0D72A61B82D}"/>
              </a:ext>
            </a:extLst>
          </p:cNvPr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707563"/>
            <a:ext cx="3071813" cy="51117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8902" tIns="49451" rIns="98902" bIns="49451" numCol="1" anchor="b" anchorCtr="0" compatLnSpc="1">
            <a:prstTxWarp prst="textNoShape">
              <a:avLst/>
            </a:prstTxWarp>
          </a:bodyPr>
          <a:lstStyle>
            <a:lvl1pPr defTabSz="989013" eaLnBrk="1" fontAlgn="auto" hangingPunct="1">
              <a:spcBef>
                <a:spcPts val="0"/>
              </a:spcBef>
              <a:spcAft>
                <a:spcPts val="0"/>
              </a:spcAft>
              <a:defRPr sz="1300">
                <a:latin typeface="+mn-lt"/>
              </a:defRPr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66565" name="Rectangle 5">
            <a:extLst>
              <a:ext uri="{FF2B5EF4-FFF2-40B4-BE49-F238E27FC236}">
                <a16:creationId xmlns:a16="http://schemas.microsoft.com/office/drawing/2014/main" id="{D776A930-9F5E-6A55-DDE9-F6B390F6399C}"/>
              </a:ext>
            </a:extLst>
          </p:cNvPr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017963" y="9707563"/>
            <a:ext cx="3071812" cy="51117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8902" tIns="49451" rIns="98902" bIns="49451" numCol="1" anchor="b" anchorCtr="0" compatLnSpc="1">
            <a:prstTxWarp prst="textNoShape">
              <a:avLst/>
            </a:prstTxWarp>
          </a:bodyPr>
          <a:lstStyle>
            <a:lvl1pPr algn="r" defTabSz="989013" eaLnBrk="1" fontAlgn="auto" hangingPunct="1">
              <a:spcBef>
                <a:spcPts val="0"/>
              </a:spcBef>
              <a:spcAft>
                <a:spcPts val="0"/>
              </a:spcAft>
              <a:defRPr sz="1300">
                <a:latin typeface="+mn-lt"/>
              </a:defRPr>
            </a:lvl1pPr>
          </a:lstStyle>
          <a:p>
            <a:pPr>
              <a:defRPr/>
            </a:pPr>
            <a:fld id="{F2FFC19B-7923-4441-BEA0-55B1C9DA8562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62" name="Rectangle 5122">
            <a:extLst>
              <a:ext uri="{FF2B5EF4-FFF2-40B4-BE49-F238E27FC236}">
                <a16:creationId xmlns:a16="http://schemas.microsoft.com/office/drawing/2014/main" id="{E0B6F059-25B1-6680-DF78-4A8CCAED1C2C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48000" cy="5334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92163" name="Rectangle 5123">
            <a:extLst>
              <a:ext uri="{FF2B5EF4-FFF2-40B4-BE49-F238E27FC236}">
                <a16:creationId xmlns:a16="http://schemas.microsoft.com/office/drawing/2014/main" id="{3D0109B6-DE04-CB8F-D6D3-892800F80A33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4038600" y="0"/>
            <a:ext cx="3048000" cy="5334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1028" name="Rectangle 5124">
            <a:extLst>
              <a:ext uri="{FF2B5EF4-FFF2-40B4-BE49-F238E27FC236}">
                <a16:creationId xmlns:a16="http://schemas.microsoft.com/office/drawing/2014/main" id="{BC61C446-29EC-1074-9F7D-48BA6447C283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95263" y="762000"/>
            <a:ext cx="6772275" cy="3810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92165" name="Rectangle 5125">
            <a:extLst>
              <a:ext uri="{FF2B5EF4-FFF2-40B4-BE49-F238E27FC236}">
                <a16:creationId xmlns:a16="http://schemas.microsoft.com/office/drawing/2014/main" id="{416C0B38-15BF-368B-9EC4-4787E815AC05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876800"/>
            <a:ext cx="5257800" cy="45720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2166" name="Rectangle 5126">
            <a:extLst>
              <a:ext uri="{FF2B5EF4-FFF2-40B4-BE49-F238E27FC236}">
                <a16:creationId xmlns:a16="http://schemas.microsoft.com/office/drawing/2014/main" id="{0A3A53CE-7B07-8E12-3801-0BD8B92B5EAE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677400"/>
            <a:ext cx="3048000" cy="5334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92167" name="Rectangle 5127">
            <a:extLst>
              <a:ext uri="{FF2B5EF4-FFF2-40B4-BE49-F238E27FC236}">
                <a16:creationId xmlns:a16="http://schemas.microsoft.com/office/drawing/2014/main" id="{6B1CB3EA-FDA4-1416-AB0A-F4FC42CB3386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038600" y="9677400"/>
            <a:ext cx="3048000" cy="5334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6F33ACC7-9D5C-574E-8DDC-58E3330852A9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charset="0"/>
        <a:ea typeface="MS PGothic" panose="020B0600070205080204" pitchFamily="34" charset="-128"/>
        <a:cs typeface="ＭＳ Ｐゴシック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charset="0"/>
        <a:ea typeface="MS PGothic" panose="020B0600070205080204" pitchFamily="34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charset="0"/>
        <a:ea typeface="MS PGothic" panose="020B0600070205080204" pitchFamily="34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charset="0"/>
        <a:ea typeface="MS PGothic" panose="020B0600070205080204" pitchFamily="34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charset="0"/>
        <a:ea typeface="MS PGothic" panose="020B0600070205080204" pitchFamily="34" charset="-128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4242851"/>
            <a:ext cx="8968084" cy="275942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1717" y="4243845"/>
            <a:ext cx="3077108" cy="2769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2590078"/>
            <a:ext cx="8968085" cy="1660332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9111716" y="2590078"/>
            <a:ext cx="3077109" cy="1660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0322" y="2733709"/>
            <a:ext cx="8144135" cy="1373070"/>
          </a:xfrm>
        </p:spPr>
        <p:txBody>
          <a:bodyPr anchor="b">
            <a:noAutofit/>
          </a:bodyPr>
          <a:lstStyle>
            <a:lvl1pPr algn="r">
              <a:defRPr sz="405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0322" y="4394041"/>
            <a:ext cx="8144135" cy="1117687"/>
          </a:xfrm>
        </p:spPr>
        <p:txBody>
          <a:bodyPr>
            <a:normAutofit/>
          </a:bodyPr>
          <a:lstStyle>
            <a:lvl1pPr marL="0" indent="0" algn="r">
              <a:buNone/>
              <a:defRPr sz="15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E68A071C-7CBF-B943-827E-D1D0B8851AF7}" type="datetimeFigureOut">
              <a:rPr lang="en-US" smtClean="0"/>
              <a:pPr>
                <a:defRPr/>
              </a:pPr>
              <a:t>4/2/26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255347" y="2750337"/>
            <a:ext cx="1171888" cy="1356442"/>
          </a:xfrm>
        </p:spPr>
        <p:txBody>
          <a:bodyPr/>
          <a:lstStyle/>
          <a:p>
            <a:pPr>
              <a:defRPr/>
            </a:pPr>
            <a:fld id="{7C93F7A7-7A99-9242-974D-539ACDFACED8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088471363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97E0F32E-CE95-D14E-B25C-9491886AFABB}" type="datetimeFigureOut">
              <a:rPr lang="en-US" smtClean="0"/>
              <a:pPr>
                <a:defRPr/>
              </a:pPr>
              <a:t>4/2/26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6672207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4086907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4" y="4087901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-2" y="2726267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10585826" y="2726267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2869895"/>
            <a:ext cx="9613860" cy="1090788"/>
          </a:xfrm>
        </p:spPr>
        <p:txBody>
          <a:bodyPr anchor="ctr">
            <a:normAutofit/>
          </a:bodyPr>
          <a:lstStyle>
            <a:lvl1pPr algn="r">
              <a:defRPr sz="27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2" y="4232173"/>
            <a:ext cx="9613860" cy="1704017"/>
          </a:xfrm>
        </p:spPr>
        <p:txBody>
          <a:bodyPr>
            <a:normAutofit/>
          </a:bodyPr>
          <a:lstStyle>
            <a:lvl1pPr marL="0" indent="0" algn="r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BA149F6E-8873-C44F-9276-853DCBB4D783}" type="datetimeFigureOut">
              <a:rPr lang="en-US" smtClean="0"/>
              <a:pPr>
                <a:defRPr/>
              </a:pPr>
              <a:t>4/2/26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729457" y="2869897"/>
            <a:ext cx="1154151" cy="1090789"/>
          </a:xfrm>
        </p:spPr>
        <p:txBody>
          <a:bodyPr/>
          <a:lstStyle/>
          <a:p>
            <a:pPr>
              <a:defRPr/>
            </a:pPr>
            <a:fld id="{AA1F8F63-00AE-7D4A-B052-3984B6AC7628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1920029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0321" y="2336873"/>
            <a:ext cx="4698359" cy="359931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594123" y="2336873"/>
            <a:ext cx="4700059" cy="359931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3DD6653C-32A1-844D-A2AE-380E002D4E2F}" type="datetimeFigureOut">
              <a:rPr lang="en-US" smtClean="0"/>
              <a:pPr>
                <a:defRPr/>
              </a:pPr>
              <a:t>4/2/26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86F6D41-C9B0-554D-B7E9-E2C029A90562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2420053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11" name="Picture 10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0" y="753231"/>
            <a:ext cx="9613863" cy="1080937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06351" y="2336875"/>
            <a:ext cx="4472327" cy="69313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0323" y="3030010"/>
            <a:ext cx="4698355" cy="290617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820155" y="2336873"/>
            <a:ext cx="4474028" cy="692076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594124" y="3030010"/>
            <a:ext cx="4700059" cy="290617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E7E61581-1128-4A42-BA79-051D619ABDD9}" type="datetimeFigureOut">
              <a:rPr lang="en-US" smtClean="0"/>
              <a:pPr>
                <a:defRPr/>
              </a:pPr>
              <a:t>4/2/26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1F950C-F7C8-1D46-A400-662EB31D51AD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5566506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7" name="Picture 6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8F86CA17-14A4-DC42-B657-4EF08608BEFF}" type="datetimeFigureOut">
              <a:rPr lang="en-US" smtClean="0"/>
              <a:pPr>
                <a:defRPr/>
              </a:pPr>
              <a:t>4/2/26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567B2D9-430A-AF4D-A757-E186D446FA54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1587025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HD-ShadowShor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D362963A-5387-7540-9489-6871CA4D412B}" type="datetimeFigureOut">
              <a:rPr lang="en-US" smtClean="0"/>
              <a:pPr>
                <a:defRPr/>
              </a:pPr>
              <a:t>4/2/26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BBB1747-987C-FF4E-B016-100C52060B68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8235910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1" y="753227"/>
            <a:ext cx="9613859" cy="1080940"/>
          </a:xfrm>
        </p:spPr>
        <p:txBody>
          <a:bodyPr anchor="ctr">
            <a:normAutofit/>
          </a:bodyPr>
          <a:lstStyle>
            <a:lvl1pPr>
              <a:defRPr sz="27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85847" y="2336875"/>
            <a:ext cx="5608336" cy="359931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2336874"/>
            <a:ext cx="3790079" cy="3599317"/>
          </a:xfrm>
        </p:spPr>
        <p:txBody>
          <a:bodyPr anchor="ctr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C188FDAE-9199-2B45-BB21-116A06E10FB3}" type="datetimeFigureOut">
              <a:rPr lang="en-US" smtClean="0"/>
              <a:pPr>
                <a:defRPr/>
              </a:pPr>
              <a:t>4/2/26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7B13CEE-E17D-4D46-874A-5272FDCA6974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0053839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3" y="753228"/>
            <a:ext cx="9613857" cy="1080938"/>
          </a:xfrm>
        </p:spPr>
        <p:txBody>
          <a:bodyPr anchor="ctr">
            <a:normAutofit/>
          </a:bodyPr>
          <a:lstStyle>
            <a:lvl1pPr>
              <a:defRPr sz="27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868334" y="2336874"/>
            <a:ext cx="5425849" cy="3599312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3" y="2336875"/>
            <a:ext cx="3876256" cy="3599315"/>
          </a:xfrm>
        </p:spPr>
        <p:txBody>
          <a:bodyPr anchor="ctr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2E8C32F1-3472-E54D-B618-B5C4D1C39A8B}" type="datetimeFigureOut">
              <a:rPr lang="en-US" smtClean="0"/>
              <a:pPr>
                <a:defRPr/>
              </a:pPr>
              <a:t>4/2/26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987934F-D9EA-B141-9D34-23BC1FD77CF3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7039736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0585828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4711618"/>
            <a:ext cx="9613859" cy="453051"/>
          </a:xfrm>
        </p:spPr>
        <p:txBody>
          <a:bodyPr anchor="b">
            <a:normAutofit/>
          </a:bodyPr>
          <a:lstStyle>
            <a:lvl1pPr>
              <a:defRPr sz="18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0322" y="609599"/>
            <a:ext cx="9613859" cy="3589575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19" y="5169585"/>
            <a:ext cx="9613863" cy="62297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85C472CA-22E3-2448-91C6-6784558DB7A0}" type="datetimeFigureOut">
              <a:rPr lang="en-US" smtClean="0"/>
              <a:pPr>
                <a:defRPr/>
              </a:pPr>
              <a:t>4/2/26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7" y="4711311"/>
            <a:ext cx="1154151" cy="1090789"/>
          </a:xfrm>
        </p:spPr>
        <p:txBody>
          <a:bodyPr/>
          <a:lstStyle/>
          <a:p>
            <a:pPr>
              <a:defRPr/>
            </a:pPr>
            <a:fld id="{AE11955C-9B72-E94B-8CA0-D4F41106C1FF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565897509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0585828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1" y="609597"/>
            <a:ext cx="9613859" cy="3592750"/>
          </a:xfrm>
        </p:spPr>
        <p:txBody>
          <a:bodyPr anchor="ctr"/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7"/>
            <a:ext cx="9613859" cy="1090789"/>
          </a:xfrm>
        </p:spPr>
        <p:txBody>
          <a:bodyPr anchor="ctr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67BFD4E8-9082-0F47-8521-EF9ED98DD025}" type="datetimeFigureOut">
              <a:rPr lang="en-US" smtClean="0"/>
              <a:pPr>
                <a:defRPr/>
              </a:pPr>
              <a:t>4/2/26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7" y="4711617"/>
            <a:ext cx="1154151" cy="1090789"/>
          </a:xfrm>
        </p:spPr>
        <p:txBody>
          <a:bodyPr/>
          <a:lstStyle/>
          <a:p>
            <a:pPr>
              <a:defRPr/>
            </a:pPr>
            <a:fld id="{7C4A921C-B5A2-1F4C-8772-F111FB15DE70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478275960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5928628"/>
            <a:ext cx="10437812" cy="321164"/>
          </a:xfrm>
          <a:prstGeom prst="rect">
            <a:avLst/>
          </a:prstGeom>
        </p:spPr>
      </p:pic>
      <p:pic>
        <p:nvPicPr>
          <p:cNvPr id="13" name="Picture 12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5929622"/>
            <a:ext cx="1602997" cy="14427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 bwMode="ltGray">
          <a:xfrm>
            <a:off x="1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5" name="Rectangle 14"/>
          <p:cNvSpPr/>
          <p:nvPr/>
        </p:nvSpPr>
        <p:spPr>
          <a:xfrm>
            <a:off x="10585828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27856" y="609598"/>
            <a:ext cx="8718877" cy="3036061"/>
          </a:xfrm>
        </p:spPr>
        <p:txBody>
          <a:bodyPr anchor="ctr"/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402289" y="3653379"/>
            <a:ext cx="8156579" cy="548968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7"/>
            <a:ext cx="9613859" cy="1090789"/>
          </a:xfrm>
        </p:spPr>
        <p:txBody>
          <a:bodyPr anchor="ctr">
            <a:normAutofit/>
          </a:bodyPr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7C7F31DC-ECD2-144E-96D8-5AB4F1097806}" type="datetimeFigureOut">
              <a:rPr lang="en-US" smtClean="0"/>
              <a:pPr>
                <a:defRPr/>
              </a:pPr>
              <a:t>4/2/26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7" y="4709927"/>
            <a:ext cx="1154151" cy="1090789"/>
          </a:xfrm>
        </p:spPr>
        <p:txBody>
          <a:bodyPr/>
          <a:lstStyle/>
          <a:p>
            <a:pPr>
              <a:defRPr/>
            </a:pPr>
            <a:fld id="{CA96A414-17EE-BB48-B3F4-37966D9CE347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6" name="TextBox 15"/>
          <p:cNvSpPr txBox="1"/>
          <p:nvPr/>
        </p:nvSpPr>
        <p:spPr>
          <a:xfrm>
            <a:off x="583572" y="748116"/>
            <a:ext cx="609600" cy="584776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54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62809" y="3033524"/>
            <a:ext cx="609600" cy="584776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54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849388365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5928628"/>
            <a:ext cx="10437812" cy="321164"/>
          </a:xfrm>
          <a:prstGeom prst="rect">
            <a:avLst/>
          </a:prstGeom>
        </p:spPr>
      </p:pic>
      <p:pic>
        <p:nvPicPr>
          <p:cNvPr id="10" name="Picture 9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5929622"/>
            <a:ext cx="1602997" cy="14427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 bwMode="ltGray">
          <a:xfrm>
            <a:off x="1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10585828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19" y="4711617"/>
            <a:ext cx="9613863" cy="588535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0" y="5300151"/>
            <a:ext cx="9613863" cy="502255"/>
          </a:xfrm>
        </p:spPr>
        <p:txBody>
          <a:bodyPr anchor="t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C153997D-001A-A446-947E-495DE3DE6F4E}" type="datetimeFigureOut">
              <a:rPr lang="en-US" smtClean="0"/>
              <a:pPr>
                <a:defRPr/>
              </a:pPr>
              <a:t>4/2/26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7" y="4709927"/>
            <a:ext cx="1154151" cy="1090789"/>
          </a:xfrm>
        </p:spPr>
        <p:txBody>
          <a:bodyPr/>
          <a:lstStyle/>
          <a:p>
            <a:pPr>
              <a:defRPr/>
            </a:pPr>
            <a:fld id="{4BED40C1-AFAE-0848-85B2-ED9EC050C7B0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313818262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14" name="Picture 13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7" name="Rectangle 16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669221" y="753228"/>
            <a:ext cx="9624960" cy="108093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60945" y="2336873"/>
            <a:ext cx="3070035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0322" y="3022674"/>
            <a:ext cx="3049703" cy="2913513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56025" y="233687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945471" y="3022674"/>
            <a:ext cx="3063240" cy="2913513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24157" y="2336873"/>
            <a:ext cx="3070025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224157" y="3022674"/>
            <a:ext cx="3070025" cy="2913513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5A49C8FC-B45D-944F-AF3F-0E3D4FD5BE6F}" type="datetimeFigureOut">
              <a:rPr lang="en-US" smtClean="0"/>
              <a:pPr>
                <a:defRPr/>
              </a:pPr>
              <a:t>4/2/26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0D60A0A-6515-734B-A7C2-4048036F9568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44045284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680322" y="753228"/>
            <a:ext cx="9613860" cy="108093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0320" y="4297503"/>
            <a:ext cx="3049705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0320" y="2336873"/>
            <a:ext cx="30497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0320" y="4873765"/>
            <a:ext cx="3049705" cy="106242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45471" y="429750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945471" y="2336873"/>
            <a:ext cx="3063240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944118" y="4873764"/>
            <a:ext cx="3067297" cy="106242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30680" y="4297503"/>
            <a:ext cx="3063505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230678" y="2336873"/>
            <a:ext cx="30635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230553" y="4873762"/>
            <a:ext cx="3067563" cy="106242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ABAB3B27-27FC-7A49-AB59-AF431E8AEC87}" type="datetimeFigureOut">
              <a:rPr lang="en-US" smtClean="0"/>
              <a:pPr>
                <a:defRPr/>
              </a:pPr>
              <a:t>4/2/26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75C5CB-C8A8-2449-AD19-8B0802F6E075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848063986"/>
      </p:ext>
    </p:extLst>
  </p:cSld>
  <p:clrMapOvr>
    <a:masterClrMapping/>
  </p:clrMapOvr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r">
              <a:defRPr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042C0D6D-2C2C-6744-86E2-786537E07F00}" type="datetimeFigureOut">
              <a:rPr lang="en-US" smtClean="0"/>
              <a:pPr>
                <a:defRPr/>
              </a:pPr>
              <a:t>4/2/26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91C121-BD1B-9F48-B799-7EBACBC612E8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63516184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 bwMode="ltGray">
          <a:xfrm rot="5400000">
            <a:off x="8116207" y="1869395"/>
            <a:ext cx="5106988" cy="136819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8" name="Rectangle 7"/>
          <p:cNvSpPr/>
          <p:nvPr/>
        </p:nvSpPr>
        <p:spPr>
          <a:xfrm rot="5400000">
            <a:off x="9868203" y="5372404"/>
            <a:ext cx="1602997" cy="13681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129231" y="609597"/>
            <a:ext cx="1073803" cy="435376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0322" y="609599"/>
            <a:ext cx="8870004" cy="5326589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807125" y="5936189"/>
            <a:ext cx="2743200" cy="365125"/>
          </a:xfrm>
        </p:spPr>
        <p:txBody>
          <a:bodyPr/>
          <a:lstStyle/>
          <a:p>
            <a:pPr>
              <a:defRPr/>
            </a:pPr>
            <a:fld id="{7AB7477D-2AFE-B14E-AED4-6BE841F2B247}" type="datetimeFigureOut">
              <a:rPr lang="en-US" smtClean="0"/>
              <a:pPr>
                <a:defRPr/>
              </a:pPr>
              <a:t>4/2/26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0321" y="5936190"/>
            <a:ext cx="6126805" cy="365125"/>
          </a:xfrm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097551" y="5398635"/>
            <a:ext cx="1154151" cy="1090789"/>
          </a:xfrm>
        </p:spPr>
        <p:txBody>
          <a:bodyPr anchor="t"/>
          <a:lstStyle>
            <a:lvl1pPr algn="ctr">
              <a:defRPr/>
            </a:lvl1pPr>
          </a:lstStyle>
          <a:p>
            <a:pPr>
              <a:defRPr/>
            </a:pPr>
            <a:fld id="{A1FD5FB0-5A17-8742-B185-C5466D325EC2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9665544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ashOverlay-FullResolve.png"/>
          <p:cNvPicPr>
            <a:picLocks noChangeAspect="1"/>
          </p:cNvPicPr>
          <p:nvPr/>
        </p:nvPicPr>
        <p:blipFill>
          <a:blip r:embed="rId19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0321" y="753228"/>
            <a:ext cx="9613861" cy="10809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1" y="2336873"/>
            <a:ext cx="9613861" cy="35993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0981" y="593618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421A3C28-C226-D44F-9C82-0D3F3C052EE3}" type="datetimeFigureOut">
              <a:rPr lang="en-US" smtClean="0"/>
              <a:pPr>
                <a:defRPr/>
              </a:pPr>
              <a:t>4/2/26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0322" y="5936190"/>
            <a:ext cx="687066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29457" y="753228"/>
            <a:ext cx="1154151" cy="109078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9BCBE0FA-37F9-1248-9D3E-76B79A45F266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16970359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300" r:id="rId1"/>
    <p:sldLayoutId id="2147484301" r:id="rId2"/>
    <p:sldLayoutId id="2147484302" r:id="rId3"/>
    <p:sldLayoutId id="2147484303" r:id="rId4"/>
    <p:sldLayoutId id="2147484304" r:id="rId5"/>
    <p:sldLayoutId id="2147484305" r:id="rId6"/>
    <p:sldLayoutId id="2147484306" r:id="rId7"/>
    <p:sldLayoutId id="2147484307" r:id="rId8"/>
    <p:sldLayoutId id="2147484308" r:id="rId9"/>
    <p:sldLayoutId id="2147484309" r:id="rId10"/>
    <p:sldLayoutId id="2147484310" r:id="rId11"/>
    <p:sldLayoutId id="2147484311" r:id="rId12"/>
    <p:sldLayoutId id="2147484312" r:id="rId13"/>
    <p:sldLayoutId id="2147484313" r:id="rId14"/>
    <p:sldLayoutId id="2147484314" r:id="rId15"/>
    <p:sldLayoutId id="2147484315" r:id="rId16"/>
    <p:sldLayoutId id="2147484316" r:id="rId17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27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1" name="Slide Number Placeholder 1">
            <a:extLst>
              <a:ext uri="{FF2B5EF4-FFF2-40B4-BE49-F238E27FC236}">
                <a16:creationId xmlns:a16="http://schemas.microsoft.com/office/drawing/2014/main" id="{5FE8611F-C5E2-C51A-3E12-3469845FCE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557213" indent="-214313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857250" indent="-171450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200150" indent="-171450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1543050" indent="-171450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18859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2288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25717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29146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defRPr/>
            </a:pPr>
            <a:fld id="{17D5F683-A68F-A548-BE3D-6C3D8694E0E8}" type="slidenum">
              <a:rPr lang="en-US" sz="1050"/>
              <a:pPr>
                <a:defRPr/>
              </a:pPr>
              <a:t>0</a:t>
            </a:fld>
            <a:endParaRPr lang="en-US" sz="1050"/>
          </a:p>
        </p:txBody>
      </p:sp>
      <p:sp>
        <p:nvSpPr>
          <p:cNvPr id="3074" name="Text Box 2">
            <a:extLst>
              <a:ext uri="{FF2B5EF4-FFF2-40B4-BE49-F238E27FC236}">
                <a16:creationId xmlns:a16="http://schemas.microsoft.com/office/drawing/2014/main" id="{89345F94-1247-5048-3D0C-714A079459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54313" y="1608138"/>
            <a:ext cx="6683375" cy="50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9pPr>
          </a:lstStyle>
          <a:p>
            <a:pPr algn="ctr" eaLnBrk="1" hangingPunct="1"/>
            <a:r>
              <a:rPr lang="en-US" altLang="en-US" sz="2700" b="1">
                <a:solidFill>
                  <a:schemeClr val="tx2"/>
                </a:solidFill>
                <a:latin typeface="Arial Black" panose="020B0604020202020204" pitchFamily="34" charset="0"/>
                <a:ea typeface="MS PGothic" panose="020B0600070205080204" pitchFamily="34" charset="-128"/>
              </a:rPr>
              <a:t>PROGRAMMING IN HASKELL</a:t>
            </a:r>
          </a:p>
        </p:txBody>
      </p:sp>
      <p:sp>
        <p:nvSpPr>
          <p:cNvPr id="3075" name="Rectangle 3">
            <a:extLst>
              <a:ext uri="{FF2B5EF4-FFF2-40B4-BE49-F238E27FC236}">
                <a16:creationId xmlns:a16="http://schemas.microsoft.com/office/drawing/2014/main" id="{D18C107D-BBC4-BCB7-0B59-060837B135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98763" y="4730750"/>
            <a:ext cx="6594475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9pPr>
          </a:lstStyle>
          <a:p>
            <a:pPr algn="ctr" eaLnBrk="1" hangingPunct="1"/>
            <a:r>
              <a:rPr kumimoji="1" lang="en-US" altLang="en-US" sz="2400" dirty="0">
                <a:latin typeface="Tahoma" panose="020B0604030504040204" pitchFamily="34" charset="0"/>
                <a:ea typeface="MS PGothic" panose="020B0600070205080204" pitchFamily="34" charset="-128"/>
              </a:rPr>
              <a:t>Topic 12 – Monads</a:t>
            </a:r>
          </a:p>
        </p:txBody>
      </p:sp>
      <p:pic>
        <p:nvPicPr>
          <p:cNvPr id="3076" name="Picture 5" descr="2000px-Haskell-Logo.png">
            <a:extLst>
              <a:ext uri="{FF2B5EF4-FFF2-40B4-BE49-F238E27FC236}">
                <a16:creationId xmlns:a16="http://schemas.microsoft.com/office/drawing/2014/main" id="{94FE481D-19BC-360B-38B3-DA53C2F778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30788" y="2676525"/>
            <a:ext cx="2130425" cy="15049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11867A-0013-6160-A670-13A968F3D0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 on functor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3435EE-2BFC-DF68-0A06-9E18D0C6AD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1</a:t>
            </a:fld>
            <a:endParaRPr lang="en-US" altLang="en-US"/>
          </a:p>
        </p:txBody>
      </p:sp>
      <p:sp>
        <p:nvSpPr>
          <p:cNvPr id="6" name="Text Box 4">
            <a:extLst>
              <a:ext uri="{FF2B5EF4-FFF2-40B4-BE49-F238E27FC236}">
                <a16:creationId xmlns:a16="http://schemas.microsoft.com/office/drawing/2014/main" id="{235078E4-C556-1B9A-F407-743029CB5A1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89444" y="2224316"/>
            <a:ext cx="5962204" cy="934743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c</a:t>
            </a:r>
            <a:r>
              <a:rPr lang="en-US" sz="2400" dirty="0">
                <a:latin typeface="Lucida Sans Typewriter" charset="0"/>
                <a:cs typeface="+mn-cs"/>
              </a:rPr>
              <a:t>lass Functor f where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  fmap :: (a-&gt; b) -&gt; f a -&gt; f b</a:t>
            </a:r>
          </a:p>
        </p:txBody>
      </p:sp>
      <p:sp>
        <p:nvSpPr>
          <p:cNvPr id="9" name="Text Box 4">
            <a:extLst>
              <a:ext uri="{FF2B5EF4-FFF2-40B4-BE49-F238E27FC236}">
                <a16:creationId xmlns:a16="http://schemas.microsoft.com/office/drawing/2014/main" id="{08586207-8D5F-39D4-7150-44D6121F2F8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89444" y="3413538"/>
            <a:ext cx="5962204" cy="3150734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pPr marL="342900" indent="-342900">
              <a:lnSpc>
                <a:spcPct val="120000"/>
              </a:lnSpc>
              <a:buFont typeface="Wingdings" pitchFamily="2" charset="2"/>
              <a:buChar char="Ø"/>
              <a:defRPr/>
            </a:pPr>
            <a:r>
              <a:rPr lang="en-US" sz="2400" dirty="0">
                <a:latin typeface="Lucida Sans Typewriter" charset="0"/>
              </a:rPr>
              <a:t>f</a:t>
            </a:r>
            <a:r>
              <a:rPr lang="en-US" sz="2400" dirty="0">
                <a:latin typeface="Lucida Sans Typewriter" charset="0"/>
                <a:cs typeface="+mn-cs"/>
              </a:rPr>
              <a:t>map (+2) [1,2,3]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[3,4,5]</a:t>
            </a:r>
          </a:p>
          <a:p>
            <a:pPr marL="342900" indent="-342900">
              <a:lnSpc>
                <a:spcPct val="120000"/>
              </a:lnSpc>
              <a:buFont typeface="Wingdings" pitchFamily="2" charset="2"/>
              <a:buChar char="Ø"/>
              <a:defRPr/>
            </a:pPr>
            <a:r>
              <a:rPr lang="en-US" sz="2400" dirty="0">
                <a:latin typeface="Lucida Sans Typewriter" charset="0"/>
              </a:rPr>
              <a:t>f</a:t>
            </a:r>
            <a:r>
              <a:rPr lang="en-US" sz="2400" dirty="0">
                <a:latin typeface="Lucida Sans Typewriter" charset="0"/>
                <a:cs typeface="+mn-cs"/>
              </a:rPr>
              <a:t>map (+2) (Just 1)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Just 2</a:t>
            </a:r>
            <a:endParaRPr lang="en-US" sz="2400" dirty="0">
              <a:latin typeface="Lucida Sans Typewriter" charset="0"/>
              <a:cs typeface="+mn-cs"/>
            </a:endParaRPr>
          </a:p>
          <a:p>
            <a:pPr marL="342900" indent="-342900">
              <a:lnSpc>
                <a:spcPct val="120000"/>
              </a:lnSpc>
              <a:buFont typeface="Wingdings" pitchFamily="2" charset="2"/>
              <a:buChar char="Ø"/>
              <a:defRPr/>
            </a:pPr>
            <a:r>
              <a:rPr lang="en-US" sz="2400" dirty="0">
                <a:latin typeface="Lucida Sans Typewriter" charset="0"/>
              </a:rPr>
              <a:t>fmap (+2) Nothing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Nothing</a:t>
            </a:r>
          </a:p>
          <a:p>
            <a:pPr marL="342900" indent="-342900">
              <a:lnSpc>
                <a:spcPct val="120000"/>
              </a:lnSpc>
              <a:buFont typeface="Wingdings" pitchFamily="2" charset="2"/>
              <a:buChar char="Ø"/>
              <a:defRPr/>
            </a:pPr>
            <a:endParaRPr lang="en-US" sz="2400" dirty="0">
              <a:latin typeface="Lucida Sans Typewriter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533724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A6FFA-09A7-B12B-49D5-430C704F0D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 on Applicative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5B0B1D-BE33-27D7-C0AA-6B4F23E400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321" y="2336872"/>
            <a:ext cx="9613861" cy="4236455"/>
          </a:xfrm>
        </p:spPr>
        <p:txBody>
          <a:bodyPr/>
          <a:lstStyle/>
          <a:p>
            <a:r>
              <a:rPr lang="en-US" sz="2800" dirty="0">
                <a:latin typeface="+mj-lt"/>
              </a:rPr>
              <a:t>Generalise the idea of Functors to functions with more than one argument or parameter</a:t>
            </a:r>
          </a:p>
          <a:p>
            <a:r>
              <a:rPr lang="en-US" sz="2800" dirty="0">
                <a:latin typeface="+mj-lt"/>
              </a:rPr>
              <a:t>This gives rise to an Applicative Functor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738C42-9277-5582-95AE-1319DE727D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2</a:t>
            </a:fld>
            <a:endParaRPr lang="en-US" altLang="en-US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B33F03DD-3372-76DF-C750-4D762A667E4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97818" y="3977404"/>
            <a:ext cx="7194424" cy="1377941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c</a:t>
            </a:r>
            <a:r>
              <a:rPr lang="en-US" sz="2400" dirty="0">
                <a:latin typeface="Lucida Sans Typewriter" charset="0"/>
                <a:cs typeface="+mn-cs"/>
              </a:rPr>
              <a:t>lass Functor f =&gt; Applicative where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pure :: a -&gt; f a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  ( &lt;*&gt; ) :: f (a-&gt; b) -&gt; fa -&gt; fb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7F7C4F7-A703-7B6C-7004-A0EE6AE145AC}"/>
              </a:ext>
            </a:extLst>
          </p:cNvPr>
          <p:cNvSpPr txBox="1"/>
          <p:nvPr/>
        </p:nvSpPr>
        <p:spPr>
          <a:xfrm>
            <a:off x="1897818" y="6024565"/>
            <a:ext cx="1897811" cy="646331"/>
          </a:xfrm>
          <a:prstGeom prst="rect">
            <a:avLst/>
          </a:prstGeom>
          <a:solidFill>
            <a:schemeClr val="accent4"/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Data structure of functions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64C9E6-55A2-A7C1-F2C7-8DCAAC926789}"/>
              </a:ext>
            </a:extLst>
          </p:cNvPr>
          <p:cNvSpPr txBox="1"/>
          <p:nvPr/>
        </p:nvSpPr>
        <p:spPr>
          <a:xfrm>
            <a:off x="5361959" y="5914501"/>
            <a:ext cx="1544499" cy="923330"/>
          </a:xfrm>
          <a:prstGeom prst="rect">
            <a:avLst/>
          </a:prstGeom>
          <a:solidFill>
            <a:schemeClr val="accent4"/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Data structure of arguments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0C20CB2-486E-16A3-E42C-924CC9995472}"/>
              </a:ext>
            </a:extLst>
          </p:cNvPr>
          <p:cNvSpPr txBox="1"/>
          <p:nvPr/>
        </p:nvSpPr>
        <p:spPr>
          <a:xfrm>
            <a:off x="8499099" y="5934670"/>
            <a:ext cx="1544499" cy="923330"/>
          </a:xfrm>
          <a:prstGeom prst="rect">
            <a:avLst/>
          </a:prstGeom>
          <a:solidFill>
            <a:schemeClr val="accent4"/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Data structure of results 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CF6932E-087D-E6AC-3D74-635AB0343082}"/>
              </a:ext>
            </a:extLst>
          </p:cNvPr>
          <p:cNvCxnSpPr>
            <a:stCxn id="6" idx="0"/>
          </p:cNvCxnSpPr>
          <p:nvPr/>
        </p:nvCxnSpPr>
        <p:spPr>
          <a:xfrm flipV="1">
            <a:off x="2846724" y="5393354"/>
            <a:ext cx="2152075" cy="631211"/>
          </a:xfrm>
          <a:prstGeom prst="straightConnector1">
            <a:avLst/>
          </a:prstGeom>
          <a:ln w="41275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8CE44B9-4F3E-F965-514E-52B2ECF828EB}"/>
              </a:ext>
            </a:extLst>
          </p:cNvPr>
          <p:cNvCxnSpPr>
            <a:stCxn id="7" idx="0"/>
          </p:cNvCxnSpPr>
          <p:nvPr/>
        </p:nvCxnSpPr>
        <p:spPr>
          <a:xfrm flipV="1">
            <a:off x="6134209" y="5393354"/>
            <a:ext cx="727895" cy="521147"/>
          </a:xfrm>
          <a:prstGeom prst="straightConnector1">
            <a:avLst/>
          </a:prstGeom>
          <a:ln w="3175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BB20235-C0E7-0696-3BB6-C9A0C0ED8F17}"/>
              </a:ext>
            </a:extLst>
          </p:cNvPr>
          <p:cNvCxnSpPr>
            <a:cxnSpLocks/>
          </p:cNvCxnSpPr>
          <p:nvPr/>
        </p:nvCxnSpPr>
        <p:spPr>
          <a:xfrm flipH="1" flipV="1">
            <a:off x="8151549" y="5393354"/>
            <a:ext cx="1124313" cy="518709"/>
          </a:xfrm>
          <a:prstGeom prst="straightConnector1">
            <a:avLst/>
          </a:prstGeom>
          <a:ln w="3175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47450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10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19E3B75-A539-F836-DE70-1BB328664B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6BFE9FD-10C5-A202-FA1E-B04DCC47A5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BBB1747-987C-FF4E-B016-100C52060B68}" type="slidenum">
              <a:rPr lang="en-US" altLang="en-US" smtClean="0"/>
              <a:pPr>
                <a:defRPr/>
              </a:pPr>
              <a:t>3</a:t>
            </a:fld>
            <a:endParaRPr lang="en-US" altLang="en-US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5DB800B7-A9C5-24EF-77EB-FB29499062F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30651" y="3077671"/>
            <a:ext cx="7530601" cy="18211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pPr marL="342900" indent="-342900">
              <a:lnSpc>
                <a:spcPct val="120000"/>
              </a:lnSpc>
              <a:buFont typeface="Wingdings" pitchFamily="2" charset="2"/>
              <a:buChar char="Ø"/>
              <a:defRPr/>
            </a:pPr>
            <a:r>
              <a:rPr lang="en-US" sz="2400" dirty="0">
                <a:latin typeface="Lucida Sans Typewriter" charset="0"/>
              </a:rPr>
              <a:t>pure (+) &lt;*&gt; Just 1 &lt;*&gt; Just 2</a:t>
            </a:r>
            <a:endParaRPr lang="en-US" sz="2400" dirty="0">
              <a:latin typeface="Lucida Sans Typewriter" charset="0"/>
              <a:cs typeface="+mn-cs"/>
            </a:endParaRP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Just 3</a:t>
            </a:r>
          </a:p>
          <a:p>
            <a:pPr marL="342900" indent="-342900">
              <a:lnSpc>
                <a:spcPct val="120000"/>
              </a:lnSpc>
              <a:buFont typeface="Wingdings" pitchFamily="2" charset="2"/>
              <a:buChar char="Ø"/>
              <a:defRPr/>
            </a:pPr>
            <a:r>
              <a:rPr lang="en-US" sz="2400" dirty="0">
                <a:latin typeface="Lucida Sans Typewriter" charset="0"/>
              </a:rPr>
              <a:t>pure (+) &lt;*&gt; Nothing &lt;*&gt; Just 2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Nothing</a:t>
            </a:r>
            <a:endParaRPr lang="en-US" sz="2400" dirty="0">
              <a:latin typeface="Lucida Sans Typewriter" charset="0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BF53E41-F299-2511-FD2D-AE8C0EEDDA68}"/>
              </a:ext>
            </a:extLst>
          </p:cNvPr>
          <p:cNvSpPr txBox="1"/>
          <p:nvPr/>
        </p:nvSpPr>
        <p:spPr>
          <a:xfrm>
            <a:off x="1630651" y="5555411"/>
            <a:ext cx="773904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Applicative handles Errors (Nothing) correctly. </a:t>
            </a:r>
          </a:p>
        </p:txBody>
      </p:sp>
    </p:spTree>
    <p:extLst>
      <p:ext uri="{BB962C8B-B14F-4D97-AF65-F5344CB8AC3E}">
        <p14:creationId xmlns:p14="http://schemas.microsoft.com/office/powerpoint/2010/main" val="31335339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8D45A3-159F-0471-BA35-EABABEDC70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Introduce Monads – Example a simple evaluator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CF4712-F746-3A87-1363-0D0D5C2AC3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4</a:t>
            </a:fld>
            <a:endParaRPr lang="en-US" altLang="en-US"/>
          </a:p>
        </p:txBody>
      </p:sp>
      <p:sp>
        <p:nvSpPr>
          <p:cNvPr id="6" name="Text Box 4">
            <a:extLst>
              <a:ext uri="{FF2B5EF4-FFF2-40B4-BE49-F238E27FC236}">
                <a16:creationId xmlns:a16="http://schemas.microsoft.com/office/drawing/2014/main" id="{7DFF9401-8F6A-A518-2444-2E6224199E0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30651" y="3077671"/>
            <a:ext cx="7530601" cy="18211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data Expr = Val Int | Div Expr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e.g.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e:: Expr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e</a:t>
            </a:r>
            <a:r>
              <a:rPr lang="en-US" sz="2400" dirty="0">
                <a:latin typeface="Lucida Sans Typewriter" charset="0"/>
                <a:cs typeface="+mn-cs"/>
              </a:rPr>
              <a:t> = Div (Val 6) (Val 3) </a:t>
            </a:r>
          </a:p>
        </p:txBody>
      </p:sp>
    </p:spTree>
    <p:extLst>
      <p:ext uri="{BB962C8B-B14F-4D97-AF65-F5344CB8AC3E}">
        <p14:creationId xmlns:p14="http://schemas.microsoft.com/office/powerpoint/2010/main" val="30403214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7E7ECF-C165-EBF2-F149-4BF257B4DB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305BE0-40CA-66CF-C9F7-E036B96669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5</a:t>
            </a:fld>
            <a:endParaRPr lang="en-US" altLang="en-US"/>
          </a:p>
        </p:txBody>
      </p:sp>
      <p:sp>
        <p:nvSpPr>
          <p:cNvPr id="6" name="Text Box 4">
            <a:extLst>
              <a:ext uri="{FF2B5EF4-FFF2-40B4-BE49-F238E27FC236}">
                <a16:creationId xmlns:a16="http://schemas.microsoft.com/office/drawing/2014/main" id="{4B24C613-162E-0A25-E95C-E121920CD01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30651" y="3077671"/>
            <a:ext cx="7530601" cy="18211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eval :: Expr -&gt; Maybe Int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eval (Val n) 		= n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eval (Div  x y ) 	= eval x `div` eval 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FD2CCF5-5DE0-B161-5003-39D6ECAD6A84}"/>
              </a:ext>
            </a:extLst>
          </p:cNvPr>
          <p:cNvSpPr txBox="1"/>
          <p:nvPr/>
        </p:nvSpPr>
        <p:spPr>
          <a:xfrm>
            <a:off x="1117365" y="5581552"/>
            <a:ext cx="1076624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Problem – how do we deal with division by zero (this would crash)</a:t>
            </a:r>
          </a:p>
        </p:txBody>
      </p:sp>
    </p:spTree>
    <p:extLst>
      <p:ext uri="{BB962C8B-B14F-4D97-AF65-F5344CB8AC3E}">
        <p14:creationId xmlns:p14="http://schemas.microsoft.com/office/powerpoint/2010/main" val="9378349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17680E-4622-CED4-CF7A-1F021EA706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Need to refine program to deal with this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811BD4-D0E2-E51D-E3EB-DF4F5B60BC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How to capture failure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23079F-FD54-A8E4-ADC5-EFDC75BBC7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6</a:t>
            </a:fld>
            <a:endParaRPr lang="en-US" altLang="en-US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03230E55-17F5-F925-5259-EF3958BD177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30651" y="3077671"/>
            <a:ext cx="7530601" cy="18211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safeDiv :: Int -&gt; Int -&gt; Maybe Int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safeDiv _ 0   = Nothing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safeDiv n m   = Just (n `div` n) </a:t>
            </a:r>
          </a:p>
        </p:txBody>
      </p:sp>
    </p:spTree>
    <p:extLst>
      <p:ext uri="{BB962C8B-B14F-4D97-AF65-F5344CB8AC3E}">
        <p14:creationId xmlns:p14="http://schemas.microsoft.com/office/powerpoint/2010/main" val="24131307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E42E54-EB03-8A5E-2193-FB4A5B4F60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Now, rewrite eval to use safeDiv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6CC8C1-13CE-DBB8-F71B-624715A817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7</a:t>
            </a:fld>
            <a:endParaRPr lang="en-US" altLang="en-US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45E29C75-0DC5-F846-CE02-997AAC710ED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30651" y="2191275"/>
            <a:ext cx="8375991" cy="3593933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eval:: Expr -&gt; Maybe Int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eval (Val n) = Just n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eval (Div x y) = case eval x of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						Nothing -&gt; Nothing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						Just n -&gt; case eval y of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								Nothing -&gt; Nothing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								Just m -&gt; safeDiv n m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8C77F1-58D7-E77D-2DD7-93641963373E}"/>
              </a:ext>
            </a:extLst>
          </p:cNvPr>
          <p:cNvSpPr txBox="1"/>
          <p:nvPr/>
        </p:nvSpPr>
        <p:spPr>
          <a:xfrm>
            <a:off x="2639683" y="6142317"/>
            <a:ext cx="52793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Can we simplify?</a:t>
            </a:r>
          </a:p>
        </p:txBody>
      </p:sp>
    </p:spTree>
    <p:extLst>
      <p:ext uri="{BB962C8B-B14F-4D97-AF65-F5344CB8AC3E}">
        <p14:creationId xmlns:p14="http://schemas.microsoft.com/office/powerpoint/2010/main" val="27792390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FD604-02C3-7E10-0EBC-9DC3AA3303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with Applicative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0A4371-CCCB-D52E-6F30-9A60E36B66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8</a:t>
            </a:fld>
            <a:endParaRPr lang="en-US" altLang="en-US"/>
          </a:p>
        </p:txBody>
      </p:sp>
      <p:sp>
        <p:nvSpPr>
          <p:cNvPr id="6" name="Text Box 4">
            <a:extLst>
              <a:ext uri="{FF2B5EF4-FFF2-40B4-BE49-F238E27FC236}">
                <a16:creationId xmlns:a16="http://schemas.microsoft.com/office/drawing/2014/main" id="{A459A2A7-FF90-BCAE-3382-11CC2C03665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64824" y="3397235"/>
            <a:ext cx="10411825" cy="18211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eval:: Expr -&gt; Maybe Int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eval (Val n) = pure n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eval (Div x y) = pure safeDiv &lt;*&gt; eval x &lt;*&gt; eval y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6E7185F-C3CA-F9B8-38D5-865B5A7BCB1F}"/>
              </a:ext>
            </a:extLst>
          </p:cNvPr>
          <p:cNvSpPr txBox="1"/>
          <p:nvPr/>
        </p:nvSpPr>
        <p:spPr>
          <a:xfrm>
            <a:off x="7410335" y="5920106"/>
            <a:ext cx="1280381" cy="369332"/>
          </a:xfrm>
          <a:prstGeom prst="rect">
            <a:avLst/>
          </a:prstGeom>
          <a:solidFill>
            <a:schemeClr val="accent4"/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Maybe Int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C490C0B-F4E1-2608-9CAE-1E9564C5E46C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8050526" y="5218375"/>
            <a:ext cx="0" cy="701731"/>
          </a:xfrm>
          <a:prstGeom prst="straightConnector1">
            <a:avLst/>
          </a:prstGeom>
          <a:ln w="3175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3126F7ED-A254-A86D-E244-FAE172814752}"/>
              </a:ext>
            </a:extLst>
          </p:cNvPr>
          <p:cNvSpPr txBox="1"/>
          <p:nvPr/>
        </p:nvSpPr>
        <p:spPr>
          <a:xfrm>
            <a:off x="9381618" y="5905238"/>
            <a:ext cx="1280381" cy="369332"/>
          </a:xfrm>
          <a:prstGeom prst="rect">
            <a:avLst/>
          </a:prstGeom>
          <a:solidFill>
            <a:schemeClr val="accent4"/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Maybe Int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3BB2A32-4395-E9AD-A9C1-F21546BCC078}"/>
              </a:ext>
            </a:extLst>
          </p:cNvPr>
          <p:cNvCxnSpPr>
            <a:cxnSpLocks/>
          </p:cNvCxnSpPr>
          <p:nvPr/>
        </p:nvCxnSpPr>
        <p:spPr>
          <a:xfrm flipV="1">
            <a:off x="10001931" y="5218375"/>
            <a:ext cx="0" cy="701731"/>
          </a:xfrm>
          <a:prstGeom prst="straightConnector1">
            <a:avLst/>
          </a:prstGeom>
          <a:ln w="3175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55499C56-7C33-CB73-69DD-41CB8B97BD08}"/>
              </a:ext>
            </a:extLst>
          </p:cNvPr>
          <p:cNvSpPr txBox="1"/>
          <p:nvPr/>
        </p:nvSpPr>
        <p:spPr>
          <a:xfrm>
            <a:off x="2654709" y="5829814"/>
            <a:ext cx="3905932" cy="369332"/>
          </a:xfrm>
          <a:prstGeom prst="rect">
            <a:avLst/>
          </a:prstGeom>
          <a:solidFill>
            <a:schemeClr val="accent4"/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Applicative needs Int -&gt; Int -&gt; Int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DE7DB1F-F559-4096-8DA2-9CDAEEF39FC5}"/>
              </a:ext>
            </a:extLst>
          </p:cNvPr>
          <p:cNvSpPr txBox="1"/>
          <p:nvPr/>
        </p:nvSpPr>
        <p:spPr>
          <a:xfrm>
            <a:off x="2464804" y="6289438"/>
            <a:ext cx="3905932" cy="369332"/>
          </a:xfrm>
          <a:prstGeom prst="rect">
            <a:avLst/>
          </a:prstGeom>
          <a:solidFill>
            <a:schemeClr val="accent4"/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But we have Int -&gt; Int -&gt; Maybe Int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E49C7E2E-152A-719D-E04D-B978DB62BB04}"/>
              </a:ext>
            </a:extLst>
          </p:cNvPr>
          <p:cNvCxnSpPr>
            <a:cxnSpLocks/>
          </p:cNvCxnSpPr>
          <p:nvPr/>
        </p:nvCxnSpPr>
        <p:spPr>
          <a:xfrm flipV="1">
            <a:off x="4978482" y="5218375"/>
            <a:ext cx="645941" cy="611439"/>
          </a:xfrm>
          <a:prstGeom prst="straightConnector1">
            <a:avLst/>
          </a:prstGeom>
          <a:ln w="3175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788383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1" grpId="0" animBg="1"/>
      <p:bldP spid="15" grpId="0" animBg="1"/>
      <p:bldP spid="16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0F13D1-AB5F-920C-C6CC-15DC3A47CE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Monads – observe a common pattern and abstracting it out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34C2B5-FDD0-084C-3E28-0D42DD2EA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9</a:t>
            </a:fld>
            <a:endParaRPr lang="en-US" altLang="en-US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D1C1FA20-E731-D1FB-02E4-7318136FD86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9255" y="2510839"/>
            <a:ext cx="8375991" cy="3593933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eval:: Expr -&gt; Maybe Int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eval (Val n) = Just n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eval (Div x y) = case eval x of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						Nothing -&gt; Nothing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						Just n -&gt; case eval y of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								Nothing -&gt; Nothing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								Just m -&gt; safeDiv n m</a:t>
            </a:r>
          </a:p>
        </p:txBody>
      </p:sp>
      <p:sp>
        <p:nvSpPr>
          <p:cNvPr id="6" name="Frame 5">
            <a:extLst>
              <a:ext uri="{FF2B5EF4-FFF2-40B4-BE49-F238E27FC236}">
                <a16:creationId xmlns:a16="http://schemas.microsoft.com/office/drawing/2014/main" id="{399AE3D3-36B2-FC20-1A37-DAECAF7AA9B3}"/>
              </a:ext>
            </a:extLst>
          </p:cNvPr>
          <p:cNvSpPr/>
          <p:nvPr/>
        </p:nvSpPr>
        <p:spPr>
          <a:xfrm>
            <a:off x="5262113" y="3812875"/>
            <a:ext cx="1449238" cy="603850"/>
          </a:xfrm>
          <a:prstGeom prst="fram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Frame 6">
            <a:extLst>
              <a:ext uri="{FF2B5EF4-FFF2-40B4-BE49-F238E27FC236}">
                <a16:creationId xmlns:a16="http://schemas.microsoft.com/office/drawing/2014/main" id="{6EA23670-6E92-B637-CD81-C2AECE9F94F6}"/>
              </a:ext>
            </a:extLst>
          </p:cNvPr>
          <p:cNvSpPr/>
          <p:nvPr/>
        </p:nvSpPr>
        <p:spPr>
          <a:xfrm>
            <a:off x="7191555" y="4741652"/>
            <a:ext cx="1449238" cy="603850"/>
          </a:xfrm>
          <a:prstGeom prst="fram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120025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C1E91C-67C0-E7C2-F48F-A9B83248C2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See pattern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A16B10-E3ED-9286-2AFD-2454386A9E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10</a:t>
            </a:fld>
            <a:endParaRPr lang="en-US" altLang="en-US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DDA3267E-411A-B041-8610-EECC82246E2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9254" y="3324713"/>
            <a:ext cx="8375991" cy="226433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endParaRPr lang="en-US" sz="2400" dirty="0">
              <a:latin typeface="Lucida Sans Typewriter" charset="0"/>
            </a:endParaRP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case of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			Nothing -&gt; Nothing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			Just x -&gt;</a:t>
            </a:r>
          </a:p>
          <a:p>
            <a:pPr>
              <a:lnSpc>
                <a:spcPct val="120000"/>
              </a:lnSpc>
              <a:defRPr/>
            </a:pPr>
            <a:endParaRPr lang="en-US" sz="2400" dirty="0">
              <a:latin typeface="Lucida Sans Typewriter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F45C1EC-DAFA-082E-1B5C-7FD021BDD781}"/>
              </a:ext>
            </a:extLst>
          </p:cNvPr>
          <p:cNvSpPr/>
          <p:nvPr/>
        </p:nvSpPr>
        <p:spPr>
          <a:xfrm>
            <a:off x="2792083" y="3659544"/>
            <a:ext cx="1276709" cy="569343"/>
          </a:xfrm>
          <a:prstGeom prst="rect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933527A-2F54-E1B0-2C76-2C124BCEB029}"/>
              </a:ext>
            </a:extLst>
          </p:cNvPr>
          <p:cNvSpPr/>
          <p:nvPr/>
        </p:nvSpPr>
        <p:spPr>
          <a:xfrm>
            <a:off x="5121213" y="4636071"/>
            <a:ext cx="1276709" cy="569343"/>
          </a:xfrm>
          <a:prstGeom prst="rect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EA9A158-E4C0-4FC6-F94B-079769940985}"/>
              </a:ext>
            </a:extLst>
          </p:cNvPr>
          <p:cNvSpPr/>
          <p:nvPr/>
        </p:nvSpPr>
        <p:spPr>
          <a:xfrm>
            <a:off x="3882736" y="2348186"/>
            <a:ext cx="1604514" cy="797338"/>
          </a:xfrm>
          <a:prstGeom prst="rect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Maybe (monadic)  value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E07C811-378B-32BE-C1D2-D45D5C2E1520}"/>
              </a:ext>
            </a:extLst>
          </p:cNvPr>
          <p:cNvSpPr/>
          <p:nvPr/>
        </p:nvSpPr>
        <p:spPr>
          <a:xfrm>
            <a:off x="6878127" y="5663460"/>
            <a:ext cx="1627518" cy="882624"/>
          </a:xfrm>
          <a:prstGeom prst="rect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Some function on x 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3AE53CE-AE93-8D0A-F08A-C6D1942702CE}"/>
              </a:ext>
            </a:extLst>
          </p:cNvPr>
          <p:cNvCxnSpPr>
            <a:stCxn id="8" idx="2"/>
            <a:endCxn id="6" idx="0"/>
          </p:cNvCxnSpPr>
          <p:nvPr/>
        </p:nvCxnSpPr>
        <p:spPr>
          <a:xfrm flipH="1">
            <a:off x="3430438" y="3145524"/>
            <a:ext cx="1254555" cy="514020"/>
          </a:xfrm>
          <a:prstGeom prst="straightConnector1">
            <a:avLst/>
          </a:prstGeom>
          <a:ln w="4445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F236E1AA-A97D-0893-A8F4-24629C1C34B3}"/>
              </a:ext>
            </a:extLst>
          </p:cNvPr>
          <p:cNvCxnSpPr>
            <a:cxnSpLocks/>
          </p:cNvCxnSpPr>
          <p:nvPr/>
        </p:nvCxnSpPr>
        <p:spPr>
          <a:xfrm flipH="1" flipV="1">
            <a:off x="5759568" y="5115335"/>
            <a:ext cx="1932318" cy="548125"/>
          </a:xfrm>
          <a:prstGeom prst="straightConnector1">
            <a:avLst/>
          </a:prstGeom>
          <a:ln w="4445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366685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636A2D-78BD-2472-70C0-52A4F73BF5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52BF9-D2EA-D5C3-442F-1928F69590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See pattern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7C7BBA-5A79-D23C-49E3-E05BFD8E56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11</a:t>
            </a:fld>
            <a:endParaRPr lang="en-US" altLang="en-US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35F66E1E-1608-8404-7AE8-081484AA96A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9256" y="3175636"/>
            <a:ext cx="6153968" cy="226433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endParaRPr lang="en-US" sz="2400" dirty="0">
              <a:latin typeface="Lucida Sans Typewriter" charset="0"/>
            </a:endParaRP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case mx of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			Nothing -&gt; Nothing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			Just x -&gt;  f x</a:t>
            </a:r>
          </a:p>
          <a:p>
            <a:pPr>
              <a:lnSpc>
                <a:spcPct val="120000"/>
              </a:lnSpc>
              <a:defRPr/>
            </a:pPr>
            <a:endParaRPr lang="en-US" sz="2400" dirty="0">
              <a:latin typeface="Lucida Sans Typewriter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B253372-C4BD-0308-91BB-FAC6F245F200}"/>
              </a:ext>
            </a:extLst>
          </p:cNvPr>
          <p:cNvSpPr txBox="1"/>
          <p:nvPr/>
        </p:nvSpPr>
        <p:spPr>
          <a:xfrm>
            <a:off x="7211683" y="5848709"/>
            <a:ext cx="226475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We want to turn this into a definition.</a:t>
            </a:r>
          </a:p>
        </p:txBody>
      </p:sp>
    </p:spTree>
    <p:extLst>
      <p:ext uri="{BB962C8B-B14F-4D97-AF65-F5344CB8AC3E}">
        <p14:creationId xmlns:p14="http://schemas.microsoft.com/office/powerpoint/2010/main" val="31625997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D8E367-ED78-47A2-68A9-E9C8CF0440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11E5E9-44ED-3598-2234-BB5A7F0C59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See pattern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67E9A3-B75F-DC81-A6FD-3EFEAF870C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12</a:t>
            </a:fld>
            <a:endParaRPr lang="en-US" altLang="en-US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D89A88EF-484B-6252-8475-828E7795F42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6834" y="2338334"/>
            <a:ext cx="2513618" cy="73513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1200" dirty="0">
                <a:latin typeface="Lucida Sans Typewriter" charset="0"/>
              </a:rPr>
              <a:t>case mx of </a:t>
            </a:r>
          </a:p>
          <a:p>
            <a:pPr>
              <a:lnSpc>
                <a:spcPct val="120000"/>
              </a:lnSpc>
              <a:defRPr/>
            </a:pPr>
            <a:r>
              <a:rPr lang="en-US" sz="1200" dirty="0">
                <a:latin typeface="Lucida Sans Typewriter" charset="0"/>
              </a:rPr>
              <a:t>	Nothing -&gt; Nothing</a:t>
            </a:r>
          </a:p>
          <a:p>
            <a:pPr>
              <a:lnSpc>
                <a:spcPct val="120000"/>
              </a:lnSpc>
              <a:defRPr/>
            </a:pPr>
            <a:r>
              <a:rPr lang="en-US" sz="1200" dirty="0">
                <a:latin typeface="Lucida Sans Typewriter" charset="0"/>
              </a:rPr>
              <a:t>	Just x -&gt;  f x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F0F1DCB-C416-C40F-D5A2-C19796A1175F}"/>
              </a:ext>
            </a:extLst>
          </p:cNvPr>
          <p:cNvSpPr txBox="1"/>
          <p:nvPr/>
        </p:nvSpPr>
        <p:spPr>
          <a:xfrm>
            <a:off x="495693" y="3784529"/>
            <a:ext cx="226475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We want to turn this into a definition.</a:t>
            </a:r>
          </a:p>
        </p:txBody>
      </p:sp>
      <p:sp>
        <p:nvSpPr>
          <p:cNvPr id="6" name="Text Box 4">
            <a:extLst>
              <a:ext uri="{FF2B5EF4-FFF2-40B4-BE49-F238E27FC236}">
                <a16:creationId xmlns:a16="http://schemas.microsoft.com/office/drawing/2014/main" id="{CF9CA887-4ED3-BD40-63F4-1030A3A9895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75489" y="2463242"/>
            <a:ext cx="6153968" cy="2264338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endParaRPr lang="en-US" sz="2400" dirty="0">
              <a:latin typeface="Lucida Sans Typewriter" charset="0"/>
            </a:endParaRP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mx &gt;&gt;= f = case mx of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			Nothing -&gt; Nothing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			Just x -&gt;  f x</a:t>
            </a:r>
          </a:p>
          <a:p>
            <a:pPr>
              <a:lnSpc>
                <a:spcPct val="120000"/>
              </a:lnSpc>
              <a:defRPr/>
            </a:pPr>
            <a:endParaRPr lang="en-US" sz="2400" dirty="0">
              <a:latin typeface="Lucida Sans Typewriter" charset="0"/>
            </a:endParaRPr>
          </a:p>
        </p:txBody>
      </p:sp>
      <p:sp>
        <p:nvSpPr>
          <p:cNvPr id="8" name="Text Box 4">
            <a:extLst>
              <a:ext uri="{FF2B5EF4-FFF2-40B4-BE49-F238E27FC236}">
                <a16:creationId xmlns:a16="http://schemas.microsoft.com/office/drawing/2014/main" id="{8AB1BCB5-A689-25F5-F3BB-672970E4F5C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76628" y="5170778"/>
            <a:ext cx="8483099" cy="1377941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“into”     “bind”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(&gt;&gt;=) :: Maybe a -&gt; (a-&gt; Maybe b) -&gt; Maybe b</a:t>
            </a:r>
          </a:p>
          <a:p>
            <a:pPr>
              <a:lnSpc>
                <a:spcPct val="120000"/>
              </a:lnSpc>
              <a:defRPr/>
            </a:pPr>
            <a:endParaRPr lang="en-US" sz="2400" dirty="0">
              <a:latin typeface="Lucida Sans Typewriter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544378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9" name="Title 1">
            <a:extLst>
              <a:ext uri="{FF2B5EF4-FFF2-40B4-BE49-F238E27FC236}">
                <a16:creationId xmlns:a16="http://schemas.microsoft.com/office/drawing/2014/main" id="{AC943F2C-5A0E-6AC4-8203-B4898B40441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IE" altLang="en-US" sz="3600" b="1"/>
              <a:t>&gt;&gt;=</a:t>
            </a:r>
            <a:endParaRPr lang="en-US" altLang="en-US" sz="3600" b="1"/>
          </a:p>
        </p:txBody>
      </p:sp>
      <p:sp>
        <p:nvSpPr>
          <p:cNvPr id="7170" name="Slide Number Placeholder 1">
            <a:extLst>
              <a:ext uri="{FF2B5EF4-FFF2-40B4-BE49-F238E27FC236}">
                <a16:creationId xmlns:a16="http://schemas.microsoft.com/office/drawing/2014/main" id="{0608DCFA-09E2-2BB7-9D74-A9C1F164FBF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BEE47C76-2410-5542-82B1-EEA64A49EA89}" type="slidenum">
              <a:rPr lang="en-US" altLang="en-US" sz="1400">
                <a:latin typeface="Tahoma" panose="020B0604030504040204" pitchFamily="34" charset="0"/>
                <a:ea typeface="MS PGothic" panose="020B0600070205080204" pitchFamily="34" charset="-128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13</a:t>
            </a:fld>
            <a:endParaRPr lang="en-US" altLang="en-US" sz="1400">
              <a:latin typeface="Tahoma" panose="020B0604030504040204" pitchFamily="34" charset="0"/>
              <a:ea typeface="MS PGothic" panose="020B0600070205080204" pitchFamily="34" charset="-128"/>
            </a:endParaRPr>
          </a:p>
        </p:txBody>
      </p:sp>
      <p:pic>
        <p:nvPicPr>
          <p:cNvPr id="7171" name="Picture 3">
            <a:extLst>
              <a:ext uri="{FF2B5EF4-FFF2-40B4-BE49-F238E27FC236}">
                <a16:creationId xmlns:a16="http://schemas.microsoft.com/office/drawing/2014/main" id="{E101CA77-0D67-C400-63F4-DF7EB24F89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05163" y="2295525"/>
            <a:ext cx="5473700" cy="381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363D38-FB1D-6753-8924-DEBED0C863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New evaluation function using &gt;&gt;=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B7209F-6AE9-B5BE-3079-F9746FB728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14</a:t>
            </a:fld>
            <a:endParaRPr lang="en-US" altLang="en-US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3A2E6DF5-ADDC-8B45-F285-283DF37AA53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89669" y="3111336"/>
            <a:ext cx="7302304" cy="2707536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endParaRPr lang="en-US" sz="2400" dirty="0">
              <a:latin typeface="Lucida Sans Typewriter" charset="0"/>
            </a:endParaRP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eval :: Expr -&gt; Maybe Int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eval (Val n) 	= Just n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eval (Div x y) = eval x &gt;&gt;= (\n -&gt;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					  eval y &gt;&gt;= (\m -&gt;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					  safeDiv n m)		)	</a:t>
            </a:r>
          </a:p>
        </p:txBody>
      </p:sp>
    </p:spTree>
    <p:extLst>
      <p:ext uri="{BB962C8B-B14F-4D97-AF65-F5344CB8AC3E}">
        <p14:creationId xmlns:p14="http://schemas.microsoft.com/office/powerpoint/2010/main" val="189703910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8C9F0E-119B-F0E6-788D-A4277CD391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E4E674-4FA9-6C34-638C-B9492B4C08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General pattern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B2F2E1-3009-73C3-B113-BCB52A0E37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15</a:t>
            </a:fld>
            <a:endParaRPr lang="en-US" altLang="en-US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8DE61051-8FC1-D772-90D2-362EA0BC8D6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4856" y="2510839"/>
            <a:ext cx="4006331" cy="3593933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endParaRPr lang="en-US" sz="2400" dirty="0">
              <a:latin typeface="Lucida Sans Typewriter" charset="0"/>
            </a:endParaRP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m</a:t>
            </a:r>
            <a:r>
              <a:rPr lang="en-US" sz="2400" baseline="-25000" dirty="0">
                <a:latin typeface="Lucida Sans Typewriter" charset="0"/>
              </a:rPr>
              <a:t>1</a:t>
            </a:r>
            <a:r>
              <a:rPr lang="en-US" sz="2400" dirty="0">
                <a:latin typeface="Lucida Sans Typewriter" charset="0"/>
              </a:rPr>
              <a:t> &gt;&gt;= \x</a:t>
            </a:r>
            <a:r>
              <a:rPr lang="en-US" sz="2400" baseline="-25000" dirty="0">
                <a:latin typeface="Lucida Sans Typewriter" charset="0"/>
              </a:rPr>
              <a:t>1</a:t>
            </a:r>
            <a:r>
              <a:rPr lang="en-US" sz="2400" dirty="0">
                <a:latin typeface="Lucida Sans Typewriter" charset="0"/>
              </a:rPr>
              <a:t> -&gt;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m</a:t>
            </a:r>
            <a:r>
              <a:rPr lang="en-US" sz="2400" baseline="-25000" dirty="0">
                <a:latin typeface="Lucida Sans Typewriter" charset="0"/>
              </a:rPr>
              <a:t>2 </a:t>
            </a:r>
            <a:r>
              <a:rPr lang="en-US" sz="2400" dirty="0">
                <a:latin typeface="Lucida Sans Typewriter" charset="0"/>
              </a:rPr>
              <a:t>&gt;&gt;= \x</a:t>
            </a:r>
            <a:r>
              <a:rPr lang="en-US" sz="2400" baseline="-25000" dirty="0">
                <a:latin typeface="Lucida Sans Typewriter" charset="0"/>
              </a:rPr>
              <a:t>2</a:t>
            </a:r>
            <a:r>
              <a:rPr lang="en-US" sz="2400" dirty="0">
                <a:latin typeface="Lucida Sans Typewriter" charset="0"/>
              </a:rPr>
              <a:t> -&gt;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m</a:t>
            </a:r>
            <a:r>
              <a:rPr lang="en-US" sz="2400" baseline="-25000" dirty="0">
                <a:latin typeface="Lucida Sans Typewriter" charset="0"/>
              </a:rPr>
              <a:t>3</a:t>
            </a:r>
            <a:r>
              <a:rPr lang="en-US" sz="2400" dirty="0">
                <a:latin typeface="Lucida Sans Typewriter" charset="0"/>
              </a:rPr>
              <a:t> &gt;&gt;= \x</a:t>
            </a:r>
            <a:r>
              <a:rPr lang="en-US" sz="2400" baseline="-25000" dirty="0">
                <a:latin typeface="Lucida Sans Typewriter" charset="0"/>
              </a:rPr>
              <a:t>3</a:t>
            </a:r>
            <a:r>
              <a:rPr lang="en-US" sz="2400" dirty="0">
                <a:latin typeface="Lucida Sans Typewriter" charset="0"/>
              </a:rPr>
              <a:t> -&gt;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: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: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 err="1">
                <a:latin typeface="Lucida Sans Typewriter" charset="0"/>
              </a:rPr>
              <a:t>m</a:t>
            </a:r>
            <a:r>
              <a:rPr lang="en-US" sz="2400" baseline="-25000" dirty="0" err="1">
                <a:latin typeface="Lucida Sans Typewriter" charset="0"/>
              </a:rPr>
              <a:t>n</a:t>
            </a:r>
            <a:r>
              <a:rPr lang="en-US" sz="2400" dirty="0">
                <a:latin typeface="Lucida Sans Typewriter" charset="0"/>
              </a:rPr>
              <a:t> &gt;&gt;= \</a:t>
            </a:r>
            <a:r>
              <a:rPr lang="en-US" sz="2400" dirty="0" err="1">
                <a:latin typeface="Lucida Sans Typewriter" charset="0"/>
              </a:rPr>
              <a:t>x</a:t>
            </a:r>
            <a:r>
              <a:rPr lang="en-US" sz="2400" baseline="-25000" dirty="0" err="1">
                <a:latin typeface="Lucida Sans Typewriter" charset="0"/>
              </a:rPr>
              <a:t>n</a:t>
            </a:r>
            <a:r>
              <a:rPr lang="en-US" sz="2400" dirty="0">
                <a:latin typeface="Lucida Sans Typewriter" charset="0"/>
              </a:rPr>
              <a:t> -&gt;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f x</a:t>
            </a:r>
            <a:r>
              <a:rPr lang="en-US" sz="2400" baseline="-25000" dirty="0">
                <a:latin typeface="Lucida Sans Typewriter" charset="0"/>
              </a:rPr>
              <a:t>1</a:t>
            </a:r>
            <a:r>
              <a:rPr lang="en-US" sz="2400" dirty="0">
                <a:latin typeface="Lucida Sans Typewriter" charset="0"/>
              </a:rPr>
              <a:t> x</a:t>
            </a:r>
            <a:r>
              <a:rPr lang="en-US" sz="2400" baseline="-25000" dirty="0">
                <a:latin typeface="Lucida Sans Typewriter" charset="0"/>
              </a:rPr>
              <a:t>2</a:t>
            </a:r>
            <a:r>
              <a:rPr lang="en-US" sz="2400" dirty="0">
                <a:latin typeface="Lucida Sans Typewriter" charset="0"/>
              </a:rPr>
              <a:t>   .. </a:t>
            </a:r>
            <a:r>
              <a:rPr lang="en-US" sz="2400" dirty="0" err="1">
                <a:latin typeface="Lucida Sans Typewriter" charset="0"/>
              </a:rPr>
              <a:t>x</a:t>
            </a:r>
            <a:r>
              <a:rPr lang="en-US" sz="2400" baseline="-25000" dirty="0" err="1">
                <a:latin typeface="Lucida Sans Typewriter" charset="0"/>
              </a:rPr>
              <a:t>n</a:t>
            </a:r>
            <a:endParaRPr lang="en-US" sz="2400" dirty="0">
              <a:latin typeface="Lucida Sans Typewriter" charset="0"/>
            </a:endParaRPr>
          </a:p>
        </p:txBody>
      </p:sp>
      <p:sp>
        <p:nvSpPr>
          <p:cNvPr id="7" name="Text Box 4">
            <a:extLst>
              <a:ext uri="{FF2B5EF4-FFF2-40B4-BE49-F238E27FC236}">
                <a16:creationId xmlns:a16="http://schemas.microsoft.com/office/drawing/2014/main" id="{681AEAF5-BD58-EAD5-AAD8-181D2A9E4A4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19602" y="2510840"/>
            <a:ext cx="4006331" cy="3593933"/>
          </a:xfrm>
          <a:prstGeom prst="rect">
            <a:avLst/>
          </a:prstGeom>
          <a:solidFill>
            <a:schemeClr val="accent4"/>
          </a:solidFill>
          <a:ln>
            <a:solidFill>
              <a:schemeClr val="accent1">
                <a:shade val="15000"/>
              </a:schemeClr>
            </a:solidFill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“This is what we use”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do x</a:t>
            </a:r>
            <a:r>
              <a:rPr lang="en-US" sz="2400" baseline="-25000" dirty="0">
                <a:latin typeface="Lucida Sans Typewriter" charset="0"/>
              </a:rPr>
              <a:t>1 </a:t>
            </a:r>
            <a:r>
              <a:rPr lang="en-US" sz="2400" dirty="0">
                <a:latin typeface="Lucida Sans Typewriter" charset="0"/>
              </a:rPr>
              <a:t> &lt;- m</a:t>
            </a:r>
            <a:r>
              <a:rPr lang="en-US" sz="2400" baseline="-25000" dirty="0">
                <a:latin typeface="Lucida Sans Typewriter" charset="0"/>
              </a:rPr>
              <a:t>1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 x</a:t>
            </a:r>
            <a:r>
              <a:rPr lang="en-US" sz="2400" baseline="-25000" dirty="0">
                <a:latin typeface="Lucida Sans Typewriter" charset="0"/>
              </a:rPr>
              <a:t>2</a:t>
            </a:r>
            <a:r>
              <a:rPr lang="en-US" sz="2400" dirty="0">
                <a:latin typeface="Lucida Sans Typewriter" charset="0"/>
              </a:rPr>
              <a:t>  &lt;- m</a:t>
            </a:r>
            <a:r>
              <a:rPr lang="en-US" sz="2400" baseline="-25000" dirty="0">
                <a:latin typeface="Lucida Sans Typewriter" charset="0"/>
              </a:rPr>
              <a:t>2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 x</a:t>
            </a:r>
            <a:r>
              <a:rPr lang="en-US" sz="2400" baseline="-25000" dirty="0">
                <a:latin typeface="Lucida Sans Typewriter" charset="0"/>
              </a:rPr>
              <a:t>3</a:t>
            </a:r>
            <a:r>
              <a:rPr lang="en-US" sz="2400" dirty="0">
                <a:latin typeface="Lucida Sans Typewriter" charset="0"/>
              </a:rPr>
              <a:t>  &lt;- m</a:t>
            </a:r>
            <a:r>
              <a:rPr lang="en-US" sz="2400" baseline="-25000" dirty="0">
                <a:latin typeface="Lucida Sans Typewriter" charset="0"/>
              </a:rPr>
              <a:t>3</a:t>
            </a:r>
          </a:p>
          <a:p>
            <a:pPr>
              <a:lnSpc>
                <a:spcPct val="120000"/>
              </a:lnSpc>
              <a:defRPr/>
            </a:pPr>
            <a:endParaRPr lang="en-US" sz="2400" dirty="0">
              <a:latin typeface="Lucida Sans Typewriter" charset="0"/>
            </a:endParaRP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 </a:t>
            </a:r>
            <a:r>
              <a:rPr lang="en-US" sz="2400" dirty="0" err="1">
                <a:latin typeface="Lucida Sans Typewriter" charset="0"/>
              </a:rPr>
              <a:t>x</a:t>
            </a:r>
            <a:r>
              <a:rPr lang="en-US" sz="2400" baseline="-25000" dirty="0" err="1">
                <a:latin typeface="Lucida Sans Typewriter" charset="0"/>
              </a:rPr>
              <a:t>n</a:t>
            </a:r>
            <a:r>
              <a:rPr lang="en-US" sz="2400" dirty="0">
                <a:latin typeface="Lucida Sans Typewriter" charset="0"/>
              </a:rPr>
              <a:t>  &lt;- </a:t>
            </a:r>
            <a:r>
              <a:rPr lang="en-US" sz="2400" dirty="0" err="1">
                <a:latin typeface="Lucida Sans Typewriter" charset="0"/>
              </a:rPr>
              <a:t>m</a:t>
            </a:r>
            <a:r>
              <a:rPr lang="en-US" sz="2400" baseline="-25000" dirty="0" err="1">
                <a:latin typeface="Lucida Sans Typewriter" charset="0"/>
              </a:rPr>
              <a:t>n</a:t>
            </a:r>
            <a:endParaRPr lang="en-US" sz="2400" dirty="0">
              <a:latin typeface="Lucida Sans Typewriter" charset="0"/>
            </a:endParaRP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 f x</a:t>
            </a:r>
            <a:r>
              <a:rPr lang="en-US" sz="2400" baseline="-25000" dirty="0">
                <a:latin typeface="Lucida Sans Typewriter" charset="0"/>
              </a:rPr>
              <a:t>1</a:t>
            </a:r>
            <a:r>
              <a:rPr lang="en-US" sz="2400" dirty="0">
                <a:latin typeface="Lucida Sans Typewriter" charset="0"/>
              </a:rPr>
              <a:t> x</a:t>
            </a:r>
            <a:r>
              <a:rPr lang="en-US" sz="2400" baseline="-25000" dirty="0">
                <a:latin typeface="Lucida Sans Typewriter" charset="0"/>
              </a:rPr>
              <a:t>2</a:t>
            </a:r>
            <a:r>
              <a:rPr lang="en-US" sz="2400" dirty="0">
                <a:latin typeface="Lucida Sans Typewriter" charset="0"/>
              </a:rPr>
              <a:t> x</a:t>
            </a:r>
            <a:r>
              <a:rPr lang="en-US" sz="2400" baseline="-25000" dirty="0">
                <a:latin typeface="Lucida Sans Typewriter" charset="0"/>
              </a:rPr>
              <a:t>3</a:t>
            </a:r>
            <a:r>
              <a:rPr lang="en-US" sz="2400" dirty="0">
                <a:latin typeface="Lucida Sans Typewriter" charset="0"/>
              </a:rPr>
              <a:t> .. </a:t>
            </a:r>
            <a:r>
              <a:rPr lang="en-US" sz="2400" dirty="0" err="1">
                <a:latin typeface="Lucida Sans Typewriter" charset="0"/>
              </a:rPr>
              <a:t>x</a:t>
            </a:r>
            <a:r>
              <a:rPr lang="en-US" sz="2400" baseline="-25000" dirty="0" err="1">
                <a:latin typeface="Lucida Sans Typewriter" charset="0"/>
              </a:rPr>
              <a:t>n</a:t>
            </a:r>
            <a:r>
              <a:rPr lang="en-US" sz="2400" dirty="0">
                <a:latin typeface="Lucida Sans Typewriter" charset="0"/>
              </a:rPr>
              <a:t> </a:t>
            </a:r>
          </a:p>
        </p:txBody>
      </p:sp>
      <p:sp>
        <p:nvSpPr>
          <p:cNvPr id="8" name="Right Arrow 7">
            <a:extLst>
              <a:ext uri="{FF2B5EF4-FFF2-40B4-BE49-F238E27FC236}">
                <a16:creationId xmlns:a16="http://schemas.microsoft.com/office/drawing/2014/main" id="{713D9E18-B563-4CF6-7A2F-CD0673B49E45}"/>
              </a:ext>
            </a:extLst>
          </p:cNvPr>
          <p:cNvSpPr/>
          <p:nvPr/>
        </p:nvSpPr>
        <p:spPr>
          <a:xfrm>
            <a:off x="4391187" y="3921071"/>
            <a:ext cx="2128415" cy="46494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31CC5F0-4BFB-1F95-C90A-3900F54EB21B}"/>
              </a:ext>
            </a:extLst>
          </p:cNvPr>
          <p:cNvSpPr txBox="1"/>
          <p:nvPr/>
        </p:nvSpPr>
        <p:spPr>
          <a:xfrm>
            <a:off x="4618494" y="3551739"/>
            <a:ext cx="23293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Syntactic sugar</a:t>
            </a:r>
          </a:p>
        </p:txBody>
      </p:sp>
    </p:spTree>
    <p:extLst>
      <p:ext uri="{BB962C8B-B14F-4D97-AF65-F5344CB8AC3E}">
        <p14:creationId xmlns:p14="http://schemas.microsoft.com/office/powerpoint/2010/main" val="24156027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4428FA-0B3F-6D67-435E-11EA3662B2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FB2244-0605-5203-8924-C04B25F11A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New evaluation function using do (final version)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9E34A6-5F5A-5A09-E657-CFD46337D3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16</a:t>
            </a:fld>
            <a:endParaRPr lang="en-US" altLang="en-US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B1754B3B-4555-BFFA-DD1E-67CFDE6D119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89669" y="3111336"/>
            <a:ext cx="7302304" cy="2707536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eval :: Expr -&gt; Maybe Int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eval (Val n) 	= Just n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eval (Div x y) = do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						  n &lt;- eval x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					    m &lt;- eval y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					    safeDiv n m	</a:t>
            </a:r>
          </a:p>
        </p:txBody>
      </p:sp>
    </p:spTree>
    <p:extLst>
      <p:ext uri="{BB962C8B-B14F-4D97-AF65-F5344CB8AC3E}">
        <p14:creationId xmlns:p14="http://schemas.microsoft.com/office/powerpoint/2010/main" val="21412432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937184-B725-1815-2A20-C51635DB3B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B6E303-6527-9EBC-996C-C517AA3120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 now we are ready for Monads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D8BD1F-2891-73F6-9BBA-EE88DBA70C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17</a:t>
            </a:fld>
            <a:endParaRPr lang="en-US" altLang="en-US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8C230A0B-9BD7-8DAE-0389-08E5B85DBDC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89669" y="3554534"/>
            <a:ext cx="7302304" cy="182114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class Applicative m =&gt; Monad m where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(&gt;&gt;= ) :: m a -&gt; (a -&gt; mb) -&gt; mb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return :: a -&gt; ma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return = pure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C932938-CE00-247D-CFE5-F8A5486B5B42}"/>
              </a:ext>
            </a:extLst>
          </p:cNvPr>
          <p:cNvSpPr txBox="1"/>
          <p:nvPr/>
        </p:nvSpPr>
        <p:spPr>
          <a:xfrm>
            <a:off x="1591427" y="2217296"/>
            <a:ext cx="900914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Now that we have bind (&gt;&gt;=) we now can define this kind of applicative that has bind. </a:t>
            </a:r>
          </a:p>
        </p:txBody>
      </p:sp>
    </p:spTree>
    <p:extLst>
      <p:ext uri="{BB962C8B-B14F-4D97-AF65-F5344CB8AC3E}">
        <p14:creationId xmlns:p14="http://schemas.microsoft.com/office/powerpoint/2010/main" val="28366624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C0B802-BE8C-1D86-5C55-2373D74A64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 - Maybe – already have Functor, Applicative </a:t>
            </a:r>
            <a:r>
              <a:rPr lang="en-US" dirty="0" err="1"/>
              <a:t>defs</a:t>
            </a:r>
            <a:r>
              <a:rPr lang="en-US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09B549-00D1-EF07-9A21-0E6ABD304C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18</a:t>
            </a:fld>
            <a:endParaRPr lang="en-US" altLang="en-US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CA138AD6-6EF3-983D-6780-5B03A4696F0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883607" y="8570068"/>
            <a:ext cx="10724827" cy="2264338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instance Monad Maybe where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 -- (&gt;&gt;=) :: Maybe a -&gt; (a -&gt; Maybe b ) -&gt; Maybe b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 Nothing &gt;&gt;= f = Nothing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Just x &gt;&gt;= f = </a:t>
            </a:r>
            <a:r>
              <a:rPr lang="en-US" sz="2400" dirty="0" err="1">
                <a:latin typeface="Lucida Sans Typewriter" charset="0"/>
              </a:rPr>
              <a:t>fx</a:t>
            </a:r>
            <a:endParaRPr lang="en-US" sz="2400" dirty="0">
              <a:latin typeface="Lucida Sans Typewriter" charset="0"/>
            </a:endParaRPr>
          </a:p>
          <a:p>
            <a:pPr>
              <a:lnSpc>
                <a:spcPct val="120000"/>
              </a:lnSpc>
              <a:defRPr/>
            </a:pPr>
            <a:endParaRPr lang="en-US" sz="2400" dirty="0">
              <a:latin typeface="Lucida Sans Typewriter" charset="0"/>
            </a:endParaRPr>
          </a:p>
        </p:txBody>
      </p:sp>
      <p:sp>
        <p:nvSpPr>
          <p:cNvPr id="7" name="Text Box 4">
            <a:extLst>
              <a:ext uri="{FF2B5EF4-FFF2-40B4-BE49-F238E27FC236}">
                <a16:creationId xmlns:a16="http://schemas.microsoft.com/office/drawing/2014/main" id="{2B5E2671-34E1-E54E-0F09-52A962E762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1467" y="2374138"/>
            <a:ext cx="10724827" cy="4037131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data </a:t>
            </a:r>
            <a:r>
              <a:rPr lang="en-US" sz="2400" dirty="0" err="1">
                <a:latin typeface="Lucida Sans Typewriter" charset="0"/>
              </a:rPr>
              <a:t>myMaybe</a:t>
            </a:r>
            <a:r>
              <a:rPr lang="en-US" sz="2400" dirty="0">
                <a:latin typeface="Lucida Sans Typewriter" charset="0"/>
              </a:rPr>
              <a:t> a = Just a | Nothing deriving (Eq, Show)</a:t>
            </a:r>
          </a:p>
          <a:p>
            <a:pPr>
              <a:lnSpc>
                <a:spcPct val="120000"/>
              </a:lnSpc>
              <a:defRPr/>
            </a:pPr>
            <a:endParaRPr lang="en-US" sz="2400" dirty="0">
              <a:latin typeface="Lucida Sans Typewriter" charset="0"/>
            </a:endParaRP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instance Functor Maybe where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fmap f (Just x) = Just (f x)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fmap _ _        = Nothing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instance Applicative Maybe where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pure = Just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Nothing &lt;*&gt; _ = Nothing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(Just f ) &lt;*&gt; something. = fmap f something</a:t>
            </a:r>
          </a:p>
        </p:txBody>
      </p:sp>
    </p:spTree>
    <p:extLst>
      <p:ext uri="{BB962C8B-B14F-4D97-AF65-F5344CB8AC3E}">
        <p14:creationId xmlns:p14="http://schemas.microsoft.com/office/powerpoint/2010/main" val="229236417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ECEED1-714D-6B82-91CC-EEF880AAFE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0DAB2-2B43-F1CC-8D8C-73A3B9BE29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 - Maybe – already have Functor, Applicative </a:t>
            </a:r>
            <a:r>
              <a:rPr lang="en-US" dirty="0" err="1"/>
              <a:t>defs</a:t>
            </a:r>
            <a:r>
              <a:rPr lang="en-US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748ABE-1F84-BB8C-C76E-D9C7F1276C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19</a:t>
            </a:fld>
            <a:endParaRPr lang="en-US" altLang="en-US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B67836C5-1A6E-1AFB-0E46-8A9066F01A2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883607" y="8570068"/>
            <a:ext cx="10724827" cy="2264338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instance Monad Maybe where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 -- (&gt;&gt;=) :: Maybe a -&gt; (a -&gt; Maybe b ) -&gt; Maybe b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 Nothing &gt;&gt;= f = Nothing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Just x &gt;&gt;= f = </a:t>
            </a:r>
            <a:r>
              <a:rPr lang="en-US" sz="2400" dirty="0" err="1">
                <a:latin typeface="Lucida Sans Typewriter" charset="0"/>
              </a:rPr>
              <a:t>fx</a:t>
            </a:r>
            <a:endParaRPr lang="en-US" sz="2400" dirty="0">
              <a:latin typeface="Lucida Sans Typewriter" charset="0"/>
            </a:endParaRPr>
          </a:p>
          <a:p>
            <a:pPr>
              <a:lnSpc>
                <a:spcPct val="120000"/>
              </a:lnSpc>
              <a:defRPr/>
            </a:pPr>
            <a:endParaRPr lang="en-US" sz="2400" dirty="0">
              <a:latin typeface="Lucida Sans Typewriter" charset="0"/>
            </a:endParaRPr>
          </a:p>
        </p:txBody>
      </p:sp>
      <p:sp>
        <p:nvSpPr>
          <p:cNvPr id="3" name="Text Box 4">
            <a:extLst>
              <a:ext uri="{FF2B5EF4-FFF2-40B4-BE49-F238E27FC236}">
                <a16:creationId xmlns:a16="http://schemas.microsoft.com/office/drawing/2014/main" id="{9D308381-280A-7394-963C-6C4E34B6060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1467" y="2374138"/>
            <a:ext cx="10724827" cy="4037131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data </a:t>
            </a:r>
            <a:r>
              <a:rPr lang="en-US" sz="2400" dirty="0" err="1">
                <a:latin typeface="Lucida Sans Typewriter" charset="0"/>
              </a:rPr>
              <a:t>myMaybe</a:t>
            </a:r>
            <a:r>
              <a:rPr lang="en-US" sz="2400" dirty="0">
                <a:latin typeface="Lucida Sans Typewriter" charset="0"/>
              </a:rPr>
              <a:t> a = Just a | Nothing deriving (Eq, Show)</a:t>
            </a:r>
          </a:p>
          <a:p>
            <a:pPr>
              <a:lnSpc>
                <a:spcPct val="120000"/>
              </a:lnSpc>
              <a:defRPr/>
            </a:pPr>
            <a:endParaRPr lang="en-US" sz="2400" dirty="0">
              <a:latin typeface="Lucida Sans Typewriter" charset="0"/>
            </a:endParaRP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instance Functor Maybe where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fmap f (Just x) = Just (f x)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fmap _ _        = Nothing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instance Applicative Maybe where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pure = Just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Nothing &lt;*&gt; _ = Nothing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(Just f ) &lt;*&gt; something. = fmap f something</a:t>
            </a:r>
          </a:p>
        </p:txBody>
      </p:sp>
    </p:spTree>
    <p:extLst>
      <p:ext uri="{BB962C8B-B14F-4D97-AF65-F5344CB8AC3E}">
        <p14:creationId xmlns:p14="http://schemas.microsoft.com/office/powerpoint/2010/main" val="1275939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8FF251-F339-DE0A-E35B-8F9AFC4DBE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095829-A0EC-FB40-FFFE-CDA1AE3AB0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 - Maybe – already have Functor, Applicative </a:t>
            </a:r>
            <a:r>
              <a:rPr lang="en-US" dirty="0" err="1"/>
              <a:t>defs</a:t>
            </a:r>
            <a:r>
              <a:rPr lang="en-US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7EDA06-7DCD-52F6-8D96-FDF752159B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20</a:t>
            </a:fld>
            <a:endParaRPr lang="en-US" altLang="en-US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B1F4F32A-52AD-9C9C-032C-BB009C22B54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883607" y="8570068"/>
            <a:ext cx="10724827" cy="2264338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instance Monad Maybe where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 -- (&gt;&gt;=) :: Maybe a -&gt; (a -&gt; Maybe b ) -&gt; Maybe b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 Nothing &gt;&gt;= f = Nothing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Just x &gt;&gt;= f = </a:t>
            </a:r>
            <a:r>
              <a:rPr lang="en-US" sz="2400" dirty="0" err="1">
                <a:latin typeface="Lucida Sans Typewriter" charset="0"/>
              </a:rPr>
              <a:t>fx</a:t>
            </a:r>
            <a:endParaRPr lang="en-US" sz="2400" dirty="0">
              <a:latin typeface="Lucida Sans Typewriter" charset="0"/>
            </a:endParaRPr>
          </a:p>
          <a:p>
            <a:pPr>
              <a:lnSpc>
                <a:spcPct val="120000"/>
              </a:lnSpc>
              <a:defRPr/>
            </a:pPr>
            <a:endParaRPr lang="en-US" sz="2400" dirty="0">
              <a:latin typeface="Lucida Sans Typewriter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95A1CEF-CD10-B2F2-A9C1-9F390F35EC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019754"/>
            <a:ext cx="3461766" cy="1347282"/>
          </a:xfrm>
          <a:prstGeom prst="rect">
            <a:avLst/>
          </a:prstGeom>
        </p:spPr>
      </p:pic>
      <p:sp>
        <p:nvSpPr>
          <p:cNvPr id="6" name="Text Box 4">
            <a:extLst>
              <a:ext uri="{FF2B5EF4-FFF2-40B4-BE49-F238E27FC236}">
                <a16:creationId xmlns:a16="http://schemas.microsoft.com/office/drawing/2014/main" id="{B4C3752E-E7ED-65D5-F8A8-9D4F7114D5A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6034" y="3727986"/>
            <a:ext cx="11027573" cy="1821140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instance Monad Maybe where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-- (&gt;&gt;=) :: Maybe a -&gt; (a -&gt; Maybe b) -&gt; Maybe b)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Nothing &gt;&gt;= f  = Nothing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Just f  &gt;&gt;= f = f x</a:t>
            </a:r>
          </a:p>
        </p:txBody>
      </p:sp>
    </p:spTree>
    <p:extLst>
      <p:ext uri="{BB962C8B-B14F-4D97-AF65-F5344CB8AC3E}">
        <p14:creationId xmlns:p14="http://schemas.microsoft.com/office/powerpoint/2010/main" val="10473203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2D40DC-F0B8-6AA2-93D4-48FD569C7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C40B78-A408-BF62-7BEA-2A4BF0C099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 - Lists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F87975-A7CB-4933-3569-0CE3A756EF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21</a:t>
            </a:fld>
            <a:endParaRPr lang="en-US" altLang="en-US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6D81EA38-E5E6-B12E-C3D2-669AF853CC3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79351" y="2518430"/>
            <a:ext cx="8462074" cy="1821140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instance Monad [] where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 -- (&gt;&gt;=) :: [a] -&gt; (a -&gt; [b] ) -&gt; [b]</a:t>
            </a:r>
          </a:p>
          <a:p>
            <a:pPr marL="681038"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 Nothing &gt;&gt;= f  = Nothing</a:t>
            </a:r>
          </a:p>
          <a:p>
            <a:pPr marL="681038"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  </a:t>
            </a:r>
            <a:r>
              <a:rPr lang="en-US" sz="2400" dirty="0" err="1">
                <a:latin typeface="Lucida Sans Typewriter" charset="0"/>
              </a:rPr>
              <a:t>xs</a:t>
            </a:r>
            <a:r>
              <a:rPr lang="en-US" sz="2400" dirty="0">
                <a:latin typeface="Lucida Sans Typewriter" charset="0"/>
              </a:rPr>
              <a:t> &gt;&gt;= f  = </a:t>
            </a:r>
            <a:r>
              <a:rPr lang="en-US" sz="2400" dirty="0" err="1">
                <a:latin typeface="Lucida Sans Typewriter" charset="0"/>
              </a:rPr>
              <a:t>concat</a:t>
            </a:r>
            <a:r>
              <a:rPr lang="en-US" sz="2400" dirty="0">
                <a:latin typeface="Lucida Sans Typewriter" charset="0"/>
              </a:rPr>
              <a:t>  map f </a:t>
            </a:r>
            <a:r>
              <a:rPr lang="en-US" sz="2400" dirty="0" err="1">
                <a:latin typeface="Lucida Sans Typewriter" charset="0"/>
              </a:rPr>
              <a:t>xs</a:t>
            </a:r>
            <a:r>
              <a:rPr lang="en-US" sz="2400" dirty="0">
                <a:latin typeface="Lucida Sans Typewriter" charset="0"/>
              </a:rPr>
              <a:t> </a:t>
            </a:r>
          </a:p>
        </p:txBody>
      </p:sp>
      <p:sp>
        <p:nvSpPr>
          <p:cNvPr id="3" name="Text Box 4">
            <a:extLst>
              <a:ext uri="{FF2B5EF4-FFF2-40B4-BE49-F238E27FC236}">
                <a16:creationId xmlns:a16="http://schemas.microsoft.com/office/drawing/2014/main" id="{CBDEA162-AB97-2A25-921F-EDCC2D5EE44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79351" y="4778599"/>
            <a:ext cx="8462074" cy="1821140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instance Monad [] where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 -- (&gt;&gt;=) :: [a] -&gt; (a -&gt; [b] ) -&gt; [b]</a:t>
            </a:r>
          </a:p>
          <a:p>
            <a:pPr marL="681038"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 Nothing &gt;&gt;= f  = Nothing</a:t>
            </a:r>
          </a:p>
          <a:p>
            <a:pPr marL="681038"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  </a:t>
            </a:r>
            <a:r>
              <a:rPr lang="en-US" sz="2400" dirty="0" err="1">
                <a:latin typeface="Lucida Sans Typewriter" charset="0"/>
              </a:rPr>
              <a:t>xs</a:t>
            </a:r>
            <a:r>
              <a:rPr lang="en-US" sz="2400" dirty="0">
                <a:latin typeface="Lucida Sans Typewriter" charset="0"/>
              </a:rPr>
              <a:t> &gt;&gt;= f  = [y| x &lt;- </a:t>
            </a:r>
            <a:r>
              <a:rPr lang="en-US" sz="2400" dirty="0" err="1">
                <a:latin typeface="Lucida Sans Typewriter" charset="0"/>
              </a:rPr>
              <a:t>xs</a:t>
            </a:r>
            <a:r>
              <a:rPr lang="en-US" sz="2400" dirty="0">
                <a:latin typeface="Lucida Sans Typewriter" charset="0"/>
              </a:rPr>
              <a:t>, y &lt;- f x]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3015F66-AE54-14CD-8735-7E7888607CA0}"/>
              </a:ext>
            </a:extLst>
          </p:cNvPr>
          <p:cNvSpPr txBox="1"/>
          <p:nvPr/>
        </p:nvSpPr>
        <p:spPr>
          <a:xfrm>
            <a:off x="325464" y="5315919"/>
            <a:ext cx="7284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4044119-CF4A-6EE2-47C7-79DE514F095F}"/>
              </a:ext>
            </a:extLst>
          </p:cNvPr>
          <p:cNvSpPr txBox="1"/>
          <p:nvPr/>
        </p:nvSpPr>
        <p:spPr>
          <a:xfrm>
            <a:off x="10580914" y="3801291"/>
            <a:ext cx="1123406" cy="646331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Note the </a:t>
            </a:r>
            <a:r>
              <a:rPr lang="en-US" dirty="0" err="1"/>
              <a:t>concat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3820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6" grpId="0"/>
      <p:bldP spid="7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609FE6-75FD-CCF3-02B5-A4D4CE54D0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A7B74E-A78E-62D5-44A2-79704161E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 - using List monads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0530F5-F5F5-FA2D-8CD9-CFD0876EE4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22</a:t>
            </a:fld>
            <a:endParaRPr lang="en-US" altLang="en-US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257F2C98-62C8-A0BD-BD94-E2F489A37EE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79351" y="2961628"/>
            <a:ext cx="8462074" cy="934743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  <a:effectLst/>
        </p:spPr>
        <p:txBody>
          <a:bodyPr wrap="square" anchor="ctr">
            <a:spAutoFit/>
          </a:bodyPr>
          <a:lstStyle/>
          <a:p>
            <a:pPr marL="342900" indent="-342900">
              <a:lnSpc>
                <a:spcPct val="120000"/>
              </a:lnSpc>
              <a:buFont typeface="Wingdings" pitchFamily="2" charset="2"/>
              <a:buChar char="Ø"/>
              <a:defRPr/>
            </a:pPr>
            <a:r>
              <a:rPr lang="en-US" sz="2400" dirty="0">
                <a:latin typeface="Lucida Sans Typewriter" charset="0"/>
              </a:rPr>
              <a:t>pairs [1,2] [3,4]   -- cartesian product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[(1,3), 1,4), (2,3), 2,4)]</a:t>
            </a:r>
          </a:p>
        </p:txBody>
      </p:sp>
      <p:sp>
        <p:nvSpPr>
          <p:cNvPr id="3" name="Text Box 4">
            <a:extLst>
              <a:ext uri="{FF2B5EF4-FFF2-40B4-BE49-F238E27FC236}">
                <a16:creationId xmlns:a16="http://schemas.microsoft.com/office/drawing/2014/main" id="{7E9E4A24-65E6-D516-6A91-E30650EF588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79351" y="4778599"/>
            <a:ext cx="8462074" cy="1821140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pairs :: [a] -&gt; [b] -&gt; [(</a:t>
            </a:r>
            <a:r>
              <a:rPr lang="en-US" sz="2400" dirty="0" err="1">
                <a:latin typeface="Lucida Sans Typewriter" charset="0"/>
              </a:rPr>
              <a:t>a,b</a:t>
            </a:r>
            <a:r>
              <a:rPr lang="en-US" sz="2400" dirty="0">
                <a:latin typeface="Lucida Sans Typewriter" charset="0"/>
              </a:rPr>
              <a:t>)]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pairs </a:t>
            </a:r>
            <a:r>
              <a:rPr lang="en-US" sz="2400" dirty="0" err="1">
                <a:latin typeface="Lucida Sans Typewriter" charset="0"/>
              </a:rPr>
              <a:t>xs</a:t>
            </a:r>
            <a:r>
              <a:rPr lang="en-US" sz="2400" dirty="0">
                <a:latin typeface="Lucida Sans Typewriter" charset="0"/>
              </a:rPr>
              <a:t> </a:t>
            </a:r>
            <a:r>
              <a:rPr lang="en-US" sz="2400" dirty="0" err="1">
                <a:latin typeface="Lucida Sans Typewriter" charset="0"/>
              </a:rPr>
              <a:t>ys</a:t>
            </a:r>
            <a:r>
              <a:rPr lang="en-US" sz="2400" dirty="0">
                <a:latin typeface="Lucida Sans Typewriter" charset="0"/>
              </a:rPr>
              <a:t> = do x &lt;- </a:t>
            </a:r>
            <a:r>
              <a:rPr lang="en-US" sz="2400" dirty="0" err="1">
                <a:latin typeface="Lucida Sans Typewriter" charset="0"/>
              </a:rPr>
              <a:t>xs</a:t>
            </a:r>
            <a:endParaRPr lang="en-US" sz="2400" dirty="0">
              <a:latin typeface="Lucida Sans Typewriter" charset="0"/>
            </a:endParaRP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               y &lt;- </a:t>
            </a:r>
            <a:r>
              <a:rPr lang="en-US" sz="2400" dirty="0" err="1">
                <a:latin typeface="Lucida Sans Typewriter" charset="0"/>
              </a:rPr>
              <a:t>ys</a:t>
            </a:r>
            <a:endParaRPr lang="en-US" sz="2400" dirty="0">
              <a:latin typeface="Lucida Sans Typewriter" charset="0"/>
            </a:endParaRP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               return (</a:t>
            </a:r>
            <a:r>
              <a:rPr lang="en-US" sz="2400" dirty="0" err="1">
                <a:latin typeface="Lucida Sans Typewriter" charset="0"/>
              </a:rPr>
              <a:t>x,y</a:t>
            </a:r>
            <a:r>
              <a:rPr lang="en-US" sz="2400" dirty="0">
                <a:latin typeface="Lucida Sans Typewriter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9131382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1" name="Slide Number Placeholder 1">
            <a:extLst>
              <a:ext uri="{FF2B5EF4-FFF2-40B4-BE49-F238E27FC236}">
                <a16:creationId xmlns:a16="http://schemas.microsoft.com/office/drawing/2014/main" id="{477DA4E0-CF69-3D0C-A685-4A33ED512CBD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667289D0-9A1B-8542-BD22-9C0B457470F7}" type="slidenum">
              <a:rPr lang="en-US" altLang="en-US" sz="1400">
                <a:latin typeface="Tahoma" panose="020B0604030504040204" pitchFamily="34" charset="0"/>
                <a:ea typeface="MS PGothic" panose="020B0600070205080204" pitchFamily="34" charset="-128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23</a:t>
            </a:fld>
            <a:endParaRPr lang="en-US" altLang="en-US" sz="1400">
              <a:latin typeface="Tahoma" panose="020B0604030504040204" pitchFamily="34" charset="0"/>
              <a:ea typeface="MS PGothic" panose="020B0600070205080204" pitchFamily="34" charset="-128"/>
            </a:endParaRPr>
          </a:p>
        </p:txBody>
      </p:sp>
      <p:sp>
        <p:nvSpPr>
          <p:cNvPr id="15362" name="Rectangle 2">
            <a:extLst>
              <a:ext uri="{FF2B5EF4-FFF2-40B4-BE49-F238E27FC236}">
                <a16:creationId xmlns:a16="http://schemas.microsoft.com/office/drawing/2014/main" id="{6DE06BBD-789F-B879-E031-6D1BBD73999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5683" y="755485"/>
            <a:ext cx="7772400" cy="685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anchor="b"/>
          <a:lstStyle>
            <a:lvl1pPr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9pPr>
          </a:lstStyle>
          <a:p>
            <a:pPr eaLnBrk="1" hangingPunct="1"/>
            <a:r>
              <a:rPr kumimoji="1" lang="en-US" altLang="en-US" sz="3600">
                <a:solidFill>
                  <a:schemeClr val="tx2"/>
                </a:solidFill>
                <a:latin typeface="Arial Black" panose="020B0604020202020204" pitchFamily="34" charset="0"/>
                <a:ea typeface="MS PGothic" panose="020B0600070205080204" pitchFamily="34" charset="-128"/>
              </a:rPr>
              <a:t>Monads</a:t>
            </a:r>
          </a:p>
        </p:txBody>
      </p:sp>
      <p:sp>
        <p:nvSpPr>
          <p:cNvPr id="27651" name="Text Box 3">
            <a:extLst>
              <a:ext uri="{FF2B5EF4-FFF2-40B4-BE49-F238E27FC236}">
                <a16:creationId xmlns:a16="http://schemas.microsoft.com/office/drawing/2014/main" id="{8A506EBA-7C6F-BC47-490B-48B42F33D1B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5683" y="2545142"/>
            <a:ext cx="11337925" cy="37856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1pPr>
            <a:lvl2pPr marL="1085850" indent="-3429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9pPr>
          </a:lstStyle>
          <a:p>
            <a:pPr eaLnBrk="1" hangingPunct="1"/>
            <a:r>
              <a:rPr lang="en-US" altLang="en-US" sz="2400" dirty="0">
                <a:latin typeface="Tahoma" panose="020B0604030504040204" pitchFamily="34" charset="0"/>
                <a:ea typeface="MS PGothic" panose="020B0600070205080204" pitchFamily="34" charset="-128"/>
              </a:rPr>
              <a:t>A monad is defined by 3 things:</a:t>
            </a:r>
          </a:p>
          <a:p>
            <a:pPr lvl="1" eaLnBrk="1" hangingPunct="1">
              <a:buFont typeface="Arial" panose="020B0604020202020204" pitchFamily="34" charset="0"/>
              <a:buChar char="•"/>
            </a:pPr>
            <a:r>
              <a:rPr lang="en-US" altLang="en-US" sz="2400" dirty="0">
                <a:latin typeface="Tahoma" panose="020B0604030504040204" pitchFamily="34" charset="0"/>
                <a:ea typeface="MS PGothic" panose="020B0600070205080204" pitchFamily="34" charset="-128"/>
              </a:rPr>
              <a:t>A type constructor m</a:t>
            </a:r>
          </a:p>
          <a:p>
            <a:pPr lvl="1" eaLnBrk="1" hangingPunct="1">
              <a:buFont typeface="Arial" panose="020B0604020202020204" pitchFamily="34" charset="0"/>
              <a:buChar char="•"/>
            </a:pPr>
            <a:r>
              <a:rPr lang="en-US" altLang="en-US" sz="2400" dirty="0">
                <a:latin typeface="Tahoma" panose="020B0604030504040204" pitchFamily="34" charset="0"/>
                <a:ea typeface="MS PGothic" panose="020B0600070205080204" pitchFamily="34" charset="-128"/>
              </a:rPr>
              <a:t>A function return</a:t>
            </a:r>
          </a:p>
          <a:p>
            <a:pPr lvl="1" eaLnBrk="1" hangingPunct="1">
              <a:buFont typeface="Arial" panose="020B0604020202020204" pitchFamily="34" charset="0"/>
              <a:buChar char="•"/>
            </a:pPr>
            <a:r>
              <a:rPr lang="en-US" altLang="en-US" sz="2400" dirty="0">
                <a:latin typeface="Tahoma" panose="020B0604030504040204" pitchFamily="34" charset="0"/>
                <a:ea typeface="MS PGothic" panose="020B0600070205080204" pitchFamily="34" charset="-128"/>
              </a:rPr>
              <a:t>An operator (&gt;&gt;=) – read as “bind”</a:t>
            </a:r>
          </a:p>
          <a:p>
            <a:pPr eaLnBrk="1" hangingPunct="1"/>
            <a:r>
              <a:rPr lang="en-US" altLang="en-US" sz="2400" dirty="0">
                <a:latin typeface="Tahoma" panose="020B0604030504040204" pitchFamily="34" charset="0"/>
                <a:ea typeface="MS PGothic" panose="020B0600070205080204" pitchFamily="34" charset="-128"/>
              </a:rPr>
              <a:t>Originally, these were introduced for IO, but they can be much more powerful.</a:t>
            </a:r>
          </a:p>
          <a:p>
            <a:pPr eaLnBrk="1" hangingPunct="1"/>
            <a:endParaRPr lang="en-US" altLang="en-US" sz="2400" dirty="0">
              <a:latin typeface="Tahoma" panose="020B0604030504040204" pitchFamily="34" charset="0"/>
              <a:ea typeface="MS PGothic" panose="020B0600070205080204" pitchFamily="34" charset="-128"/>
            </a:endParaRPr>
          </a:p>
          <a:p>
            <a:pPr eaLnBrk="1" hangingPunct="1"/>
            <a:endParaRPr lang="en-US" altLang="en-US" sz="2400" dirty="0">
              <a:latin typeface="Tahoma" panose="020B0604030504040204" pitchFamily="34" charset="0"/>
              <a:ea typeface="MS PGothic" panose="020B0600070205080204" pitchFamily="34" charset="-128"/>
            </a:endParaRPr>
          </a:p>
          <a:p>
            <a:pPr eaLnBrk="1" hangingPunct="1"/>
            <a:endParaRPr lang="en-US" altLang="en-US" sz="2400" dirty="0">
              <a:latin typeface="Tahoma" panose="020B0604030504040204" pitchFamily="34" charset="0"/>
              <a:ea typeface="MS PGothic" panose="020B0600070205080204" pitchFamily="34" charset="-128"/>
            </a:endParaRPr>
          </a:p>
          <a:p>
            <a:pPr eaLnBrk="1" hangingPunct="1"/>
            <a:r>
              <a:rPr lang="en-US" altLang="en-US" sz="2400" dirty="0">
                <a:latin typeface="Tahoma" panose="020B0604030504040204" pitchFamily="34" charset="0"/>
                <a:ea typeface="MS PGothic" panose="020B0600070205080204" pitchFamily="34" charset="-128"/>
              </a:rPr>
              <a:t>The function and operator are methods of the Monad </a:t>
            </a:r>
            <a:r>
              <a:rPr lang="en-US" altLang="en-US" sz="2400" dirty="0" err="1">
                <a:latin typeface="Tahoma" panose="020B0604030504040204" pitchFamily="34" charset="0"/>
                <a:ea typeface="MS PGothic" panose="020B0600070205080204" pitchFamily="34" charset="-128"/>
              </a:rPr>
              <a:t>typeclass</a:t>
            </a:r>
            <a:r>
              <a:rPr lang="en-US" altLang="en-US" sz="2400" dirty="0">
                <a:latin typeface="Tahoma" panose="020B0604030504040204" pitchFamily="34" charset="0"/>
                <a:ea typeface="MS PGothic" panose="020B0600070205080204" pitchFamily="34" charset="-128"/>
              </a:rPr>
              <a:t> and have types themselves, which are required to obey 3 laws (more later):</a:t>
            </a:r>
          </a:p>
        </p:txBody>
      </p:sp>
      <p:sp>
        <p:nvSpPr>
          <p:cNvPr id="2" name="Text Box 4">
            <a:extLst>
              <a:ext uri="{FF2B5EF4-FFF2-40B4-BE49-F238E27FC236}">
                <a16:creationId xmlns:a16="http://schemas.microsoft.com/office/drawing/2014/main" id="{5DB5DFAF-3F62-1658-87C9-3D6C998AD44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30763" y="4603569"/>
            <a:ext cx="6887320" cy="934743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return :: a -&gt; m a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(&gt;&gt;=) :: m a -&gt; (a -&gt; m b) -&gt; m b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765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765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765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765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765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765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2765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2765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2765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2765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3" name="Slide Number Placeholder 1">
            <a:extLst>
              <a:ext uri="{FF2B5EF4-FFF2-40B4-BE49-F238E27FC236}">
                <a16:creationId xmlns:a16="http://schemas.microsoft.com/office/drawing/2014/main" id="{F9B7DCD1-F77B-FDDA-21DE-8768402C1F0D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DEB4B68-9CEF-C841-A605-4708AC6299DC}" type="slidenum">
              <a:rPr lang="en-US" altLang="en-US" sz="1400">
                <a:latin typeface="Tahoma" panose="020B0604030504040204" pitchFamily="34" charset="0"/>
                <a:ea typeface="MS PGothic" panose="020B0600070205080204" pitchFamily="34" charset="-128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24</a:t>
            </a:fld>
            <a:endParaRPr lang="en-US" altLang="en-US" sz="1400">
              <a:latin typeface="Tahoma" panose="020B0604030504040204" pitchFamily="34" charset="0"/>
              <a:ea typeface="MS PGothic" panose="020B0600070205080204" pitchFamily="34" charset="-128"/>
            </a:endParaRPr>
          </a:p>
        </p:txBody>
      </p:sp>
      <p:sp>
        <p:nvSpPr>
          <p:cNvPr id="23554" name="Rectangle 2">
            <a:extLst>
              <a:ext uri="{FF2B5EF4-FFF2-40B4-BE49-F238E27FC236}">
                <a16:creationId xmlns:a16="http://schemas.microsoft.com/office/drawing/2014/main" id="{6E26EC5D-A7D0-9C76-CF10-015C7BDBC13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93738" y="955675"/>
            <a:ext cx="7772400" cy="685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anchor="b"/>
          <a:lstStyle>
            <a:lvl1pPr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9pPr>
          </a:lstStyle>
          <a:p>
            <a:pPr eaLnBrk="1" hangingPunct="1"/>
            <a:r>
              <a:rPr kumimoji="1" lang="en-US" altLang="en-US" sz="3600">
                <a:solidFill>
                  <a:schemeClr val="tx2"/>
                </a:solidFill>
                <a:latin typeface="Arial Black" panose="020B0604020202020204" pitchFamily="34" charset="0"/>
                <a:ea typeface="MS PGothic" panose="020B0600070205080204" pitchFamily="34" charset="-128"/>
              </a:rPr>
              <a:t>Monad laws</a:t>
            </a:r>
          </a:p>
        </p:txBody>
      </p:sp>
      <p:sp>
        <p:nvSpPr>
          <p:cNvPr id="23555" name="Text Box 3">
            <a:extLst>
              <a:ext uri="{FF2B5EF4-FFF2-40B4-BE49-F238E27FC236}">
                <a16:creationId xmlns:a16="http://schemas.microsoft.com/office/drawing/2014/main" id="{67BC2E0A-A1C2-37AC-834F-F6792AD2E8C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93800" y="2405063"/>
            <a:ext cx="8389938" cy="523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9pPr>
          </a:lstStyle>
          <a:p>
            <a:pPr eaLnBrk="1" hangingPunct="1"/>
            <a:r>
              <a:rPr lang="en-US" altLang="en-US" sz="2800">
                <a:latin typeface="Tahoma" panose="020B0604030504040204" pitchFamily="34" charset="0"/>
                <a:ea typeface="MS PGothic" panose="020B0600070205080204" pitchFamily="34" charset="-128"/>
              </a:rPr>
              <a:t>Monads are required to obey 3 laws:</a:t>
            </a:r>
          </a:p>
        </p:txBody>
      </p:sp>
      <p:sp>
        <p:nvSpPr>
          <p:cNvPr id="35844" name="Text Box 3">
            <a:extLst>
              <a:ext uri="{FF2B5EF4-FFF2-40B4-BE49-F238E27FC236}">
                <a16:creationId xmlns:a16="http://schemas.microsoft.com/office/drawing/2014/main" id="{F8D93593-B998-2E2E-A845-5D534BD0119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84288" y="4657725"/>
            <a:ext cx="10366375" cy="1939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9pPr>
          </a:lstStyle>
          <a:p>
            <a:pPr eaLnBrk="1" hangingPunct="1"/>
            <a:r>
              <a:rPr lang="en-US" altLang="en-US" sz="2400" dirty="0">
                <a:latin typeface="Tahoma" panose="020B0604030504040204" pitchFamily="34" charset="0"/>
                <a:ea typeface="MS PGothic" panose="020B0600070205080204" pitchFamily="34" charset="-128"/>
              </a:rPr>
              <a:t>Monads originally come from a branch of mathematics called Category Theory. </a:t>
            </a:r>
          </a:p>
          <a:p>
            <a:pPr eaLnBrk="1" hangingPunct="1"/>
            <a:endParaRPr lang="en-US" altLang="en-US" sz="2400" dirty="0">
              <a:latin typeface="Tahoma" panose="020B0604030504040204" pitchFamily="34" charset="0"/>
              <a:ea typeface="MS PGothic" panose="020B0600070205080204" pitchFamily="34" charset="-128"/>
            </a:endParaRPr>
          </a:p>
          <a:p>
            <a:pPr eaLnBrk="1" hangingPunct="1"/>
            <a:r>
              <a:rPr lang="en-US" altLang="en-US" sz="2400" dirty="0">
                <a:latin typeface="Tahoma" panose="020B0604030504040204" pitchFamily="34" charset="0"/>
                <a:ea typeface="MS PGothic" panose="020B0600070205080204" pitchFamily="34" charset="-128"/>
              </a:rPr>
              <a:t>(Fortunately, it is entirely unnecessary to understand category theory in order to understand and use monads in Haskell.)</a:t>
            </a:r>
          </a:p>
        </p:txBody>
      </p:sp>
      <p:sp>
        <p:nvSpPr>
          <p:cNvPr id="2" name="Text Box 4">
            <a:extLst>
              <a:ext uri="{FF2B5EF4-FFF2-40B4-BE49-F238E27FC236}">
                <a16:creationId xmlns:a16="http://schemas.microsoft.com/office/drawing/2014/main" id="{1A39A07C-414C-5569-02FD-6A1B73486D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9373" y="3104361"/>
            <a:ext cx="11313254" cy="1377941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m  &gt;&gt;= return  	= m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return x &gt;&gt;= f 	= f x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(m &gt;&gt;= f) &gt;&gt;= g 	= m &gt;&gt;= (\x -&gt; x &gt;&gt;= g) -- associativity 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584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584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584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584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7" name="Slide Number Placeholder 1">
            <a:extLst>
              <a:ext uri="{FF2B5EF4-FFF2-40B4-BE49-F238E27FC236}">
                <a16:creationId xmlns:a16="http://schemas.microsoft.com/office/drawing/2014/main" id="{AD49C7CF-C7AA-E5B2-5FBC-F2CB3803B3DB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675451CC-F1D8-F14B-8FF6-EF91B1CAFD0C}" type="slidenum">
              <a:rPr lang="en-US" altLang="en-US" sz="1400">
                <a:latin typeface="Tahoma" panose="020B0604030504040204" pitchFamily="34" charset="0"/>
                <a:ea typeface="MS PGothic" panose="020B0600070205080204" pitchFamily="34" charset="-128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25</a:t>
            </a:fld>
            <a:endParaRPr lang="en-US" altLang="en-US" sz="1400">
              <a:latin typeface="Tahoma" panose="020B0604030504040204" pitchFamily="34" charset="0"/>
              <a:ea typeface="MS PGothic" panose="020B0600070205080204" pitchFamily="34" charset="-128"/>
            </a:endParaRPr>
          </a:p>
        </p:txBody>
      </p:sp>
      <p:sp>
        <p:nvSpPr>
          <p:cNvPr id="24578" name="Rectangle 2">
            <a:extLst>
              <a:ext uri="{FF2B5EF4-FFF2-40B4-BE49-F238E27FC236}">
                <a16:creationId xmlns:a16="http://schemas.microsoft.com/office/drawing/2014/main" id="{B2D13598-F734-3E91-41C9-612B6193FBB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3075" y="752475"/>
            <a:ext cx="7772400" cy="685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anchor="b"/>
          <a:lstStyle>
            <a:lvl1pPr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9pPr>
          </a:lstStyle>
          <a:p>
            <a:pPr eaLnBrk="1" hangingPunct="1"/>
            <a:r>
              <a:rPr kumimoji="1" lang="en-US" altLang="en-US" sz="3600">
                <a:solidFill>
                  <a:schemeClr val="tx2"/>
                </a:solidFill>
                <a:latin typeface="Arial Black" panose="020B0604020202020204" pitchFamily="34" charset="0"/>
                <a:ea typeface="MS PGothic" panose="020B0600070205080204" pitchFamily="34" charset="-128"/>
              </a:rPr>
              <a:t>Monadic Programming</a:t>
            </a:r>
          </a:p>
        </p:txBody>
      </p:sp>
      <p:sp>
        <p:nvSpPr>
          <p:cNvPr id="36867" name="Text Box 3">
            <a:extLst>
              <a:ext uri="{FF2B5EF4-FFF2-40B4-BE49-F238E27FC236}">
                <a16:creationId xmlns:a16="http://schemas.microsoft.com/office/drawing/2014/main" id="{15F75A07-01E7-A730-4709-B3765D9F15B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9241" y="2274773"/>
            <a:ext cx="10617291" cy="329320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ctr">
            <a:spAutoFit/>
          </a:bodyPr>
          <a:lstStyle>
            <a:lvl1pPr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1pPr>
            <a:lvl2pPr marL="1200150" indent="-4572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9pPr>
          </a:lstStyle>
          <a:p>
            <a:pPr eaLnBrk="1" hangingPunct="1">
              <a:buFont typeface="Monotype Sorts" pitchFamily="2" charset="2"/>
              <a:buNone/>
            </a:pPr>
            <a:r>
              <a:rPr lang="en-US" altLang="en-US" sz="2400" dirty="0">
                <a:latin typeface="Tahoma" panose="020B0604030504040204" pitchFamily="34" charset="0"/>
                <a:ea typeface="MS PGothic" panose="020B0600070205080204" pitchFamily="34" charset="-128"/>
              </a:rPr>
              <a:t>Having designed a Monad (i.e. ‘I need a Monad with this shape’), we define an instance of a Monad. </a:t>
            </a:r>
          </a:p>
          <a:p>
            <a:pPr eaLnBrk="1" hangingPunct="1">
              <a:buFont typeface="Monotype Sorts" pitchFamily="2" charset="2"/>
              <a:buNone/>
            </a:pPr>
            <a:endParaRPr lang="en-US" altLang="en-US" sz="2400" dirty="0">
              <a:latin typeface="Tahoma" panose="020B0604030504040204" pitchFamily="34" charset="0"/>
              <a:ea typeface="MS PGothic" panose="020B0600070205080204" pitchFamily="34" charset="-128"/>
            </a:endParaRPr>
          </a:p>
          <a:p>
            <a:pPr eaLnBrk="1" hangingPunct="1">
              <a:buFont typeface="Monotype Sorts" pitchFamily="2" charset="2"/>
              <a:buNone/>
            </a:pPr>
            <a:r>
              <a:rPr lang="en-US" altLang="en-US" sz="2400" dirty="0">
                <a:latin typeface="Tahoma" panose="020B0604030504040204" pitchFamily="34" charset="0"/>
                <a:ea typeface="MS PGothic" panose="020B0600070205080204" pitchFamily="34" charset="-128"/>
              </a:rPr>
              <a:t>This involves essentially writing what </a:t>
            </a:r>
          </a:p>
          <a:p>
            <a:pPr eaLnBrk="1" hangingPunct="1">
              <a:buFont typeface="Monotype Sorts" pitchFamily="2" charset="2"/>
              <a:buNone/>
            </a:pPr>
            <a:endParaRPr lang="en-US" altLang="en-US" sz="2400" dirty="0">
              <a:latin typeface="Tahoma" panose="020B0604030504040204" pitchFamily="34" charset="0"/>
              <a:ea typeface="MS PGothic" panose="020B0600070205080204" pitchFamily="34" charset="-128"/>
            </a:endParaRPr>
          </a:p>
          <a:p>
            <a:pPr lvl="1" eaLnBrk="1" hangingPunct="1">
              <a:buFont typeface="Arial Black" panose="020B0604020202020204" pitchFamily="34" charset="0"/>
              <a:buAutoNum type="arabicPeriod"/>
            </a:pPr>
            <a:r>
              <a:rPr lang="en-US" altLang="en-US" sz="2000" dirty="0">
                <a:latin typeface="Tahoma" panose="020B0604030504040204" pitchFamily="34" charset="0"/>
                <a:ea typeface="MS PGothic" panose="020B0600070205080204" pitchFamily="34" charset="-128"/>
              </a:rPr>
              <a:t>return   and</a:t>
            </a:r>
          </a:p>
          <a:p>
            <a:pPr lvl="1" eaLnBrk="1" hangingPunct="1">
              <a:buFont typeface="Arial Black" panose="020B0604020202020204" pitchFamily="34" charset="0"/>
              <a:buAutoNum type="arabicPeriod"/>
            </a:pPr>
            <a:r>
              <a:rPr lang="en-US" altLang="en-US" sz="2000" dirty="0">
                <a:latin typeface="Tahoma" panose="020B0604030504040204" pitchFamily="34" charset="0"/>
                <a:ea typeface="MS PGothic" panose="020B0600070205080204" pitchFamily="34" charset="-128"/>
              </a:rPr>
              <a:t>&gt;&gt;=     mean in this Monad</a:t>
            </a:r>
          </a:p>
          <a:p>
            <a:pPr eaLnBrk="1" hangingPunct="1">
              <a:buFont typeface="Arial Black" panose="020B0604020202020204" pitchFamily="34" charset="0"/>
              <a:buAutoNum type="arabicPeriod"/>
            </a:pPr>
            <a:endParaRPr lang="en-US" altLang="en-US" sz="2400" dirty="0">
              <a:latin typeface="Tahoma" panose="020B0604030504040204" pitchFamily="34" charset="0"/>
              <a:ea typeface="MS PGothic" panose="020B0600070205080204" pitchFamily="34" charset="-128"/>
            </a:endParaRPr>
          </a:p>
          <a:p>
            <a:pPr eaLnBrk="1" hangingPunct="1">
              <a:buFont typeface="Monotype Sorts" pitchFamily="2" charset="2"/>
              <a:buNone/>
            </a:pPr>
            <a:r>
              <a:rPr lang="en-US" altLang="en-US" sz="2400" dirty="0">
                <a:latin typeface="Tahoma" panose="020B0604030504040204" pitchFamily="34" charset="0"/>
                <a:ea typeface="MS PGothic" panose="020B0600070205080204" pitchFamily="34" charset="-128"/>
              </a:rPr>
              <a:t>(this assumes you have written instances for Functor and Applicative) 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68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68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686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686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686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686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3686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3686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686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686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BBDC5F-0D87-6850-C4F6-985CEF6FEC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Examples of monadic programming – 1 </a:t>
            </a:r>
            <a:r>
              <a:rPr lang="en-US"/>
              <a:t>- fmap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2E264D-2B9B-9494-3CB3-728920ECB8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26</a:t>
            </a:fld>
            <a:endParaRPr lang="en-US" altLang="en-US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29CCF17A-D931-E03E-0C36-AF79B687BAF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68926" y="2393631"/>
            <a:ext cx="7736439" cy="934743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--- fmap using IO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fmap :: (a -&gt; b) -&gt;  IO a -&gt; IO b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9566D11-A38A-1B39-D606-7457394002A3}"/>
              </a:ext>
            </a:extLst>
          </p:cNvPr>
          <p:cNvSpPr txBox="1"/>
          <p:nvPr/>
        </p:nvSpPr>
        <p:spPr>
          <a:xfrm>
            <a:off x="268942" y="3529627"/>
            <a:ext cx="11307556" cy="33855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Given </a:t>
            </a:r>
          </a:p>
          <a:p>
            <a:pPr marL="493713" lvl="1" indent="-36513">
              <a:buFont typeface="Arial" panose="020B0604020202020204" pitchFamily="34" charset="0"/>
              <a:buChar char="•"/>
            </a:pPr>
            <a:r>
              <a:rPr lang="en-US" sz="2800" dirty="0"/>
              <a:t>	a function  </a:t>
            </a:r>
            <a:r>
              <a:rPr lang="en-US" sz="2800" b="1" dirty="0">
                <a:ea typeface="Courier New" pitchFamily="34" charset="-122"/>
                <a:cs typeface="Courier New" pitchFamily="34" charset="-120"/>
              </a:rPr>
              <a:t>f :: a -&gt; b</a:t>
            </a:r>
            <a:r>
              <a:rPr lang="en-US" sz="2800" dirty="0"/>
              <a:t>  and </a:t>
            </a:r>
          </a:p>
          <a:p>
            <a:pPr marL="898525" lvl="1" indent="-441325">
              <a:buFont typeface="Arial" panose="020B0604020202020204" pitchFamily="34" charset="0"/>
              <a:buChar char="•"/>
            </a:pPr>
            <a:r>
              <a:rPr lang="en-US" sz="2800" dirty="0"/>
              <a:t>	an IO interaction  </a:t>
            </a:r>
            <a:r>
              <a:rPr lang="en-US" sz="2800" b="1" dirty="0">
                <a:ea typeface="Courier New" pitchFamily="34" charset="-122"/>
                <a:cs typeface="Courier New" pitchFamily="34" charset="-120"/>
              </a:rPr>
              <a:t>m :: IO a</a:t>
            </a:r>
            <a:r>
              <a:rPr lang="en-US" sz="2800" dirty="0"/>
              <a:t>,</a:t>
            </a:r>
          </a:p>
          <a:p>
            <a:endParaRPr lang="en-US" sz="2800" dirty="0"/>
          </a:p>
          <a:p>
            <a:r>
              <a:rPr lang="en-US" sz="2800" dirty="0"/>
              <a:t>run the interaction, </a:t>
            </a:r>
          </a:p>
          <a:p>
            <a:pPr marL="898525" lvl="1" indent="-458788">
              <a:buFont typeface="Arial" panose="020B0604020202020204" pitchFamily="34" charset="0"/>
              <a:buChar char="•"/>
            </a:pPr>
            <a:r>
              <a:rPr lang="en-US" sz="2800" dirty="0"/>
              <a:t>	then apply </a:t>
            </a:r>
            <a:r>
              <a:rPr lang="en-US" sz="2800" b="1" dirty="0">
                <a:ea typeface="Courier New" pitchFamily="34" charset="-122"/>
                <a:cs typeface="Courier New" pitchFamily="34" charset="-120"/>
              </a:rPr>
              <a:t>f</a:t>
            </a:r>
            <a:r>
              <a:rPr lang="en-US" sz="2800" dirty="0"/>
              <a:t> to the result, and </a:t>
            </a:r>
          </a:p>
          <a:p>
            <a:pPr marL="898525" lvl="1" indent="-458788">
              <a:buFont typeface="Arial" panose="020B0604020202020204" pitchFamily="34" charset="0"/>
              <a:buChar char="•"/>
            </a:pPr>
            <a:r>
              <a:rPr lang="en-US" sz="2800" dirty="0"/>
              <a:t>	wrap it back in IO.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32711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F178B2-6827-A146-1F15-14D218C3A9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900E36-8693-ED53-FC9E-60CBD1980F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fmap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0193E9-35F6-533D-280D-91F7CABDEE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27</a:t>
            </a:fld>
            <a:endParaRPr lang="en-US" altLang="en-US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F19F4DE6-E771-8BF2-4C1D-C718E9A7092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43421" y="2436124"/>
            <a:ext cx="6712608" cy="491545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fmap :: (a -&gt; b) -&gt;  IO a -&gt; IO b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5EB078-9E89-6D7F-2A24-93F2325ACEA1}"/>
              </a:ext>
            </a:extLst>
          </p:cNvPr>
          <p:cNvSpPr txBox="1"/>
          <p:nvPr/>
        </p:nvSpPr>
        <p:spPr>
          <a:xfrm>
            <a:off x="268942" y="3529627"/>
            <a:ext cx="6300024" cy="33855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Given </a:t>
            </a:r>
          </a:p>
          <a:p>
            <a:pPr marL="493713" lvl="1" indent="-36513">
              <a:buFont typeface="Arial" panose="020B0604020202020204" pitchFamily="34" charset="0"/>
              <a:buChar char="•"/>
            </a:pPr>
            <a:r>
              <a:rPr lang="en-US" sz="2800" dirty="0"/>
              <a:t>	a function  </a:t>
            </a:r>
            <a:r>
              <a:rPr lang="en-US" sz="2800" b="1" dirty="0">
                <a:ea typeface="Courier New" pitchFamily="34" charset="-122"/>
                <a:cs typeface="Courier New" pitchFamily="34" charset="-120"/>
              </a:rPr>
              <a:t>f :: a -&gt; b</a:t>
            </a:r>
            <a:r>
              <a:rPr lang="en-US" sz="2800" dirty="0"/>
              <a:t>  and </a:t>
            </a:r>
          </a:p>
          <a:p>
            <a:pPr marL="898525" lvl="1" indent="-441325">
              <a:buFont typeface="Arial" panose="020B0604020202020204" pitchFamily="34" charset="0"/>
              <a:buChar char="•"/>
            </a:pPr>
            <a:r>
              <a:rPr lang="en-US" sz="2800" dirty="0"/>
              <a:t>	an IO interaction  </a:t>
            </a:r>
            <a:r>
              <a:rPr lang="en-US" sz="2800" b="1" dirty="0">
                <a:ea typeface="Courier New" pitchFamily="34" charset="-122"/>
                <a:cs typeface="Courier New" pitchFamily="34" charset="-120"/>
              </a:rPr>
              <a:t>m :: IO a</a:t>
            </a:r>
            <a:r>
              <a:rPr lang="en-US" sz="2800" dirty="0"/>
              <a:t>,</a:t>
            </a:r>
          </a:p>
          <a:p>
            <a:r>
              <a:rPr lang="en-US" sz="2800" dirty="0"/>
              <a:t>We want to: </a:t>
            </a:r>
          </a:p>
          <a:p>
            <a:pPr marL="895350" indent="-457200">
              <a:buFont typeface="Arial" panose="020B0604020202020204" pitchFamily="34" charset="0"/>
              <a:buChar char="•"/>
            </a:pPr>
            <a:r>
              <a:rPr lang="en-US" sz="2800" dirty="0"/>
              <a:t> run the interaction, </a:t>
            </a:r>
          </a:p>
          <a:p>
            <a:pPr marL="895350" indent="-457200">
              <a:buFont typeface="Arial" panose="020B0604020202020204" pitchFamily="34" charset="0"/>
              <a:buChar char="•"/>
            </a:pPr>
            <a:r>
              <a:rPr lang="en-US" sz="2800" dirty="0"/>
              <a:t>	then apply </a:t>
            </a:r>
            <a:r>
              <a:rPr lang="en-US" sz="2800" b="1" dirty="0">
                <a:ea typeface="Courier New" pitchFamily="34" charset="-122"/>
                <a:cs typeface="Courier New" pitchFamily="34" charset="-120"/>
              </a:rPr>
              <a:t>f</a:t>
            </a:r>
            <a:r>
              <a:rPr lang="en-US" sz="2800" dirty="0"/>
              <a:t> to the result, and </a:t>
            </a:r>
          </a:p>
          <a:p>
            <a:pPr marL="895350" lvl="1" indent="-457200">
              <a:buFont typeface="Arial" panose="020B0604020202020204" pitchFamily="34" charset="0"/>
              <a:buChar char="•"/>
            </a:pPr>
            <a:r>
              <a:rPr lang="en-US" sz="2800" dirty="0"/>
              <a:t>	wrap it back in IO.</a:t>
            </a:r>
          </a:p>
          <a:p>
            <a:endParaRPr lang="en-US" dirty="0"/>
          </a:p>
        </p:txBody>
      </p:sp>
      <p:sp>
        <p:nvSpPr>
          <p:cNvPr id="3" name="Text Box 4">
            <a:extLst>
              <a:ext uri="{FF2B5EF4-FFF2-40B4-BE49-F238E27FC236}">
                <a16:creationId xmlns:a16="http://schemas.microsoft.com/office/drawing/2014/main" id="{414E5E02-14C9-EE30-70EA-572D9114115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24868" y="4103414"/>
            <a:ext cx="4176801" cy="1821140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fmap f m =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  do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		x &lt;- m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		return(f x) </a:t>
            </a:r>
          </a:p>
        </p:txBody>
      </p:sp>
    </p:spTree>
    <p:extLst>
      <p:ext uri="{BB962C8B-B14F-4D97-AF65-F5344CB8AC3E}">
        <p14:creationId xmlns:p14="http://schemas.microsoft.com/office/powerpoint/2010/main" val="10314902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500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3" grpId="0" uiExpand="1" build="p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B88AB2-CD6C-5A74-A571-F9AEDA7206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A85BF0-5D1A-0180-65CD-DE7E62EA57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1451" y="753228"/>
            <a:ext cx="10122732" cy="1080938"/>
          </a:xfrm>
        </p:spPr>
        <p:txBody>
          <a:bodyPr/>
          <a:lstStyle/>
          <a:p>
            <a:r>
              <a:rPr lang="en-US" dirty="0"/>
              <a:t>Examples of monadic programming– 2 – using recursion - repeat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4BAF3D-23A2-66B1-EEDF-AB62293CA1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28</a:t>
            </a:fld>
            <a:endParaRPr lang="en-US" altLang="en-US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120B0880-9EE8-7CAE-8F95-F67C24C4036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42694" y="2043661"/>
            <a:ext cx="7736439" cy="1569660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  <a:effectLst/>
        </p:spPr>
        <p:txBody>
          <a:bodyPr wrap="square" anchor="ctr">
            <a:spAutoFit/>
          </a:bodyPr>
          <a:lstStyle/>
          <a:p>
            <a:r>
              <a:rPr lang="en-US" sz="2400" dirty="0">
                <a:latin typeface="Lucida Sans Typewriter" charset="0"/>
              </a:rPr>
              <a:t>repeat :: IO Bool -&gt; IO () -&gt; IO ()</a:t>
            </a:r>
          </a:p>
          <a:p>
            <a:r>
              <a:rPr lang="en-US" sz="2400" dirty="0">
                <a:latin typeface="Lucida Sans Typewriter" charset="0"/>
              </a:rPr>
              <a:t>So that </a:t>
            </a:r>
          </a:p>
          <a:p>
            <a:r>
              <a:rPr lang="en-US" sz="2400" dirty="0">
                <a:latin typeface="Lucida Sans Typewriter" charset="0"/>
              </a:rPr>
              <a:t>  </a:t>
            </a:r>
            <a:r>
              <a:rPr lang="en-US" sz="2400" b="1" dirty="0">
                <a:solidFill>
                  <a:schemeClr val="bg1"/>
                </a:solidFill>
                <a:latin typeface="Lucida Sans Typewriter" charset="0"/>
              </a:rPr>
              <a:t>repeat test </a:t>
            </a:r>
            <a:r>
              <a:rPr lang="en-US" sz="2400" b="1" dirty="0" err="1">
                <a:solidFill>
                  <a:schemeClr val="bg1"/>
                </a:solidFill>
                <a:latin typeface="Lucida Sans Typewriter" charset="0"/>
              </a:rPr>
              <a:t>oper</a:t>
            </a:r>
            <a:r>
              <a:rPr lang="en-US" sz="2400" b="1" dirty="0">
                <a:solidFill>
                  <a:schemeClr val="bg1"/>
                </a:solidFill>
                <a:latin typeface="Lucida Sans Typewriter" charset="0"/>
              </a:rPr>
              <a:t> </a:t>
            </a:r>
          </a:p>
          <a:p>
            <a:r>
              <a:rPr lang="en-US" sz="2400" dirty="0"/>
              <a:t>keeps running </a:t>
            </a:r>
            <a:r>
              <a:rPr lang="en-US" sz="2400" dirty="0" err="1">
                <a:solidFill>
                  <a:schemeClr val="bg1"/>
                </a:solidFill>
              </a:rPr>
              <a:t>oper</a:t>
            </a:r>
            <a:r>
              <a:rPr lang="en-US" sz="2400" dirty="0"/>
              <a:t> until </a:t>
            </a:r>
            <a:r>
              <a:rPr lang="en-US" sz="2400" dirty="0">
                <a:solidFill>
                  <a:schemeClr val="bg1"/>
                </a:solidFill>
              </a:rPr>
              <a:t>test</a:t>
            </a:r>
            <a:r>
              <a:rPr lang="en-US" sz="2400" dirty="0"/>
              <a:t> returns True.</a:t>
            </a:r>
            <a:endParaRPr lang="en-US" sz="2400" dirty="0">
              <a:latin typeface="Lucida Sans Typewriter" charset="0"/>
            </a:endParaRPr>
          </a:p>
        </p:txBody>
      </p:sp>
      <p:sp>
        <p:nvSpPr>
          <p:cNvPr id="3" name="Text 5">
            <a:extLst>
              <a:ext uri="{FF2B5EF4-FFF2-40B4-BE49-F238E27FC236}">
                <a16:creationId xmlns:a16="http://schemas.microsoft.com/office/drawing/2014/main" id="{83CE8338-DFA3-D3C8-92AA-9347A16FFF61}"/>
              </a:ext>
            </a:extLst>
          </p:cNvPr>
          <p:cNvSpPr/>
          <p:nvPr/>
        </p:nvSpPr>
        <p:spPr>
          <a:xfrm>
            <a:off x="171451" y="4882324"/>
            <a:ext cx="3943349" cy="1804225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" dirty="0">
                <a:ea typeface="Courier New" pitchFamily="34" charset="-122"/>
                <a:cs typeface="Courier New" pitchFamily="34" charset="-120"/>
              </a:rPr>
              <a:t>do </a:t>
            </a:r>
            <a:r>
              <a:rPr lang="en-US" sz="2800" dirty="0"/>
              <a:t>res</a:t>
            </a:r>
            <a:r>
              <a:rPr lang="en-US" sz="2800" dirty="0">
                <a:ea typeface="Courier New" pitchFamily="34" charset="-122"/>
                <a:cs typeface="Courier New" pitchFamily="34" charset="-120"/>
              </a:rPr>
              <a:t> &lt;- test</a:t>
            </a:r>
            <a:endParaRPr lang="en-US" sz="2800" dirty="0"/>
          </a:p>
          <a:p>
            <a:pPr marL="0" indent="0">
              <a:buNone/>
            </a:pPr>
            <a:r>
              <a:rPr lang="en-US" sz="2800" dirty="0">
                <a:ea typeface="Courier New" pitchFamily="34" charset="-122"/>
                <a:cs typeface="Courier New" pitchFamily="34" charset="-120"/>
              </a:rPr>
              <a:t>   if res</a:t>
            </a:r>
            <a:endParaRPr lang="en-US" sz="2800" dirty="0"/>
          </a:p>
          <a:p>
            <a:pPr marL="0" indent="0">
              <a:buNone/>
            </a:pPr>
            <a:r>
              <a:rPr lang="en-US" sz="2800" dirty="0">
                <a:ea typeface="Courier New" pitchFamily="34" charset="-122"/>
                <a:cs typeface="Courier New" pitchFamily="34" charset="-120"/>
              </a:rPr>
              <a:t>     then return ()   </a:t>
            </a:r>
          </a:p>
          <a:p>
            <a:pPr marL="0" indent="0">
              <a:buNone/>
            </a:pPr>
            <a:r>
              <a:rPr lang="en-US" sz="2800" dirty="0">
                <a:ea typeface="Courier New" pitchFamily="34" charset="-122"/>
                <a:cs typeface="Courier New" pitchFamily="34" charset="-120"/>
              </a:rPr>
              <a:t>-- done, stop here</a:t>
            </a:r>
            <a:endParaRPr lang="en-US" sz="28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B7B2730F-0D0E-554D-64EC-2FBA499A411C}"/>
              </a:ext>
            </a:extLst>
          </p:cNvPr>
          <p:cNvSpPr/>
          <p:nvPr/>
        </p:nvSpPr>
        <p:spPr>
          <a:xfrm>
            <a:off x="6166268" y="5310949"/>
            <a:ext cx="5854282" cy="137560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rtlCol="0" anchor="t"/>
          <a:lstStyle/>
          <a:p>
            <a:r>
              <a:rPr lang="en-US" sz="2800" dirty="0"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2800" dirty="0">
                <a:cs typeface="Courier New" pitchFamily="34" charset="-120"/>
              </a:rPr>
              <a:t>else do m       -- run the operation</a:t>
            </a:r>
          </a:p>
          <a:p>
            <a:r>
              <a:rPr lang="en-US" sz="2800" dirty="0">
                <a:cs typeface="Courier New" pitchFamily="34" charset="-120"/>
              </a:rPr>
              <a:t>    repeat test </a:t>
            </a:r>
            <a:r>
              <a:rPr lang="en-US" sz="2800" dirty="0" err="1">
                <a:cs typeface="Courier New" pitchFamily="34" charset="-120"/>
              </a:rPr>
              <a:t>oper</a:t>
            </a:r>
            <a:r>
              <a:rPr lang="en-US" sz="2800" dirty="0">
                <a:cs typeface="Courier New" pitchFamily="34" charset="-120"/>
              </a:rPr>
              <a:t>  -- recurse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61D6600-2C5D-A1D3-715A-B5F5A74E60E0}"/>
              </a:ext>
            </a:extLst>
          </p:cNvPr>
          <p:cNvSpPr txBox="1"/>
          <p:nvPr/>
        </p:nvSpPr>
        <p:spPr>
          <a:xfrm>
            <a:off x="5145881" y="3822816"/>
            <a:ext cx="1712119" cy="523220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r>
              <a:rPr lang="en-US" sz="2800" dirty="0"/>
              <a:t>Recursion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BBDF537-FE97-CE25-F779-047E6912D864}"/>
              </a:ext>
            </a:extLst>
          </p:cNvPr>
          <p:cNvSpPr txBox="1"/>
          <p:nvPr/>
        </p:nvSpPr>
        <p:spPr>
          <a:xfrm>
            <a:off x="747712" y="4269326"/>
            <a:ext cx="1900237" cy="523220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r>
              <a:rPr lang="en-US" sz="2800" dirty="0"/>
              <a:t>Base Case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7BFC624-2382-0CD1-4CEC-FC6C602487CF}"/>
              </a:ext>
            </a:extLst>
          </p:cNvPr>
          <p:cNvSpPr txBox="1"/>
          <p:nvPr/>
        </p:nvSpPr>
        <p:spPr>
          <a:xfrm>
            <a:off x="8124714" y="4566883"/>
            <a:ext cx="2604743" cy="523220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r>
              <a:rPr lang="en-US" sz="2800" dirty="0"/>
              <a:t>Recursive case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0E98996-FE58-B5EB-0FCA-963353200BF1}"/>
              </a:ext>
            </a:extLst>
          </p:cNvPr>
          <p:cNvCxnSpPr>
            <a:stCxn id="10" idx="2"/>
          </p:cNvCxnSpPr>
          <p:nvPr/>
        </p:nvCxnSpPr>
        <p:spPr>
          <a:xfrm flipH="1">
            <a:off x="2143125" y="4346036"/>
            <a:ext cx="3858816" cy="536288"/>
          </a:xfrm>
          <a:prstGeom prst="straightConnector1">
            <a:avLst/>
          </a:prstGeom>
          <a:ln w="60325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1AA6B56-6AB5-29EB-11C9-9A627464B15B}"/>
              </a:ext>
            </a:extLst>
          </p:cNvPr>
          <p:cNvCxnSpPr>
            <a:cxnSpLocks/>
          </p:cNvCxnSpPr>
          <p:nvPr/>
        </p:nvCxnSpPr>
        <p:spPr>
          <a:xfrm>
            <a:off x="6001941" y="4346036"/>
            <a:ext cx="3284934" cy="964913"/>
          </a:xfrm>
          <a:prstGeom prst="straightConnector1">
            <a:avLst/>
          </a:prstGeom>
          <a:ln w="60325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720334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3" grpId="0" animBg="1"/>
      <p:bldP spid="7" grpId="0" animBg="1"/>
      <p:bldP spid="10" grpId="0" animBg="1"/>
      <p:bldP spid="11" grpId="0" animBg="1"/>
      <p:bldP spid="12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AEC8C4-0520-FD23-F219-E06FEFD179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993E9D-31D2-52B2-77BE-D6D25DC314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1451" y="753228"/>
            <a:ext cx="10122732" cy="1080938"/>
          </a:xfrm>
        </p:spPr>
        <p:txBody>
          <a:bodyPr/>
          <a:lstStyle/>
          <a:p>
            <a:r>
              <a:rPr lang="en-US" dirty="0"/>
              <a:t>Examples of monadic programming– 2 – using recursion - repeat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02C4E9-2E0E-88B6-3F81-BF69061BEC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29</a:t>
            </a:fld>
            <a:endParaRPr lang="en-US" altLang="en-US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056D6791-FA92-2F2F-F464-84B6A34E75B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64598" y="2416088"/>
            <a:ext cx="9836802" cy="3539430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  <a:effectLst/>
        </p:spPr>
        <p:txBody>
          <a:bodyPr wrap="square" anchor="ctr">
            <a:spAutoFit/>
          </a:bodyPr>
          <a:lstStyle/>
          <a:p>
            <a:r>
              <a:rPr lang="en-US" sz="2800" dirty="0"/>
              <a:t>Full solution:</a:t>
            </a:r>
          </a:p>
          <a:p>
            <a:r>
              <a:rPr lang="en-US" sz="2800" dirty="0">
                <a:ea typeface="Courier New" pitchFamily="34" charset="-122"/>
                <a:cs typeface="Courier New" pitchFamily="34" charset="-120"/>
              </a:rPr>
              <a:t>repeat :: IO Bool -&gt; IO () -&gt; IO ()</a:t>
            </a:r>
            <a:endParaRPr lang="en-US" sz="2800" dirty="0"/>
          </a:p>
          <a:p>
            <a:r>
              <a:rPr lang="en-US" sz="2800" dirty="0">
                <a:ea typeface="Courier New" pitchFamily="34" charset="-122"/>
                <a:cs typeface="Courier New" pitchFamily="34" charset="-120"/>
              </a:rPr>
              <a:t>repeat test </a:t>
            </a:r>
            <a:r>
              <a:rPr lang="en-US" sz="2800" dirty="0" err="1">
                <a:ea typeface="Courier New" pitchFamily="34" charset="-122"/>
                <a:cs typeface="Courier New" pitchFamily="34" charset="-120"/>
              </a:rPr>
              <a:t>oper</a:t>
            </a:r>
            <a:endParaRPr lang="en-US" sz="2800" dirty="0"/>
          </a:p>
          <a:p>
            <a:r>
              <a:rPr lang="en-US" sz="2800" dirty="0">
                <a:ea typeface="Courier New" pitchFamily="34" charset="-122"/>
                <a:cs typeface="Courier New" pitchFamily="34" charset="-120"/>
              </a:rPr>
              <a:t>  = do res &lt;- test</a:t>
            </a:r>
            <a:endParaRPr lang="en-US" sz="2800" dirty="0"/>
          </a:p>
          <a:p>
            <a:r>
              <a:rPr lang="en-US" sz="2800" dirty="0">
                <a:ea typeface="Courier New" pitchFamily="34" charset="-122"/>
                <a:cs typeface="Courier New" pitchFamily="34" charset="-120"/>
              </a:rPr>
              <a:t>       if res</a:t>
            </a:r>
            <a:endParaRPr lang="en-US" sz="2800" dirty="0"/>
          </a:p>
          <a:p>
            <a:r>
              <a:rPr lang="en-US" sz="2800" dirty="0">
                <a:ea typeface="Courier New" pitchFamily="34" charset="-122"/>
                <a:cs typeface="Courier New" pitchFamily="34" charset="-120"/>
              </a:rPr>
              <a:t>         then return ()</a:t>
            </a:r>
            <a:endParaRPr lang="en-US" sz="2800" dirty="0"/>
          </a:p>
          <a:p>
            <a:r>
              <a:rPr lang="en-US" sz="2800" dirty="0">
                <a:ea typeface="Courier New" pitchFamily="34" charset="-122"/>
                <a:cs typeface="Courier New" pitchFamily="34" charset="-120"/>
              </a:rPr>
              <a:t>         else do </a:t>
            </a:r>
            <a:r>
              <a:rPr lang="en-US" sz="2800" dirty="0" err="1">
                <a:ea typeface="Courier New" pitchFamily="34" charset="-122"/>
                <a:cs typeface="Courier New" pitchFamily="34" charset="-120"/>
              </a:rPr>
              <a:t>oper</a:t>
            </a:r>
            <a:endParaRPr lang="en-US" sz="2800" dirty="0"/>
          </a:p>
          <a:p>
            <a:r>
              <a:rPr lang="en-US" sz="2800" dirty="0">
                <a:ea typeface="Courier New" pitchFamily="34" charset="-122"/>
                <a:cs typeface="Courier New" pitchFamily="34" charset="-120"/>
              </a:rPr>
              <a:t>                 repeat test m</a:t>
            </a:r>
            <a:r>
              <a:rPr lang="en-US" sz="2800" dirty="0"/>
              <a:t> </a:t>
            </a:r>
          </a:p>
        </p:txBody>
      </p:sp>
      <p:sp>
        <p:nvSpPr>
          <p:cNvPr id="6" name="Text 5">
            <a:extLst>
              <a:ext uri="{FF2B5EF4-FFF2-40B4-BE49-F238E27FC236}">
                <a16:creationId xmlns:a16="http://schemas.microsoft.com/office/drawing/2014/main" id="{DD809E5E-96A0-B696-F246-0E84EC45EBFF}"/>
              </a:ext>
            </a:extLst>
          </p:cNvPr>
          <p:cNvSpPr/>
          <p:nvPr/>
        </p:nvSpPr>
        <p:spPr>
          <a:xfrm>
            <a:off x="6282999" y="3774323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44466"/>
                </a:solidFill>
              </a:rPr>
              <a:t>run test, bind result to res</a:t>
            </a:r>
            <a:endParaRPr lang="en-US" sz="1300" dirty="0"/>
          </a:p>
        </p:txBody>
      </p:sp>
      <p:sp>
        <p:nvSpPr>
          <p:cNvPr id="9" name="Shape 4">
            <a:extLst>
              <a:ext uri="{FF2B5EF4-FFF2-40B4-BE49-F238E27FC236}">
                <a16:creationId xmlns:a16="http://schemas.microsoft.com/office/drawing/2014/main" id="{A264DBF9-9321-0DB7-81D6-5F7F9D75C317}"/>
              </a:ext>
            </a:extLst>
          </p:cNvPr>
          <p:cNvSpPr/>
          <p:nvPr/>
        </p:nvSpPr>
        <p:spPr>
          <a:xfrm>
            <a:off x="4699417" y="3980063"/>
            <a:ext cx="1188720" cy="0"/>
          </a:xfrm>
          <a:prstGeom prst="line">
            <a:avLst/>
          </a:prstGeom>
          <a:noFill/>
          <a:ln w="12700">
            <a:solidFill>
              <a:srgbClr val="444466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7">
            <a:extLst>
              <a:ext uri="{FF2B5EF4-FFF2-40B4-BE49-F238E27FC236}">
                <a16:creationId xmlns:a16="http://schemas.microsoft.com/office/drawing/2014/main" id="{1666B8EB-B5A5-B73A-3AAE-44A6115259B6}"/>
              </a:ext>
            </a:extLst>
          </p:cNvPr>
          <p:cNvSpPr/>
          <p:nvPr/>
        </p:nvSpPr>
        <p:spPr>
          <a:xfrm>
            <a:off x="6282999" y="4185803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9E6B"/>
                </a:solidFill>
              </a:rPr>
              <a:t>if True → done (base case)</a:t>
            </a:r>
            <a:endParaRPr lang="en-US" sz="1300" dirty="0"/>
          </a:p>
        </p:txBody>
      </p:sp>
      <p:sp>
        <p:nvSpPr>
          <p:cNvPr id="16" name="Shape 6">
            <a:extLst>
              <a:ext uri="{FF2B5EF4-FFF2-40B4-BE49-F238E27FC236}">
                <a16:creationId xmlns:a16="http://schemas.microsoft.com/office/drawing/2014/main" id="{0B76FCDC-D104-4A92-844D-CE553601B4F1}"/>
              </a:ext>
            </a:extLst>
          </p:cNvPr>
          <p:cNvSpPr/>
          <p:nvPr/>
        </p:nvSpPr>
        <p:spPr>
          <a:xfrm>
            <a:off x="4699417" y="4391543"/>
            <a:ext cx="1188720" cy="0"/>
          </a:xfrm>
          <a:prstGeom prst="line">
            <a:avLst/>
          </a:prstGeom>
          <a:noFill/>
          <a:ln w="12700">
            <a:solidFill>
              <a:srgbClr val="2D9E6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8">
            <a:extLst>
              <a:ext uri="{FF2B5EF4-FFF2-40B4-BE49-F238E27FC236}">
                <a16:creationId xmlns:a16="http://schemas.microsoft.com/office/drawing/2014/main" id="{8B55E4F3-C384-588B-5DE7-E9E69E70FD87}"/>
              </a:ext>
            </a:extLst>
          </p:cNvPr>
          <p:cNvSpPr/>
          <p:nvPr/>
        </p:nvSpPr>
        <p:spPr>
          <a:xfrm>
            <a:off x="4699417" y="4856348"/>
            <a:ext cx="1188720" cy="0"/>
          </a:xfrm>
          <a:prstGeom prst="line">
            <a:avLst/>
          </a:prstGeom>
          <a:noFill/>
          <a:ln w="12700">
            <a:solidFill>
              <a:srgbClr val="C0392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9">
            <a:extLst>
              <a:ext uri="{FF2B5EF4-FFF2-40B4-BE49-F238E27FC236}">
                <a16:creationId xmlns:a16="http://schemas.microsoft.com/office/drawing/2014/main" id="{FA4D48B0-8389-2ECB-4198-15C7600668E3}"/>
              </a:ext>
            </a:extLst>
          </p:cNvPr>
          <p:cNvSpPr/>
          <p:nvPr/>
        </p:nvSpPr>
        <p:spPr>
          <a:xfrm>
            <a:off x="6282999" y="465918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0392B"/>
                </a:solidFill>
              </a:rPr>
              <a:t>if False → run oper then recurse</a:t>
            </a:r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19769860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9" grpId="0" animBg="1"/>
      <p:bldP spid="13" grpId="0" animBg="1"/>
      <p:bldP spid="16" grpId="0" animBg="1"/>
      <p:bldP spid="17" grpId="0" animBg="1"/>
      <p:bldP spid="18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C3EC7E-226E-4DC7-77B2-790243A518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more useful monadic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3A780D-3D83-FB41-8946-98F8440271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322" y="2336873"/>
            <a:ext cx="5326940" cy="2327724"/>
          </a:xfrm>
          <a:solidFill>
            <a:schemeClr val="accent1"/>
          </a:solidFill>
        </p:spPr>
        <p:txBody>
          <a:bodyPr/>
          <a:lstStyle/>
          <a:p>
            <a:pPr marL="0" indent="0">
              <a:buNone/>
            </a:pPr>
            <a:r>
              <a:rPr lang="en-IE" dirty="0"/>
              <a:t>sequence :: Monad m =&gt; [m a] -&gt; m [a]</a:t>
            </a:r>
          </a:p>
          <a:p>
            <a:pPr marL="0" indent="0">
              <a:buNone/>
            </a:pPr>
            <a:r>
              <a:rPr lang="en-IE" dirty="0"/>
              <a:t>sequence [] = return [] </a:t>
            </a:r>
          </a:p>
          <a:p>
            <a:pPr marL="0" indent="0">
              <a:buNone/>
            </a:pPr>
            <a:r>
              <a:rPr lang="en-IE" dirty="0"/>
              <a:t>sequence (</a:t>
            </a:r>
            <a:r>
              <a:rPr lang="en-IE" dirty="0" err="1"/>
              <a:t>m:ms</a:t>
            </a:r>
            <a:r>
              <a:rPr lang="en-IE" dirty="0"/>
              <a:t>) = do </a:t>
            </a:r>
          </a:p>
          <a:p>
            <a:pPr marL="0" indent="0">
              <a:buNone/>
            </a:pPr>
            <a:r>
              <a:rPr lang="en-IE" dirty="0"/>
              <a:t>	x &lt;- m </a:t>
            </a:r>
          </a:p>
          <a:p>
            <a:pPr marL="0" indent="0">
              <a:buNone/>
            </a:pPr>
            <a:r>
              <a:rPr lang="en-IE" dirty="0"/>
              <a:t>	</a:t>
            </a:r>
            <a:r>
              <a:rPr lang="en-IE" dirty="0" err="1"/>
              <a:t>xs</a:t>
            </a:r>
            <a:r>
              <a:rPr lang="en-IE" dirty="0"/>
              <a:t> &lt;- sequence </a:t>
            </a:r>
            <a:r>
              <a:rPr lang="en-IE" dirty="0" err="1"/>
              <a:t>ms</a:t>
            </a:r>
            <a:r>
              <a:rPr lang="en-IE" dirty="0"/>
              <a:t> </a:t>
            </a:r>
          </a:p>
          <a:p>
            <a:pPr marL="0" indent="0">
              <a:buNone/>
            </a:pPr>
            <a:r>
              <a:rPr lang="en-IE" dirty="0"/>
              <a:t>	return (</a:t>
            </a:r>
            <a:r>
              <a:rPr lang="en-IE" dirty="0" err="1"/>
              <a:t>x:xs</a:t>
            </a:r>
            <a:r>
              <a:rPr lang="en-IE" dirty="0"/>
              <a:t>)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FFF410-68B7-A79E-AB5B-656EA52648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30</a:t>
            </a:fld>
            <a:endParaRPr lang="en-US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0A63A59-DABD-1B8E-E2F1-8579776AA29F}"/>
              </a:ext>
            </a:extLst>
          </p:cNvPr>
          <p:cNvSpPr txBox="1"/>
          <p:nvPr/>
        </p:nvSpPr>
        <p:spPr>
          <a:xfrm>
            <a:off x="680321" y="5584398"/>
            <a:ext cx="7812505" cy="646331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Wingdings" pitchFamily="2" charset="2"/>
              <a:buChar char="Ø"/>
            </a:pPr>
            <a:r>
              <a:rPr lang="en-IE" dirty="0"/>
              <a:t>sequence [Just 1, Just 2, Just 3] -- Just [1, 2, 3] </a:t>
            </a:r>
          </a:p>
          <a:p>
            <a:pPr marL="285750" indent="-285750">
              <a:buFont typeface="Wingdings" pitchFamily="2" charset="2"/>
              <a:buChar char="Ø"/>
            </a:pPr>
            <a:r>
              <a:rPr lang="en-IE" dirty="0"/>
              <a:t>sequence [Just 1, Nothing, Just 3] -- Nothing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4BFB32F-C4AB-F405-337D-D7DF9CB3C08C}"/>
              </a:ext>
            </a:extLst>
          </p:cNvPr>
          <p:cNvSpPr txBox="1"/>
          <p:nvPr/>
        </p:nvSpPr>
        <p:spPr>
          <a:xfrm>
            <a:off x="680321" y="4939831"/>
            <a:ext cx="41323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Example runs: </a:t>
            </a:r>
          </a:p>
        </p:txBody>
      </p:sp>
    </p:spTree>
    <p:extLst>
      <p:ext uri="{BB962C8B-B14F-4D97-AF65-F5344CB8AC3E}">
        <p14:creationId xmlns:p14="http://schemas.microsoft.com/office/powerpoint/2010/main" val="31241680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6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7359B1-7566-EFA0-AD0F-DD39C74A6B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7A369F-E661-895E-BDF2-3099E39FA0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more useful monadic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5AE944-C066-7237-B165-BD1E7B9B3B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322" y="2336873"/>
            <a:ext cx="7709700" cy="855506"/>
          </a:xfrm>
          <a:solidFill>
            <a:schemeClr val="accent1"/>
          </a:solidFill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IE" sz="2400" dirty="0" err="1"/>
              <a:t>mapM</a:t>
            </a:r>
            <a:r>
              <a:rPr lang="en-IE" sz="2400" dirty="0"/>
              <a:t> :: Monad m =&gt; (a -&gt; m b) -&gt; [a] -&gt; m [b]</a:t>
            </a:r>
          </a:p>
          <a:p>
            <a:pPr marL="0" indent="0">
              <a:buNone/>
            </a:pPr>
            <a:r>
              <a:rPr lang="en-IE" sz="2400" dirty="0" err="1"/>
              <a:t>mapM</a:t>
            </a:r>
            <a:r>
              <a:rPr lang="en-IE" sz="2400" dirty="0"/>
              <a:t> f </a:t>
            </a:r>
            <a:r>
              <a:rPr lang="en-IE" sz="2400" dirty="0" err="1"/>
              <a:t>xs</a:t>
            </a:r>
            <a:r>
              <a:rPr lang="en-IE" sz="2400" dirty="0"/>
              <a:t> = sequence (map f </a:t>
            </a:r>
            <a:r>
              <a:rPr lang="en-IE" sz="2400" dirty="0" err="1"/>
              <a:t>xs</a:t>
            </a:r>
            <a:r>
              <a:rPr lang="en-IE" sz="2400" dirty="0"/>
              <a:t>)</a:t>
            </a: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F2ADA5-4F5C-1532-B6F1-FC81E50512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31</a:t>
            </a:fld>
            <a:endParaRPr lang="en-US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279E552-93EE-4B67-5A80-DFC99170131A}"/>
              </a:ext>
            </a:extLst>
          </p:cNvPr>
          <p:cNvSpPr txBox="1"/>
          <p:nvPr/>
        </p:nvSpPr>
        <p:spPr>
          <a:xfrm>
            <a:off x="680321" y="5147228"/>
            <a:ext cx="11511679" cy="1200329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Wingdings" pitchFamily="2" charset="2"/>
              <a:buChar char="Ø"/>
            </a:pPr>
            <a:r>
              <a:rPr lang="en-IE" sz="2400" dirty="0" err="1"/>
              <a:t>mapM</a:t>
            </a:r>
            <a:r>
              <a:rPr lang="en-IE" sz="2400" dirty="0"/>
              <a:t> </a:t>
            </a:r>
            <a:r>
              <a:rPr lang="en-IE" sz="2400" dirty="0" err="1"/>
              <a:t>safeHead</a:t>
            </a:r>
            <a:r>
              <a:rPr lang="en-IE" sz="2400" dirty="0"/>
              <a:t> [[1,2], [3,4], [5,6]] -- Just [1,3,5] </a:t>
            </a:r>
          </a:p>
          <a:p>
            <a:endParaRPr lang="en-IE" sz="2400" dirty="0"/>
          </a:p>
          <a:p>
            <a:pPr marL="285750" indent="-285750">
              <a:buFont typeface="Wingdings" pitchFamily="2" charset="2"/>
              <a:buChar char="Ø"/>
            </a:pPr>
            <a:r>
              <a:rPr lang="en-IE" sz="2400" dirty="0" err="1"/>
              <a:t>mapM</a:t>
            </a:r>
            <a:r>
              <a:rPr lang="en-IE" sz="2400" dirty="0"/>
              <a:t> </a:t>
            </a:r>
            <a:r>
              <a:rPr lang="en-IE" sz="2400" dirty="0" err="1"/>
              <a:t>safeHead</a:t>
            </a:r>
            <a:r>
              <a:rPr lang="en-IE" sz="2400" dirty="0"/>
              <a:t> [[1,2], [], [5,6]] -- Nothing (one failure kills the whole thing)</a:t>
            </a:r>
            <a:endParaRPr lang="en-US" sz="2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7C6C8D1-6760-57AE-FAD4-2D3DB9264836}"/>
              </a:ext>
            </a:extLst>
          </p:cNvPr>
          <p:cNvSpPr txBox="1"/>
          <p:nvPr/>
        </p:nvSpPr>
        <p:spPr>
          <a:xfrm>
            <a:off x="680321" y="4293500"/>
            <a:ext cx="413231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Example runs: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889B72D-B682-5B30-C229-AF4320F0D621}"/>
              </a:ext>
            </a:extLst>
          </p:cNvPr>
          <p:cNvSpPr txBox="1"/>
          <p:nvPr/>
        </p:nvSpPr>
        <p:spPr>
          <a:xfrm>
            <a:off x="680321" y="3467614"/>
            <a:ext cx="10180184" cy="707886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r>
              <a:rPr lang="en-IE" sz="2000" dirty="0">
                <a:latin typeface="Courier New" panose="02070309020205020404" pitchFamily="49" charset="0"/>
              </a:rPr>
              <a:t>map f </a:t>
            </a:r>
            <a:r>
              <a:rPr lang="en-IE" sz="2000" dirty="0" err="1">
                <a:latin typeface="Courier New" panose="02070309020205020404" pitchFamily="49" charset="0"/>
              </a:rPr>
              <a:t>xs</a:t>
            </a:r>
            <a:r>
              <a:rPr lang="en-IE" sz="2000" dirty="0"/>
              <a:t> produces a list of monadic actions, and </a:t>
            </a:r>
            <a:r>
              <a:rPr lang="en-IE" sz="2000" dirty="0">
                <a:latin typeface="Courier New" panose="02070309020205020404" pitchFamily="49" charset="0"/>
              </a:rPr>
              <a:t>sequence</a:t>
            </a:r>
            <a:r>
              <a:rPr lang="en-IE" sz="2000" dirty="0"/>
              <a:t> runs them left to right, threading the monad through and collecting results.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9089660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6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21" name="Picture 41" descr="Text&#10;&#10;Description automatically generated">
            <a:extLst>
              <a:ext uri="{FF2B5EF4-FFF2-40B4-BE49-F238E27FC236}">
                <a16:creationId xmlns:a16="http://schemas.microsoft.com/office/drawing/2014/main" id="{C38DF21B-48E0-D995-FABC-D664CAF5B2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52838" y="2619375"/>
            <a:ext cx="4886325" cy="37147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6385" name="Slide Number Placeholder 2">
            <a:extLst>
              <a:ext uri="{FF2B5EF4-FFF2-40B4-BE49-F238E27FC236}">
                <a16:creationId xmlns:a16="http://schemas.microsoft.com/office/drawing/2014/main" id="{BBEFAE55-C2B9-0DDE-134C-1334B5E9B2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53500" y="5657850"/>
            <a:ext cx="457200" cy="228600"/>
          </a:xfrm>
        </p:spPr>
        <p:txBody>
          <a:bodyPr>
            <a:normAutofit fontScale="92500" lnSpcReduction="10000"/>
          </a:bodyPr>
          <a:lstStyle>
            <a:lvl1pPr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557213" indent="-214313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857250" indent="-171450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200150" indent="-171450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1543050" indent="-171450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18859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2288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25717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29146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450"/>
              </a:spcAft>
              <a:defRPr/>
            </a:pPr>
            <a:fld id="{767B95DA-5B68-A24F-8D70-692F2511C1C6}" type="slidenum">
              <a:rPr lang="en-US" sz="1050"/>
              <a:pPr>
                <a:spcAft>
                  <a:spcPts val="450"/>
                </a:spcAft>
                <a:defRPr/>
              </a:pPr>
              <a:t>32</a:t>
            </a:fld>
            <a:endParaRPr lang="en-US" sz="105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erlin">
  <a:themeElements>
    <a:clrScheme name="Berlin">
      <a:dk1>
        <a:sysClr val="windowText" lastClr="000000"/>
      </a:dk1>
      <a:lt1>
        <a:sysClr val="window" lastClr="FFFFFF"/>
      </a:lt1>
      <a:dk2>
        <a:srgbClr val="1F8094"/>
      </a:dk2>
      <a:lt2>
        <a:srgbClr val="E7E6E6"/>
      </a:lt2>
      <a:accent1>
        <a:srgbClr val="39CDE7"/>
      </a:accent1>
      <a:accent2>
        <a:srgbClr val="60DE72"/>
      </a:accent2>
      <a:accent3>
        <a:srgbClr val="DDCC64"/>
      </a:accent3>
      <a:accent4>
        <a:srgbClr val="F49D50"/>
      </a:accent4>
      <a:accent5>
        <a:srgbClr val="E44951"/>
      </a:accent5>
      <a:accent6>
        <a:srgbClr val="D666F9"/>
      </a:accent6>
      <a:hlink>
        <a:srgbClr val="4BF7ED"/>
      </a:hlink>
      <a:folHlink>
        <a:srgbClr val="95E9F4"/>
      </a:folHlink>
    </a:clrScheme>
    <a:fontScheme name="Berlin">
      <a:maj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Berlin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100000"/>
                <a:lumMod val="110000"/>
              </a:schemeClr>
            </a:gs>
            <a:gs pos="100000">
              <a:schemeClr val="phClr">
                <a:tint val="70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6000"/>
                <a:shade val="100000"/>
                <a:hueMod val="92000"/>
                <a:satMod val="200000"/>
                <a:lumMod val="128000"/>
              </a:schemeClr>
            </a:gs>
            <a:gs pos="50000">
              <a:schemeClr val="phClr">
                <a:shade val="100000"/>
                <a:hueMod val="100000"/>
                <a:satMod val="110000"/>
                <a:lumMod val="130000"/>
              </a:schemeClr>
            </a:gs>
            <a:gs pos="100000">
              <a:schemeClr val="phClr">
                <a:shade val="78000"/>
                <a:hueMod val="118000"/>
                <a:satMod val="120000"/>
                <a:lumMod val="69000"/>
              </a:schemeClr>
            </a:gs>
          </a:gsLst>
          <a:lin ang="252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erlin" id="{7B5DBA9E-B069-418E-9360-A61BDD0615A4}" vid="{C7DC10E3-4FF5-456B-A359-A0F378C1E5FB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a-functions</Template>
  <TotalTime>19997</TotalTime>
  <Words>2014</Words>
  <Application>Microsoft Macintosh PowerPoint</Application>
  <PresentationFormat>Widescreen</PresentationFormat>
  <Paragraphs>316</Paragraphs>
  <Slides>33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44" baseType="lpstr">
      <vt:lpstr>Arial</vt:lpstr>
      <vt:lpstr>Arial Black</vt:lpstr>
      <vt:lpstr>Calibri</vt:lpstr>
      <vt:lpstr>Courier New</vt:lpstr>
      <vt:lpstr>Lucida Sans Typewriter</vt:lpstr>
      <vt:lpstr>Monotype Sorts</vt:lpstr>
      <vt:lpstr>Tahoma</vt:lpstr>
      <vt:lpstr>Times New Roman</vt:lpstr>
      <vt:lpstr>Trebuchet MS</vt:lpstr>
      <vt:lpstr>Wingdings</vt:lpstr>
      <vt:lpstr>Berlin</vt:lpstr>
      <vt:lpstr>PowerPoint Presentation</vt:lpstr>
      <vt:lpstr>Recap on functor </vt:lpstr>
      <vt:lpstr>Recap on Applicative</vt:lpstr>
      <vt:lpstr>Examples</vt:lpstr>
      <vt:lpstr>Introduce Monads – Example a simple evaluator</vt:lpstr>
      <vt:lpstr>PowerPoint Presentation</vt:lpstr>
      <vt:lpstr>Need to refine program to deal with this</vt:lpstr>
      <vt:lpstr>Now, rewrite eval to use safeDiv</vt:lpstr>
      <vt:lpstr>Problem with Applicative</vt:lpstr>
      <vt:lpstr>Monads – observe a common pattern and abstracting it out </vt:lpstr>
      <vt:lpstr>See pattern</vt:lpstr>
      <vt:lpstr>See pattern</vt:lpstr>
      <vt:lpstr>See pattern</vt:lpstr>
      <vt:lpstr>&gt;&gt;=</vt:lpstr>
      <vt:lpstr>New evaluation function using &gt;&gt;= </vt:lpstr>
      <vt:lpstr>General pattern</vt:lpstr>
      <vt:lpstr>New evaluation function using do (final version) </vt:lpstr>
      <vt:lpstr>So now we are ready for Monads</vt:lpstr>
      <vt:lpstr>Example  - Maybe – already have Functor, Applicative defs </vt:lpstr>
      <vt:lpstr>Example  - Maybe – already have Functor, Applicative defs </vt:lpstr>
      <vt:lpstr>Example  - Maybe – already have Functor, Applicative defs </vt:lpstr>
      <vt:lpstr>Example  - Lists </vt:lpstr>
      <vt:lpstr>Example  - using List monads</vt:lpstr>
      <vt:lpstr>PowerPoint Presentation</vt:lpstr>
      <vt:lpstr>PowerPoint Presentation</vt:lpstr>
      <vt:lpstr>PowerPoint Presentation</vt:lpstr>
      <vt:lpstr>Examples of monadic programming – 1 - fmap</vt:lpstr>
      <vt:lpstr>fmap</vt:lpstr>
      <vt:lpstr>Examples of monadic programming– 2 – using recursion - repeat</vt:lpstr>
      <vt:lpstr>Examples of monadic programming– 2 – using recursion - repeat</vt:lpstr>
      <vt:lpstr>Some more useful monadic functions</vt:lpstr>
      <vt:lpstr>Some more useful monadic functions</vt:lpstr>
      <vt:lpstr>PowerPoint Presentation</vt:lpstr>
    </vt:vector>
  </TitlesOfParts>
  <Company>University of Nottingham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Functional Programming</dc:title>
  <dc:creator>Dr. Graham Hutton</dc:creator>
  <cp:lastModifiedBy>Mairead Meagher</cp:lastModifiedBy>
  <cp:revision>292</cp:revision>
  <cp:lastPrinted>2020-04-23T09:46:28Z</cp:lastPrinted>
  <dcterms:created xsi:type="dcterms:W3CDTF">2000-11-20T11:40:19Z</dcterms:created>
  <dcterms:modified xsi:type="dcterms:W3CDTF">2026-04-02T00:50:53Z</dcterms:modified>
</cp:coreProperties>
</file>