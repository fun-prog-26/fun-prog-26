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753" r:id="rId1"/>
  </p:sldMasterIdLst>
  <p:notesMasterIdLst>
    <p:notesMasterId r:id="rId12"/>
  </p:notesMasterIdLst>
  <p:handoutMasterIdLst>
    <p:handoutMasterId r:id="rId13"/>
  </p:handoutMasterIdLst>
  <p:sldIdLst>
    <p:sldId id="356" r:id="rId2"/>
    <p:sldId id="317" r:id="rId3"/>
    <p:sldId id="373" r:id="rId4"/>
    <p:sldId id="374" r:id="rId5"/>
    <p:sldId id="375" r:id="rId6"/>
    <p:sldId id="376" r:id="rId7"/>
    <p:sldId id="318" r:id="rId8"/>
    <p:sldId id="377" r:id="rId9"/>
    <p:sldId id="378" r:id="rId10"/>
    <p:sldId id="343" r:id="rId11"/>
  </p:sldIdLst>
  <p:sldSz cx="12192000" cy="6858000"/>
  <p:notesSz cx="6794500" cy="99187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3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2"/>
    <p:restoredTop sz="92412"/>
  </p:normalViewPr>
  <p:slideViewPr>
    <p:cSldViewPr snapToGrid="0">
      <p:cViewPr varScale="1">
        <p:scale>
          <a:sx n="78" d="100"/>
          <a:sy n="78" d="100"/>
        </p:scale>
        <p:origin x="176" y="5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1890" y="-96"/>
      </p:cViewPr>
      <p:guideLst>
        <p:guide orient="horz" pos="3123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3225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07" tIns="46504" rIns="93007" bIns="46504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3225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07" tIns="46504" rIns="93007" bIns="4650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3400"/>
            <a:ext cx="2943225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07" tIns="46504" rIns="93007" bIns="46504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3400"/>
            <a:ext cx="2943225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07" tIns="46504" rIns="93007" bIns="4650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399D39CF-52F9-4346-9FE1-C943FC43DC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95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09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100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t" anchorCtr="0" compatLnSpc="1">
            <a:prstTxWarp prst="textNoShape">
              <a:avLst/>
            </a:prstTxWarp>
          </a:bodyPr>
          <a:lstStyle>
            <a:lvl1pPr defTabSz="860425">
              <a:defRPr sz="11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4099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2100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t" anchorCtr="0" compatLnSpc="1">
            <a:prstTxWarp prst="textNoShape">
              <a:avLst/>
            </a:prstTxWarp>
          </a:bodyPr>
          <a:lstStyle>
            <a:lvl1pPr algn="r" defTabSz="860425">
              <a:defRPr sz="11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100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7638" y="739775"/>
            <a:ext cx="6570662" cy="36972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2165" name="Rectangle 410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300" y="4732338"/>
            <a:ext cx="5038725" cy="4438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410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3238"/>
            <a:ext cx="292100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b" anchorCtr="0" compatLnSpc="1">
            <a:prstTxWarp prst="textNoShape">
              <a:avLst/>
            </a:prstTxWarp>
          </a:bodyPr>
          <a:lstStyle>
            <a:lvl1pPr defTabSz="860425">
              <a:defRPr sz="11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410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9393238"/>
            <a:ext cx="292100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5990" tIns="42995" rIns="85990" bIns="42995" numCol="1" anchor="b" anchorCtr="0" compatLnSpc="1">
            <a:prstTxWarp prst="textNoShape">
              <a:avLst/>
            </a:prstTxWarp>
          </a:bodyPr>
          <a:lstStyle>
            <a:lvl1pPr algn="r" defTabSz="860425">
              <a:defRPr sz="1100"/>
            </a:lvl1pPr>
          </a:lstStyle>
          <a:p>
            <a:pPr>
              <a:defRPr/>
            </a:pPr>
            <a:fld id="{1ECE8E26-272F-7449-95A5-E00843D887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544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7638" y="739775"/>
            <a:ext cx="6570662" cy="36972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CE8E26-272F-7449-95A5-E00843D8875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96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3493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A37066-0571-0447-8D03-53F134544E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89AA6ABC-C2F2-6A41-A47C-E005777CFC2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63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1D8437-CEAD-3B48-8F49-76FEB00753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34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EC47B1-762D-9845-9A2A-BEBF4BB1A68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18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04839C-9BB7-BB4D-96E1-589D0E7BC0C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6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C36D0-0ED6-684D-8A07-95B77A62CE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89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5779D-38C7-9346-8D49-DBC00D12745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7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DE89CE-8BCC-3F47-AE37-99D7281538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6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3145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4964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389708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5549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1499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3535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E69B6E-F9F1-7548-BD0A-5B3C0689392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8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D1CAF307-2DFD-1744-819C-E39F11E12F4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1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3/10/26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7400F20-5860-D94E-940C-99F6A6B2B6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856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5C1B8B5-F999-0749-AE86-1FB479D6F14F}" type="slidenum">
              <a:rPr lang="en-US" sz="1050"/>
              <a:pPr/>
              <a:t>0</a:t>
            </a:fld>
            <a:endParaRPr lang="en-US" sz="1050"/>
          </a:p>
        </p:txBody>
      </p:sp>
      <p:sp>
        <p:nvSpPr>
          <p:cNvPr id="727042" name="Text Box 2"/>
          <p:cNvSpPr txBox="1">
            <a:spLocks noChangeArrowheads="1"/>
          </p:cNvSpPr>
          <p:nvPr/>
        </p:nvSpPr>
        <p:spPr bwMode="auto">
          <a:xfrm>
            <a:off x="2753917" y="1608536"/>
            <a:ext cx="6682978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b="1" dirty="0">
                <a:solidFill>
                  <a:schemeClr val="tx2"/>
                </a:solidFill>
                <a:latin typeface="Arial Black" charset="0"/>
                <a:cs typeface="+mn-cs"/>
              </a:rPr>
              <a:t>PROGRAMMING IN HASKELL</a:t>
            </a:r>
          </a:p>
        </p:txBody>
      </p:sp>
      <p:sp>
        <p:nvSpPr>
          <p:cNvPr id="727043" name="Rectangle 3"/>
          <p:cNvSpPr>
            <a:spLocks noChangeArrowheads="1"/>
          </p:cNvSpPr>
          <p:nvPr/>
        </p:nvSpPr>
        <p:spPr bwMode="auto">
          <a:xfrm>
            <a:off x="2799162" y="4730354"/>
            <a:ext cx="6593681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1" lang="en-US" sz="2800" dirty="0">
                <a:cs typeface="+mn-cs"/>
              </a:rPr>
              <a:t>Topic 10.2 - Syntax and Use of Records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393" y="2676525"/>
            <a:ext cx="2131219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First try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5EE633E-1D6D-CB4B-A30D-5EE721A82DDA}" type="slidenum">
              <a:rPr lang="en-US" sz="1050"/>
              <a:pPr/>
              <a:t>1</a:t>
            </a:fld>
            <a:endParaRPr lang="en-US" sz="1050"/>
          </a:p>
        </p:txBody>
      </p:sp>
      <p:sp>
        <p:nvSpPr>
          <p:cNvPr id="654339" name="Text Box 3"/>
          <p:cNvSpPr txBox="1">
            <a:spLocks noChangeArrowheads="1"/>
          </p:cNvSpPr>
          <p:nvPr/>
        </p:nvSpPr>
        <p:spPr bwMode="auto">
          <a:xfrm>
            <a:off x="876300" y="2053447"/>
            <a:ext cx="9613861" cy="397031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We wish to construct a data type that describes a Student. We want to record the following</a:t>
            </a:r>
          </a:p>
          <a:p>
            <a:pPr>
              <a:defRPr/>
            </a:pPr>
            <a:r>
              <a:rPr lang="en-US" sz="2800" dirty="0">
                <a:cs typeface="+mn-cs"/>
              </a:rPr>
              <a:t>    - First Name</a:t>
            </a:r>
          </a:p>
          <a:p>
            <a:pPr>
              <a:defRPr/>
            </a:pPr>
            <a:r>
              <a:rPr lang="en-US" sz="2800" dirty="0">
                <a:cs typeface="+mn-cs"/>
              </a:rPr>
              <a:t>    - Second Name</a:t>
            </a:r>
          </a:p>
          <a:p>
            <a:pPr>
              <a:defRPr/>
            </a:pPr>
            <a:r>
              <a:rPr lang="en-US" sz="2800" dirty="0">
                <a:cs typeface="+mn-cs"/>
              </a:rPr>
              <a:t>    - Age</a:t>
            </a:r>
          </a:p>
          <a:p>
            <a:pPr>
              <a:defRPr/>
            </a:pPr>
            <a:r>
              <a:rPr lang="en-US" sz="2800" dirty="0">
                <a:cs typeface="+mn-cs"/>
              </a:rPr>
              <a:t>    - Course</a:t>
            </a:r>
          </a:p>
          <a:p>
            <a:pPr>
              <a:defRPr/>
            </a:pPr>
            <a:r>
              <a:rPr lang="en-US" sz="2800" dirty="0">
                <a:cs typeface="+mn-cs"/>
              </a:rPr>
              <a:t>    - email address</a:t>
            </a:r>
          </a:p>
          <a:p>
            <a:pPr>
              <a:defRPr/>
            </a:pPr>
            <a:r>
              <a:rPr lang="en-US" sz="2800" dirty="0">
                <a:cs typeface="+mn-cs"/>
              </a:rPr>
              <a:t>We could try :</a:t>
            </a:r>
          </a:p>
          <a:p>
            <a:pPr>
              <a:defRPr/>
            </a:pPr>
            <a:endParaRPr lang="en-US" sz="2800" dirty="0">
              <a:cs typeface="+mn-cs"/>
            </a:endParaRPr>
          </a:p>
        </p:txBody>
      </p:sp>
      <p:sp>
        <p:nvSpPr>
          <p:cNvPr id="654340" name="Text Box 4"/>
          <p:cNvSpPr txBox="1">
            <a:spLocks noChangeArrowheads="1"/>
          </p:cNvSpPr>
          <p:nvPr/>
        </p:nvSpPr>
        <p:spPr bwMode="auto">
          <a:xfrm>
            <a:off x="4323306" y="4038606"/>
            <a:ext cx="7705956" cy="87325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IE" sz="2400" b="1" dirty="0"/>
              <a:t>data</a:t>
            </a:r>
            <a:r>
              <a:rPr lang="en-IE" sz="2400" dirty="0"/>
              <a:t> Student = Student String String  Int  String String </a:t>
            </a:r>
          </a:p>
          <a:p>
            <a:pPr>
              <a:lnSpc>
                <a:spcPct val="110000"/>
              </a:lnSpc>
              <a:defRPr/>
            </a:pPr>
            <a:r>
              <a:rPr lang="en-IE" sz="2400" b="1" dirty="0"/>
              <a:t>                         deriving</a:t>
            </a:r>
            <a:r>
              <a:rPr lang="en-IE" sz="2400" dirty="0"/>
              <a:t> (Show)  </a:t>
            </a:r>
            <a:endParaRPr lang="en-US" sz="2400" dirty="0">
              <a:latin typeface="Lucida Sans Typewrit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4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First try.. Contd.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5EE633E-1D6D-CB4B-A30D-5EE721A82DDA}" type="slidenum">
              <a:rPr lang="en-US" sz="1050"/>
              <a:pPr/>
              <a:t>2</a:t>
            </a:fld>
            <a:endParaRPr lang="en-US" sz="1050"/>
          </a:p>
        </p:txBody>
      </p:sp>
      <p:sp>
        <p:nvSpPr>
          <p:cNvPr id="654339" name="Text Box 3"/>
          <p:cNvSpPr txBox="1">
            <a:spLocks noChangeArrowheads="1"/>
          </p:cNvSpPr>
          <p:nvPr/>
        </p:nvSpPr>
        <p:spPr bwMode="auto">
          <a:xfrm>
            <a:off x="872285" y="3435088"/>
            <a:ext cx="1088791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Then write functions to return back the various elements, e.g. </a:t>
            </a:r>
          </a:p>
        </p:txBody>
      </p:sp>
      <p:sp>
        <p:nvSpPr>
          <p:cNvPr id="654340" name="Text Box 4"/>
          <p:cNvSpPr txBox="1">
            <a:spLocks noChangeArrowheads="1"/>
          </p:cNvSpPr>
          <p:nvPr/>
        </p:nvSpPr>
        <p:spPr bwMode="auto">
          <a:xfrm>
            <a:off x="2466938" y="2248463"/>
            <a:ext cx="6899902" cy="7723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IE" sz="2100" b="1" dirty="0"/>
              <a:t>data</a:t>
            </a:r>
            <a:r>
              <a:rPr lang="en-IE" sz="2100" dirty="0"/>
              <a:t> Student = Student String String  Int  String String </a:t>
            </a:r>
          </a:p>
          <a:p>
            <a:pPr>
              <a:lnSpc>
                <a:spcPct val="110000"/>
              </a:lnSpc>
              <a:defRPr/>
            </a:pPr>
            <a:r>
              <a:rPr lang="en-IE" sz="2100" b="1" dirty="0"/>
              <a:t>                         deriving</a:t>
            </a:r>
            <a:r>
              <a:rPr lang="en-IE" sz="2100" dirty="0"/>
              <a:t> (Show)  </a:t>
            </a:r>
            <a:endParaRPr lang="en-US" sz="1800" dirty="0">
              <a:latin typeface="Lucida Sans Typewriter" charset="0"/>
              <a:cs typeface="+mn-cs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DB7E9657-8515-0541-A39E-DB47756D1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8538" y="4524853"/>
            <a:ext cx="6397905" cy="20313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r>
              <a:rPr lang="en-IE" sz="2100" dirty="0"/>
              <a:t>firstName :: Student -&gt; String  </a:t>
            </a:r>
          </a:p>
          <a:p>
            <a:r>
              <a:rPr lang="en-IE" sz="2100" dirty="0"/>
              <a:t>firstName (Student </a:t>
            </a:r>
            <a:r>
              <a:rPr lang="en-IE" sz="2100" dirty="0" err="1"/>
              <a:t>firstname</a:t>
            </a:r>
            <a:r>
              <a:rPr lang="en-IE" sz="2100" dirty="0"/>
              <a:t> _ _ _ _ ) = </a:t>
            </a:r>
            <a:r>
              <a:rPr lang="en-IE" sz="2100" dirty="0" err="1"/>
              <a:t>firstname</a:t>
            </a:r>
            <a:r>
              <a:rPr lang="en-IE" sz="2100" dirty="0"/>
              <a:t>  </a:t>
            </a:r>
          </a:p>
          <a:p>
            <a:r>
              <a:rPr lang="en-IE" sz="2100" dirty="0"/>
              <a:t>  </a:t>
            </a:r>
          </a:p>
          <a:p>
            <a:r>
              <a:rPr lang="en-IE" sz="2100" dirty="0"/>
              <a:t>age :: Student -&gt; Int</a:t>
            </a:r>
          </a:p>
          <a:p>
            <a:r>
              <a:rPr lang="en-IE" sz="2100" dirty="0"/>
              <a:t>age (Student _ _ age _ _ )  = age</a:t>
            </a:r>
          </a:p>
          <a:p>
            <a:r>
              <a:rPr lang="en-IE" sz="2100" dirty="0"/>
              <a:t>etc..  </a:t>
            </a:r>
            <a:endParaRPr lang="en-US" sz="1800" dirty="0">
              <a:latin typeface="Lucida Sans Typewriter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361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39" grpId="0"/>
      <p:bldP spid="654340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Then use.. 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5EE633E-1D6D-CB4B-A30D-5EE721A82DDA}" type="slidenum">
              <a:rPr lang="en-US" sz="1050"/>
              <a:pPr/>
              <a:t>3</a:t>
            </a:fld>
            <a:endParaRPr lang="en-US" sz="1050"/>
          </a:p>
        </p:txBody>
      </p:sp>
      <p:sp>
        <p:nvSpPr>
          <p:cNvPr id="654340" name="Text Box 4"/>
          <p:cNvSpPr txBox="1">
            <a:spLocks noChangeArrowheads="1"/>
          </p:cNvSpPr>
          <p:nvPr/>
        </p:nvSpPr>
        <p:spPr bwMode="auto">
          <a:xfrm>
            <a:off x="1793838" y="2957788"/>
            <a:ext cx="6842162" cy="217085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100" dirty="0" err="1"/>
              <a:t>ghci</a:t>
            </a:r>
            <a:r>
              <a:rPr lang="en-IE" sz="2100" dirty="0"/>
              <a:t>&gt; </a:t>
            </a:r>
            <a:r>
              <a:rPr lang="en-IE" sz="2100" b="1" dirty="0"/>
              <a:t>let</a:t>
            </a:r>
            <a:r>
              <a:rPr lang="en-IE" sz="2100" dirty="0"/>
              <a:t> student1 = </a:t>
            </a:r>
          </a:p>
          <a:p>
            <a:r>
              <a:rPr lang="en-IE" sz="2100" dirty="0"/>
              <a:t>          Student ”Adam" ”Ant" 21 ”Computer Science” </a:t>
            </a:r>
          </a:p>
          <a:p>
            <a:r>
              <a:rPr lang="en-IE" sz="2100" dirty="0"/>
              <a:t>	             ”stud1@wit.ie"  </a:t>
            </a:r>
          </a:p>
          <a:p>
            <a:r>
              <a:rPr lang="en-IE" sz="2100" dirty="0"/>
              <a:t>ghci&gt; firstName student1  </a:t>
            </a:r>
          </a:p>
          <a:p>
            <a:r>
              <a:rPr lang="en-IE" sz="2100" dirty="0" err="1"/>
              <a:t>ghci</a:t>
            </a:r>
            <a:r>
              <a:rPr lang="en-IE" sz="2100" dirty="0"/>
              <a:t>&gt; ” Adam”</a:t>
            </a:r>
          </a:p>
          <a:p>
            <a:endParaRPr lang="en-IE" sz="1500" dirty="0"/>
          </a:p>
          <a:p>
            <a:pPr>
              <a:lnSpc>
                <a:spcPct val="110000"/>
              </a:lnSpc>
              <a:defRPr/>
            </a:pPr>
            <a:r>
              <a:rPr lang="en-IE" sz="1500" dirty="0"/>
              <a:t> </a:t>
            </a:r>
            <a:endParaRPr lang="en-US" sz="1500" dirty="0">
              <a:latin typeface="Lucida Sans Typewriter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33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40" grpId="0" uiExpand="1" build="allAtOnc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There is a better way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5EE633E-1D6D-CB4B-A30D-5EE721A82DDA}" type="slidenum">
              <a:rPr lang="en-US" sz="1050"/>
              <a:pPr/>
              <a:t>4</a:t>
            </a:fld>
            <a:endParaRPr lang="en-US" sz="1050"/>
          </a:p>
        </p:txBody>
      </p:sp>
      <p:sp>
        <p:nvSpPr>
          <p:cNvPr id="654340" name="Text Box 4"/>
          <p:cNvSpPr txBox="1">
            <a:spLocks noChangeArrowheads="1"/>
          </p:cNvSpPr>
          <p:nvPr/>
        </p:nvSpPr>
        <p:spPr bwMode="auto">
          <a:xfrm>
            <a:off x="2327238" y="3098150"/>
            <a:ext cx="6842162" cy="226215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100" b="1" dirty="0"/>
              <a:t>data</a:t>
            </a:r>
            <a:r>
              <a:rPr lang="en-IE" sz="2100" dirty="0"/>
              <a:t> Student = Student { firstName :: String  </a:t>
            </a:r>
          </a:p>
          <a:p>
            <a:r>
              <a:rPr lang="en-IE" sz="2100" dirty="0"/>
              <a:t>                     , </a:t>
            </a:r>
            <a:r>
              <a:rPr lang="en-IE" sz="2100" dirty="0" err="1"/>
              <a:t>lastName</a:t>
            </a:r>
            <a:r>
              <a:rPr lang="en-IE" sz="2100" dirty="0"/>
              <a:t> :: String  </a:t>
            </a:r>
          </a:p>
          <a:p>
            <a:r>
              <a:rPr lang="en-IE" sz="2100" dirty="0"/>
              <a:t>                     , age :: Int  </a:t>
            </a:r>
          </a:p>
          <a:p>
            <a:r>
              <a:rPr lang="en-IE" sz="2100" dirty="0"/>
              <a:t>                     , course :: String  </a:t>
            </a:r>
          </a:p>
          <a:p>
            <a:r>
              <a:rPr lang="en-IE" sz="2100" dirty="0"/>
              <a:t>                     , email :: String  </a:t>
            </a:r>
          </a:p>
          <a:p>
            <a:r>
              <a:rPr lang="en-IE" sz="2100" dirty="0"/>
              <a:t>                     } </a:t>
            </a:r>
            <a:r>
              <a:rPr lang="en-IE" sz="2100" b="1" dirty="0"/>
              <a:t>deriving</a:t>
            </a:r>
            <a:r>
              <a:rPr lang="en-IE" sz="2100" dirty="0"/>
              <a:t> (Show)   </a:t>
            </a:r>
          </a:p>
          <a:p>
            <a:endParaRPr lang="en-IE" sz="1500" dirty="0"/>
          </a:p>
        </p:txBody>
      </p:sp>
    </p:spTree>
    <p:extLst>
      <p:ext uri="{BB962C8B-B14F-4D97-AF65-F5344CB8AC3E}">
        <p14:creationId xmlns:p14="http://schemas.microsoft.com/office/powerpoint/2010/main" val="183080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There is a better way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5EE633E-1D6D-CB4B-A30D-5EE721A82DDA}" type="slidenum">
              <a:rPr lang="en-US" sz="1050"/>
              <a:pPr/>
              <a:t>5</a:t>
            </a:fld>
            <a:endParaRPr lang="en-US" sz="1050"/>
          </a:p>
        </p:txBody>
      </p:sp>
      <p:sp>
        <p:nvSpPr>
          <p:cNvPr id="654340" name="Text Box 4"/>
          <p:cNvSpPr txBox="1">
            <a:spLocks noChangeArrowheads="1"/>
          </p:cNvSpPr>
          <p:nvPr/>
        </p:nvSpPr>
        <p:spPr bwMode="auto">
          <a:xfrm>
            <a:off x="2209800" y="3342336"/>
            <a:ext cx="6842162" cy="830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ghci&gt; :t firstName</a:t>
            </a:r>
          </a:p>
          <a:p>
            <a:r>
              <a:rPr lang="en-IE" sz="2400" dirty="0"/>
              <a:t>ghci&gt; Student -&gt; String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95FA8-55FB-6848-AE68-AD149613337E}"/>
              </a:ext>
            </a:extLst>
          </p:cNvPr>
          <p:cNvSpPr txBox="1"/>
          <p:nvPr/>
        </p:nvSpPr>
        <p:spPr>
          <a:xfrm>
            <a:off x="702081" y="2402875"/>
            <a:ext cx="9766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benefit – we now have created lookup functions so 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FDE736BC-8B9C-B148-9900-CCE83E0EF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38" y="5460249"/>
            <a:ext cx="6842162" cy="830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ghci&gt; </a:t>
            </a:r>
            <a:r>
              <a:rPr lang="en-IE" sz="2400" dirty="0" err="1"/>
              <a:t>firstName</a:t>
            </a:r>
            <a:r>
              <a:rPr lang="en-IE" sz="2400" dirty="0"/>
              <a:t> student1</a:t>
            </a:r>
          </a:p>
          <a:p>
            <a:r>
              <a:rPr lang="en-IE" sz="2400" dirty="0"/>
              <a:t>ghci&gt; ”Adam”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97FB9-463D-4D4F-BC9F-BC934D8E5F6A}"/>
              </a:ext>
            </a:extLst>
          </p:cNvPr>
          <p:cNvSpPr txBox="1"/>
          <p:nvPr/>
        </p:nvSpPr>
        <p:spPr>
          <a:xfrm>
            <a:off x="702081" y="4555180"/>
            <a:ext cx="7620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And using the student1 from before</a:t>
            </a:r>
          </a:p>
        </p:txBody>
      </p:sp>
    </p:spTree>
    <p:extLst>
      <p:ext uri="{BB962C8B-B14F-4D97-AF65-F5344CB8AC3E}">
        <p14:creationId xmlns:p14="http://schemas.microsoft.com/office/powerpoint/2010/main" val="237338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40" grpId="0" uiExpand="1" build="allAtOnce" animBg="1"/>
      <p:bldP spid="6" grpId="0" uiExpand="1" build="allAtOnce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B33B99-B41A-9444-99A2-3C524186CF57}" type="slidenum">
              <a:rPr lang="en-US" sz="1050"/>
              <a:pPr/>
              <a:t>6</a:t>
            </a:fld>
            <a:endParaRPr lang="en-US" sz="1050"/>
          </a:p>
        </p:txBody>
      </p:sp>
      <p:sp>
        <p:nvSpPr>
          <p:cNvPr id="655362" name="Text Box 2"/>
          <p:cNvSpPr txBox="1">
            <a:spLocks noChangeArrowheads="1"/>
          </p:cNvSpPr>
          <p:nvPr/>
        </p:nvSpPr>
        <p:spPr bwMode="auto">
          <a:xfrm>
            <a:off x="685055" y="829263"/>
            <a:ext cx="5816552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700" dirty="0">
                <a:latin typeface="Arial Black" charset="0"/>
                <a:ea typeface="ＭＳ Ｐゴシック" charset="0"/>
              </a:rPr>
              <a:t>To construct a student: </a:t>
            </a:r>
          </a:p>
        </p:txBody>
      </p:sp>
      <p:sp>
        <p:nvSpPr>
          <p:cNvPr id="655364" name="Text Box 4"/>
          <p:cNvSpPr txBox="1">
            <a:spLocks noChangeArrowheads="1"/>
          </p:cNvSpPr>
          <p:nvPr/>
        </p:nvSpPr>
        <p:spPr bwMode="auto">
          <a:xfrm>
            <a:off x="2426986" y="3115272"/>
            <a:ext cx="6197530" cy="19389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r>
              <a:rPr lang="en-IE" sz="2400" dirty="0"/>
              <a:t>student1 = Student {	firstName = "Adam",</a:t>
            </a:r>
          </a:p>
          <a:p>
            <a:r>
              <a:rPr lang="en-IE" sz="2400" dirty="0"/>
              <a:t>				</a:t>
            </a:r>
            <a:r>
              <a:rPr lang="en-IE" sz="2400" dirty="0" err="1"/>
              <a:t>lastName</a:t>
            </a:r>
            <a:r>
              <a:rPr lang="en-IE" sz="2400" dirty="0"/>
              <a:t>="Ant", </a:t>
            </a:r>
          </a:p>
          <a:p>
            <a:r>
              <a:rPr lang="en-IE" sz="2400" dirty="0"/>
              <a:t>				age=21, </a:t>
            </a:r>
          </a:p>
          <a:p>
            <a:r>
              <a:rPr lang="en-IE" sz="2400" dirty="0"/>
              <a:t>				course="Applied", </a:t>
            </a:r>
          </a:p>
          <a:p>
            <a:r>
              <a:rPr lang="en-IE" sz="2400" dirty="0"/>
              <a:t>				email="mm"}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B33B99-B41A-9444-99A2-3C524186CF57}" type="slidenum">
              <a:rPr lang="en-US" sz="1050"/>
              <a:pPr/>
              <a:t>7</a:t>
            </a:fld>
            <a:endParaRPr lang="en-US" sz="1050"/>
          </a:p>
        </p:txBody>
      </p:sp>
      <p:sp>
        <p:nvSpPr>
          <p:cNvPr id="655362" name="Text Box 2"/>
          <p:cNvSpPr txBox="1">
            <a:spLocks noChangeArrowheads="1"/>
          </p:cNvSpPr>
          <p:nvPr/>
        </p:nvSpPr>
        <p:spPr bwMode="auto">
          <a:xfrm>
            <a:off x="502025" y="2114795"/>
            <a:ext cx="5816552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So, given:</a:t>
            </a:r>
          </a:p>
        </p:txBody>
      </p:sp>
      <p:sp>
        <p:nvSpPr>
          <p:cNvPr id="655364" name="Text Box 4"/>
          <p:cNvSpPr txBox="1">
            <a:spLocks noChangeArrowheads="1"/>
          </p:cNvSpPr>
          <p:nvPr/>
        </p:nvSpPr>
        <p:spPr bwMode="auto">
          <a:xfrm>
            <a:off x="1812156" y="2763560"/>
            <a:ext cx="6108019" cy="20313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r>
              <a:rPr lang="en-IE" sz="2100" dirty="0"/>
              <a:t>student1 = Student {	firstName = "Adam",</a:t>
            </a:r>
          </a:p>
          <a:p>
            <a:r>
              <a:rPr lang="en-IE" sz="2100" dirty="0"/>
              <a:t>				</a:t>
            </a:r>
            <a:r>
              <a:rPr lang="en-IE" sz="2100" dirty="0" err="1"/>
              <a:t>lastName</a:t>
            </a:r>
            <a:r>
              <a:rPr lang="en-IE" sz="2100" dirty="0"/>
              <a:t>="Ant", </a:t>
            </a:r>
          </a:p>
          <a:p>
            <a:r>
              <a:rPr lang="en-IE" sz="2100" dirty="0"/>
              <a:t>				age=21, </a:t>
            </a:r>
          </a:p>
          <a:p>
            <a:r>
              <a:rPr lang="en-IE" sz="2100" dirty="0"/>
              <a:t>				course="Applied", </a:t>
            </a:r>
          </a:p>
          <a:p>
            <a:r>
              <a:rPr lang="en-IE" sz="2100" dirty="0"/>
              <a:t>				email="mm”</a:t>
            </a:r>
          </a:p>
          <a:p>
            <a:r>
              <a:rPr lang="en-IE" sz="2100" dirty="0"/>
              <a:t>                                 }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2697E208-CD7F-A443-9978-45D1A028F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1454" y="5817190"/>
            <a:ext cx="4303059" cy="73866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100" dirty="0"/>
              <a:t>ghci&gt; </a:t>
            </a:r>
            <a:r>
              <a:rPr lang="en-IE" sz="2100" dirty="0" err="1"/>
              <a:t>lastName</a:t>
            </a:r>
            <a:r>
              <a:rPr lang="en-IE" sz="2100" dirty="0"/>
              <a:t> student1</a:t>
            </a:r>
          </a:p>
          <a:p>
            <a:r>
              <a:rPr lang="en-IE" sz="2100" dirty="0"/>
              <a:t>ghci&gt; ”Ant"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7B37E-FC7C-0841-84B6-C79F5AF73715}"/>
              </a:ext>
            </a:extLst>
          </p:cNvPr>
          <p:cNvSpPr txBox="1"/>
          <p:nvPr/>
        </p:nvSpPr>
        <p:spPr>
          <a:xfrm>
            <a:off x="635000" y="5027618"/>
            <a:ext cx="6445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can access the elements: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1A5844-6ADA-A945-AE67-3A3641FB64CC}"/>
              </a:ext>
            </a:extLst>
          </p:cNvPr>
          <p:cNvSpPr/>
          <p:nvPr/>
        </p:nvSpPr>
        <p:spPr>
          <a:xfrm>
            <a:off x="2369402" y="6798504"/>
            <a:ext cx="62228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2100" dirty="0"/>
              <a:t>etc.</a:t>
            </a:r>
            <a:endParaRPr lang="en-US" sz="2100" dirty="0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3F6FD375-C198-5BE3-1347-67E21AB88CFE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02025" y="1049519"/>
            <a:ext cx="9613861" cy="46628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dirty="0">
                <a:latin typeface="Arial Black" charset="0"/>
                <a:ea typeface="ＭＳ Ｐゴシック" charset="0"/>
              </a:rPr>
              <a:t>l</a:t>
            </a:r>
            <a:r>
              <a:rPr lang="en-US" sz="2700" dirty="0">
                <a:latin typeface="Arial Black" charset="0"/>
                <a:ea typeface="ＭＳ Ｐゴシック" charset="0"/>
              </a:rPr>
              <a:t>ookup functions</a:t>
            </a:r>
          </a:p>
        </p:txBody>
      </p:sp>
    </p:spTree>
    <p:extLst>
      <p:ext uri="{BB962C8B-B14F-4D97-AF65-F5344CB8AC3E}">
        <p14:creationId xmlns:p14="http://schemas.microsoft.com/office/powerpoint/2010/main" val="28403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4" grpId="0" animBg="1"/>
      <p:bldP spid="6" grpId="0" animBg="1"/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B0CEC78-BA65-4056-B507-3A628DF33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371" y="6167831"/>
            <a:ext cx="11829257" cy="42505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Lucida Sans Typewriter" panose="020B0509030504030204" pitchFamily="49" charset="77"/>
              </a:rPr>
              <a:t>http://</a:t>
            </a:r>
            <a:r>
              <a:rPr lang="en-US" sz="2400" dirty="0" err="1">
                <a:latin typeface="Lucida Sans Typewriter" panose="020B0509030504030204" pitchFamily="49" charset="77"/>
              </a:rPr>
              <a:t>web.cecs.pdx.edu</a:t>
            </a:r>
            <a:r>
              <a:rPr lang="en-US" sz="2400" dirty="0">
                <a:latin typeface="Lucida Sans Typewriter" panose="020B0509030504030204" pitchFamily="49" charset="77"/>
              </a:rPr>
              <a:t>/~sheard/course/Cs163/Haskell/Crib07.hs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6098AE-2F78-4A48-BC52-D208AE7F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3500" y="5657850"/>
            <a:ext cx="457200" cy="228600"/>
          </a:xfr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spcAft>
                <a:spcPts val="450"/>
              </a:spcAft>
              <a:defRPr/>
            </a:pPr>
            <a:fld id="{BCAC36D0-0ED6-684D-8A07-95B77A62CED0}" type="slidenum">
              <a:rPr lang="en-US" kern="1200">
                <a:latin typeface="Tahoma" charset="0"/>
                <a:ea typeface="ＭＳ Ｐゴシック" charset="0"/>
                <a:cs typeface="ＭＳ Ｐゴシック" charset="0"/>
              </a:rPr>
              <a:pPr>
                <a:spcAft>
                  <a:spcPts val="450"/>
                </a:spcAft>
                <a:defRPr/>
              </a:pPr>
              <a:t>8</a:t>
            </a:fld>
            <a:endParaRPr lang="en-US" kern="120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4" name="Picture 3" descr="A picture containing table&#10;&#10;Description automatically generated">
            <a:extLst>
              <a:ext uri="{FF2B5EF4-FFF2-40B4-BE49-F238E27FC236}">
                <a16:creationId xmlns:a16="http://schemas.microsoft.com/office/drawing/2014/main" id="{CE9FB449-85EC-F644-8885-81EE80FD5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216" y="1575989"/>
            <a:ext cx="3356372" cy="4475162"/>
          </a:xfrm>
          <a:prstGeom prst="rect">
            <a:avLst/>
          </a:prstGeom>
          <a:noFill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80BD80-131A-844F-9241-E70EF1581E2C}"/>
              </a:ext>
            </a:extLst>
          </p:cNvPr>
          <p:cNvSpPr/>
          <p:nvPr/>
        </p:nvSpPr>
        <p:spPr bwMode="auto">
          <a:xfrm>
            <a:off x="4011216" y="4882754"/>
            <a:ext cx="4114800" cy="60364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endParaRPr kumimoji="1" lang="en-US" sz="1050" dirty="0">
              <a:latin typeface="+mn-lt"/>
              <a:ea typeface="+mn-ea"/>
              <a:cs typeface="ＭＳ Ｐゴシック" pitchFamily="-1" charset="-128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19058F0-BA1F-4343-9A9B-DF2A77048E8B}"/>
              </a:ext>
            </a:extLst>
          </p:cNvPr>
          <p:cNvSpPr txBox="1">
            <a:spLocks/>
          </p:cNvSpPr>
          <p:nvPr/>
        </p:nvSpPr>
        <p:spPr bwMode="auto">
          <a:xfrm>
            <a:off x="3002394" y="857250"/>
            <a:ext cx="5951106" cy="425054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Sorting and grouping on lists of tuples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F350F-91C5-7323-6EB0-53A043E97204}"/>
              </a:ext>
            </a:extLst>
          </p:cNvPr>
          <p:cNvSpPr txBox="1"/>
          <p:nvPr/>
        </p:nvSpPr>
        <p:spPr>
          <a:xfrm>
            <a:off x="8343900" y="2743200"/>
            <a:ext cx="30861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See lab 07 for full example</a:t>
            </a:r>
          </a:p>
        </p:txBody>
      </p:sp>
    </p:spTree>
    <p:extLst>
      <p:ext uri="{BB962C8B-B14F-4D97-AF65-F5344CB8AC3E}">
        <p14:creationId xmlns:p14="http://schemas.microsoft.com/office/powerpoint/2010/main" val="41662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344" y="2095500"/>
            <a:ext cx="6065921" cy="4610100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906000" y="6400800"/>
            <a:ext cx="609600" cy="304800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</a:pPr>
            <a:fld id="{CC73A6B6-49ED-C641-8D95-0A84FA800C15}" type="slidenum">
              <a:rPr lang="en-US" sz="1400"/>
              <a:pPr>
                <a:spcAft>
                  <a:spcPts val="600"/>
                </a:spcAft>
              </a:pPr>
              <a:t>9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a-type-decl</Template>
  <TotalTime>11260</TotalTime>
  <Words>413</Words>
  <Application>Microsoft Macintosh PowerPoint</Application>
  <PresentationFormat>Widescreen</PresentationFormat>
  <Paragraphs>76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Calibri</vt:lpstr>
      <vt:lpstr>Lucida Sans Typewriter</vt:lpstr>
      <vt:lpstr>Tahoma</vt:lpstr>
      <vt:lpstr>Times New Roman</vt:lpstr>
      <vt:lpstr>Trebuchet MS</vt:lpstr>
      <vt:lpstr>Berlin</vt:lpstr>
      <vt:lpstr>PowerPoint Presentation</vt:lpstr>
      <vt:lpstr>First try</vt:lpstr>
      <vt:lpstr>First try.. Contd.</vt:lpstr>
      <vt:lpstr>Then use.. </vt:lpstr>
      <vt:lpstr>There is a better way</vt:lpstr>
      <vt:lpstr>There is a better way</vt:lpstr>
      <vt:lpstr>PowerPoint Presentation</vt:lpstr>
      <vt:lpstr>lookup functions</vt:lpstr>
      <vt:lpstr>http://web.cecs.pdx.edu/~sheard/course/Cs163/Haskell/Crib07.hs</vt:lpstr>
      <vt:lpstr>PowerPoint Presentation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924</cp:revision>
  <cp:lastPrinted>2020-04-09T08:40:43Z</cp:lastPrinted>
  <dcterms:created xsi:type="dcterms:W3CDTF">2000-11-20T11:40:19Z</dcterms:created>
  <dcterms:modified xsi:type="dcterms:W3CDTF">2026-03-10T14:25:54Z</dcterms:modified>
</cp:coreProperties>
</file>