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753" r:id="rId1"/>
  </p:sldMasterIdLst>
  <p:notesMasterIdLst>
    <p:notesMasterId r:id="rId52"/>
  </p:notesMasterIdLst>
  <p:handoutMasterIdLst>
    <p:handoutMasterId r:id="rId53"/>
  </p:handoutMasterIdLst>
  <p:sldIdLst>
    <p:sldId id="356" r:id="rId2"/>
    <p:sldId id="317" r:id="rId3"/>
    <p:sldId id="318" r:id="rId4"/>
    <p:sldId id="323" r:id="rId5"/>
    <p:sldId id="322" r:id="rId6"/>
    <p:sldId id="324" r:id="rId7"/>
    <p:sldId id="330" r:id="rId8"/>
    <p:sldId id="325" r:id="rId9"/>
    <p:sldId id="327" r:id="rId10"/>
    <p:sldId id="334" r:id="rId11"/>
    <p:sldId id="326" r:id="rId12"/>
    <p:sldId id="373" r:id="rId13"/>
    <p:sldId id="374" r:id="rId14"/>
    <p:sldId id="376" r:id="rId15"/>
    <p:sldId id="377" r:id="rId16"/>
    <p:sldId id="332" r:id="rId17"/>
    <p:sldId id="335" r:id="rId18"/>
    <p:sldId id="337" r:id="rId19"/>
    <p:sldId id="338" r:id="rId20"/>
    <p:sldId id="339" r:id="rId21"/>
    <p:sldId id="341" r:id="rId22"/>
    <p:sldId id="350" r:id="rId23"/>
    <p:sldId id="351" r:id="rId24"/>
    <p:sldId id="347" r:id="rId25"/>
    <p:sldId id="348" r:id="rId26"/>
    <p:sldId id="357" r:id="rId27"/>
    <p:sldId id="358" r:id="rId28"/>
    <p:sldId id="359" r:id="rId29"/>
    <p:sldId id="360" r:id="rId30"/>
    <p:sldId id="361" r:id="rId31"/>
    <p:sldId id="342" r:id="rId32"/>
    <p:sldId id="343" r:id="rId33"/>
    <p:sldId id="353" r:id="rId34"/>
    <p:sldId id="344" r:id="rId35"/>
    <p:sldId id="354" r:id="rId36"/>
    <p:sldId id="378" r:id="rId37"/>
    <p:sldId id="381" r:id="rId38"/>
    <p:sldId id="380" r:id="rId39"/>
    <p:sldId id="362" r:id="rId40"/>
    <p:sldId id="363" r:id="rId41"/>
    <p:sldId id="364" r:id="rId42"/>
    <p:sldId id="366" r:id="rId43"/>
    <p:sldId id="367" r:id="rId44"/>
    <p:sldId id="365" r:id="rId45"/>
    <p:sldId id="368" r:id="rId46"/>
    <p:sldId id="369" r:id="rId47"/>
    <p:sldId id="372" r:id="rId48"/>
    <p:sldId id="370" r:id="rId49"/>
    <p:sldId id="371" r:id="rId50"/>
    <p:sldId id="375" r:id="rId51"/>
  </p:sldIdLst>
  <p:sldSz cx="12192000" cy="6858000"/>
  <p:notesSz cx="6794500" cy="9918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3">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frameSlides="1"/>
  <p:showPr showNarration="1">
    <p:browse/>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000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15"/>
    <p:restoredTop sz="92393"/>
  </p:normalViewPr>
  <p:slideViewPr>
    <p:cSldViewPr snapToGrid="0">
      <p:cViewPr varScale="1">
        <p:scale>
          <a:sx n="127" d="100"/>
          <a:sy n="127" d="100"/>
        </p:scale>
        <p:origin x="1424" y="184"/>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3" d="100"/>
          <a:sy n="53" d="100"/>
        </p:scale>
        <p:origin x="-1890" y="-96"/>
      </p:cViewPr>
      <p:guideLst>
        <p:guide orient="horz" pos="3123"/>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43225" cy="495300"/>
          </a:xfrm>
          <a:prstGeom prst="rect">
            <a:avLst/>
          </a:prstGeom>
          <a:noFill/>
          <a:ln>
            <a:noFill/>
          </a:ln>
          <a:effectLst/>
        </p:spPr>
        <p:txBody>
          <a:bodyPr vert="horz" wrap="square" lIns="93007" tIns="46504" rIns="93007" bIns="46504" numCol="1" anchor="t" anchorCtr="0" compatLnSpc="1">
            <a:prstTxWarp prst="textNoShape">
              <a:avLst/>
            </a:prstTxWarp>
          </a:bodyPr>
          <a:lstStyle>
            <a:lvl1pPr defTabSz="930275">
              <a:defRPr sz="1200">
                <a:latin typeface="Tahoma" charset="0"/>
                <a:ea typeface="ＭＳ Ｐゴシック" charset="0"/>
                <a:cs typeface="+mn-cs"/>
              </a:defRPr>
            </a:lvl1pPr>
          </a:lstStyle>
          <a:p>
            <a:pPr>
              <a:defRPr/>
            </a:pPr>
            <a:endParaRPr lang="en-US"/>
          </a:p>
        </p:txBody>
      </p:sp>
      <p:sp>
        <p:nvSpPr>
          <p:cNvPr id="66563" name="Rectangle 3"/>
          <p:cNvSpPr>
            <a:spLocks noGrp="1" noChangeArrowheads="1"/>
          </p:cNvSpPr>
          <p:nvPr>
            <p:ph type="dt" sz="quarter" idx="1"/>
          </p:nvPr>
        </p:nvSpPr>
        <p:spPr bwMode="auto">
          <a:xfrm>
            <a:off x="3851275" y="0"/>
            <a:ext cx="2943225" cy="495300"/>
          </a:xfrm>
          <a:prstGeom prst="rect">
            <a:avLst/>
          </a:prstGeom>
          <a:noFill/>
          <a:ln>
            <a:noFill/>
          </a:ln>
          <a:effectLst/>
        </p:spPr>
        <p:txBody>
          <a:bodyPr vert="horz" wrap="square" lIns="93007" tIns="46504" rIns="93007" bIns="46504" numCol="1" anchor="t" anchorCtr="0" compatLnSpc="1">
            <a:prstTxWarp prst="textNoShape">
              <a:avLst/>
            </a:prstTxWarp>
          </a:bodyPr>
          <a:lstStyle>
            <a:lvl1pPr algn="r" defTabSz="930275">
              <a:defRPr sz="1200">
                <a:latin typeface="Tahoma" charset="0"/>
                <a:ea typeface="ＭＳ Ｐゴシック" charset="0"/>
                <a:cs typeface="+mn-cs"/>
              </a:defRPr>
            </a:lvl1pPr>
          </a:lstStyle>
          <a:p>
            <a:pPr>
              <a:defRPr/>
            </a:pPr>
            <a:endParaRPr lang="en-US"/>
          </a:p>
        </p:txBody>
      </p:sp>
      <p:sp>
        <p:nvSpPr>
          <p:cNvPr id="66564" name="Rectangle 4"/>
          <p:cNvSpPr>
            <a:spLocks noGrp="1" noChangeArrowheads="1"/>
          </p:cNvSpPr>
          <p:nvPr>
            <p:ph type="ftr" sz="quarter" idx="2"/>
          </p:nvPr>
        </p:nvSpPr>
        <p:spPr bwMode="auto">
          <a:xfrm>
            <a:off x="0" y="9423400"/>
            <a:ext cx="2943225" cy="495300"/>
          </a:xfrm>
          <a:prstGeom prst="rect">
            <a:avLst/>
          </a:prstGeom>
          <a:noFill/>
          <a:ln>
            <a:noFill/>
          </a:ln>
          <a:effectLst/>
        </p:spPr>
        <p:txBody>
          <a:bodyPr vert="horz" wrap="square" lIns="93007" tIns="46504" rIns="93007" bIns="46504" numCol="1" anchor="b" anchorCtr="0" compatLnSpc="1">
            <a:prstTxWarp prst="textNoShape">
              <a:avLst/>
            </a:prstTxWarp>
          </a:bodyPr>
          <a:lstStyle>
            <a:lvl1pPr defTabSz="930275">
              <a:defRPr sz="1200">
                <a:latin typeface="Tahoma" charset="0"/>
                <a:ea typeface="ＭＳ Ｐゴシック" charset="0"/>
                <a:cs typeface="+mn-cs"/>
              </a:defRPr>
            </a:lvl1pPr>
          </a:lstStyle>
          <a:p>
            <a:pPr>
              <a:defRPr/>
            </a:pPr>
            <a:endParaRPr lang="en-US"/>
          </a:p>
        </p:txBody>
      </p:sp>
      <p:sp>
        <p:nvSpPr>
          <p:cNvPr id="66565" name="Rectangle 5"/>
          <p:cNvSpPr>
            <a:spLocks noGrp="1" noChangeArrowheads="1"/>
          </p:cNvSpPr>
          <p:nvPr>
            <p:ph type="sldNum" sz="quarter" idx="3"/>
          </p:nvPr>
        </p:nvSpPr>
        <p:spPr bwMode="auto">
          <a:xfrm>
            <a:off x="3851275" y="9423400"/>
            <a:ext cx="2943225" cy="495300"/>
          </a:xfrm>
          <a:prstGeom prst="rect">
            <a:avLst/>
          </a:prstGeom>
          <a:noFill/>
          <a:ln>
            <a:noFill/>
          </a:ln>
          <a:effectLst/>
        </p:spPr>
        <p:txBody>
          <a:bodyPr vert="horz" wrap="square" lIns="93007" tIns="46504" rIns="93007" bIns="46504" numCol="1" anchor="b" anchorCtr="0" compatLnSpc="1">
            <a:prstTxWarp prst="textNoShape">
              <a:avLst/>
            </a:prstTxWarp>
          </a:bodyPr>
          <a:lstStyle>
            <a:lvl1pPr algn="r" defTabSz="930275">
              <a:defRPr sz="1200"/>
            </a:lvl1pPr>
          </a:lstStyle>
          <a:p>
            <a:pPr>
              <a:defRPr/>
            </a:pPr>
            <a:fld id="{399D39CF-52F9-4346-9FE1-C943FC43DCBD}" type="slidenum">
              <a:rPr lang="en-US"/>
              <a:pPr>
                <a:defRPr/>
              </a:pPr>
              <a:t>‹#›</a:t>
            </a:fld>
            <a:endParaRPr lang="en-US"/>
          </a:p>
        </p:txBody>
      </p:sp>
    </p:spTree>
    <p:extLst>
      <p:ext uri="{BB962C8B-B14F-4D97-AF65-F5344CB8AC3E}">
        <p14:creationId xmlns:p14="http://schemas.microsoft.com/office/powerpoint/2010/main" val="1473195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4098"/>
          <p:cNvSpPr>
            <a:spLocks noGrp="1" noChangeArrowheads="1"/>
          </p:cNvSpPr>
          <p:nvPr>
            <p:ph type="hdr" sz="quarter"/>
          </p:nvPr>
        </p:nvSpPr>
        <p:spPr bwMode="auto">
          <a:xfrm>
            <a:off x="0" y="0"/>
            <a:ext cx="2921000" cy="517525"/>
          </a:xfrm>
          <a:prstGeom prst="rect">
            <a:avLst/>
          </a:prstGeom>
          <a:noFill/>
          <a:ln>
            <a:noFill/>
          </a:ln>
          <a:effectLst/>
        </p:spPr>
        <p:txBody>
          <a:bodyPr vert="horz" wrap="square" lIns="85990" tIns="42995" rIns="85990" bIns="42995" numCol="1" anchor="t" anchorCtr="0" compatLnSpc="1">
            <a:prstTxWarp prst="textNoShape">
              <a:avLst/>
            </a:prstTxWarp>
          </a:bodyPr>
          <a:lstStyle>
            <a:lvl1pPr defTabSz="860425">
              <a:defRPr sz="1100">
                <a:latin typeface="Tahoma" charset="0"/>
                <a:ea typeface="ＭＳ Ｐゴシック" charset="0"/>
                <a:cs typeface="+mn-cs"/>
              </a:defRPr>
            </a:lvl1pPr>
          </a:lstStyle>
          <a:p>
            <a:pPr>
              <a:defRPr/>
            </a:pPr>
            <a:endParaRPr lang="en-US"/>
          </a:p>
        </p:txBody>
      </p:sp>
      <p:sp>
        <p:nvSpPr>
          <p:cNvPr id="92163" name="Rectangle 4099"/>
          <p:cNvSpPr>
            <a:spLocks noGrp="1" noChangeArrowheads="1"/>
          </p:cNvSpPr>
          <p:nvPr>
            <p:ph type="dt" idx="1"/>
          </p:nvPr>
        </p:nvSpPr>
        <p:spPr bwMode="auto">
          <a:xfrm>
            <a:off x="3870325" y="0"/>
            <a:ext cx="2921000" cy="517525"/>
          </a:xfrm>
          <a:prstGeom prst="rect">
            <a:avLst/>
          </a:prstGeom>
          <a:noFill/>
          <a:ln>
            <a:noFill/>
          </a:ln>
          <a:effectLst/>
        </p:spPr>
        <p:txBody>
          <a:bodyPr vert="horz" wrap="square" lIns="85990" tIns="42995" rIns="85990" bIns="42995" numCol="1" anchor="t" anchorCtr="0" compatLnSpc="1">
            <a:prstTxWarp prst="textNoShape">
              <a:avLst/>
            </a:prstTxWarp>
          </a:bodyPr>
          <a:lstStyle>
            <a:lvl1pPr algn="r" defTabSz="860425">
              <a:defRPr sz="1100">
                <a:latin typeface="Tahoma" charset="0"/>
                <a:ea typeface="ＭＳ Ｐゴシック" charset="0"/>
                <a:cs typeface="+mn-cs"/>
              </a:defRPr>
            </a:lvl1pPr>
          </a:lstStyle>
          <a:p>
            <a:pPr>
              <a:defRPr/>
            </a:pPr>
            <a:endParaRPr lang="en-US"/>
          </a:p>
        </p:txBody>
      </p:sp>
      <p:sp>
        <p:nvSpPr>
          <p:cNvPr id="14340" name="Rectangle 4100"/>
          <p:cNvSpPr>
            <a:spLocks noGrp="1" noRot="1" noChangeAspect="1" noChangeArrowheads="1" noTextEdit="1"/>
          </p:cNvSpPr>
          <p:nvPr>
            <p:ph type="sldImg" idx="2"/>
          </p:nvPr>
        </p:nvSpPr>
        <p:spPr bwMode="auto">
          <a:xfrm>
            <a:off x="147638" y="739775"/>
            <a:ext cx="6570662" cy="3697288"/>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92165" name="Rectangle 4101"/>
          <p:cNvSpPr>
            <a:spLocks noGrp="1" noChangeArrowheads="1"/>
          </p:cNvSpPr>
          <p:nvPr>
            <p:ph type="body" sz="quarter" idx="3"/>
          </p:nvPr>
        </p:nvSpPr>
        <p:spPr bwMode="auto">
          <a:xfrm>
            <a:off x="876300" y="4732338"/>
            <a:ext cx="5038725" cy="4438650"/>
          </a:xfrm>
          <a:prstGeom prst="rect">
            <a:avLst/>
          </a:prstGeom>
          <a:noFill/>
          <a:ln>
            <a:noFill/>
          </a:ln>
          <a:effectLst/>
        </p:spPr>
        <p:txBody>
          <a:bodyPr vert="horz" wrap="square" lIns="85990" tIns="42995" rIns="85990" bIns="4299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166" name="Rectangle 4102"/>
          <p:cNvSpPr>
            <a:spLocks noGrp="1" noChangeArrowheads="1"/>
          </p:cNvSpPr>
          <p:nvPr>
            <p:ph type="ftr" sz="quarter" idx="4"/>
          </p:nvPr>
        </p:nvSpPr>
        <p:spPr bwMode="auto">
          <a:xfrm>
            <a:off x="0" y="9393238"/>
            <a:ext cx="2921000" cy="517525"/>
          </a:xfrm>
          <a:prstGeom prst="rect">
            <a:avLst/>
          </a:prstGeom>
          <a:noFill/>
          <a:ln>
            <a:noFill/>
          </a:ln>
          <a:effectLst/>
        </p:spPr>
        <p:txBody>
          <a:bodyPr vert="horz" wrap="square" lIns="85990" tIns="42995" rIns="85990" bIns="42995" numCol="1" anchor="b" anchorCtr="0" compatLnSpc="1">
            <a:prstTxWarp prst="textNoShape">
              <a:avLst/>
            </a:prstTxWarp>
          </a:bodyPr>
          <a:lstStyle>
            <a:lvl1pPr defTabSz="860425">
              <a:defRPr sz="1100">
                <a:latin typeface="Tahoma" charset="0"/>
                <a:ea typeface="ＭＳ Ｐゴシック" charset="0"/>
                <a:cs typeface="+mn-cs"/>
              </a:defRPr>
            </a:lvl1pPr>
          </a:lstStyle>
          <a:p>
            <a:pPr>
              <a:defRPr/>
            </a:pPr>
            <a:endParaRPr lang="en-US"/>
          </a:p>
        </p:txBody>
      </p:sp>
      <p:sp>
        <p:nvSpPr>
          <p:cNvPr id="92167" name="Rectangle 4103"/>
          <p:cNvSpPr>
            <a:spLocks noGrp="1" noChangeArrowheads="1"/>
          </p:cNvSpPr>
          <p:nvPr>
            <p:ph type="sldNum" sz="quarter" idx="5"/>
          </p:nvPr>
        </p:nvSpPr>
        <p:spPr bwMode="auto">
          <a:xfrm>
            <a:off x="3870325" y="9393238"/>
            <a:ext cx="2921000" cy="517525"/>
          </a:xfrm>
          <a:prstGeom prst="rect">
            <a:avLst/>
          </a:prstGeom>
          <a:noFill/>
          <a:ln>
            <a:noFill/>
          </a:ln>
          <a:effectLst/>
        </p:spPr>
        <p:txBody>
          <a:bodyPr vert="horz" wrap="square" lIns="85990" tIns="42995" rIns="85990" bIns="42995" numCol="1" anchor="b" anchorCtr="0" compatLnSpc="1">
            <a:prstTxWarp prst="textNoShape">
              <a:avLst/>
            </a:prstTxWarp>
          </a:bodyPr>
          <a:lstStyle>
            <a:lvl1pPr algn="r" defTabSz="860425">
              <a:defRPr sz="1100"/>
            </a:lvl1pPr>
          </a:lstStyle>
          <a:p>
            <a:pPr>
              <a:defRPr/>
            </a:pPr>
            <a:fld id="{1ECE8E26-272F-7449-95A5-E00843D88756}" type="slidenum">
              <a:rPr lang="en-US"/>
              <a:pPr>
                <a:defRPr/>
              </a:pPr>
              <a:t>‹#›</a:t>
            </a:fld>
            <a:endParaRPr lang="en-US"/>
          </a:p>
        </p:txBody>
      </p:sp>
    </p:spTree>
    <p:extLst>
      <p:ext uri="{BB962C8B-B14F-4D97-AF65-F5344CB8AC3E}">
        <p14:creationId xmlns:p14="http://schemas.microsoft.com/office/powerpoint/2010/main" val="29923544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ＭＳ Ｐゴシック" pitchFamily="-1" charset="-128"/>
      </a:defRPr>
    </a:lvl1pPr>
    <a:lvl2pPr marL="4572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103"/>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60425">
              <a:defRPr sz="2800">
                <a:solidFill>
                  <a:schemeClr val="tx1"/>
                </a:solidFill>
                <a:latin typeface="Tahoma" charset="0"/>
                <a:ea typeface="ＭＳ Ｐゴシック" charset="0"/>
                <a:cs typeface="ＭＳ Ｐゴシック" charset="0"/>
              </a:defRPr>
            </a:lvl1pPr>
            <a:lvl2pPr marL="742950" indent="-285750" defTabSz="860425">
              <a:defRPr sz="2800">
                <a:solidFill>
                  <a:schemeClr val="tx1"/>
                </a:solidFill>
                <a:latin typeface="Tahoma" charset="0"/>
                <a:ea typeface="ＭＳ Ｐゴシック" charset="0"/>
              </a:defRPr>
            </a:lvl2pPr>
            <a:lvl3pPr marL="1143000" indent="-228600" defTabSz="860425">
              <a:defRPr sz="2800">
                <a:solidFill>
                  <a:schemeClr val="tx1"/>
                </a:solidFill>
                <a:latin typeface="Tahoma" charset="0"/>
                <a:ea typeface="ＭＳ Ｐゴシック" charset="0"/>
              </a:defRPr>
            </a:lvl3pPr>
            <a:lvl4pPr marL="1600200" indent="-228600" defTabSz="860425">
              <a:defRPr sz="2800">
                <a:solidFill>
                  <a:schemeClr val="tx1"/>
                </a:solidFill>
                <a:latin typeface="Tahoma" charset="0"/>
                <a:ea typeface="ＭＳ Ｐゴシック" charset="0"/>
              </a:defRPr>
            </a:lvl4pPr>
            <a:lvl5pPr marL="2057400" indent="-228600" defTabSz="860425">
              <a:defRPr sz="2800">
                <a:solidFill>
                  <a:schemeClr val="tx1"/>
                </a:solidFill>
                <a:latin typeface="Tahoma" charset="0"/>
                <a:ea typeface="ＭＳ Ｐゴシック" charset="0"/>
              </a:defRPr>
            </a:lvl5pPr>
            <a:lvl6pPr marL="2514600" indent="-228600" defTabSz="860425" eaLnBrk="0" fontAlgn="base" hangingPunct="0">
              <a:spcBef>
                <a:spcPct val="0"/>
              </a:spcBef>
              <a:spcAft>
                <a:spcPct val="0"/>
              </a:spcAft>
              <a:defRPr sz="2800">
                <a:solidFill>
                  <a:schemeClr val="tx1"/>
                </a:solidFill>
                <a:latin typeface="Tahoma" charset="0"/>
                <a:ea typeface="ＭＳ Ｐゴシック" charset="0"/>
              </a:defRPr>
            </a:lvl6pPr>
            <a:lvl7pPr marL="2971800" indent="-228600" defTabSz="860425" eaLnBrk="0" fontAlgn="base" hangingPunct="0">
              <a:spcBef>
                <a:spcPct val="0"/>
              </a:spcBef>
              <a:spcAft>
                <a:spcPct val="0"/>
              </a:spcAft>
              <a:defRPr sz="2800">
                <a:solidFill>
                  <a:schemeClr val="tx1"/>
                </a:solidFill>
                <a:latin typeface="Tahoma" charset="0"/>
                <a:ea typeface="ＭＳ Ｐゴシック" charset="0"/>
              </a:defRPr>
            </a:lvl7pPr>
            <a:lvl8pPr marL="3429000" indent="-228600" defTabSz="860425" eaLnBrk="0" fontAlgn="base" hangingPunct="0">
              <a:spcBef>
                <a:spcPct val="0"/>
              </a:spcBef>
              <a:spcAft>
                <a:spcPct val="0"/>
              </a:spcAft>
              <a:defRPr sz="2800">
                <a:solidFill>
                  <a:schemeClr val="tx1"/>
                </a:solidFill>
                <a:latin typeface="Tahoma" charset="0"/>
                <a:ea typeface="ＭＳ Ｐゴシック" charset="0"/>
              </a:defRPr>
            </a:lvl8pPr>
            <a:lvl9pPr marL="3886200" indent="-228600" defTabSz="860425" eaLnBrk="0" fontAlgn="base" hangingPunct="0">
              <a:spcBef>
                <a:spcPct val="0"/>
              </a:spcBef>
              <a:spcAft>
                <a:spcPct val="0"/>
              </a:spcAft>
              <a:defRPr sz="2800">
                <a:solidFill>
                  <a:schemeClr val="tx1"/>
                </a:solidFill>
                <a:latin typeface="Tahoma" charset="0"/>
                <a:ea typeface="ＭＳ Ｐゴシック" charset="0"/>
              </a:defRPr>
            </a:lvl9pPr>
          </a:lstStyle>
          <a:p>
            <a:fld id="{95D7A43F-7D82-1444-95D4-B18F58A940D0}" type="slidenum">
              <a:rPr lang="en-US" sz="1100"/>
              <a:pPr/>
              <a:t>22</a:t>
            </a:fld>
            <a:endParaRPr lang="en-US" sz="1100"/>
          </a:p>
        </p:txBody>
      </p:sp>
      <p:sp>
        <p:nvSpPr>
          <p:cNvPr id="34818" name="Rectangle 2"/>
          <p:cNvSpPr>
            <a:spLocks noGrp="1" noRot="1" noChangeAspect="1" noChangeArrowheads="1" noTextEdit="1"/>
          </p:cNvSpPr>
          <p:nvPr>
            <p:ph type="sldImg"/>
          </p:nvPr>
        </p:nvSpPr>
        <p:spPr>
          <a:xfrm>
            <a:off x="147638" y="739775"/>
            <a:ext cx="6570662" cy="3697288"/>
          </a:xfrm>
          <a:ln/>
        </p:spPr>
      </p:sp>
      <p:sp>
        <p:nvSpPr>
          <p:cNvPr id="709635" name="Rectangle 3"/>
          <p:cNvSpPr>
            <a:spLocks noGrp="1" noChangeArrowheads="1"/>
          </p:cNvSpPr>
          <p:nvPr>
            <p:ph type="body" idx="1"/>
          </p:nvPr>
        </p:nvSpPr>
        <p:spPr/>
        <p:txBody>
          <a:bodyPr/>
          <a:lstStyle/>
          <a:p>
            <a:pPr>
              <a:defRPr/>
            </a:pPr>
            <a:endParaRPr lang="en-GB">
              <a:cs typeface="+mn-cs"/>
            </a:endParaRPr>
          </a:p>
        </p:txBody>
      </p:sp>
    </p:spTree>
    <p:extLst>
      <p:ext uri="{BB962C8B-B14F-4D97-AF65-F5344CB8AC3E}">
        <p14:creationId xmlns:p14="http://schemas.microsoft.com/office/powerpoint/2010/main" val="1071676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638" y="739775"/>
            <a:ext cx="6570662" cy="36972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CE8E26-272F-7449-95A5-E00843D88756}" type="slidenum">
              <a:rPr lang="en-US" smtClean="0"/>
              <a:pPr>
                <a:defRPr/>
              </a:pPr>
              <a:t>48</a:t>
            </a:fld>
            <a:endParaRPr lang="en-US"/>
          </a:p>
        </p:txBody>
      </p:sp>
    </p:spTree>
    <p:extLst>
      <p:ext uri="{BB962C8B-B14F-4D97-AF65-F5344CB8AC3E}">
        <p14:creationId xmlns:p14="http://schemas.microsoft.com/office/powerpoint/2010/main" val="2825869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7"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6"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5" cy="1373070"/>
          </a:xfrm>
        </p:spPr>
        <p:txBody>
          <a:bodyPr anchor="b">
            <a:noAutofit/>
          </a:bodyPr>
          <a:lstStyle>
            <a:lvl1pPr algn="r">
              <a:defRPr sz="4050"/>
            </a:lvl1pPr>
          </a:lstStyle>
          <a:p>
            <a:r>
              <a:rPr lang="en-GB"/>
              <a:t>Click to edit Master title style</a:t>
            </a:r>
            <a:endParaRPr lang="en-US" dirty="0"/>
          </a:p>
        </p:txBody>
      </p:sp>
      <p:sp>
        <p:nvSpPr>
          <p:cNvPr id="3" name="Subtitle 2"/>
          <p:cNvSpPr>
            <a:spLocks noGrp="1"/>
          </p:cNvSpPr>
          <p:nvPr>
            <p:ph type="subTitle" idx="1"/>
          </p:nvPr>
        </p:nvSpPr>
        <p:spPr>
          <a:xfrm>
            <a:off x="680322" y="4394041"/>
            <a:ext cx="8144135"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3/19/26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7" y="2750337"/>
            <a:ext cx="1171888" cy="1356442"/>
          </a:xfrm>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297238016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B5A37066-0571-0447-8D03-53F134544E7E}" type="slidenum">
              <a:rPr lang="en-US" smtClean="0"/>
              <a:pPr>
                <a:defRPr/>
              </a:pPr>
              <a:t>‹#›</a:t>
            </a:fld>
            <a:endParaRPr lang="en-US"/>
          </a:p>
        </p:txBody>
      </p:sp>
    </p:spTree>
    <p:extLst>
      <p:ext uri="{BB962C8B-B14F-4D97-AF65-F5344CB8AC3E}">
        <p14:creationId xmlns:p14="http://schemas.microsoft.com/office/powerpoint/2010/main" val="207665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6"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2700"/>
            </a:lvl1pPr>
          </a:lstStyle>
          <a:p>
            <a:r>
              <a:rPr lang="en-GB"/>
              <a:t>Click to edit Master title style</a:t>
            </a:r>
            <a:endParaRPr lang="en-US" dirty="0"/>
          </a:p>
        </p:txBody>
      </p:sp>
      <p:sp>
        <p:nvSpPr>
          <p:cNvPr id="3" name="Text Placeholder 2"/>
          <p:cNvSpPr>
            <a:spLocks noGrp="1"/>
          </p:cNvSpPr>
          <p:nvPr>
            <p:ph type="body" idx="1"/>
          </p:nvPr>
        </p:nvSpPr>
        <p:spPr>
          <a:xfrm>
            <a:off x="680322" y="4232173"/>
            <a:ext cx="9613860"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3/19/26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7" y="2869897"/>
            <a:ext cx="1154151" cy="1090789"/>
          </a:xfrm>
        </p:spPr>
        <p:txBody>
          <a:bodyPr/>
          <a:lstStyle/>
          <a:p>
            <a:pPr>
              <a:defRPr/>
            </a:pPr>
            <a:fld id="{89AA6ABC-C2F2-6A41-A47C-E005777CFC2A}" type="slidenum">
              <a:rPr lang="en-US" smtClean="0"/>
              <a:pPr>
                <a:defRPr/>
              </a:pPr>
              <a:t>‹#›</a:t>
            </a:fld>
            <a:endParaRPr lang="en-US"/>
          </a:p>
        </p:txBody>
      </p:sp>
    </p:spTree>
    <p:extLst>
      <p:ext uri="{BB962C8B-B14F-4D97-AF65-F5344CB8AC3E}">
        <p14:creationId xmlns:p14="http://schemas.microsoft.com/office/powerpoint/2010/main" val="195988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0321" y="2336873"/>
            <a:ext cx="46983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594123" y="2336873"/>
            <a:ext cx="47000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8E1D8437-CEAD-3B48-8F49-76FEB0075308}" type="slidenum">
              <a:rPr lang="en-US" smtClean="0"/>
              <a:pPr>
                <a:defRPr/>
              </a:pPr>
              <a:t>‹#›</a:t>
            </a:fld>
            <a:endParaRPr lang="en-US"/>
          </a:p>
        </p:txBody>
      </p:sp>
    </p:spTree>
    <p:extLst>
      <p:ext uri="{BB962C8B-B14F-4D97-AF65-F5344CB8AC3E}">
        <p14:creationId xmlns:p14="http://schemas.microsoft.com/office/powerpoint/2010/main" val="301449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2" name="Rectangle 11"/>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0" y="753231"/>
            <a:ext cx="9613863" cy="1080937"/>
          </a:xfrm>
        </p:spPr>
        <p:txBody>
          <a:bodyPr/>
          <a:lstStyle/>
          <a:p>
            <a:r>
              <a:rPr lang="en-GB"/>
              <a:t>Click to edit Master title style</a:t>
            </a:r>
            <a:endParaRPr lang="en-US" dirty="0"/>
          </a:p>
        </p:txBody>
      </p:sp>
      <p:sp>
        <p:nvSpPr>
          <p:cNvPr id="3" name="Text Placeholder 2"/>
          <p:cNvSpPr>
            <a:spLocks noGrp="1"/>
          </p:cNvSpPr>
          <p:nvPr>
            <p:ph type="body" idx="1"/>
          </p:nvPr>
        </p:nvSpPr>
        <p:spPr>
          <a:xfrm>
            <a:off x="906351" y="2336875"/>
            <a:ext cx="4472327"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80323" y="3030010"/>
            <a:ext cx="4698355"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20155" y="2336873"/>
            <a:ext cx="4474028"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5594124" y="3030010"/>
            <a:ext cx="4700059"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D4EC47B1-762D-9845-9A2A-BEBF4BB1A68A}" type="slidenum">
              <a:rPr lang="en-US" smtClean="0"/>
              <a:pPr>
                <a:defRPr/>
              </a:pPr>
              <a:t>‹#›</a:t>
            </a:fld>
            <a:endParaRPr lang="en-US"/>
          </a:p>
        </p:txBody>
      </p:sp>
    </p:spTree>
    <p:extLst>
      <p:ext uri="{BB962C8B-B14F-4D97-AF65-F5344CB8AC3E}">
        <p14:creationId xmlns:p14="http://schemas.microsoft.com/office/powerpoint/2010/main" val="3139205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8" name="Rectangle 7"/>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3/19/26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D504839C-9BB7-BB4D-96E1-589D0E7BC0CF}" type="slidenum">
              <a:rPr lang="en-US" smtClean="0"/>
              <a:pPr>
                <a:defRPr/>
              </a:pPr>
              <a:t>‹#›</a:t>
            </a:fld>
            <a:endParaRPr lang="en-US"/>
          </a:p>
        </p:txBody>
      </p:sp>
    </p:spTree>
    <p:extLst>
      <p:ext uri="{BB962C8B-B14F-4D97-AF65-F5344CB8AC3E}">
        <p14:creationId xmlns:p14="http://schemas.microsoft.com/office/powerpoint/2010/main" val="1828018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6" name="Rectangle 5"/>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8818C68F-D26B-8F47-958C-23B49CF8A634}" type="datetimeFigureOut">
              <a:rPr lang="en-US" smtClean="0"/>
              <a:pPr/>
              <a:t>3/19/26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BCAC36D0-0ED6-684D-8A07-95B77A62CED0}" type="slidenum">
              <a:rPr lang="en-US" smtClean="0"/>
              <a:pPr>
                <a:defRPr/>
              </a:pPr>
              <a:t>‹#›</a:t>
            </a:fld>
            <a:endParaRPr lang="en-US"/>
          </a:p>
        </p:txBody>
      </p:sp>
    </p:spTree>
    <p:extLst>
      <p:ext uri="{BB962C8B-B14F-4D97-AF65-F5344CB8AC3E}">
        <p14:creationId xmlns:p14="http://schemas.microsoft.com/office/powerpoint/2010/main" val="370000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2700"/>
            </a:lvl1pPr>
          </a:lstStyle>
          <a:p>
            <a:r>
              <a:rPr lang="en-GB"/>
              <a:t>Click to edit Master title style</a:t>
            </a:r>
            <a:endParaRPr lang="en-US" dirty="0"/>
          </a:p>
        </p:txBody>
      </p:sp>
      <p:sp>
        <p:nvSpPr>
          <p:cNvPr id="3" name="Content Placeholder 2"/>
          <p:cNvSpPr>
            <a:spLocks noGrp="1"/>
          </p:cNvSpPr>
          <p:nvPr>
            <p:ph idx="1"/>
          </p:nvPr>
        </p:nvSpPr>
        <p:spPr>
          <a:xfrm>
            <a:off x="4685847" y="2336875"/>
            <a:ext cx="5608336" cy="359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0322" y="2336874"/>
            <a:ext cx="379007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9635779D-38C7-9346-8D49-DBC00D127456}" type="slidenum">
              <a:rPr lang="en-US" smtClean="0"/>
              <a:pPr>
                <a:defRPr/>
              </a:pPr>
              <a:t>‹#›</a:t>
            </a:fld>
            <a:endParaRPr lang="en-US"/>
          </a:p>
        </p:txBody>
      </p:sp>
    </p:spTree>
    <p:extLst>
      <p:ext uri="{BB962C8B-B14F-4D97-AF65-F5344CB8AC3E}">
        <p14:creationId xmlns:p14="http://schemas.microsoft.com/office/powerpoint/2010/main" val="1963660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27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68334"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23" y="2336875"/>
            <a:ext cx="3876256"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59DE89CE-8BCC-3F47-AE37-99D728153862}" type="slidenum">
              <a:rPr lang="en-US" smtClean="0"/>
              <a:pPr>
                <a:defRPr/>
              </a:pPr>
              <a:t>‹#›</a:t>
            </a:fld>
            <a:endParaRPr lang="en-US"/>
          </a:p>
        </p:txBody>
      </p:sp>
    </p:spTree>
    <p:extLst>
      <p:ext uri="{BB962C8B-B14F-4D97-AF65-F5344CB8AC3E}">
        <p14:creationId xmlns:p14="http://schemas.microsoft.com/office/powerpoint/2010/main" val="2075924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8"/>
            <a:ext cx="9613859" cy="453051"/>
          </a:xfrm>
        </p:spPr>
        <p:txBody>
          <a:bodyPr anchor="b">
            <a:normAutofit/>
          </a:bodyPr>
          <a:lstStyle>
            <a:lvl1pPr>
              <a:defRPr sz="1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0322" y="609599"/>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19" y="5169585"/>
            <a:ext cx="9613863"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11311"/>
            <a:ext cx="1154151" cy="1090789"/>
          </a:xfrm>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15134293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609597"/>
            <a:ext cx="9613859" cy="3592750"/>
          </a:xfrm>
        </p:spPr>
        <p:txBody>
          <a:bodyPr anchor="ctr"/>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2" y="4711617"/>
            <a:ext cx="9613859"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11617"/>
            <a:ext cx="1154151" cy="1090789"/>
          </a:xfrm>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195085617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4" name="Rectangle 13"/>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2400"/>
            </a:lvl1pPr>
          </a:lstStyle>
          <a:p>
            <a:r>
              <a:rPr lang="en-GB"/>
              <a:t>Click to edit Master title style</a:t>
            </a:r>
            <a:endParaRPr lang="en-US" dirty="0"/>
          </a:p>
        </p:txBody>
      </p:sp>
      <p:sp>
        <p:nvSpPr>
          <p:cNvPr id="12" name="Text Placeholder 3"/>
          <p:cNvSpPr>
            <a:spLocks noGrp="1"/>
          </p:cNvSpPr>
          <p:nvPr>
            <p:ph type="body" sz="half" idx="13"/>
          </p:nvPr>
        </p:nvSpPr>
        <p:spPr>
          <a:xfrm>
            <a:off x="1402289" y="3653379"/>
            <a:ext cx="8156579"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4" name="Text Placeholder 3"/>
          <p:cNvSpPr>
            <a:spLocks noGrp="1"/>
          </p:cNvSpPr>
          <p:nvPr>
            <p:ph type="body" sz="half" idx="2"/>
          </p:nvPr>
        </p:nvSpPr>
        <p:spPr>
          <a:xfrm>
            <a:off x="680322" y="4711617"/>
            <a:ext cx="9613859"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pPr>
              <a:defRPr/>
            </a:pPr>
            <a:fld id="{A7400F20-5860-D94E-940C-99F6A6B2B6EF}" type="slidenum">
              <a:rPr lang="en-US" smtClean="0"/>
              <a:pPr>
                <a:defRPr/>
              </a:pPr>
              <a:t>‹#›</a:t>
            </a:fld>
            <a:endParaRPr lang="en-US"/>
          </a:p>
        </p:txBody>
      </p:sp>
      <p:sp>
        <p:nvSpPr>
          <p:cNvPr id="16" name="TextBox 15"/>
          <p:cNvSpPr txBox="1"/>
          <p:nvPr/>
        </p:nvSpPr>
        <p:spPr>
          <a:xfrm>
            <a:off x="583572" y="748116"/>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34506800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1" name="Rectangle 10"/>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7"/>
            <a:ext cx="9613863" cy="588535"/>
          </a:xfrm>
        </p:spPr>
        <p:txBody>
          <a:bodyPr anchor="b"/>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0" y="5300151"/>
            <a:ext cx="9613863"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44858338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6" name="Rectangle 15"/>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1" y="753228"/>
            <a:ext cx="9624960" cy="1080938"/>
          </a:xfrm>
        </p:spPr>
        <p:txBody>
          <a:bodyPr/>
          <a:lstStyle/>
          <a:p>
            <a:r>
              <a:rPr lang="en-GB"/>
              <a:t>Click to edit Master title style</a:t>
            </a:r>
            <a:endParaRPr lang="en-US" dirty="0"/>
          </a:p>
        </p:txBody>
      </p:sp>
      <p:sp>
        <p:nvSpPr>
          <p:cNvPr id="7" name="Text Placeholder 2"/>
          <p:cNvSpPr>
            <a:spLocks noGrp="1"/>
          </p:cNvSpPr>
          <p:nvPr>
            <p:ph type="body" idx="1"/>
          </p:nvPr>
        </p:nvSpPr>
        <p:spPr>
          <a:xfrm>
            <a:off x="660945" y="2336873"/>
            <a:ext cx="307003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8" name="Text Placeholder 3"/>
          <p:cNvSpPr>
            <a:spLocks noGrp="1"/>
          </p:cNvSpPr>
          <p:nvPr>
            <p:ph type="body" sz="half" idx="15"/>
          </p:nvPr>
        </p:nvSpPr>
        <p:spPr>
          <a:xfrm>
            <a:off x="680322" y="3022674"/>
            <a:ext cx="3049703"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0" name="Text Placeholder 3"/>
          <p:cNvSpPr>
            <a:spLocks noGrp="1"/>
          </p:cNvSpPr>
          <p:nvPr>
            <p:ph type="body" sz="half" idx="16"/>
          </p:nvPr>
        </p:nvSpPr>
        <p:spPr>
          <a:xfrm>
            <a:off x="3945471" y="3022674"/>
            <a:ext cx="306324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1" name="Text Placeholder 4"/>
          <p:cNvSpPr>
            <a:spLocks noGrp="1"/>
          </p:cNvSpPr>
          <p:nvPr>
            <p:ph type="body" sz="quarter" idx="13"/>
          </p:nvPr>
        </p:nvSpPr>
        <p:spPr>
          <a:xfrm>
            <a:off x="7224157" y="2336873"/>
            <a:ext cx="307002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2" name="Text Placeholder 3"/>
          <p:cNvSpPr>
            <a:spLocks noGrp="1"/>
          </p:cNvSpPr>
          <p:nvPr>
            <p:ph type="body" sz="half" idx="17"/>
          </p:nvPr>
        </p:nvSpPr>
        <p:spPr>
          <a:xfrm>
            <a:off x="7224157" y="3022674"/>
            <a:ext cx="3070025"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60138620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0320" y="4297503"/>
            <a:ext cx="30497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Picture Placeholder 2"/>
          <p:cNvSpPr>
            <a:spLocks noGrp="1" noChangeAspect="1"/>
          </p:cNvSpPr>
          <p:nvPr>
            <p:ph type="pic" idx="15"/>
          </p:nvPr>
        </p:nvSpPr>
        <p:spPr>
          <a:xfrm>
            <a:off x="680320"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1" name="Text Placeholder 3"/>
          <p:cNvSpPr>
            <a:spLocks noGrp="1"/>
          </p:cNvSpPr>
          <p:nvPr>
            <p:ph type="body" sz="half" idx="18"/>
          </p:nvPr>
        </p:nvSpPr>
        <p:spPr>
          <a:xfrm>
            <a:off x="680320" y="4873765"/>
            <a:ext cx="3049705"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3" name="Picture Placeholder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19"/>
          </p:nvPr>
        </p:nvSpPr>
        <p:spPr>
          <a:xfrm>
            <a:off x="3944118" y="4873764"/>
            <a:ext cx="3067297"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5" name="Text Placeholder 4"/>
          <p:cNvSpPr>
            <a:spLocks noGrp="1"/>
          </p:cNvSpPr>
          <p:nvPr>
            <p:ph type="body" sz="quarter" idx="13"/>
          </p:nvPr>
        </p:nvSpPr>
        <p:spPr>
          <a:xfrm>
            <a:off x="7230680" y="4297503"/>
            <a:ext cx="30635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6" name="Picture Placeholder 2"/>
          <p:cNvSpPr>
            <a:spLocks noGrp="1" noChangeAspect="1"/>
          </p:cNvSpPr>
          <p:nvPr>
            <p:ph type="pic" idx="22"/>
          </p:nvPr>
        </p:nvSpPr>
        <p:spPr>
          <a:xfrm>
            <a:off x="7230678"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354311848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9" name="Rectangle 8"/>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9B482E8-6E0E-1B4F-B1FD-C69DB9E858D9}" type="datetimeFigureOut">
              <a:rPr lang="en-US" smtClean="0"/>
              <a:pPr/>
              <a:t>3/19/26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9BE69B6E-F9F1-7548-BD0A-5B3C06893927}" type="slidenum">
              <a:rPr lang="en-US" smtClean="0"/>
              <a:pPr>
                <a:defRPr/>
              </a:pPr>
              <a:t>‹#›</a:t>
            </a:fld>
            <a:endParaRPr lang="en-US"/>
          </a:p>
        </p:txBody>
      </p:sp>
    </p:spTree>
    <p:extLst>
      <p:ext uri="{BB962C8B-B14F-4D97-AF65-F5344CB8AC3E}">
        <p14:creationId xmlns:p14="http://schemas.microsoft.com/office/powerpoint/2010/main" val="1292932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3" y="5372404"/>
            <a:ext cx="1602997" cy="1368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3" cy="435376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0322" y="609599"/>
            <a:ext cx="8870004" cy="53265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6807125" y="5936189"/>
            <a:ext cx="2743200" cy="365125"/>
          </a:xfrm>
        </p:spPr>
        <p:txBody>
          <a:bodyPr/>
          <a:lstStyle/>
          <a:p>
            <a:fld id="{09B482E8-6E0E-1B4F-B1FD-C69DB9E858D9}" type="datetimeFigureOut">
              <a:rPr lang="en-US" smtClean="0"/>
              <a:pPr/>
              <a:t>3/19/26</a:t>
            </a:fld>
            <a:endParaRPr lang="en-US" dirty="0"/>
          </a:p>
        </p:txBody>
      </p:sp>
      <p:sp>
        <p:nvSpPr>
          <p:cNvPr id="5" name="Footer Placeholder 4"/>
          <p:cNvSpPr>
            <a:spLocks noGrp="1"/>
          </p:cNvSpPr>
          <p:nvPr>
            <p:ph type="ftr" sz="quarter" idx="11"/>
          </p:nvPr>
        </p:nvSpPr>
        <p:spPr>
          <a:xfrm>
            <a:off x="680321" y="5936190"/>
            <a:ext cx="6126805" cy="365125"/>
          </a:xfrm>
        </p:spPr>
        <p:txBody>
          <a:bodyPr/>
          <a:lstStyle/>
          <a:p>
            <a:endParaRPr lang="en-US" dirty="0"/>
          </a:p>
        </p:txBody>
      </p:sp>
      <p:sp>
        <p:nvSpPr>
          <p:cNvPr id="6" name="Slide Number Placeholder 5"/>
          <p:cNvSpPr>
            <a:spLocks noGrp="1"/>
          </p:cNvSpPr>
          <p:nvPr>
            <p:ph type="sldNum" sz="quarter" idx="12"/>
          </p:nvPr>
        </p:nvSpPr>
        <p:spPr>
          <a:xfrm>
            <a:off x="10097551" y="5398635"/>
            <a:ext cx="1154151" cy="1090789"/>
          </a:xfrm>
        </p:spPr>
        <p:txBody>
          <a:bodyPr anchor="t"/>
          <a:lstStyle>
            <a:lvl1pPr algn="ctr">
              <a:defRPr/>
            </a:lvl1pPr>
          </a:lstStyle>
          <a:p>
            <a:pPr>
              <a:defRPr/>
            </a:pPr>
            <a:fld id="{D1CAF307-2DFD-1744-819C-E39F11E12F42}" type="slidenum">
              <a:rPr lang="en-US" smtClean="0"/>
              <a:pPr>
                <a:defRPr/>
              </a:pPr>
              <a:t>‹#›</a:t>
            </a:fld>
            <a:endParaRPr lang="en-US"/>
          </a:p>
        </p:txBody>
      </p:sp>
    </p:spTree>
    <p:extLst>
      <p:ext uri="{BB962C8B-B14F-4D97-AF65-F5344CB8AC3E}">
        <p14:creationId xmlns:p14="http://schemas.microsoft.com/office/powerpoint/2010/main" val="2380402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0981" y="5936189"/>
            <a:ext cx="2743200" cy="365125"/>
          </a:xfrm>
          <a:prstGeom prst="rect">
            <a:avLst/>
          </a:prstGeom>
        </p:spPr>
        <p:txBody>
          <a:bodyPr vert="horz" lIns="91440" tIns="45720" rIns="91440" bIns="45720" rtlCol="0" anchor="ctr"/>
          <a:lstStyle>
            <a:lvl1pPr algn="r">
              <a:defRPr sz="788">
                <a:solidFill>
                  <a:schemeClr val="tx1">
                    <a:tint val="75000"/>
                  </a:schemeClr>
                </a:solidFill>
              </a:defRPr>
            </a:lvl1pPr>
          </a:lstStyle>
          <a:p>
            <a:fld id="{09B482E8-6E0E-1B4F-B1FD-C69DB9E858D9}" type="datetimeFigureOut">
              <a:rPr lang="en-US" smtClean="0"/>
              <a:pPr/>
              <a:t>3/19/26</a:t>
            </a:fld>
            <a:endParaRPr lang="en-US" dirty="0"/>
          </a:p>
        </p:txBody>
      </p:sp>
      <p:sp>
        <p:nvSpPr>
          <p:cNvPr id="5" name="Footer Placeholder 4"/>
          <p:cNvSpPr>
            <a:spLocks noGrp="1"/>
          </p:cNvSpPr>
          <p:nvPr>
            <p:ph type="ftr" sz="quarter" idx="3"/>
          </p:nvPr>
        </p:nvSpPr>
        <p:spPr>
          <a:xfrm>
            <a:off x="680322" y="5936190"/>
            <a:ext cx="6870660"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7" y="753228"/>
            <a:ext cx="1154151" cy="1090789"/>
          </a:xfrm>
          <a:prstGeom prst="rect">
            <a:avLst/>
          </a:prstGeom>
        </p:spPr>
        <p:txBody>
          <a:bodyPr vert="horz" lIns="91440" tIns="45720" rIns="91440" bIns="45720" rtlCol="0" anchor="ctr"/>
          <a:lstStyle>
            <a:lvl1pPr algn="l">
              <a:defRPr sz="2700">
                <a:solidFill>
                  <a:schemeClr val="tx1">
                    <a:tint val="75000"/>
                  </a:schemeClr>
                </a:solidFill>
              </a:defRPr>
            </a:lvl1pPr>
          </a:lstStyle>
          <a:p>
            <a:pPr>
              <a:defRPr/>
            </a:pPr>
            <a:fld id="{A7400F20-5860-D94E-940C-99F6A6B2B6EF}" type="slidenum">
              <a:rPr lang="en-US" smtClean="0"/>
              <a:pPr>
                <a:defRPr/>
              </a:pPr>
              <a:t>‹#›</a:t>
            </a:fld>
            <a:endParaRPr lang="en-US"/>
          </a:p>
        </p:txBody>
      </p:sp>
    </p:spTree>
    <p:extLst>
      <p:ext uri="{BB962C8B-B14F-4D97-AF65-F5344CB8AC3E}">
        <p14:creationId xmlns:p14="http://schemas.microsoft.com/office/powerpoint/2010/main" val="2347360655"/>
      </p:ext>
    </p:extLst>
  </p:cSld>
  <p:clrMap bg1="dk1" tx1="lt1" bg2="dk2" tx2="lt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hyperlink" Target="https://wiki.haskell.org/Converting_numbers" TargetMode="Externa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05C1B8B5-F999-0749-AE86-1FB479D6F14F}" type="slidenum">
              <a:rPr lang="en-US" sz="1400"/>
              <a:pPr/>
              <a:t>0</a:t>
            </a:fld>
            <a:endParaRPr lang="en-US" sz="1400"/>
          </a:p>
        </p:txBody>
      </p:sp>
      <p:sp>
        <p:nvSpPr>
          <p:cNvPr id="727042" name="Text Box 2"/>
          <p:cNvSpPr txBox="1">
            <a:spLocks noChangeArrowheads="1"/>
          </p:cNvSpPr>
          <p:nvPr/>
        </p:nvSpPr>
        <p:spPr bwMode="auto">
          <a:xfrm>
            <a:off x="1639889" y="1001713"/>
            <a:ext cx="8910637" cy="641350"/>
          </a:xfrm>
          <a:prstGeom prst="rect">
            <a:avLst/>
          </a:prstGeom>
          <a:noFill/>
          <a:ln>
            <a:noFill/>
          </a:ln>
          <a:effectLst/>
        </p:spPr>
        <p:txBody>
          <a:bodyPr>
            <a:spAutoFit/>
          </a:bodyPr>
          <a:lstStyle/>
          <a:p>
            <a:pPr algn="ctr">
              <a:defRPr/>
            </a:pPr>
            <a:r>
              <a:rPr lang="en-US" sz="3600" b="1">
                <a:solidFill>
                  <a:schemeClr val="tx2"/>
                </a:solidFill>
                <a:latin typeface="Arial Black" charset="0"/>
                <a:cs typeface="+mn-cs"/>
              </a:rPr>
              <a:t>PROGRAMMING IN HASKELL</a:t>
            </a:r>
          </a:p>
        </p:txBody>
      </p:sp>
      <p:sp>
        <p:nvSpPr>
          <p:cNvPr id="727043" name="Rectangle 3"/>
          <p:cNvSpPr>
            <a:spLocks noChangeArrowheads="1"/>
          </p:cNvSpPr>
          <p:nvPr/>
        </p:nvSpPr>
        <p:spPr bwMode="auto">
          <a:xfrm>
            <a:off x="1700214" y="5164137"/>
            <a:ext cx="8791575" cy="1024627"/>
          </a:xfrm>
          <a:prstGeom prst="rect">
            <a:avLst/>
          </a:prstGeom>
          <a:noFill/>
          <a:ln>
            <a:noFill/>
          </a:ln>
          <a:effectLst/>
        </p:spPr>
        <p:txBody>
          <a:bodyPr anchor="ctr"/>
          <a:lstStyle/>
          <a:p>
            <a:pPr algn="ctr">
              <a:defRPr/>
            </a:pPr>
            <a:r>
              <a:rPr kumimoji="1" lang="en-US" sz="3200" dirty="0">
                <a:cs typeface="+mn-cs"/>
              </a:rPr>
              <a:t>Topic 10.1 - Declaring Types</a:t>
            </a:r>
            <a:endParaRPr kumimoji="1" lang="en-US" sz="3200" dirty="0">
              <a:solidFill>
                <a:srgbClr val="FF0000"/>
              </a:solidFill>
              <a:cs typeface="+mn-cs"/>
            </a:endParaRPr>
          </a:p>
        </p:txBody>
      </p:sp>
      <p:pic>
        <p:nvPicPr>
          <p:cNvPr id="15364" name="Picture 5" descr="2000px-Haskell-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75189" y="2425700"/>
            <a:ext cx="2841625" cy="2006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a:latin typeface="Arial Black" charset="0"/>
                <a:ea typeface="ＭＳ Ｐゴシック" charset="0"/>
                <a:cs typeface="ＭＳ Ｐゴシック" charset="0"/>
              </a:rPr>
              <a:t>Type Declarations</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45EE633E-1D6D-CB4B-A30D-5EE721A82DDA}" type="slidenum">
              <a:rPr lang="en-US" sz="1400"/>
              <a:pPr/>
              <a:t>1</a:t>
            </a:fld>
            <a:endParaRPr lang="en-US" sz="1400"/>
          </a:p>
        </p:txBody>
      </p:sp>
      <p:sp>
        <p:nvSpPr>
          <p:cNvPr id="654339" name="Text Box 3"/>
          <p:cNvSpPr txBox="1">
            <a:spLocks noChangeArrowheads="1"/>
          </p:cNvSpPr>
          <p:nvPr/>
        </p:nvSpPr>
        <p:spPr bwMode="auto">
          <a:xfrm>
            <a:off x="1670050" y="2141184"/>
            <a:ext cx="8224838" cy="946150"/>
          </a:xfrm>
          <a:prstGeom prst="rect">
            <a:avLst/>
          </a:prstGeom>
          <a:noFill/>
          <a:ln>
            <a:noFill/>
          </a:ln>
          <a:effectLst/>
        </p:spPr>
        <p:txBody>
          <a:bodyPr anchor="ctr">
            <a:spAutoFit/>
          </a:bodyPr>
          <a:lstStyle/>
          <a:p>
            <a:pPr>
              <a:defRPr/>
            </a:pPr>
            <a:r>
              <a:rPr lang="en-US" sz="2800" dirty="0">
                <a:cs typeface="+mn-cs"/>
              </a:rPr>
              <a:t>In Haskell, a new name for an existing type can be defined using a </a:t>
            </a:r>
            <a:r>
              <a:rPr lang="en-US" sz="2800" u="sng" dirty="0">
                <a:cs typeface="+mn-cs"/>
              </a:rPr>
              <a:t>type declaration</a:t>
            </a:r>
            <a:r>
              <a:rPr lang="en-US" sz="2800" dirty="0">
                <a:cs typeface="+mn-cs"/>
              </a:rPr>
              <a:t>.</a:t>
            </a:r>
          </a:p>
        </p:txBody>
      </p:sp>
      <p:sp>
        <p:nvSpPr>
          <p:cNvPr id="654340" name="Text Box 4"/>
          <p:cNvSpPr txBox="1">
            <a:spLocks noChangeArrowheads="1"/>
          </p:cNvSpPr>
          <p:nvPr/>
        </p:nvSpPr>
        <p:spPr bwMode="auto">
          <a:xfrm>
            <a:off x="3057526" y="3661422"/>
            <a:ext cx="3903633"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type String = [Char]</a:t>
            </a:r>
          </a:p>
        </p:txBody>
      </p:sp>
      <p:sp>
        <p:nvSpPr>
          <p:cNvPr id="654341" name="AutoShape 5"/>
          <p:cNvSpPr>
            <a:spLocks noChangeArrowheads="1"/>
          </p:cNvSpPr>
          <p:nvPr/>
        </p:nvSpPr>
        <p:spPr bwMode="auto">
          <a:xfrm>
            <a:off x="2133601" y="5286653"/>
            <a:ext cx="6988175" cy="578882"/>
          </a:xfrm>
          <a:prstGeom prst="wedgeRoundRectCallout">
            <a:avLst>
              <a:gd name="adj1" fmla="val -17503"/>
              <a:gd name="adj2" fmla="val -243469"/>
              <a:gd name="adj3" fmla="val 16667"/>
            </a:avLst>
          </a:prstGeom>
          <a:solidFill>
            <a:srgbClr val="FFC000"/>
          </a:solidFill>
          <a:ln w="12700" cap="sq">
            <a:solidFill>
              <a:schemeClr val="tx1"/>
            </a:solidFill>
            <a:miter lim="800000"/>
            <a:headEnd/>
            <a:tailEnd/>
          </a:ln>
          <a:effectLst/>
        </p:spPr>
        <p:txBody>
          <a:bodyPr anchor="ctr">
            <a:spAutoFit/>
          </a:bodyPr>
          <a:lstStyle/>
          <a:p>
            <a:pPr algn="ctr">
              <a:defRPr/>
            </a:pPr>
            <a:r>
              <a:rPr lang="en-US" sz="2800" dirty="0">
                <a:cs typeface="+mn-cs"/>
              </a:rPr>
              <a:t>String is a synonym for the type [Char].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4339"/>
                                        </p:tgtEl>
                                        <p:attrNameLst>
                                          <p:attrName>style.visibility</p:attrName>
                                        </p:attrNameLst>
                                      </p:cBhvr>
                                      <p:to>
                                        <p:strVal val="visible"/>
                                      </p:to>
                                    </p:set>
                                    <p:anim calcmode="lin" valueType="num">
                                      <p:cBhvr additive="base">
                                        <p:cTn id="7" dur="500" fill="hold"/>
                                        <p:tgtEl>
                                          <p:spTgt spid="654339"/>
                                        </p:tgtEl>
                                        <p:attrNameLst>
                                          <p:attrName>ppt_x</p:attrName>
                                        </p:attrNameLst>
                                      </p:cBhvr>
                                      <p:tavLst>
                                        <p:tav tm="0">
                                          <p:val>
                                            <p:strVal val="#ppt_x"/>
                                          </p:val>
                                        </p:tav>
                                        <p:tav tm="100000">
                                          <p:val>
                                            <p:strVal val="#ppt_x"/>
                                          </p:val>
                                        </p:tav>
                                      </p:tavLst>
                                    </p:anim>
                                    <p:anim calcmode="lin" valueType="num">
                                      <p:cBhvr additive="base">
                                        <p:cTn id="8" dur="500" fill="hold"/>
                                        <p:tgtEl>
                                          <p:spTgt spid="6543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4340"/>
                                        </p:tgtEl>
                                        <p:attrNameLst>
                                          <p:attrName>style.visibility</p:attrName>
                                        </p:attrNameLst>
                                      </p:cBhvr>
                                      <p:to>
                                        <p:strVal val="visible"/>
                                      </p:to>
                                    </p:set>
                                    <p:anim calcmode="lin" valueType="num">
                                      <p:cBhvr additive="base">
                                        <p:cTn id="13" dur="500" fill="hold"/>
                                        <p:tgtEl>
                                          <p:spTgt spid="654340"/>
                                        </p:tgtEl>
                                        <p:attrNameLst>
                                          <p:attrName>ppt_x</p:attrName>
                                        </p:attrNameLst>
                                      </p:cBhvr>
                                      <p:tavLst>
                                        <p:tav tm="0">
                                          <p:val>
                                            <p:strVal val="#ppt_x"/>
                                          </p:val>
                                        </p:tav>
                                        <p:tav tm="100000">
                                          <p:val>
                                            <p:strVal val="#ppt_x"/>
                                          </p:val>
                                        </p:tav>
                                      </p:tavLst>
                                    </p:anim>
                                    <p:anim calcmode="lin" valueType="num">
                                      <p:cBhvr additive="base">
                                        <p:cTn id="14" dur="500" fill="hold"/>
                                        <p:tgtEl>
                                          <p:spTgt spid="6543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4341"/>
                                        </p:tgtEl>
                                        <p:attrNameLst>
                                          <p:attrName>style.visibility</p:attrName>
                                        </p:attrNameLst>
                                      </p:cBhvr>
                                      <p:to>
                                        <p:strVal val="visible"/>
                                      </p:to>
                                    </p:set>
                                    <p:anim calcmode="lin" valueType="num">
                                      <p:cBhvr additive="base">
                                        <p:cTn id="19" dur="500" fill="hold"/>
                                        <p:tgtEl>
                                          <p:spTgt spid="654341"/>
                                        </p:tgtEl>
                                        <p:attrNameLst>
                                          <p:attrName>ppt_x</p:attrName>
                                        </p:attrNameLst>
                                      </p:cBhvr>
                                      <p:tavLst>
                                        <p:tav tm="0">
                                          <p:val>
                                            <p:strVal val="#ppt_x"/>
                                          </p:val>
                                        </p:tav>
                                        <p:tav tm="100000">
                                          <p:val>
                                            <p:strVal val="#ppt_x"/>
                                          </p:val>
                                        </p:tav>
                                      </p:tavLst>
                                    </p:anim>
                                    <p:anim calcmode="lin" valueType="num">
                                      <p:cBhvr additive="base">
                                        <p:cTn id="20" dur="500" fill="hold"/>
                                        <p:tgtEl>
                                          <p:spTgt spid="65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39" grpId="0"/>
      <p:bldP spid="654340" grpId="0" animBg="1"/>
      <p:bldP spid="6543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E1B33B99-B41A-9444-99A2-3C524186CF57}" type="slidenum">
              <a:rPr lang="en-US" sz="1400"/>
              <a:pPr/>
              <a:t>2</a:t>
            </a:fld>
            <a:endParaRPr lang="en-US" sz="1400"/>
          </a:p>
        </p:txBody>
      </p:sp>
      <p:sp>
        <p:nvSpPr>
          <p:cNvPr id="655362" name="Text Box 2"/>
          <p:cNvSpPr txBox="1">
            <a:spLocks noChangeArrowheads="1"/>
          </p:cNvSpPr>
          <p:nvPr/>
        </p:nvSpPr>
        <p:spPr bwMode="auto">
          <a:xfrm>
            <a:off x="1104034" y="1949284"/>
            <a:ext cx="8337550" cy="954107"/>
          </a:xfrm>
          <a:prstGeom prst="rect">
            <a:avLst/>
          </a:prstGeom>
          <a:noFill/>
          <a:ln>
            <a:noFill/>
          </a:ln>
          <a:effectLst/>
        </p:spPr>
        <p:txBody>
          <a:bodyPr anchor="ctr">
            <a:spAutoFit/>
          </a:bodyPr>
          <a:lstStyle/>
          <a:p>
            <a:pPr>
              <a:defRPr/>
            </a:pPr>
            <a:r>
              <a:rPr lang="en-US" sz="2800" dirty="0">
                <a:cs typeface="+mn-cs"/>
              </a:rPr>
              <a:t>Type declarations can be used to make other types easier to read.  For example, given</a:t>
            </a:r>
          </a:p>
        </p:txBody>
      </p:sp>
      <p:sp>
        <p:nvSpPr>
          <p:cNvPr id="655363" name="Text Box 3"/>
          <p:cNvSpPr txBox="1">
            <a:spLocks noChangeArrowheads="1"/>
          </p:cNvSpPr>
          <p:nvPr/>
        </p:nvSpPr>
        <p:spPr bwMode="auto">
          <a:xfrm>
            <a:off x="3068639" y="4219575"/>
            <a:ext cx="3894137" cy="2116138"/>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origin :: Pos</a:t>
            </a:r>
          </a:p>
          <a:p>
            <a:pPr>
              <a:lnSpc>
                <a:spcPct val="110000"/>
              </a:lnSpc>
              <a:defRPr/>
            </a:pPr>
            <a:r>
              <a:rPr lang="en-US" sz="2400" dirty="0">
                <a:latin typeface="Lucida Sans Typewriter" charset="0"/>
                <a:cs typeface="+mn-cs"/>
              </a:rPr>
              <a:t>origin = (0,0)</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left :: Pos </a:t>
            </a:r>
            <a:r>
              <a:rPr lang="en-US" sz="2400" dirty="0">
                <a:latin typeface="Lucida Sans Typewriter" charset="0"/>
                <a:cs typeface="+mn-cs"/>
                <a:sym typeface="Symbol" charset="0"/>
              </a:rPr>
              <a:t></a:t>
            </a:r>
            <a:r>
              <a:rPr lang="en-US" sz="2400" dirty="0">
                <a:latin typeface="Lucida Sans Typewriter" charset="0"/>
                <a:cs typeface="+mn-cs"/>
              </a:rPr>
              <a:t> Pos</a:t>
            </a:r>
          </a:p>
          <a:p>
            <a:pPr>
              <a:lnSpc>
                <a:spcPct val="110000"/>
              </a:lnSpc>
              <a:defRPr/>
            </a:pPr>
            <a:r>
              <a:rPr lang="en-US" sz="2400" dirty="0">
                <a:latin typeface="Lucida Sans Typewriter" charset="0"/>
                <a:cs typeface="+mn-cs"/>
              </a:rPr>
              <a:t>left (x,y) = (x-1,y)</a:t>
            </a:r>
          </a:p>
        </p:txBody>
      </p:sp>
      <p:sp>
        <p:nvSpPr>
          <p:cNvPr id="655364" name="Text Box 4"/>
          <p:cNvSpPr txBox="1">
            <a:spLocks noChangeArrowheads="1"/>
          </p:cNvSpPr>
          <p:nvPr/>
        </p:nvSpPr>
        <p:spPr bwMode="auto">
          <a:xfrm>
            <a:off x="3059143" y="3018510"/>
            <a:ext cx="3903633"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type Pos = (</a:t>
            </a:r>
            <a:r>
              <a:rPr lang="en-US" sz="2400" dirty="0" err="1">
                <a:latin typeface="Lucida Sans Typewriter" charset="0"/>
                <a:cs typeface="+mn-cs"/>
              </a:rPr>
              <a:t>Int,Int</a:t>
            </a:r>
            <a:r>
              <a:rPr lang="en-US" sz="2400" dirty="0">
                <a:latin typeface="Lucida Sans Typewriter" charset="0"/>
                <a:cs typeface="+mn-cs"/>
              </a:rPr>
              <a:t>)</a:t>
            </a:r>
          </a:p>
        </p:txBody>
      </p:sp>
      <p:sp>
        <p:nvSpPr>
          <p:cNvPr id="655365" name="Text Box 5"/>
          <p:cNvSpPr txBox="1">
            <a:spLocks noChangeArrowheads="1"/>
          </p:cNvSpPr>
          <p:nvPr/>
        </p:nvSpPr>
        <p:spPr bwMode="auto">
          <a:xfrm>
            <a:off x="1104034" y="3422741"/>
            <a:ext cx="3717348" cy="523220"/>
          </a:xfrm>
          <a:prstGeom prst="rect">
            <a:avLst/>
          </a:prstGeom>
          <a:noFill/>
          <a:ln>
            <a:noFill/>
          </a:ln>
          <a:effectLst/>
        </p:spPr>
        <p:txBody>
          <a:bodyPr wrap="square" anchor="ctr">
            <a:spAutoFit/>
          </a:bodyPr>
          <a:lstStyle/>
          <a:p>
            <a:pPr>
              <a:defRPr/>
            </a:pPr>
            <a:r>
              <a:rPr lang="en-US" sz="2800" dirty="0">
                <a:cs typeface="+mn-cs"/>
              </a:rPr>
              <a:t>we can define:</a:t>
            </a:r>
          </a:p>
        </p:txBody>
      </p:sp>
      <p:sp>
        <p:nvSpPr>
          <p:cNvPr id="4" name="Rectangle 2">
            <a:extLst>
              <a:ext uri="{FF2B5EF4-FFF2-40B4-BE49-F238E27FC236}">
                <a16:creationId xmlns:a16="http://schemas.microsoft.com/office/drawing/2014/main" id="{A299E27C-6BAD-F788-42AD-5A289CA5AFF0}"/>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Type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362"/>
                                        </p:tgtEl>
                                        <p:attrNameLst>
                                          <p:attrName>style.visibility</p:attrName>
                                        </p:attrNameLst>
                                      </p:cBhvr>
                                      <p:to>
                                        <p:strVal val="visible"/>
                                      </p:to>
                                    </p:set>
                                    <p:anim calcmode="lin" valueType="num">
                                      <p:cBhvr additive="base">
                                        <p:cTn id="7" dur="500" fill="hold"/>
                                        <p:tgtEl>
                                          <p:spTgt spid="655362"/>
                                        </p:tgtEl>
                                        <p:attrNameLst>
                                          <p:attrName>ppt_x</p:attrName>
                                        </p:attrNameLst>
                                      </p:cBhvr>
                                      <p:tavLst>
                                        <p:tav tm="0">
                                          <p:val>
                                            <p:strVal val="#ppt_x"/>
                                          </p:val>
                                        </p:tav>
                                        <p:tav tm="100000">
                                          <p:val>
                                            <p:strVal val="#ppt_x"/>
                                          </p:val>
                                        </p:tav>
                                      </p:tavLst>
                                    </p:anim>
                                    <p:anim calcmode="lin" valueType="num">
                                      <p:cBhvr additive="base">
                                        <p:cTn id="8" dur="500" fill="hold"/>
                                        <p:tgtEl>
                                          <p:spTgt spid="6553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5364"/>
                                        </p:tgtEl>
                                        <p:attrNameLst>
                                          <p:attrName>style.visibility</p:attrName>
                                        </p:attrNameLst>
                                      </p:cBhvr>
                                      <p:to>
                                        <p:strVal val="visible"/>
                                      </p:to>
                                    </p:set>
                                    <p:anim calcmode="lin" valueType="num">
                                      <p:cBhvr additive="base">
                                        <p:cTn id="13" dur="500" fill="hold"/>
                                        <p:tgtEl>
                                          <p:spTgt spid="655364"/>
                                        </p:tgtEl>
                                        <p:attrNameLst>
                                          <p:attrName>ppt_x</p:attrName>
                                        </p:attrNameLst>
                                      </p:cBhvr>
                                      <p:tavLst>
                                        <p:tav tm="0">
                                          <p:val>
                                            <p:strVal val="#ppt_x"/>
                                          </p:val>
                                        </p:tav>
                                        <p:tav tm="100000">
                                          <p:val>
                                            <p:strVal val="#ppt_x"/>
                                          </p:val>
                                        </p:tav>
                                      </p:tavLst>
                                    </p:anim>
                                    <p:anim calcmode="lin" valueType="num">
                                      <p:cBhvr additive="base">
                                        <p:cTn id="14" dur="500" fill="hold"/>
                                        <p:tgtEl>
                                          <p:spTgt spid="6553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5365"/>
                                        </p:tgtEl>
                                        <p:attrNameLst>
                                          <p:attrName>style.visibility</p:attrName>
                                        </p:attrNameLst>
                                      </p:cBhvr>
                                      <p:to>
                                        <p:strVal val="visible"/>
                                      </p:to>
                                    </p:set>
                                    <p:anim calcmode="lin" valueType="num">
                                      <p:cBhvr additive="base">
                                        <p:cTn id="19" dur="500" fill="hold"/>
                                        <p:tgtEl>
                                          <p:spTgt spid="655365"/>
                                        </p:tgtEl>
                                        <p:attrNameLst>
                                          <p:attrName>ppt_x</p:attrName>
                                        </p:attrNameLst>
                                      </p:cBhvr>
                                      <p:tavLst>
                                        <p:tav tm="0">
                                          <p:val>
                                            <p:strVal val="#ppt_x"/>
                                          </p:val>
                                        </p:tav>
                                        <p:tav tm="100000">
                                          <p:val>
                                            <p:strVal val="#ppt_x"/>
                                          </p:val>
                                        </p:tav>
                                      </p:tavLst>
                                    </p:anim>
                                    <p:anim calcmode="lin" valueType="num">
                                      <p:cBhvr additive="base">
                                        <p:cTn id="20" dur="500" fill="hold"/>
                                        <p:tgtEl>
                                          <p:spTgt spid="65536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5363"/>
                                        </p:tgtEl>
                                        <p:attrNameLst>
                                          <p:attrName>style.visibility</p:attrName>
                                        </p:attrNameLst>
                                      </p:cBhvr>
                                      <p:to>
                                        <p:strVal val="visible"/>
                                      </p:to>
                                    </p:set>
                                    <p:anim calcmode="lin" valueType="num">
                                      <p:cBhvr additive="base">
                                        <p:cTn id="25" dur="500" fill="hold"/>
                                        <p:tgtEl>
                                          <p:spTgt spid="655363"/>
                                        </p:tgtEl>
                                        <p:attrNameLst>
                                          <p:attrName>ppt_x</p:attrName>
                                        </p:attrNameLst>
                                      </p:cBhvr>
                                      <p:tavLst>
                                        <p:tav tm="0">
                                          <p:val>
                                            <p:strVal val="#ppt_x"/>
                                          </p:val>
                                        </p:tav>
                                        <p:tav tm="100000">
                                          <p:val>
                                            <p:strVal val="#ppt_x"/>
                                          </p:val>
                                        </p:tav>
                                      </p:tavLst>
                                    </p:anim>
                                    <p:anim calcmode="lin" valueType="num">
                                      <p:cBhvr additive="base">
                                        <p:cTn id="26" dur="500" fill="hold"/>
                                        <p:tgtEl>
                                          <p:spTgt spid="655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2" grpId="0"/>
      <p:bldP spid="655363" grpId="0" animBg="1"/>
      <p:bldP spid="655364" grpId="0" animBg="1"/>
      <p:bldP spid="6553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E4CB377-CE66-B440-AD32-8636275B84A0}" type="slidenum">
              <a:rPr lang="en-US" sz="1400"/>
              <a:pPr/>
              <a:t>3</a:t>
            </a:fld>
            <a:endParaRPr lang="en-US" sz="1400"/>
          </a:p>
        </p:txBody>
      </p:sp>
      <p:sp>
        <p:nvSpPr>
          <p:cNvPr id="665602" name="Text Box 2"/>
          <p:cNvSpPr txBox="1">
            <a:spLocks noChangeArrowheads="1"/>
          </p:cNvSpPr>
          <p:nvPr/>
        </p:nvSpPr>
        <p:spPr bwMode="auto">
          <a:xfrm>
            <a:off x="1231957" y="2017740"/>
            <a:ext cx="8510588" cy="946150"/>
          </a:xfrm>
          <a:prstGeom prst="rect">
            <a:avLst/>
          </a:prstGeom>
          <a:noFill/>
          <a:ln>
            <a:noFill/>
          </a:ln>
          <a:effectLst/>
        </p:spPr>
        <p:txBody>
          <a:bodyPr anchor="ctr">
            <a:spAutoFit/>
          </a:bodyPr>
          <a:lstStyle/>
          <a:p>
            <a:pPr>
              <a:defRPr/>
            </a:pPr>
            <a:r>
              <a:rPr lang="en-US" sz="2800" dirty="0">
                <a:cs typeface="+mn-cs"/>
              </a:rPr>
              <a:t>Like function definitions, type declarations can also have </a:t>
            </a:r>
            <a:r>
              <a:rPr lang="en-US" sz="2800" u="sng" dirty="0">
                <a:cs typeface="+mn-cs"/>
              </a:rPr>
              <a:t>parameters</a:t>
            </a:r>
            <a:r>
              <a:rPr lang="en-US" sz="2800" dirty="0">
                <a:cs typeface="+mn-cs"/>
              </a:rPr>
              <a:t>.  For example, given</a:t>
            </a:r>
          </a:p>
        </p:txBody>
      </p:sp>
      <p:sp>
        <p:nvSpPr>
          <p:cNvPr id="665603" name="Text Box 3"/>
          <p:cNvSpPr txBox="1">
            <a:spLocks noChangeArrowheads="1"/>
          </p:cNvSpPr>
          <p:nvPr/>
        </p:nvSpPr>
        <p:spPr bwMode="auto">
          <a:xfrm>
            <a:off x="3103563" y="3139330"/>
            <a:ext cx="3717684"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type Pair a = (</a:t>
            </a:r>
            <a:r>
              <a:rPr lang="en-US" sz="2400" dirty="0" err="1">
                <a:latin typeface="Lucida Sans Typewriter" charset="0"/>
                <a:cs typeface="+mn-cs"/>
              </a:rPr>
              <a:t>a,a</a:t>
            </a:r>
            <a:r>
              <a:rPr lang="en-US" sz="2400" dirty="0">
                <a:latin typeface="Lucida Sans Typewriter" charset="0"/>
                <a:cs typeface="+mn-cs"/>
              </a:rPr>
              <a:t>)</a:t>
            </a:r>
          </a:p>
        </p:txBody>
      </p:sp>
      <p:sp>
        <p:nvSpPr>
          <p:cNvPr id="665605" name="Text Box 5"/>
          <p:cNvSpPr txBox="1">
            <a:spLocks noChangeArrowheads="1"/>
          </p:cNvSpPr>
          <p:nvPr/>
        </p:nvSpPr>
        <p:spPr bwMode="auto">
          <a:xfrm>
            <a:off x="1342793" y="3632501"/>
            <a:ext cx="4638674" cy="523220"/>
          </a:xfrm>
          <a:prstGeom prst="rect">
            <a:avLst/>
          </a:prstGeom>
          <a:noFill/>
          <a:ln>
            <a:noFill/>
          </a:ln>
          <a:effectLst/>
        </p:spPr>
        <p:txBody>
          <a:bodyPr wrap="square" anchor="ctr">
            <a:spAutoFit/>
          </a:bodyPr>
          <a:lstStyle/>
          <a:p>
            <a:pPr>
              <a:defRPr/>
            </a:pPr>
            <a:r>
              <a:rPr lang="en-US" sz="2800" dirty="0">
                <a:cs typeface="+mn-cs"/>
              </a:rPr>
              <a:t>we can define:</a:t>
            </a:r>
          </a:p>
        </p:txBody>
      </p:sp>
      <p:sp>
        <p:nvSpPr>
          <p:cNvPr id="665607" name="Text Box 7"/>
          <p:cNvSpPr txBox="1">
            <a:spLocks noChangeArrowheads="1"/>
          </p:cNvSpPr>
          <p:nvPr/>
        </p:nvSpPr>
        <p:spPr bwMode="auto">
          <a:xfrm>
            <a:off x="3103563" y="4609307"/>
            <a:ext cx="4383087" cy="2116138"/>
          </a:xfrm>
          <a:prstGeom prst="rect">
            <a:avLst/>
          </a:prstGeom>
          <a:solidFill>
            <a:schemeClr val="accent1"/>
          </a:solidFill>
          <a:ln>
            <a:noFill/>
          </a:ln>
          <a:effectLst/>
        </p:spPr>
        <p:txBody>
          <a:bodyPr wrap="none" anchor="ctr">
            <a:spAutoFit/>
          </a:bodyPr>
          <a:lstStyle/>
          <a:p>
            <a:pPr>
              <a:lnSpc>
                <a:spcPct val="110000"/>
              </a:lnSpc>
              <a:defRPr/>
            </a:pPr>
            <a:r>
              <a:rPr lang="en-US" sz="2400" dirty="0" err="1">
                <a:latin typeface="Lucida Sans Typewriter" charset="0"/>
                <a:cs typeface="+mn-cs"/>
              </a:rPr>
              <a:t>mult</a:t>
            </a:r>
            <a:r>
              <a:rPr lang="en-US" sz="2400" dirty="0">
                <a:latin typeface="Lucida Sans Typewriter" charset="0"/>
                <a:cs typeface="+mn-cs"/>
              </a:rPr>
              <a:t> :: Pair Int </a:t>
            </a:r>
            <a:r>
              <a:rPr lang="en-US" sz="2400" dirty="0">
                <a:latin typeface="Lucida Sans Typewriter" charset="0"/>
                <a:cs typeface="+mn-cs"/>
                <a:sym typeface="Symbol" charset="0"/>
              </a:rPr>
              <a:t></a:t>
            </a:r>
            <a:r>
              <a:rPr lang="en-US" sz="2400" dirty="0">
                <a:latin typeface="Lucida Sans Typewriter" charset="0"/>
                <a:cs typeface="+mn-cs"/>
              </a:rPr>
              <a:t> Int</a:t>
            </a:r>
          </a:p>
          <a:p>
            <a:pPr>
              <a:lnSpc>
                <a:spcPct val="110000"/>
              </a:lnSpc>
              <a:defRPr/>
            </a:pPr>
            <a:r>
              <a:rPr lang="en-US" sz="2400" dirty="0" err="1">
                <a:latin typeface="Lucida Sans Typewriter" charset="0"/>
                <a:cs typeface="+mn-cs"/>
              </a:rPr>
              <a:t>mult</a:t>
            </a:r>
            <a:r>
              <a:rPr lang="en-US" sz="2400" dirty="0">
                <a:latin typeface="Lucida Sans Typewriter" charset="0"/>
                <a:cs typeface="+mn-cs"/>
              </a:rPr>
              <a:t> (</a:t>
            </a:r>
            <a:r>
              <a:rPr lang="en-US" sz="2400" dirty="0" err="1">
                <a:latin typeface="Lucida Sans Typewriter" charset="0"/>
                <a:cs typeface="+mn-cs"/>
              </a:rPr>
              <a:t>m,n</a:t>
            </a:r>
            <a:r>
              <a:rPr lang="en-US" sz="2400" dirty="0">
                <a:latin typeface="Lucida Sans Typewriter" charset="0"/>
                <a:cs typeface="+mn-cs"/>
              </a:rPr>
              <a:t>) = m*n</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copy :: a </a:t>
            </a:r>
            <a:r>
              <a:rPr lang="en-US" sz="2400" dirty="0">
                <a:latin typeface="Lucida Sans Typewriter" charset="0"/>
                <a:cs typeface="+mn-cs"/>
                <a:sym typeface="Symbol" charset="0"/>
              </a:rPr>
              <a:t></a:t>
            </a:r>
            <a:r>
              <a:rPr lang="en-US" sz="2400" dirty="0">
                <a:latin typeface="Lucida Sans Typewriter" charset="0"/>
                <a:cs typeface="+mn-cs"/>
              </a:rPr>
              <a:t> Pair a</a:t>
            </a:r>
          </a:p>
          <a:p>
            <a:pPr>
              <a:lnSpc>
                <a:spcPct val="110000"/>
              </a:lnSpc>
              <a:defRPr/>
            </a:pPr>
            <a:r>
              <a:rPr lang="en-US" sz="2400" dirty="0">
                <a:latin typeface="Lucida Sans Typewriter" charset="0"/>
                <a:cs typeface="+mn-cs"/>
              </a:rPr>
              <a:t>copy x = (</a:t>
            </a:r>
            <a:r>
              <a:rPr lang="en-US" sz="2400" dirty="0" err="1">
                <a:latin typeface="Lucida Sans Typewriter" charset="0"/>
                <a:cs typeface="+mn-cs"/>
              </a:rPr>
              <a:t>x,x</a:t>
            </a:r>
            <a:r>
              <a:rPr lang="en-US" sz="2400" dirty="0">
                <a:latin typeface="Lucida Sans Typewriter" charset="0"/>
                <a:cs typeface="+mn-cs"/>
              </a:rPr>
              <a:t>)</a:t>
            </a:r>
          </a:p>
        </p:txBody>
      </p:sp>
      <p:sp>
        <p:nvSpPr>
          <p:cNvPr id="3" name="Rectangle 2">
            <a:extLst>
              <a:ext uri="{FF2B5EF4-FFF2-40B4-BE49-F238E27FC236}">
                <a16:creationId xmlns:a16="http://schemas.microsoft.com/office/drawing/2014/main" id="{4D20DD3B-CD86-23DD-CE03-6919BACCA865}"/>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Type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02"/>
                                        </p:tgtEl>
                                        <p:attrNameLst>
                                          <p:attrName>style.visibility</p:attrName>
                                        </p:attrNameLst>
                                      </p:cBhvr>
                                      <p:to>
                                        <p:strVal val="visible"/>
                                      </p:to>
                                    </p:set>
                                    <p:anim calcmode="lin" valueType="num">
                                      <p:cBhvr additive="base">
                                        <p:cTn id="7" dur="500" fill="hold"/>
                                        <p:tgtEl>
                                          <p:spTgt spid="665602"/>
                                        </p:tgtEl>
                                        <p:attrNameLst>
                                          <p:attrName>ppt_x</p:attrName>
                                        </p:attrNameLst>
                                      </p:cBhvr>
                                      <p:tavLst>
                                        <p:tav tm="0">
                                          <p:val>
                                            <p:strVal val="#ppt_x"/>
                                          </p:val>
                                        </p:tav>
                                        <p:tav tm="100000">
                                          <p:val>
                                            <p:strVal val="#ppt_x"/>
                                          </p:val>
                                        </p:tav>
                                      </p:tavLst>
                                    </p:anim>
                                    <p:anim calcmode="lin" valueType="num">
                                      <p:cBhvr additive="base">
                                        <p:cTn id="8" dur="500" fill="hold"/>
                                        <p:tgtEl>
                                          <p:spTgt spid="6656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5603"/>
                                        </p:tgtEl>
                                        <p:attrNameLst>
                                          <p:attrName>style.visibility</p:attrName>
                                        </p:attrNameLst>
                                      </p:cBhvr>
                                      <p:to>
                                        <p:strVal val="visible"/>
                                      </p:to>
                                    </p:set>
                                    <p:anim calcmode="lin" valueType="num">
                                      <p:cBhvr additive="base">
                                        <p:cTn id="13" dur="500" fill="hold"/>
                                        <p:tgtEl>
                                          <p:spTgt spid="665603"/>
                                        </p:tgtEl>
                                        <p:attrNameLst>
                                          <p:attrName>ppt_x</p:attrName>
                                        </p:attrNameLst>
                                      </p:cBhvr>
                                      <p:tavLst>
                                        <p:tav tm="0">
                                          <p:val>
                                            <p:strVal val="#ppt_x"/>
                                          </p:val>
                                        </p:tav>
                                        <p:tav tm="100000">
                                          <p:val>
                                            <p:strVal val="#ppt_x"/>
                                          </p:val>
                                        </p:tav>
                                      </p:tavLst>
                                    </p:anim>
                                    <p:anim calcmode="lin" valueType="num">
                                      <p:cBhvr additive="base">
                                        <p:cTn id="14" dur="500" fill="hold"/>
                                        <p:tgtEl>
                                          <p:spTgt spid="66560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605"/>
                                        </p:tgtEl>
                                        <p:attrNameLst>
                                          <p:attrName>style.visibility</p:attrName>
                                        </p:attrNameLst>
                                      </p:cBhvr>
                                      <p:to>
                                        <p:strVal val="visible"/>
                                      </p:to>
                                    </p:set>
                                    <p:anim calcmode="lin" valueType="num">
                                      <p:cBhvr additive="base">
                                        <p:cTn id="19" dur="500" fill="hold"/>
                                        <p:tgtEl>
                                          <p:spTgt spid="665605"/>
                                        </p:tgtEl>
                                        <p:attrNameLst>
                                          <p:attrName>ppt_x</p:attrName>
                                        </p:attrNameLst>
                                      </p:cBhvr>
                                      <p:tavLst>
                                        <p:tav tm="0">
                                          <p:val>
                                            <p:strVal val="#ppt_x"/>
                                          </p:val>
                                        </p:tav>
                                        <p:tav tm="100000">
                                          <p:val>
                                            <p:strVal val="#ppt_x"/>
                                          </p:val>
                                        </p:tav>
                                      </p:tavLst>
                                    </p:anim>
                                    <p:anim calcmode="lin" valueType="num">
                                      <p:cBhvr additive="base">
                                        <p:cTn id="20" dur="500" fill="hold"/>
                                        <p:tgtEl>
                                          <p:spTgt spid="66560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65607"/>
                                        </p:tgtEl>
                                        <p:attrNameLst>
                                          <p:attrName>style.visibility</p:attrName>
                                        </p:attrNameLst>
                                      </p:cBhvr>
                                      <p:to>
                                        <p:strVal val="visible"/>
                                      </p:to>
                                    </p:set>
                                    <p:anim calcmode="lin" valueType="num">
                                      <p:cBhvr additive="base">
                                        <p:cTn id="25" dur="500" fill="hold"/>
                                        <p:tgtEl>
                                          <p:spTgt spid="665607"/>
                                        </p:tgtEl>
                                        <p:attrNameLst>
                                          <p:attrName>ppt_x</p:attrName>
                                        </p:attrNameLst>
                                      </p:cBhvr>
                                      <p:tavLst>
                                        <p:tav tm="0">
                                          <p:val>
                                            <p:strVal val="#ppt_x"/>
                                          </p:val>
                                        </p:tav>
                                        <p:tav tm="100000">
                                          <p:val>
                                            <p:strVal val="#ppt_x"/>
                                          </p:val>
                                        </p:tav>
                                      </p:tavLst>
                                    </p:anim>
                                    <p:anim calcmode="lin" valueType="num">
                                      <p:cBhvr additive="base">
                                        <p:cTn id="26" dur="500" fill="hold"/>
                                        <p:tgtEl>
                                          <p:spTgt spid="665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02" grpId="0"/>
      <p:bldP spid="665603" grpId="0" animBg="1"/>
      <p:bldP spid="665605" grpId="0"/>
      <p:bldP spid="66560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217B88A0-5034-C74C-A83D-033A77BD570C}" type="slidenum">
              <a:rPr lang="en-US" sz="1400"/>
              <a:pPr/>
              <a:t>4</a:t>
            </a:fld>
            <a:endParaRPr lang="en-US" sz="1400"/>
          </a:p>
        </p:txBody>
      </p:sp>
      <p:sp>
        <p:nvSpPr>
          <p:cNvPr id="660482" name="Text Box 2"/>
          <p:cNvSpPr txBox="1">
            <a:spLocks noChangeArrowheads="1"/>
          </p:cNvSpPr>
          <p:nvPr/>
        </p:nvSpPr>
        <p:spPr bwMode="auto">
          <a:xfrm>
            <a:off x="2218869" y="2504650"/>
            <a:ext cx="8510588" cy="519112"/>
          </a:xfrm>
          <a:prstGeom prst="rect">
            <a:avLst/>
          </a:prstGeom>
          <a:noFill/>
          <a:ln>
            <a:noFill/>
          </a:ln>
          <a:effectLst/>
        </p:spPr>
        <p:txBody>
          <a:bodyPr anchor="ctr">
            <a:spAutoFit/>
          </a:bodyPr>
          <a:lstStyle/>
          <a:p>
            <a:pPr>
              <a:defRPr/>
            </a:pPr>
            <a:r>
              <a:rPr lang="en-US" sz="2800" dirty="0">
                <a:cs typeface="+mn-cs"/>
              </a:rPr>
              <a:t>Type declarations can be nested:</a:t>
            </a:r>
          </a:p>
        </p:txBody>
      </p:sp>
      <p:sp>
        <p:nvSpPr>
          <p:cNvPr id="660483" name="Text Box 3"/>
          <p:cNvSpPr txBox="1">
            <a:spLocks noChangeArrowheads="1"/>
          </p:cNvSpPr>
          <p:nvPr/>
        </p:nvSpPr>
        <p:spPr bwMode="auto">
          <a:xfrm>
            <a:off x="2923363" y="3429000"/>
            <a:ext cx="4575175" cy="1296987"/>
          </a:xfrm>
          <a:prstGeom prst="rect">
            <a:avLst/>
          </a:prstGeom>
          <a:solidFill>
            <a:schemeClr val="accent1"/>
          </a:solidFill>
          <a:ln>
            <a:noFill/>
          </a:ln>
          <a:effectLst/>
        </p:spPr>
        <p:txBody>
          <a:bodyPr anchor="ctr">
            <a:spAutoFit/>
          </a:bodyPr>
          <a:lstStyle/>
          <a:p>
            <a:pPr>
              <a:lnSpc>
                <a:spcPct val="110000"/>
              </a:lnSpc>
              <a:defRPr/>
            </a:pPr>
            <a:r>
              <a:rPr lang="en-US" sz="2400" dirty="0">
                <a:latin typeface="Lucida Sans Typewriter" charset="0"/>
                <a:cs typeface="+mn-cs"/>
              </a:rPr>
              <a:t>type Pos = (</a:t>
            </a:r>
            <a:r>
              <a:rPr lang="en-US" sz="2400" dirty="0" err="1">
                <a:latin typeface="Lucida Sans Typewriter" charset="0"/>
                <a:cs typeface="+mn-cs"/>
              </a:rPr>
              <a:t>Int,Int</a:t>
            </a:r>
            <a:r>
              <a:rPr lang="en-US" sz="2400" dirty="0">
                <a:latin typeface="Lucida Sans Typewriter" charset="0"/>
                <a:cs typeface="+mn-cs"/>
              </a:rPr>
              <a:t>)</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type Trans = Pos </a:t>
            </a:r>
            <a:r>
              <a:rPr lang="en-US" sz="2400" dirty="0">
                <a:latin typeface="Lucida Sans Typewriter" charset="0"/>
                <a:cs typeface="+mn-cs"/>
                <a:sym typeface="Symbol" charset="0"/>
              </a:rPr>
              <a:t></a:t>
            </a:r>
            <a:r>
              <a:rPr lang="en-US" sz="2400" dirty="0">
                <a:latin typeface="Lucida Sans Typewriter" charset="0"/>
                <a:cs typeface="+mn-cs"/>
              </a:rPr>
              <a:t> Pos</a:t>
            </a:r>
          </a:p>
        </p:txBody>
      </p:sp>
      <p:sp>
        <p:nvSpPr>
          <p:cNvPr id="660484" name="Text Box 4"/>
          <p:cNvSpPr txBox="1">
            <a:spLocks noChangeArrowheads="1"/>
          </p:cNvSpPr>
          <p:nvPr/>
        </p:nvSpPr>
        <p:spPr bwMode="auto">
          <a:xfrm>
            <a:off x="2314576" y="5299822"/>
            <a:ext cx="5937250" cy="519112"/>
          </a:xfrm>
          <a:prstGeom prst="rect">
            <a:avLst/>
          </a:prstGeom>
          <a:noFill/>
          <a:ln>
            <a:noFill/>
          </a:ln>
          <a:effectLst/>
        </p:spPr>
        <p:txBody>
          <a:bodyPr anchor="ctr">
            <a:spAutoFit/>
          </a:bodyPr>
          <a:lstStyle/>
          <a:p>
            <a:pPr>
              <a:defRPr/>
            </a:pPr>
            <a:r>
              <a:rPr lang="en-US" sz="2800" dirty="0">
                <a:cs typeface="+mn-cs"/>
              </a:rPr>
              <a:t>However, they cannot be recursive:</a:t>
            </a:r>
          </a:p>
        </p:txBody>
      </p:sp>
      <p:sp>
        <p:nvSpPr>
          <p:cNvPr id="660485" name="Text Box 5"/>
          <p:cNvSpPr txBox="1">
            <a:spLocks noChangeArrowheads="1"/>
          </p:cNvSpPr>
          <p:nvPr/>
        </p:nvSpPr>
        <p:spPr bwMode="auto">
          <a:xfrm>
            <a:off x="2923363" y="6104772"/>
            <a:ext cx="4647426"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type Tree = (Int,[Tree])</a:t>
            </a:r>
          </a:p>
        </p:txBody>
      </p:sp>
      <p:grpSp>
        <p:nvGrpSpPr>
          <p:cNvPr id="19462" name="Group 12"/>
          <p:cNvGrpSpPr>
            <a:grpSpLocks/>
          </p:cNvGrpSpPr>
          <p:nvPr/>
        </p:nvGrpSpPr>
        <p:grpSpPr bwMode="auto">
          <a:xfrm>
            <a:off x="8312120" y="6016280"/>
            <a:ext cx="455613" cy="457200"/>
            <a:chOff x="1085" y="3117"/>
            <a:chExt cx="411" cy="416"/>
          </a:xfrm>
        </p:grpSpPr>
        <p:sp>
          <p:nvSpPr>
            <p:cNvPr id="660493" name="Line 13"/>
            <p:cNvSpPr>
              <a:spLocks noChangeShapeType="1"/>
            </p:cNvSpPr>
            <p:nvPr/>
          </p:nvSpPr>
          <p:spPr bwMode="auto">
            <a:xfrm>
              <a:off x="1091" y="3117"/>
              <a:ext cx="405" cy="406"/>
            </a:xfrm>
            <a:prstGeom prst="line">
              <a:avLst/>
            </a:prstGeom>
            <a:noFill/>
            <a:ln w="127000" cap="sq">
              <a:solidFill>
                <a:srgbClr val="FF0000"/>
              </a:solidFill>
              <a:round/>
              <a:headEnd/>
              <a:tailEnd/>
            </a:ln>
            <a:effectLst/>
          </p:spPr>
          <p:txBody>
            <a:bodyPr wrap="none" anchor="ctr"/>
            <a:lstStyle/>
            <a:p>
              <a:pPr>
                <a:defRPr/>
              </a:pPr>
              <a:endParaRPr lang="en-US">
                <a:cs typeface="+mn-cs"/>
              </a:endParaRPr>
            </a:p>
          </p:txBody>
        </p:sp>
        <p:sp>
          <p:nvSpPr>
            <p:cNvPr id="660494" name="Line 14"/>
            <p:cNvSpPr>
              <a:spLocks noChangeShapeType="1"/>
            </p:cNvSpPr>
            <p:nvPr/>
          </p:nvSpPr>
          <p:spPr bwMode="auto">
            <a:xfrm flipH="1">
              <a:off x="1085" y="3127"/>
              <a:ext cx="405" cy="406"/>
            </a:xfrm>
            <a:prstGeom prst="line">
              <a:avLst/>
            </a:prstGeom>
            <a:noFill/>
            <a:ln w="127000" cap="sq">
              <a:solidFill>
                <a:srgbClr val="FF0000"/>
              </a:solidFill>
              <a:round/>
              <a:headEnd/>
              <a:tailEnd/>
            </a:ln>
            <a:effectLst/>
          </p:spPr>
          <p:txBody>
            <a:bodyPr wrap="none" anchor="ctr"/>
            <a:lstStyle/>
            <a:p>
              <a:pPr>
                <a:defRPr/>
              </a:pPr>
              <a:endParaRPr lang="en-US">
                <a:cs typeface="+mn-cs"/>
              </a:endParaRPr>
            </a:p>
          </p:txBody>
        </p:sp>
      </p:grpSp>
      <p:grpSp>
        <p:nvGrpSpPr>
          <p:cNvPr id="19463" name="Group 18"/>
          <p:cNvGrpSpPr>
            <a:grpSpLocks/>
          </p:cNvGrpSpPr>
          <p:nvPr/>
        </p:nvGrpSpPr>
        <p:grpSpPr bwMode="auto">
          <a:xfrm>
            <a:off x="7983014" y="3834239"/>
            <a:ext cx="671513" cy="446087"/>
            <a:chOff x="958" y="3028"/>
            <a:chExt cx="604" cy="406"/>
          </a:xfrm>
        </p:grpSpPr>
        <p:sp>
          <p:nvSpPr>
            <p:cNvPr id="660499" name="Line 19"/>
            <p:cNvSpPr>
              <a:spLocks noChangeShapeType="1"/>
            </p:cNvSpPr>
            <p:nvPr/>
          </p:nvSpPr>
          <p:spPr bwMode="auto">
            <a:xfrm flipH="1">
              <a:off x="1156" y="3028"/>
              <a:ext cx="406" cy="406"/>
            </a:xfrm>
            <a:prstGeom prst="line">
              <a:avLst/>
            </a:prstGeom>
            <a:noFill/>
            <a:ln w="127000" cap="sq">
              <a:solidFill>
                <a:srgbClr val="008000"/>
              </a:solidFill>
              <a:round/>
              <a:headEnd/>
              <a:tailEnd/>
            </a:ln>
            <a:effectLst/>
          </p:spPr>
          <p:txBody>
            <a:bodyPr wrap="none" anchor="ctr"/>
            <a:lstStyle/>
            <a:p>
              <a:pPr>
                <a:defRPr/>
              </a:pPr>
              <a:endParaRPr lang="en-US" dirty="0">
                <a:cs typeface="+mn-cs"/>
              </a:endParaRPr>
            </a:p>
          </p:txBody>
        </p:sp>
        <p:sp>
          <p:nvSpPr>
            <p:cNvPr id="660500" name="Line 20"/>
            <p:cNvSpPr>
              <a:spLocks noChangeShapeType="1"/>
            </p:cNvSpPr>
            <p:nvPr/>
          </p:nvSpPr>
          <p:spPr bwMode="auto">
            <a:xfrm>
              <a:off x="958" y="3242"/>
              <a:ext cx="187" cy="188"/>
            </a:xfrm>
            <a:prstGeom prst="line">
              <a:avLst/>
            </a:prstGeom>
            <a:noFill/>
            <a:ln w="127000" cap="sq">
              <a:solidFill>
                <a:srgbClr val="008000"/>
              </a:solidFill>
              <a:round/>
              <a:headEnd/>
              <a:tailEnd/>
            </a:ln>
            <a:effectLst/>
          </p:spPr>
          <p:txBody>
            <a:bodyPr wrap="none" anchor="ctr"/>
            <a:lstStyle/>
            <a:p>
              <a:pPr>
                <a:defRPr/>
              </a:pPr>
              <a:endParaRPr lang="en-US">
                <a:cs typeface="+mn-cs"/>
              </a:endParaRPr>
            </a:p>
          </p:txBody>
        </p:sp>
      </p:grpSp>
      <p:sp>
        <p:nvSpPr>
          <p:cNvPr id="3" name="Rectangle 2">
            <a:extLst>
              <a:ext uri="{FF2B5EF4-FFF2-40B4-BE49-F238E27FC236}">
                <a16:creationId xmlns:a16="http://schemas.microsoft.com/office/drawing/2014/main" id="{5A3CDD55-FEA8-4668-31EA-8955E435363A}"/>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Type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0482"/>
                                        </p:tgtEl>
                                        <p:attrNameLst>
                                          <p:attrName>style.visibility</p:attrName>
                                        </p:attrNameLst>
                                      </p:cBhvr>
                                      <p:to>
                                        <p:strVal val="visible"/>
                                      </p:to>
                                    </p:set>
                                    <p:anim calcmode="lin" valueType="num">
                                      <p:cBhvr additive="base">
                                        <p:cTn id="7" dur="500" fill="hold"/>
                                        <p:tgtEl>
                                          <p:spTgt spid="660482"/>
                                        </p:tgtEl>
                                        <p:attrNameLst>
                                          <p:attrName>ppt_x</p:attrName>
                                        </p:attrNameLst>
                                      </p:cBhvr>
                                      <p:tavLst>
                                        <p:tav tm="0">
                                          <p:val>
                                            <p:strVal val="#ppt_x"/>
                                          </p:val>
                                        </p:tav>
                                        <p:tav tm="100000">
                                          <p:val>
                                            <p:strVal val="#ppt_x"/>
                                          </p:val>
                                        </p:tav>
                                      </p:tavLst>
                                    </p:anim>
                                    <p:anim calcmode="lin" valueType="num">
                                      <p:cBhvr additive="base">
                                        <p:cTn id="8" dur="500" fill="hold"/>
                                        <p:tgtEl>
                                          <p:spTgt spid="6604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0483"/>
                                        </p:tgtEl>
                                        <p:attrNameLst>
                                          <p:attrName>style.visibility</p:attrName>
                                        </p:attrNameLst>
                                      </p:cBhvr>
                                      <p:to>
                                        <p:strVal val="visible"/>
                                      </p:to>
                                    </p:set>
                                    <p:anim calcmode="lin" valueType="num">
                                      <p:cBhvr additive="base">
                                        <p:cTn id="13" dur="500" fill="hold"/>
                                        <p:tgtEl>
                                          <p:spTgt spid="660483"/>
                                        </p:tgtEl>
                                        <p:attrNameLst>
                                          <p:attrName>ppt_x</p:attrName>
                                        </p:attrNameLst>
                                      </p:cBhvr>
                                      <p:tavLst>
                                        <p:tav tm="0">
                                          <p:val>
                                            <p:strVal val="#ppt_x"/>
                                          </p:val>
                                        </p:tav>
                                        <p:tav tm="100000">
                                          <p:val>
                                            <p:strVal val="#ppt_x"/>
                                          </p:val>
                                        </p:tav>
                                      </p:tavLst>
                                    </p:anim>
                                    <p:anim calcmode="lin" valueType="num">
                                      <p:cBhvr additive="base">
                                        <p:cTn id="14" dur="500" fill="hold"/>
                                        <p:tgtEl>
                                          <p:spTgt spid="66048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9463"/>
                                        </p:tgtEl>
                                        <p:attrNameLst>
                                          <p:attrName>style.visibility</p:attrName>
                                        </p:attrNameLst>
                                      </p:cBhvr>
                                      <p:to>
                                        <p:strVal val="visible"/>
                                      </p:to>
                                    </p:set>
                                    <p:anim calcmode="lin" valueType="num">
                                      <p:cBhvr additive="base">
                                        <p:cTn id="17" dur="500" fill="hold"/>
                                        <p:tgtEl>
                                          <p:spTgt spid="19463"/>
                                        </p:tgtEl>
                                        <p:attrNameLst>
                                          <p:attrName>ppt_x</p:attrName>
                                        </p:attrNameLst>
                                      </p:cBhvr>
                                      <p:tavLst>
                                        <p:tav tm="0">
                                          <p:val>
                                            <p:strVal val="#ppt_x"/>
                                          </p:val>
                                        </p:tav>
                                        <p:tav tm="100000">
                                          <p:val>
                                            <p:strVal val="#ppt_x"/>
                                          </p:val>
                                        </p:tav>
                                      </p:tavLst>
                                    </p:anim>
                                    <p:anim calcmode="lin" valueType="num">
                                      <p:cBhvr additive="base">
                                        <p:cTn id="18"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60484"/>
                                        </p:tgtEl>
                                        <p:attrNameLst>
                                          <p:attrName>style.visibility</p:attrName>
                                        </p:attrNameLst>
                                      </p:cBhvr>
                                      <p:to>
                                        <p:strVal val="visible"/>
                                      </p:to>
                                    </p:set>
                                    <p:anim calcmode="lin" valueType="num">
                                      <p:cBhvr additive="base">
                                        <p:cTn id="23" dur="500" fill="hold"/>
                                        <p:tgtEl>
                                          <p:spTgt spid="660484"/>
                                        </p:tgtEl>
                                        <p:attrNameLst>
                                          <p:attrName>ppt_x</p:attrName>
                                        </p:attrNameLst>
                                      </p:cBhvr>
                                      <p:tavLst>
                                        <p:tav tm="0">
                                          <p:val>
                                            <p:strVal val="#ppt_x"/>
                                          </p:val>
                                        </p:tav>
                                        <p:tav tm="100000">
                                          <p:val>
                                            <p:strVal val="#ppt_x"/>
                                          </p:val>
                                        </p:tav>
                                      </p:tavLst>
                                    </p:anim>
                                    <p:anim calcmode="lin" valueType="num">
                                      <p:cBhvr additive="base">
                                        <p:cTn id="24" dur="500" fill="hold"/>
                                        <p:tgtEl>
                                          <p:spTgt spid="66048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60485"/>
                                        </p:tgtEl>
                                        <p:attrNameLst>
                                          <p:attrName>style.visibility</p:attrName>
                                        </p:attrNameLst>
                                      </p:cBhvr>
                                      <p:to>
                                        <p:strVal val="visible"/>
                                      </p:to>
                                    </p:set>
                                    <p:anim calcmode="lin" valueType="num">
                                      <p:cBhvr additive="base">
                                        <p:cTn id="29" dur="500" fill="hold"/>
                                        <p:tgtEl>
                                          <p:spTgt spid="660485"/>
                                        </p:tgtEl>
                                        <p:attrNameLst>
                                          <p:attrName>ppt_x</p:attrName>
                                        </p:attrNameLst>
                                      </p:cBhvr>
                                      <p:tavLst>
                                        <p:tav tm="0">
                                          <p:val>
                                            <p:strVal val="#ppt_x"/>
                                          </p:val>
                                        </p:tav>
                                        <p:tav tm="100000">
                                          <p:val>
                                            <p:strVal val="#ppt_x"/>
                                          </p:val>
                                        </p:tav>
                                      </p:tavLst>
                                    </p:anim>
                                    <p:anim calcmode="lin" valueType="num">
                                      <p:cBhvr additive="base">
                                        <p:cTn id="30" dur="500" fill="hold"/>
                                        <p:tgtEl>
                                          <p:spTgt spid="66048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9462"/>
                                        </p:tgtEl>
                                        <p:attrNameLst>
                                          <p:attrName>style.visibility</p:attrName>
                                        </p:attrNameLst>
                                      </p:cBhvr>
                                      <p:to>
                                        <p:strVal val="visible"/>
                                      </p:to>
                                    </p:set>
                                    <p:anim calcmode="lin" valueType="num">
                                      <p:cBhvr additive="base">
                                        <p:cTn id="33" dur="500" fill="hold"/>
                                        <p:tgtEl>
                                          <p:spTgt spid="19462"/>
                                        </p:tgtEl>
                                        <p:attrNameLst>
                                          <p:attrName>ppt_x</p:attrName>
                                        </p:attrNameLst>
                                      </p:cBhvr>
                                      <p:tavLst>
                                        <p:tav tm="0">
                                          <p:val>
                                            <p:strVal val="#ppt_x"/>
                                          </p:val>
                                        </p:tav>
                                        <p:tav tm="100000">
                                          <p:val>
                                            <p:strVal val="#ppt_x"/>
                                          </p:val>
                                        </p:tav>
                                      </p:tavLst>
                                    </p:anim>
                                    <p:anim calcmode="lin" valueType="num">
                                      <p:cBhvr additive="base">
                                        <p:cTn id="34"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2" grpId="0"/>
      <p:bldP spid="660483" grpId="0" animBg="1"/>
      <p:bldP spid="660484" grpId="0"/>
      <p:bldP spid="66048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Black" charset="0"/>
                <a:ea typeface="ＭＳ Ｐゴシック" charset="0"/>
                <a:cs typeface="ＭＳ Ｐゴシック" charset="0"/>
              </a:rPr>
              <a:t>Data Declarations</a:t>
            </a:r>
          </a:p>
        </p:txBody>
      </p:sp>
      <p:sp>
        <p:nvSpPr>
          <p:cNvPr id="20481"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74436BD3-CAD0-A14C-A6C5-4CCEE7A8E22C}" type="slidenum">
              <a:rPr lang="en-US" sz="1400"/>
              <a:pPr/>
              <a:t>5</a:t>
            </a:fld>
            <a:endParaRPr lang="en-US" sz="1400"/>
          </a:p>
        </p:txBody>
      </p:sp>
      <p:sp>
        <p:nvSpPr>
          <p:cNvPr id="667651" name="Text Box 3"/>
          <p:cNvSpPr txBox="1">
            <a:spLocks noChangeArrowheads="1"/>
          </p:cNvSpPr>
          <p:nvPr/>
        </p:nvSpPr>
        <p:spPr bwMode="auto">
          <a:xfrm>
            <a:off x="1730521" y="2278688"/>
            <a:ext cx="8389937" cy="946150"/>
          </a:xfrm>
          <a:prstGeom prst="rect">
            <a:avLst/>
          </a:prstGeom>
          <a:noFill/>
          <a:ln>
            <a:noFill/>
          </a:ln>
          <a:effectLst/>
        </p:spPr>
        <p:txBody>
          <a:bodyPr anchor="ctr">
            <a:spAutoFit/>
          </a:bodyPr>
          <a:lstStyle/>
          <a:p>
            <a:pPr>
              <a:defRPr/>
            </a:pPr>
            <a:r>
              <a:rPr lang="en-US" sz="2800" dirty="0">
                <a:cs typeface="+mn-cs"/>
              </a:rPr>
              <a:t>A completely new type can be defined by specifying its values using a </a:t>
            </a:r>
            <a:r>
              <a:rPr lang="en-US" sz="2800" u="sng" dirty="0">
                <a:cs typeface="+mn-cs"/>
              </a:rPr>
              <a:t>data declaration</a:t>
            </a:r>
            <a:r>
              <a:rPr lang="en-US" sz="2800" dirty="0">
                <a:cs typeface="+mn-cs"/>
              </a:rPr>
              <a:t>.</a:t>
            </a:r>
          </a:p>
        </p:txBody>
      </p:sp>
      <p:sp>
        <p:nvSpPr>
          <p:cNvPr id="667652" name="Text Box 4"/>
          <p:cNvSpPr txBox="1">
            <a:spLocks noChangeArrowheads="1"/>
          </p:cNvSpPr>
          <p:nvPr/>
        </p:nvSpPr>
        <p:spPr bwMode="auto">
          <a:xfrm>
            <a:off x="3068638" y="3669360"/>
            <a:ext cx="4647426"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Bool = False | True</a:t>
            </a:r>
          </a:p>
        </p:txBody>
      </p:sp>
      <p:sp>
        <p:nvSpPr>
          <p:cNvPr id="667653" name="AutoShape 5"/>
          <p:cNvSpPr>
            <a:spLocks noChangeArrowheads="1"/>
          </p:cNvSpPr>
          <p:nvPr/>
        </p:nvSpPr>
        <p:spPr bwMode="auto">
          <a:xfrm>
            <a:off x="2820988" y="5152271"/>
            <a:ext cx="5002212" cy="1055608"/>
          </a:xfrm>
          <a:prstGeom prst="wedgeRoundRectCallout">
            <a:avLst>
              <a:gd name="adj1" fmla="val -19039"/>
              <a:gd name="adj2" fmla="val -142080"/>
              <a:gd name="adj3" fmla="val 16667"/>
            </a:avLst>
          </a:prstGeom>
          <a:solidFill>
            <a:srgbClr val="FFC000"/>
          </a:solidFill>
          <a:ln w="12700" cap="sq">
            <a:solidFill>
              <a:schemeClr val="tx1"/>
            </a:solidFill>
            <a:miter lim="800000"/>
            <a:headEnd/>
            <a:tailEnd/>
          </a:ln>
          <a:effectLst/>
        </p:spPr>
        <p:txBody>
          <a:bodyPr anchor="ctr">
            <a:spAutoFit/>
          </a:bodyPr>
          <a:lstStyle/>
          <a:p>
            <a:pPr algn="ctr">
              <a:defRPr/>
            </a:pPr>
            <a:r>
              <a:rPr lang="en-US" sz="2800" dirty="0">
                <a:cs typeface="+mn-cs"/>
              </a:rPr>
              <a:t>Bool is a new type, with two new values False and True.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7651"/>
                                        </p:tgtEl>
                                        <p:attrNameLst>
                                          <p:attrName>style.visibility</p:attrName>
                                        </p:attrNameLst>
                                      </p:cBhvr>
                                      <p:to>
                                        <p:strVal val="visible"/>
                                      </p:to>
                                    </p:set>
                                    <p:anim calcmode="lin" valueType="num">
                                      <p:cBhvr additive="base">
                                        <p:cTn id="7" dur="500" fill="hold"/>
                                        <p:tgtEl>
                                          <p:spTgt spid="667651"/>
                                        </p:tgtEl>
                                        <p:attrNameLst>
                                          <p:attrName>ppt_x</p:attrName>
                                        </p:attrNameLst>
                                      </p:cBhvr>
                                      <p:tavLst>
                                        <p:tav tm="0">
                                          <p:val>
                                            <p:strVal val="#ppt_x"/>
                                          </p:val>
                                        </p:tav>
                                        <p:tav tm="100000">
                                          <p:val>
                                            <p:strVal val="#ppt_x"/>
                                          </p:val>
                                        </p:tav>
                                      </p:tavLst>
                                    </p:anim>
                                    <p:anim calcmode="lin" valueType="num">
                                      <p:cBhvr additive="base">
                                        <p:cTn id="8" dur="500" fill="hold"/>
                                        <p:tgtEl>
                                          <p:spTgt spid="6676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7652"/>
                                        </p:tgtEl>
                                        <p:attrNameLst>
                                          <p:attrName>style.visibility</p:attrName>
                                        </p:attrNameLst>
                                      </p:cBhvr>
                                      <p:to>
                                        <p:strVal val="visible"/>
                                      </p:to>
                                    </p:set>
                                    <p:anim calcmode="lin" valueType="num">
                                      <p:cBhvr additive="base">
                                        <p:cTn id="13" dur="500" fill="hold"/>
                                        <p:tgtEl>
                                          <p:spTgt spid="667652"/>
                                        </p:tgtEl>
                                        <p:attrNameLst>
                                          <p:attrName>ppt_x</p:attrName>
                                        </p:attrNameLst>
                                      </p:cBhvr>
                                      <p:tavLst>
                                        <p:tav tm="0">
                                          <p:val>
                                            <p:strVal val="#ppt_x"/>
                                          </p:val>
                                        </p:tav>
                                        <p:tav tm="100000">
                                          <p:val>
                                            <p:strVal val="#ppt_x"/>
                                          </p:val>
                                        </p:tav>
                                      </p:tavLst>
                                    </p:anim>
                                    <p:anim calcmode="lin" valueType="num">
                                      <p:cBhvr additive="base">
                                        <p:cTn id="14" dur="500" fill="hold"/>
                                        <p:tgtEl>
                                          <p:spTgt spid="6676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7653"/>
                                        </p:tgtEl>
                                        <p:attrNameLst>
                                          <p:attrName>style.visibility</p:attrName>
                                        </p:attrNameLst>
                                      </p:cBhvr>
                                      <p:to>
                                        <p:strVal val="visible"/>
                                      </p:to>
                                    </p:set>
                                    <p:anim calcmode="lin" valueType="num">
                                      <p:cBhvr additive="base">
                                        <p:cTn id="19" dur="500" fill="hold"/>
                                        <p:tgtEl>
                                          <p:spTgt spid="667653"/>
                                        </p:tgtEl>
                                        <p:attrNameLst>
                                          <p:attrName>ppt_x</p:attrName>
                                        </p:attrNameLst>
                                      </p:cBhvr>
                                      <p:tavLst>
                                        <p:tav tm="0">
                                          <p:val>
                                            <p:strVal val="#ppt_x"/>
                                          </p:val>
                                        </p:tav>
                                        <p:tav tm="100000">
                                          <p:val>
                                            <p:strVal val="#ppt_x"/>
                                          </p:val>
                                        </p:tav>
                                      </p:tavLst>
                                    </p:anim>
                                    <p:anim calcmode="lin" valueType="num">
                                      <p:cBhvr additive="base">
                                        <p:cTn id="20" dur="500" fill="hold"/>
                                        <p:tgtEl>
                                          <p:spTgt spid="6676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1" grpId="0"/>
      <p:bldP spid="667652" grpId="0" animBg="1"/>
      <p:bldP spid="66765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8B602F82-848D-A544-9854-1594C72893BB}" type="slidenum">
              <a:rPr lang="en-US" sz="1400"/>
              <a:pPr/>
              <a:t>6</a:t>
            </a:fld>
            <a:endParaRPr lang="en-US" sz="1400"/>
          </a:p>
        </p:txBody>
      </p:sp>
      <p:sp>
        <p:nvSpPr>
          <p:cNvPr id="674818" name="Text Box 2"/>
          <p:cNvSpPr txBox="1">
            <a:spLocks noChangeArrowheads="1"/>
          </p:cNvSpPr>
          <p:nvPr/>
        </p:nvSpPr>
        <p:spPr bwMode="auto">
          <a:xfrm>
            <a:off x="1292225" y="2062707"/>
            <a:ext cx="1075936" cy="523220"/>
          </a:xfrm>
          <a:prstGeom prst="rect">
            <a:avLst/>
          </a:prstGeom>
          <a:noFill/>
          <a:ln>
            <a:noFill/>
          </a:ln>
          <a:effectLst/>
        </p:spPr>
        <p:txBody>
          <a:bodyPr wrap="none" anchor="ctr">
            <a:spAutoFit/>
          </a:bodyPr>
          <a:lstStyle/>
          <a:p>
            <a:pPr>
              <a:defRPr/>
            </a:pPr>
            <a:r>
              <a:rPr lang="en-US" sz="2800" dirty="0">
                <a:cs typeface="+mn-cs"/>
              </a:rPr>
              <a:t>Note:</a:t>
            </a:r>
          </a:p>
        </p:txBody>
      </p:sp>
      <p:sp>
        <p:nvSpPr>
          <p:cNvPr id="21507" name="Rectangle 3"/>
          <p:cNvSpPr>
            <a:spLocks noChangeArrowheads="1"/>
          </p:cNvSpPr>
          <p:nvPr/>
        </p:nvSpPr>
        <p:spPr bwMode="auto">
          <a:xfrm>
            <a:off x="968664" y="2585927"/>
            <a:ext cx="9477918" cy="4383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The two values False and True are called the </a:t>
            </a:r>
            <a:r>
              <a:rPr kumimoji="1" lang="en-US" sz="2800" u="sng" dirty="0"/>
              <a:t>constructors</a:t>
            </a:r>
            <a:r>
              <a:rPr kumimoji="1" lang="en-US" sz="2800" dirty="0"/>
              <a:t> for the type Bool.</a:t>
            </a:r>
          </a:p>
          <a:p>
            <a:pPr marL="457200" indent="-457200">
              <a:spcBef>
                <a:spcPct val="20000"/>
              </a:spcBef>
              <a:buClr>
                <a:schemeClr val="accent2"/>
              </a:buClr>
              <a:buFont typeface="Wingdings" panose="05000000000000000000" pitchFamily="2" charset="2"/>
              <a:buChar char="q"/>
            </a:pPr>
            <a:endParaRPr kumimoji="1" lang="en-US" sz="2800" dirty="0"/>
          </a:p>
          <a:p>
            <a:pPr marL="457200" indent="-457200">
              <a:spcBef>
                <a:spcPct val="20000"/>
              </a:spcBef>
              <a:buClr>
                <a:schemeClr val="accent2"/>
              </a:buClr>
              <a:buFont typeface="Wingdings" panose="05000000000000000000" pitchFamily="2" charset="2"/>
              <a:buChar char="q"/>
            </a:pPr>
            <a:r>
              <a:rPr kumimoji="1" lang="en-US" sz="2800" dirty="0"/>
              <a:t>Type and constructor names must always begin with an upper-case letter.</a:t>
            </a:r>
          </a:p>
          <a:p>
            <a:pPr marL="457200" indent="-457200">
              <a:spcBef>
                <a:spcPct val="20000"/>
              </a:spcBef>
              <a:buClr>
                <a:schemeClr val="accent2"/>
              </a:buClr>
              <a:buFont typeface="Wingdings" panose="05000000000000000000" pitchFamily="2" charset="2"/>
              <a:buChar char="q"/>
            </a:pPr>
            <a:endParaRPr kumimoji="1" lang="en-US" sz="2800" dirty="0"/>
          </a:p>
          <a:p>
            <a:pPr marL="457200" indent="-457200">
              <a:spcBef>
                <a:spcPct val="20000"/>
              </a:spcBef>
              <a:buClr>
                <a:schemeClr val="accent2"/>
              </a:buClr>
              <a:buFont typeface="Wingdings" panose="05000000000000000000" pitchFamily="2" charset="2"/>
              <a:buChar char="q"/>
            </a:pPr>
            <a:r>
              <a:rPr kumimoji="1" lang="en-US" sz="2800" dirty="0"/>
              <a:t>Data declarations are similar to context free grammars.  The former specifies the values of a type, the latter the sentences of a language.</a:t>
            </a:r>
          </a:p>
        </p:txBody>
      </p:sp>
      <p:sp>
        <p:nvSpPr>
          <p:cNvPr id="3" name="Rectangle 2">
            <a:extLst>
              <a:ext uri="{FF2B5EF4-FFF2-40B4-BE49-F238E27FC236}">
                <a16:creationId xmlns:a16="http://schemas.microsoft.com/office/drawing/2014/main" id="{CB8F668D-58E5-918B-7D32-ADF22E980568}"/>
              </a:ext>
            </a:extLst>
          </p:cNvPr>
          <p:cNvSpPr txBox="1">
            <a:spLocks noChangeArrowheads="1"/>
          </p:cNvSpPr>
          <p:nvPr/>
        </p:nvSpPr>
        <p:spPr>
          <a:xfrm>
            <a:off x="832721" y="905628"/>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dirty="0">
                <a:latin typeface="Arial Black" charset="0"/>
                <a:ea typeface="ＭＳ Ｐゴシック" charset="0"/>
                <a:cs typeface="ＭＳ Ｐゴシック" charset="0"/>
              </a:rPr>
              <a:t>Data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7">
                                            <p:txEl>
                                              <p:pRg st="2" end="2"/>
                                            </p:txEl>
                                          </p:spTgt>
                                        </p:tgtEl>
                                        <p:attrNameLst>
                                          <p:attrName>style.visibility</p:attrName>
                                        </p:attrNameLst>
                                      </p:cBhvr>
                                      <p:to>
                                        <p:strVal val="visible"/>
                                      </p:to>
                                    </p:set>
                                    <p:anim calcmode="lin" valueType="num">
                                      <p:cBhvr additive="base">
                                        <p:cTn id="13"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507">
                                            <p:txEl>
                                              <p:pRg st="4" end="4"/>
                                            </p:txEl>
                                          </p:spTgt>
                                        </p:tgtEl>
                                        <p:attrNameLst>
                                          <p:attrName>style.visibility</p:attrName>
                                        </p:attrNameLst>
                                      </p:cBhvr>
                                      <p:to>
                                        <p:strVal val="visible"/>
                                      </p:to>
                                    </p:set>
                                    <p:anim calcmode="lin" valueType="num">
                                      <p:cBhvr additive="base">
                                        <p:cTn id="19"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00EFE60D-686C-4C47-B206-291B77FD13E4}" type="slidenum">
              <a:rPr lang="en-US" sz="1400"/>
              <a:pPr/>
              <a:t>7</a:t>
            </a:fld>
            <a:endParaRPr lang="en-US" sz="1400"/>
          </a:p>
        </p:txBody>
      </p:sp>
      <p:sp>
        <p:nvSpPr>
          <p:cNvPr id="669699" name="Text Box 3"/>
          <p:cNvSpPr txBox="1">
            <a:spLocks noChangeArrowheads="1"/>
          </p:cNvSpPr>
          <p:nvPr/>
        </p:nvSpPr>
        <p:spPr bwMode="auto">
          <a:xfrm>
            <a:off x="3049589" y="3956565"/>
            <a:ext cx="5391219" cy="290143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answers :: [Answer]</a:t>
            </a:r>
          </a:p>
          <a:p>
            <a:pPr>
              <a:lnSpc>
                <a:spcPct val="110000"/>
              </a:lnSpc>
              <a:defRPr/>
            </a:pPr>
            <a:r>
              <a:rPr lang="en-US" sz="2400" dirty="0">
                <a:latin typeface="Lucida Sans Typewriter" charset="0"/>
                <a:cs typeface="+mn-cs"/>
              </a:rPr>
              <a:t>answers = [Yes, No, Unknown]</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flip :: Answer </a:t>
            </a:r>
            <a:r>
              <a:rPr lang="en-US" sz="2400" dirty="0">
                <a:latin typeface="Lucida Sans Typewriter" charset="0"/>
                <a:cs typeface="+mn-cs"/>
                <a:sym typeface="Symbol" charset="0"/>
              </a:rPr>
              <a:t></a:t>
            </a:r>
            <a:r>
              <a:rPr lang="en-US" sz="2400" dirty="0">
                <a:latin typeface="Lucida Sans Typewriter" charset="0"/>
                <a:cs typeface="+mn-cs"/>
              </a:rPr>
              <a:t> Answer</a:t>
            </a:r>
          </a:p>
          <a:p>
            <a:pPr>
              <a:lnSpc>
                <a:spcPct val="110000"/>
              </a:lnSpc>
              <a:defRPr/>
            </a:pPr>
            <a:r>
              <a:rPr lang="en-US" sz="2400" dirty="0">
                <a:latin typeface="Lucida Sans Typewriter" charset="0"/>
                <a:cs typeface="+mn-cs"/>
              </a:rPr>
              <a:t>flip Yes     = No</a:t>
            </a:r>
          </a:p>
          <a:p>
            <a:pPr>
              <a:lnSpc>
                <a:spcPct val="110000"/>
              </a:lnSpc>
              <a:defRPr/>
            </a:pPr>
            <a:r>
              <a:rPr lang="en-US" sz="2400" dirty="0">
                <a:latin typeface="Lucida Sans Typewriter" charset="0"/>
                <a:cs typeface="+mn-cs"/>
              </a:rPr>
              <a:t>flip No      = Yes</a:t>
            </a:r>
          </a:p>
          <a:p>
            <a:pPr>
              <a:lnSpc>
                <a:spcPct val="110000"/>
              </a:lnSpc>
              <a:defRPr/>
            </a:pPr>
            <a:r>
              <a:rPr lang="en-US" sz="2400" dirty="0">
                <a:latin typeface="Lucida Sans Typewriter" charset="0"/>
                <a:cs typeface="+mn-cs"/>
              </a:rPr>
              <a:t>flip Unknown = Unknown</a:t>
            </a:r>
          </a:p>
        </p:txBody>
      </p:sp>
      <p:sp>
        <p:nvSpPr>
          <p:cNvPr id="669700" name="Text Box 4"/>
          <p:cNvSpPr txBox="1">
            <a:spLocks noChangeArrowheads="1"/>
          </p:cNvSpPr>
          <p:nvPr/>
        </p:nvSpPr>
        <p:spPr bwMode="auto">
          <a:xfrm>
            <a:off x="2876480" y="2872900"/>
            <a:ext cx="6135013"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Answer = Yes | No | Unknown</a:t>
            </a:r>
          </a:p>
        </p:txBody>
      </p:sp>
      <p:sp>
        <p:nvSpPr>
          <p:cNvPr id="669701" name="Text Box 5"/>
          <p:cNvSpPr txBox="1">
            <a:spLocks noChangeArrowheads="1"/>
          </p:cNvSpPr>
          <p:nvPr/>
        </p:nvSpPr>
        <p:spPr bwMode="auto">
          <a:xfrm>
            <a:off x="1471648" y="3458854"/>
            <a:ext cx="4412166" cy="523220"/>
          </a:xfrm>
          <a:prstGeom prst="rect">
            <a:avLst/>
          </a:prstGeom>
          <a:noFill/>
          <a:ln>
            <a:noFill/>
          </a:ln>
          <a:effectLst/>
        </p:spPr>
        <p:txBody>
          <a:bodyPr wrap="square" anchor="ctr">
            <a:spAutoFit/>
          </a:bodyPr>
          <a:lstStyle/>
          <a:p>
            <a:pPr>
              <a:defRPr/>
            </a:pPr>
            <a:r>
              <a:rPr lang="en-US" sz="2800" dirty="0">
                <a:cs typeface="+mn-cs"/>
              </a:rPr>
              <a:t>we can define:</a:t>
            </a:r>
          </a:p>
        </p:txBody>
      </p:sp>
      <p:sp>
        <p:nvSpPr>
          <p:cNvPr id="669702" name="Text Box 6"/>
          <p:cNvSpPr txBox="1">
            <a:spLocks noChangeArrowheads="1"/>
          </p:cNvSpPr>
          <p:nvPr/>
        </p:nvSpPr>
        <p:spPr bwMode="auto">
          <a:xfrm>
            <a:off x="1471648" y="1834166"/>
            <a:ext cx="8547100" cy="946150"/>
          </a:xfrm>
          <a:prstGeom prst="rect">
            <a:avLst/>
          </a:prstGeom>
          <a:noFill/>
          <a:ln>
            <a:noFill/>
          </a:ln>
          <a:effectLst/>
        </p:spPr>
        <p:txBody>
          <a:bodyPr anchor="ctr">
            <a:spAutoFit/>
          </a:bodyPr>
          <a:lstStyle/>
          <a:p>
            <a:pPr>
              <a:defRPr/>
            </a:pPr>
            <a:r>
              <a:rPr lang="en-US" sz="2800" dirty="0">
                <a:cs typeface="+mn-cs"/>
              </a:rPr>
              <a:t>Values of new types can be used in the same ways as those of built in types.  For example, given:</a:t>
            </a:r>
          </a:p>
        </p:txBody>
      </p:sp>
      <p:sp>
        <p:nvSpPr>
          <p:cNvPr id="3" name="Rectangle 2">
            <a:extLst>
              <a:ext uri="{FF2B5EF4-FFF2-40B4-BE49-F238E27FC236}">
                <a16:creationId xmlns:a16="http://schemas.microsoft.com/office/drawing/2014/main" id="{F41DE1D1-03F0-76AE-47B2-A82C0D0B90E5}"/>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Data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9702"/>
                                        </p:tgtEl>
                                        <p:attrNameLst>
                                          <p:attrName>style.visibility</p:attrName>
                                        </p:attrNameLst>
                                      </p:cBhvr>
                                      <p:to>
                                        <p:strVal val="visible"/>
                                      </p:to>
                                    </p:set>
                                    <p:anim calcmode="lin" valueType="num">
                                      <p:cBhvr additive="base">
                                        <p:cTn id="7" dur="500" fill="hold"/>
                                        <p:tgtEl>
                                          <p:spTgt spid="669702"/>
                                        </p:tgtEl>
                                        <p:attrNameLst>
                                          <p:attrName>ppt_x</p:attrName>
                                        </p:attrNameLst>
                                      </p:cBhvr>
                                      <p:tavLst>
                                        <p:tav tm="0">
                                          <p:val>
                                            <p:strVal val="#ppt_x"/>
                                          </p:val>
                                        </p:tav>
                                        <p:tav tm="100000">
                                          <p:val>
                                            <p:strVal val="#ppt_x"/>
                                          </p:val>
                                        </p:tav>
                                      </p:tavLst>
                                    </p:anim>
                                    <p:anim calcmode="lin" valueType="num">
                                      <p:cBhvr additive="base">
                                        <p:cTn id="8" dur="500" fill="hold"/>
                                        <p:tgtEl>
                                          <p:spTgt spid="669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9700"/>
                                        </p:tgtEl>
                                        <p:attrNameLst>
                                          <p:attrName>style.visibility</p:attrName>
                                        </p:attrNameLst>
                                      </p:cBhvr>
                                      <p:to>
                                        <p:strVal val="visible"/>
                                      </p:to>
                                    </p:set>
                                    <p:anim calcmode="lin" valueType="num">
                                      <p:cBhvr additive="base">
                                        <p:cTn id="13" dur="500" fill="hold"/>
                                        <p:tgtEl>
                                          <p:spTgt spid="669700"/>
                                        </p:tgtEl>
                                        <p:attrNameLst>
                                          <p:attrName>ppt_x</p:attrName>
                                        </p:attrNameLst>
                                      </p:cBhvr>
                                      <p:tavLst>
                                        <p:tav tm="0">
                                          <p:val>
                                            <p:strVal val="#ppt_x"/>
                                          </p:val>
                                        </p:tav>
                                        <p:tav tm="100000">
                                          <p:val>
                                            <p:strVal val="#ppt_x"/>
                                          </p:val>
                                        </p:tav>
                                      </p:tavLst>
                                    </p:anim>
                                    <p:anim calcmode="lin" valueType="num">
                                      <p:cBhvr additive="base">
                                        <p:cTn id="14" dur="500" fill="hold"/>
                                        <p:tgtEl>
                                          <p:spTgt spid="6697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9701"/>
                                        </p:tgtEl>
                                        <p:attrNameLst>
                                          <p:attrName>style.visibility</p:attrName>
                                        </p:attrNameLst>
                                      </p:cBhvr>
                                      <p:to>
                                        <p:strVal val="visible"/>
                                      </p:to>
                                    </p:set>
                                    <p:anim calcmode="lin" valueType="num">
                                      <p:cBhvr additive="base">
                                        <p:cTn id="19" dur="500" fill="hold"/>
                                        <p:tgtEl>
                                          <p:spTgt spid="669701"/>
                                        </p:tgtEl>
                                        <p:attrNameLst>
                                          <p:attrName>ppt_x</p:attrName>
                                        </p:attrNameLst>
                                      </p:cBhvr>
                                      <p:tavLst>
                                        <p:tav tm="0">
                                          <p:val>
                                            <p:strVal val="#ppt_x"/>
                                          </p:val>
                                        </p:tav>
                                        <p:tav tm="100000">
                                          <p:val>
                                            <p:strVal val="#ppt_x"/>
                                          </p:val>
                                        </p:tav>
                                      </p:tavLst>
                                    </p:anim>
                                    <p:anim calcmode="lin" valueType="num">
                                      <p:cBhvr additive="base">
                                        <p:cTn id="20" dur="500" fill="hold"/>
                                        <p:tgtEl>
                                          <p:spTgt spid="66970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69699"/>
                                        </p:tgtEl>
                                        <p:attrNameLst>
                                          <p:attrName>style.visibility</p:attrName>
                                        </p:attrNameLst>
                                      </p:cBhvr>
                                      <p:to>
                                        <p:strVal val="visible"/>
                                      </p:to>
                                    </p:set>
                                    <p:anim calcmode="lin" valueType="num">
                                      <p:cBhvr additive="base">
                                        <p:cTn id="23" dur="500" fill="hold"/>
                                        <p:tgtEl>
                                          <p:spTgt spid="669699"/>
                                        </p:tgtEl>
                                        <p:attrNameLst>
                                          <p:attrName>ppt_x</p:attrName>
                                        </p:attrNameLst>
                                      </p:cBhvr>
                                      <p:tavLst>
                                        <p:tav tm="0">
                                          <p:val>
                                            <p:strVal val="#ppt_x"/>
                                          </p:val>
                                        </p:tav>
                                        <p:tav tm="100000">
                                          <p:val>
                                            <p:strVal val="#ppt_x"/>
                                          </p:val>
                                        </p:tav>
                                      </p:tavLst>
                                    </p:anim>
                                    <p:anim calcmode="lin" valueType="num">
                                      <p:cBhvr additive="base">
                                        <p:cTn id="24" dur="500" fill="hold"/>
                                        <p:tgtEl>
                                          <p:spTgt spid="669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9" grpId="0" animBg="1"/>
      <p:bldP spid="669700" grpId="0" animBg="1"/>
      <p:bldP spid="669701" grpId="0"/>
      <p:bldP spid="6697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B676489E-6C6E-D64F-BDE5-E90BCDB54ABF}" type="slidenum">
              <a:rPr lang="en-US" sz="1400"/>
              <a:pPr/>
              <a:t>8</a:t>
            </a:fld>
            <a:endParaRPr lang="en-US" sz="1400"/>
          </a:p>
        </p:txBody>
      </p:sp>
      <p:sp>
        <p:nvSpPr>
          <p:cNvPr id="671746" name="Text Box 2"/>
          <p:cNvSpPr txBox="1">
            <a:spLocks noChangeArrowheads="1"/>
          </p:cNvSpPr>
          <p:nvPr/>
        </p:nvSpPr>
        <p:spPr bwMode="auto">
          <a:xfrm>
            <a:off x="687243" y="1834166"/>
            <a:ext cx="16762346" cy="954107"/>
          </a:xfrm>
          <a:prstGeom prst="rect">
            <a:avLst/>
          </a:prstGeom>
          <a:noFill/>
          <a:ln>
            <a:noFill/>
          </a:ln>
          <a:effectLst/>
        </p:spPr>
        <p:txBody>
          <a:bodyPr wrap="square" anchor="ctr">
            <a:spAutoFit/>
          </a:bodyPr>
          <a:lstStyle/>
          <a:p>
            <a:pPr>
              <a:defRPr/>
            </a:pPr>
            <a:r>
              <a:rPr lang="en-US" sz="2800" dirty="0">
                <a:cs typeface="+mn-cs"/>
              </a:rPr>
              <a:t>The constructors in a data declaration can also have parameters.  </a:t>
            </a:r>
          </a:p>
          <a:p>
            <a:pPr>
              <a:defRPr/>
            </a:pPr>
            <a:r>
              <a:rPr lang="en-US" sz="2800" dirty="0">
                <a:cs typeface="+mn-cs"/>
              </a:rPr>
              <a:t>For example, given</a:t>
            </a:r>
          </a:p>
        </p:txBody>
      </p:sp>
      <p:sp>
        <p:nvSpPr>
          <p:cNvPr id="671748" name="Text Box 4"/>
          <p:cNvSpPr txBox="1">
            <a:spLocks noChangeArrowheads="1"/>
          </p:cNvSpPr>
          <p:nvPr/>
        </p:nvSpPr>
        <p:spPr bwMode="auto">
          <a:xfrm>
            <a:off x="3074989" y="2947405"/>
            <a:ext cx="5524500" cy="895350"/>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Shape = Circle Float</a:t>
            </a:r>
          </a:p>
          <a:p>
            <a:pPr>
              <a:lnSpc>
                <a:spcPct val="110000"/>
              </a:lnSpc>
              <a:defRPr/>
            </a:pPr>
            <a:r>
              <a:rPr lang="en-US" sz="2400" dirty="0">
                <a:latin typeface="Lucida Sans Typewriter" charset="0"/>
                <a:cs typeface="+mn-cs"/>
              </a:rPr>
              <a:t>           | Rect Float Float</a:t>
            </a:r>
          </a:p>
        </p:txBody>
      </p:sp>
      <p:sp>
        <p:nvSpPr>
          <p:cNvPr id="671752" name="Text Box 8"/>
          <p:cNvSpPr txBox="1">
            <a:spLocks noChangeArrowheads="1"/>
          </p:cNvSpPr>
          <p:nvPr/>
        </p:nvSpPr>
        <p:spPr bwMode="auto">
          <a:xfrm>
            <a:off x="3074989" y="4365975"/>
            <a:ext cx="5006975" cy="252412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square :: Float </a:t>
            </a:r>
            <a:r>
              <a:rPr lang="en-US" sz="2400" dirty="0">
                <a:latin typeface="Lucida Sans Typewriter" charset="0"/>
                <a:cs typeface="+mn-cs"/>
                <a:sym typeface="Symbol" charset="0"/>
              </a:rPr>
              <a:t></a:t>
            </a:r>
            <a:r>
              <a:rPr lang="en-US" sz="2400" dirty="0">
                <a:latin typeface="Lucida Sans Typewriter" charset="0"/>
                <a:cs typeface="+mn-cs"/>
              </a:rPr>
              <a:t> Shape</a:t>
            </a:r>
          </a:p>
          <a:p>
            <a:pPr>
              <a:lnSpc>
                <a:spcPct val="110000"/>
              </a:lnSpc>
              <a:defRPr/>
            </a:pPr>
            <a:r>
              <a:rPr lang="en-US" sz="2400" dirty="0">
                <a:latin typeface="Lucida Sans Typewriter" charset="0"/>
                <a:cs typeface="+mn-cs"/>
              </a:rPr>
              <a:t>square n = Rect n n</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area :: Shape </a:t>
            </a:r>
            <a:r>
              <a:rPr lang="en-US" sz="2400" dirty="0">
                <a:latin typeface="Lucida Sans Typewriter" charset="0"/>
                <a:cs typeface="+mn-cs"/>
                <a:sym typeface="Symbol" charset="0"/>
              </a:rPr>
              <a:t></a:t>
            </a:r>
            <a:r>
              <a:rPr lang="en-US" sz="2400" dirty="0">
                <a:latin typeface="Lucida Sans Typewriter" charset="0"/>
                <a:cs typeface="+mn-cs"/>
              </a:rPr>
              <a:t> Float</a:t>
            </a:r>
          </a:p>
          <a:p>
            <a:pPr>
              <a:lnSpc>
                <a:spcPct val="110000"/>
              </a:lnSpc>
              <a:defRPr/>
            </a:pPr>
            <a:r>
              <a:rPr lang="en-US" sz="2400" dirty="0">
                <a:latin typeface="Lucida Sans Typewriter" charset="0"/>
                <a:cs typeface="+mn-cs"/>
              </a:rPr>
              <a:t>area (Circle r) = pi * r^2</a:t>
            </a:r>
          </a:p>
          <a:p>
            <a:pPr>
              <a:lnSpc>
                <a:spcPct val="110000"/>
              </a:lnSpc>
              <a:defRPr/>
            </a:pPr>
            <a:r>
              <a:rPr lang="en-US" sz="2400" dirty="0">
                <a:latin typeface="Lucida Sans Typewriter" charset="0"/>
                <a:cs typeface="+mn-cs"/>
              </a:rPr>
              <a:t>area (Rect x y) = x * y</a:t>
            </a:r>
          </a:p>
        </p:txBody>
      </p:sp>
      <p:sp>
        <p:nvSpPr>
          <p:cNvPr id="671753" name="Text Box 9"/>
          <p:cNvSpPr txBox="1">
            <a:spLocks noChangeArrowheads="1"/>
          </p:cNvSpPr>
          <p:nvPr/>
        </p:nvSpPr>
        <p:spPr bwMode="auto">
          <a:xfrm>
            <a:off x="1089025" y="3842755"/>
            <a:ext cx="5006975" cy="523220"/>
          </a:xfrm>
          <a:prstGeom prst="rect">
            <a:avLst/>
          </a:prstGeom>
          <a:noFill/>
          <a:ln>
            <a:noFill/>
          </a:ln>
          <a:effectLst/>
        </p:spPr>
        <p:txBody>
          <a:bodyPr wrap="square" anchor="ctr">
            <a:spAutoFit/>
          </a:bodyPr>
          <a:lstStyle/>
          <a:p>
            <a:pPr>
              <a:defRPr/>
            </a:pPr>
            <a:r>
              <a:rPr lang="en-US" sz="2800" dirty="0">
                <a:cs typeface="+mn-cs"/>
              </a:rPr>
              <a:t>we can define:</a:t>
            </a:r>
          </a:p>
        </p:txBody>
      </p:sp>
      <p:sp>
        <p:nvSpPr>
          <p:cNvPr id="3" name="Rectangle 2">
            <a:extLst>
              <a:ext uri="{FF2B5EF4-FFF2-40B4-BE49-F238E27FC236}">
                <a16:creationId xmlns:a16="http://schemas.microsoft.com/office/drawing/2014/main" id="{8F251596-F5E0-98CC-4BAA-5BE2F70A853F}"/>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Data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1746"/>
                                        </p:tgtEl>
                                        <p:attrNameLst>
                                          <p:attrName>style.visibility</p:attrName>
                                        </p:attrNameLst>
                                      </p:cBhvr>
                                      <p:to>
                                        <p:strVal val="visible"/>
                                      </p:to>
                                    </p:set>
                                    <p:anim calcmode="lin" valueType="num">
                                      <p:cBhvr additive="base">
                                        <p:cTn id="7" dur="500" fill="hold"/>
                                        <p:tgtEl>
                                          <p:spTgt spid="671746"/>
                                        </p:tgtEl>
                                        <p:attrNameLst>
                                          <p:attrName>ppt_x</p:attrName>
                                        </p:attrNameLst>
                                      </p:cBhvr>
                                      <p:tavLst>
                                        <p:tav tm="0">
                                          <p:val>
                                            <p:strVal val="#ppt_x"/>
                                          </p:val>
                                        </p:tav>
                                        <p:tav tm="100000">
                                          <p:val>
                                            <p:strVal val="#ppt_x"/>
                                          </p:val>
                                        </p:tav>
                                      </p:tavLst>
                                    </p:anim>
                                    <p:anim calcmode="lin" valueType="num">
                                      <p:cBhvr additive="base">
                                        <p:cTn id="8" dur="500" fill="hold"/>
                                        <p:tgtEl>
                                          <p:spTgt spid="67174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71748"/>
                                        </p:tgtEl>
                                        <p:attrNameLst>
                                          <p:attrName>style.visibility</p:attrName>
                                        </p:attrNameLst>
                                      </p:cBhvr>
                                      <p:to>
                                        <p:strVal val="visible"/>
                                      </p:to>
                                    </p:set>
                                    <p:anim calcmode="lin" valueType="num">
                                      <p:cBhvr additive="base">
                                        <p:cTn id="11" dur="500" fill="hold"/>
                                        <p:tgtEl>
                                          <p:spTgt spid="671748"/>
                                        </p:tgtEl>
                                        <p:attrNameLst>
                                          <p:attrName>ppt_x</p:attrName>
                                        </p:attrNameLst>
                                      </p:cBhvr>
                                      <p:tavLst>
                                        <p:tav tm="0">
                                          <p:val>
                                            <p:strVal val="#ppt_x"/>
                                          </p:val>
                                        </p:tav>
                                        <p:tav tm="100000">
                                          <p:val>
                                            <p:strVal val="#ppt_x"/>
                                          </p:val>
                                        </p:tav>
                                      </p:tavLst>
                                    </p:anim>
                                    <p:anim calcmode="lin" valueType="num">
                                      <p:cBhvr additive="base">
                                        <p:cTn id="12" dur="500" fill="hold"/>
                                        <p:tgtEl>
                                          <p:spTgt spid="6717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71753"/>
                                        </p:tgtEl>
                                        <p:attrNameLst>
                                          <p:attrName>style.visibility</p:attrName>
                                        </p:attrNameLst>
                                      </p:cBhvr>
                                      <p:to>
                                        <p:strVal val="visible"/>
                                      </p:to>
                                    </p:set>
                                    <p:anim calcmode="lin" valueType="num">
                                      <p:cBhvr additive="base">
                                        <p:cTn id="17" dur="500" fill="hold"/>
                                        <p:tgtEl>
                                          <p:spTgt spid="671753"/>
                                        </p:tgtEl>
                                        <p:attrNameLst>
                                          <p:attrName>ppt_x</p:attrName>
                                        </p:attrNameLst>
                                      </p:cBhvr>
                                      <p:tavLst>
                                        <p:tav tm="0">
                                          <p:val>
                                            <p:strVal val="#ppt_x"/>
                                          </p:val>
                                        </p:tav>
                                        <p:tav tm="100000">
                                          <p:val>
                                            <p:strVal val="#ppt_x"/>
                                          </p:val>
                                        </p:tav>
                                      </p:tavLst>
                                    </p:anim>
                                    <p:anim calcmode="lin" valueType="num">
                                      <p:cBhvr additive="base">
                                        <p:cTn id="18" dur="500" fill="hold"/>
                                        <p:tgtEl>
                                          <p:spTgt spid="67175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71752"/>
                                        </p:tgtEl>
                                        <p:attrNameLst>
                                          <p:attrName>style.visibility</p:attrName>
                                        </p:attrNameLst>
                                      </p:cBhvr>
                                      <p:to>
                                        <p:strVal val="visible"/>
                                      </p:to>
                                    </p:set>
                                    <p:anim calcmode="lin" valueType="num">
                                      <p:cBhvr additive="base">
                                        <p:cTn id="21" dur="500" fill="hold"/>
                                        <p:tgtEl>
                                          <p:spTgt spid="671752"/>
                                        </p:tgtEl>
                                        <p:attrNameLst>
                                          <p:attrName>ppt_x</p:attrName>
                                        </p:attrNameLst>
                                      </p:cBhvr>
                                      <p:tavLst>
                                        <p:tav tm="0">
                                          <p:val>
                                            <p:strVal val="#ppt_x"/>
                                          </p:val>
                                        </p:tav>
                                        <p:tav tm="100000">
                                          <p:val>
                                            <p:strVal val="#ppt_x"/>
                                          </p:val>
                                        </p:tav>
                                      </p:tavLst>
                                    </p:anim>
                                    <p:anim calcmode="lin" valueType="num">
                                      <p:cBhvr additive="base">
                                        <p:cTn id="22" dur="500" fill="hold"/>
                                        <p:tgtEl>
                                          <p:spTgt spid="6717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6" grpId="0"/>
      <p:bldP spid="671748" grpId="0" animBg="1"/>
      <p:bldP spid="671752" grpId="0" animBg="1"/>
      <p:bldP spid="6717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33CF9C6C-9498-8D40-848C-7D55CABB03A7}" type="slidenum">
              <a:rPr lang="en-US" sz="1400"/>
              <a:pPr/>
              <a:t>9</a:t>
            </a:fld>
            <a:endParaRPr lang="en-US" sz="1400"/>
          </a:p>
        </p:txBody>
      </p:sp>
      <p:sp>
        <p:nvSpPr>
          <p:cNvPr id="678914" name="Text Box 2"/>
          <p:cNvSpPr txBox="1">
            <a:spLocks noChangeArrowheads="1"/>
          </p:cNvSpPr>
          <p:nvPr/>
        </p:nvSpPr>
        <p:spPr bwMode="auto">
          <a:xfrm>
            <a:off x="308392" y="1844017"/>
            <a:ext cx="1075936" cy="523220"/>
          </a:xfrm>
          <a:prstGeom prst="rect">
            <a:avLst/>
          </a:prstGeom>
          <a:noFill/>
          <a:ln>
            <a:noFill/>
          </a:ln>
          <a:effectLst/>
        </p:spPr>
        <p:txBody>
          <a:bodyPr wrap="none" anchor="ctr">
            <a:spAutoFit/>
          </a:bodyPr>
          <a:lstStyle/>
          <a:p>
            <a:pPr>
              <a:defRPr/>
            </a:pPr>
            <a:r>
              <a:rPr lang="en-US" sz="2800" dirty="0">
                <a:cs typeface="+mn-cs"/>
              </a:rPr>
              <a:t>Note:</a:t>
            </a:r>
          </a:p>
        </p:txBody>
      </p:sp>
      <p:sp>
        <p:nvSpPr>
          <p:cNvPr id="24579" name="Rectangle 3"/>
          <p:cNvSpPr>
            <a:spLocks noChangeArrowheads="1"/>
          </p:cNvSpPr>
          <p:nvPr/>
        </p:nvSpPr>
        <p:spPr bwMode="auto">
          <a:xfrm>
            <a:off x="1812535" y="2335025"/>
            <a:ext cx="8056563" cy="2528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Shape has values of the form Circle r where r is a float, and Rect x y where x and y are floats.</a:t>
            </a:r>
          </a:p>
          <a:p>
            <a:pPr marL="457200" indent="-457200">
              <a:spcBef>
                <a:spcPct val="20000"/>
              </a:spcBef>
              <a:buClr>
                <a:schemeClr val="accent2"/>
              </a:buClr>
              <a:buFont typeface="Wingdings" panose="05000000000000000000" pitchFamily="2" charset="2"/>
              <a:buChar char="q"/>
            </a:pPr>
            <a:endParaRPr kumimoji="1" lang="en-US" sz="2800" dirty="0"/>
          </a:p>
          <a:p>
            <a:pPr marL="457200" indent="-457200">
              <a:spcBef>
                <a:spcPct val="20000"/>
              </a:spcBef>
              <a:buClr>
                <a:schemeClr val="accent2"/>
              </a:buClr>
              <a:buFont typeface="Wingdings" panose="05000000000000000000" pitchFamily="2" charset="2"/>
              <a:buChar char="q"/>
            </a:pPr>
            <a:r>
              <a:rPr kumimoji="1" lang="en-US" sz="2800" dirty="0"/>
              <a:t>Circle and Rect can be viewed as </a:t>
            </a:r>
            <a:r>
              <a:rPr kumimoji="1" lang="en-US" sz="2800" u="sng" dirty="0"/>
              <a:t>functions</a:t>
            </a:r>
            <a:r>
              <a:rPr kumimoji="1" lang="en-US" sz="2800" dirty="0"/>
              <a:t> that construct values of type Shape:</a:t>
            </a:r>
          </a:p>
        </p:txBody>
      </p:sp>
      <p:sp>
        <p:nvSpPr>
          <p:cNvPr id="678918" name="Text Box 6"/>
          <p:cNvSpPr txBox="1">
            <a:spLocks noChangeArrowheads="1"/>
          </p:cNvSpPr>
          <p:nvPr/>
        </p:nvSpPr>
        <p:spPr bwMode="auto">
          <a:xfrm>
            <a:off x="2941249" y="5229557"/>
            <a:ext cx="5799137" cy="1306512"/>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Circle :: Float </a:t>
            </a:r>
            <a:r>
              <a:rPr lang="en-US" sz="2400" dirty="0">
                <a:latin typeface="Lucida Sans Typewriter" charset="0"/>
                <a:cs typeface="+mn-cs"/>
                <a:sym typeface="Symbol" charset="0"/>
              </a:rPr>
              <a:t></a:t>
            </a:r>
            <a:r>
              <a:rPr lang="en-US" sz="2400" dirty="0">
                <a:latin typeface="Lucida Sans Typewriter" charset="0"/>
                <a:cs typeface="+mn-cs"/>
              </a:rPr>
              <a:t> Shape</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Rect :: Float </a:t>
            </a:r>
            <a:r>
              <a:rPr lang="en-US" sz="2400" dirty="0">
                <a:latin typeface="Lucida Sans Typewriter" charset="0"/>
                <a:cs typeface="+mn-cs"/>
                <a:sym typeface="Symbol" charset="0"/>
              </a:rPr>
              <a:t></a:t>
            </a:r>
            <a:r>
              <a:rPr lang="en-US" sz="2400" dirty="0">
                <a:latin typeface="Lucida Sans Typewriter" charset="0"/>
                <a:cs typeface="+mn-cs"/>
              </a:rPr>
              <a:t> Float </a:t>
            </a:r>
            <a:r>
              <a:rPr lang="en-US" sz="2400" dirty="0">
                <a:latin typeface="Lucida Sans Typewriter" charset="0"/>
                <a:cs typeface="+mn-cs"/>
                <a:sym typeface="Symbol" charset="0"/>
              </a:rPr>
              <a:t></a:t>
            </a:r>
            <a:r>
              <a:rPr lang="en-US" sz="2400" dirty="0">
                <a:latin typeface="Lucida Sans Typewriter" charset="0"/>
                <a:cs typeface="+mn-cs"/>
              </a:rPr>
              <a:t> Shape</a:t>
            </a:r>
          </a:p>
        </p:txBody>
      </p:sp>
      <p:sp>
        <p:nvSpPr>
          <p:cNvPr id="3" name="Rectangle 2">
            <a:extLst>
              <a:ext uri="{FF2B5EF4-FFF2-40B4-BE49-F238E27FC236}">
                <a16:creationId xmlns:a16="http://schemas.microsoft.com/office/drawing/2014/main" id="{8DF6B742-4299-F477-6604-4460574C7002}"/>
              </a:ext>
            </a:extLst>
          </p:cNvPr>
          <p:cNvSpPr txBox="1">
            <a:spLocks noChangeArrowheads="1"/>
          </p:cNvSpPr>
          <p:nvPr/>
        </p:nvSpPr>
        <p:spPr>
          <a:xfrm>
            <a:off x="624903" y="753228"/>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dirty="0">
                <a:latin typeface="Arial Black" charset="0"/>
                <a:ea typeface="ＭＳ Ｐゴシック" charset="0"/>
                <a:cs typeface="ＭＳ Ｐゴシック" charset="0"/>
              </a:rPr>
              <a:t>Data Declarations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78918"/>
                                        </p:tgtEl>
                                        <p:attrNameLst>
                                          <p:attrName>style.visibility</p:attrName>
                                        </p:attrNameLst>
                                      </p:cBhvr>
                                      <p:to>
                                        <p:strVal val="visible"/>
                                      </p:to>
                                    </p:set>
                                    <p:anim calcmode="lin" valueType="num">
                                      <p:cBhvr additive="base">
                                        <p:cTn id="17" dur="500" fill="hold"/>
                                        <p:tgtEl>
                                          <p:spTgt spid="678918"/>
                                        </p:tgtEl>
                                        <p:attrNameLst>
                                          <p:attrName>ppt_x</p:attrName>
                                        </p:attrNameLst>
                                      </p:cBhvr>
                                      <p:tavLst>
                                        <p:tav tm="0">
                                          <p:val>
                                            <p:strVal val="#ppt_x"/>
                                          </p:val>
                                        </p:tav>
                                        <p:tav tm="100000">
                                          <p:val>
                                            <p:strVal val="#ppt_x"/>
                                          </p:val>
                                        </p:tav>
                                      </p:tavLst>
                                    </p:anim>
                                    <p:anim calcmode="lin" valueType="num">
                                      <p:cBhvr additive="base">
                                        <p:cTn id="18" dur="500" fill="hold"/>
                                        <p:tgtEl>
                                          <p:spTgt spid="6789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A40B0C72-AAC3-C847-9B52-11E2A66FFB1A}" type="slidenum">
              <a:rPr lang="en-US" sz="1400"/>
              <a:pPr/>
              <a:t>10</a:t>
            </a:fld>
            <a:endParaRPr lang="en-US" sz="1400"/>
          </a:p>
        </p:txBody>
      </p:sp>
      <p:sp>
        <p:nvSpPr>
          <p:cNvPr id="670722" name="Text Box 2"/>
          <p:cNvSpPr txBox="1">
            <a:spLocks noChangeArrowheads="1"/>
          </p:cNvSpPr>
          <p:nvPr/>
        </p:nvSpPr>
        <p:spPr bwMode="auto">
          <a:xfrm>
            <a:off x="1644968" y="2052973"/>
            <a:ext cx="8337550" cy="946150"/>
          </a:xfrm>
          <a:prstGeom prst="rect">
            <a:avLst/>
          </a:prstGeom>
          <a:noFill/>
          <a:ln>
            <a:noFill/>
          </a:ln>
          <a:effectLst/>
        </p:spPr>
        <p:txBody>
          <a:bodyPr anchor="ctr">
            <a:spAutoFit/>
          </a:bodyPr>
          <a:lstStyle/>
          <a:p>
            <a:pPr>
              <a:defRPr/>
            </a:pPr>
            <a:r>
              <a:rPr lang="en-US" sz="2800" dirty="0">
                <a:cs typeface="+mn-cs"/>
              </a:rPr>
              <a:t>Not surprisingly, data declarations themselves can also have parameters.  For example, given</a:t>
            </a:r>
          </a:p>
        </p:txBody>
      </p:sp>
      <p:sp>
        <p:nvSpPr>
          <p:cNvPr id="670724" name="Text Box 4"/>
          <p:cNvSpPr txBox="1">
            <a:spLocks noChangeArrowheads="1"/>
          </p:cNvSpPr>
          <p:nvPr/>
        </p:nvSpPr>
        <p:spPr bwMode="auto">
          <a:xfrm>
            <a:off x="2567213" y="3451793"/>
            <a:ext cx="5949064"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Maybe a = Nothing | Just a</a:t>
            </a:r>
          </a:p>
        </p:txBody>
      </p:sp>
      <p:sp>
        <p:nvSpPr>
          <p:cNvPr id="670728" name="Text Box 8"/>
          <p:cNvSpPr txBox="1">
            <a:spLocks noChangeArrowheads="1"/>
          </p:cNvSpPr>
          <p:nvPr/>
        </p:nvSpPr>
        <p:spPr bwMode="auto">
          <a:xfrm>
            <a:off x="2760664" y="5151474"/>
            <a:ext cx="6106159" cy="1227067"/>
          </a:xfrm>
          <a:prstGeom prst="rect">
            <a:avLst/>
          </a:prstGeom>
          <a:solidFill>
            <a:schemeClr val="accent1"/>
          </a:solidFill>
          <a:ln>
            <a:noFill/>
          </a:ln>
          <a:effectLst/>
        </p:spPr>
        <p:txBody>
          <a:bodyPr wrap="none" anchor="ctr">
            <a:spAutoFit/>
          </a:bodyPr>
          <a:lstStyle/>
          <a:p>
            <a:pPr>
              <a:lnSpc>
                <a:spcPct val="110000"/>
              </a:lnSpc>
              <a:defRPr/>
            </a:pPr>
            <a:r>
              <a:rPr lang="en-US" sz="2300" dirty="0">
                <a:latin typeface="Lucida Sans Typewriter" charset="0"/>
                <a:cs typeface="+mn-cs"/>
              </a:rPr>
              <a:t>safediv :: Int </a:t>
            </a:r>
            <a:r>
              <a:rPr lang="en-US" sz="2300" dirty="0">
                <a:latin typeface="Lucida Sans Typewriter" charset="0"/>
                <a:cs typeface="+mn-cs"/>
                <a:sym typeface="Symbol" charset="0"/>
              </a:rPr>
              <a:t></a:t>
            </a:r>
            <a:r>
              <a:rPr lang="en-US" sz="2300" dirty="0">
                <a:latin typeface="Lucida Sans Typewriter" charset="0"/>
                <a:cs typeface="+mn-cs"/>
              </a:rPr>
              <a:t> Int </a:t>
            </a:r>
            <a:r>
              <a:rPr lang="en-US" sz="2300" dirty="0">
                <a:latin typeface="Lucida Sans Typewriter" charset="0"/>
                <a:cs typeface="+mn-cs"/>
                <a:sym typeface="Symbol" charset="0"/>
              </a:rPr>
              <a:t></a:t>
            </a:r>
            <a:r>
              <a:rPr lang="en-US" sz="2300" dirty="0">
                <a:latin typeface="Lucida Sans Typewriter" charset="0"/>
                <a:cs typeface="+mn-cs"/>
              </a:rPr>
              <a:t> Maybe Int</a:t>
            </a:r>
          </a:p>
          <a:p>
            <a:pPr>
              <a:lnSpc>
                <a:spcPct val="110000"/>
              </a:lnSpc>
              <a:defRPr/>
            </a:pPr>
            <a:r>
              <a:rPr lang="en-US" sz="2300" dirty="0">
                <a:latin typeface="Lucida Sans Typewriter" charset="0"/>
                <a:cs typeface="+mn-cs"/>
              </a:rPr>
              <a:t>safediv _ 0 = Nothing</a:t>
            </a:r>
          </a:p>
          <a:p>
            <a:pPr>
              <a:lnSpc>
                <a:spcPct val="110000"/>
              </a:lnSpc>
              <a:defRPr/>
            </a:pPr>
            <a:r>
              <a:rPr lang="en-US" sz="2300" dirty="0">
                <a:latin typeface="Lucida Sans Typewriter" charset="0"/>
                <a:cs typeface="+mn-cs"/>
              </a:rPr>
              <a:t>safediv m n = Just (m `div` n)</a:t>
            </a:r>
          </a:p>
        </p:txBody>
      </p:sp>
      <p:sp>
        <p:nvSpPr>
          <p:cNvPr id="7" name="Rectangle 2">
            <a:extLst>
              <a:ext uri="{FF2B5EF4-FFF2-40B4-BE49-F238E27FC236}">
                <a16:creationId xmlns:a16="http://schemas.microsoft.com/office/drawing/2014/main" id="{8BBA1FAA-8609-144A-A284-FD905565932F}"/>
              </a:ext>
            </a:extLst>
          </p:cNvPr>
          <p:cNvSpPr txBox="1">
            <a:spLocks noChangeArrowheads="1"/>
          </p:cNvSpPr>
          <p:nvPr/>
        </p:nvSpPr>
        <p:spPr>
          <a:xfrm>
            <a:off x="476167" y="766328"/>
            <a:ext cx="7772400" cy="685800"/>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Maybe</a:t>
            </a:r>
          </a:p>
        </p:txBody>
      </p:sp>
      <p:sp>
        <p:nvSpPr>
          <p:cNvPr id="2" name="TextBox 1">
            <a:extLst>
              <a:ext uri="{FF2B5EF4-FFF2-40B4-BE49-F238E27FC236}">
                <a16:creationId xmlns:a16="http://schemas.microsoft.com/office/drawing/2014/main" id="{25F23276-63D3-1340-A470-D2C60D4DAE9C}"/>
              </a:ext>
            </a:extLst>
          </p:cNvPr>
          <p:cNvSpPr txBox="1"/>
          <p:nvPr/>
        </p:nvSpPr>
        <p:spPr>
          <a:xfrm>
            <a:off x="1874132" y="4350633"/>
            <a:ext cx="7763215" cy="954107"/>
          </a:xfrm>
          <a:prstGeom prst="rect">
            <a:avLst/>
          </a:prstGeom>
          <a:noFill/>
        </p:spPr>
        <p:txBody>
          <a:bodyPr wrap="none" rtlCol="0">
            <a:spAutoFit/>
          </a:bodyPr>
          <a:lstStyle/>
          <a:p>
            <a:r>
              <a:rPr lang="en-US" sz="2800" dirty="0">
                <a:cs typeface="+mn-cs"/>
              </a:rPr>
              <a:t>We use Maybe to handle </a:t>
            </a:r>
            <a:r>
              <a:rPr lang="en-US" sz="2800" dirty="0"/>
              <a:t>errors. We can define:</a:t>
            </a:r>
          </a:p>
          <a:p>
            <a:endParaRPr lang="en-US" sz="2800"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0722"/>
                                        </p:tgtEl>
                                        <p:attrNameLst>
                                          <p:attrName>style.visibility</p:attrName>
                                        </p:attrNameLst>
                                      </p:cBhvr>
                                      <p:to>
                                        <p:strVal val="visible"/>
                                      </p:to>
                                    </p:set>
                                    <p:anim calcmode="lin" valueType="num">
                                      <p:cBhvr additive="base">
                                        <p:cTn id="7" dur="500" fill="hold"/>
                                        <p:tgtEl>
                                          <p:spTgt spid="670722"/>
                                        </p:tgtEl>
                                        <p:attrNameLst>
                                          <p:attrName>ppt_x</p:attrName>
                                        </p:attrNameLst>
                                      </p:cBhvr>
                                      <p:tavLst>
                                        <p:tav tm="0">
                                          <p:val>
                                            <p:strVal val="#ppt_x"/>
                                          </p:val>
                                        </p:tav>
                                        <p:tav tm="100000">
                                          <p:val>
                                            <p:strVal val="#ppt_x"/>
                                          </p:val>
                                        </p:tav>
                                      </p:tavLst>
                                    </p:anim>
                                    <p:anim calcmode="lin" valueType="num">
                                      <p:cBhvr additive="base">
                                        <p:cTn id="8" dur="500" fill="hold"/>
                                        <p:tgtEl>
                                          <p:spTgt spid="6707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0724"/>
                                        </p:tgtEl>
                                        <p:attrNameLst>
                                          <p:attrName>style.visibility</p:attrName>
                                        </p:attrNameLst>
                                      </p:cBhvr>
                                      <p:to>
                                        <p:strVal val="visible"/>
                                      </p:to>
                                    </p:set>
                                    <p:anim calcmode="lin" valueType="num">
                                      <p:cBhvr additive="base">
                                        <p:cTn id="13" dur="500" fill="hold"/>
                                        <p:tgtEl>
                                          <p:spTgt spid="670724"/>
                                        </p:tgtEl>
                                        <p:attrNameLst>
                                          <p:attrName>ppt_x</p:attrName>
                                        </p:attrNameLst>
                                      </p:cBhvr>
                                      <p:tavLst>
                                        <p:tav tm="0">
                                          <p:val>
                                            <p:strVal val="#ppt_x"/>
                                          </p:val>
                                        </p:tav>
                                        <p:tav tm="100000">
                                          <p:val>
                                            <p:strVal val="#ppt_x"/>
                                          </p:val>
                                        </p:tav>
                                      </p:tavLst>
                                    </p:anim>
                                    <p:anim calcmode="lin" valueType="num">
                                      <p:cBhvr additive="base">
                                        <p:cTn id="14" dur="500" fill="hold"/>
                                        <p:tgtEl>
                                          <p:spTgt spid="6707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70728"/>
                                        </p:tgtEl>
                                        <p:attrNameLst>
                                          <p:attrName>style.visibility</p:attrName>
                                        </p:attrNameLst>
                                      </p:cBhvr>
                                      <p:to>
                                        <p:strVal val="visible"/>
                                      </p:to>
                                    </p:set>
                                    <p:anim calcmode="lin" valueType="num">
                                      <p:cBhvr additive="base">
                                        <p:cTn id="23" dur="500" fill="hold"/>
                                        <p:tgtEl>
                                          <p:spTgt spid="670728"/>
                                        </p:tgtEl>
                                        <p:attrNameLst>
                                          <p:attrName>ppt_x</p:attrName>
                                        </p:attrNameLst>
                                      </p:cBhvr>
                                      <p:tavLst>
                                        <p:tav tm="0">
                                          <p:val>
                                            <p:strVal val="#ppt_x"/>
                                          </p:val>
                                        </p:tav>
                                        <p:tav tm="100000">
                                          <p:val>
                                            <p:strVal val="#ppt_x"/>
                                          </p:val>
                                        </p:tav>
                                      </p:tavLst>
                                    </p:anim>
                                    <p:anim calcmode="lin" valueType="num">
                                      <p:cBhvr additive="base">
                                        <p:cTn id="24" dur="500" fill="hold"/>
                                        <p:tgtEl>
                                          <p:spTgt spid="6707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2" grpId="0"/>
      <p:bldP spid="670724" grpId="0" animBg="1"/>
      <p:bldP spid="670728"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1"/>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A40B0C72-AAC3-C847-9B52-11E2A66FFB1A}" type="slidenum">
              <a:rPr lang="en-US" sz="1400"/>
              <a:pPr/>
              <a:t>11</a:t>
            </a:fld>
            <a:endParaRPr lang="en-US" sz="1400"/>
          </a:p>
        </p:txBody>
      </p:sp>
      <p:sp>
        <p:nvSpPr>
          <p:cNvPr id="670722" name="Text Box 2"/>
          <p:cNvSpPr txBox="1">
            <a:spLocks noChangeArrowheads="1"/>
          </p:cNvSpPr>
          <p:nvPr/>
        </p:nvSpPr>
        <p:spPr bwMode="auto">
          <a:xfrm>
            <a:off x="282203" y="2057514"/>
            <a:ext cx="10926124" cy="1815882"/>
          </a:xfrm>
          <a:prstGeom prst="rect">
            <a:avLst/>
          </a:prstGeom>
          <a:noFill/>
          <a:ln>
            <a:noFill/>
          </a:ln>
          <a:effectLst/>
        </p:spPr>
        <p:txBody>
          <a:bodyPr wrap="square" anchor="ctr">
            <a:spAutoFit/>
          </a:bodyPr>
          <a:lstStyle/>
          <a:p>
            <a:pPr>
              <a:defRPr/>
            </a:pPr>
            <a:r>
              <a:rPr lang="en-IE" sz="2800" dirty="0"/>
              <a:t>Most of what makes Haskell so powerful is based on the language being safe, predictable, and reliable. The traditional method of throwing an error is frowned upon in Haskell. Use of Maybe is one way to manage this:</a:t>
            </a:r>
            <a:endParaRPr lang="en-US" sz="2800" dirty="0">
              <a:cs typeface="+mn-cs"/>
            </a:endParaRPr>
          </a:p>
        </p:txBody>
      </p:sp>
      <p:sp>
        <p:nvSpPr>
          <p:cNvPr id="670724" name="Text Box 4"/>
          <p:cNvSpPr txBox="1">
            <a:spLocks noChangeArrowheads="1"/>
          </p:cNvSpPr>
          <p:nvPr/>
        </p:nvSpPr>
        <p:spPr bwMode="auto">
          <a:xfrm>
            <a:off x="2884840" y="4056711"/>
            <a:ext cx="5949064"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Maybe a = Nothing | Just a</a:t>
            </a:r>
          </a:p>
        </p:txBody>
      </p:sp>
      <p:sp>
        <p:nvSpPr>
          <p:cNvPr id="2" name="Rectangular Callout 1">
            <a:extLst>
              <a:ext uri="{FF2B5EF4-FFF2-40B4-BE49-F238E27FC236}">
                <a16:creationId xmlns:a16="http://schemas.microsoft.com/office/drawing/2014/main" id="{3D8DC973-AA32-FA4C-8A69-8AC102D01965}"/>
              </a:ext>
            </a:extLst>
          </p:cNvPr>
          <p:cNvSpPr/>
          <p:nvPr/>
        </p:nvSpPr>
        <p:spPr bwMode="auto">
          <a:xfrm>
            <a:off x="1919110" y="5965449"/>
            <a:ext cx="1907823" cy="830997"/>
          </a:xfrm>
          <a:prstGeom prst="wedgeRectCallout">
            <a:avLst>
              <a:gd name="adj1" fmla="val 180606"/>
              <a:gd name="adj2" fmla="val -214454"/>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400" dirty="0"/>
              <a:t>Indicates an error</a:t>
            </a:r>
          </a:p>
        </p:txBody>
      </p:sp>
      <p:sp>
        <p:nvSpPr>
          <p:cNvPr id="8" name="Rectangular Callout 7">
            <a:extLst>
              <a:ext uri="{FF2B5EF4-FFF2-40B4-BE49-F238E27FC236}">
                <a16:creationId xmlns:a16="http://schemas.microsoft.com/office/drawing/2014/main" id="{0A253E52-0B35-264C-BCAC-AECC5BAF65D8}"/>
              </a:ext>
            </a:extLst>
          </p:cNvPr>
          <p:cNvSpPr/>
          <p:nvPr/>
        </p:nvSpPr>
        <p:spPr bwMode="auto">
          <a:xfrm>
            <a:off x="7016044" y="5565339"/>
            <a:ext cx="3437467" cy="1200329"/>
          </a:xfrm>
          <a:prstGeom prst="wedgeRectCallout">
            <a:avLst>
              <a:gd name="adj1" fmla="val -15160"/>
              <a:gd name="adj2" fmla="val -139985"/>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400" dirty="0"/>
              <a:t>a is the type of the answer when no error is thrown</a:t>
            </a:r>
          </a:p>
        </p:txBody>
      </p:sp>
      <p:sp>
        <p:nvSpPr>
          <p:cNvPr id="4" name="Rectangle 2">
            <a:extLst>
              <a:ext uri="{FF2B5EF4-FFF2-40B4-BE49-F238E27FC236}">
                <a16:creationId xmlns:a16="http://schemas.microsoft.com/office/drawing/2014/main" id="{389B93AE-9F27-787C-CBD2-6C91549343CA}"/>
              </a:ext>
            </a:extLst>
          </p:cNvPr>
          <p:cNvSpPr txBox="1">
            <a:spLocks noChangeArrowheads="1"/>
          </p:cNvSpPr>
          <p:nvPr/>
        </p:nvSpPr>
        <p:spPr>
          <a:xfrm>
            <a:off x="476167" y="766328"/>
            <a:ext cx="7772400" cy="685800"/>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Maybe</a:t>
            </a:r>
          </a:p>
        </p:txBody>
      </p:sp>
    </p:spTree>
    <p:extLst>
      <p:ext uri="{BB962C8B-B14F-4D97-AF65-F5344CB8AC3E}">
        <p14:creationId xmlns:p14="http://schemas.microsoft.com/office/powerpoint/2010/main" val="109809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0724"/>
                                        </p:tgtEl>
                                        <p:attrNameLst>
                                          <p:attrName>style.visibility</p:attrName>
                                        </p:attrNameLst>
                                      </p:cBhvr>
                                      <p:to>
                                        <p:strVal val="visible"/>
                                      </p:to>
                                    </p:set>
                                    <p:anim calcmode="lin" valueType="num">
                                      <p:cBhvr additive="base">
                                        <p:cTn id="7" dur="500" fill="hold"/>
                                        <p:tgtEl>
                                          <p:spTgt spid="670724"/>
                                        </p:tgtEl>
                                        <p:attrNameLst>
                                          <p:attrName>ppt_x</p:attrName>
                                        </p:attrNameLst>
                                      </p:cBhvr>
                                      <p:tavLst>
                                        <p:tav tm="0">
                                          <p:val>
                                            <p:strVal val="#ppt_x"/>
                                          </p:val>
                                        </p:tav>
                                        <p:tav tm="100000">
                                          <p:val>
                                            <p:strVal val="#ppt_x"/>
                                          </p:val>
                                        </p:tav>
                                      </p:tavLst>
                                    </p:anim>
                                    <p:anim calcmode="lin" valueType="num">
                                      <p:cBhvr additive="base">
                                        <p:cTn id="8" dur="500" fill="hold"/>
                                        <p:tgtEl>
                                          <p:spTgt spid="6707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4" grpId="0" animBg="1"/>
      <p:bldP spid="2"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BF53F4-0E43-9146-8264-753D1281EC66}"/>
              </a:ext>
            </a:extLst>
          </p:cNvPr>
          <p:cNvSpPr>
            <a:spLocks noGrp="1"/>
          </p:cNvSpPr>
          <p:nvPr>
            <p:ph type="sldNum" sz="quarter" idx="12"/>
          </p:nvPr>
        </p:nvSpPr>
        <p:spPr/>
        <p:txBody>
          <a:bodyPr/>
          <a:lstStyle/>
          <a:p>
            <a:pPr>
              <a:defRPr/>
            </a:pPr>
            <a:fld id="{BCAC36D0-0ED6-684D-8A07-95B77A62CED0}" type="slidenum">
              <a:rPr lang="en-US" smtClean="0"/>
              <a:pPr>
                <a:defRPr/>
              </a:pPr>
              <a:t>12</a:t>
            </a:fld>
            <a:endParaRPr lang="en-US"/>
          </a:p>
        </p:txBody>
      </p:sp>
      <p:sp>
        <p:nvSpPr>
          <p:cNvPr id="3" name="Text Box 4">
            <a:extLst>
              <a:ext uri="{FF2B5EF4-FFF2-40B4-BE49-F238E27FC236}">
                <a16:creationId xmlns:a16="http://schemas.microsoft.com/office/drawing/2014/main" id="{ECD1F96C-A664-DA4A-AAC3-3BFEDB9C1D3D}"/>
              </a:ext>
            </a:extLst>
          </p:cNvPr>
          <p:cNvSpPr txBox="1">
            <a:spLocks noChangeArrowheads="1"/>
          </p:cNvSpPr>
          <p:nvPr/>
        </p:nvSpPr>
        <p:spPr bwMode="auto">
          <a:xfrm>
            <a:off x="1742251" y="2025064"/>
            <a:ext cx="6506909"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Either a b = Left a | Right b</a:t>
            </a:r>
          </a:p>
        </p:txBody>
      </p:sp>
      <p:sp>
        <p:nvSpPr>
          <p:cNvPr id="4" name="Rectangle 2">
            <a:extLst>
              <a:ext uri="{FF2B5EF4-FFF2-40B4-BE49-F238E27FC236}">
                <a16:creationId xmlns:a16="http://schemas.microsoft.com/office/drawing/2014/main" id="{6A016A33-CA93-1643-B488-1D33BA03FEB1}"/>
              </a:ext>
            </a:extLst>
          </p:cNvPr>
          <p:cNvSpPr txBox="1">
            <a:spLocks noChangeArrowheads="1"/>
          </p:cNvSpPr>
          <p:nvPr/>
        </p:nvSpPr>
        <p:spPr>
          <a:xfrm>
            <a:off x="644236" y="774467"/>
            <a:ext cx="7772400" cy="685800"/>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Either</a:t>
            </a:r>
          </a:p>
        </p:txBody>
      </p:sp>
      <p:sp>
        <p:nvSpPr>
          <p:cNvPr id="8" name="TextBox 7">
            <a:extLst>
              <a:ext uri="{FF2B5EF4-FFF2-40B4-BE49-F238E27FC236}">
                <a16:creationId xmlns:a16="http://schemas.microsoft.com/office/drawing/2014/main" id="{A8BF3CE4-C928-7942-85BB-362ADBEB314F}"/>
              </a:ext>
            </a:extLst>
          </p:cNvPr>
          <p:cNvSpPr txBox="1"/>
          <p:nvPr/>
        </p:nvSpPr>
        <p:spPr>
          <a:xfrm>
            <a:off x="1383403" y="6083533"/>
            <a:ext cx="9081332" cy="523220"/>
          </a:xfrm>
          <a:prstGeom prst="rect">
            <a:avLst/>
          </a:prstGeom>
          <a:noFill/>
        </p:spPr>
        <p:txBody>
          <a:bodyPr wrap="none" rtlCol="0">
            <a:spAutoFit/>
          </a:bodyPr>
          <a:lstStyle/>
          <a:p>
            <a:r>
              <a:rPr lang="en-US" sz="2800" dirty="0"/>
              <a:t>Either is increasingly being used  in production Haskell </a:t>
            </a:r>
          </a:p>
        </p:txBody>
      </p:sp>
      <p:sp>
        <p:nvSpPr>
          <p:cNvPr id="9" name="Rectangular Callout 8">
            <a:extLst>
              <a:ext uri="{FF2B5EF4-FFF2-40B4-BE49-F238E27FC236}">
                <a16:creationId xmlns:a16="http://schemas.microsoft.com/office/drawing/2014/main" id="{2D473A88-D893-3C59-701B-CB34B33B777D}"/>
              </a:ext>
            </a:extLst>
          </p:cNvPr>
          <p:cNvSpPr/>
          <p:nvPr/>
        </p:nvSpPr>
        <p:spPr bwMode="auto">
          <a:xfrm>
            <a:off x="-20836" y="3952512"/>
            <a:ext cx="1907823" cy="1200329"/>
          </a:xfrm>
          <a:prstGeom prst="wedgeRectCallout">
            <a:avLst>
              <a:gd name="adj1" fmla="val 242333"/>
              <a:gd name="adj2" fmla="val -167772"/>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400" dirty="0"/>
              <a:t>Indicates an error and returns an a</a:t>
            </a:r>
          </a:p>
        </p:txBody>
      </p:sp>
      <p:sp>
        <p:nvSpPr>
          <p:cNvPr id="10" name="Rectangular Callout 9">
            <a:extLst>
              <a:ext uri="{FF2B5EF4-FFF2-40B4-BE49-F238E27FC236}">
                <a16:creationId xmlns:a16="http://schemas.microsoft.com/office/drawing/2014/main" id="{E07B902F-8A02-72B6-CAF8-4A602C1C4937}"/>
              </a:ext>
            </a:extLst>
          </p:cNvPr>
          <p:cNvSpPr/>
          <p:nvPr/>
        </p:nvSpPr>
        <p:spPr bwMode="auto">
          <a:xfrm>
            <a:off x="8832279" y="2690629"/>
            <a:ext cx="3437467" cy="1200329"/>
          </a:xfrm>
          <a:prstGeom prst="wedgeRectCallout">
            <a:avLst>
              <a:gd name="adj1" fmla="val -87708"/>
              <a:gd name="adj2" fmla="val -70731"/>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400" dirty="0"/>
              <a:t>b is the type of the answer when no error is thrown</a:t>
            </a:r>
          </a:p>
        </p:txBody>
      </p:sp>
      <p:sp>
        <p:nvSpPr>
          <p:cNvPr id="5" name="TextBox 4">
            <a:extLst>
              <a:ext uri="{FF2B5EF4-FFF2-40B4-BE49-F238E27FC236}">
                <a16:creationId xmlns:a16="http://schemas.microsoft.com/office/drawing/2014/main" id="{954CF8C1-1AA3-A147-97D3-B2D3634FF70E}"/>
              </a:ext>
            </a:extLst>
          </p:cNvPr>
          <p:cNvSpPr txBox="1"/>
          <p:nvPr/>
        </p:nvSpPr>
        <p:spPr>
          <a:xfrm>
            <a:off x="1383403" y="2905780"/>
            <a:ext cx="7224606" cy="523220"/>
          </a:xfrm>
          <a:prstGeom prst="rect">
            <a:avLst/>
          </a:prstGeom>
          <a:noFill/>
        </p:spPr>
        <p:txBody>
          <a:bodyPr wrap="none" rtlCol="0">
            <a:spAutoFit/>
          </a:bodyPr>
          <a:lstStyle/>
          <a:p>
            <a:r>
              <a:rPr lang="en-US" sz="2800" dirty="0"/>
              <a:t>We can similarly use Either to handle errors</a:t>
            </a:r>
          </a:p>
        </p:txBody>
      </p:sp>
      <p:sp>
        <p:nvSpPr>
          <p:cNvPr id="7" name="Text Box 8">
            <a:extLst>
              <a:ext uri="{FF2B5EF4-FFF2-40B4-BE49-F238E27FC236}">
                <a16:creationId xmlns:a16="http://schemas.microsoft.com/office/drawing/2014/main" id="{16757B7B-5164-6749-A545-3607CF04D6E1}"/>
              </a:ext>
            </a:extLst>
          </p:cNvPr>
          <p:cNvSpPr txBox="1">
            <a:spLocks noChangeArrowheads="1"/>
          </p:cNvSpPr>
          <p:nvPr/>
        </p:nvSpPr>
        <p:spPr bwMode="auto">
          <a:xfrm>
            <a:off x="1828801" y="3890958"/>
            <a:ext cx="8602133" cy="1323439"/>
          </a:xfrm>
          <a:prstGeom prst="rect">
            <a:avLst/>
          </a:prstGeom>
          <a:solidFill>
            <a:schemeClr val="accent1"/>
          </a:solidFill>
          <a:ln>
            <a:noFill/>
          </a:ln>
          <a:effectLst/>
        </p:spPr>
        <p:txBody>
          <a:bodyPr wrap="square" anchor="ctr">
            <a:spAutoFit/>
          </a:bodyPr>
          <a:lstStyle/>
          <a:p>
            <a:r>
              <a:rPr lang="en-IE" sz="2000" dirty="0">
                <a:latin typeface="Lucida Sans Typewriter" charset="0"/>
                <a:cs typeface="+mn-cs"/>
              </a:rPr>
              <a:t>safediv' :: Int -&gt; Int -&gt; Either String Int</a:t>
            </a:r>
          </a:p>
          <a:p>
            <a:r>
              <a:rPr lang="en-IE" sz="2000" dirty="0">
                <a:latin typeface="Lucida Sans Typewriter" charset="0"/>
                <a:cs typeface="+mn-cs"/>
              </a:rPr>
              <a:t>safediv' n m = if m==0 </a:t>
            </a:r>
          </a:p>
          <a:p>
            <a:r>
              <a:rPr lang="en-IE" sz="2000" dirty="0">
                <a:latin typeface="Lucida Sans Typewriter" charset="0"/>
                <a:cs typeface="+mn-cs"/>
              </a:rPr>
              <a:t>               then Left ”cannot divide by zero"</a:t>
            </a:r>
          </a:p>
          <a:p>
            <a:r>
              <a:rPr lang="en-IE" sz="2000" dirty="0">
                <a:latin typeface="Lucida Sans Typewriter" charset="0"/>
                <a:cs typeface="+mn-cs"/>
              </a:rPr>
              <a:t>               else Right (n `div` m)</a:t>
            </a:r>
          </a:p>
        </p:txBody>
      </p:sp>
    </p:spTree>
    <p:extLst>
      <p:ext uri="{BB962C8B-B14F-4D97-AF65-F5344CB8AC3E}">
        <p14:creationId xmlns:p14="http://schemas.microsoft.com/office/powerpoint/2010/main" val="330256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animBg="1"/>
      <p:bldP spid="10" grpId="0" animBg="1"/>
      <p:bldP spid="5" grpId="0"/>
      <p:bldP spid="7"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3322-40FA-2539-7453-4CC19F9EB611}"/>
              </a:ext>
            </a:extLst>
          </p:cNvPr>
          <p:cNvSpPr>
            <a:spLocks noGrp="1"/>
          </p:cNvSpPr>
          <p:nvPr>
            <p:ph type="title"/>
          </p:nvPr>
        </p:nvSpPr>
        <p:spPr/>
        <p:txBody>
          <a:bodyPr/>
          <a:lstStyle/>
          <a:p>
            <a:r>
              <a:rPr lang="en-US" b="1" dirty="0"/>
              <a:t>Handy function with Either</a:t>
            </a:r>
          </a:p>
        </p:txBody>
      </p:sp>
      <p:sp>
        <p:nvSpPr>
          <p:cNvPr id="3" name="Slide Number Placeholder 2">
            <a:extLst>
              <a:ext uri="{FF2B5EF4-FFF2-40B4-BE49-F238E27FC236}">
                <a16:creationId xmlns:a16="http://schemas.microsoft.com/office/drawing/2014/main" id="{AE3D1F9B-9054-7604-6807-B0A4489400FE}"/>
              </a:ext>
            </a:extLst>
          </p:cNvPr>
          <p:cNvSpPr>
            <a:spLocks noGrp="1"/>
          </p:cNvSpPr>
          <p:nvPr>
            <p:ph type="sldNum" sz="quarter" idx="12"/>
          </p:nvPr>
        </p:nvSpPr>
        <p:spPr/>
        <p:txBody>
          <a:bodyPr/>
          <a:lstStyle/>
          <a:p>
            <a:pPr>
              <a:defRPr/>
            </a:pPr>
            <a:fld id="{D504839C-9BB7-BB4D-96E1-589D0E7BC0CF}" type="slidenum">
              <a:rPr lang="en-US" smtClean="0"/>
              <a:pPr>
                <a:defRPr/>
              </a:pPr>
              <a:t>13</a:t>
            </a:fld>
            <a:endParaRPr lang="en-US"/>
          </a:p>
        </p:txBody>
      </p:sp>
      <p:sp>
        <p:nvSpPr>
          <p:cNvPr id="5" name="TextBox 4">
            <a:extLst>
              <a:ext uri="{FF2B5EF4-FFF2-40B4-BE49-F238E27FC236}">
                <a16:creationId xmlns:a16="http://schemas.microsoft.com/office/drawing/2014/main" id="{215A7A46-600B-651F-EB27-A828072AACF8}"/>
              </a:ext>
            </a:extLst>
          </p:cNvPr>
          <p:cNvSpPr txBox="1"/>
          <p:nvPr/>
        </p:nvSpPr>
        <p:spPr>
          <a:xfrm>
            <a:off x="797551" y="2432428"/>
            <a:ext cx="10292480" cy="2246769"/>
          </a:xfrm>
          <a:prstGeom prst="rect">
            <a:avLst/>
          </a:prstGeom>
          <a:noFill/>
        </p:spPr>
        <p:txBody>
          <a:bodyPr wrap="square">
            <a:spAutoFit/>
          </a:bodyPr>
          <a:lstStyle/>
          <a:p>
            <a:pPr>
              <a:buNone/>
            </a:pPr>
            <a:r>
              <a:rPr lang="en-IE" sz="2800" b="1" i="1" dirty="0" err="1"/>
              <a:t>partitionEithers</a:t>
            </a:r>
            <a:r>
              <a:rPr lang="en-IE" sz="2800" dirty="0"/>
              <a:t> is a useful function in Haskell that separates a list containing Either values into two separate lists:</a:t>
            </a:r>
          </a:p>
          <a:p>
            <a:pPr>
              <a:buNone/>
            </a:pPr>
            <a:endParaRPr lang="en-IE" sz="2800" dirty="0"/>
          </a:p>
          <a:p>
            <a:pPr lvl="1">
              <a:buFont typeface="Arial" panose="020B0604020202020204" pitchFamily="34" charset="0"/>
              <a:buChar char="•"/>
            </a:pPr>
            <a:r>
              <a:rPr lang="en-IE" sz="2800" dirty="0"/>
              <a:t>A list of all the Left values</a:t>
            </a:r>
          </a:p>
          <a:p>
            <a:pPr lvl="1">
              <a:buFont typeface="Arial" panose="020B0604020202020204" pitchFamily="34" charset="0"/>
              <a:buChar char="•"/>
            </a:pPr>
            <a:r>
              <a:rPr lang="en-IE" sz="2800" dirty="0"/>
              <a:t>A list of all the Right values</a:t>
            </a:r>
          </a:p>
        </p:txBody>
      </p:sp>
      <p:sp>
        <p:nvSpPr>
          <p:cNvPr id="9" name="TextBox 8">
            <a:extLst>
              <a:ext uri="{FF2B5EF4-FFF2-40B4-BE49-F238E27FC236}">
                <a16:creationId xmlns:a16="http://schemas.microsoft.com/office/drawing/2014/main" id="{CC358727-D11F-0FB6-6191-26BA728E792F}"/>
              </a:ext>
            </a:extLst>
          </p:cNvPr>
          <p:cNvSpPr txBox="1"/>
          <p:nvPr/>
        </p:nvSpPr>
        <p:spPr>
          <a:xfrm>
            <a:off x="2133982" y="5187621"/>
            <a:ext cx="6096000" cy="461665"/>
          </a:xfrm>
          <a:prstGeom prst="rect">
            <a:avLst/>
          </a:prstGeom>
          <a:solidFill>
            <a:schemeClr val="bg2">
              <a:lumMod val="60000"/>
              <a:lumOff val="40000"/>
            </a:schemeClr>
          </a:solidFill>
        </p:spPr>
        <p:txBody>
          <a:bodyPr wrap="square">
            <a:spAutoFit/>
          </a:bodyPr>
          <a:lstStyle/>
          <a:p>
            <a:r>
              <a:rPr lang="en-US" sz="2400" dirty="0" err="1">
                <a:latin typeface="Arial" panose="020B0604020202020204" pitchFamily="34" charset="0"/>
                <a:cs typeface="Arial" panose="020B0604020202020204" pitchFamily="34" charset="0"/>
              </a:rPr>
              <a:t>partitionEithers</a:t>
            </a:r>
            <a:r>
              <a:rPr lang="en-US" sz="2400" dirty="0">
                <a:latin typeface="Arial" panose="020B0604020202020204" pitchFamily="34" charset="0"/>
                <a:cs typeface="Arial" panose="020B0604020202020204" pitchFamily="34" charset="0"/>
              </a:rPr>
              <a:t> :: [Either a b] -&gt; ([a], [b])</a:t>
            </a:r>
          </a:p>
        </p:txBody>
      </p:sp>
    </p:spTree>
    <p:extLst>
      <p:ext uri="{BB962C8B-B14F-4D97-AF65-F5344CB8AC3E}">
        <p14:creationId xmlns:p14="http://schemas.microsoft.com/office/powerpoint/2010/main" val="3116059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E88C-7D91-A817-7FA5-E46A32E1A130}"/>
              </a:ext>
            </a:extLst>
          </p:cNvPr>
          <p:cNvSpPr>
            <a:spLocks noGrp="1"/>
          </p:cNvSpPr>
          <p:nvPr>
            <p:ph type="title"/>
          </p:nvPr>
        </p:nvSpPr>
        <p:spPr/>
        <p:txBody>
          <a:bodyPr/>
          <a:lstStyle/>
          <a:p>
            <a:r>
              <a:rPr lang="en-US" b="1" dirty="0"/>
              <a:t>Example with </a:t>
            </a:r>
            <a:r>
              <a:rPr lang="en-US" b="1" dirty="0" err="1"/>
              <a:t>partitionEithers</a:t>
            </a:r>
            <a:endParaRPr lang="en-US" b="1" dirty="0"/>
          </a:p>
        </p:txBody>
      </p:sp>
      <p:sp>
        <p:nvSpPr>
          <p:cNvPr id="3" name="Slide Number Placeholder 2">
            <a:extLst>
              <a:ext uri="{FF2B5EF4-FFF2-40B4-BE49-F238E27FC236}">
                <a16:creationId xmlns:a16="http://schemas.microsoft.com/office/drawing/2014/main" id="{738D1E01-26D1-1205-27B6-E9832E4011B5}"/>
              </a:ext>
            </a:extLst>
          </p:cNvPr>
          <p:cNvSpPr>
            <a:spLocks noGrp="1"/>
          </p:cNvSpPr>
          <p:nvPr>
            <p:ph type="sldNum" sz="quarter" idx="12"/>
          </p:nvPr>
        </p:nvSpPr>
        <p:spPr/>
        <p:txBody>
          <a:bodyPr/>
          <a:lstStyle/>
          <a:p>
            <a:pPr>
              <a:defRPr/>
            </a:pPr>
            <a:fld id="{D504839C-9BB7-BB4D-96E1-589D0E7BC0CF}" type="slidenum">
              <a:rPr lang="en-US" smtClean="0"/>
              <a:pPr>
                <a:defRPr/>
              </a:pPr>
              <a:t>14</a:t>
            </a:fld>
            <a:endParaRPr lang="en-US"/>
          </a:p>
        </p:txBody>
      </p:sp>
      <p:sp>
        <p:nvSpPr>
          <p:cNvPr id="5" name="TextBox 4">
            <a:extLst>
              <a:ext uri="{FF2B5EF4-FFF2-40B4-BE49-F238E27FC236}">
                <a16:creationId xmlns:a16="http://schemas.microsoft.com/office/drawing/2014/main" id="{811BF544-C877-48E8-DB38-1FE45E331418}"/>
              </a:ext>
            </a:extLst>
          </p:cNvPr>
          <p:cNvSpPr txBox="1"/>
          <p:nvPr/>
        </p:nvSpPr>
        <p:spPr>
          <a:xfrm>
            <a:off x="680320" y="2261122"/>
            <a:ext cx="8879315" cy="3170099"/>
          </a:xfrm>
          <a:prstGeom prst="rect">
            <a:avLst/>
          </a:prstGeom>
          <a:solidFill>
            <a:schemeClr val="bg2">
              <a:lumMod val="60000"/>
              <a:lumOff val="40000"/>
            </a:schemeClr>
          </a:solidFill>
        </p:spPr>
        <p:txBody>
          <a:bodyPr wrap="square">
            <a:spAutoFit/>
          </a:bodyPr>
          <a:lstStyle/>
          <a:p>
            <a:r>
              <a:rPr lang="en-US" sz="2000" dirty="0"/>
              <a:t>import </a:t>
            </a:r>
            <a:r>
              <a:rPr lang="en-US" sz="2000" dirty="0" err="1"/>
              <a:t>Data.Either</a:t>
            </a:r>
            <a:r>
              <a:rPr lang="en-US" sz="2000" dirty="0"/>
              <a:t> (</a:t>
            </a:r>
            <a:r>
              <a:rPr lang="en-US" sz="2000" dirty="0" err="1"/>
              <a:t>partitionEithers</a:t>
            </a:r>
            <a:r>
              <a:rPr lang="en-US" sz="2000" dirty="0"/>
              <a:t>)</a:t>
            </a:r>
          </a:p>
          <a:p>
            <a:endParaRPr lang="en-US" sz="2000" dirty="0"/>
          </a:p>
          <a:p>
            <a:r>
              <a:rPr lang="en-US" sz="2000" dirty="0" err="1"/>
              <a:t>exampleList</a:t>
            </a:r>
            <a:r>
              <a:rPr lang="en-US" sz="2000" dirty="0"/>
              <a:t> :: [Either String Int]</a:t>
            </a:r>
          </a:p>
          <a:p>
            <a:r>
              <a:rPr lang="en-US" sz="2000" dirty="0" err="1"/>
              <a:t>exampleList</a:t>
            </a:r>
            <a:r>
              <a:rPr lang="en-US" sz="2000" dirty="0"/>
              <a:t> = [Right 10, Left "Error A", Right 20, Left "Error B", Right 30]</a:t>
            </a:r>
          </a:p>
          <a:p>
            <a:endParaRPr lang="en-US" sz="2000" dirty="0"/>
          </a:p>
          <a:p>
            <a:r>
              <a:rPr lang="en-US" sz="2000" dirty="0"/>
              <a:t>main :: IO ()</a:t>
            </a:r>
          </a:p>
          <a:p>
            <a:r>
              <a:rPr lang="en-US" sz="2000" dirty="0"/>
              <a:t>main = do</a:t>
            </a:r>
          </a:p>
          <a:p>
            <a:r>
              <a:rPr lang="en-US" sz="2000" dirty="0"/>
              <a:t>    let (errors, results) = </a:t>
            </a:r>
            <a:r>
              <a:rPr lang="en-US" sz="2000" dirty="0" err="1"/>
              <a:t>partitionEithers</a:t>
            </a:r>
            <a:r>
              <a:rPr lang="en-US" sz="2000" dirty="0"/>
              <a:t> </a:t>
            </a:r>
            <a:r>
              <a:rPr lang="en-US" sz="2000" dirty="0" err="1"/>
              <a:t>exampleList</a:t>
            </a:r>
            <a:endParaRPr lang="en-US" sz="2000" dirty="0"/>
          </a:p>
          <a:p>
            <a:r>
              <a:rPr lang="en-US" sz="2000" dirty="0"/>
              <a:t>    print errors</a:t>
            </a:r>
          </a:p>
          <a:p>
            <a:r>
              <a:rPr lang="en-US" sz="2000" dirty="0"/>
              <a:t>    print results</a:t>
            </a:r>
          </a:p>
        </p:txBody>
      </p:sp>
      <p:sp>
        <p:nvSpPr>
          <p:cNvPr id="9" name="TextBox 8">
            <a:extLst>
              <a:ext uri="{FF2B5EF4-FFF2-40B4-BE49-F238E27FC236}">
                <a16:creationId xmlns:a16="http://schemas.microsoft.com/office/drawing/2014/main" id="{5C0FD0BA-1E77-5407-823D-2D1C14C51E00}"/>
              </a:ext>
            </a:extLst>
          </p:cNvPr>
          <p:cNvSpPr txBox="1"/>
          <p:nvPr/>
        </p:nvSpPr>
        <p:spPr>
          <a:xfrm>
            <a:off x="680320" y="6104772"/>
            <a:ext cx="6096000" cy="646331"/>
          </a:xfrm>
          <a:prstGeom prst="rect">
            <a:avLst/>
          </a:prstGeom>
          <a:solidFill>
            <a:schemeClr val="bg2">
              <a:lumMod val="60000"/>
              <a:lumOff val="40000"/>
            </a:schemeClr>
          </a:solidFill>
        </p:spPr>
        <p:txBody>
          <a:bodyPr wrap="square">
            <a:spAutoFit/>
          </a:bodyPr>
          <a:lstStyle/>
          <a:p>
            <a:r>
              <a:rPr lang="en-US" dirty="0"/>
              <a:t>["Error </a:t>
            </a:r>
            <a:r>
              <a:rPr lang="en-US" dirty="0" err="1"/>
              <a:t>A","Error</a:t>
            </a:r>
            <a:r>
              <a:rPr lang="en-US" dirty="0"/>
              <a:t> B"]</a:t>
            </a:r>
          </a:p>
          <a:p>
            <a:r>
              <a:rPr lang="en-US" dirty="0"/>
              <a:t>[10,20,30]</a:t>
            </a:r>
          </a:p>
        </p:txBody>
      </p:sp>
      <p:cxnSp>
        <p:nvCxnSpPr>
          <p:cNvPr id="11" name="Straight Arrow Connector 10">
            <a:extLst>
              <a:ext uri="{FF2B5EF4-FFF2-40B4-BE49-F238E27FC236}">
                <a16:creationId xmlns:a16="http://schemas.microsoft.com/office/drawing/2014/main" id="{B28F14C0-D2A0-8664-FACA-F9B77BEFB42D}"/>
              </a:ext>
            </a:extLst>
          </p:cNvPr>
          <p:cNvCxnSpPr/>
          <p:nvPr/>
        </p:nvCxnSpPr>
        <p:spPr>
          <a:xfrm>
            <a:off x="3505200" y="5431221"/>
            <a:ext cx="0" cy="673551"/>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25906D18-EB29-F89C-78D5-205D4BB712DF}"/>
              </a:ext>
            </a:extLst>
          </p:cNvPr>
          <p:cNvSpPr txBox="1"/>
          <p:nvPr/>
        </p:nvSpPr>
        <p:spPr>
          <a:xfrm>
            <a:off x="3728320" y="5555673"/>
            <a:ext cx="1591820" cy="369332"/>
          </a:xfrm>
          <a:prstGeom prst="rect">
            <a:avLst/>
          </a:prstGeom>
          <a:noFill/>
        </p:spPr>
        <p:txBody>
          <a:bodyPr wrap="square" rtlCol="0">
            <a:spAutoFit/>
          </a:bodyPr>
          <a:lstStyle/>
          <a:p>
            <a:r>
              <a:rPr lang="en-US" dirty="0"/>
              <a:t>Results in </a:t>
            </a:r>
          </a:p>
        </p:txBody>
      </p:sp>
    </p:spTree>
    <p:extLst>
      <p:ext uri="{BB962C8B-B14F-4D97-AF65-F5344CB8AC3E}">
        <p14:creationId xmlns:p14="http://schemas.microsoft.com/office/powerpoint/2010/main" val="48526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
        <p:nvSpPr>
          <p:cNvPr id="2662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53E3EFC6-490A-9444-B2FA-1F4C579B6E05}" type="slidenum">
              <a:rPr lang="en-US" sz="1400"/>
              <a:pPr/>
              <a:t>15</a:t>
            </a:fld>
            <a:endParaRPr lang="en-US" sz="1400"/>
          </a:p>
        </p:txBody>
      </p:sp>
      <p:sp>
        <p:nvSpPr>
          <p:cNvPr id="676867" name="Text Box 3"/>
          <p:cNvSpPr txBox="1">
            <a:spLocks noChangeArrowheads="1"/>
          </p:cNvSpPr>
          <p:nvPr/>
        </p:nvSpPr>
        <p:spPr bwMode="auto">
          <a:xfrm>
            <a:off x="1496837" y="2205729"/>
            <a:ext cx="8267700" cy="954107"/>
          </a:xfrm>
          <a:prstGeom prst="rect">
            <a:avLst/>
          </a:prstGeom>
          <a:noFill/>
          <a:ln>
            <a:noFill/>
          </a:ln>
          <a:effectLst/>
        </p:spPr>
        <p:txBody>
          <a:bodyPr anchor="ctr">
            <a:spAutoFit/>
          </a:bodyPr>
          <a:lstStyle/>
          <a:p>
            <a:pPr>
              <a:defRPr/>
            </a:pPr>
            <a:r>
              <a:rPr lang="en-US" sz="2800" dirty="0">
                <a:cs typeface="+mn-cs"/>
              </a:rPr>
              <a:t>In Haskell, new types can be declared in terms of themselves.  That is, types can be </a:t>
            </a:r>
            <a:r>
              <a:rPr lang="en-US" sz="2800" u="sng" dirty="0">
                <a:cs typeface="+mn-cs"/>
              </a:rPr>
              <a:t>recursive</a:t>
            </a:r>
            <a:r>
              <a:rPr lang="en-US" sz="2800" dirty="0">
                <a:cs typeface="+mn-cs"/>
              </a:rPr>
              <a:t>.</a:t>
            </a:r>
          </a:p>
        </p:txBody>
      </p:sp>
      <p:sp>
        <p:nvSpPr>
          <p:cNvPr id="676868" name="Text Box 4"/>
          <p:cNvSpPr txBox="1">
            <a:spLocks noChangeArrowheads="1"/>
          </p:cNvSpPr>
          <p:nvPr/>
        </p:nvSpPr>
        <p:spPr bwMode="auto">
          <a:xfrm>
            <a:off x="3121026" y="3672535"/>
            <a:ext cx="5019323"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Nat = Zero | </a:t>
            </a:r>
            <a:r>
              <a:rPr lang="en-US" sz="2400" dirty="0" err="1">
                <a:latin typeface="Lucida Sans Typewriter" charset="0"/>
                <a:cs typeface="+mn-cs"/>
              </a:rPr>
              <a:t>Succ</a:t>
            </a:r>
            <a:r>
              <a:rPr lang="en-US" sz="2400" dirty="0">
                <a:latin typeface="Lucida Sans Typewriter" charset="0"/>
                <a:cs typeface="+mn-cs"/>
              </a:rPr>
              <a:t> Nat</a:t>
            </a:r>
          </a:p>
        </p:txBody>
      </p:sp>
      <p:sp>
        <p:nvSpPr>
          <p:cNvPr id="676869" name="AutoShape 5"/>
          <p:cNvSpPr>
            <a:spLocks noChangeArrowheads="1"/>
          </p:cNvSpPr>
          <p:nvPr/>
        </p:nvSpPr>
        <p:spPr bwMode="auto">
          <a:xfrm>
            <a:off x="2550103" y="4920352"/>
            <a:ext cx="6437313" cy="1055608"/>
          </a:xfrm>
          <a:prstGeom prst="wedgeRoundRectCallout">
            <a:avLst>
              <a:gd name="adj1" fmla="val -21468"/>
              <a:gd name="adj2" fmla="val -128641"/>
              <a:gd name="adj3" fmla="val 16667"/>
            </a:avLst>
          </a:prstGeom>
          <a:solidFill>
            <a:srgbClr val="FFC000"/>
          </a:solidFill>
          <a:ln w="12700" cap="sq">
            <a:solidFill>
              <a:schemeClr val="tx1"/>
            </a:solidFill>
            <a:miter lim="800000"/>
            <a:headEnd/>
            <a:tailEnd/>
          </a:ln>
          <a:effectLst/>
        </p:spPr>
        <p:txBody>
          <a:bodyPr anchor="ctr">
            <a:spAutoFit/>
          </a:bodyPr>
          <a:lstStyle/>
          <a:p>
            <a:pPr algn="ctr">
              <a:defRPr/>
            </a:pPr>
            <a:r>
              <a:rPr lang="en-US" sz="2800" dirty="0">
                <a:cs typeface="+mn-cs"/>
              </a:rPr>
              <a:t>Nat is a new type, with constructors Zero :: Nat and </a:t>
            </a:r>
            <a:r>
              <a:rPr lang="en-US" sz="2800" dirty="0" err="1">
                <a:cs typeface="+mn-cs"/>
              </a:rPr>
              <a:t>Succ</a:t>
            </a:r>
            <a:r>
              <a:rPr lang="en-US" sz="2800" dirty="0">
                <a:cs typeface="+mn-cs"/>
              </a:rPr>
              <a:t> :: Nat </a:t>
            </a:r>
            <a:r>
              <a:rPr lang="en-US" sz="2800" dirty="0">
                <a:cs typeface="+mn-cs"/>
                <a:sym typeface="Symbol" charset="0"/>
              </a:rPr>
              <a:t></a:t>
            </a:r>
            <a:r>
              <a:rPr lang="en-US" sz="2800" dirty="0">
                <a:cs typeface="+mn-cs"/>
              </a:rPr>
              <a:t> Nat.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6868"/>
                                        </p:tgtEl>
                                        <p:attrNameLst>
                                          <p:attrName>style.visibility</p:attrName>
                                        </p:attrNameLst>
                                      </p:cBhvr>
                                      <p:to>
                                        <p:strVal val="visible"/>
                                      </p:to>
                                    </p:set>
                                    <p:anim calcmode="lin" valueType="num">
                                      <p:cBhvr additive="base">
                                        <p:cTn id="7" dur="500" fill="hold"/>
                                        <p:tgtEl>
                                          <p:spTgt spid="676868"/>
                                        </p:tgtEl>
                                        <p:attrNameLst>
                                          <p:attrName>ppt_x</p:attrName>
                                        </p:attrNameLst>
                                      </p:cBhvr>
                                      <p:tavLst>
                                        <p:tav tm="0">
                                          <p:val>
                                            <p:strVal val="#ppt_x"/>
                                          </p:val>
                                        </p:tav>
                                        <p:tav tm="100000">
                                          <p:val>
                                            <p:strVal val="#ppt_x"/>
                                          </p:val>
                                        </p:tav>
                                      </p:tavLst>
                                    </p:anim>
                                    <p:anim calcmode="lin" valueType="num">
                                      <p:cBhvr additive="base">
                                        <p:cTn id="8" dur="500" fill="hold"/>
                                        <p:tgtEl>
                                          <p:spTgt spid="6768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6869"/>
                                        </p:tgtEl>
                                        <p:attrNameLst>
                                          <p:attrName>style.visibility</p:attrName>
                                        </p:attrNameLst>
                                      </p:cBhvr>
                                      <p:to>
                                        <p:strVal val="visible"/>
                                      </p:to>
                                    </p:set>
                                    <p:anim calcmode="lin" valueType="num">
                                      <p:cBhvr additive="base">
                                        <p:cTn id="13" dur="500" fill="hold"/>
                                        <p:tgtEl>
                                          <p:spTgt spid="676869"/>
                                        </p:tgtEl>
                                        <p:attrNameLst>
                                          <p:attrName>ppt_x</p:attrName>
                                        </p:attrNameLst>
                                      </p:cBhvr>
                                      <p:tavLst>
                                        <p:tav tm="0">
                                          <p:val>
                                            <p:strVal val="#ppt_x"/>
                                          </p:val>
                                        </p:tav>
                                        <p:tav tm="100000">
                                          <p:val>
                                            <p:strVal val="#ppt_x"/>
                                          </p:val>
                                        </p:tav>
                                      </p:tavLst>
                                    </p:anim>
                                    <p:anim calcmode="lin" valueType="num">
                                      <p:cBhvr additive="base">
                                        <p:cTn id="14" dur="500" fill="hold"/>
                                        <p:tgtEl>
                                          <p:spTgt spid="6768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68" grpId="0" animBg="1"/>
      <p:bldP spid="67686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4FD84852-0A27-3D40-835F-1C73E3A2D96E}" type="slidenum">
              <a:rPr lang="en-US" sz="1400"/>
              <a:pPr/>
              <a:t>16</a:t>
            </a:fld>
            <a:endParaRPr lang="en-US" sz="1400"/>
          </a:p>
        </p:txBody>
      </p:sp>
      <p:sp>
        <p:nvSpPr>
          <p:cNvPr id="685058" name="Text Box 2"/>
          <p:cNvSpPr txBox="1">
            <a:spLocks noChangeArrowheads="1"/>
          </p:cNvSpPr>
          <p:nvPr/>
        </p:nvSpPr>
        <p:spPr bwMode="auto">
          <a:xfrm>
            <a:off x="0" y="1986899"/>
            <a:ext cx="1075936" cy="523220"/>
          </a:xfrm>
          <a:prstGeom prst="rect">
            <a:avLst/>
          </a:prstGeom>
          <a:noFill/>
          <a:ln>
            <a:noFill/>
          </a:ln>
          <a:effectLst/>
        </p:spPr>
        <p:txBody>
          <a:bodyPr wrap="none" anchor="ctr">
            <a:spAutoFit/>
          </a:bodyPr>
          <a:lstStyle/>
          <a:p>
            <a:pPr>
              <a:defRPr/>
            </a:pPr>
            <a:r>
              <a:rPr lang="en-US" sz="2800" dirty="0">
                <a:cs typeface="+mn-cs"/>
              </a:rPr>
              <a:t>Note:</a:t>
            </a:r>
          </a:p>
        </p:txBody>
      </p:sp>
      <p:sp>
        <p:nvSpPr>
          <p:cNvPr id="27651" name="Rectangle 3"/>
          <p:cNvSpPr>
            <a:spLocks noChangeArrowheads="1"/>
          </p:cNvSpPr>
          <p:nvPr/>
        </p:nvSpPr>
        <p:spPr bwMode="auto">
          <a:xfrm>
            <a:off x="1276632" y="2093574"/>
            <a:ext cx="10170391" cy="1477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A value of type Nat is either Zero, or of the form </a:t>
            </a:r>
            <a:r>
              <a:rPr kumimoji="1" lang="en-US" sz="2800" dirty="0" err="1"/>
              <a:t>Succ</a:t>
            </a:r>
            <a:r>
              <a:rPr kumimoji="1" lang="en-US" sz="2800" dirty="0"/>
              <a:t> n where n :: Nat.  That is, Nat contains the following infinite sequence of values:</a:t>
            </a:r>
          </a:p>
        </p:txBody>
      </p:sp>
      <p:sp>
        <p:nvSpPr>
          <p:cNvPr id="685060" name="Text Box 4"/>
          <p:cNvSpPr txBox="1">
            <a:spLocks noChangeArrowheads="1"/>
          </p:cNvSpPr>
          <p:nvPr/>
        </p:nvSpPr>
        <p:spPr bwMode="auto">
          <a:xfrm>
            <a:off x="3201989" y="3786621"/>
            <a:ext cx="928459" cy="463845"/>
          </a:xfrm>
          <a:prstGeom prst="rect">
            <a:avLst/>
          </a:prstGeom>
          <a:solidFill>
            <a:schemeClr val="accent1"/>
          </a:solidFill>
          <a:ln>
            <a:noFill/>
          </a:ln>
          <a:effectLst/>
        </p:spPr>
        <p:txBody>
          <a:bodyPr wrap="none" anchor="ctr">
            <a:spAutoFit/>
          </a:bodyPr>
          <a:lstStyle/>
          <a:p>
            <a:pPr>
              <a:lnSpc>
                <a:spcPct val="110000"/>
              </a:lnSpc>
              <a:defRPr/>
            </a:pPr>
            <a:r>
              <a:rPr lang="en-US" sz="2400">
                <a:latin typeface="Lucida Sans Typewriter" charset="0"/>
                <a:cs typeface="+mn-cs"/>
              </a:rPr>
              <a:t>Zero</a:t>
            </a:r>
          </a:p>
        </p:txBody>
      </p:sp>
      <p:sp>
        <p:nvSpPr>
          <p:cNvPr id="685061" name="Text Box 5"/>
          <p:cNvSpPr txBox="1">
            <a:spLocks noChangeArrowheads="1"/>
          </p:cNvSpPr>
          <p:nvPr/>
        </p:nvSpPr>
        <p:spPr bwMode="auto">
          <a:xfrm>
            <a:off x="3201989" y="4599421"/>
            <a:ext cx="1858201" cy="463845"/>
          </a:xfrm>
          <a:prstGeom prst="rect">
            <a:avLst/>
          </a:prstGeom>
          <a:solidFill>
            <a:schemeClr val="accent1"/>
          </a:solidFill>
          <a:ln>
            <a:noFill/>
          </a:ln>
          <a:effectLst/>
        </p:spPr>
        <p:txBody>
          <a:bodyPr wrap="none" anchor="ctr">
            <a:spAutoFit/>
          </a:bodyPr>
          <a:lstStyle/>
          <a:p>
            <a:pPr>
              <a:lnSpc>
                <a:spcPct val="110000"/>
              </a:lnSpc>
              <a:defRPr/>
            </a:pPr>
            <a:r>
              <a:rPr lang="en-US" sz="2400" dirty="0" err="1">
                <a:latin typeface="Lucida Sans Typewriter" charset="0"/>
                <a:cs typeface="+mn-cs"/>
              </a:rPr>
              <a:t>Succ</a:t>
            </a:r>
            <a:r>
              <a:rPr lang="en-US" sz="2400" dirty="0">
                <a:latin typeface="Lucida Sans Typewriter" charset="0"/>
                <a:cs typeface="+mn-cs"/>
              </a:rPr>
              <a:t> Zero</a:t>
            </a:r>
          </a:p>
        </p:txBody>
      </p:sp>
      <p:sp>
        <p:nvSpPr>
          <p:cNvPr id="685062" name="Text Box 6"/>
          <p:cNvSpPr txBox="1">
            <a:spLocks noChangeArrowheads="1"/>
          </p:cNvSpPr>
          <p:nvPr/>
        </p:nvSpPr>
        <p:spPr bwMode="auto">
          <a:xfrm>
            <a:off x="3201989" y="5412221"/>
            <a:ext cx="3159839" cy="463845"/>
          </a:xfrm>
          <a:prstGeom prst="rect">
            <a:avLst/>
          </a:prstGeom>
          <a:solidFill>
            <a:schemeClr val="accent1"/>
          </a:solidFill>
          <a:ln>
            <a:noFill/>
          </a:ln>
          <a:effectLst/>
        </p:spPr>
        <p:txBody>
          <a:bodyPr wrap="none" anchor="ctr">
            <a:spAutoFit/>
          </a:bodyPr>
          <a:lstStyle/>
          <a:p>
            <a:pPr>
              <a:lnSpc>
                <a:spcPct val="110000"/>
              </a:lnSpc>
              <a:defRPr/>
            </a:pPr>
            <a:r>
              <a:rPr lang="en-US" sz="2400">
                <a:latin typeface="Lucida Sans Typewriter" charset="0"/>
                <a:cs typeface="+mn-cs"/>
              </a:rPr>
              <a:t>Succ (Succ Zero)</a:t>
            </a:r>
          </a:p>
        </p:txBody>
      </p:sp>
      <p:grpSp>
        <p:nvGrpSpPr>
          <p:cNvPr id="2" name="Group 18"/>
          <p:cNvGrpSpPr>
            <a:grpSpLocks/>
          </p:cNvGrpSpPr>
          <p:nvPr/>
        </p:nvGrpSpPr>
        <p:grpSpPr bwMode="auto">
          <a:xfrm>
            <a:off x="3141663" y="6135474"/>
            <a:ext cx="266700" cy="609600"/>
            <a:chOff x="1062" y="3676"/>
            <a:chExt cx="168" cy="384"/>
          </a:xfrm>
        </p:grpSpPr>
        <p:sp>
          <p:nvSpPr>
            <p:cNvPr id="27656" name="Text Box 14"/>
            <p:cNvSpPr txBox="1">
              <a:spLocks noChangeArrowheads="1"/>
            </p:cNvSpPr>
            <p:nvPr/>
          </p:nvSpPr>
          <p:spPr bwMode="auto">
            <a:xfrm>
              <a:off x="1062" y="3676"/>
              <a:ext cx="16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algn="ctr"/>
              <a:r>
                <a:rPr lang="en-US" sz="1400">
                  <a:sym typeface="Symbol" charset="0"/>
                </a:rPr>
                <a:t></a:t>
              </a:r>
              <a:endParaRPr lang="en-US" sz="1400"/>
            </a:p>
          </p:txBody>
        </p:sp>
        <p:sp>
          <p:nvSpPr>
            <p:cNvPr id="27657" name="Text Box 15"/>
            <p:cNvSpPr txBox="1">
              <a:spLocks noChangeArrowheads="1"/>
            </p:cNvSpPr>
            <p:nvPr/>
          </p:nvSpPr>
          <p:spPr bwMode="auto">
            <a:xfrm>
              <a:off x="1062" y="3772"/>
              <a:ext cx="16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algn="ctr"/>
              <a:r>
                <a:rPr lang="en-US" sz="1400">
                  <a:sym typeface="Symbol" charset="0"/>
                </a:rPr>
                <a:t></a:t>
              </a:r>
              <a:endParaRPr lang="en-US" sz="1400"/>
            </a:p>
          </p:txBody>
        </p:sp>
        <p:sp>
          <p:nvSpPr>
            <p:cNvPr id="27658" name="Text Box 16"/>
            <p:cNvSpPr txBox="1">
              <a:spLocks noChangeArrowheads="1"/>
            </p:cNvSpPr>
            <p:nvPr/>
          </p:nvSpPr>
          <p:spPr bwMode="auto">
            <a:xfrm>
              <a:off x="1062" y="3868"/>
              <a:ext cx="168"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algn="ctr"/>
              <a:r>
                <a:rPr lang="en-US" sz="1400">
                  <a:sym typeface="Symbol" charset="0"/>
                </a:rPr>
                <a:t></a:t>
              </a:r>
              <a:endParaRPr lang="en-US" sz="1400"/>
            </a:p>
          </p:txBody>
        </p:sp>
      </p:grpSp>
      <p:sp>
        <p:nvSpPr>
          <p:cNvPr id="4" name="Rectangle 2">
            <a:extLst>
              <a:ext uri="{FF2B5EF4-FFF2-40B4-BE49-F238E27FC236}">
                <a16:creationId xmlns:a16="http://schemas.microsoft.com/office/drawing/2014/main" id="{3EF57979-2E07-F038-F1DF-00EEC9DBC775}"/>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5060"/>
                                        </p:tgtEl>
                                        <p:attrNameLst>
                                          <p:attrName>style.visibility</p:attrName>
                                        </p:attrNameLst>
                                      </p:cBhvr>
                                      <p:to>
                                        <p:strVal val="visible"/>
                                      </p:to>
                                    </p:set>
                                    <p:animEffect transition="in" filter="wipe(left)">
                                      <p:cBhvr>
                                        <p:cTn id="7" dur="500"/>
                                        <p:tgtEl>
                                          <p:spTgt spid="685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5061"/>
                                        </p:tgtEl>
                                        <p:attrNameLst>
                                          <p:attrName>style.visibility</p:attrName>
                                        </p:attrNameLst>
                                      </p:cBhvr>
                                      <p:to>
                                        <p:strVal val="visible"/>
                                      </p:to>
                                    </p:set>
                                    <p:animEffect transition="in" filter="wipe(left)">
                                      <p:cBhvr>
                                        <p:cTn id="12" dur="500"/>
                                        <p:tgtEl>
                                          <p:spTgt spid="6850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5062"/>
                                        </p:tgtEl>
                                        <p:attrNameLst>
                                          <p:attrName>style.visibility</p:attrName>
                                        </p:attrNameLst>
                                      </p:cBhvr>
                                      <p:to>
                                        <p:strVal val="visible"/>
                                      </p:to>
                                    </p:set>
                                    <p:animEffect transition="in" filter="wipe(left)">
                                      <p:cBhvr>
                                        <p:cTn id="17" dur="500"/>
                                        <p:tgtEl>
                                          <p:spTgt spid="6850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60" grpId="0" animBg="1" autoUpdateAnimBg="0"/>
      <p:bldP spid="685061" grpId="0" animBg="1" autoUpdateAnimBg="0"/>
      <p:bldP spid="68506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28350EE5-47E0-9148-97C1-D60853518B83}" type="slidenum">
              <a:rPr lang="en-US" sz="1400"/>
              <a:pPr/>
              <a:t>17</a:t>
            </a:fld>
            <a:endParaRPr lang="en-US" sz="1400"/>
          </a:p>
        </p:txBody>
      </p:sp>
      <p:sp>
        <p:nvSpPr>
          <p:cNvPr id="28674" name="Rectangle 2"/>
          <p:cNvSpPr>
            <a:spLocks noChangeArrowheads="1"/>
          </p:cNvSpPr>
          <p:nvPr/>
        </p:nvSpPr>
        <p:spPr bwMode="auto">
          <a:xfrm>
            <a:off x="614683" y="1930923"/>
            <a:ext cx="8156575" cy="2452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We can think of values of type Nat as </a:t>
            </a:r>
            <a:r>
              <a:rPr kumimoji="1" lang="en-US" sz="2800" u="sng" dirty="0"/>
              <a:t>natural numbers</a:t>
            </a:r>
            <a:r>
              <a:rPr kumimoji="1" lang="en-US" sz="2800" dirty="0"/>
              <a:t>, where Zero represents 0, and </a:t>
            </a:r>
            <a:r>
              <a:rPr kumimoji="1" lang="en-US" sz="2800" dirty="0" err="1"/>
              <a:t>Succ</a:t>
            </a:r>
            <a:r>
              <a:rPr kumimoji="1" lang="en-US" sz="2800" dirty="0"/>
              <a:t> represents the successor function (1+)</a:t>
            </a:r>
          </a:p>
          <a:p>
            <a:pPr marL="457200" indent="-457200">
              <a:spcBef>
                <a:spcPct val="20000"/>
              </a:spcBef>
              <a:buClr>
                <a:schemeClr val="accent2"/>
              </a:buClr>
              <a:buFont typeface="Wingdings" panose="05000000000000000000" pitchFamily="2" charset="2"/>
              <a:buChar char="q"/>
            </a:pPr>
            <a:endParaRPr kumimoji="1" lang="en-US" sz="2800" dirty="0"/>
          </a:p>
          <a:p>
            <a:pPr marL="457200" indent="-457200">
              <a:spcBef>
                <a:spcPct val="20000"/>
              </a:spcBef>
              <a:buClr>
                <a:schemeClr val="accent2"/>
              </a:buClr>
              <a:buFont typeface="Wingdings" panose="05000000000000000000" pitchFamily="2" charset="2"/>
              <a:buChar char="q"/>
            </a:pPr>
            <a:r>
              <a:rPr kumimoji="1" lang="en-US" sz="2800" dirty="0"/>
              <a:t>For example, the value</a:t>
            </a:r>
          </a:p>
        </p:txBody>
      </p:sp>
      <p:sp>
        <p:nvSpPr>
          <p:cNvPr id="687129" name="Text Box 25"/>
          <p:cNvSpPr txBox="1">
            <a:spLocks noChangeArrowheads="1"/>
          </p:cNvSpPr>
          <p:nvPr/>
        </p:nvSpPr>
        <p:spPr bwMode="auto">
          <a:xfrm>
            <a:off x="2951355" y="4456828"/>
            <a:ext cx="4461478" cy="463845"/>
          </a:xfrm>
          <a:prstGeom prst="rect">
            <a:avLst/>
          </a:prstGeom>
          <a:solidFill>
            <a:schemeClr val="accent1"/>
          </a:solidFill>
          <a:ln>
            <a:noFill/>
          </a:ln>
          <a:effectLst/>
        </p:spPr>
        <p:txBody>
          <a:bodyPr wrap="none" anchor="ctr">
            <a:spAutoFit/>
          </a:bodyPr>
          <a:lstStyle/>
          <a:p>
            <a:pPr>
              <a:lnSpc>
                <a:spcPct val="110000"/>
              </a:lnSpc>
              <a:defRPr/>
            </a:pPr>
            <a:r>
              <a:rPr lang="en-US" sz="2400" dirty="0" err="1">
                <a:latin typeface="Lucida Sans Typewriter" charset="0"/>
                <a:cs typeface="+mn-cs"/>
              </a:rPr>
              <a:t>Succ</a:t>
            </a:r>
            <a:r>
              <a:rPr lang="en-US" sz="2400" dirty="0">
                <a:latin typeface="Lucida Sans Typewriter" charset="0"/>
                <a:cs typeface="+mn-cs"/>
              </a:rPr>
              <a:t> (</a:t>
            </a:r>
            <a:r>
              <a:rPr lang="en-US" sz="2400" dirty="0" err="1">
                <a:latin typeface="Lucida Sans Typewriter" charset="0"/>
                <a:cs typeface="+mn-cs"/>
              </a:rPr>
              <a:t>Succ</a:t>
            </a:r>
            <a:r>
              <a:rPr lang="en-US" sz="2400" dirty="0">
                <a:latin typeface="Lucida Sans Typewriter" charset="0"/>
                <a:cs typeface="+mn-cs"/>
              </a:rPr>
              <a:t> (</a:t>
            </a:r>
            <a:r>
              <a:rPr lang="en-US" sz="2400" dirty="0" err="1">
                <a:latin typeface="Lucida Sans Typewriter" charset="0"/>
                <a:cs typeface="+mn-cs"/>
              </a:rPr>
              <a:t>Succ</a:t>
            </a:r>
            <a:r>
              <a:rPr lang="en-US" sz="2400" dirty="0">
                <a:latin typeface="Lucida Sans Typewriter" charset="0"/>
                <a:cs typeface="+mn-cs"/>
              </a:rPr>
              <a:t> Zero))</a:t>
            </a:r>
          </a:p>
        </p:txBody>
      </p:sp>
      <p:sp>
        <p:nvSpPr>
          <p:cNvPr id="687132" name="Text Box 28"/>
          <p:cNvSpPr txBox="1">
            <a:spLocks noChangeArrowheads="1"/>
          </p:cNvSpPr>
          <p:nvPr/>
        </p:nvSpPr>
        <p:spPr bwMode="auto">
          <a:xfrm>
            <a:off x="977291" y="5273175"/>
            <a:ext cx="5118709" cy="523220"/>
          </a:xfrm>
          <a:prstGeom prst="rect">
            <a:avLst/>
          </a:prstGeom>
          <a:noFill/>
          <a:ln>
            <a:noFill/>
          </a:ln>
          <a:effectLst/>
        </p:spPr>
        <p:txBody>
          <a:bodyPr wrap="none" anchor="ctr">
            <a:spAutoFit/>
          </a:bodyPr>
          <a:lstStyle/>
          <a:p>
            <a:pPr>
              <a:defRPr/>
            </a:pPr>
            <a:r>
              <a:rPr lang="en-US" sz="2800" dirty="0">
                <a:cs typeface="+mn-cs"/>
              </a:rPr>
              <a:t>represents the natural number</a:t>
            </a:r>
          </a:p>
        </p:txBody>
      </p:sp>
      <p:grpSp>
        <p:nvGrpSpPr>
          <p:cNvPr id="28677" name="Group 33"/>
          <p:cNvGrpSpPr>
            <a:grpSpLocks/>
          </p:cNvGrpSpPr>
          <p:nvPr/>
        </p:nvGrpSpPr>
        <p:grpSpPr bwMode="auto">
          <a:xfrm>
            <a:off x="3218162" y="6243387"/>
            <a:ext cx="4406901" cy="519113"/>
            <a:chOff x="1086" y="3508"/>
            <a:chExt cx="2776" cy="327"/>
          </a:xfrm>
        </p:grpSpPr>
        <p:sp>
          <p:nvSpPr>
            <p:cNvPr id="687133" name="Text Box 29"/>
            <p:cNvSpPr txBox="1">
              <a:spLocks noChangeArrowheads="1"/>
            </p:cNvSpPr>
            <p:nvPr/>
          </p:nvSpPr>
          <p:spPr bwMode="auto">
            <a:xfrm>
              <a:off x="1086" y="3525"/>
              <a:ext cx="2108" cy="292"/>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1 + (1 + (1 + 0))</a:t>
              </a:r>
            </a:p>
          </p:txBody>
        </p:sp>
        <p:sp>
          <p:nvSpPr>
            <p:cNvPr id="687134" name="Text Box 30"/>
            <p:cNvSpPr txBox="1">
              <a:spLocks noChangeArrowheads="1"/>
            </p:cNvSpPr>
            <p:nvPr/>
          </p:nvSpPr>
          <p:spPr bwMode="auto">
            <a:xfrm>
              <a:off x="3629" y="3525"/>
              <a:ext cx="233" cy="292"/>
            </a:xfrm>
            <a:prstGeom prst="rect">
              <a:avLst/>
            </a:prstGeom>
            <a:solidFill>
              <a:schemeClr val="accent1"/>
            </a:solidFill>
            <a:ln>
              <a:noFill/>
            </a:ln>
            <a:effectLst/>
          </p:spPr>
          <p:txBody>
            <a:bodyPr wrap="none" anchor="ctr">
              <a:spAutoFit/>
            </a:bodyPr>
            <a:lstStyle/>
            <a:p>
              <a:pPr>
                <a:lnSpc>
                  <a:spcPct val="110000"/>
                </a:lnSpc>
                <a:defRPr/>
              </a:pPr>
              <a:r>
                <a:rPr lang="en-US" sz="2400">
                  <a:latin typeface="Lucida Sans Typewriter" charset="0"/>
                  <a:cs typeface="+mn-cs"/>
                </a:rPr>
                <a:t>3</a:t>
              </a:r>
            </a:p>
          </p:txBody>
        </p:sp>
        <p:sp>
          <p:nvSpPr>
            <p:cNvPr id="687136" name="Text Box 32"/>
            <p:cNvSpPr txBox="1">
              <a:spLocks noChangeArrowheads="1"/>
            </p:cNvSpPr>
            <p:nvPr/>
          </p:nvSpPr>
          <p:spPr bwMode="auto">
            <a:xfrm>
              <a:off x="3251" y="3508"/>
              <a:ext cx="279" cy="327"/>
            </a:xfrm>
            <a:prstGeom prst="rect">
              <a:avLst/>
            </a:prstGeom>
            <a:noFill/>
            <a:ln>
              <a:noFill/>
            </a:ln>
            <a:effectLst/>
          </p:spPr>
          <p:txBody>
            <a:bodyPr wrap="none" anchor="ctr">
              <a:spAutoFit/>
            </a:bodyPr>
            <a:lstStyle/>
            <a:p>
              <a:pPr algn="ctr">
                <a:defRPr/>
              </a:pPr>
              <a:r>
                <a:rPr lang="en-US">
                  <a:cs typeface="+mn-cs"/>
                </a:rPr>
                <a:t>=</a:t>
              </a:r>
            </a:p>
          </p:txBody>
        </p:sp>
      </p:grpSp>
      <p:sp>
        <p:nvSpPr>
          <p:cNvPr id="3" name="Rectangle 2">
            <a:extLst>
              <a:ext uri="{FF2B5EF4-FFF2-40B4-BE49-F238E27FC236}">
                <a16:creationId xmlns:a16="http://schemas.microsoft.com/office/drawing/2014/main" id="{45E72CE7-D04B-E42A-CAD7-62B121DBA6B2}"/>
              </a:ext>
            </a:extLst>
          </p:cNvPr>
          <p:cNvSpPr txBox="1">
            <a:spLocks noChangeArrowheads="1"/>
          </p:cNvSpPr>
          <p:nvPr/>
        </p:nvSpPr>
        <p:spPr>
          <a:xfrm>
            <a:off x="614683" y="651457"/>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4">
                                            <p:txEl>
                                              <p:pRg st="2" end="2"/>
                                            </p:txEl>
                                          </p:spTgt>
                                        </p:tgtEl>
                                        <p:attrNameLst>
                                          <p:attrName>style.visibility</p:attrName>
                                        </p:attrNameLst>
                                      </p:cBhvr>
                                      <p:to>
                                        <p:strVal val="visible"/>
                                      </p:to>
                                    </p:set>
                                    <p:anim calcmode="lin" valueType="num">
                                      <p:cBhvr additive="base">
                                        <p:cTn id="7" dur="5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87129"/>
                                        </p:tgtEl>
                                        <p:attrNameLst>
                                          <p:attrName>style.visibility</p:attrName>
                                        </p:attrNameLst>
                                      </p:cBhvr>
                                      <p:to>
                                        <p:strVal val="visible"/>
                                      </p:to>
                                    </p:set>
                                    <p:anim calcmode="lin" valueType="num">
                                      <p:cBhvr additive="base">
                                        <p:cTn id="11" dur="500" fill="hold"/>
                                        <p:tgtEl>
                                          <p:spTgt spid="687129"/>
                                        </p:tgtEl>
                                        <p:attrNameLst>
                                          <p:attrName>ppt_x</p:attrName>
                                        </p:attrNameLst>
                                      </p:cBhvr>
                                      <p:tavLst>
                                        <p:tav tm="0">
                                          <p:val>
                                            <p:strVal val="#ppt_x"/>
                                          </p:val>
                                        </p:tav>
                                        <p:tav tm="100000">
                                          <p:val>
                                            <p:strVal val="#ppt_x"/>
                                          </p:val>
                                        </p:tav>
                                      </p:tavLst>
                                    </p:anim>
                                    <p:anim calcmode="lin" valueType="num">
                                      <p:cBhvr additive="base">
                                        <p:cTn id="12" dur="500" fill="hold"/>
                                        <p:tgtEl>
                                          <p:spTgt spid="68712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87132"/>
                                        </p:tgtEl>
                                        <p:attrNameLst>
                                          <p:attrName>style.visibility</p:attrName>
                                        </p:attrNameLst>
                                      </p:cBhvr>
                                      <p:to>
                                        <p:strVal val="visible"/>
                                      </p:to>
                                    </p:set>
                                    <p:anim calcmode="lin" valueType="num">
                                      <p:cBhvr additive="base">
                                        <p:cTn id="17" dur="500" fill="hold"/>
                                        <p:tgtEl>
                                          <p:spTgt spid="687132"/>
                                        </p:tgtEl>
                                        <p:attrNameLst>
                                          <p:attrName>ppt_x</p:attrName>
                                        </p:attrNameLst>
                                      </p:cBhvr>
                                      <p:tavLst>
                                        <p:tav tm="0">
                                          <p:val>
                                            <p:strVal val="#ppt_x"/>
                                          </p:val>
                                        </p:tav>
                                        <p:tav tm="100000">
                                          <p:val>
                                            <p:strVal val="#ppt_x"/>
                                          </p:val>
                                        </p:tav>
                                      </p:tavLst>
                                    </p:anim>
                                    <p:anim calcmode="lin" valueType="num">
                                      <p:cBhvr additive="base">
                                        <p:cTn id="18" dur="500" fill="hold"/>
                                        <p:tgtEl>
                                          <p:spTgt spid="68713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8677"/>
                                        </p:tgtEl>
                                        <p:attrNameLst>
                                          <p:attrName>style.visibility</p:attrName>
                                        </p:attrNameLst>
                                      </p:cBhvr>
                                      <p:to>
                                        <p:strVal val="visible"/>
                                      </p:to>
                                    </p:set>
                                    <p:anim calcmode="lin" valueType="num">
                                      <p:cBhvr additive="base">
                                        <p:cTn id="23" dur="500" fill="hold"/>
                                        <p:tgtEl>
                                          <p:spTgt spid="28677"/>
                                        </p:tgtEl>
                                        <p:attrNameLst>
                                          <p:attrName>ppt_x</p:attrName>
                                        </p:attrNameLst>
                                      </p:cBhvr>
                                      <p:tavLst>
                                        <p:tav tm="0">
                                          <p:val>
                                            <p:strVal val="#ppt_x"/>
                                          </p:val>
                                        </p:tav>
                                        <p:tav tm="100000">
                                          <p:val>
                                            <p:strVal val="#ppt_x"/>
                                          </p:val>
                                        </p:tav>
                                      </p:tavLst>
                                    </p:anim>
                                    <p:anim calcmode="lin" valueType="num">
                                      <p:cBhvr additive="base">
                                        <p:cTn id="24"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29" grpId="0" animBg="1"/>
      <p:bldP spid="6871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8096EA7B-C6C2-FB43-990A-7B935FB6FDC0}" type="slidenum">
              <a:rPr lang="en-US" sz="1400"/>
              <a:pPr/>
              <a:t>18</a:t>
            </a:fld>
            <a:endParaRPr lang="en-US" sz="1400"/>
          </a:p>
        </p:txBody>
      </p:sp>
      <p:sp>
        <p:nvSpPr>
          <p:cNvPr id="688130" name="Text Box 2"/>
          <p:cNvSpPr txBox="1">
            <a:spLocks noChangeArrowheads="1"/>
          </p:cNvSpPr>
          <p:nvPr/>
        </p:nvSpPr>
        <p:spPr bwMode="auto">
          <a:xfrm>
            <a:off x="703844" y="2029920"/>
            <a:ext cx="9659359" cy="946150"/>
          </a:xfrm>
          <a:prstGeom prst="rect">
            <a:avLst/>
          </a:prstGeom>
          <a:noFill/>
          <a:ln>
            <a:noFill/>
          </a:ln>
          <a:effectLst/>
        </p:spPr>
        <p:txBody>
          <a:bodyPr wrap="square" anchor="ctr">
            <a:spAutoFit/>
          </a:bodyPr>
          <a:lstStyle/>
          <a:p>
            <a:pPr>
              <a:defRPr/>
            </a:pPr>
            <a:r>
              <a:rPr lang="en-US" sz="2800" dirty="0">
                <a:cs typeface="+mn-cs"/>
              </a:rPr>
              <a:t>Using recursion, it is easy to define functions that convert between values of type Nat and Int:</a:t>
            </a:r>
          </a:p>
        </p:txBody>
      </p:sp>
      <p:sp>
        <p:nvSpPr>
          <p:cNvPr id="688131" name="Text Box 3"/>
          <p:cNvSpPr txBox="1">
            <a:spLocks noChangeArrowheads="1"/>
          </p:cNvSpPr>
          <p:nvPr/>
        </p:nvSpPr>
        <p:spPr bwMode="auto">
          <a:xfrm>
            <a:off x="2655887" y="3171825"/>
            <a:ext cx="6303962" cy="3686175"/>
          </a:xfrm>
          <a:prstGeom prst="rect">
            <a:avLst/>
          </a:prstGeom>
          <a:solidFill>
            <a:schemeClr val="accent1"/>
          </a:solidFill>
          <a:ln>
            <a:noFill/>
          </a:ln>
          <a:effectLst/>
        </p:spPr>
        <p:txBody>
          <a:bodyPr wrap="none" anchor="ctr">
            <a:spAutoFit/>
          </a:bodyPr>
          <a:lstStyle/>
          <a:p>
            <a:pPr>
              <a:lnSpc>
                <a:spcPct val="140000"/>
              </a:lnSpc>
              <a:defRPr/>
            </a:pPr>
            <a:r>
              <a:rPr lang="en-US" sz="2400" dirty="0">
                <a:latin typeface="Lucida Sans Typewriter" charset="0"/>
                <a:cs typeface="+mn-cs"/>
              </a:rPr>
              <a:t>nat2int :: Nat </a:t>
            </a:r>
            <a:r>
              <a:rPr lang="en-US" sz="2400" dirty="0">
                <a:latin typeface="Lucida Sans Typewriter" charset="0"/>
                <a:cs typeface="+mn-cs"/>
                <a:sym typeface="Symbol" charset="0"/>
              </a:rPr>
              <a:t></a:t>
            </a:r>
            <a:r>
              <a:rPr lang="en-US" sz="2400" dirty="0">
                <a:latin typeface="Lucida Sans Typewriter" charset="0"/>
                <a:cs typeface="+mn-cs"/>
              </a:rPr>
              <a:t> </a:t>
            </a:r>
            <a:r>
              <a:rPr lang="en-US" sz="2400" dirty="0" err="1">
                <a:latin typeface="Lucida Sans Typewriter" charset="0"/>
                <a:cs typeface="+mn-cs"/>
              </a:rPr>
              <a:t>Int</a:t>
            </a:r>
            <a:endParaRPr lang="en-US" sz="2400" dirty="0">
              <a:latin typeface="Lucida Sans Typewriter" charset="0"/>
              <a:cs typeface="+mn-cs"/>
            </a:endParaRPr>
          </a:p>
          <a:p>
            <a:pPr>
              <a:lnSpc>
                <a:spcPct val="140000"/>
              </a:lnSpc>
              <a:defRPr/>
            </a:pPr>
            <a:r>
              <a:rPr lang="en-US" sz="2400" dirty="0">
                <a:latin typeface="Lucida Sans Typewriter" charset="0"/>
                <a:cs typeface="+mn-cs"/>
              </a:rPr>
              <a:t>nat2int Zero     = 0</a:t>
            </a:r>
          </a:p>
          <a:p>
            <a:pPr>
              <a:lnSpc>
                <a:spcPct val="140000"/>
              </a:lnSpc>
              <a:defRPr/>
            </a:pPr>
            <a:r>
              <a:rPr lang="en-US" sz="2400" dirty="0">
                <a:latin typeface="Lucida Sans Typewriter" charset="0"/>
                <a:cs typeface="+mn-cs"/>
              </a:rPr>
              <a:t>nat2int (</a:t>
            </a:r>
            <a:r>
              <a:rPr lang="en-US" sz="2400" dirty="0" err="1">
                <a:latin typeface="Lucida Sans Typewriter" charset="0"/>
                <a:cs typeface="+mn-cs"/>
              </a:rPr>
              <a:t>Succ</a:t>
            </a:r>
            <a:r>
              <a:rPr lang="en-US" sz="2400" dirty="0">
                <a:latin typeface="Lucida Sans Typewriter" charset="0"/>
                <a:cs typeface="+mn-cs"/>
              </a:rPr>
              <a:t> n) = 1 + nat2int n</a:t>
            </a:r>
          </a:p>
          <a:p>
            <a:pPr>
              <a:lnSpc>
                <a:spcPct val="140000"/>
              </a:lnSpc>
              <a:defRPr/>
            </a:pPr>
            <a:endParaRPr lang="en-US" sz="2400" dirty="0">
              <a:latin typeface="Lucida Sans Typewriter" charset="0"/>
              <a:cs typeface="+mn-cs"/>
            </a:endParaRPr>
          </a:p>
          <a:p>
            <a:pPr>
              <a:lnSpc>
                <a:spcPct val="140000"/>
              </a:lnSpc>
              <a:defRPr/>
            </a:pPr>
            <a:r>
              <a:rPr lang="en-US" sz="2400" dirty="0">
                <a:latin typeface="Lucida Sans Typewriter" charset="0"/>
                <a:cs typeface="+mn-cs"/>
              </a:rPr>
              <a:t>int2nat :: </a:t>
            </a:r>
            <a:r>
              <a:rPr lang="en-US" sz="2400" dirty="0" err="1">
                <a:latin typeface="Lucida Sans Typewriter" charset="0"/>
                <a:cs typeface="+mn-cs"/>
              </a:rPr>
              <a:t>Int</a:t>
            </a:r>
            <a:r>
              <a:rPr lang="en-US" sz="2400" dirty="0">
                <a:latin typeface="Lucida Sans Typewriter" charset="0"/>
                <a:cs typeface="+mn-cs"/>
              </a:rPr>
              <a:t> </a:t>
            </a:r>
            <a:r>
              <a:rPr lang="en-US" sz="2400" dirty="0">
                <a:latin typeface="Lucida Sans Typewriter" charset="0"/>
                <a:cs typeface="+mn-cs"/>
                <a:sym typeface="Symbol" charset="0"/>
              </a:rPr>
              <a:t></a:t>
            </a:r>
            <a:r>
              <a:rPr lang="en-US" sz="2400" dirty="0">
                <a:latin typeface="Lucida Sans Typewriter" charset="0"/>
                <a:cs typeface="+mn-cs"/>
              </a:rPr>
              <a:t> Nat</a:t>
            </a:r>
          </a:p>
          <a:p>
            <a:pPr>
              <a:lnSpc>
                <a:spcPct val="140000"/>
              </a:lnSpc>
              <a:defRPr/>
            </a:pPr>
            <a:r>
              <a:rPr lang="en-US" sz="2400" dirty="0">
                <a:latin typeface="Lucida Sans Typewriter" charset="0"/>
                <a:cs typeface="+mn-cs"/>
              </a:rPr>
              <a:t>int2nat 0 = Zero</a:t>
            </a:r>
          </a:p>
          <a:p>
            <a:pPr>
              <a:lnSpc>
                <a:spcPct val="140000"/>
              </a:lnSpc>
              <a:defRPr/>
            </a:pPr>
            <a:r>
              <a:rPr lang="en-US" sz="2400" dirty="0">
                <a:latin typeface="Lucida Sans Typewriter" charset="0"/>
                <a:cs typeface="+mn-cs"/>
              </a:rPr>
              <a:t>int2nat n = </a:t>
            </a:r>
            <a:r>
              <a:rPr lang="en-US" sz="2400" dirty="0" err="1">
                <a:latin typeface="Lucida Sans Typewriter" charset="0"/>
                <a:cs typeface="+mn-cs"/>
              </a:rPr>
              <a:t>Succ</a:t>
            </a:r>
            <a:r>
              <a:rPr lang="en-US" sz="2400" dirty="0">
                <a:latin typeface="Lucida Sans Typewriter" charset="0"/>
                <a:cs typeface="+mn-cs"/>
              </a:rPr>
              <a:t> (int2nat (n-1))</a:t>
            </a:r>
          </a:p>
        </p:txBody>
      </p:sp>
      <p:sp>
        <p:nvSpPr>
          <p:cNvPr id="3" name="Rectangle 2">
            <a:extLst>
              <a:ext uri="{FF2B5EF4-FFF2-40B4-BE49-F238E27FC236}">
                <a16:creationId xmlns:a16="http://schemas.microsoft.com/office/drawing/2014/main" id="{98F5F611-EEB2-AA80-82E6-A8EB8202C003}"/>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8131"/>
                                        </p:tgtEl>
                                        <p:attrNameLst>
                                          <p:attrName>style.visibility</p:attrName>
                                        </p:attrNameLst>
                                      </p:cBhvr>
                                      <p:to>
                                        <p:strVal val="visible"/>
                                      </p:to>
                                    </p:set>
                                    <p:anim calcmode="lin" valueType="num">
                                      <p:cBhvr additive="base">
                                        <p:cTn id="7" dur="500" fill="hold"/>
                                        <p:tgtEl>
                                          <p:spTgt spid="688131"/>
                                        </p:tgtEl>
                                        <p:attrNameLst>
                                          <p:attrName>ppt_x</p:attrName>
                                        </p:attrNameLst>
                                      </p:cBhvr>
                                      <p:tavLst>
                                        <p:tav tm="0">
                                          <p:val>
                                            <p:strVal val="#ppt_x"/>
                                          </p:val>
                                        </p:tav>
                                        <p:tav tm="100000">
                                          <p:val>
                                            <p:strVal val="#ppt_x"/>
                                          </p:val>
                                        </p:tav>
                                      </p:tavLst>
                                    </p:anim>
                                    <p:anim calcmode="lin" valueType="num">
                                      <p:cBhvr additive="base">
                                        <p:cTn id="8" dur="500" fill="hold"/>
                                        <p:tgtEl>
                                          <p:spTgt spid="688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D1A3EE6C-3F16-944B-9B92-785C8D51319D}" type="slidenum">
              <a:rPr lang="en-US" sz="1400"/>
              <a:pPr/>
              <a:t>19</a:t>
            </a:fld>
            <a:endParaRPr lang="en-US" sz="1400"/>
          </a:p>
        </p:txBody>
      </p:sp>
      <p:sp>
        <p:nvSpPr>
          <p:cNvPr id="690178" name="Text Box 2"/>
          <p:cNvSpPr txBox="1">
            <a:spLocks noChangeArrowheads="1"/>
          </p:cNvSpPr>
          <p:nvPr/>
        </p:nvSpPr>
        <p:spPr bwMode="auto">
          <a:xfrm>
            <a:off x="1414125" y="2048163"/>
            <a:ext cx="8085138" cy="946150"/>
          </a:xfrm>
          <a:prstGeom prst="rect">
            <a:avLst/>
          </a:prstGeom>
          <a:noFill/>
          <a:ln>
            <a:noFill/>
          </a:ln>
          <a:effectLst/>
        </p:spPr>
        <p:txBody>
          <a:bodyPr anchor="ctr">
            <a:spAutoFit/>
          </a:bodyPr>
          <a:lstStyle/>
          <a:p>
            <a:pPr>
              <a:defRPr/>
            </a:pPr>
            <a:r>
              <a:rPr lang="en-US" sz="2800" dirty="0">
                <a:cs typeface="+mn-cs"/>
              </a:rPr>
              <a:t>Two naturals can be added by converting them to integers, adding, and then converting back:</a:t>
            </a:r>
          </a:p>
        </p:txBody>
      </p:sp>
      <p:sp>
        <p:nvSpPr>
          <p:cNvPr id="690179" name="Text Box 3"/>
          <p:cNvSpPr txBox="1">
            <a:spLocks noChangeArrowheads="1"/>
          </p:cNvSpPr>
          <p:nvPr/>
        </p:nvSpPr>
        <p:spPr bwMode="auto">
          <a:xfrm>
            <a:off x="1414125" y="4558114"/>
            <a:ext cx="8085138" cy="946150"/>
          </a:xfrm>
          <a:prstGeom prst="rect">
            <a:avLst/>
          </a:prstGeom>
          <a:noFill/>
          <a:ln>
            <a:noFill/>
          </a:ln>
          <a:effectLst/>
        </p:spPr>
        <p:txBody>
          <a:bodyPr anchor="ctr">
            <a:spAutoFit/>
          </a:bodyPr>
          <a:lstStyle/>
          <a:p>
            <a:pPr>
              <a:defRPr/>
            </a:pPr>
            <a:r>
              <a:rPr lang="en-US" sz="2800" dirty="0">
                <a:cs typeface="+mn-cs"/>
              </a:rPr>
              <a:t>However, using recursion the function add can be defined without the need for conversions:</a:t>
            </a:r>
          </a:p>
        </p:txBody>
      </p:sp>
      <p:sp>
        <p:nvSpPr>
          <p:cNvPr id="690180" name="Text Box 4"/>
          <p:cNvSpPr txBox="1">
            <a:spLocks noChangeArrowheads="1"/>
          </p:cNvSpPr>
          <p:nvPr/>
        </p:nvSpPr>
        <p:spPr bwMode="auto">
          <a:xfrm>
            <a:off x="2389188" y="3344741"/>
            <a:ext cx="7808548" cy="999376"/>
          </a:xfrm>
          <a:prstGeom prst="rect">
            <a:avLst/>
          </a:prstGeom>
          <a:solidFill>
            <a:schemeClr val="accent1"/>
          </a:solidFill>
          <a:ln>
            <a:noFill/>
          </a:ln>
          <a:effectLst/>
        </p:spPr>
        <p:txBody>
          <a:bodyPr wrap="none" anchor="ctr">
            <a:spAutoFit/>
          </a:bodyPr>
          <a:lstStyle/>
          <a:p>
            <a:pPr>
              <a:lnSpc>
                <a:spcPct val="130000"/>
              </a:lnSpc>
              <a:defRPr/>
            </a:pPr>
            <a:r>
              <a:rPr lang="en-US" sz="2400" dirty="0">
                <a:latin typeface="Lucida Sans Typewriter" charset="0"/>
                <a:cs typeface="+mn-cs"/>
              </a:rPr>
              <a:t>add :: Nat </a:t>
            </a:r>
            <a:r>
              <a:rPr lang="en-US" sz="2400" dirty="0">
                <a:latin typeface="Lucida Sans Typewriter" charset="0"/>
                <a:cs typeface="+mn-cs"/>
                <a:sym typeface="Symbol" charset="0"/>
              </a:rPr>
              <a:t></a:t>
            </a:r>
            <a:r>
              <a:rPr lang="en-US" sz="2400" dirty="0">
                <a:latin typeface="Lucida Sans Typewriter" charset="0"/>
                <a:cs typeface="+mn-cs"/>
              </a:rPr>
              <a:t> Nat </a:t>
            </a:r>
            <a:r>
              <a:rPr lang="en-US" sz="2400" dirty="0">
                <a:latin typeface="Lucida Sans Typewriter" charset="0"/>
                <a:cs typeface="+mn-cs"/>
                <a:sym typeface="Symbol" charset="0"/>
              </a:rPr>
              <a:t></a:t>
            </a:r>
            <a:r>
              <a:rPr lang="en-US" sz="2400" dirty="0">
                <a:latin typeface="Lucida Sans Typewriter" charset="0"/>
                <a:cs typeface="+mn-cs"/>
              </a:rPr>
              <a:t> Nat</a:t>
            </a:r>
          </a:p>
          <a:p>
            <a:pPr>
              <a:lnSpc>
                <a:spcPct val="130000"/>
              </a:lnSpc>
              <a:defRPr/>
            </a:pPr>
            <a:r>
              <a:rPr lang="en-US" sz="2400" dirty="0">
                <a:latin typeface="Lucida Sans Typewriter" charset="0"/>
                <a:cs typeface="+mn-cs"/>
              </a:rPr>
              <a:t>add m n = int2nat (nat2int m + nat2int n)</a:t>
            </a:r>
          </a:p>
        </p:txBody>
      </p:sp>
      <p:sp>
        <p:nvSpPr>
          <p:cNvPr id="690181" name="Text Box 5"/>
          <p:cNvSpPr txBox="1">
            <a:spLocks noChangeArrowheads="1"/>
          </p:cNvSpPr>
          <p:nvPr/>
        </p:nvSpPr>
        <p:spPr bwMode="auto">
          <a:xfrm>
            <a:off x="2389188" y="5718261"/>
            <a:ext cx="6135013" cy="999376"/>
          </a:xfrm>
          <a:prstGeom prst="rect">
            <a:avLst/>
          </a:prstGeom>
          <a:solidFill>
            <a:schemeClr val="accent1"/>
          </a:solidFill>
          <a:ln>
            <a:noFill/>
          </a:ln>
          <a:effectLst/>
        </p:spPr>
        <p:txBody>
          <a:bodyPr wrap="none" anchor="ctr">
            <a:spAutoFit/>
          </a:bodyPr>
          <a:lstStyle/>
          <a:p>
            <a:pPr>
              <a:lnSpc>
                <a:spcPct val="130000"/>
              </a:lnSpc>
              <a:defRPr/>
            </a:pPr>
            <a:r>
              <a:rPr lang="en-US" sz="2400" dirty="0">
                <a:latin typeface="Lucida Sans Typewriter" charset="0"/>
                <a:cs typeface="+mn-cs"/>
              </a:rPr>
              <a:t>add Zero     n = n</a:t>
            </a:r>
          </a:p>
          <a:p>
            <a:pPr>
              <a:lnSpc>
                <a:spcPct val="130000"/>
              </a:lnSpc>
              <a:defRPr/>
            </a:pPr>
            <a:r>
              <a:rPr lang="en-US" sz="2400" dirty="0">
                <a:latin typeface="Lucida Sans Typewriter" charset="0"/>
                <a:cs typeface="+mn-cs"/>
              </a:rPr>
              <a:t>add (</a:t>
            </a:r>
            <a:r>
              <a:rPr lang="en-US" sz="2400" dirty="0" err="1">
                <a:latin typeface="Lucida Sans Typewriter" charset="0"/>
                <a:cs typeface="+mn-cs"/>
              </a:rPr>
              <a:t>Succ</a:t>
            </a:r>
            <a:r>
              <a:rPr lang="en-US" sz="2400" dirty="0">
                <a:latin typeface="Lucida Sans Typewriter" charset="0"/>
                <a:cs typeface="+mn-cs"/>
              </a:rPr>
              <a:t> m) n = </a:t>
            </a:r>
            <a:r>
              <a:rPr lang="en-US" sz="2400" dirty="0" err="1">
                <a:latin typeface="Lucida Sans Typewriter" charset="0"/>
                <a:cs typeface="+mn-cs"/>
              </a:rPr>
              <a:t>Succ</a:t>
            </a:r>
            <a:r>
              <a:rPr lang="en-US" sz="2400" dirty="0">
                <a:latin typeface="Lucida Sans Typewriter" charset="0"/>
                <a:cs typeface="+mn-cs"/>
              </a:rPr>
              <a:t> (add m n) </a:t>
            </a:r>
          </a:p>
        </p:txBody>
      </p:sp>
      <p:sp>
        <p:nvSpPr>
          <p:cNvPr id="3" name="Rectangle 2">
            <a:extLst>
              <a:ext uri="{FF2B5EF4-FFF2-40B4-BE49-F238E27FC236}">
                <a16:creationId xmlns:a16="http://schemas.microsoft.com/office/drawing/2014/main" id="{A0453842-C994-5083-BE63-675B3F821647}"/>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0180"/>
                                        </p:tgtEl>
                                        <p:attrNameLst>
                                          <p:attrName>style.visibility</p:attrName>
                                        </p:attrNameLst>
                                      </p:cBhvr>
                                      <p:to>
                                        <p:strVal val="visible"/>
                                      </p:to>
                                    </p:set>
                                    <p:anim calcmode="lin" valueType="num">
                                      <p:cBhvr additive="base">
                                        <p:cTn id="7" dur="500" fill="hold"/>
                                        <p:tgtEl>
                                          <p:spTgt spid="690180"/>
                                        </p:tgtEl>
                                        <p:attrNameLst>
                                          <p:attrName>ppt_x</p:attrName>
                                        </p:attrNameLst>
                                      </p:cBhvr>
                                      <p:tavLst>
                                        <p:tav tm="0">
                                          <p:val>
                                            <p:strVal val="#ppt_x"/>
                                          </p:val>
                                        </p:tav>
                                        <p:tav tm="100000">
                                          <p:val>
                                            <p:strVal val="#ppt_x"/>
                                          </p:val>
                                        </p:tav>
                                      </p:tavLst>
                                    </p:anim>
                                    <p:anim calcmode="lin" valueType="num">
                                      <p:cBhvr additive="base">
                                        <p:cTn id="8" dur="500" fill="hold"/>
                                        <p:tgtEl>
                                          <p:spTgt spid="6901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0179"/>
                                        </p:tgtEl>
                                        <p:attrNameLst>
                                          <p:attrName>style.visibility</p:attrName>
                                        </p:attrNameLst>
                                      </p:cBhvr>
                                      <p:to>
                                        <p:strVal val="visible"/>
                                      </p:to>
                                    </p:set>
                                    <p:anim calcmode="lin" valueType="num">
                                      <p:cBhvr additive="base">
                                        <p:cTn id="13" dur="500" fill="hold"/>
                                        <p:tgtEl>
                                          <p:spTgt spid="690179"/>
                                        </p:tgtEl>
                                        <p:attrNameLst>
                                          <p:attrName>ppt_x</p:attrName>
                                        </p:attrNameLst>
                                      </p:cBhvr>
                                      <p:tavLst>
                                        <p:tav tm="0">
                                          <p:val>
                                            <p:strVal val="#ppt_x"/>
                                          </p:val>
                                        </p:tav>
                                        <p:tav tm="100000">
                                          <p:val>
                                            <p:strVal val="#ppt_x"/>
                                          </p:val>
                                        </p:tav>
                                      </p:tavLst>
                                    </p:anim>
                                    <p:anim calcmode="lin" valueType="num">
                                      <p:cBhvr additive="base">
                                        <p:cTn id="14" dur="500" fill="hold"/>
                                        <p:tgtEl>
                                          <p:spTgt spid="69017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0181"/>
                                        </p:tgtEl>
                                        <p:attrNameLst>
                                          <p:attrName>style.visibility</p:attrName>
                                        </p:attrNameLst>
                                      </p:cBhvr>
                                      <p:to>
                                        <p:strVal val="visible"/>
                                      </p:to>
                                    </p:set>
                                    <p:anim calcmode="lin" valueType="num">
                                      <p:cBhvr additive="base">
                                        <p:cTn id="19" dur="500" fill="hold"/>
                                        <p:tgtEl>
                                          <p:spTgt spid="690181"/>
                                        </p:tgtEl>
                                        <p:attrNameLst>
                                          <p:attrName>ppt_x</p:attrName>
                                        </p:attrNameLst>
                                      </p:cBhvr>
                                      <p:tavLst>
                                        <p:tav tm="0">
                                          <p:val>
                                            <p:strVal val="#ppt_x"/>
                                          </p:val>
                                        </p:tav>
                                        <p:tav tm="100000">
                                          <p:val>
                                            <p:strVal val="#ppt_x"/>
                                          </p:val>
                                        </p:tav>
                                      </p:tavLst>
                                    </p:anim>
                                    <p:anim calcmode="lin" valueType="num">
                                      <p:cBhvr additive="base">
                                        <p:cTn id="20" dur="500" fill="hold"/>
                                        <p:tgtEl>
                                          <p:spTgt spid="6901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79" grpId="0"/>
      <p:bldP spid="690180" grpId="0" animBg="1"/>
      <p:bldP spid="69018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ACE88F8D-C056-224D-BAF1-55FB2FCC5CA7}" type="slidenum">
              <a:rPr lang="en-US" sz="1400"/>
              <a:pPr/>
              <a:t>20</a:t>
            </a:fld>
            <a:endParaRPr lang="en-US" sz="1400"/>
          </a:p>
        </p:txBody>
      </p:sp>
      <p:sp>
        <p:nvSpPr>
          <p:cNvPr id="692226" name="Text Box 2"/>
          <p:cNvSpPr txBox="1">
            <a:spLocks noChangeArrowheads="1"/>
          </p:cNvSpPr>
          <p:nvPr/>
        </p:nvSpPr>
        <p:spPr bwMode="auto">
          <a:xfrm>
            <a:off x="72867" y="2415685"/>
            <a:ext cx="2441733" cy="519112"/>
          </a:xfrm>
          <a:prstGeom prst="rect">
            <a:avLst/>
          </a:prstGeom>
          <a:noFill/>
          <a:ln>
            <a:noFill/>
          </a:ln>
          <a:effectLst/>
        </p:spPr>
        <p:txBody>
          <a:bodyPr wrap="square" anchor="ctr">
            <a:spAutoFit/>
          </a:bodyPr>
          <a:lstStyle/>
          <a:p>
            <a:pPr>
              <a:defRPr/>
            </a:pPr>
            <a:r>
              <a:rPr lang="en-US" sz="2800" dirty="0">
                <a:cs typeface="+mn-cs"/>
              </a:rPr>
              <a:t>For example:</a:t>
            </a:r>
          </a:p>
        </p:txBody>
      </p:sp>
      <p:sp>
        <p:nvSpPr>
          <p:cNvPr id="692227" name="Text Box 3"/>
          <p:cNvSpPr txBox="1">
            <a:spLocks noChangeArrowheads="1"/>
          </p:cNvSpPr>
          <p:nvPr/>
        </p:nvSpPr>
        <p:spPr bwMode="auto">
          <a:xfrm>
            <a:off x="3384550" y="2285016"/>
            <a:ext cx="6445250" cy="420687"/>
          </a:xfrm>
          <a:prstGeom prst="rect">
            <a:avLst/>
          </a:prstGeom>
          <a:solidFill>
            <a:schemeClr val="accent1"/>
          </a:solidFill>
          <a:ln>
            <a:noFill/>
          </a:ln>
          <a:effectLst/>
        </p:spPr>
        <p:txBody>
          <a:bodyPr wrap="none" anchor="ctr">
            <a:spAutoFit/>
          </a:bodyPr>
          <a:lstStyle/>
          <a:p>
            <a:pPr>
              <a:lnSpc>
                <a:spcPct val="90000"/>
              </a:lnSpc>
              <a:defRPr/>
            </a:pPr>
            <a:r>
              <a:rPr lang="en-US" sz="2400" dirty="0">
                <a:latin typeface="Lucida Sans Typewriter" charset="0"/>
                <a:cs typeface="+mn-cs"/>
              </a:rPr>
              <a:t>add (</a:t>
            </a:r>
            <a:r>
              <a:rPr lang="en-US" sz="2400" dirty="0" err="1">
                <a:latin typeface="Lucida Sans Typewriter" charset="0"/>
                <a:cs typeface="+mn-cs"/>
              </a:rPr>
              <a:t>Succ</a:t>
            </a:r>
            <a:r>
              <a:rPr lang="en-US" sz="2400" dirty="0">
                <a:latin typeface="Lucida Sans Typewriter" charset="0"/>
                <a:cs typeface="+mn-cs"/>
              </a:rPr>
              <a:t> (</a:t>
            </a:r>
            <a:r>
              <a:rPr lang="en-US" sz="2400" dirty="0" err="1">
                <a:latin typeface="Lucida Sans Typewriter" charset="0"/>
                <a:cs typeface="+mn-cs"/>
              </a:rPr>
              <a:t>Succ</a:t>
            </a:r>
            <a:r>
              <a:rPr lang="en-US" sz="2400" dirty="0">
                <a:latin typeface="Lucida Sans Typewriter" charset="0"/>
                <a:cs typeface="+mn-cs"/>
              </a:rPr>
              <a:t> Zero)) (</a:t>
            </a:r>
            <a:r>
              <a:rPr lang="en-US" sz="2400" dirty="0" err="1">
                <a:latin typeface="Lucida Sans Typewriter" charset="0"/>
                <a:cs typeface="+mn-cs"/>
              </a:rPr>
              <a:t>Succ</a:t>
            </a:r>
            <a:r>
              <a:rPr lang="en-US" sz="2400" dirty="0">
                <a:latin typeface="Lucida Sans Typewriter" charset="0"/>
                <a:cs typeface="+mn-cs"/>
              </a:rPr>
              <a:t> Zero)</a:t>
            </a:r>
          </a:p>
        </p:txBody>
      </p:sp>
      <p:grpSp>
        <p:nvGrpSpPr>
          <p:cNvPr id="2" name="Group 4"/>
          <p:cNvGrpSpPr>
            <a:grpSpLocks/>
          </p:cNvGrpSpPr>
          <p:nvPr/>
        </p:nvGrpSpPr>
        <p:grpSpPr bwMode="auto">
          <a:xfrm>
            <a:off x="2840038" y="2604102"/>
            <a:ext cx="6989762" cy="858838"/>
            <a:chOff x="795" y="1054"/>
            <a:chExt cx="4403" cy="541"/>
          </a:xfrm>
        </p:grpSpPr>
        <p:sp>
          <p:nvSpPr>
            <p:cNvPr id="692229" name="Text Box 5"/>
            <p:cNvSpPr txBox="1">
              <a:spLocks noChangeArrowheads="1"/>
            </p:cNvSpPr>
            <p:nvPr/>
          </p:nvSpPr>
          <p:spPr bwMode="auto">
            <a:xfrm>
              <a:off x="1138" y="1330"/>
              <a:ext cx="4060" cy="265"/>
            </a:xfrm>
            <a:prstGeom prst="rect">
              <a:avLst/>
            </a:prstGeom>
            <a:solidFill>
              <a:schemeClr val="accent1"/>
            </a:solidFill>
            <a:ln>
              <a:noFill/>
            </a:ln>
            <a:effectLst/>
          </p:spPr>
          <p:txBody>
            <a:bodyPr wrap="none" anchor="ctr">
              <a:spAutoFit/>
            </a:bodyPr>
            <a:lstStyle/>
            <a:p>
              <a:pPr>
                <a:lnSpc>
                  <a:spcPct val="90000"/>
                </a:lnSpc>
                <a:defRPr/>
              </a:pPr>
              <a:r>
                <a:rPr lang="en-US" sz="2400" dirty="0" err="1">
                  <a:latin typeface="Lucida Sans Typewriter" charset="0"/>
                  <a:cs typeface="+mn-cs"/>
                </a:rPr>
                <a:t>Succ</a:t>
              </a:r>
              <a:r>
                <a:rPr lang="en-US" sz="2400" dirty="0">
                  <a:latin typeface="Lucida Sans Typewriter" charset="0"/>
                  <a:cs typeface="+mn-cs"/>
                </a:rPr>
                <a:t> (add (</a:t>
              </a:r>
              <a:r>
                <a:rPr lang="en-US" sz="2400" dirty="0" err="1">
                  <a:latin typeface="Lucida Sans Typewriter" charset="0"/>
                  <a:cs typeface="+mn-cs"/>
                </a:rPr>
                <a:t>Succ</a:t>
              </a:r>
              <a:r>
                <a:rPr lang="en-US" sz="2400" dirty="0">
                  <a:latin typeface="Lucida Sans Typewriter" charset="0"/>
                  <a:cs typeface="+mn-cs"/>
                </a:rPr>
                <a:t> Zero) (</a:t>
              </a:r>
              <a:r>
                <a:rPr lang="en-US" sz="2400" dirty="0" err="1">
                  <a:latin typeface="Lucida Sans Typewriter" charset="0"/>
                  <a:cs typeface="+mn-cs"/>
                </a:rPr>
                <a:t>Succ</a:t>
              </a:r>
              <a:r>
                <a:rPr lang="en-US" sz="2400" dirty="0">
                  <a:latin typeface="Lucida Sans Typewriter" charset="0"/>
                  <a:cs typeface="+mn-cs"/>
                </a:rPr>
                <a:t> Zero))</a:t>
              </a:r>
            </a:p>
          </p:txBody>
        </p:sp>
        <p:sp>
          <p:nvSpPr>
            <p:cNvPr id="692230" name="Text Box 6"/>
            <p:cNvSpPr txBox="1">
              <a:spLocks noChangeArrowheads="1"/>
            </p:cNvSpPr>
            <p:nvPr/>
          </p:nvSpPr>
          <p:spPr bwMode="auto">
            <a:xfrm>
              <a:off x="795" y="1054"/>
              <a:ext cx="279" cy="327"/>
            </a:xfrm>
            <a:prstGeom prst="rect">
              <a:avLst/>
            </a:prstGeom>
            <a:noFill/>
            <a:ln>
              <a:noFill/>
            </a:ln>
            <a:effectLst/>
          </p:spPr>
          <p:txBody>
            <a:bodyPr wrap="none" anchor="ctr">
              <a:spAutoFit/>
            </a:bodyPr>
            <a:lstStyle/>
            <a:p>
              <a:pPr algn="ctr">
                <a:defRPr/>
              </a:pPr>
              <a:r>
                <a:rPr lang="en-US">
                  <a:cs typeface="+mn-cs"/>
                </a:rPr>
                <a:t>=</a:t>
              </a:r>
            </a:p>
          </p:txBody>
        </p:sp>
      </p:grpSp>
      <p:grpSp>
        <p:nvGrpSpPr>
          <p:cNvPr id="3" name="Group 7"/>
          <p:cNvGrpSpPr>
            <a:grpSpLocks/>
          </p:cNvGrpSpPr>
          <p:nvPr/>
        </p:nvGrpSpPr>
        <p:grpSpPr bwMode="auto">
          <a:xfrm>
            <a:off x="2840038" y="3359753"/>
            <a:ext cx="6805612" cy="862013"/>
            <a:chOff x="795" y="1530"/>
            <a:chExt cx="4287" cy="543"/>
          </a:xfrm>
        </p:grpSpPr>
        <p:sp>
          <p:nvSpPr>
            <p:cNvPr id="692232" name="Text Box 8"/>
            <p:cNvSpPr txBox="1">
              <a:spLocks noChangeArrowheads="1"/>
            </p:cNvSpPr>
            <p:nvPr/>
          </p:nvSpPr>
          <p:spPr bwMode="auto">
            <a:xfrm>
              <a:off x="1138" y="1808"/>
              <a:ext cx="3944" cy="265"/>
            </a:xfrm>
            <a:prstGeom prst="rect">
              <a:avLst/>
            </a:prstGeom>
            <a:solidFill>
              <a:schemeClr val="accent1"/>
            </a:solidFill>
            <a:ln>
              <a:noFill/>
            </a:ln>
            <a:effectLst/>
          </p:spPr>
          <p:txBody>
            <a:bodyPr wrap="none" anchor="ctr">
              <a:spAutoFit/>
            </a:bodyPr>
            <a:lstStyle/>
            <a:p>
              <a:pPr>
                <a:lnSpc>
                  <a:spcPct val="90000"/>
                </a:lnSpc>
                <a:defRPr/>
              </a:pPr>
              <a:r>
                <a:rPr lang="en-US" sz="2400">
                  <a:latin typeface="Lucida Sans Typewriter" charset="0"/>
                  <a:cs typeface="+mn-cs"/>
                </a:rPr>
                <a:t>Succ (Succ (add Zero (Succ Zero))</a:t>
              </a:r>
            </a:p>
          </p:txBody>
        </p:sp>
        <p:sp>
          <p:nvSpPr>
            <p:cNvPr id="692233" name="Text Box 9"/>
            <p:cNvSpPr txBox="1">
              <a:spLocks noChangeArrowheads="1"/>
            </p:cNvSpPr>
            <p:nvPr/>
          </p:nvSpPr>
          <p:spPr bwMode="auto">
            <a:xfrm>
              <a:off x="795" y="1530"/>
              <a:ext cx="279" cy="327"/>
            </a:xfrm>
            <a:prstGeom prst="rect">
              <a:avLst/>
            </a:prstGeom>
            <a:noFill/>
            <a:ln>
              <a:noFill/>
            </a:ln>
            <a:effectLst/>
          </p:spPr>
          <p:txBody>
            <a:bodyPr wrap="none" anchor="ctr">
              <a:spAutoFit/>
            </a:bodyPr>
            <a:lstStyle/>
            <a:p>
              <a:pPr algn="ctr">
                <a:defRPr/>
              </a:pPr>
              <a:r>
                <a:rPr lang="en-US">
                  <a:cs typeface="+mn-cs"/>
                </a:rPr>
                <a:t>=</a:t>
              </a:r>
            </a:p>
          </p:txBody>
        </p:sp>
      </p:grpSp>
      <p:grpSp>
        <p:nvGrpSpPr>
          <p:cNvPr id="4" name="Group 10"/>
          <p:cNvGrpSpPr>
            <a:grpSpLocks/>
          </p:cNvGrpSpPr>
          <p:nvPr/>
        </p:nvGrpSpPr>
        <p:grpSpPr bwMode="auto">
          <a:xfrm>
            <a:off x="2840038" y="4115402"/>
            <a:ext cx="4964112" cy="865188"/>
            <a:chOff x="795" y="2006"/>
            <a:chExt cx="3127" cy="545"/>
          </a:xfrm>
        </p:grpSpPr>
        <p:sp>
          <p:nvSpPr>
            <p:cNvPr id="692235" name="Text Box 11"/>
            <p:cNvSpPr txBox="1">
              <a:spLocks noChangeArrowheads="1"/>
            </p:cNvSpPr>
            <p:nvPr/>
          </p:nvSpPr>
          <p:spPr bwMode="auto">
            <a:xfrm>
              <a:off x="1138" y="2286"/>
              <a:ext cx="2784" cy="265"/>
            </a:xfrm>
            <a:prstGeom prst="rect">
              <a:avLst/>
            </a:prstGeom>
            <a:solidFill>
              <a:schemeClr val="accent1"/>
            </a:solidFill>
            <a:ln>
              <a:noFill/>
            </a:ln>
            <a:effectLst/>
          </p:spPr>
          <p:txBody>
            <a:bodyPr wrap="none" anchor="ctr">
              <a:spAutoFit/>
            </a:bodyPr>
            <a:lstStyle/>
            <a:p>
              <a:pPr>
                <a:lnSpc>
                  <a:spcPct val="90000"/>
                </a:lnSpc>
                <a:defRPr/>
              </a:pPr>
              <a:r>
                <a:rPr lang="en-US" sz="2400">
                  <a:latin typeface="Lucida Sans Typewriter" charset="0"/>
                  <a:cs typeface="+mn-cs"/>
                </a:rPr>
                <a:t>Succ (Succ (Succ Zero))</a:t>
              </a:r>
            </a:p>
          </p:txBody>
        </p:sp>
        <p:sp>
          <p:nvSpPr>
            <p:cNvPr id="692236" name="Text Box 12"/>
            <p:cNvSpPr txBox="1">
              <a:spLocks noChangeArrowheads="1"/>
            </p:cNvSpPr>
            <p:nvPr/>
          </p:nvSpPr>
          <p:spPr bwMode="auto">
            <a:xfrm>
              <a:off x="795" y="2006"/>
              <a:ext cx="279" cy="327"/>
            </a:xfrm>
            <a:prstGeom prst="rect">
              <a:avLst/>
            </a:prstGeom>
            <a:noFill/>
            <a:ln>
              <a:noFill/>
            </a:ln>
            <a:effectLst/>
          </p:spPr>
          <p:txBody>
            <a:bodyPr wrap="none" anchor="ctr">
              <a:spAutoFit/>
            </a:bodyPr>
            <a:lstStyle/>
            <a:p>
              <a:pPr algn="ctr">
                <a:defRPr/>
              </a:pPr>
              <a:r>
                <a:rPr lang="en-US">
                  <a:cs typeface="+mn-cs"/>
                </a:rPr>
                <a:t>=</a:t>
              </a:r>
            </a:p>
          </p:txBody>
        </p:sp>
      </p:grpSp>
      <p:grpSp>
        <p:nvGrpSpPr>
          <p:cNvPr id="5" name="Group 20"/>
          <p:cNvGrpSpPr>
            <a:grpSpLocks/>
          </p:cNvGrpSpPr>
          <p:nvPr/>
        </p:nvGrpSpPr>
        <p:grpSpPr bwMode="auto">
          <a:xfrm>
            <a:off x="73759" y="4937127"/>
            <a:ext cx="10162443" cy="1585913"/>
            <a:chOff x="107" y="3110"/>
            <a:chExt cx="5381" cy="999"/>
          </a:xfrm>
        </p:grpSpPr>
        <p:sp>
          <p:nvSpPr>
            <p:cNvPr id="692240" name="Text Box 16"/>
            <p:cNvSpPr txBox="1">
              <a:spLocks noChangeArrowheads="1"/>
            </p:cNvSpPr>
            <p:nvPr/>
          </p:nvSpPr>
          <p:spPr bwMode="auto">
            <a:xfrm>
              <a:off x="107" y="3110"/>
              <a:ext cx="678" cy="330"/>
            </a:xfrm>
            <a:prstGeom prst="rect">
              <a:avLst/>
            </a:prstGeom>
            <a:noFill/>
            <a:ln>
              <a:noFill/>
            </a:ln>
            <a:effectLst/>
          </p:spPr>
          <p:txBody>
            <a:bodyPr wrap="none" anchor="ctr">
              <a:spAutoFit/>
            </a:bodyPr>
            <a:lstStyle/>
            <a:p>
              <a:pPr>
                <a:defRPr/>
              </a:pPr>
              <a:r>
                <a:rPr lang="en-US" sz="2800" dirty="0">
                  <a:cs typeface="+mn-cs"/>
                </a:rPr>
                <a:t>Note:</a:t>
              </a:r>
            </a:p>
          </p:txBody>
        </p:sp>
        <p:sp>
          <p:nvSpPr>
            <p:cNvPr id="31753" name="Rectangle 17"/>
            <p:cNvSpPr>
              <a:spLocks noChangeArrowheads="1"/>
            </p:cNvSpPr>
            <p:nvPr/>
          </p:nvSpPr>
          <p:spPr bwMode="auto">
            <a:xfrm>
              <a:off x="312" y="3443"/>
              <a:ext cx="5176" cy="6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The recursive definition for add corresponds to the laws 0+n = n and (1+m)+n = 1+(</a:t>
              </a:r>
              <a:r>
                <a:rPr kumimoji="1" lang="en-US" sz="2800" dirty="0" err="1"/>
                <a:t>m+n</a:t>
              </a:r>
              <a:r>
                <a:rPr kumimoji="1" lang="en-US" sz="2800" dirty="0"/>
                <a:t>).</a:t>
              </a:r>
            </a:p>
          </p:txBody>
        </p:sp>
      </p:grpSp>
      <p:sp>
        <p:nvSpPr>
          <p:cNvPr id="7" name="Rectangle 2">
            <a:extLst>
              <a:ext uri="{FF2B5EF4-FFF2-40B4-BE49-F238E27FC236}">
                <a16:creationId xmlns:a16="http://schemas.microsoft.com/office/drawing/2014/main" id="{B96860F9-52FC-15EC-C88E-7301759295E5}"/>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2227"/>
                                        </p:tgtEl>
                                        <p:attrNameLst>
                                          <p:attrName>style.visibility</p:attrName>
                                        </p:attrNameLst>
                                      </p:cBhvr>
                                      <p:to>
                                        <p:strVal val="visible"/>
                                      </p:to>
                                    </p:set>
                                    <p:anim calcmode="lin" valueType="num">
                                      <p:cBhvr additive="base">
                                        <p:cTn id="7" dur="500" fill="hold"/>
                                        <p:tgtEl>
                                          <p:spTgt spid="692227"/>
                                        </p:tgtEl>
                                        <p:attrNameLst>
                                          <p:attrName>ppt_x</p:attrName>
                                        </p:attrNameLst>
                                      </p:cBhvr>
                                      <p:tavLst>
                                        <p:tav tm="0">
                                          <p:val>
                                            <p:strVal val="#ppt_x"/>
                                          </p:val>
                                        </p:tav>
                                        <p:tav tm="100000">
                                          <p:val>
                                            <p:strVal val="#ppt_x"/>
                                          </p:val>
                                        </p:tav>
                                      </p:tavLst>
                                    </p:anim>
                                    <p:anim calcmode="lin" valueType="num">
                                      <p:cBhvr additive="base">
                                        <p:cTn id="8" dur="500" fill="hold"/>
                                        <p:tgtEl>
                                          <p:spTgt spid="692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2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dirty="0">
                <a:latin typeface="Arial Black" charset="0"/>
                <a:ea typeface="ＭＳ Ｐゴシック" charset="0"/>
                <a:cs typeface="ＭＳ Ｐゴシック" charset="0"/>
              </a:rPr>
              <a:t>Arithmetic Expressions</a:t>
            </a:r>
          </a:p>
        </p:txBody>
      </p:sp>
      <p:sp>
        <p:nvSpPr>
          <p:cNvPr id="32769"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F75B824E-CE6F-B04A-90AB-30538109D0A9}" type="slidenum">
              <a:rPr lang="en-US" sz="1400"/>
              <a:pPr/>
              <a:t>21</a:t>
            </a:fld>
            <a:endParaRPr lang="en-US" sz="1400"/>
          </a:p>
        </p:txBody>
      </p:sp>
      <p:sp>
        <p:nvSpPr>
          <p:cNvPr id="707587" name="Text Box 3"/>
          <p:cNvSpPr txBox="1">
            <a:spLocks noChangeArrowheads="1"/>
          </p:cNvSpPr>
          <p:nvPr/>
        </p:nvSpPr>
        <p:spPr bwMode="auto">
          <a:xfrm>
            <a:off x="1285877" y="2303465"/>
            <a:ext cx="8318500" cy="946150"/>
          </a:xfrm>
          <a:prstGeom prst="rect">
            <a:avLst/>
          </a:prstGeom>
          <a:noFill/>
          <a:ln>
            <a:noFill/>
          </a:ln>
          <a:effectLst/>
        </p:spPr>
        <p:txBody>
          <a:bodyPr anchor="ctr">
            <a:spAutoFit/>
          </a:bodyPr>
          <a:lstStyle/>
          <a:p>
            <a:pPr>
              <a:defRPr/>
            </a:pPr>
            <a:r>
              <a:rPr lang="en-US" sz="2800" dirty="0">
                <a:cs typeface="+mn-cs"/>
              </a:rPr>
              <a:t>Consider a simple form of </a:t>
            </a:r>
            <a:r>
              <a:rPr lang="en-US" sz="2800" u="sng" dirty="0">
                <a:cs typeface="+mn-cs"/>
              </a:rPr>
              <a:t>expressions</a:t>
            </a:r>
            <a:r>
              <a:rPr lang="en-US" sz="2800" dirty="0">
                <a:cs typeface="+mn-cs"/>
              </a:rPr>
              <a:t> built up from integers using addition and multiplication.</a:t>
            </a:r>
          </a:p>
        </p:txBody>
      </p:sp>
      <p:grpSp>
        <p:nvGrpSpPr>
          <p:cNvPr id="32772" name="Group 25"/>
          <p:cNvGrpSpPr>
            <a:grpSpLocks/>
          </p:cNvGrpSpPr>
          <p:nvPr/>
        </p:nvGrpSpPr>
        <p:grpSpPr bwMode="auto">
          <a:xfrm>
            <a:off x="4643439" y="3478214"/>
            <a:ext cx="2905125" cy="2441575"/>
            <a:chOff x="3649" y="2160"/>
            <a:chExt cx="1830" cy="1538"/>
          </a:xfrm>
        </p:grpSpPr>
        <p:sp>
          <p:nvSpPr>
            <p:cNvPr id="707610" name="Text Box 26"/>
            <p:cNvSpPr txBox="1">
              <a:spLocks noChangeArrowheads="1"/>
            </p:cNvSpPr>
            <p:nvPr/>
          </p:nvSpPr>
          <p:spPr bwMode="auto">
            <a:xfrm>
              <a:off x="3649" y="2786"/>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1</a:t>
              </a:r>
            </a:p>
          </p:txBody>
        </p:sp>
        <p:sp>
          <p:nvSpPr>
            <p:cNvPr id="707611" name="Text Box 27"/>
            <p:cNvSpPr txBox="1">
              <a:spLocks noChangeArrowheads="1"/>
            </p:cNvSpPr>
            <p:nvPr/>
          </p:nvSpPr>
          <p:spPr bwMode="auto">
            <a:xfrm>
              <a:off x="4165" y="2160"/>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a:t>
              </a:r>
            </a:p>
          </p:txBody>
        </p:sp>
        <p:sp>
          <p:nvSpPr>
            <p:cNvPr id="32775" name="Text Box 28"/>
            <p:cNvSpPr txBox="1">
              <a:spLocks noChangeArrowheads="1"/>
            </p:cNvSpPr>
            <p:nvPr/>
          </p:nvSpPr>
          <p:spPr bwMode="auto">
            <a:xfrm>
              <a:off x="4702" y="2785"/>
              <a:ext cx="233" cy="291"/>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algn="ctr"/>
              <a:r>
                <a:rPr lang="en-US" sz="2400" dirty="0">
                  <a:latin typeface="Lucida Sans Typewriter" charset="0"/>
                  <a:sym typeface="Symbol" charset="0"/>
                </a:rPr>
                <a:t>+</a:t>
              </a:r>
            </a:p>
          </p:txBody>
        </p:sp>
        <p:sp>
          <p:nvSpPr>
            <p:cNvPr id="707613" name="Text Box 29"/>
            <p:cNvSpPr txBox="1">
              <a:spLocks noChangeArrowheads="1"/>
            </p:cNvSpPr>
            <p:nvPr/>
          </p:nvSpPr>
          <p:spPr bwMode="auto">
            <a:xfrm>
              <a:off x="5247" y="3410"/>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3</a:t>
              </a:r>
            </a:p>
          </p:txBody>
        </p:sp>
        <p:sp>
          <p:nvSpPr>
            <p:cNvPr id="707614" name="Text Box 30"/>
            <p:cNvSpPr txBox="1">
              <a:spLocks noChangeArrowheads="1"/>
            </p:cNvSpPr>
            <p:nvPr/>
          </p:nvSpPr>
          <p:spPr bwMode="auto">
            <a:xfrm>
              <a:off x="4165" y="3410"/>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2</a:t>
              </a:r>
            </a:p>
          </p:txBody>
        </p:sp>
        <p:sp>
          <p:nvSpPr>
            <p:cNvPr id="707615" name="Line 31"/>
            <p:cNvSpPr>
              <a:spLocks noChangeShapeType="1"/>
            </p:cNvSpPr>
            <p:nvPr/>
          </p:nvSpPr>
          <p:spPr bwMode="auto">
            <a:xfrm flipH="1">
              <a:off x="3882" y="2493"/>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707616" name="Line 32"/>
            <p:cNvSpPr>
              <a:spLocks noChangeShapeType="1"/>
            </p:cNvSpPr>
            <p:nvPr/>
          </p:nvSpPr>
          <p:spPr bwMode="auto">
            <a:xfrm flipH="1">
              <a:off x="4407" y="3112"/>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707617" name="Line 33"/>
            <p:cNvSpPr>
              <a:spLocks noChangeShapeType="1"/>
            </p:cNvSpPr>
            <p:nvPr/>
          </p:nvSpPr>
          <p:spPr bwMode="auto">
            <a:xfrm>
              <a:off x="4415" y="2488"/>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707618" name="Line 34"/>
            <p:cNvSpPr>
              <a:spLocks noChangeShapeType="1"/>
            </p:cNvSpPr>
            <p:nvPr/>
          </p:nvSpPr>
          <p:spPr bwMode="auto">
            <a:xfrm>
              <a:off x="4947" y="3106"/>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7587"/>
                                        </p:tgtEl>
                                        <p:attrNameLst>
                                          <p:attrName>style.visibility</p:attrName>
                                        </p:attrNameLst>
                                      </p:cBhvr>
                                      <p:to>
                                        <p:strVal val="visible"/>
                                      </p:to>
                                    </p:set>
                                    <p:anim calcmode="lin" valueType="num">
                                      <p:cBhvr additive="base">
                                        <p:cTn id="7" dur="500" fill="hold"/>
                                        <p:tgtEl>
                                          <p:spTgt spid="707587"/>
                                        </p:tgtEl>
                                        <p:attrNameLst>
                                          <p:attrName>ppt_x</p:attrName>
                                        </p:attrNameLst>
                                      </p:cBhvr>
                                      <p:tavLst>
                                        <p:tav tm="0">
                                          <p:val>
                                            <p:strVal val="#ppt_x"/>
                                          </p:val>
                                        </p:tav>
                                        <p:tav tm="100000">
                                          <p:val>
                                            <p:strVal val="#ppt_x"/>
                                          </p:val>
                                        </p:tav>
                                      </p:tavLst>
                                    </p:anim>
                                    <p:anim calcmode="lin" valueType="num">
                                      <p:cBhvr additive="base">
                                        <p:cTn id="8" dur="500" fill="hold"/>
                                        <p:tgtEl>
                                          <p:spTgt spid="7075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2"/>
                                        </p:tgtEl>
                                        <p:attrNameLst>
                                          <p:attrName>style.visibility</p:attrName>
                                        </p:attrNameLst>
                                      </p:cBhvr>
                                      <p:to>
                                        <p:strVal val="visible"/>
                                      </p:to>
                                    </p:set>
                                    <p:anim calcmode="lin" valueType="num">
                                      <p:cBhvr additive="base">
                                        <p:cTn id="13" dur="500" fill="hold"/>
                                        <p:tgtEl>
                                          <p:spTgt spid="32772"/>
                                        </p:tgtEl>
                                        <p:attrNameLst>
                                          <p:attrName>ppt_x</p:attrName>
                                        </p:attrNameLst>
                                      </p:cBhvr>
                                      <p:tavLst>
                                        <p:tav tm="0">
                                          <p:val>
                                            <p:strVal val="#ppt_x"/>
                                          </p:val>
                                        </p:tav>
                                        <p:tav tm="100000">
                                          <p:val>
                                            <p:strVal val="#ppt_x"/>
                                          </p:val>
                                        </p:tav>
                                      </p:tavLst>
                                    </p:anim>
                                    <p:anim calcmode="lin" valueType="num">
                                      <p:cBhvr additive="base">
                                        <p:cTn id="14"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7CA9CE5F-6AB2-B348-BFBC-273D81A2AECE}" type="slidenum">
              <a:rPr lang="en-US" sz="1400"/>
              <a:pPr/>
              <a:t>22</a:t>
            </a:fld>
            <a:endParaRPr lang="en-US" sz="1400"/>
          </a:p>
        </p:txBody>
      </p:sp>
      <p:sp>
        <p:nvSpPr>
          <p:cNvPr id="708610" name="Text Box 2"/>
          <p:cNvSpPr txBox="1">
            <a:spLocks noChangeArrowheads="1"/>
          </p:cNvSpPr>
          <p:nvPr/>
        </p:nvSpPr>
        <p:spPr bwMode="auto">
          <a:xfrm>
            <a:off x="680321" y="1892055"/>
            <a:ext cx="9308806" cy="946150"/>
          </a:xfrm>
          <a:prstGeom prst="rect">
            <a:avLst/>
          </a:prstGeom>
          <a:noFill/>
          <a:ln>
            <a:noFill/>
          </a:ln>
          <a:effectLst/>
        </p:spPr>
        <p:txBody>
          <a:bodyPr wrap="square" anchor="ctr">
            <a:spAutoFit/>
          </a:bodyPr>
          <a:lstStyle/>
          <a:p>
            <a:pPr>
              <a:defRPr/>
            </a:pPr>
            <a:r>
              <a:rPr lang="en-US" sz="2800" dirty="0">
                <a:cs typeface="+mn-cs"/>
              </a:rPr>
              <a:t>Using recursion, a suitable new type to represent such expressions can be declared by:</a:t>
            </a:r>
          </a:p>
        </p:txBody>
      </p:sp>
      <p:sp>
        <p:nvSpPr>
          <p:cNvPr id="708611" name="Text Box 3"/>
          <p:cNvSpPr txBox="1">
            <a:spLocks noChangeArrowheads="1"/>
          </p:cNvSpPr>
          <p:nvPr/>
        </p:nvSpPr>
        <p:spPr bwMode="auto">
          <a:xfrm>
            <a:off x="680320" y="4113121"/>
            <a:ext cx="9017861" cy="946150"/>
          </a:xfrm>
          <a:prstGeom prst="rect">
            <a:avLst/>
          </a:prstGeom>
          <a:noFill/>
          <a:ln>
            <a:noFill/>
          </a:ln>
          <a:effectLst/>
        </p:spPr>
        <p:txBody>
          <a:bodyPr wrap="square" anchor="ctr">
            <a:spAutoFit/>
          </a:bodyPr>
          <a:lstStyle/>
          <a:p>
            <a:pPr>
              <a:defRPr/>
            </a:pPr>
            <a:r>
              <a:rPr lang="en-US" sz="2800" dirty="0">
                <a:cs typeface="+mn-cs"/>
              </a:rPr>
              <a:t>For example, the expression on the previous slide would be represented as follows:</a:t>
            </a:r>
          </a:p>
        </p:txBody>
      </p:sp>
      <p:sp>
        <p:nvSpPr>
          <p:cNvPr id="708612" name="Text Box 4"/>
          <p:cNvSpPr txBox="1">
            <a:spLocks noChangeArrowheads="1"/>
          </p:cNvSpPr>
          <p:nvPr/>
        </p:nvSpPr>
        <p:spPr bwMode="auto">
          <a:xfrm>
            <a:off x="3194051" y="3069996"/>
            <a:ext cx="4833374" cy="870110"/>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Expr = Val </a:t>
            </a:r>
            <a:r>
              <a:rPr lang="en-US" sz="2400" dirty="0" err="1">
                <a:latin typeface="Lucida Sans Typewriter" charset="0"/>
                <a:cs typeface="+mn-cs"/>
              </a:rPr>
              <a:t>Int</a:t>
            </a:r>
            <a:endParaRPr lang="en-US" sz="2400" dirty="0">
              <a:latin typeface="Lucida Sans Typewriter" charset="0"/>
              <a:cs typeface="+mn-cs"/>
            </a:endParaRPr>
          </a:p>
          <a:p>
            <a:pPr>
              <a:lnSpc>
                <a:spcPct val="110000"/>
              </a:lnSpc>
              <a:defRPr/>
            </a:pPr>
            <a:r>
              <a:rPr lang="en-US" sz="2400" dirty="0">
                <a:latin typeface="Lucida Sans Typewriter" charset="0"/>
                <a:cs typeface="+mn-cs"/>
              </a:rPr>
              <a:t>          | Add Expr Expr</a:t>
            </a:r>
          </a:p>
        </p:txBody>
      </p:sp>
      <p:sp>
        <p:nvSpPr>
          <p:cNvPr id="708614" name="Text Box 6"/>
          <p:cNvSpPr txBox="1">
            <a:spLocks noChangeArrowheads="1"/>
          </p:cNvSpPr>
          <p:nvPr/>
        </p:nvSpPr>
        <p:spPr bwMode="auto">
          <a:xfrm>
            <a:off x="3194051" y="5590235"/>
            <a:ext cx="6320961"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Add (Val 1) (Add (Val 2) (Val 3))</a:t>
            </a:r>
          </a:p>
        </p:txBody>
      </p:sp>
      <p:sp>
        <p:nvSpPr>
          <p:cNvPr id="3" name="Rectangle 2">
            <a:extLst>
              <a:ext uri="{FF2B5EF4-FFF2-40B4-BE49-F238E27FC236}">
                <a16:creationId xmlns:a16="http://schemas.microsoft.com/office/drawing/2014/main" id="{4B5F6852-F95B-E1D8-60F9-69B8AE5AD1A3}"/>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8610"/>
                                        </p:tgtEl>
                                        <p:attrNameLst>
                                          <p:attrName>style.visibility</p:attrName>
                                        </p:attrNameLst>
                                      </p:cBhvr>
                                      <p:to>
                                        <p:strVal val="visible"/>
                                      </p:to>
                                    </p:set>
                                    <p:anim calcmode="lin" valueType="num">
                                      <p:cBhvr additive="base">
                                        <p:cTn id="7" dur="500" fill="hold"/>
                                        <p:tgtEl>
                                          <p:spTgt spid="708610"/>
                                        </p:tgtEl>
                                        <p:attrNameLst>
                                          <p:attrName>ppt_x</p:attrName>
                                        </p:attrNameLst>
                                      </p:cBhvr>
                                      <p:tavLst>
                                        <p:tav tm="0">
                                          <p:val>
                                            <p:strVal val="#ppt_x"/>
                                          </p:val>
                                        </p:tav>
                                        <p:tav tm="100000">
                                          <p:val>
                                            <p:strVal val="#ppt_x"/>
                                          </p:val>
                                        </p:tav>
                                      </p:tavLst>
                                    </p:anim>
                                    <p:anim calcmode="lin" valueType="num">
                                      <p:cBhvr additive="base">
                                        <p:cTn id="8" dur="500" fill="hold"/>
                                        <p:tgtEl>
                                          <p:spTgt spid="7086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8612"/>
                                        </p:tgtEl>
                                        <p:attrNameLst>
                                          <p:attrName>style.visibility</p:attrName>
                                        </p:attrNameLst>
                                      </p:cBhvr>
                                      <p:to>
                                        <p:strVal val="visible"/>
                                      </p:to>
                                    </p:set>
                                    <p:anim calcmode="lin" valueType="num">
                                      <p:cBhvr additive="base">
                                        <p:cTn id="13" dur="500" fill="hold"/>
                                        <p:tgtEl>
                                          <p:spTgt spid="708612"/>
                                        </p:tgtEl>
                                        <p:attrNameLst>
                                          <p:attrName>ppt_x</p:attrName>
                                        </p:attrNameLst>
                                      </p:cBhvr>
                                      <p:tavLst>
                                        <p:tav tm="0">
                                          <p:val>
                                            <p:strVal val="#ppt_x"/>
                                          </p:val>
                                        </p:tav>
                                        <p:tav tm="100000">
                                          <p:val>
                                            <p:strVal val="#ppt_x"/>
                                          </p:val>
                                        </p:tav>
                                      </p:tavLst>
                                    </p:anim>
                                    <p:anim calcmode="lin" valueType="num">
                                      <p:cBhvr additive="base">
                                        <p:cTn id="14" dur="500" fill="hold"/>
                                        <p:tgtEl>
                                          <p:spTgt spid="7086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08611"/>
                                        </p:tgtEl>
                                        <p:attrNameLst>
                                          <p:attrName>style.visibility</p:attrName>
                                        </p:attrNameLst>
                                      </p:cBhvr>
                                      <p:to>
                                        <p:strVal val="visible"/>
                                      </p:to>
                                    </p:set>
                                    <p:anim calcmode="lin" valueType="num">
                                      <p:cBhvr additive="base">
                                        <p:cTn id="19" dur="500" fill="hold"/>
                                        <p:tgtEl>
                                          <p:spTgt spid="708611"/>
                                        </p:tgtEl>
                                        <p:attrNameLst>
                                          <p:attrName>ppt_x</p:attrName>
                                        </p:attrNameLst>
                                      </p:cBhvr>
                                      <p:tavLst>
                                        <p:tav tm="0">
                                          <p:val>
                                            <p:strVal val="#ppt_x"/>
                                          </p:val>
                                        </p:tav>
                                        <p:tav tm="100000">
                                          <p:val>
                                            <p:strVal val="#ppt_x"/>
                                          </p:val>
                                        </p:tav>
                                      </p:tavLst>
                                    </p:anim>
                                    <p:anim calcmode="lin" valueType="num">
                                      <p:cBhvr additive="base">
                                        <p:cTn id="20" dur="500" fill="hold"/>
                                        <p:tgtEl>
                                          <p:spTgt spid="7086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08614"/>
                                        </p:tgtEl>
                                        <p:attrNameLst>
                                          <p:attrName>style.visibility</p:attrName>
                                        </p:attrNameLst>
                                      </p:cBhvr>
                                      <p:to>
                                        <p:strVal val="visible"/>
                                      </p:to>
                                    </p:set>
                                    <p:anim calcmode="lin" valueType="num">
                                      <p:cBhvr additive="base">
                                        <p:cTn id="25" dur="500" fill="hold"/>
                                        <p:tgtEl>
                                          <p:spTgt spid="708614"/>
                                        </p:tgtEl>
                                        <p:attrNameLst>
                                          <p:attrName>ppt_x</p:attrName>
                                        </p:attrNameLst>
                                      </p:cBhvr>
                                      <p:tavLst>
                                        <p:tav tm="0">
                                          <p:val>
                                            <p:strVal val="#ppt_x"/>
                                          </p:val>
                                        </p:tav>
                                        <p:tav tm="100000">
                                          <p:val>
                                            <p:strVal val="#ppt_x"/>
                                          </p:val>
                                        </p:tav>
                                      </p:tavLst>
                                    </p:anim>
                                    <p:anim calcmode="lin" valueType="num">
                                      <p:cBhvr additive="base">
                                        <p:cTn id="26" dur="500" fill="hold"/>
                                        <p:tgtEl>
                                          <p:spTgt spid="7086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0" grpId="0"/>
      <p:bldP spid="708611" grpId="0"/>
      <p:bldP spid="708612" grpId="0" animBg="1"/>
      <p:bldP spid="7086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4CBE779D-DF0D-A24B-8AFD-FB74A91EFC5D}" type="slidenum">
              <a:rPr lang="en-US" sz="1400"/>
              <a:pPr/>
              <a:t>23</a:t>
            </a:fld>
            <a:endParaRPr lang="en-US" sz="1400"/>
          </a:p>
        </p:txBody>
      </p:sp>
      <p:sp>
        <p:nvSpPr>
          <p:cNvPr id="704514" name="Text Box 2"/>
          <p:cNvSpPr txBox="1">
            <a:spLocks noChangeArrowheads="1"/>
          </p:cNvSpPr>
          <p:nvPr/>
        </p:nvSpPr>
        <p:spPr bwMode="auto">
          <a:xfrm>
            <a:off x="1325563" y="2042740"/>
            <a:ext cx="9300873" cy="954107"/>
          </a:xfrm>
          <a:prstGeom prst="rect">
            <a:avLst/>
          </a:prstGeom>
          <a:noFill/>
          <a:ln>
            <a:noFill/>
          </a:ln>
          <a:effectLst/>
        </p:spPr>
        <p:txBody>
          <a:bodyPr wrap="square" anchor="ctr">
            <a:spAutoFit/>
          </a:bodyPr>
          <a:lstStyle/>
          <a:p>
            <a:pPr>
              <a:defRPr/>
            </a:pPr>
            <a:r>
              <a:rPr lang="en-US" sz="2800" dirty="0">
                <a:cs typeface="+mn-cs"/>
              </a:rPr>
              <a:t>Using recursion, it is now easy to define functions that process expressions.  For example:</a:t>
            </a:r>
          </a:p>
        </p:txBody>
      </p:sp>
      <p:sp>
        <p:nvSpPr>
          <p:cNvPr id="704515" name="Text Box 3"/>
          <p:cNvSpPr txBox="1">
            <a:spLocks noChangeArrowheads="1"/>
          </p:cNvSpPr>
          <p:nvPr/>
        </p:nvSpPr>
        <p:spPr bwMode="auto">
          <a:xfrm>
            <a:off x="2781300" y="3205420"/>
            <a:ext cx="6629400" cy="3453253"/>
          </a:xfrm>
          <a:prstGeom prst="rect">
            <a:avLst/>
          </a:prstGeom>
          <a:solidFill>
            <a:schemeClr val="accent1"/>
          </a:solidFill>
          <a:ln>
            <a:noFill/>
          </a:ln>
          <a:effectLst/>
        </p:spPr>
        <p:txBody>
          <a:bodyPr anchor="ctr">
            <a:spAutoFit/>
          </a:bodyPr>
          <a:lstStyle/>
          <a:p>
            <a:pPr>
              <a:lnSpc>
                <a:spcPct val="130000"/>
              </a:lnSpc>
              <a:defRPr/>
            </a:pPr>
            <a:r>
              <a:rPr lang="en-US" sz="2400" dirty="0">
                <a:latin typeface="Lucida Sans Typewriter" charset="0"/>
                <a:cs typeface="+mn-cs"/>
              </a:rPr>
              <a:t>size :: Expr </a:t>
            </a:r>
            <a:r>
              <a:rPr lang="en-US" sz="2400" dirty="0">
                <a:latin typeface="Lucida Sans Typewriter" charset="0"/>
                <a:cs typeface="+mn-cs"/>
                <a:sym typeface="Symbol" charset="0"/>
              </a:rPr>
              <a:t></a:t>
            </a:r>
            <a:r>
              <a:rPr lang="en-US" sz="2400" dirty="0">
                <a:latin typeface="Lucida Sans Typewriter" charset="0"/>
                <a:cs typeface="+mn-cs"/>
              </a:rPr>
              <a:t> </a:t>
            </a:r>
            <a:r>
              <a:rPr lang="en-US" sz="2400" dirty="0" err="1">
                <a:latin typeface="Lucida Sans Typewriter" charset="0"/>
                <a:cs typeface="+mn-cs"/>
              </a:rPr>
              <a:t>Int</a:t>
            </a:r>
            <a:endParaRPr lang="en-US" sz="2400" dirty="0">
              <a:latin typeface="Lucida Sans Typewriter" charset="0"/>
              <a:cs typeface="+mn-cs"/>
            </a:endParaRPr>
          </a:p>
          <a:p>
            <a:pPr>
              <a:lnSpc>
                <a:spcPct val="130000"/>
              </a:lnSpc>
              <a:defRPr/>
            </a:pPr>
            <a:r>
              <a:rPr lang="en-US" sz="2400" dirty="0">
                <a:latin typeface="Lucida Sans Typewriter" charset="0"/>
                <a:cs typeface="+mn-cs"/>
              </a:rPr>
              <a:t>size (Val n)   = 1</a:t>
            </a:r>
          </a:p>
          <a:p>
            <a:pPr>
              <a:lnSpc>
                <a:spcPct val="130000"/>
              </a:lnSpc>
              <a:defRPr/>
            </a:pPr>
            <a:r>
              <a:rPr lang="en-US" sz="2400" dirty="0">
                <a:latin typeface="Lucida Sans Typewriter" charset="0"/>
                <a:cs typeface="+mn-cs"/>
              </a:rPr>
              <a:t>size (Add x y) = size x + size y</a:t>
            </a:r>
          </a:p>
          <a:p>
            <a:pPr>
              <a:lnSpc>
                <a:spcPct val="130000"/>
              </a:lnSpc>
              <a:defRPr/>
            </a:pPr>
            <a:endParaRPr lang="en-US" sz="2400" dirty="0">
              <a:latin typeface="Lucida Sans Typewriter" charset="0"/>
              <a:cs typeface="+mn-cs"/>
            </a:endParaRPr>
          </a:p>
          <a:p>
            <a:pPr>
              <a:lnSpc>
                <a:spcPct val="130000"/>
              </a:lnSpc>
              <a:defRPr/>
            </a:pPr>
            <a:r>
              <a:rPr lang="en-US" sz="2400" dirty="0" err="1">
                <a:latin typeface="Lucida Sans Typewriter" charset="0"/>
                <a:cs typeface="+mn-cs"/>
              </a:rPr>
              <a:t>eval</a:t>
            </a:r>
            <a:r>
              <a:rPr lang="en-US" sz="2400" dirty="0">
                <a:latin typeface="Lucida Sans Typewriter" charset="0"/>
                <a:cs typeface="+mn-cs"/>
              </a:rPr>
              <a:t> :: Expr </a:t>
            </a:r>
            <a:r>
              <a:rPr lang="en-US" sz="2400" dirty="0">
                <a:latin typeface="Lucida Sans Typewriter" charset="0"/>
                <a:cs typeface="+mn-cs"/>
                <a:sym typeface="Symbol" charset="0"/>
              </a:rPr>
              <a:t></a:t>
            </a:r>
            <a:r>
              <a:rPr lang="en-US" sz="2400" dirty="0">
                <a:latin typeface="Lucida Sans Typewriter" charset="0"/>
                <a:cs typeface="+mn-cs"/>
              </a:rPr>
              <a:t> </a:t>
            </a:r>
            <a:r>
              <a:rPr lang="en-US" sz="2400" dirty="0" err="1">
                <a:latin typeface="Lucida Sans Typewriter" charset="0"/>
                <a:cs typeface="+mn-cs"/>
              </a:rPr>
              <a:t>Int</a:t>
            </a:r>
            <a:endParaRPr lang="en-US" sz="2400" dirty="0">
              <a:latin typeface="Lucida Sans Typewriter" charset="0"/>
              <a:cs typeface="+mn-cs"/>
            </a:endParaRPr>
          </a:p>
          <a:p>
            <a:pPr>
              <a:lnSpc>
                <a:spcPct val="130000"/>
              </a:lnSpc>
              <a:defRPr/>
            </a:pPr>
            <a:r>
              <a:rPr lang="en-US" sz="2400" dirty="0" err="1">
                <a:latin typeface="Lucida Sans Typewriter" charset="0"/>
                <a:cs typeface="+mn-cs"/>
              </a:rPr>
              <a:t>eval</a:t>
            </a:r>
            <a:r>
              <a:rPr lang="en-US" sz="2400" dirty="0">
                <a:latin typeface="Lucida Sans Typewriter" charset="0"/>
                <a:cs typeface="+mn-cs"/>
              </a:rPr>
              <a:t> (Val n)   = n</a:t>
            </a:r>
          </a:p>
          <a:p>
            <a:pPr>
              <a:lnSpc>
                <a:spcPct val="130000"/>
              </a:lnSpc>
              <a:defRPr/>
            </a:pPr>
            <a:r>
              <a:rPr lang="en-US" sz="2400" dirty="0" err="1">
                <a:latin typeface="Lucida Sans Typewriter" charset="0"/>
                <a:cs typeface="+mn-cs"/>
              </a:rPr>
              <a:t>eval</a:t>
            </a:r>
            <a:r>
              <a:rPr lang="en-US" sz="2400" dirty="0">
                <a:latin typeface="Lucida Sans Typewriter" charset="0"/>
                <a:cs typeface="+mn-cs"/>
              </a:rPr>
              <a:t> (Add x y) = </a:t>
            </a:r>
            <a:r>
              <a:rPr lang="en-US" sz="2400" dirty="0" err="1">
                <a:latin typeface="Lucida Sans Typewriter" charset="0"/>
                <a:cs typeface="+mn-cs"/>
              </a:rPr>
              <a:t>eval</a:t>
            </a:r>
            <a:r>
              <a:rPr lang="en-US" sz="2400" dirty="0">
                <a:latin typeface="Lucida Sans Typewriter" charset="0"/>
                <a:cs typeface="+mn-cs"/>
              </a:rPr>
              <a:t> x + </a:t>
            </a:r>
            <a:r>
              <a:rPr lang="en-US" sz="2400" dirty="0" err="1">
                <a:latin typeface="Lucida Sans Typewriter" charset="0"/>
                <a:cs typeface="+mn-cs"/>
              </a:rPr>
              <a:t>eval</a:t>
            </a:r>
            <a:r>
              <a:rPr lang="en-US" sz="2400" dirty="0">
                <a:latin typeface="Lucida Sans Typewriter" charset="0"/>
                <a:cs typeface="+mn-cs"/>
              </a:rPr>
              <a:t> y</a:t>
            </a:r>
          </a:p>
        </p:txBody>
      </p:sp>
      <p:sp>
        <p:nvSpPr>
          <p:cNvPr id="3" name="Rectangle 2">
            <a:extLst>
              <a:ext uri="{FF2B5EF4-FFF2-40B4-BE49-F238E27FC236}">
                <a16:creationId xmlns:a16="http://schemas.microsoft.com/office/drawing/2014/main" id="{2C973D8B-1AE4-D9E5-EFA1-C4BCE72A80B4}"/>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4514"/>
                                        </p:tgtEl>
                                        <p:attrNameLst>
                                          <p:attrName>style.visibility</p:attrName>
                                        </p:attrNameLst>
                                      </p:cBhvr>
                                      <p:to>
                                        <p:strVal val="visible"/>
                                      </p:to>
                                    </p:set>
                                    <p:anim calcmode="lin" valueType="num">
                                      <p:cBhvr additive="base">
                                        <p:cTn id="7" dur="500" fill="hold"/>
                                        <p:tgtEl>
                                          <p:spTgt spid="704514"/>
                                        </p:tgtEl>
                                        <p:attrNameLst>
                                          <p:attrName>ppt_x</p:attrName>
                                        </p:attrNameLst>
                                      </p:cBhvr>
                                      <p:tavLst>
                                        <p:tav tm="0">
                                          <p:val>
                                            <p:strVal val="#ppt_x"/>
                                          </p:val>
                                        </p:tav>
                                        <p:tav tm="100000">
                                          <p:val>
                                            <p:strVal val="#ppt_x"/>
                                          </p:val>
                                        </p:tav>
                                      </p:tavLst>
                                    </p:anim>
                                    <p:anim calcmode="lin" valueType="num">
                                      <p:cBhvr additive="base">
                                        <p:cTn id="8" dur="500" fill="hold"/>
                                        <p:tgtEl>
                                          <p:spTgt spid="7045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4515"/>
                                        </p:tgtEl>
                                        <p:attrNameLst>
                                          <p:attrName>style.visibility</p:attrName>
                                        </p:attrNameLst>
                                      </p:cBhvr>
                                      <p:to>
                                        <p:strVal val="visible"/>
                                      </p:to>
                                    </p:set>
                                    <p:anim calcmode="lin" valueType="num">
                                      <p:cBhvr additive="base">
                                        <p:cTn id="13" dur="500" fill="hold"/>
                                        <p:tgtEl>
                                          <p:spTgt spid="704515"/>
                                        </p:tgtEl>
                                        <p:attrNameLst>
                                          <p:attrName>ppt_x</p:attrName>
                                        </p:attrNameLst>
                                      </p:cBhvr>
                                      <p:tavLst>
                                        <p:tav tm="0">
                                          <p:val>
                                            <p:strVal val="#ppt_x"/>
                                          </p:val>
                                        </p:tav>
                                        <p:tav tm="100000">
                                          <p:val>
                                            <p:strVal val="#ppt_x"/>
                                          </p:val>
                                        </p:tav>
                                      </p:tavLst>
                                    </p:anim>
                                    <p:anim calcmode="lin" valueType="num">
                                      <p:cBhvr additive="base">
                                        <p:cTn id="14" dur="500" fill="hold"/>
                                        <p:tgtEl>
                                          <p:spTgt spid="7045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4" grpId="0"/>
      <p:bldP spid="7045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24</a:t>
            </a:fld>
            <a:endParaRPr lang="en-US" sz="1400"/>
          </a:p>
        </p:txBody>
      </p:sp>
      <p:sp>
        <p:nvSpPr>
          <p:cNvPr id="705538" name="Text Box 2"/>
          <p:cNvSpPr txBox="1">
            <a:spLocks noChangeArrowheads="1"/>
          </p:cNvSpPr>
          <p:nvPr/>
        </p:nvSpPr>
        <p:spPr bwMode="auto">
          <a:xfrm>
            <a:off x="943264" y="2321580"/>
            <a:ext cx="1075936" cy="523220"/>
          </a:xfrm>
          <a:prstGeom prst="rect">
            <a:avLst/>
          </a:prstGeom>
          <a:noFill/>
          <a:ln>
            <a:noFill/>
          </a:ln>
          <a:effectLst/>
        </p:spPr>
        <p:txBody>
          <a:bodyPr wrap="none" anchor="ctr">
            <a:spAutoFit/>
          </a:bodyPr>
          <a:lstStyle/>
          <a:p>
            <a:pPr>
              <a:defRPr/>
            </a:pPr>
            <a:r>
              <a:rPr lang="en-US" sz="2800" dirty="0">
                <a:cs typeface="+mn-cs"/>
              </a:rPr>
              <a:t>Note:</a:t>
            </a:r>
          </a:p>
        </p:txBody>
      </p:sp>
      <p:sp>
        <p:nvSpPr>
          <p:cNvPr id="36867" name="Rectangle 3"/>
          <p:cNvSpPr>
            <a:spLocks noChangeArrowheads="1"/>
          </p:cNvSpPr>
          <p:nvPr/>
        </p:nvSpPr>
        <p:spPr bwMode="auto">
          <a:xfrm>
            <a:off x="1046452" y="3222159"/>
            <a:ext cx="8056562" cy="647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r>
              <a:rPr kumimoji="1" lang="en-US" sz="2800" dirty="0"/>
              <a:t>The two constructors have types:</a:t>
            </a:r>
          </a:p>
        </p:txBody>
      </p:sp>
      <p:sp>
        <p:nvSpPr>
          <p:cNvPr id="705540" name="Text Box 4"/>
          <p:cNvSpPr txBox="1">
            <a:spLocks noChangeArrowheads="1"/>
          </p:cNvSpPr>
          <p:nvPr/>
        </p:nvSpPr>
        <p:spPr bwMode="auto">
          <a:xfrm>
            <a:off x="3075855" y="4305284"/>
            <a:ext cx="5067413" cy="869982"/>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Val :: </a:t>
            </a:r>
            <a:r>
              <a:rPr lang="en-US" sz="2400" dirty="0" err="1">
                <a:latin typeface="Lucida Sans Typewriter" charset="0"/>
                <a:cs typeface="+mn-cs"/>
              </a:rPr>
              <a:t>Int</a:t>
            </a:r>
            <a:r>
              <a:rPr lang="en-US" sz="2400" dirty="0">
                <a:latin typeface="Lucida Sans Typewriter" charset="0"/>
                <a:cs typeface="+mn-cs"/>
              </a:rPr>
              <a:t> </a:t>
            </a:r>
            <a:r>
              <a:rPr lang="en-US" sz="2400" dirty="0">
                <a:latin typeface="Lucida Sans Typewriter" charset="0"/>
                <a:cs typeface="+mn-cs"/>
                <a:sym typeface="Symbol" charset="0"/>
              </a:rPr>
              <a:t></a:t>
            </a:r>
            <a:r>
              <a:rPr lang="en-US" sz="2400" dirty="0">
                <a:latin typeface="Lucida Sans Typewriter" charset="0"/>
                <a:cs typeface="+mn-cs"/>
              </a:rPr>
              <a:t> Expr</a:t>
            </a:r>
          </a:p>
          <a:p>
            <a:pPr>
              <a:lnSpc>
                <a:spcPct val="110000"/>
              </a:lnSpc>
              <a:defRPr/>
            </a:pPr>
            <a:r>
              <a:rPr lang="en-US" sz="2400" dirty="0">
                <a:latin typeface="Lucida Sans Typewriter" charset="0"/>
                <a:cs typeface="+mn-cs"/>
              </a:rPr>
              <a:t>Add :: Expr </a:t>
            </a:r>
            <a:r>
              <a:rPr lang="en-US" sz="2400" dirty="0">
                <a:latin typeface="Lucida Sans Typewriter" charset="0"/>
                <a:cs typeface="+mn-cs"/>
                <a:sym typeface="Symbol" charset="0"/>
              </a:rPr>
              <a:t></a:t>
            </a:r>
            <a:r>
              <a:rPr lang="en-US" sz="2400" dirty="0">
                <a:latin typeface="Lucida Sans Typewriter" charset="0"/>
                <a:cs typeface="+mn-cs"/>
              </a:rPr>
              <a:t> Expr </a:t>
            </a:r>
            <a:r>
              <a:rPr lang="en-US" sz="2400" dirty="0">
                <a:latin typeface="Lucida Sans Typewriter" charset="0"/>
                <a:cs typeface="+mn-cs"/>
                <a:sym typeface="Symbol" charset="0"/>
              </a:rPr>
              <a:t></a:t>
            </a:r>
            <a:r>
              <a:rPr lang="en-US" sz="2400" dirty="0">
                <a:latin typeface="Lucida Sans Typewriter" charset="0"/>
                <a:cs typeface="+mn-cs"/>
              </a:rPr>
              <a:t> Expr</a:t>
            </a:r>
          </a:p>
        </p:txBody>
      </p:sp>
      <p:sp>
        <p:nvSpPr>
          <p:cNvPr id="36869" name="Rectangle 5"/>
          <p:cNvSpPr>
            <a:spLocks noChangeArrowheads="1"/>
          </p:cNvSpPr>
          <p:nvPr/>
        </p:nvSpPr>
        <p:spPr bwMode="auto">
          <a:xfrm>
            <a:off x="1919288" y="4013200"/>
            <a:ext cx="8043862" cy="145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endParaRPr kumimoji="1" lang="en-US" dirty="0"/>
          </a:p>
        </p:txBody>
      </p:sp>
      <p:sp>
        <p:nvSpPr>
          <p:cNvPr id="3" name="Rectangle 2">
            <a:extLst>
              <a:ext uri="{FF2B5EF4-FFF2-40B4-BE49-F238E27FC236}">
                <a16:creationId xmlns:a16="http://schemas.microsoft.com/office/drawing/2014/main" id="{D9D99037-7E24-1CF4-A2F8-52F893C1EABC}"/>
              </a:ext>
            </a:extLst>
          </p:cNvPr>
          <p:cNvSpPr txBox="1">
            <a:spLocks noChangeArrowheads="1"/>
          </p:cNvSpPr>
          <p:nvPr/>
        </p:nvSpPr>
        <p:spPr>
          <a:xfrm>
            <a:off x="832721" y="905628"/>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a:latin typeface="Arial Black" charset="0"/>
                <a:ea typeface="ＭＳ Ｐゴシック" charset="0"/>
                <a:cs typeface="ＭＳ Ｐゴシック" charset="0"/>
              </a:rPr>
              <a:t>Recursive Types</a:t>
            </a:r>
            <a:endParaRPr lang="en-US" dirty="0">
              <a:latin typeface="Arial Black" charset="0"/>
              <a:ea typeface="ＭＳ Ｐゴシック" charset="0"/>
              <a:cs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 calcmode="lin" valueType="num">
                                      <p:cBhvr additive="base">
                                        <p:cTn id="7" dur="500" fill="hold"/>
                                        <p:tgtEl>
                                          <p:spTgt spid="36867"/>
                                        </p:tgtEl>
                                        <p:attrNameLst>
                                          <p:attrName>ppt_x</p:attrName>
                                        </p:attrNameLst>
                                      </p:cBhvr>
                                      <p:tavLst>
                                        <p:tav tm="0">
                                          <p:val>
                                            <p:strVal val="#ppt_x"/>
                                          </p:val>
                                        </p:tav>
                                        <p:tav tm="100000">
                                          <p:val>
                                            <p:strVal val="#ppt_x"/>
                                          </p:val>
                                        </p:tav>
                                      </p:tavLst>
                                    </p:anim>
                                    <p:anim calcmode="lin" valueType="num">
                                      <p:cBhvr additive="base">
                                        <p:cTn id="8" dur="500" fill="hold"/>
                                        <p:tgtEl>
                                          <p:spTgt spid="368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5540"/>
                                        </p:tgtEl>
                                        <p:attrNameLst>
                                          <p:attrName>style.visibility</p:attrName>
                                        </p:attrNameLst>
                                      </p:cBhvr>
                                      <p:to>
                                        <p:strVal val="visible"/>
                                      </p:to>
                                    </p:set>
                                    <p:anim calcmode="lin" valueType="num">
                                      <p:cBhvr additive="base">
                                        <p:cTn id="13" dur="500" fill="hold"/>
                                        <p:tgtEl>
                                          <p:spTgt spid="705540"/>
                                        </p:tgtEl>
                                        <p:attrNameLst>
                                          <p:attrName>ppt_x</p:attrName>
                                        </p:attrNameLst>
                                      </p:cBhvr>
                                      <p:tavLst>
                                        <p:tav tm="0">
                                          <p:val>
                                            <p:strVal val="#ppt_x"/>
                                          </p:val>
                                        </p:tav>
                                        <p:tav tm="100000">
                                          <p:val>
                                            <p:strVal val="#ppt_x"/>
                                          </p:val>
                                        </p:tav>
                                      </p:tavLst>
                                    </p:anim>
                                    <p:anim calcmode="lin" valueType="num">
                                      <p:cBhvr additive="base">
                                        <p:cTn id="14" dur="500" fill="hold"/>
                                        <p:tgtEl>
                                          <p:spTgt spid="7055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p:bldP spid="7055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25</a:t>
            </a:fld>
            <a:endParaRPr lang="en-US" sz="1400"/>
          </a:p>
        </p:txBody>
      </p:sp>
      <p:sp>
        <p:nvSpPr>
          <p:cNvPr id="705540" name="Text Box 4"/>
          <p:cNvSpPr txBox="1">
            <a:spLocks noChangeArrowheads="1"/>
          </p:cNvSpPr>
          <p:nvPr/>
        </p:nvSpPr>
        <p:spPr bwMode="auto">
          <a:xfrm>
            <a:off x="6418787" y="2131574"/>
            <a:ext cx="5067413" cy="869982"/>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Val :: </a:t>
            </a:r>
            <a:r>
              <a:rPr lang="en-US" sz="2400" dirty="0" err="1">
                <a:latin typeface="Lucida Sans Typewriter" charset="0"/>
                <a:cs typeface="+mn-cs"/>
              </a:rPr>
              <a:t>Int</a:t>
            </a:r>
            <a:r>
              <a:rPr lang="en-US" sz="2400" dirty="0">
                <a:latin typeface="Lucida Sans Typewriter" charset="0"/>
                <a:cs typeface="+mn-cs"/>
              </a:rPr>
              <a:t> </a:t>
            </a:r>
            <a:r>
              <a:rPr lang="en-US" sz="2400" dirty="0">
                <a:latin typeface="Lucida Sans Typewriter" charset="0"/>
                <a:cs typeface="+mn-cs"/>
                <a:sym typeface="Symbol" charset="0"/>
              </a:rPr>
              <a:t></a:t>
            </a:r>
            <a:r>
              <a:rPr lang="en-US" sz="2400" dirty="0">
                <a:latin typeface="Lucida Sans Typewriter" charset="0"/>
                <a:cs typeface="+mn-cs"/>
              </a:rPr>
              <a:t> Expr</a:t>
            </a:r>
          </a:p>
          <a:p>
            <a:pPr>
              <a:lnSpc>
                <a:spcPct val="110000"/>
              </a:lnSpc>
              <a:defRPr/>
            </a:pPr>
            <a:r>
              <a:rPr lang="en-US" sz="2400" dirty="0">
                <a:latin typeface="Lucida Sans Typewriter" charset="0"/>
                <a:cs typeface="+mn-cs"/>
              </a:rPr>
              <a:t>Add :: Expr </a:t>
            </a:r>
            <a:r>
              <a:rPr lang="en-US" sz="2400" dirty="0">
                <a:latin typeface="Lucida Sans Typewriter" charset="0"/>
                <a:cs typeface="+mn-cs"/>
                <a:sym typeface="Symbol" charset="0"/>
              </a:rPr>
              <a:t></a:t>
            </a:r>
            <a:r>
              <a:rPr lang="en-US" sz="2400" dirty="0">
                <a:latin typeface="Lucida Sans Typewriter" charset="0"/>
                <a:cs typeface="+mn-cs"/>
              </a:rPr>
              <a:t> Expr </a:t>
            </a:r>
            <a:r>
              <a:rPr lang="en-US" sz="2400" dirty="0">
                <a:latin typeface="Lucida Sans Typewriter" charset="0"/>
                <a:cs typeface="+mn-cs"/>
                <a:sym typeface="Symbol" charset="0"/>
              </a:rPr>
              <a:t></a:t>
            </a:r>
            <a:r>
              <a:rPr lang="en-US" sz="2400" dirty="0">
                <a:latin typeface="Lucida Sans Typewriter" charset="0"/>
                <a:cs typeface="+mn-cs"/>
              </a:rPr>
              <a:t> Expr</a:t>
            </a:r>
          </a:p>
        </p:txBody>
      </p:sp>
      <p:sp>
        <p:nvSpPr>
          <p:cNvPr id="36869" name="Rectangle 5"/>
          <p:cNvSpPr>
            <a:spLocks noChangeArrowheads="1"/>
          </p:cNvSpPr>
          <p:nvPr/>
        </p:nvSpPr>
        <p:spPr bwMode="auto">
          <a:xfrm>
            <a:off x="1919288" y="4013200"/>
            <a:ext cx="8043862" cy="145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endParaRPr kumimoji="1" lang="en-US" dirty="0"/>
          </a:p>
        </p:txBody>
      </p:sp>
      <p:sp>
        <p:nvSpPr>
          <p:cNvPr id="7" name="Text Box 4"/>
          <p:cNvSpPr txBox="1">
            <a:spLocks noChangeArrowheads="1"/>
          </p:cNvSpPr>
          <p:nvPr/>
        </p:nvSpPr>
        <p:spPr bwMode="auto">
          <a:xfrm>
            <a:off x="263380" y="2129741"/>
            <a:ext cx="4833374" cy="870110"/>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Expr = Val </a:t>
            </a:r>
            <a:r>
              <a:rPr lang="en-US" sz="2400" dirty="0" err="1">
                <a:latin typeface="Lucida Sans Typewriter" charset="0"/>
                <a:cs typeface="+mn-cs"/>
              </a:rPr>
              <a:t>Int</a:t>
            </a:r>
            <a:endParaRPr lang="en-US" sz="2400" dirty="0">
              <a:latin typeface="Lucida Sans Typewriter" charset="0"/>
              <a:cs typeface="+mn-cs"/>
            </a:endParaRPr>
          </a:p>
          <a:p>
            <a:pPr>
              <a:lnSpc>
                <a:spcPct val="110000"/>
              </a:lnSpc>
              <a:defRPr/>
            </a:pPr>
            <a:r>
              <a:rPr lang="en-US" sz="2400" dirty="0">
                <a:latin typeface="Lucida Sans Typewriter" charset="0"/>
                <a:cs typeface="+mn-cs"/>
              </a:rPr>
              <a:t>          | Add Expr Expr</a:t>
            </a:r>
          </a:p>
        </p:txBody>
      </p:sp>
      <p:sp>
        <p:nvSpPr>
          <p:cNvPr id="10" name="Text Box 4"/>
          <p:cNvSpPr txBox="1">
            <a:spLocks noChangeArrowheads="1"/>
          </p:cNvSpPr>
          <p:nvPr/>
        </p:nvSpPr>
        <p:spPr bwMode="auto">
          <a:xfrm>
            <a:off x="2656597" y="3930388"/>
            <a:ext cx="6878806" cy="1311128"/>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value :: Expr </a:t>
            </a:r>
            <a:r>
              <a:rPr lang="en-US" sz="2400" dirty="0">
                <a:latin typeface="Lucida Sans Typewriter" charset="0"/>
                <a:cs typeface="+mn-cs"/>
                <a:sym typeface="Symbol" charset="0"/>
              </a:rPr>
              <a:t></a:t>
            </a:r>
            <a:r>
              <a:rPr lang="en-US" sz="2400" dirty="0">
                <a:latin typeface="Lucida Sans Typewriter" charset="0"/>
                <a:cs typeface="+mn-cs"/>
              </a:rPr>
              <a:t> </a:t>
            </a:r>
            <a:r>
              <a:rPr lang="en-US" sz="2400" dirty="0" err="1">
                <a:latin typeface="Lucida Sans Typewriter" charset="0"/>
                <a:cs typeface="+mn-cs"/>
              </a:rPr>
              <a:t>Int</a:t>
            </a:r>
            <a:endParaRPr lang="en-US" sz="2400" dirty="0">
              <a:latin typeface="Lucida Sans Typewriter" charset="0"/>
              <a:cs typeface="+mn-cs"/>
            </a:endParaRPr>
          </a:p>
          <a:p>
            <a:pPr>
              <a:lnSpc>
                <a:spcPct val="110000"/>
              </a:lnSpc>
              <a:defRPr/>
            </a:pPr>
            <a:r>
              <a:rPr lang="en-US" sz="2400" dirty="0">
                <a:latin typeface="Lucida Sans Typewriter" charset="0"/>
                <a:cs typeface="+mn-cs"/>
              </a:rPr>
              <a:t>value (Val v )   = n</a:t>
            </a:r>
          </a:p>
          <a:p>
            <a:pPr>
              <a:lnSpc>
                <a:spcPct val="110000"/>
              </a:lnSpc>
              <a:defRPr/>
            </a:pPr>
            <a:r>
              <a:rPr lang="en-US" sz="2400" dirty="0">
                <a:latin typeface="Lucida Sans Typewriter" charset="0"/>
              </a:rPr>
              <a:t>value (Add x y)  = value x + value y</a:t>
            </a:r>
            <a:endParaRPr lang="en-US" sz="2400" dirty="0">
              <a:latin typeface="Lucida Sans Typewriter" charset="0"/>
              <a:cs typeface="+mn-cs"/>
            </a:endParaRPr>
          </a:p>
        </p:txBody>
      </p:sp>
      <p:sp>
        <p:nvSpPr>
          <p:cNvPr id="3" name="Rectangle 2">
            <a:extLst>
              <a:ext uri="{FF2B5EF4-FFF2-40B4-BE49-F238E27FC236}">
                <a16:creationId xmlns:a16="http://schemas.microsoft.com/office/drawing/2014/main" id="{138D8F03-5460-B9BB-730F-5B294B218C7A}"/>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Recursive Types</a:t>
            </a:r>
          </a:p>
        </p:txBody>
      </p:sp>
    </p:spTree>
    <p:extLst>
      <p:ext uri="{BB962C8B-B14F-4D97-AF65-F5344CB8AC3E}">
        <p14:creationId xmlns:p14="http://schemas.microsoft.com/office/powerpoint/2010/main" val="56203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5540"/>
                                        </p:tgtEl>
                                        <p:attrNameLst>
                                          <p:attrName>style.visibility</p:attrName>
                                        </p:attrNameLst>
                                      </p:cBhvr>
                                      <p:to>
                                        <p:strVal val="visible"/>
                                      </p:to>
                                    </p:set>
                                    <p:anim calcmode="lin" valueType="num">
                                      <p:cBhvr additive="base">
                                        <p:cTn id="13" dur="500" fill="hold"/>
                                        <p:tgtEl>
                                          <p:spTgt spid="705540"/>
                                        </p:tgtEl>
                                        <p:attrNameLst>
                                          <p:attrName>ppt_x</p:attrName>
                                        </p:attrNameLst>
                                      </p:cBhvr>
                                      <p:tavLst>
                                        <p:tav tm="0">
                                          <p:val>
                                            <p:strVal val="#ppt_x"/>
                                          </p:val>
                                        </p:tav>
                                        <p:tav tm="100000">
                                          <p:val>
                                            <p:strVal val="#ppt_x"/>
                                          </p:val>
                                        </p:tav>
                                      </p:tavLst>
                                    </p:anim>
                                    <p:anim calcmode="lin" valueType="num">
                                      <p:cBhvr additive="base">
                                        <p:cTn id="14" dur="500" fill="hold"/>
                                        <p:tgtEl>
                                          <p:spTgt spid="705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0" grpId="0" animBg="1"/>
      <p:bldP spid="7"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26</a:t>
            </a:fld>
            <a:endParaRPr lang="en-US" sz="1400"/>
          </a:p>
        </p:txBody>
      </p:sp>
      <p:sp>
        <p:nvSpPr>
          <p:cNvPr id="705540" name="Text Box 4"/>
          <p:cNvSpPr txBox="1">
            <a:spLocks noChangeArrowheads="1"/>
          </p:cNvSpPr>
          <p:nvPr/>
        </p:nvSpPr>
        <p:spPr bwMode="auto">
          <a:xfrm>
            <a:off x="1919288" y="3010862"/>
            <a:ext cx="6320961" cy="46384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rPr>
              <a:t>Add (Val 1) (Add (Val 2) (Val 3))</a:t>
            </a:r>
          </a:p>
        </p:txBody>
      </p:sp>
      <p:sp>
        <p:nvSpPr>
          <p:cNvPr id="36869" name="Rectangle 5"/>
          <p:cNvSpPr>
            <a:spLocks noChangeArrowheads="1"/>
          </p:cNvSpPr>
          <p:nvPr/>
        </p:nvSpPr>
        <p:spPr bwMode="auto">
          <a:xfrm>
            <a:off x="1919288" y="4013200"/>
            <a:ext cx="8043862" cy="145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endParaRPr kumimoji="1" lang="en-US" dirty="0"/>
          </a:p>
        </p:txBody>
      </p:sp>
      <p:sp>
        <p:nvSpPr>
          <p:cNvPr id="10" name="Text Box 4"/>
          <p:cNvSpPr txBox="1">
            <a:spLocks noChangeArrowheads="1"/>
          </p:cNvSpPr>
          <p:nvPr/>
        </p:nvSpPr>
        <p:spPr bwMode="auto">
          <a:xfrm>
            <a:off x="1610996" y="3768436"/>
            <a:ext cx="8970007" cy="2701252"/>
          </a:xfrm>
          <a:prstGeom prst="rect">
            <a:avLst/>
          </a:prstGeom>
          <a:solidFill>
            <a:schemeClr val="accent1"/>
          </a:solidFill>
          <a:ln>
            <a:solidFill>
              <a:schemeClr val="accent1"/>
            </a:solidFill>
          </a:ln>
          <a:effectLst/>
        </p:spPr>
        <p:txBody>
          <a:bodyPr wrap="square" anchor="ctr">
            <a:spAutoFit/>
          </a:bodyPr>
          <a:lstStyle/>
          <a:p>
            <a:pPr>
              <a:lnSpc>
                <a:spcPct val="110000"/>
              </a:lnSpc>
              <a:defRPr/>
            </a:pPr>
            <a:r>
              <a:rPr lang="en-US" sz="2200" dirty="0">
                <a:latin typeface="Lucida Sans Typewriter" charset="0"/>
                <a:cs typeface="+mn-cs"/>
              </a:rPr>
              <a:t>value (</a:t>
            </a:r>
            <a:r>
              <a:rPr lang="en-US" sz="2200" dirty="0">
                <a:latin typeface="Lucida Sans Typewriter" charset="0"/>
              </a:rPr>
              <a:t>Add (Val 1) (Add (Val 2) (Val 3))</a:t>
            </a:r>
          </a:p>
          <a:p>
            <a:pPr>
              <a:lnSpc>
                <a:spcPct val="110000"/>
              </a:lnSpc>
              <a:defRPr/>
            </a:pPr>
            <a:r>
              <a:rPr lang="en-US" sz="2200" dirty="0">
                <a:latin typeface="Lucida Sans Typewriter" charset="0"/>
              </a:rPr>
              <a:t>= </a:t>
            </a:r>
            <a:r>
              <a:rPr lang="en-US" sz="2400" dirty="0">
                <a:solidFill>
                  <a:srgbClr val="FF0000"/>
                </a:solidFill>
                <a:latin typeface="Lucida Sans Typewriter" charset="0"/>
              </a:rPr>
              <a:t>{applying value} </a:t>
            </a:r>
            <a:endParaRPr lang="en-US" sz="2200" dirty="0">
              <a:solidFill>
                <a:srgbClr val="FF0000"/>
              </a:solidFill>
              <a:latin typeface="Lucida Sans Typewriter" charset="0"/>
            </a:endParaRPr>
          </a:p>
          <a:p>
            <a:pPr>
              <a:lnSpc>
                <a:spcPct val="110000"/>
              </a:lnSpc>
              <a:defRPr/>
            </a:pPr>
            <a:r>
              <a:rPr lang="en-US" sz="2200" dirty="0">
                <a:latin typeface="Lucida Sans Typewriter" charset="0"/>
              </a:rPr>
              <a:t>value (Val 1) + value (Add (Val 2) (Val 3))</a:t>
            </a:r>
          </a:p>
          <a:p>
            <a:pPr>
              <a:lnSpc>
                <a:spcPct val="110000"/>
              </a:lnSpc>
              <a:defRPr/>
            </a:pPr>
            <a:r>
              <a:rPr lang="en-US" sz="2200" dirty="0">
                <a:latin typeface="Lucida Sans Typewriter" charset="0"/>
                <a:cs typeface="+mn-cs"/>
              </a:rPr>
              <a:t>= </a:t>
            </a:r>
            <a:r>
              <a:rPr lang="en-US" sz="2200" dirty="0">
                <a:solidFill>
                  <a:srgbClr val="FF0000"/>
                </a:solidFill>
                <a:latin typeface="Lucida Sans Typewriter" charset="0"/>
                <a:cs typeface="+mn-cs"/>
              </a:rPr>
              <a:t>{applying the first value and  then second value}</a:t>
            </a:r>
          </a:p>
          <a:p>
            <a:pPr>
              <a:lnSpc>
                <a:spcPct val="110000"/>
              </a:lnSpc>
              <a:defRPr/>
            </a:pPr>
            <a:r>
              <a:rPr lang="en-US" sz="2200" dirty="0">
                <a:latin typeface="Lucida Sans Typewriter" charset="0"/>
                <a:cs typeface="+mn-cs"/>
              </a:rPr>
              <a:t>  1 + value (Val 2) + value (Val 3)</a:t>
            </a:r>
          </a:p>
          <a:p>
            <a:pPr>
              <a:lnSpc>
                <a:spcPct val="110000"/>
              </a:lnSpc>
              <a:defRPr/>
            </a:pPr>
            <a:r>
              <a:rPr lang="en-US" sz="2200" dirty="0">
                <a:latin typeface="Lucida Sans Typewriter" charset="0"/>
                <a:cs typeface="+mn-cs"/>
              </a:rPr>
              <a:t>= </a:t>
            </a:r>
            <a:r>
              <a:rPr lang="en-US" sz="2200" dirty="0">
                <a:solidFill>
                  <a:srgbClr val="FF0000"/>
                </a:solidFill>
                <a:latin typeface="Lucida Sans Typewriter" charset="0"/>
                <a:cs typeface="+mn-cs"/>
              </a:rPr>
              <a:t>{applying values } </a:t>
            </a:r>
          </a:p>
          <a:p>
            <a:pPr>
              <a:lnSpc>
                <a:spcPct val="110000"/>
              </a:lnSpc>
              <a:defRPr/>
            </a:pPr>
            <a:r>
              <a:rPr lang="en-US" sz="2200" dirty="0">
                <a:latin typeface="Lucida Sans Typewriter" charset="0"/>
                <a:cs typeface="+mn-cs"/>
              </a:rPr>
              <a:t>  1 + 2 + 3</a:t>
            </a:r>
          </a:p>
        </p:txBody>
      </p:sp>
      <p:sp>
        <p:nvSpPr>
          <p:cNvPr id="2" name="TextBox 1"/>
          <p:cNvSpPr txBox="1"/>
          <p:nvPr/>
        </p:nvSpPr>
        <p:spPr>
          <a:xfrm>
            <a:off x="1250572" y="1912656"/>
            <a:ext cx="8712578" cy="954107"/>
          </a:xfrm>
          <a:prstGeom prst="rect">
            <a:avLst/>
          </a:prstGeom>
          <a:noFill/>
        </p:spPr>
        <p:txBody>
          <a:bodyPr wrap="none" rtlCol="0">
            <a:spAutoFit/>
          </a:bodyPr>
          <a:lstStyle/>
          <a:p>
            <a:r>
              <a:rPr lang="en-US" sz="2800" dirty="0"/>
              <a:t>For example the expression 1 + ( 2 + 3) is evaluated </a:t>
            </a:r>
          </a:p>
          <a:p>
            <a:r>
              <a:rPr lang="en-US" sz="2800" dirty="0"/>
              <a:t>as </a:t>
            </a:r>
            <a:r>
              <a:rPr lang="en-US" sz="2800" dirty="0">
                <a:latin typeface="Lucida Sans Typewriter" charset="0"/>
              </a:rPr>
              <a:t>follows: </a:t>
            </a:r>
          </a:p>
        </p:txBody>
      </p:sp>
      <p:sp>
        <p:nvSpPr>
          <p:cNvPr id="4" name="Rectangle 2">
            <a:extLst>
              <a:ext uri="{FF2B5EF4-FFF2-40B4-BE49-F238E27FC236}">
                <a16:creationId xmlns:a16="http://schemas.microsoft.com/office/drawing/2014/main" id="{953B0495-78CF-52F6-2F66-98648BFFCA97}"/>
              </a:ext>
            </a:extLst>
          </p:cNvPr>
          <p:cNvSpPr>
            <a:spLocks noGrp="1" noChangeArrowheads="1"/>
          </p:cNvSpPr>
          <p:nvPr>
            <p:ph type="title"/>
          </p:nvPr>
        </p:nvSpPr>
        <p:spPr/>
        <p:txBody>
          <a:bodyPr/>
          <a:lstStyle/>
          <a:p>
            <a:r>
              <a:rPr lang="en-US" dirty="0">
                <a:latin typeface="Arial Black" charset="0"/>
                <a:ea typeface="ＭＳ Ｐゴシック" charset="0"/>
                <a:cs typeface="ＭＳ Ｐゴシック" charset="0"/>
              </a:rPr>
              <a:t>Recursive Types</a:t>
            </a:r>
          </a:p>
        </p:txBody>
      </p:sp>
    </p:spTree>
    <p:extLst>
      <p:ext uri="{BB962C8B-B14F-4D97-AF65-F5344CB8AC3E}">
        <p14:creationId xmlns:p14="http://schemas.microsoft.com/office/powerpoint/2010/main" val="195130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5540"/>
                                        </p:tgtEl>
                                        <p:attrNameLst>
                                          <p:attrName>style.visibility</p:attrName>
                                        </p:attrNameLst>
                                      </p:cBhvr>
                                      <p:to>
                                        <p:strVal val="visible"/>
                                      </p:to>
                                    </p:set>
                                    <p:anim calcmode="lin" valueType="num">
                                      <p:cBhvr additive="base">
                                        <p:cTn id="13" dur="500" fill="hold"/>
                                        <p:tgtEl>
                                          <p:spTgt spid="705540"/>
                                        </p:tgtEl>
                                        <p:attrNameLst>
                                          <p:attrName>ppt_x</p:attrName>
                                        </p:attrNameLst>
                                      </p:cBhvr>
                                      <p:tavLst>
                                        <p:tav tm="0">
                                          <p:val>
                                            <p:strVal val="#ppt_x"/>
                                          </p:val>
                                        </p:tav>
                                        <p:tav tm="100000">
                                          <p:val>
                                            <p:strVal val="#ppt_x"/>
                                          </p:val>
                                        </p:tav>
                                      </p:tavLst>
                                    </p:anim>
                                    <p:anim calcmode="lin" valueType="num">
                                      <p:cBhvr additive="base">
                                        <p:cTn id="14" dur="500" fill="hold"/>
                                        <p:tgtEl>
                                          <p:spTgt spid="705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bg/>
                                          </p:spTgt>
                                        </p:tgtEl>
                                        <p:attrNameLst>
                                          <p:attrName>style.visibility</p:attrName>
                                        </p:attrNameLst>
                                      </p:cBhvr>
                                      <p:to>
                                        <p:strVal val="visible"/>
                                      </p:to>
                                    </p:set>
                                    <p:anim calcmode="lin" valueType="num">
                                      <p:cBhvr additive="base">
                                        <p:cTn id="19"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bg/>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 calcmode="lin" valueType="num">
                                      <p:cBhvr additive="base">
                                        <p:cTn id="2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 calcmode="lin" valueType="num">
                                      <p:cBhvr additive="base">
                                        <p:cTn id="3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0">
                                            <p:txEl>
                                              <p:pRg st="3" end="3"/>
                                            </p:txEl>
                                          </p:spTgt>
                                        </p:tgtEl>
                                        <p:attrNameLst>
                                          <p:attrName>style.visibility</p:attrName>
                                        </p:attrNameLst>
                                      </p:cBhvr>
                                      <p:to>
                                        <p:strVal val="visible"/>
                                      </p:to>
                                    </p:set>
                                    <p:anim calcmode="lin" valueType="num">
                                      <p:cBhvr additive="base">
                                        <p:cTn id="4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
                                            <p:txEl>
                                              <p:pRg st="4" end="4"/>
                                            </p:txEl>
                                          </p:spTgt>
                                        </p:tgtEl>
                                        <p:attrNameLst>
                                          <p:attrName>style.visibility</p:attrName>
                                        </p:attrNameLst>
                                      </p:cBhvr>
                                      <p:to>
                                        <p:strVal val="visible"/>
                                      </p:to>
                                    </p:set>
                                    <p:anim calcmode="lin" valueType="num">
                                      <p:cBhvr additive="base">
                                        <p:cTn id="4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xEl>
                                              <p:pRg st="5" end="5"/>
                                            </p:txEl>
                                          </p:spTgt>
                                        </p:tgtEl>
                                        <p:attrNameLst>
                                          <p:attrName>style.visibility</p:attrName>
                                        </p:attrNameLst>
                                      </p:cBhvr>
                                      <p:to>
                                        <p:strVal val="visible"/>
                                      </p:to>
                                    </p:set>
                                    <p:anim calcmode="lin" valueType="num">
                                      <p:cBhvr additive="base">
                                        <p:cTn id="5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0">
                                            <p:txEl>
                                              <p:pRg st="6" end="6"/>
                                            </p:txEl>
                                          </p:spTgt>
                                        </p:tgtEl>
                                        <p:attrNameLst>
                                          <p:attrName>style.visibility</p:attrName>
                                        </p:attrNameLst>
                                      </p:cBhvr>
                                      <p:to>
                                        <p:strVal val="visible"/>
                                      </p:to>
                                    </p:set>
                                    <p:anim calcmode="lin" valueType="num">
                                      <p:cBhvr additive="base">
                                        <p:cTn id="59"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0" grpId="0" animBg="1"/>
      <p:bldP spid="10" grpId="0" uiExpand="1" build="allAtOnce"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27</a:t>
            </a:fld>
            <a:endParaRPr lang="en-US" sz="1400"/>
          </a:p>
        </p:txBody>
      </p:sp>
      <p:sp>
        <p:nvSpPr>
          <p:cNvPr id="36869" name="Rectangle 5"/>
          <p:cNvSpPr>
            <a:spLocks noChangeArrowheads="1"/>
          </p:cNvSpPr>
          <p:nvPr/>
        </p:nvSpPr>
        <p:spPr bwMode="auto">
          <a:xfrm>
            <a:off x="1919288" y="4013200"/>
            <a:ext cx="8043862" cy="145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endParaRPr kumimoji="1" lang="en-US" dirty="0"/>
          </a:p>
        </p:txBody>
      </p:sp>
      <p:sp>
        <p:nvSpPr>
          <p:cNvPr id="2" name="TextBox 1"/>
          <p:cNvSpPr txBox="1"/>
          <p:nvPr/>
        </p:nvSpPr>
        <p:spPr>
          <a:xfrm>
            <a:off x="803565" y="2454804"/>
            <a:ext cx="10958944" cy="3539430"/>
          </a:xfrm>
          <a:prstGeom prst="rect">
            <a:avLst/>
          </a:prstGeom>
          <a:noFill/>
        </p:spPr>
        <p:txBody>
          <a:bodyPr wrap="square" rtlCol="0">
            <a:spAutoFit/>
          </a:bodyPr>
          <a:lstStyle/>
          <a:p>
            <a:r>
              <a:rPr lang="en-US" sz="2800" dirty="0"/>
              <a:t>In this example, the order of evaluation of the expression was determined by Haskell (left to right). </a:t>
            </a:r>
          </a:p>
          <a:p>
            <a:endParaRPr lang="en-US" sz="2800" dirty="0"/>
          </a:p>
          <a:p>
            <a:r>
              <a:rPr lang="en-US" sz="2800" dirty="0"/>
              <a:t>We now look at encoding the controlling of which step should come next. We call this an </a:t>
            </a:r>
          </a:p>
          <a:p>
            <a:pPr algn="ctr"/>
            <a:r>
              <a:rPr lang="en-US" sz="2800" dirty="0"/>
              <a:t>abstract machine</a:t>
            </a:r>
          </a:p>
          <a:p>
            <a:endParaRPr lang="en-US" sz="2800" dirty="0"/>
          </a:p>
          <a:p>
            <a:endParaRPr lang="en-US" sz="2800" dirty="0">
              <a:latin typeface="Lucida Sans Typewriter" charset="0"/>
            </a:endParaRPr>
          </a:p>
        </p:txBody>
      </p:sp>
      <p:sp>
        <p:nvSpPr>
          <p:cNvPr id="8" name="Rectangle 2"/>
          <p:cNvSpPr txBox="1">
            <a:spLocks noChangeArrowheads="1"/>
          </p:cNvSpPr>
          <p:nvPr/>
        </p:nvSpPr>
        <p:spPr>
          <a:xfrm>
            <a:off x="630382" y="753228"/>
            <a:ext cx="9332768" cy="1062038"/>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Improving our expression evaluator</a:t>
            </a:r>
          </a:p>
          <a:p>
            <a:endParaRPr lang="en-US" kern="0" dirty="0">
              <a:latin typeface="Arial Black" charset="0"/>
              <a:ea typeface="ＭＳ Ｐゴシック" charset="0"/>
              <a:cs typeface="ＭＳ Ｐゴシック" charset="0"/>
            </a:endParaRPr>
          </a:p>
          <a:p>
            <a:endParaRPr lang="en-US" kern="0" dirty="0">
              <a:latin typeface="Arial Black" charset="0"/>
              <a:ea typeface="ＭＳ Ｐゴシック" charset="0"/>
              <a:cs typeface="ＭＳ Ｐゴシック" charset="0"/>
            </a:endParaRPr>
          </a:p>
        </p:txBody>
      </p:sp>
    </p:spTree>
    <p:extLst>
      <p:ext uri="{BB962C8B-B14F-4D97-AF65-F5344CB8AC3E}">
        <p14:creationId xmlns:p14="http://schemas.microsoft.com/office/powerpoint/2010/main" val="56452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28</a:t>
            </a:fld>
            <a:endParaRPr lang="en-US" sz="1400"/>
          </a:p>
        </p:txBody>
      </p:sp>
      <p:sp>
        <p:nvSpPr>
          <p:cNvPr id="36869" name="Rectangle 5"/>
          <p:cNvSpPr>
            <a:spLocks noChangeArrowheads="1"/>
          </p:cNvSpPr>
          <p:nvPr/>
        </p:nvSpPr>
        <p:spPr bwMode="auto">
          <a:xfrm>
            <a:off x="1919288" y="4013200"/>
            <a:ext cx="8043862" cy="145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Clr>
                <a:schemeClr val="accent2"/>
              </a:buClr>
              <a:buFont typeface="Wingdings" panose="05000000000000000000" pitchFamily="2" charset="2"/>
              <a:buChar char="q"/>
            </a:pPr>
            <a:endParaRPr kumimoji="1" lang="en-US" dirty="0"/>
          </a:p>
        </p:txBody>
      </p:sp>
      <p:sp>
        <p:nvSpPr>
          <p:cNvPr id="10" name="Text Box 4"/>
          <p:cNvSpPr txBox="1">
            <a:spLocks noChangeArrowheads="1"/>
          </p:cNvSpPr>
          <p:nvPr/>
        </p:nvSpPr>
        <p:spPr bwMode="auto">
          <a:xfrm>
            <a:off x="1495605" y="3994539"/>
            <a:ext cx="8970007" cy="1276375"/>
          </a:xfrm>
          <a:prstGeom prst="rect">
            <a:avLst/>
          </a:prstGeom>
          <a:solidFill>
            <a:schemeClr val="accent1"/>
          </a:solidFill>
          <a:ln>
            <a:solidFill>
              <a:schemeClr val="accent1"/>
            </a:solidFill>
          </a:ln>
          <a:effectLst/>
        </p:spPr>
        <p:txBody>
          <a:bodyPr wrap="square" anchor="ctr">
            <a:spAutoFit/>
          </a:bodyPr>
          <a:lstStyle/>
          <a:p>
            <a:pPr>
              <a:lnSpc>
                <a:spcPct val="110000"/>
              </a:lnSpc>
              <a:defRPr/>
            </a:pPr>
            <a:r>
              <a:rPr lang="en-US" sz="2400" dirty="0">
                <a:latin typeface="Lucida Sans Typewriter" charset="0"/>
                <a:cs typeface="+mn-cs"/>
              </a:rPr>
              <a:t>type </a:t>
            </a:r>
            <a:r>
              <a:rPr lang="en-US" sz="2400" dirty="0" err="1">
                <a:latin typeface="Lucida Sans Typewriter" charset="0"/>
                <a:cs typeface="+mn-cs"/>
              </a:rPr>
              <a:t>Cont</a:t>
            </a:r>
            <a:r>
              <a:rPr lang="en-US" sz="2400" dirty="0">
                <a:latin typeface="Lucida Sans Typewriter" charset="0"/>
                <a:cs typeface="+mn-cs"/>
              </a:rPr>
              <a:t> = [Op]</a:t>
            </a:r>
          </a:p>
          <a:p>
            <a:pPr>
              <a:lnSpc>
                <a:spcPct val="110000"/>
              </a:lnSpc>
              <a:defRPr/>
            </a:pPr>
            <a:endParaRPr lang="en-US" sz="2400" dirty="0">
              <a:latin typeface="Lucida Sans Typewriter" charset="0"/>
              <a:cs typeface="+mn-cs"/>
            </a:endParaRPr>
          </a:p>
          <a:p>
            <a:pPr>
              <a:lnSpc>
                <a:spcPct val="110000"/>
              </a:lnSpc>
              <a:defRPr/>
            </a:pPr>
            <a:r>
              <a:rPr lang="en-US" sz="2400" dirty="0">
                <a:latin typeface="Lucida Sans Typewriter" charset="0"/>
                <a:cs typeface="+mn-cs"/>
              </a:rPr>
              <a:t>data Op = EVAL Expr | ADD </a:t>
            </a:r>
            <a:r>
              <a:rPr lang="en-US" sz="2400" dirty="0" err="1">
                <a:latin typeface="Lucida Sans Typewriter" charset="0"/>
                <a:cs typeface="+mn-cs"/>
              </a:rPr>
              <a:t>Int</a:t>
            </a:r>
            <a:endParaRPr lang="en-US" sz="2400" dirty="0">
              <a:latin typeface="Lucida Sans Typewriter" charset="0"/>
              <a:cs typeface="+mn-cs"/>
            </a:endParaRPr>
          </a:p>
        </p:txBody>
      </p:sp>
      <p:sp>
        <p:nvSpPr>
          <p:cNvPr id="3" name="TextBox 2"/>
          <p:cNvSpPr txBox="1"/>
          <p:nvPr/>
        </p:nvSpPr>
        <p:spPr>
          <a:xfrm>
            <a:off x="401782" y="5742901"/>
            <a:ext cx="10875818" cy="954107"/>
          </a:xfrm>
          <a:prstGeom prst="rect">
            <a:avLst/>
          </a:prstGeom>
          <a:noFill/>
        </p:spPr>
        <p:txBody>
          <a:bodyPr wrap="square" rtlCol="0">
            <a:spAutoFit/>
          </a:bodyPr>
          <a:lstStyle/>
          <a:p>
            <a:r>
              <a:rPr lang="en-US" sz="2800" dirty="0"/>
              <a:t>We now define a function that evaluates an expression in the context of a control stack.</a:t>
            </a:r>
          </a:p>
        </p:txBody>
      </p:sp>
      <p:sp>
        <p:nvSpPr>
          <p:cNvPr id="5" name="Rectangle 4"/>
          <p:cNvSpPr/>
          <p:nvPr/>
        </p:nvSpPr>
        <p:spPr>
          <a:xfrm>
            <a:off x="401782" y="2137557"/>
            <a:ext cx="10668000" cy="1384995"/>
          </a:xfrm>
          <a:prstGeom prst="rect">
            <a:avLst/>
          </a:prstGeom>
        </p:spPr>
        <p:txBody>
          <a:bodyPr wrap="square">
            <a:spAutoFit/>
          </a:bodyPr>
          <a:lstStyle/>
          <a:p>
            <a:r>
              <a:rPr lang="en-US" sz="2800" dirty="0"/>
              <a:t>We use a control stack for the abstract machine which contains the list of operations to be performed by the machine after the current evaluation has been completed. </a:t>
            </a:r>
          </a:p>
        </p:txBody>
      </p:sp>
      <p:sp>
        <p:nvSpPr>
          <p:cNvPr id="4" name="Rectangle 2">
            <a:extLst>
              <a:ext uri="{FF2B5EF4-FFF2-40B4-BE49-F238E27FC236}">
                <a16:creationId xmlns:a16="http://schemas.microsoft.com/office/drawing/2014/main" id="{1535FC31-41C6-95F7-B70F-9DFEEAD99617}"/>
              </a:ext>
            </a:extLst>
          </p:cNvPr>
          <p:cNvSpPr txBox="1">
            <a:spLocks noChangeArrowheads="1"/>
          </p:cNvSpPr>
          <p:nvPr/>
        </p:nvSpPr>
        <p:spPr>
          <a:xfrm>
            <a:off x="630382" y="753228"/>
            <a:ext cx="9332768" cy="1062038"/>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Improving our expression evaluator</a:t>
            </a:r>
          </a:p>
          <a:p>
            <a:endParaRPr lang="en-US" kern="0" dirty="0">
              <a:latin typeface="Arial Black" charset="0"/>
              <a:ea typeface="ＭＳ Ｐゴシック" charset="0"/>
              <a:cs typeface="ＭＳ Ｐゴシック" charset="0"/>
            </a:endParaRPr>
          </a:p>
          <a:p>
            <a:endParaRPr lang="en-US" kern="0" dirty="0">
              <a:latin typeface="Arial Black" charset="0"/>
              <a:ea typeface="ＭＳ Ｐゴシック" charset="0"/>
              <a:cs typeface="ＭＳ Ｐゴシック" charset="0"/>
            </a:endParaRPr>
          </a:p>
        </p:txBody>
      </p:sp>
    </p:spTree>
    <p:extLst>
      <p:ext uri="{BB962C8B-B14F-4D97-AF65-F5344CB8AC3E}">
        <p14:creationId xmlns:p14="http://schemas.microsoft.com/office/powerpoint/2010/main" val="202708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9E938D7-C042-284D-BA4C-C23E61132D7C}" type="slidenum">
              <a:rPr lang="en-US" sz="1400"/>
              <a:pPr/>
              <a:t>29</a:t>
            </a:fld>
            <a:endParaRPr lang="en-US" sz="1400"/>
          </a:p>
        </p:txBody>
      </p:sp>
      <p:sp>
        <p:nvSpPr>
          <p:cNvPr id="10" name="Text Box 4"/>
          <p:cNvSpPr txBox="1">
            <a:spLocks noChangeArrowheads="1"/>
          </p:cNvSpPr>
          <p:nvPr/>
        </p:nvSpPr>
        <p:spPr bwMode="auto">
          <a:xfrm>
            <a:off x="1610995" y="2860230"/>
            <a:ext cx="8970007" cy="1209562"/>
          </a:xfrm>
          <a:prstGeom prst="rect">
            <a:avLst/>
          </a:prstGeom>
          <a:solidFill>
            <a:schemeClr val="accent1"/>
          </a:solidFill>
          <a:ln>
            <a:solidFill>
              <a:schemeClr val="accent1"/>
            </a:solidFill>
          </a:ln>
          <a:effectLst/>
        </p:spPr>
        <p:txBody>
          <a:bodyPr wrap="square" anchor="ctr">
            <a:spAutoFit/>
          </a:bodyPr>
          <a:lstStyle/>
          <a:p>
            <a:pPr>
              <a:lnSpc>
                <a:spcPct val="110000"/>
              </a:lnSpc>
              <a:defRPr/>
            </a:pPr>
            <a:r>
              <a:rPr lang="en-US" sz="2200" dirty="0" err="1">
                <a:latin typeface="Lucida Sans Typewriter" charset="0"/>
                <a:cs typeface="+mn-cs"/>
              </a:rPr>
              <a:t>eval</a:t>
            </a:r>
            <a:r>
              <a:rPr lang="en-US" sz="2200" dirty="0">
                <a:latin typeface="Lucida Sans Typewriter" charset="0"/>
                <a:cs typeface="+mn-cs"/>
              </a:rPr>
              <a:t> :: Expr -&gt; </a:t>
            </a:r>
            <a:r>
              <a:rPr lang="en-US" sz="2200" dirty="0" err="1">
                <a:latin typeface="Lucida Sans Typewriter" charset="0"/>
                <a:cs typeface="+mn-cs"/>
              </a:rPr>
              <a:t>Cont</a:t>
            </a:r>
            <a:r>
              <a:rPr lang="en-US" sz="2200" dirty="0">
                <a:latin typeface="Lucida Sans Typewriter" charset="0"/>
                <a:cs typeface="+mn-cs"/>
              </a:rPr>
              <a:t> -&gt; </a:t>
            </a:r>
            <a:r>
              <a:rPr lang="en-US" sz="2200" dirty="0" err="1">
                <a:latin typeface="Lucida Sans Typewriter" charset="0"/>
                <a:cs typeface="+mn-cs"/>
              </a:rPr>
              <a:t>Int</a:t>
            </a:r>
            <a:endParaRPr lang="en-US" sz="2200" dirty="0">
              <a:latin typeface="Lucida Sans Typewriter" charset="0"/>
              <a:cs typeface="+mn-cs"/>
            </a:endParaRPr>
          </a:p>
          <a:p>
            <a:pPr>
              <a:lnSpc>
                <a:spcPct val="110000"/>
              </a:lnSpc>
              <a:defRPr/>
            </a:pPr>
            <a:r>
              <a:rPr lang="en-US" sz="2200" dirty="0" err="1">
                <a:latin typeface="Lucida Sans Typewriter" charset="0"/>
              </a:rPr>
              <a:t>eval</a:t>
            </a:r>
            <a:r>
              <a:rPr lang="en-US" sz="2200" dirty="0">
                <a:latin typeface="Lucida Sans Typewriter" charset="0"/>
              </a:rPr>
              <a:t> (Val n)    c = exec c n</a:t>
            </a:r>
          </a:p>
          <a:p>
            <a:pPr>
              <a:lnSpc>
                <a:spcPct val="110000"/>
              </a:lnSpc>
              <a:defRPr/>
            </a:pPr>
            <a:r>
              <a:rPr lang="en-US" sz="2200" dirty="0" err="1">
                <a:latin typeface="Lucida Sans Typewriter" charset="0"/>
              </a:rPr>
              <a:t>eval</a:t>
            </a:r>
            <a:r>
              <a:rPr lang="en-US" sz="2200" dirty="0">
                <a:latin typeface="Lucida Sans Typewriter" charset="0"/>
              </a:rPr>
              <a:t> (Add x y)  c = exec x (EVAL </a:t>
            </a:r>
            <a:r>
              <a:rPr lang="en-US" sz="2200" dirty="0" err="1">
                <a:latin typeface="Lucida Sans Typewriter" charset="0"/>
              </a:rPr>
              <a:t>y:c</a:t>
            </a:r>
            <a:r>
              <a:rPr lang="en-US" sz="2200" dirty="0">
                <a:latin typeface="Lucida Sans Typewriter" charset="0"/>
              </a:rPr>
              <a:t>)</a:t>
            </a:r>
            <a:endParaRPr lang="en-US" sz="2200" dirty="0">
              <a:latin typeface="Lucida Sans Typewriter" charset="0"/>
              <a:cs typeface="+mn-cs"/>
            </a:endParaRPr>
          </a:p>
        </p:txBody>
      </p:sp>
      <p:sp>
        <p:nvSpPr>
          <p:cNvPr id="5" name="Rectangle 4"/>
          <p:cNvSpPr/>
          <p:nvPr/>
        </p:nvSpPr>
        <p:spPr>
          <a:xfrm>
            <a:off x="653835" y="1984895"/>
            <a:ext cx="10652697" cy="954107"/>
          </a:xfrm>
          <a:prstGeom prst="rect">
            <a:avLst/>
          </a:prstGeom>
        </p:spPr>
        <p:txBody>
          <a:bodyPr wrap="square">
            <a:spAutoFit/>
          </a:bodyPr>
          <a:lstStyle/>
          <a:p>
            <a:r>
              <a:rPr lang="en-US" sz="2800" dirty="0"/>
              <a:t>We now define a function that evaluates an expression in the context of a control stack</a:t>
            </a:r>
          </a:p>
        </p:txBody>
      </p:sp>
      <p:sp>
        <p:nvSpPr>
          <p:cNvPr id="11" name="Text Box 4"/>
          <p:cNvSpPr txBox="1">
            <a:spLocks noChangeArrowheads="1"/>
          </p:cNvSpPr>
          <p:nvPr/>
        </p:nvSpPr>
        <p:spPr bwMode="auto">
          <a:xfrm>
            <a:off x="1610996" y="4232849"/>
            <a:ext cx="8970007" cy="1581972"/>
          </a:xfrm>
          <a:prstGeom prst="rect">
            <a:avLst/>
          </a:prstGeom>
          <a:solidFill>
            <a:schemeClr val="accent1"/>
          </a:solidFill>
          <a:ln>
            <a:solidFill>
              <a:schemeClr val="accent1"/>
            </a:solidFill>
          </a:ln>
          <a:effectLst/>
        </p:spPr>
        <p:txBody>
          <a:bodyPr wrap="square" anchor="ctr">
            <a:spAutoFit/>
          </a:bodyPr>
          <a:lstStyle/>
          <a:p>
            <a:pPr>
              <a:lnSpc>
                <a:spcPct val="110000"/>
              </a:lnSpc>
              <a:defRPr/>
            </a:pPr>
            <a:r>
              <a:rPr lang="en-US" sz="2200" dirty="0">
                <a:latin typeface="Lucida Sans Typewriter" charset="0"/>
                <a:cs typeface="+mn-cs"/>
              </a:rPr>
              <a:t>exec :: </a:t>
            </a:r>
            <a:r>
              <a:rPr lang="en-US" sz="2200" dirty="0" err="1">
                <a:latin typeface="Lucida Sans Typewriter" charset="0"/>
                <a:cs typeface="+mn-cs"/>
              </a:rPr>
              <a:t>Cont</a:t>
            </a:r>
            <a:r>
              <a:rPr lang="en-US" sz="2200" dirty="0">
                <a:latin typeface="Lucida Sans Typewriter" charset="0"/>
                <a:cs typeface="+mn-cs"/>
              </a:rPr>
              <a:t> -&gt; </a:t>
            </a:r>
            <a:r>
              <a:rPr lang="en-US" sz="2200" dirty="0" err="1">
                <a:latin typeface="Lucida Sans Typewriter" charset="0"/>
                <a:cs typeface="+mn-cs"/>
              </a:rPr>
              <a:t>Int</a:t>
            </a:r>
            <a:r>
              <a:rPr lang="en-US" sz="2200" dirty="0">
                <a:latin typeface="Lucida Sans Typewriter" charset="0"/>
                <a:cs typeface="+mn-cs"/>
              </a:rPr>
              <a:t> -&gt; </a:t>
            </a:r>
            <a:r>
              <a:rPr lang="en-US" sz="2200" dirty="0" err="1">
                <a:latin typeface="Lucida Sans Typewriter" charset="0"/>
                <a:cs typeface="+mn-cs"/>
              </a:rPr>
              <a:t>Int</a:t>
            </a:r>
            <a:endParaRPr lang="en-US" sz="2200" dirty="0">
              <a:latin typeface="Lucida Sans Typewriter" charset="0"/>
              <a:cs typeface="+mn-cs"/>
            </a:endParaRPr>
          </a:p>
          <a:p>
            <a:pPr>
              <a:lnSpc>
                <a:spcPct val="110000"/>
              </a:lnSpc>
              <a:defRPr/>
            </a:pPr>
            <a:r>
              <a:rPr lang="en-US" sz="2200" dirty="0">
                <a:latin typeface="Lucida Sans Typewriter" charset="0"/>
              </a:rPr>
              <a:t>exec []             n  = n</a:t>
            </a:r>
          </a:p>
          <a:p>
            <a:pPr>
              <a:lnSpc>
                <a:spcPct val="110000"/>
              </a:lnSpc>
              <a:defRPr/>
            </a:pPr>
            <a:r>
              <a:rPr lang="en-US" sz="2200" dirty="0">
                <a:latin typeface="Lucida Sans Typewriter" charset="0"/>
              </a:rPr>
              <a:t>exec (EVAL y : c)   n  = </a:t>
            </a:r>
            <a:r>
              <a:rPr lang="en-US" sz="2200" dirty="0" err="1">
                <a:latin typeface="Lucida Sans Typewriter" charset="0"/>
              </a:rPr>
              <a:t>eval</a:t>
            </a:r>
            <a:r>
              <a:rPr lang="en-US" sz="2200" dirty="0">
                <a:latin typeface="Lucida Sans Typewriter" charset="0"/>
              </a:rPr>
              <a:t> y (ADD n: c)</a:t>
            </a:r>
          </a:p>
          <a:p>
            <a:pPr>
              <a:lnSpc>
                <a:spcPct val="110000"/>
              </a:lnSpc>
              <a:defRPr/>
            </a:pPr>
            <a:r>
              <a:rPr lang="en-US" sz="2200" dirty="0">
                <a:latin typeface="Lucida Sans Typewriter" charset="0"/>
              </a:rPr>
              <a:t>exec (ADD n: c)     m  = exec c (n + m)</a:t>
            </a:r>
          </a:p>
        </p:txBody>
      </p:sp>
      <p:sp>
        <p:nvSpPr>
          <p:cNvPr id="12" name="Text Box 4"/>
          <p:cNvSpPr txBox="1">
            <a:spLocks noChangeArrowheads="1"/>
          </p:cNvSpPr>
          <p:nvPr/>
        </p:nvSpPr>
        <p:spPr bwMode="auto">
          <a:xfrm>
            <a:off x="1610996" y="6020848"/>
            <a:ext cx="8970007" cy="837152"/>
          </a:xfrm>
          <a:prstGeom prst="rect">
            <a:avLst/>
          </a:prstGeom>
          <a:solidFill>
            <a:schemeClr val="accent1"/>
          </a:solidFill>
          <a:ln>
            <a:solidFill>
              <a:schemeClr val="accent1"/>
            </a:solidFill>
          </a:ln>
          <a:effectLst/>
        </p:spPr>
        <p:txBody>
          <a:bodyPr wrap="square" anchor="ctr">
            <a:spAutoFit/>
          </a:bodyPr>
          <a:lstStyle/>
          <a:p>
            <a:pPr>
              <a:lnSpc>
                <a:spcPct val="110000"/>
              </a:lnSpc>
              <a:defRPr/>
            </a:pPr>
            <a:r>
              <a:rPr lang="en-US" sz="2200" dirty="0">
                <a:latin typeface="Lucida Sans Typewriter" charset="0"/>
                <a:cs typeface="+mn-cs"/>
              </a:rPr>
              <a:t>value :: Expr-&gt; </a:t>
            </a:r>
            <a:r>
              <a:rPr lang="en-US" sz="2200" dirty="0" err="1">
                <a:latin typeface="Lucida Sans Typewriter" charset="0"/>
                <a:cs typeface="+mn-cs"/>
              </a:rPr>
              <a:t>Int</a:t>
            </a:r>
            <a:endParaRPr lang="en-US" sz="2200" dirty="0">
              <a:latin typeface="Lucida Sans Typewriter" charset="0"/>
              <a:cs typeface="+mn-cs"/>
            </a:endParaRPr>
          </a:p>
          <a:p>
            <a:pPr>
              <a:lnSpc>
                <a:spcPct val="110000"/>
              </a:lnSpc>
              <a:defRPr/>
            </a:pPr>
            <a:r>
              <a:rPr lang="en-US" sz="2200" dirty="0">
                <a:latin typeface="Lucida Sans Typewriter" charset="0"/>
              </a:rPr>
              <a:t>value e = eval e []</a:t>
            </a:r>
          </a:p>
        </p:txBody>
      </p:sp>
      <p:sp>
        <p:nvSpPr>
          <p:cNvPr id="3" name="Rectangle 2">
            <a:extLst>
              <a:ext uri="{FF2B5EF4-FFF2-40B4-BE49-F238E27FC236}">
                <a16:creationId xmlns:a16="http://schemas.microsoft.com/office/drawing/2014/main" id="{8364CA31-EB15-01E9-8BB1-F15B3E250B29}"/>
              </a:ext>
            </a:extLst>
          </p:cNvPr>
          <p:cNvSpPr txBox="1">
            <a:spLocks noChangeArrowheads="1"/>
          </p:cNvSpPr>
          <p:nvPr/>
        </p:nvSpPr>
        <p:spPr>
          <a:xfrm>
            <a:off x="183956" y="855408"/>
            <a:ext cx="9332768" cy="1062038"/>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Improving our expression evaluator</a:t>
            </a:r>
          </a:p>
          <a:p>
            <a:endParaRPr lang="en-US" kern="0" dirty="0">
              <a:latin typeface="Arial Black" charset="0"/>
              <a:ea typeface="ＭＳ Ｐゴシック" charset="0"/>
              <a:cs typeface="ＭＳ Ｐゴシック" charset="0"/>
            </a:endParaRPr>
          </a:p>
        </p:txBody>
      </p:sp>
    </p:spTree>
    <p:extLst>
      <p:ext uri="{BB962C8B-B14F-4D97-AF65-F5344CB8AC3E}">
        <p14:creationId xmlns:p14="http://schemas.microsoft.com/office/powerpoint/2010/main" val="335530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dirty="0">
                <a:latin typeface="Arial Black" charset="0"/>
                <a:ea typeface="ＭＳ Ｐゴシック" charset="0"/>
                <a:cs typeface="ＭＳ Ｐゴシック" charset="0"/>
              </a:rPr>
              <a:t>Binary Trees</a:t>
            </a:r>
          </a:p>
        </p:txBody>
      </p:sp>
      <p:sp>
        <p:nvSpPr>
          <p:cNvPr id="37889"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0D5E2B79-41EB-C940-A4FE-DCDE691DA8FA}" type="slidenum">
              <a:rPr lang="en-US" sz="1400"/>
              <a:pPr/>
              <a:t>30</a:t>
            </a:fld>
            <a:endParaRPr lang="en-US" sz="1400"/>
          </a:p>
        </p:txBody>
      </p:sp>
      <p:sp>
        <p:nvSpPr>
          <p:cNvPr id="694275" name="Text Box 3"/>
          <p:cNvSpPr txBox="1">
            <a:spLocks noChangeArrowheads="1"/>
          </p:cNvSpPr>
          <p:nvPr/>
        </p:nvSpPr>
        <p:spPr bwMode="auto">
          <a:xfrm>
            <a:off x="540327" y="2269634"/>
            <a:ext cx="10307782" cy="946150"/>
          </a:xfrm>
          <a:prstGeom prst="rect">
            <a:avLst/>
          </a:prstGeom>
          <a:noFill/>
          <a:ln>
            <a:noFill/>
          </a:ln>
          <a:effectLst/>
        </p:spPr>
        <p:txBody>
          <a:bodyPr wrap="square" anchor="ctr">
            <a:spAutoFit/>
          </a:bodyPr>
          <a:lstStyle/>
          <a:p>
            <a:pPr>
              <a:defRPr/>
            </a:pPr>
            <a:r>
              <a:rPr lang="en-US" sz="2800" dirty="0">
                <a:cs typeface="+mn-cs"/>
              </a:rPr>
              <a:t>In computing, it is often useful to store data in a two-way branching structure or </a:t>
            </a:r>
            <a:r>
              <a:rPr lang="en-US" sz="2800" u="sng" dirty="0">
                <a:cs typeface="+mn-cs"/>
              </a:rPr>
              <a:t>binary tree</a:t>
            </a:r>
            <a:r>
              <a:rPr lang="en-US" sz="2800" dirty="0">
                <a:cs typeface="+mn-cs"/>
              </a:rPr>
              <a:t>.</a:t>
            </a:r>
          </a:p>
        </p:txBody>
      </p:sp>
      <p:grpSp>
        <p:nvGrpSpPr>
          <p:cNvPr id="37892" name="Group 34"/>
          <p:cNvGrpSpPr>
            <a:grpSpLocks/>
          </p:cNvGrpSpPr>
          <p:nvPr/>
        </p:nvGrpSpPr>
        <p:grpSpPr bwMode="auto">
          <a:xfrm>
            <a:off x="3582988" y="3440114"/>
            <a:ext cx="4703762" cy="2655887"/>
            <a:chOff x="887" y="2027"/>
            <a:chExt cx="2963" cy="1673"/>
          </a:xfrm>
        </p:grpSpPr>
        <p:sp>
          <p:nvSpPr>
            <p:cNvPr id="694290" name="Text Box 18"/>
            <p:cNvSpPr txBox="1">
              <a:spLocks noChangeArrowheads="1"/>
            </p:cNvSpPr>
            <p:nvPr/>
          </p:nvSpPr>
          <p:spPr bwMode="auto">
            <a:xfrm>
              <a:off x="2248" y="2027"/>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5</a:t>
              </a:r>
            </a:p>
          </p:txBody>
        </p:sp>
        <p:sp>
          <p:nvSpPr>
            <p:cNvPr id="694291" name="Text Box 19"/>
            <p:cNvSpPr txBox="1">
              <a:spLocks noChangeArrowheads="1"/>
            </p:cNvSpPr>
            <p:nvPr/>
          </p:nvSpPr>
          <p:spPr bwMode="auto">
            <a:xfrm>
              <a:off x="3074" y="2786"/>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sym typeface="Symbol" charset="0"/>
                </a:rPr>
                <a:t>7</a:t>
              </a:r>
            </a:p>
          </p:txBody>
        </p:sp>
        <p:sp>
          <p:nvSpPr>
            <p:cNvPr id="694292" name="Text Box 20"/>
            <p:cNvSpPr txBox="1">
              <a:spLocks noChangeArrowheads="1"/>
            </p:cNvSpPr>
            <p:nvPr/>
          </p:nvSpPr>
          <p:spPr bwMode="auto">
            <a:xfrm>
              <a:off x="3618" y="3410"/>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9</a:t>
              </a:r>
            </a:p>
          </p:txBody>
        </p:sp>
        <p:sp>
          <p:nvSpPr>
            <p:cNvPr id="694293" name="Text Box 21"/>
            <p:cNvSpPr txBox="1">
              <a:spLocks noChangeArrowheads="1"/>
            </p:cNvSpPr>
            <p:nvPr/>
          </p:nvSpPr>
          <p:spPr bwMode="auto">
            <a:xfrm>
              <a:off x="2536" y="3410"/>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6</a:t>
              </a:r>
            </a:p>
          </p:txBody>
        </p:sp>
        <p:sp>
          <p:nvSpPr>
            <p:cNvPr id="694295" name="Line 23"/>
            <p:cNvSpPr>
              <a:spLocks noChangeShapeType="1"/>
            </p:cNvSpPr>
            <p:nvPr/>
          </p:nvSpPr>
          <p:spPr bwMode="auto">
            <a:xfrm flipH="1">
              <a:off x="2778" y="3112"/>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694296" name="Line 24"/>
            <p:cNvSpPr>
              <a:spLocks noChangeShapeType="1"/>
            </p:cNvSpPr>
            <p:nvPr/>
          </p:nvSpPr>
          <p:spPr bwMode="auto">
            <a:xfrm>
              <a:off x="2490" y="2364"/>
              <a:ext cx="568" cy="390"/>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694297" name="Line 25"/>
            <p:cNvSpPr>
              <a:spLocks noChangeShapeType="1"/>
            </p:cNvSpPr>
            <p:nvPr/>
          </p:nvSpPr>
          <p:spPr bwMode="auto">
            <a:xfrm>
              <a:off x="3318" y="3106"/>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694298" name="Text Box 26"/>
            <p:cNvSpPr txBox="1">
              <a:spLocks noChangeArrowheads="1"/>
            </p:cNvSpPr>
            <p:nvPr/>
          </p:nvSpPr>
          <p:spPr bwMode="auto">
            <a:xfrm>
              <a:off x="1425" y="2788"/>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sym typeface="Symbol" charset="0"/>
                </a:rPr>
                <a:t>3</a:t>
              </a:r>
            </a:p>
          </p:txBody>
        </p:sp>
        <p:sp>
          <p:nvSpPr>
            <p:cNvPr id="694299" name="Text Box 27"/>
            <p:cNvSpPr txBox="1">
              <a:spLocks noChangeArrowheads="1"/>
            </p:cNvSpPr>
            <p:nvPr/>
          </p:nvSpPr>
          <p:spPr bwMode="auto">
            <a:xfrm>
              <a:off x="1969" y="3412"/>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4</a:t>
              </a:r>
            </a:p>
          </p:txBody>
        </p:sp>
        <p:sp>
          <p:nvSpPr>
            <p:cNvPr id="694300" name="Text Box 28"/>
            <p:cNvSpPr txBox="1">
              <a:spLocks noChangeArrowheads="1"/>
            </p:cNvSpPr>
            <p:nvPr/>
          </p:nvSpPr>
          <p:spPr bwMode="auto">
            <a:xfrm>
              <a:off x="887" y="3412"/>
              <a:ext cx="232" cy="288"/>
            </a:xfrm>
            <a:prstGeom prst="rect">
              <a:avLst/>
            </a:prstGeom>
            <a:solidFill>
              <a:schemeClr val="accent1"/>
            </a:solidFill>
            <a:ln>
              <a:noFill/>
            </a:ln>
            <a:effectLst/>
          </p:spPr>
          <p:txBody>
            <a:bodyPr wrap="none" anchor="ctr">
              <a:spAutoFit/>
            </a:bodyPr>
            <a:lstStyle/>
            <a:p>
              <a:pPr algn="ctr">
                <a:defRPr/>
              </a:pPr>
              <a:r>
                <a:rPr lang="en-US" sz="2400">
                  <a:latin typeface="Lucida Sans Typewriter" charset="0"/>
                  <a:cs typeface="+mn-cs"/>
                </a:rPr>
                <a:t>1</a:t>
              </a:r>
            </a:p>
          </p:txBody>
        </p:sp>
        <p:sp>
          <p:nvSpPr>
            <p:cNvPr id="694301" name="Line 29"/>
            <p:cNvSpPr>
              <a:spLocks noChangeShapeType="1"/>
            </p:cNvSpPr>
            <p:nvPr/>
          </p:nvSpPr>
          <p:spPr bwMode="auto">
            <a:xfrm flipH="1">
              <a:off x="1129" y="3114"/>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694302" name="Line 30"/>
            <p:cNvSpPr>
              <a:spLocks noChangeShapeType="1"/>
            </p:cNvSpPr>
            <p:nvPr/>
          </p:nvSpPr>
          <p:spPr bwMode="auto">
            <a:xfrm>
              <a:off x="1669" y="3108"/>
              <a:ext cx="272" cy="266"/>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sp>
          <p:nvSpPr>
            <p:cNvPr id="694305" name="Line 33"/>
            <p:cNvSpPr>
              <a:spLocks noChangeShapeType="1"/>
            </p:cNvSpPr>
            <p:nvPr/>
          </p:nvSpPr>
          <p:spPr bwMode="auto">
            <a:xfrm flipH="1">
              <a:off x="1651" y="2361"/>
              <a:ext cx="568" cy="390"/>
            </a:xfrm>
            <a:prstGeom prst="line">
              <a:avLst/>
            </a:prstGeom>
            <a:noFill/>
            <a:ln w="38100" cap="sq">
              <a:solidFill>
                <a:schemeClr val="tx1"/>
              </a:solidFill>
              <a:round/>
              <a:headEnd/>
              <a:tailEnd type="triangle" w="sm" len="med"/>
            </a:ln>
            <a:effectLst/>
          </p:spPr>
          <p:txBody>
            <a:bodyPr anchor="ctr">
              <a:spAutoFit/>
            </a:bodyPr>
            <a:lstStyle/>
            <a:p>
              <a:pPr>
                <a:defRPr/>
              </a:pPr>
              <a:endParaRPr lang="en-US">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4275"/>
                                        </p:tgtEl>
                                        <p:attrNameLst>
                                          <p:attrName>style.visibility</p:attrName>
                                        </p:attrNameLst>
                                      </p:cBhvr>
                                      <p:to>
                                        <p:strVal val="visible"/>
                                      </p:to>
                                    </p:set>
                                    <p:anim calcmode="lin" valueType="num">
                                      <p:cBhvr additive="base">
                                        <p:cTn id="7" dur="500" fill="hold"/>
                                        <p:tgtEl>
                                          <p:spTgt spid="694275"/>
                                        </p:tgtEl>
                                        <p:attrNameLst>
                                          <p:attrName>ppt_x</p:attrName>
                                        </p:attrNameLst>
                                      </p:cBhvr>
                                      <p:tavLst>
                                        <p:tav tm="0">
                                          <p:val>
                                            <p:strVal val="#ppt_x"/>
                                          </p:val>
                                        </p:tav>
                                        <p:tav tm="100000">
                                          <p:val>
                                            <p:strVal val="#ppt_x"/>
                                          </p:val>
                                        </p:tav>
                                      </p:tavLst>
                                    </p:anim>
                                    <p:anim calcmode="lin" valueType="num">
                                      <p:cBhvr additive="base">
                                        <p:cTn id="8" dur="500" fill="hold"/>
                                        <p:tgtEl>
                                          <p:spTgt spid="6942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2"/>
                                        </p:tgtEl>
                                        <p:attrNameLst>
                                          <p:attrName>style.visibility</p:attrName>
                                        </p:attrNameLst>
                                      </p:cBhvr>
                                      <p:to>
                                        <p:strVal val="visible"/>
                                      </p:to>
                                    </p:set>
                                    <p:anim calcmode="lin" valueType="num">
                                      <p:cBhvr additive="base">
                                        <p:cTn id="13" dur="500" fill="hold"/>
                                        <p:tgtEl>
                                          <p:spTgt spid="37892"/>
                                        </p:tgtEl>
                                        <p:attrNameLst>
                                          <p:attrName>ppt_x</p:attrName>
                                        </p:attrNameLst>
                                      </p:cBhvr>
                                      <p:tavLst>
                                        <p:tav tm="0">
                                          <p:val>
                                            <p:strVal val="#ppt_x"/>
                                          </p:val>
                                        </p:tav>
                                        <p:tav tm="100000">
                                          <p:val>
                                            <p:strVal val="#ppt_x"/>
                                          </p:val>
                                        </p:tav>
                                      </p:tavLst>
                                    </p:anim>
                                    <p:anim calcmode="lin" valueType="num">
                                      <p:cBhvr additive="base">
                                        <p:cTn id="14"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41A24358-F915-9B47-887B-B55ACD1C303C}" type="slidenum">
              <a:rPr lang="en-US" sz="1400"/>
              <a:pPr/>
              <a:t>31</a:t>
            </a:fld>
            <a:endParaRPr lang="en-US" sz="1400"/>
          </a:p>
        </p:txBody>
      </p:sp>
      <p:sp>
        <p:nvSpPr>
          <p:cNvPr id="696322" name="Text Box 2"/>
          <p:cNvSpPr txBox="1">
            <a:spLocks noChangeArrowheads="1"/>
          </p:cNvSpPr>
          <p:nvPr/>
        </p:nvSpPr>
        <p:spPr bwMode="auto">
          <a:xfrm>
            <a:off x="680321" y="2094805"/>
            <a:ext cx="10153934" cy="946150"/>
          </a:xfrm>
          <a:prstGeom prst="rect">
            <a:avLst/>
          </a:prstGeom>
          <a:noFill/>
          <a:ln>
            <a:noFill/>
          </a:ln>
          <a:effectLst/>
        </p:spPr>
        <p:txBody>
          <a:bodyPr wrap="square" anchor="ctr">
            <a:spAutoFit/>
          </a:bodyPr>
          <a:lstStyle/>
          <a:p>
            <a:pPr>
              <a:defRPr/>
            </a:pPr>
            <a:r>
              <a:rPr lang="en-US" sz="2800" dirty="0">
                <a:cs typeface="+mn-cs"/>
              </a:rPr>
              <a:t>Using recursion, a suitable new type to represent such binary trees can be declared by:</a:t>
            </a:r>
          </a:p>
        </p:txBody>
      </p:sp>
      <p:sp>
        <p:nvSpPr>
          <p:cNvPr id="696323" name="Text Box 3"/>
          <p:cNvSpPr txBox="1">
            <a:spLocks noChangeArrowheads="1"/>
          </p:cNvSpPr>
          <p:nvPr/>
        </p:nvSpPr>
        <p:spPr bwMode="auto">
          <a:xfrm>
            <a:off x="781627" y="4128091"/>
            <a:ext cx="10773064" cy="946150"/>
          </a:xfrm>
          <a:prstGeom prst="rect">
            <a:avLst/>
          </a:prstGeom>
          <a:noFill/>
          <a:ln>
            <a:noFill/>
          </a:ln>
          <a:effectLst/>
        </p:spPr>
        <p:txBody>
          <a:bodyPr wrap="square" anchor="ctr">
            <a:spAutoFit/>
          </a:bodyPr>
          <a:lstStyle/>
          <a:p>
            <a:pPr>
              <a:defRPr/>
            </a:pPr>
            <a:r>
              <a:rPr lang="en-US" sz="2800" dirty="0">
                <a:cs typeface="+mn-cs"/>
              </a:rPr>
              <a:t>For example, the tree on the previous slide would be represented as follows:</a:t>
            </a:r>
          </a:p>
        </p:txBody>
      </p:sp>
      <p:sp>
        <p:nvSpPr>
          <p:cNvPr id="696324" name="Text Box 4"/>
          <p:cNvSpPr txBox="1">
            <a:spLocks noChangeArrowheads="1"/>
          </p:cNvSpPr>
          <p:nvPr/>
        </p:nvSpPr>
        <p:spPr bwMode="auto">
          <a:xfrm>
            <a:off x="2203017" y="3301594"/>
            <a:ext cx="7231062" cy="898525"/>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data Tree a = Leaf a</a:t>
            </a:r>
          </a:p>
          <a:p>
            <a:pPr>
              <a:lnSpc>
                <a:spcPct val="110000"/>
              </a:lnSpc>
              <a:defRPr/>
            </a:pPr>
            <a:r>
              <a:rPr lang="en-US" sz="2400" dirty="0">
                <a:latin typeface="Lucida Sans Typewriter" charset="0"/>
                <a:cs typeface="+mn-cs"/>
              </a:rPr>
              <a:t>            | Node (Tree a) a (Tree a)</a:t>
            </a:r>
          </a:p>
        </p:txBody>
      </p:sp>
      <p:sp>
        <p:nvSpPr>
          <p:cNvPr id="696325" name="Text Box 5"/>
          <p:cNvSpPr txBox="1">
            <a:spLocks noChangeArrowheads="1"/>
          </p:cNvSpPr>
          <p:nvPr/>
        </p:nvSpPr>
        <p:spPr bwMode="auto">
          <a:xfrm>
            <a:off x="2203017" y="5325029"/>
            <a:ext cx="7231062" cy="1306512"/>
          </a:xfrm>
          <a:prstGeom prst="rect">
            <a:avLst/>
          </a:prstGeom>
          <a:solidFill>
            <a:schemeClr val="accent1"/>
          </a:solidFill>
          <a:ln>
            <a:noFill/>
          </a:ln>
          <a:effectLst/>
        </p:spPr>
        <p:txBody>
          <a:bodyPr wrap="none" anchor="ctr">
            <a:spAutoFit/>
          </a:bodyPr>
          <a:lstStyle/>
          <a:p>
            <a:pPr>
              <a:lnSpc>
                <a:spcPct val="110000"/>
              </a:lnSpc>
              <a:defRPr/>
            </a:pPr>
            <a:r>
              <a:rPr lang="en-US" sz="2400" dirty="0">
                <a:latin typeface="Lucida Sans Typewriter" charset="0"/>
                <a:cs typeface="+mn-cs"/>
              </a:rPr>
              <a:t>t :: Tree Int</a:t>
            </a:r>
          </a:p>
          <a:p>
            <a:pPr>
              <a:lnSpc>
                <a:spcPct val="110000"/>
              </a:lnSpc>
              <a:defRPr/>
            </a:pPr>
            <a:r>
              <a:rPr lang="en-US" sz="2400" dirty="0">
                <a:latin typeface="Lucida Sans Typewriter" charset="0"/>
                <a:cs typeface="+mn-cs"/>
              </a:rPr>
              <a:t>t = Node (Node (Leaf 1) 3 (Leaf 4)) 5</a:t>
            </a:r>
          </a:p>
          <a:p>
            <a:pPr>
              <a:lnSpc>
                <a:spcPct val="110000"/>
              </a:lnSpc>
              <a:defRPr/>
            </a:pPr>
            <a:r>
              <a:rPr lang="en-US" sz="2400" dirty="0">
                <a:latin typeface="Lucida Sans Typewriter" charset="0"/>
                <a:cs typeface="+mn-cs"/>
              </a:rPr>
              <a:t>         (Node (Leaf 6) 7 (Leaf 9))</a:t>
            </a:r>
          </a:p>
        </p:txBody>
      </p:sp>
      <p:sp>
        <p:nvSpPr>
          <p:cNvPr id="3" name="Rectangle 2">
            <a:extLst>
              <a:ext uri="{FF2B5EF4-FFF2-40B4-BE49-F238E27FC236}">
                <a16:creationId xmlns:a16="http://schemas.microsoft.com/office/drawing/2014/main" id="{5A4B5C68-9E63-4F50-B8CF-1BE3989DCDC9}"/>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Binary Trees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22"/>
                                        </p:tgtEl>
                                        <p:attrNameLst>
                                          <p:attrName>style.visibility</p:attrName>
                                        </p:attrNameLst>
                                      </p:cBhvr>
                                      <p:to>
                                        <p:strVal val="visible"/>
                                      </p:to>
                                    </p:set>
                                    <p:anim calcmode="lin" valueType="num">
                                      <p:cBhvr additive="base">
                                        <p:cTn id="7" dur="500" fill="hold"/>
                                        <p:tgtEl>
                                          <p:spTgt spid="696322"/>
                                        </p:tgtEl>
                                        <p:attrNameLst>
                                          <p:attrName>ppt_x</p:attrName>
                                        </p:attrNameLst>
                                      </p:cBhvr>
                                      <p:tavLst>
                                        <p:tav tm="0">
                                          <p:val>
                                            <p:strVal val="#ppt_x"/>
                                          </p:val>
                                        </p:tav>
                                        <p:tav tm="100000">
                                          <p:val>
                                            <p:strVal val="#ppt_x"/>
                                          </p:val>
                                        </p:tav>
                                      </p:tavLst>
                                    </p:anim>
                                    <p:anim calcmode="lin" valueType="num">
                                      <p:cBhvr additive="base">
                                        <p:cTn id="8" dur="500" fill="hold"/>
                                        <p:tgtEl>
                                          <p:spTgt spid="696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6324"/>
                                        </p:tgtEl>
                                        <p:attrNameLst>
                                          <p:attrName>style.visibility</p:attrName>
                                        </p:attrNameLst>
                                      </p:cBhvr>
                                      <p:to>
                                        <p:strVal val="visible"/>
                                      </p:to>
                                    </p:set>
                                    <p:anim calcmode="lin" valueType="num">
                                      <p:cBhvr additive="base">
                                        <p:cTn id="13" dur="500" fill="hold"/>
                                        <p:tgtEl>
                                          <p:spTgt spid="696324"/>
                                        </p:tgtEl>
                                        <p:attrNameLst>
                                          <p:attrName>ppt_x</p:attrName>
                                        </p:attrNameLst>
                                      </p:cBhvr>
                                      <p:tavLst>
                                        <p:tav tm="0">
                                          <p:val>
                                            <p:strVal val="#ppt_x"/>
                                          </p:val>
                                        </p:tav>
                                        <p:tav tm="100000">
                                          <p:val>
                                            <p:strVal val="#ppt_x"/>
                                          </p:val>
                                        </p:tav>
                                      </p:tavLst>
                                    </p:anim>
                                    <p:anim calcmode="lin" valueType="num">
                                      <p:cBhvr additive="base">
                                        <p:cTn id="14" dur="500" fill="hold"/>
                                        <p:tgtEl>
                                          <p:spTgt spid="6963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96323"/>
                                        </p:tgtEl>
                                        <p:attrNameLst>
                                          <p:attrName>style.visibility</p:attrName>
                                        </p:attrNameLst>
                                      </p:cBhvr>
                                      <p:to>
                                        <p:strVal val="visible"/>
                                      </p:to>
                                    </p:set>
                                    <p:anim calcmode="lin" valueType="num">
                                      <p:cBhvr additive="base">
                                        <p:cTn id="19" dur="500" fill="hold"/>
                                        <p:tgtEl>
                                          <p:spTgt spid="696323"/>
                                        </p:tgtEl>
                                        <p:attrNameLst>
                                          <p:attrName>ppt_x</p:attrName>
                                        </p:attrNameLst>
                                      </p:cBhvr>
                                      <p:tavLst>
                                        <p:tav tm="0">
                                          <p:val>
                                            <p:strVal val="#ppt_x"/>
                                          </p:val>
                                        </p:tav>
                                        <p:tav tm="100000">
                                          <p:val>
                                            <p:strVal val="#ppt_x"/>
                                          </p:val>
                                        </p:tav>
                                      </p:tavLst>
                                    </p:anim>
                                    <p:anim calcmode="lin" valueType="num">
                                      <p:cBhvr additive="base">
                                        <p:cTn id="20" dur="500" fill="hold"/>
                                        <p:tgtEl>
                                          <p:spTgt spid="6963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96325"/>
                                        </p:tgtEl>
                                        <p:attrNameLst>
                                          <p:attrName>style.visibility</p:attrName>
                                        </p:attrNameLst>
                                      </p:cBhvr>
                                      <p:to>
                                        <p:strVal val="visible"/>
                                      </p:to>
                                    </p:set>
                                    <p:anim calcmode="lin" valueType="num">
                                      <p:cBhvr additive="base">
                                        <p:cTn id="25" dur="500" fill="hold"/>
                                        <p:tgtEl>
                                          <p:spTgt spid="696325"/>
                                        </p:tgtEl>
                                        <p:attrNameLst>
                                          <p:attrName>ppt_x</p:attrName>
                                        </p:attrNameLst>
                                      </p:cBhvr>
                                      <p:tavLst>
                                        <p:tav tm="0">
                                          <p:val>
                                            <p:strVal val="#ppt_x"/>
                                          </p:val>
                                        </p:tav>
                                        <p:tav tm="100000">
                                          <p:val>
                                            <p:strVal val="#ppt_x"/>
                                          </p:val>
                                        </p:tav>
                                      </p:tavLst>
                                    </p:anim>
                                    <p:anim calcmode="lin" valueType="num">
                                      <p:cBhvr additive="base">
                                        <p:cTn id="26" dur="500" fill="hold"/>
                                        <p:tgtEl>
                                          <p:spTgt spid="696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2" grpId="0"/>
      <p:bldP spid="696323" grpId="0"/>
      <p:bldP spid="696324" grpId="0" animBg="1"/>
      <p:bldP spid="6963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FB6267D3-29A7-EB43-BBF1-47A830F0B1F2}" type="slidenum">
              <a:rPr lang="en-US" sz="1400"/>
              <a:pPr/>
              <a:t>32</a:t>
            </a:fld>
            <a:endParaRPr lang="en-US" sz="1400"/>
          </a:p>
        </p:txBody>
      </p:sp>
      <p:sp>
        <p:nvSpPr>
          <p:cNvPr id="714754" name="Text Box 2"/>
          <p:cNvSpPr txBox="1">
            <a:spLocks noChangeArrowheads="1"/>
          </p:cNvSpPr>
          <p:nvPr/>
        </p:nvSpPr>
        <p:spPr bwMode="auto">
          <a:xfrm>
            <a:off x="789710" y="1844017"/>
            <a:ext cx="9670472" cy="946150"/>
          </a:xfrm>
          <a:prstGeom prst="rect">
            <a:avLst/>
          </a:prstGeom>
          <a:noFill/>
          <a:ln>
            <a:noFill/>
          </a:ln>
          <a:effectLst/>
        </p:spPr>
        <p:txBody>
          <a:bodyPr wrap="square" anchor="ctr">
            <a:spAutoFit/>
          </a:bodyPr>
          <a:lstStyle/>
          <a:p>
            <a:pPr>
              <a:defRPr/>
            </a:pPr>
            <a:r>
              <a:rPr lang="en-US" sz="2800" dirty="0">
                <a:cs typeface="+mn-cs"/>
              </a:rPr>
              <a:t>We can now define a function that decides if a given value occurs in a binary tree:</a:t>
            </a:r>
          </a:p>
        </p:txBody>
      </p:sp>
      <p:sp>
        <p:nvSpPr>
          <p:cNvPr id="714756" name="Text Box 4"/>
          <p:cNvSpPr txBox="1">
            <a:spLocks noChangeArrowheads="1"/>
          </p:cNvSpPr>
          <p:nvPr/>
        </p:nvSpPr>
        <p:spPr bwMode="auto">
          <a:xfrm>
            <a:off x="1990870" y="3074556"/>
            <a:ext cx="7046912" cy="2295525"/>
          </a:xfrm>
          <a:prstGeom prst="rect">
            <a:avLst/>
          </a:prstGeom>
          <a:solidFill>
            <a:schemeClr val="accent1"/>
          </a:solidFill>
          <a:ln>
            <a:noFill/>
          </a:ln>
          <a:effectLst/>
        </p:spPr>
        <p:txBody>
          <a:bodyPr wrap="none" anchor="ctr">
            <a:spAutoFit/>
          </a:bodyPr>
          <a:lstStyle/>
          <a:p>
            <a:pPr>
              <a:lnSpc>
                <a:spcPct val="120000"/>
              </a:lnSpc>
              <a:defRPr/>
            </a:pPr>
            <a:r>
              <a:rPr lang="en-US" sz="2400" dirty="0">
                <a:latin typeface="Lucida Sans Typewriter" charset="0"/>
                <a:cs typeface="+mn-cs"/>
              </a:rPr>
              <a:t>occurs :: Ord a </a:t>
            </a:r>
            <a:r>
              <a:rPr lang="en-US" sz="2400" dirty="0">
                <a:latin typeface="Lucida Sans Typewriter" pitchFamily="-1" charset="0"/>
                <a:ea typeface="ＭＳ Ｐゴシック" pitchFamily="-1" charset="-128"/>
                <a:cs typeface="ＭＳ Ｐゴシック" pitchFamily="-1" charset="-128"/>
                <a:sym typeface="Symbol" pitchFamily="-1" charset="2"/>
              </a:rPr>
              <a:t></a:t>
            </a:r>
            <a:r>
              <a:rPr lang="en-US" sz="2400" dirty="0">
                <a:latin typeface="Lucida Sans Typewriter" charset="0"/>
                <a:cs typeface="+mn-cs"/>
              </a:rPr>
              <a:t> a </a:t>
            </a:r>
            <a:r>
              <a:rPr lang="en-US" sz="2400" dirty="0">
                <a:latin typeface="Lucida Sans Typewriter" charset="0"/>
                <a:cs typeface="+mn-cs"/>
                <a:sym typeface="Symbol" charset="0"/>
              </a:rPr>
              <a:t></a:t>
            </a:r>
            <a:r>
              <a:rPr lang="en-US" sz="2400" dirty="0">
                <a:latin typeface="Lucida Sans Typewriter" charset="0"/>
                <a:cs typeface="+mn-cs"/>
              </a:rPr>
              <a:t> Tree a </a:t>
            </a:r>
            <a:r>
              <a:rPr lang="en-US" sz="2400" dirty="0">
                <a:latin typeface="Lucida Sans Typewriter" charset="0"/>
                <a:cs typeface="+mn-cs"/>
                <a:sym typeface="Symbol" charset="0"/>
              </a:rPr>
              <a:t></a:t>
            </a:r>
            <a:r>
              <a:rPr lang="en-US" sz="2400" dirty="0">
                <a:latin typeface="Lucida Sans Typewriter" charset="0"/>
                <a:cs typeface="+mn-cs"/>
              </a:rPr>
              <a:t> Bool</a:t>
            </a:r>
          </a:p>
          <a:p>
            <a:pPr>
              <a:lnSpc>
                <a:spcPct val="120000"/>
              </a:lnSpc>
              <a:defRPr/>
            </a:pPr>
            <a:r>
              <a:rPr lang="en-US" sz="2400" dirty="0">
                <a:latin typeface="Lucida Sans Typewriter" charset="0"/>
                <a:cs typeface="+mn-cs"/>
              </a:rPr>
              <a:t>occurs x (Leaf y)     = x == y</a:t>
            </a:r>
          </a:p>
          <a:p>
            <a:pPr>
              <a:lnSpc>
                <a:spcPct val="120000"/>
              </a:lnSpc>
              <a:defRPr/>
            </a:pPr>
            <a:r>
              <a:rPr lang="en-US" sz="2400" dirty="0">
                <a:latin typeface="Lucida Sans Typewriter" charset="0"/>
                <a:cs typeface="+mn-cs"/>
              </a:rPr>
              <a:t>occurs x (Node l y r) = x == y</a:t>
            </a:r>
          </a:p>
          <a:p>
            <a:pPr>
              <a:lnSpc>
                <a:spcPct val="120000"/>
              </a:lnSpc>
              <a:defRPr/>
            </a:pPr>
            <a:r>
              <a:rPr lang="en-US" sz="2400" dirty="0">
                <a:latin typeface="Lucida Sans Typewriter" charset="0"/>
                <a:cs typeface="+mn-cs"/>
              </a:rPr>
              <a:t>                        || occurs x l</a:t>
            </a:r>
          </a:p>
          <a:p>
            <a:pPr>
              <a:lnSpc>
                <a:spcPct val="120000"/>
              </a:lnSpc>
              <a:defRPr/>
            </a:pPr>
            <a:r>
              <a:rPr lang="en-US" sz="2400" dirty="0">
                <a:latin typeface="Lucida Sans Typewriter" charset="0"/>
                <a:cs typeface="+mn-cs"/>
              </a:rPr>
              <a:t>                        || occurs x r</a:t>
            </a:r>
          </a:p>
        </p:txBody>
      </p:sp>
      <p:sp>
        <p:nvSpPr>
          <p:cNvPr id="714758" name="Text Box 6"/>
          <p:cNvSpPr txBox="1">
            <a:spLocks noChangeArrowheads="1"/>
          </p:cNvSpPr>
          <p:nvPr/>
        </p:nvSpPr>
        <p:spPr bwMode="auto">
          <a:xfrm>
            <a:off x="789710" y="5781531"/>
            <a:ext cx="10141526" cy="946150"/>
          </a:xfrm>
          <a:prstGeom prst="rect">
            <a:avLst/>
          </a:prstGeom>
          <a:noFill/>
          <a:ln>
            <a:noFill/>
          </a:ln>
          <a:effectLst/>
        </p:spPr>
        <p:txBody>
          <a:bodyPr wrap="square" anchor="ctr">
            <a:spAutoFit/>
          </a:bodyPr>
          <a:lstStyle/>
          <a:p>
            <a:pPr>
              <a:defRPr/>
            </a:pPr>
            <a:r>
              <a:rPr lang="en-US" sz="2800" dirty="0">
                <a:cs typeface="+mn-cs"/>
              </a:rPr>
              <a:t>But… in the worst case, when the value does not occur, this function traverses the entire tree.</a:t>
            </a:r>
          </a:p>
        </p:txBody>
      </p:sp>
      <p:sp>
        <p:nvSpPr>
          <p:cNvPr id="3" name="Rectangle 2">
            <a:extLst>
              <a:ext uri="{FF2B5EF4-FFF2-40B4-BE49-F238E27FC236}">
                <a16:creationId xmlns:a16="http://schemas.microsoft.com/office/drawing/2014/main" id="{A3E446DD-BFE4-E880-6284-50DB748D98B3}"/>
              </a:ext>
            </a:extLst>
          </p:cNvPr>
          <p:cNvSpPr>
            <a:spLocks noGrp="1" noChangeArrowheads="1"/>
          </p:cNvSpPr>
          <p:nvPr>
            <p:ph type="title"/>
          </p:nvPr>
        </p:nvSpPr>
        <p:spPr>
          <a:xfrm>
            <a:off x="680321" y="753228"/>
            <a:ext cx="9613861" cy="1080938"/>
          </a:xfrm>
        </p:spPr>
        <p:txBody>
          <a:bodyPr/>
          <a:lstStyle/>
          <a:p>
            <a:r>
              <a:rPr lang="en-US" dirty="0">
                <a:latin typeface="Arial Black" charset="0"/>
                <a:ea typeface="ＭＳ Ｐゴシック" charset="0"/>
                <a:cs typeface="ＭＳ Ｐゴシック" charset="0"/>
              </a:rPr>
              <a:t>Binary Trees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4756"/>
                                        </p:tgtEl>
                                        <p:attrNameLst>
                                          <p:attrName>style.visibility</p:attrName>
                                        </p:attrNameLst>
                                      </p:cBhvr>
                                      <p:to>
                                        <p:strVal val="visible"/>
                                      </p:to>
                                    </p:set>
                                    <p:anim calcmode="lin" valueType="num">
                                      <p:cBhvr additive="base">
                                        <p:cTn id="7" dur="500" fill="hold"/>
                                        <p:tgtEl>
                                          <p:spTgt spid="714756"/>
                                        </p:tgtEl>
                                        <p:attrNameLst>
                                          <p:attrName>ppt_x</p:attrName>
                                        </p:attrNameLst>
                                      </p:cBhvr>
                                      <p:tavLst>
                                        <p:tav tm="0">
                                          <p:val>
                                            <p:strVal val="#ppt_x"/>
                                          </p:val>
                                        </p:tav>
                                        <p:tav tm="100000">
                                          <p:val>
                                            <p:strVal val="#ppt_x"/>
                                          </p:val>
                                        </p:tav>
                                      </p:tavLst>
                                    </p:anim>
                                    <p:anim calcmode="lin" valueType="num">
                                      <p:cBhvr additive="base">
                                        <p:cTn id="8" dur="500" fill="hold"/>
                                        <p:tgtEl>
                                          <p:spTgt spid="7147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4758"/>
                                        </p:tgtEl>
                                        <p:attrNameLst>
                                          <p:attrName>style.visibility</p:attrName>
                                        </p:attrNameLst>
                                      </p:cBhvr>
                                      <p:to>
                                        <p:strVal val="visible"/>
                                      </p:to>
                                    </p:set>
                                    <p:anim calcmode="lin" valueType="num">
                                      <p:cBhvr additive="base">
                                        <p:cTn id="13" dur="500" fill="hold"/>
                                        <p:tgtEl>
                                          <p:spTgt spid="714758"/>
                                        </p:tgtEl>
                                        <p:attrNameLst>
                                          <p:attrName>ppt_x</p:attrName>
                                        </p:attrNameLst>
                                      </p:cBhvr>
                                      <p:tavLst>
                                        <p:tav tm="0">
                                          <p:val>
                                            <p:strVal val="#ppt_x"/>
                                          </p:val>
                                        </p:tav>
                                        <p:tav tm="100000">
                                          <p:val>
                                            <p:strVal val="#ppt_x"/>
                                          </p:val>
                                        </p:tav>
                                      </p:tavLst>
                                    </p:anim>
                                    <p:anim calcmode="lin" valueType="num">
                                      <p:cBhvr additive="base">
                                        <p:cTn id="14" dur="500" fill="hold"/>
                                        <p:tgtEl>
                                          <p:spTgt spid="7147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6" grpId="0" animBg="1"/>
      <p:bldP spid="71475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0A31C2F0-FC69-EF44-A474-1197A8341E9E}" type="slidenum">
              <a:rPr lang="en-US" sz="1400"/>
              <a:pPr/>
              <a:t>33</a:t>
            </a:fld>
            <a:endParaRPr lang="en-US" sz="1400"/>
          </a:p>
        </p:txBody>
      </p:sp>
      <p:sp>
        <p:nvSpPr>
          <p:cNvPr id="699394" name="Text Box 2"/>
          <p:cNvSpPr txBox="1">
            <a:spLocks noChangeArrowheads="1"/>
          </p:cNvSpPr>
          <p:nvPr/>
        </p:nvSpPr>
        <p:spPr bwMode="auto">
          <a:xfrm>
            <a:off x="429996" y="1834179"/>
            <a:ext cx="10651838" cy="954107"/>
          </a:xfrm>
          <a:prstGeom prst="rect">
            <a:avLst/>
          </a:prstGeom>
          <a:noFill/>
          <a:ln>
            <a:noFill/>
          </a:ln>
          <a:effectLst/>
        </p:spPr>
        <p:txBody>
          <a:bodyPr wrap="square" anchor="ctr">
            <a:spAutoFit/>
          </a:bodyPr>
          <a:lstStyle/>
          <a:p>
            <a:pPr>
              <a:defRPr/>
            </a:pPr>
            <a:r>
              <a:rPr lang="en-US" sz="2800" dirty="0">
                <a:cs typeface="+mn-cs"/>
              </a:rPr>
              <a:t>Now consider the function </a:t>
            </a:r>
            <a:r>
              <a:rPr lang="en-US" sz="2800" u="sng" dirty="0">
                <a:cs typeface="+mn-cs"/>
              </a:rPr>
              <a:t>flatten</a:t>
            </a:r>
            <a:r>
              <a:rPr lang="en-US" sz="2800" dirty="0">
                <a:cs typeface="+mn-cs"/>
              </a:rPr>
              <a:t> that returns the list of all the values contained in a tree:</a:t>
            </a:r>
          </a:p>
        </p:txBody>
      </p:sp>
      <p:sp>
        <p:nvSpPr>
          <p:cNvPr id="699397" name="Text Box 5"/>
          <p:cNvSpPr txBox="1">
            <a:spLocks noChangeArrowheads="1"/>
          </p:cNvSpPr>
          <p:nvPr/>
        </p:nvSpPr>
        <p:spPr bwMode="auto">
          <a:xfrm>
            <a:off x="2359459" y="2819415"/>
            <a:ext cx="6792912" cy="2295525"/>
          </a:xfrm>
          <a:prstGeom prst="rect">
            <a:avLst/>
          </a:prstGeom>
          <a:solidFill>
            <a:schemeClr val="accent1"/>
          </a:solidFill>
          <a:ln>
            <a:noFill/>
          </a:ln>
          <a:effectLst/>
        </p:spPr>
        <p:txBody>
          <a:bodyPr wrap="none" anchor="ctr">
            <a:spAutoFit/>
          </a:bodyPr>
          <a:lstStyle/>
          <a:p>
            <a:pPr>
              <a:lnSpc>
                <a:spcPct val="120000"/>
              </a:lnSpc>
              <a:defRPr/>
            </a:pPr>
            <a:r>
              <a:rPr lang="en-US" sz="2400" dirty="0">
                <a:latin typeface="Lucida Sans Typewriter" charset="0"/>
                <a:cs typeface="+mn-cs"/>
              </a:rPr>
              <a:t>flatten :: Tree a </a:t>
            </a:r>
            <a:r>
              <a:rPr lang="en-US" sz="2400" dirty="0">
                <a:latin typeface="Lucida Sans Typewriter" charset="0"/>
                <a:cs typeface="+mn-cs"/>
                <a:sym typeface="Symbol" charset="0"/>
              </a:rPr>
              <a:t></a:t>
            </a:r>
            <a:r>
              <a:rPr lang="en-US" sz="2400" dirty="0">
                <a:latin typeface="Lucida Sans Typewriter" charset="0"/>
                <a:cs typeface="+mn-cs"/>
              </a:rPr>
              <a:t> [a]</a:t>
            </a:r>
          </a:p>
          <a:p>
            <a:pPr>
              <a:lnSpc>
                <a:spcPct val="120000"/>
              </a:lnSpc>
              <a:defRPr/>
            </a:pPr>
            <a:r>
              <a:rPr lang="en-US" sz="2400" dirty="0">
                <a:latin typeface="Lucida Sans Typewriter" charset="0"/>
                <a:cs typeface="+mn-cs"/>
              </a:rPr>
              <a:t>flatten (Leaf x)     = [x]</a:t>
            </a:r>
          </a:p>
          <a:p>
            <a:pPr>
              <a:lnSpc>
                <a:spcPct val="120000"/>
              </a:lnSpc>
              <a:defRPr/>
            </a:pPr>
            <a:r>
              <a:rPr lang="en-US" sz="2400" dirty="0">
                <a:latin typeface="Lucida Sans Typewriter" charset="0"/>
                <a:cs typeface="+mn-cs"/>
              </a:rPr>
              <a:t>flatten (Node l x r) = flatten l</a:t>
            </a:r>
          </a:p>
          <a:p>
            <a:pPr>
              <a:lnSpc>
                <a:spcPct val="120000"/>
              </a:lnSpc>
              <a:defRPr/>
            </a:pPr>
            <a:r>
              <a:rPr lang="en-US" sz="2400" dirty="0">
                <a:latin typeface="Lucida Sans Typewriter" charset="0"/>
                <a:cs typeface="+mn-cs"/>
              </a:rPr>
              <a:t>                       ++ [x]</a:t>
            </a:r>
          </a:p>
          <a:p>
            <a:pPr>
              <a:lnSpc>
                <a:spcPct val="120000"/>
              </a:lnSpc>
              <a:defRPr/>
            </a:pPr>
            <a:r>
              <a:rPr lang="en-US" sz="2400" dirty="0">
                <a:latin typeface="Lucida Sans Typewriter" charset="0"/>
                <a:cs typeface="+mn-cs"/>
              </a:rPr>
              <a:t>                       ++ flatten r</a:t>
            </a:r>
          </a:p>
        </p:txBody>
      </p:sp>
      <p:sp>
        <p:nvSpPr>
          <p:cNvPr id="699399" name="Text Box 7"/>
          <p:cNvSpPr txBox="1">
            <a:spLocks noChangeArrowheads="1"/>
          </p:cNvSpPr>
          <p:nvPr/>
        </p:nvSpPr>
        <p:spPr bwMode="auto">
          <a:xfrm>
            <a:off x="514926" y="5114940"/>
            <a:ext cx="11109037" cy="1384995"/>
          </a:xfrm>
          <a:prstGeom prst="rect">
            <a:avLst/>
          </a:prstGeom>
          <a:noFill/>
          <a:ln>
            <a:noFill/>
          </a:ln>
          <a:effectLst/>
        </p:spPr>
        <p:txBody>
          <a:bodyPr wrap="square" anchor="ctr">
            <a:spAutoFit/>
          </a:bodyPr>
          <a:lstStyle/>
          <a:p>
            <a:pPr>
              <a:defRPr/>
            </a:pPr>
            <a:r>
              <a:rPr lang="en-US" sz="2800" dirty="0">
                <a:cs typeface="+mn-cs"/>
              </a:rPr>
              <a:t>A tree is a </a:t>
            </a:r>
            <a:r>
              <a:rPr lang="en-US" sz="2800" u="sng" dirty="0">
                <a:cs typeface="+mn-cs"/>
              </a:rPr>
              <a:t>search tree</a:t>
            </a:r>
            <a:r>
              <a:rPr lang="en-US" sz="2800" dirty="0">
                <a:cs typeface="+mn-cs"/>
              </a:rPr>
              <a:t> if it flattens to a list that is ordered.  Our example tree is a search tree, as it flattens to the ordered list [1,3,4,5,6,7,9].</a:t>
            </a:r>
          </a:p>
        </p:txBody>
      </p:sp>
      <p:sp>
        <p:nvSpPr>
          <p:cNvPr id="3" name="Rectangle 2">
            <a:extLst>
              <a:ext uri="{FF2B5EF4-FFF2-40B4-BE49-F238E27FC236}">
                <a16:creationId xmlns:a16="http://schemas.microsoft.com/office/drawing/2014/main" id="{1C44A6FC-1772-CCA2-BCF2-891DED09CD6C}"/>
              </a:ext>
            </a:extLst>
          </p:cNvPr>
          <p:cNvSpPr txBox="1">
            <a:spLocks noChangeArrowheads="1"/>
          </p:cNvSpPr>
          <p:nvPr/>
        </p:nvSpPr>
        <p:spPr>
          <a:xfrm>
            <a:off x="832721" y="905628"/>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a:latin typeface="Arial Black" charset="0"/>
                <a:ea typeface="ＭＳ Ｐゴシック" charset="0"/>
                <a:cs typeface="ＭＳ Ｐゴシック" charset="0"/>
              </a:rPr>
              <a:t>Binary Trees</a:t>
            </a:r>
            <a:endParaRPr lang="en-US" dirty="0">
              <a:latin typeface="Arial Black" charset="0"/>
              <a:ea typeface="ＭＳ Ｐゴシック" charset="0"/>
              <a:cs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9397"/>
                                        </p:tgtEl>
                                        <p:attrNameLst>
                                          <p:attrName>style.visibility</p:attrName>
                                        </p:attrNameLst>
                                      </p:cBhvr>
                                      <p:to>
                                        <p:strVal val="visible"/>
                                      </p:to>
                                    </p:set>
                                    <p:anim calcmode="lin" valueType="num">
                                      <p:cBhvr additive="base">
                                        <p:cTn id="7" dur="500" fill="hold"/>
                                        <p:tgtEl>
                                          <p:spTgt spid="699397"/>
                                        </p:tgtEl>
                                        <p:attrNameLst>
                                          <p:attrName>ppt_x</p:attrName>
                                        </p:attrNameLst>
                                      </p:cBhvr>
                                      <p:tavLst>
                                        <p:tav tm="0">
                                          <p:val>
                                            <p:strVal val="#ppt_x"/>
                                          </p:val>
                                        </p:tav>
                                        <p:tav tm="100000">
                                          <p:val>
                                            <p:strVal val="#ppt_x"/>
                                          </p:val>
                                        </p:tav>
                                      </p:tavLst>
                                    </p:anim>
                                    <p:anim calcmode="lin" valueType="num">
                                      <p:cBhvr additive="base">
                                        <p:cTn id="8" dur="500" fill="hold"/>
                                        <p:tgtEl>
                                          <p:spTgt spid="6993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9399"/>
                                        </p:tgtEl>
                                        <p:attrNameLst>
                                          <p:attrName>style.visibility</p:attrName>
                                        </p:attrNameLst>
                                      </p:cBhvr>
                                      <p:to>
                                        <p:strVal val="visible"/>
                                      </p:to>
                                    </p:set>
                                    <p:anim calcmode="lin" valueType="num">
                                      <p:cBhvr additive="base">
                                        <p:cTn id="13" dur="500" fill="hold"/>
                                        <p:tgtEl>
                                          <p:spTgt spid="699399"/>
                                        </p:tgtEl>
                                        <p:attrNameLst>
                                          <p:attrName>ppt_x</p:attrName>
                                        </p:attrNameLst>
                                      </p:cBhvr>
                                      <p:tavLst>
                                        <p:tav tm="0">
                                          <p:val>
                                            <p:strVal val="#ppt_x"/>
                                          </p:val>
                                        </p:tav>
                                        <p:tav tm="100000">
                                          <p:val>
                                            <p:strVal val="#ppt_x"/>
                                          </p:val>
                                        </p:tav>
                                      </p:tavLst>
                                    </p:anim>
                                    <p:anim calcmode="lin" valueType="num">
                                      <p:cBhvr additive="base">
                                        <p:cTn id="14" dur="500" fill="hold"/>
                                        <p:tgtEl>
                                          <p:spTgt spid="6993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7" grpId="0" animBg="1"/>
      <p:bldP spid="69939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868B8072-FF5C-874E-B0C2-E73EEB7BCB61}" type="slidenum">
              <a:rPr lang="en-US" sz="1400"/>
              <a:pPr/>
              <a:t>34</a:t>
            </a:fld>
            <a:endParaRPr lang="en-US" sz="1400"/>
          </a:p>
        </p:txBody>
      </p:sp>
      <p:sp>
        <p:nvSpPr>
          <p:cNvPr id="715778" name="Text Box 2"/>
          <p:cNvSpPr txBox="1">
            <a:spLocks noChangeArrowheads="1"/>
          </p:cNvSpPr>
          <p:nvPr/>
        </p:nvSpPr>
        <p:spPr bwMode="auto">
          <a:xfrm>
            <a:off x="774629" y="1912445"/>
            <a:ext cx="10190738" cy="1373188"/>
          </a:xfrm>
          <a:prstGeom prst="rect">
            <a:avLst/>
          </a:prstGeom>
          <a:noFill/>
          <a:ln>
            <a:noFill/>
          </a:ln>
          <a:effectLst/>
        </p:spPr>
        <p:txBody>
          <a:bodyPr wrap="square" anchor="ctr">
            <a:spAutoFit/>
          </a:bodyPr>
          <a:lstStyle/>
          <a:p>
            <a:pPr>
              <a:defRPr/>
            </a:pPr>
            <a:r>
              <a:rPr lang="en-US" sz="2800" dirty="0">
                <a:cs typeface="+mn-cs"/>
              </a:rPr>
              <a:t>Search trees have the important property that when trying to find a value in a tree we can always decide which of the two sub-trees it may occur in:</a:t>
            </a:r>
          </a:p>
        </p:txBody>
      </p:sp>
      <p:sp>
        <p:nvSpPr>
          <p:cNvPr id="715780" name="Text Box 4"/>
          <p:cNvSpPr txBox="1">
            <a:spLocks noChangeArrowheads="1"/>
          </p:cNvSpPr>
          <p:nvPr/>
        </p:nvSpPr>
        <p:spPr bwMode="auto">
          <a:xfrm>
            <a:off x="878032" y="5911850"/>
            <a:ext cx="9983932" cy="946150"/>
          </a:xfrm>
          <a:prstGeom prst="rect">
            <a:avLst/>
          </a:prstGeom>
          <a:noFill/>
          <a:ln>
            <a:noFill/>
          </a:ln>
          <a:effectLst/>
        </p:spPr>
        <p:txBody>
          <a:bodyPr wrap="square" anchor="ctr">
            <a:spAutoFit/>
          </a:bodyPr>
          <a:lstStyle/>
          <a:p>
            <a:pPr>
              <a:defRPr/>
            </a:pPr>
            <a:r>
              <a:rPr lang="en-US" sz="2800" dirty="0">
                <a:cs typeface="+mn-cs"/>
              </a:rPr>
              <a:t>This new definition is more </a:t>
            </a:r>
            <a:r>
              <a:rPr lang="en-US" sz="2800" u="sng" dirty="0">
                <a:cs typeface="+mn-cs"/>
              </a:rPr>
              <a:t>efficient</a:t>
            </a:r>
            <a:r>
              <a:rPr lang="en-US" sz="2800" dirty="0">
                <a:cs typeface="+mn-cs"/>
              </a:rPr>
              <a:t>, because it only traverses one path down the tree.</a:t>
            </a:r>
          </a:p>
        </p:txBody>
      </p:sp>
      <p:sp>
        <p:nvSpPr>
          <p:cNvPr id="715781" name="Text Box 5"/>
          <p:cNvSpPr txBox="1">
            <a:spLocks noChangeArrowheads="1"/>
          </p:cNvSpPr>
          <p:nvPr/>
        </p:nvSpPr>
        <p:spPr bwMode="auto">
          <a:xfrm>
            <a:off x="1790917" y="3635375"/>
            <a:ext cx="8158162" cy="2276475"/>
          </a:xfrm>
          <a:prstGeom prst="rect">
            <a:avLst/>
          </a:prstGeom>
          <a:solidFill>
            <a:schemeClr val="accent1"/>
          </a:solidFill>
          <a:ln>
            <a:noFill/>
          </a:ln>
          <a:effectLst/>
        </p:spPr>
        <p:txBody>
          <a:bodyPr wrap="none" anchor="ctr">
            <a:spAutoFit/>
          </a:bodyPr>
          <a:lstStyle/>
          <a:p>
            <a:pPr>
              <a:lnSpc>
                <a:spcPct val="150000"/>
              </a:lnSpc>
              <a:defRPr/>
            </a:pPr>
            <a:r>
              <a:rPr lang="en-US" sz="2400" dirty="0">
                <a:latin typeface="Lucida Sans Typewriter" charset="0"/>
                <a:cs typeface="+mn-cs"/>
              </a:rPr>
              <a:t>occurs x (Leaf y)              = x == y</a:t>
            </a:r>
          </a:p>
          <a:p>
            <a:pPr>
              <a:lnSpc>
                <a:spcPct val="150000"/>
              </a:lnSpc>
              <a:defRPr/>
            </a:pPr>
            <a:r>
              <a:rPr lang="en-US" sz="2400" dirty="0">
                <a:latin typeface="Lucida Sans Typewriter" charset="0"/>
                <a:cs typeface="+mn-cs"/>
              </a:rPr>
              <a:t>occurs x (Node l y r) | x == y = True</a:t>
            </a:r>
          </a:p>
          <a:p>
            <a:pPr>
              <a:lnSpc>
                <a:spcPct val="150000"/>
              </a:lnSpc>
              <a:defRPr/>
            </a:pPr>
            <a:r>
              <a:rPr lang="en-US" sz="2400" dirty="0">
                <a:latin typeface="Lucida Sans Typewriter" charset="0"/>
                <a:cs typeface="+mn-cs"/>
              </a:rPr>
              <a:t>                      | x &lt; y  = occurs x l</a:t>
            </a:r>
          </a:p>
          <a:p>
            <a:pPr>
              <a:lnSpc>
                <a:spcPct val="150000"/>
              </a:lnSpc>
              <a:defRPr/>
            </a:pPr>
            <a:r>
              <a:rPr lang="en-US" sz="2400" dirty="0">
                <a:latin typeface="Lucida Sans Typewriter" charset="0"/>
                <a:cs typeface="+mn-cs"/>
              </a:rPr>
              <a:t>                      | x &gt; y  = occurs x r</a:t>
            </a:r>
          </a:p>
        </p:txBody>
      </p:sp>
      <p:sp>
        <p:nvSpPr>
          <p:cNvPr id="3" name="Rectangle 2">
            <a:extLst>
              <a:ext uri="{FF2B5EF4-FFF2-40B4-BE49-F238E27FC236}">
                <a16:creationId xmlns:a16="http://schemas.microsoft.com/office/drawing/2014/main" id="{7A5CFD90-7D0D-E0FB-EF4D-40FB71D3EB5E}"/>
              </a:ext>
            </a:extLst>
          </p:cNvPr>
          <p:cNvSpPr txBox="1">
            <a:spLocks noChangeArrowheads="1"/>
          </p:cNvSpPr>
          <p:nvPr/>
        </p:nvSpPr>
        <p:spPr>
          <a:xfrm>
            <a:off x="587666" y="700034"/>
            <a:ext cx="9613861" cy="10809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700" kern="1200">
                <a:solidFill>
                  <a:schemeClr val="tx1"/>
                </a:solidFill>
                <a:latin typeface="+mj-lt"/>
                <a:ea typeface="+mj-ea"/>
                <a:cs typeface="+mj-cs"/>
              </a:defRPr>
            </a:lvl1pPr>
          </a:lstStyle>
          <a:p>
            <a:r>
              <a:rPr lang="en-US" dirty="0">
                <a:latin typeface="Arial Black" charset="0"/>
                <a:ea typeface="ＭＳ Ｐゴシック" charset="0"/>
                <a:cs typeface="ＭＳ Ｐゴシック" charset="0"/>
              </a:rPr>
              <a:t>Binary Trees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5781"/>
                                        </p:tgtEl>
                                        <p:attrNameLst>
                                          <p:attrName>style.visibility</p:attrName>
                                        </p:attrNameLst>
                                      </p:cBhvr>
                                      <p:to>
                                        <p:strVal val="visible"/>
                                      </p:to>
                                    </p:set>
                                    <p:anim calcmode="lin" valueType="num">
                                      <p:cBhvr additive="base">
                                        <p:cTn id="7" dur="500" fill="hold"/>
                                        <p:tgtEl>
                                          <p:spTgt spid="715781"/>
                                        </p:tgtEl>
                                        <p:attrNameLst>
                                          <p:attrName>ppt_x</p:attrName>
                                        </p:attrNameLst>
                                      </p:cBhvr>
                                      <p:tavLst>
                                        <p:tav tm="0">
                                          <p:val>
                                            <p:strVal val="#ppt_x"/>
                                          </p:val>
                                        </p:tav>
                                        <p:tav tm="100000">
                                          <p:val>
                                            <p:strVal val="#ppt_x"/>
                                          </p:val>
                                        </p:tav>
                                      </p:tavLst>
                                    </p:anim>
                                    <p:anim calcmode="lin" valueType="num">
                                      <p:cBhvr additive="base">
                                        <p:cTn id="8" dur="500" fill="hold"/>
                                        <p:tgtEl>
                                          <p:spTgt spid="7157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5780"/>
                                        </p:tgtEl>
                                        <p:attrNameLst>
                                          <p:attrName>style.visibility</p:attrName>
                                        </p:attrNameLst>
                                      </p:cBhvr>
                                      <p:to>
                                        <p:strVal val="visible"/>
                                      </p:to>
                                    </p:set>
                                    <p:anim calcmode="lin" valueType="num">
                                      <p:cBhvr additive="base">
                                        <p:cTn id="13" dur="500" fill="hold"/>
                                        <p:tgtEl>
                                          <p:spTgt spid="715780"/>
                                        </p:tgtEl>
                                        <p:attrNameLst>
                                          <p:attrName>ppt_x</p:attrName>
                                        </p:attrNameLst>
                                      </p:cBhvr>
                                      <p:tavLst>
                                        <p:tav tm="0">
                                          <p:val>
                                            <p:strVal val="#ppt_x"/>
                                          </p:val>
                                        </p:tav>
                                        <p:tav tm="100000">
                                          <p:val>
                                            <p:strVal val="#ppt_x"/>
                                          </p:val>
                                        </p:tav>
                                      </p:tavLst>
                                    </p:anim>
                                    <p:anim calcmode="lin" valueType="num">
                                      <p:cBhvr additive="base">
                                        <p:cTn id="14" dur="500" fill="hold"/>
                                        <p:tgtEl>
                                          <p:spTgt spid="715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80" grpId="0"/>
      <p:bldP spid="71578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F208-0C54-906D-113F-B26049161E11}"/>
              </a:ext>
            </a:extLst>
          </p:cNvPr>
          <p:cNvSpPr>
            <a:spLocks noGrp="1"/>
          </p:cNvSpPr>
          <p:nvPr>
            <p:ph type="title"/>
          </p:nvPr>
        </p:nvSpPr>
        <p:spPr/>
        <p:txBody>
          <a:bodyPr>
            <a:normAutofit/>
          </a:bodyPr>
          <a:lstStyle/>
          <a:p>
            <a:r>
              <a:rPr lang="en-US" dirty="0" err="1">
                <a:latin typeface="Arial Black" charset="0"/>
                <a:ea typeface="ＭＳ Ｐゴシック" charset="0"/>
              </a:rPr>
              <a:t>newtypes</a:t>
            </a:r>
            <a:endParaRPr lang="en-US" dirty="0">
              <a:latin typeface="Arial Black" charset="0"/>
              <a:ea typeface="ＭＳ Ｐゴシック" charset="0"/>
            </a:endParaRPr>
          </a:p>
        </p:txBody>
      </p:sp>
      <p:sp>
        <p:nvSpPr>
          <p:cNvPr id="3" name="Slide Number Placeholder 2">
            <a:extLst>
              <a:ext uri="{FF2B5EF4-FFF2-40B4-BE49-F238E27FC236}">
                <a16:creationId xmlns:a16="http://schemas.microsoft.com/office/drawing/2014/main" id="{754D63AF-4EEB-946A-C60B-E5E277C17E12}"/>
              </a:ext>
            </a:extLst>
          </p:cNvPr>
          <p:cNvSpPr>
            <a:spLocks noGrp="1"/>
          </p:cNvSpPr>
          <p:nvPr>
            <p:ph type="sldNum" sz="quarter" idx="12"/>
          </p:nvPr>
        </p:nvSpPr>
        <p:spPr/>
        <p:txBody>
          <a:bodyPr/>
          <a:lstStyle/>
          <a:p>
            <a:pPr>
              <a:defRPr/>
            </a:pPr>
            <a:fld id="{D504839C-9BB7-BB4D-96E1-589D0E7BC0CF}" type="slidenum">
              <a:rPr lang="en-US" smtClean="0"/>
              <a:pPr>
                <a:defRPr/>
              </a:pPr>
              <a:t>35</a:t>
            </a:fld>
            <a:endParaRPr lang="en-US"/>
          </a:p>
        </p:txBody>
      </p:sp>
      <p:sp>
        <p:nvSpPr>
          <p:cNvPr id="5" name="TextBox 4">
            <a:extLst>
              <a:ext uri="{FF2B5EF4-FFF2-40B4-BE49-F238E27FC236}">
                <a16:creationId xmlns:a16="http://schemas.microsoft.com/office/drawing/2014/main" id="{51191F2D-CC2E-F718-BA7C-A9E9B4EE585F}"/>
              </a:ext>
            </a:extLst>
          </p:cNvPr>
          <p:cNvSpPr txBox="1"/>
          <p:nvPr/>
        </p:nvSpPr>
        <p:spPr>
          <a:xfrm>
            <a:off x="370390" y="2309694"/>
            <a:ext cx="11182229" cy="1815882"/>
          </a:xfrm>
          <a:prstGeom prst="rect">
            <a:avLst/>
          </a:prstGeom>
          <a:noFill/>
        </p:spPr>
        <p:txBody>
          <a:bodyPr wrap="square">
            <a:spAutoFit/>
          </a:bodyPr>
          <a:lstStyle/>
          <a:p>
            <a:r>
              <a:rPr lang="en-IE" sz="2800" dirty="0"/>
              <a:t>In Haskell, </a:t>
            </a:r>
            <a:r>
              <a:rPr lang="en-IE" sz="2800" u="sng" dirty="0" err="1"/>
              <a:t>newtype</a:t>
            </a:r>
            <a:r>
              <a:rPr lang="en-IE" sz="2800" dirty="0"/>
              <a:t> is used to create a new type that wraps exactly one existing value. It gives you a distinct type at compile time, but no runtime overhead. Think of it as a type-safe label around an existing value.</a:t>
            </a:r>
            <a:endParaRPr lang="en-US" sz="2800" dirty="0"/>
          </a:p>
        </p:txBody>
      </p:sp>
      <p:sp>
        <p:nvSpPr>
          <p:cNvPr id="6" name="Text Box 4">
            <a:extLst>
              <a:ext uri="{FF2B5EF4-FFF2-40B4-BE49-F238E27FC236}">
                <a16:creationId xmlns:a16="http://schemas.microsoft.com/office/drawing/2014/main" id="{9234BFFC-96B7-E7E4-1525-E738202E5666}"/>
              </a:ext>
            </a:extLst>
          </p:cNvPr>
          <p:cNvSpPr txBox="1">
            <a:spLocks noChangeArrowheads="1"/>
          </p:cNvSpPr>
          <p:nvPr/>
        </p:nvSpPr>
        <p:spPr bwMode="auto">
          <a:xfrm>
            <a:off x="2964928" y="4250160"/>
            <a:ext cx="4014240" cy="466987"/>
          </a:xfrm>
          <a:prstGeom prst="rect">
            <a:avLst/>
          </a:prstGeom>
          <a:solidFill>
            <a:schemeClr val="accent1"/>
          </a:solidFill>
          <a:ln>
            <a:noFill/>
          </a:ln>
          <a:effectLst/>
        </p:spPr>
        <p:txBody>
          <a:bodyPr wrap="none" anchor="ctr">
            <a:spAutoFit/>
          </a:bodyPr>
          <a:lstStyle/>
          <a:p>
            <a:pPr>
              <a:lnSpc>
                <a:spcPct val="110000"/>
              </a:lnSpc>
              <a:defRPr/>
            </a:pPr>
            <a:r>
              <a:rPr lang="en-IE" sz="2400" dirty="0" err="1"/>
              <a:t>newtype</a:t>
            </a:r>
            <a:r>
              <a:rPr lang="en-IE" sz="2400" dirty="0"/>
              <a:t> </a:t>
            </a:r>
            <a:r>
              <a:rPr lang="en-IE" sz="2400" dirty="0" err="1"/>
              <a:t>UserId</a:t>
            </a:r>
            <a:r>
              <a:rPr lang="en-IE" sz="2400" dirty="0"/>
              <a:t> = </a:t>
            </a:r>
            <a:r>
              <a:rPr lang="en-IE" sz="2400" dirty="0" err="1"/>
              <a:t>UserId</a:t>
            </a:r>
            <a:r>
              <a:rPr lang="en-IE" sz="2400" dirty="0"/>
              <a:t> Int</a:t>
            </a:r>
            <a:endParaRPr lang="en-US" sz="2400" dirty="0">
              <a:latin typeface="Lucida Sans Typewriter" charset="0"/>
              <a:cs typeface="+mn-cs"/>
            </a:endParaRPr>
          </a:p>
        </p:txBody>
      </p:sp>
      <p:sp>
        <p:nvSpPr>
          <p:cNvPr id="8" name="TextBox 7">
            <a:extLst>
              <a:ext uri="{FF2B5EF4-FFF2-40B4-BE49-F238E27FC236}">
                <a16:creationId xmlns:a16="http://schemas.microsoft.com/office/drawing/2014/main" id="{52E76850-7099-0811-5DFC-3BB32F3BBDC3}"/>
              </a:ext>
            </a:extLst>
          </p:cNvPr>
          <p:cNvSpPr txBox="1"/>
          <p:nvPr/>
        </p:nvSpPr>
        <p:spPr>
          <a:xfrm>
            <a:off x="698403" y="5042118"/>
            <a:ext cx="9707238" cy="1384995"/>
          </a:xfrm>
          <a:prstGeom prst="rect">
            <a:avLst/>
          </a:prstGeom>
          <a:noFill/>
        </p:spPr>
        <p:txBody>
          <a:bodyPr wrap="square">
            <a:spAutoFit/>
          </a:bodyPr>
          <a:lstStyle/>
          <a:p>
            <a:pPr>
              <a:buNone/>
            </a:pPr>
            <a:r>
              <a:rPr lang="en-IE" sz="2800" dirty="0"/>
              <a:t>This defines:</a:t>
            </a:r>
          </a:p>
          <a:p>
            <a:pPr>
              <a:buFont typeface="Arial" panose="020B0604020202020204" pitchFamily="34" charset="0"/>
              <a:buChar char="•"/>
            </a:pPr>
            <a:r>
              <a:rPr lang="en-IE" sz="2800" dirty="0"/>
              <a:t>a new type: </a:t>
            </a:r>
            <a:r>
              <a:rPr lang="en-IE" sz="2800" dirty="0" err="1"/>
              <a:t>UserId</a:t>
            </a:r>
            <a:endParaRPr lang="en-IE" sz="2800" dirty="0"/>
          </a:p>
          <a:p>
            <a:pPr>
              <a:buFont typeface="Arial" panose="020B0604020202020204" pitchFamily="34" charset="0"/>
              <a:buChar char="•"/>
            </a:pPr>
            <a:r>
              <a:rPr lang="en-IE" sz="2800" dirty="0"/>
              <a:t>a constructor: </a:t>
            </a:r>
            <a:r>
              <a:rPr lang="en-IE" sz="2800" dirty="0" err="1"/>
              <a:t>UserId</a:t>
            </a:r>
            <a:r>
              <a:rPr lang="en-IE" sz="2800" dirty="0"/>
              <a:t> which wraps one value of type Int</a:t>
            </a:r>
          </a:p>
        </p:txBody>
      </p:sp>
    </p:spTree>
    <p:extLst>
      <p:ext uri="{BB962C8B-B14F-4D97-AF65-F5344CB8AC3E}">
        <p14:creationId xmlns:p14="http://schemas.microsoft.com/office/powerpoint/2010/main" val="396890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 calcmode="lin" valueType="num">
                                      <p:cBhvr additive="base">
                                        <p:cTn id="25"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anim calcmode="lin" valueType="num">
                                      <p:cBhvr additive="base">
                                        <p:cTn id="3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CFA1-0312-E520-75FB-0D1C5C0DDD3F}"/>
              </a:ext>
            </a:extLst>
          </p:cNvPr>
          <p:cNvSpPr>
            <a:spLocks noGrp="1"/>
          </p:cNvSpPr>
          <p:nvPr>
            <p:ph type="title"/>
          </p:nvPr>
        </p:nvSpPr>
        <p:spPr>
          <a:xfrm>
            <a:off x="429598" y="654128"/>
            <a:ext cx="9613861" cy="1080938"/>
          </a:xfrm>
        </p:spPr>
        <p:txBody>
          <a:bodyPr/>
          <a:lstStyle/>
          <a:p>
            <a:r>
              <a:rPr lang="en-US" dirty="0" err="1">
                <a:latin typeface="Arial Black" charset="0"/>
                <a:ea typeface="ＭＳ Ｐゴシック" charset="0"/>
              </a:rPr>
              <a:t>newtypes</a:t>
            </a:r>
            <a:endParaRPr lang="en-US"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8A414286-889D-5D8F-8FF3-BC1A993F48A6}"/>
              </a:ext>
            </a:extLst>
          </p:cNvPr>
          <p:cNvSpPr>
            <a:spLocks noGrp="1"/>
          </p:cNvSpPr>
          <p:nvPr>
            <p:ph type="sldNum" sz="quarter" idx="12"/>
          </p:nvPr>
        </p:nvSpPr>
        <p:spPr/>
        <p:txBody>
          <a:bodyPr/>
          <a:lstStyle/>
          <a:p>
            <a:pPr>
              <a:defRPr/>
            </a:pPr>
            <a:fld id="{D504839C-9BB7-BB4D-96E1-589D0E7BC0CF}" type="slidenum">
              <a:rPr lang="en-US" smtClean="0"/>
              <a:pPr>
                <a:defRPr/>
              </a:pPr>
              <a:t>36</a:t>
            </a:fld>
            <a:endParaRPr lang="en-US"/>
          </a:p>
        </p:txBody>
      </p:sp>
      <p:sp>
        <p:nvSpPr>
          <p:cNvPr id="5" name="TextBox 4">
            <a:extLst>
              <a:ext uri="{FF2B5EF4-FFF2-40B4-BE49-F238E27FC236}">
                <a16:creationId xmlns:a16="http://schemas.microsoft.com/office/drawing/2014/main" id="{74A791C6-E9C5-B9CC-6701-9EEF4B3AA9F6}"/>
              </a:ext>
            </a:extLst>
          </p:cNvPr>
          <p:cNvSpPr txBox="1"/>
          <p:nvPr/>
        </p:nvSpPr>
        <p:spPr>
          <a:xfrm>
            <a:off x="1325301" y="2217080"/>
            <a:ext cx="6099858" cy="523220"/>
          </a:xfrm>
          <a:prstGeom prst="rect">
            <a:avLst/>
          </a:prstGeom>
          <a:noFill/>
        </p:spPr>
        <p:txBody>
          <a:bodyPr wrap="square">
            <a:spAutoFit/>
          </a:bodyPr>
          <a:lstStyle/>
          <a:p>
            <a:r>
              <a:rPr lang="en-IE" sz="2800" dirty="0"/>
              <a:t>This </a:t>
            </a:r>
            <a:r>
              <a:rPr lang="en-IE" sz="2800" b="1" dirty="0"/>
              <a:t>will not compile</a:t>
            </a:r>
            <a:r>
              <a:rPr lang="en-IE" sz="2800" dirty="0"/>
              <a:t>:</a:t>
            </a:r>
            <a:endParaRPr lang="en-US" sz="2800" dirty="0"/>
          </a:p>
        </p:txBody>
      </p:sp>
      <p:sp>
        <p:nvSpPr>
          <p:cNvPr id="6" name="Text Box 4">
            <a:extLst>
              <a:ext uri="{FF2B5EF4-FFF2-40B4-BE49-F238E27FC236}">
                <a16:creationId xmlns:a16="http://schemas.microsoft.com/office/drawing/2014/main" id="{43FA0B4D-8097-8DE1-2CB8-CF6FC7349DE5}"/>
              </a:ext>
            </a:extLst>
          </p:cNvPr>
          <p:cNvSpPr txBox="1">
            <a:spLocks noChangeArrowheads="1"/>
          </p:cNvSpPr>
          <p:nvPr/>
        </p:nvSpPr>
        <p:spPr bwMode="auto">
          <a:xfrm>
            <a:off x="1633839" y="2992374"/>
            <a:ext cx="4084055" cy="873252"/>
          </a:xfrm>
          <a:prstGeom prst="rect">
            <a:avLst/>
          </a:prstGeom>
          <a:solidFill>
            <a:schemeClr val="accent1"/>
          </a:solidFill>
          <a:ln>
            <a:noFill/>
          </a:ln>
          <a:effectLst/>
        </p:spPr>
        <p:txBody>
          <a:bodyPr wrap="square" anchor="ctr">
            <a:spAutoFit/>
          </a:bodyPr>
          <a:lstStyle/>
          <a:p>
            <a:pPr>
              <a:lnSpc>
                <a:spcPct val="110000"/>
              </a:lnSpc>
              <a:defRPr/>
            </a:pPr>
            <a:r>
              <a:rPr lang="en-IE" sz="2400" dirty="0" err="1"/>
              <a:t>addUser</a:t>
            </a:r>
            <a:r>
              <a:rPr lang="en-IE" sz="2400" dirty="0"/>
              <a:t> :: </a:t>
            </a:r>
            <a:r>
              <a:rPr lang="en-IE" sz="2400" dirty="0" err="1"/>
              <a:t>UserId</a:t>
            </a:r>
            <a:r>
              <a:rPr lang="en-IE" sz="2400" dirty="0"/>
              <a:t> -&gt; Int</a:t>
            </a:r>
            <a:br>
              <a:rPr lang="en-IE" sz="2400" dirty="0"/>
            </a:br>
            <a:r>
              <a:rPr lang="en-IE" sz="2400" dirty="0" err="1"/>
              <a:t>addUser</a:t>
            </a:r>
            <a:r>
              <a:rPr lang="en-IE" sz="2400" dirty="0"/>
              <a:t> x = x + 1</a:t>
            </a:r>
            <a:endParaRPr lang="en-US" sz="2400" dirty="0">
              <a:latin typeface="Lucida Sans Typewriter" charset="0"/>
              <a:cs typeface="+mn-cs"/>
            </a:endParaRPr>
          </a:p>
        </p:txBody>
      </p:sp>
      <p:sp>
        <p:nvSpPr>
          <p:cNvPr id="7" name="Multiply 6">
            <a:extLst>
              <a:ext uri="{FF2B5EF4-FFF2-40B4-BE49-F238E27FC236}">
                <a16:creationId xmlns:a16="http://schemas.microsoft.com/office/drawing/2014/main" id="{BC340EE6-B3E2-E9C0-85FD-DBD631FFD2F5}"/>
              </a:ext>
            </a:extLst>
          </p:cNvPr>
          <p:cNvSpPr/>
          <p:nvPr/>
        </p:nvSpPr>
        <p:spPr>
          <a:xfrm>
            <a:off x="5717894" y="2992374"/>
            <a:ext cx="914400" cy="914400"/>
          </a:xfrm>
          <a:prstGeom prst="mathMultiply">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AutoShape 5">
            <a:extLst>
              <a:ext uri="{FF2B5EF4-FFF2-40B4-BE49-F238E27FC236}">
                <a16:creationId xmlns:a16="http://schemas.microsoft.com/office/drawing/2014/main" id="{8C238E0E-E412-C6B9-56FF-964BF3F8204B}"/>
              </a:ext>
            </a:extLst>
          </p:cNvPr>
          <p:cNvSpPr>
            <a:spLocks noChangeArrowheads="1"/>
          </p:cNvSpPr>
          <p:nvPr/>
        </p:nvSpPr>
        <p:spPr bwMode="auto">
          <a:xfrm>
            <a:off x="6856969" y="3906774"/>
            <a:ext cx="4084056" cy="578882"/>
          </a:xfrm>
          <a:prstGeom prst="wedgeRoundRectCallout">
            <a:avLst>
              <a:gd name="adj1" fmla="val -116089"/>
              <a:gd name="adj2" fmla="val -80413"/>
              <a:gd name="adj3" fmla="val 16667"/>
            </a:avLst>
          </a:prstGeom>
          <a:solidFill>
            <a:srgbClr val="FFC000"/>
          </a:solidFill>
          <a:ln w="12700" cap="sq">
            <a:solidFill>
              <a:schemeClr val="tx1"/>
            </a:solidFill>
            <a:miter lim="800000"/>
            <a:headEnd/>
            <a:tailEnd/>
          </a:ln>
          <a:effectLst/>
        </p:spPr>
        <p:txBody>
          <a:bodyPr wrap="square" anchor="ctr">
            <a:spAutoFit/>
          </a:bodyPr>
          <a:lstStyle/>
          <a:p>
            <a:pPr algn="ctr">
              <a:defRPr/>
            </a:pPr>
            <a:r>
              <a:rPr lang="en-US" sz="2800" dirty="0">
                <a:cs typeface="+mn-cs"/>
              </a:rPr>
              <a:t>Because x is not an Int</a:t>
            </a:r>
          </a:p>
        </p:txBody>
      </p:sp>
      <p:sp>
        <p:nvSpPr>
          <p:cNvPr id="9" name="Text Box 4">
            <a:extLst>
              <a:ext uri="{FF2B5EF4-FFF2-40B4-BE49-F238E27FC236}">
                <a16:creationId xmlns:a16="http://schemas.microsoft.com/office/drawing/2014/main" id="{087CF289-181B-E01D-8544-FF9E69FC708D}"/>
              </a:ext>
            </a:extLst>
          </p:cNvPr>
          <p:cNvSpPr txBox="1">
            <a:spLocks noChangeArrowheads="1"/>
          </p:cNvSpPr>
          <p:nvPr/>
        </p:nvSpPr>
        <p:spPr bwMode="auto">
          <a:xfrm>
            <a:off x="1633839" y="5663403"/>
            <a:ext cx="4084055" cy="466987"/>
          </a:xfrm>
          <a:prstGeom prst="rect">
            <a:avLst/>
          </a:prstGeom>
          <a:solidFill>
            <a:schemeClr val="accent1"/>
          </a:solidFill>
          <a:ln>
            <a:noFill/>
          </a:ln>
          <a:effectLst/>
        </p:spPr>
        <p:txBody>
          <a:bodyPr wrap="square" anchor="ctr">
            <a:spAutoFit/>
          </a:bodyPr>
          <a:lstStyle/>
          <a:p>
            <a:pPr>
              <a:lnSpc>
                <a:spcPct val="110000"/>
              </a:lnSpc>
              <a:defRPr/>
            </a:pPr>
            <a:r>
              <a:rPr lang="en-IE" sz="2400" dirty="0" err="1"/>
              <a:t>addUser</a:t>
            </a:r>
            <a:r>
              <a:rPr lang="en-IE" sz="2400" dirty="0"/>
              <a:t> (</a:t>
            </a:r>
            <a:r>
              <a:rPr lang="en-IE" sz="2400" dirty="0" err="1"/>
              <a:t>UserId</a:t>
            </a:r>
            <a:r>
              <a:rPr lang="en-IE" sz="2400" dirty="0"/>
              <a:t> x) = x + 1</a:t>
            </a:r>
            <a:endParaRPr lang="en-US" sz="2400" dirty="0">
              <a:latin typeface="Lucida Sans Typewriter" charset="0"/>
              <a:cs typeface="+mn-cs"/>
            </a:endParaRPr>
          </a:p>
        </p:txBody>
      </p:sp>
      <p:sp>
        <p:nvSpPr>
          <p:cNvPr id="10" name="TextBox 9">
            <a:extLst>
              <a:ext uri="{FF2B5EF4-FFF2-40B4-BE49-F238E27FC236}">
                <a16:creationId xmlns:a16="http://schemas.microsoft.com/office/drawing/2014/main" id="{23A48A3D-9EC5-6902-D06A-421B47A60BB3}"/>
              </a:ext>
            </a:extLst>
          </p:cNvPr>
          <p:cNvSpPr txBox="1"/>
          <p:nvPr/>
        </p:nvSpPr>
        <p:spPr>
          <a:xfrm>
            <a:off x="1325301" y="4778477"/>
            <a:ext cx="3290944" cy="523220"/>
          </a:xfrm>
          <a:prstGeom prst="rect">
            <a:avLst/>
          </a:prstGeom>
          <a:noFill/>
        </p:spPr>
        <p:txBody>
          <a:bodyPr wrap="square" rtlCol="0">
            <a:spAutoFit/>
          </a:bodyPr>
          <a:lstStyle/>
          <a:p>
            <a:r>
              <a:rPr lang="en-US" sz="2800" dirty="0"/>
              <a:t>You must unwrap it</a:t>
            </a:r>
          </a:p>
        </p:txBody>
      </p:sp>
    </p:spTree>
    <p:extLst>
      <p:ext uri="{BB962C8B-B14F-4D97-AF65-F5344CB8AC3E}">
        <p14:creationId xmlns:p14="http://schemas.microsoft.com/office/powerpoint/2010/main" val="74843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810C-2990-8099-3067-BB0220744334}"/>
              </a:ext>
            </a:extLst>
          </p:cNvPr>
          <p:cNvSpPr>
            <a:spLocks noGrp="1"/>
          </p:cNvSpPr>
          <p:nvPr>
            <p:ph type="title"/>
          </p:nvPr>
        </p:nvSpPr>
        <p:spPr/>
        <p:txBody>
          <a:bodyPr/>
          <a:lstStyle/>
          <a:p>
            <a:r>
              <a:rPr lang="en-IE" dirty="0">
                <a:latin typeface="Arial Black" charset="0"/>
                <a:ea typeface="ＭＳ Ｐゴシック" charset="0"/>
              </a:rPr>
              <a:t>Record Syntax with </a:t>
            </a:r>
            <a:r>
              <a:rPr lang="en-IE" dirty="0" err="1">
                <a:latin typeface="Arial Black" charset="0"/>
                <a:ea typeface="ＭＳ Ｐゴシック" charset="0"/>
              </a:rPr>
              <a:t>newtype</a:t>
            </a:r>
            <a:endParaRPr lang="en-US" dirty="0">
              <a:latin typeface="Arial Black" charset="0"/>
              <a:ea typeface="ＭＳ Ｐゴシック" charset="0"/>
            </a:endParaRPr>
          </a:p>
        </p:txBody>
      </p:sp>
      <p:sp>
        <p:nvSpPr>
          <p:cNvPr id="3" name="Slide Number Placeholder 2">
            <a:extLst>
              <a:ext uri="{FF2B5EF4-FFF2-40B4-BE49-F238E27FC236}">
                <a16:creationId xmlns:a16="http://schemas.microsoft.com/office/drawing/2014/main" id="{411965EA-7C67-0A0A-3BB7-CB8C81A07408}"/>
              </a:ext>
            </a:extLst>
          </p:cNvPr>
          <p:cNvSpPr>
            <a:spLocks noGrp="1"/>
          </p:cNvSpPr>
          <p:nvPr>
            <p:ph type="sldNum" sz="quarter" idx="12"/>
          </p:nvPr>
        </p:nvSpPr>
        <p:spPr/>
        <p:txBody>
          <a:bodyPr/>
          <a:lstStyle/>
          <a:p>
            <a:pPr>
              <a:defRPr/>
            </a:pPr>
            <a:fld id="{D504839C-9BB7-BB4D-96E1-589D0E7BC0CF}" type="slidenum">
              <a:rPr lang="en-US" smtClean="0"/>
              <a:pPr>
                <a:defRPr/>
              </a:pPr>
              <a:t>37</a:t>
            </a:fld>
            <a:endParaRPr lang="en-US"/>
          </a:p>
        </p:txBody>
      </p:sp>
      <p:sp>
        <p:nvSpPr>
          <p:cNvPr id="5" name="TextBox 4">
            <a:extLst>
              <a:ext uri="{FF2B5EF4-FFF2-40B4-BE49-F238E27FC236}">
                <a16:creationId xmlns:a16="http://schemas.microsoft.com/office/drawing/2014/main" id="{523FF9F4-D69C-6C8D-A326-447C058415B4}"/>
              </a:ext>
            </a:extLst>
          </p:cNvPr>
          <p:cNvSpPr txBox="1"/>
          <p:nvPr/>
        </p:nvSpPr>
        <p:spPr>
          <a:xfrm>
            <a:off x="1093807" y="2263379"/>
            <a:ext cx="6099858" cy="523220"/>
          </a:xfrm>
          <a:prstGeom prst="rect">
            <a:avLst/>
          </a:prstGeom>
          <a:noFill/>
        </p:spPr>
        <p:txBody>
          <a:bodyPr wrap="square">
            <a:spAutoFit/>
          </a:bodyPr>
          <a:lstStyle/>
          <a:p>
            <a:r>
              <a:rPr lang="en-IE" sz="2800" dirty="0"/>
              <a:t>You can also use records:</a:t>
            </a:r>
            <a:endParaRPr lang="en-US" sz="2800" dirty="0"/>
          </a:p>
        </p:txBody>
      </p:sp>
      <p:sp>
        <p:nvSpPr>
          <p:cNvPr id="6" name="Text Box 4">
            <a:extLst>
              <a:ext uri="{FF2B5EF4-FFF2-40B4-BE49-F238E27FC236}">
                <a16:creationId xmlns:a16="http://schemas.microsoft.com/office/drawing/2014/main" id="{DEE8698A-096E-51CA-6346-8E16C4B2DF77}"/>
              </a:ext>
            </a:extLst>
          </p:cNvPr>
          <p:cNvSpPr txBox="1">
            <a:spLocks noChangeArrowheads="1"/>
          </p:cNvSpPr>
          <p:nvPr/>
        </p:nvSpPr>
        <p:spPr bwMode="auto">
          <a:xfrm>
            <a:off x="2136616" y="3215812"/>
            <a:ext cx="6253635" cy="466987"/>
          </a:xfrm>
          <a:prstGeom prst="rect">
            <a:avLst/>
          </a:prstGeom>
          <a:solidFill>
            <a:schemeClr val="accent1"/>
          </a:solidFill>
          <a:ln>
            <a:noFill/>
          </a:ln>
          <a:effectLst/>
        </p:spPr>
        <p:txBody>
          <a:bodyPr wrap="none" anchor="ctr">
            <a:spAutoFit/>
          </a:bodyPr>
          <a:lstStyle/>
          <a:p>
            <a:pPr>
              <a:lnSpc>
                <a:spcPct val="110000"/>
              </a:lnSpc>
              <a:defRPr/>
            </a:pPr>
            <a:r>
              <a:rPr lang="en-IE" sz="2400" dirty="0" err="1"/>
              <a:t>newtype</a:t>
            </a:r>
            <a:r>
              <a:rPr lang="en-IE" sz="2400" dirty="0"/>
              <a:t> Email = Email { </a:t>
            </a:r>
            <a:r>
              <a:rPr lang="en-IE" sz="2400" dirty="0" err="1"/>
              <a:t>getEmail</a:t>
            </a:r>
            <a:r>
              <a:rPr lang="en-IE" sz="2400" dirty="0"/>
              <a:t> :: String }</a:t>
            </a:r>
            <a:endParaRPr lang="en-US" sz="2400" dirty="0">
              <a:latin typeface="Lucida Sans Typewriter" charset="0"/>
              <a:cs typeface="+mn-cs"/>
            </a:endParaRPr>
          </a:p>
        </p:txBody>
      </p:sp>
      <p:sp>
        <p:nvSpPr>
          <p:cNvPr id="7" name="Text Box 4">
            <a:extLst>
              <a:ext uri="{FF2B5EF4-FFF2-40B4-BE49-F238E27FC236}">
                <a16:creationId xmlns:a16="http://schemas.microsoft.com/office/drawing/2014/main" id="{9D84FC8C-AB13-900E-4202-54A5937F8679}"/>
              </a:ext>
            </a:extLst>
          </p:cNvPr>
          <p:cNvSpPr txBox="1">
            <a:spLocks noChangeArrowheads="1"/>
          </p:cNvSpPr>
          <p:nvPr/>
        </p:nvSpPr>
        <p:spPr bwMode="auto">
          <a:xfrm>
            <a:off x="2136615" y="4353715"/>
            <a:ext cx="7036881" cy="873252"/>
          </a:xfrm>
          <a:prstGeom prst="rect">
            <a:avLst/>
          </a:prstGeom>
          <a:solidFill>
            <a:schemeClr val="accent1"/>
          </a:solidFill>
          <a:ln>
            <a:noFill/>
          </a:ln>
          <a:effectLst/>
        </p:spPr>
        <p:txBody>
          <a:bodyPr wrap="square" anchor="ctr">
            <a:spAutoFit/>
          </a:bodyPr>
          <a:lstStyle/>
          <a:p>
            <a:pPr>
              <a:lnSpc>
                <a:spcPct val="110000"/>
              </a:lnSpc>
              <a:defRPr/>
            </a:pPr>
            <a:r>
              <a:rPr lang="en-IE" sz="2400" dirty="0"/>
              <a:t>e = Email "</a:t>
            </a:r>
            <a:r>
              <a:rPr lang="en-IE" sz="2400" dirty="0" err="1"/>
              <a:t>test@example.com</a:t>
            </a:r>
            <a:r>
              <a:rPr lang="en-IE" sz="2400" dirty="0"/>
              <a:t>"</a:t>
            </a:r>
            <a:br>
              <a:rPr lang="en-IE" sz="2400" dirty="0"/>
            </a:br>
            <a:r>
              <a:rPr lang="en-IE" sz="2400" dirty="0" err="1"/>
              <a:t>getEmail</a:t>
            </a:r>
            <a:r>
              <a:rPr lang="en-IE" sz="2400" dirty="0"/>
              <a:t> e</a:t>
            </a:r>
            <a:endParaRPr lang="en-US" sz="2400" dirty="0">
              <a:latin typeface="Lucida Sans Typewriter" charset="0"/>
              <a:cs typeface="+mn-cs"/>
            </a:endParaRPr>
          </a:p>
        </p:txBody>
      </p:sp>
      <p:cxnSp>
        <p:nvCxnSpPr>
          <p:cNvPr id="8" name="Straight Arrow Connector 7">
            <a:extLst>
              <a:ext uri="{FF2B5EF4-FFF2-40B4-BE49-F238E27FC236}">
                <a16:creationId xmlns:a16="http://schemas.microsoft.com/office/drawing/2014/main" id="{03A784D5-D0BB-9EEA-00A4-86A8A990738E}"/>
              </a:ext>
            </a:extLst>
          </p:cNvPr>
          <p:cNvCxnSpPr/>
          <p:nvPr/>
        </p:nvCxnSpPr>
        <p:spPr>
          <a:xfrm>
            <a:off x="3947652" y="5226967"/>
            <a:ext cx="0" cy="673551"/>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 Box 4">
            <a:extLst>
              <a:ext uri="{FF2B5EF4-FFF2-40B4-BE49-F238E27FC236}">
                <a16:creationId xmlns:a16="http://schemas.microsoft.com/office/drawing/2014/main" id="{FED4B438-3B12-1A81-5B91-F80B7B7A3315}"/>
              </a:ext>
            </a:extLst>
          </p:cNvPr>
          <p:cNvSpPr txBox="1">
            <a:spLocks noChangeArrowheads="1"/>
          </p:cNvSpPr>
          <p:nvPr/>
        </p:nvSpPr>
        <p:spPr bwMode="auto">
          <a:xfrm>
            <a:off x="2136615" y="5968854"/>
            <a:ext cx="7036881" cy="466987"/>
          </a:xfrm>
          <a:prstGeom prst="rect">
            <a:avLst/>
          </a:prstGeom>
          <a:solidFill>
            <a:schemeClr val="accent1"/>
          </a:solidFill>
          <a:ln>
            <a:noFill/>
          </a:ln>
          <a:effectLst/>
        </p:spPr>
        <p:txBody>
          <a:bodyPr wrap="square" anchor="ctr">
            <a:spAutoFit/>
          </a:bodyPr>
          <a:lstStyle/>
          <a:p>
            <a:pPr>
              <a:lnSpc>
                <a:spcPct val="110000"/>
              </a:lnSpc>
              <a:defRPr/>
            </a:pPr>
            <a:r>
              <a:rPr lang="en-IE" sz="2400" dirty="0"/>
              <a:t>"</a:t>
            </a:r>
            <a:r>
              <a:rPr lang="en-IE" sz="2400" dirty="0" err="1"/>
              <a:t>test@example.com</a:t>
            </a:r>
            <a:r>
              <a:rPr lang="en-IE" sz="2400" dirty="0"/>
              <a:t>"</a:t>
            </a:r>
            <a:endParaRPr lang="en-US" sz="2400" dirty="0">
              <a:latin typeface="Lucida Sans Typewriter" charset="0"/>
              <a:cs typeface="+mn-cs"/>
            </a:endParaRPr>
          </a:p>
        </p:txBody>
      </p:sp>
    </p:spTree>
    <p:extLst>
      <p:ext uri="{BB962C8B-B14F-4D97-AF65-F5344CB8AC3E}">
        <p14:creationId xmlns:p14="http://schemas.microsoft.com/office/powerpoint/2010/main" val="38394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38</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796636" y="964536"/>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a:t>
            </a:r>
          </a:p>
        </p:txBody>
      </p:sp>
      <p:sp>
        <p:nvSpPr>
          <p:cNvPr id="5" name="Text Box 2">
            <a:extLst>
              <a:ext uri="{FF2B5EF4-FFF2-40B4-BE49-F238E27FC236}">
                <a16:creationId xmlns:a16="http://schemas.microsoft.com/office/drawing/2014/main" id="{D316CB23-0F1B-6842-A0D5-35527A1C637F}"/>
              </a:ext>
            </a:extLst>
          </p:cNvPr>
          <p:cNvSpPr txBox="1">
            <a:spLocks noChangeArrowheads="1"/>
          </p:cNvSpPr>
          <p:nvPr/>
        </p:nvSpPr>
        <p:spPr bwMode="auto">
          <a:xfrm>
            <a:off x="384336" y="2301032"/>
            <a:ext cx="11499272" cy="4154984"/>
          </a:xfrm>
          <a:prstGeom prst="rect">
            <a:avLst/>
          </a:prstGeom>
          <a:noFill/>
          <a:ln>
            <a:noFill/>
          </a:ln>
          <a:effectLst/>
        </p:spPr>
        <p:txBody>
          <a:bodyPr wrap="square" anchor="ctr">
            <a:spAutoFit/>
          </a:bodyPr>
          <a:lstStyle/>
          <a:p>
            <a:pPr marL="457200" indent="-457200">
              <a:buFont typeface="Arial" panose="020B0604020202020204" pitchFamily="34" charset="0"/>
              <a:buChar char="•"/>
            </a:pPr>
            <a:r>
              <a:rPr lang="en-IE" sz="2400" dirty="0">
                <a:cs typeface="+mn-cs"/>
              </a:rPr>
              <a:t>a means of defining the behaviour associated with a type separately from that type's definition.</a:t>
            </a:r>
          </a:p>
          <a:p>
            <a:pPr marL="457200" indent="-457200">
              <a:buFont typeface="Arial" panose="020B0604020202020204" pitchFamily="34" charset="0"/>
              <a:buChar char="•"/>
            </a:pPr>
            <a:endParaRPr lang="en-IE" sz="2400" dirty="0">
              <a:cs typeface="+mn-cs"/>
            </a:endParaRPr>
          </a:p>
          <a:p>
            <a:pPr marL="457200" indent="-457200">
              <a:buFont typeface="Arial" panose="020B0604020202020204" pitchFamily="34" charset="0"/>
              <a:buChar char="•"/>
            </a:pPr>
            <a:r>
              <a:rPr lang="en-IE" sz="2400" dirty="0">
                <a:cs typeface="+mn-cs"/>
              </a:rPr>
              <a:t>There are a number of </a:t>
            </a:r>
            <a:r>
              <a:rPr lang="en-IE" sz="2400" dirty="0" err="1">
                <a:cs typeface="+mn-cs"/>
              </a:rPr>
              <a:t>typeclasses</a:t>
            </a:r>
            <a:r>
              <a:rPr lang="en-IE" sz="2400" dirty="0">
                <a:cs typeface="+mn-cs"/>
              </a:rPr>
              <a:t> already defined in Haskell's base package.</a:t>
            </a:r>
          </a:p>
          <a:p>
            <a:pPr marL="457200" indent="-457200">
              <a:buFont typeface="Arial" panose="020B0604020202020204" pitchFamily="34" charset="0"/>
              <a:buChar char="•"/>
            </a:pPr>
            <a:endParaRPr lang="en-IE" sz="2400" dirty="0">
              <a:cs typeface="+mn-cs"/>
            </a:endParaRPr>
          </a:p>
          <a:p>
            <a:pPr marL="457200" indent="-457200">
              <a:buFont typeface="Arial" panose="020B0604020202020204" pitchFamily="34" charset="0"/>
              <a:buChar char="•"/>
            </a:pPr>
            <a:r>
              <a:rPr lang="en-IE" sz="2400" dirty="0">
                <a:cs typeface="+mn-cs"/>
              </a:rPr>
              <a:t>We look at </a:t>
            </a:r>
          </a:p>
          <a:p>
            <a:pPr marL="1828800" lvl="3" indent="-457200">
              <a:buFont typeface="Arial" panose="020B0604020202020204" pitchFamily="34" charset="0"/>
              <a:buChar char="•"/>
            </a:pPr>
            <a:r>
              <a:rPr lang="en-IE" sz="2400" dirty="0" err="1">
                <a:cs typeface="+mn-cs"/>
              </a:rPr>
              <a:t>Eq</a:t>
            </a:r>
            <a:r>
              <a:rPr lang="en-IE" sz="2400" dirty="0">
                <a:cs typeface="+mn-cs"/>
              </a:rPr>
              <a:t> </a:t>
            </a:r>
          </a:p>
          <a:p>
            <a:pPr marL="1828800" lvl="3" indent="-457200">
              <a:buFont typeface="Arial" panose="020B0604020202020204" pitchFamily="34" charset="0"/>
              <a:buChar char="•"/>
            </a:pPr>
            <a:r>
              <a:rPr lang="en-IE" sz="2400" dirty="0">
                <a:cs typeface="+mn-cs"/>
              </a:rPr>
              <a:t>Ord</a:t>
            </a:r>
          </a:p>
          <a:p>
            <a:pPr marL="1828800" lvl="3" indent="-457200">
              <a:buFont typeface="Arial" panose="020B0604020202020204" pitchFamily="34" charset="0"/>
              <a:buChar char="•"/>
            </a:pPr>
            <a:r>
              <a:rPr lang="en-IE" sz="2400" dirty="0" err="1">
                <a:cs typeface="+mn-cs"/>
              </a:rPr>
              <a:t>Num</a:t>
            </a:r>
            <a:endParaRPr lang="en-US" sz="2400" dirty="0">
              <a:cs typeface="+mn-cs"/>
            </a:endParaRPr>
          </a:p>
          <a:p>
            <a:pPr marL="1828800" lvl="3" indent="-457200">
              <a:buFont typeface="Arial" panose="020B0604020202020204" pitchFamily="34" charset="0"/>
              <a:buChar char="•"/>
            </a:pPr>
            <a:r>
              <a:rPr lang="en-US" sz="2400" dirty="0">
                <a:cs typeface="+mn-cs"/>
              </a:rPr>
              <a:t>Show ( IO - later)</a:t>
            </a:r>
          </a:p>
          <a:p>
            <a:pPr marL="1828800" lvl="3" indent="-457200">
              <a:buFont typeface="Arial" panose="020B0604020202020204" pitchFamily="34" charset="0"/>
              <a:buChar char="•"/>
            </a:pPr>
            <a:r>
              <a:rPr lang="en-US" sz="2400" dirty="0">
                <a:cs typeface="+mn-cs"/>
              </a:rPr>
              <a:t>Read (IO later)</a:t>
            </a:r>
            <a:endParaRPr lang="en-IE" sz="2400" dirty="0">
              <a:cs typeface="+mn-cs"/>
            </a:endParaRPr>
          </a:p>
        </p:txBody>
      </p:sp>
    </p:spTree>
    <p:extLst>
      <p:ext uri="{BB962C8B-B14F-4D97-AF65-F5344CB8AC3E}">
        <p14:creationId xmlns:p14="http://schemas.microsoft.com/office/powerpoint/2010/main" val="269972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 calcmode="lin" valueType="num">
                                      <p:cBhvr additive="base">
                                        <p:cTn id="4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39</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574964" y="858881"/>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Eq</a:t>
            </a:r>
          </a:p>
        </p:txBody>
      </p:sp>
      <p:sp>
        <p:nvSpPr>
          <p:cNvPr id="5" name="Text Box 2">
            <a:extLst>
              <a:ext uri="{FF2B5EF4-FFF2-40B4-BE49-F238E27FC236}">
                <a16:creationId xmlns:a16="http://schemas.microsoft.com/office/drawing/2014/main" id="{D316CB23-0F1B-6842-A0D5-35527A1C637F}"/>
              </a:ext>
            </a:extLst>
          </p:cNvPr>
          <p:cNvSpPr txBox="1">
            <a:spLocks noChangeArrowheads="1"/>
          </p:cNvSpPr>
          <p:nvPr/>
        </p:nvSpPr>
        <p:spPr bwMode="auto">
          <a:xfrm>
            <a:off x="685801" y="2856361"/>
            <a:ext cx="11048999" cy="2677656"/>
          </a:xfrm>
          <a:prstGeom prst="rect">
            <a:avLst/>
          </a:prstGeom>
          <a:noFill/>
          <a:ln>
            <a:noFill/>
          </a:ln>
          <a:effectLst/>
        </p:spPr>
        <p:txBody>
          <a:bodyPr wrap="square" anchor="ctr">
            <a:spAutoFit/>
          </a:bodyPr>
          <a:lstStyle/>
          <a:p>
            <a:pPr marL="457200" indent="-457200">
              <a:buFont typeface="Arial" panose="020B0604020202020204" pitchFamily="34" charset="0"/>
              <a:buChar char="•"/>
            </a:pPr>
            <a:r>
              <a:rPr lang="en-IE" sz="2800" dirty="0"/>
              <a:t>All basic datatypes  from Prelude except for functions and IO have instances of Eq. </a:t>
            </a:r>
          </a:p>
          <a:p>
            <a:pPr marL="457200" indent="-457200">
              <a:buFont typeface="Arial" panose="020B0604020202020204" pitchFamily="34" charset="0"/>
              <a:buChar char="•"/>
            </a:pPr>
            <a:endParaRPr lang="en-IE" sz="2800" dirty="0"/>
          </a:p>
          <a:p>
            <a:pPr marL="457200" indent="-457200">
              <a:buFont typeface="Arial" panose="020B0604020202020204" pitchFamily="34" charset="0"/>
              <a:buChar char="•"/>
            </a:pPr>
            <a:r>
              <a:rPr lang="en-IE" sz="2800" dirty="0"/>
              <a:t>If a type instantiates Eq it means that we know how to compare two values for </a:t>
            </a:r>
            <a:r>
              <a:rPr lang="en-IE" sz="2800" i="1" dirty="0"/>
              <a:t>value </a:t>
            </a:r>
            <a:r>
              <a:rPr lang="en-IE" sz="2800" dirty="0"/>
              <a:t>or </a:t>
            </a:r>
            <a:r>
              <a:rPr lang="en-IE" sz="2800" i="1" dirty="0"/>
              <a:t>structural </a:t>
            </a:r>
            <a:r>
              <a:rPr lang="en-IE" sz="2800" dirty="0"/>
              <a:t>equality. </a:t>
            </a:r>
          </a:p>
          <a:p>
            <a:pPr marL="457200" indent="-457200">
              <a:buFont typeface="Arial" panose="020B0604020202020204" pitchFamily="34" charset="0"/>
              <a:buChar char="•"/>
            </a:pPr>
            <a:endParaRPr lang="en-IE" sz="2800" dirty="0"/>
          </a:p>
        </p:txBody>
      </p:sp>
    </p:spTree>
    <p:extLst>
      <p:ext uri="{BB962C8B-B14F-4D97-AF65-F5344CB8AC3E}">
        <p14:creationId xmlns:p14="http://schemas.microsoft.com/office/powerpoint/2010/main" val="236210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40</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561109" y="858881"/>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Eq</a:t>
            </a:r>
          </a:p>
        </p:txBody>
      </p:sp>
      <p:sp>
        <p:nvSpPr>
          <p:cNvPr id="6" name="Text Box 5">
            <a:extLst>
              <a:ext uri="{FF2B5EF4-FFF2-40B4-BE49-F238E27FC236}">
                <a16:creationId xmlns:a16="http://schemas.microsoft.com/office/drawing/2014/main" id="{76B02677-D196-1946-8E9F-40C8FEE1C551}"/>
              </a:ext>
            </a:extLst>
          </p:cNvPr>
          <p:cNvSpPr txBox="1">
            <a:spLocks noChangeArrowheads="1"/>
          </p:cNvSpPr>
          <p:nvPr/>
        </p:nvSpPr>
        <p:spPr bwMode="auto">
          <a:xfrm>
            <a:off x="2376154" y="2922523"/>
            <a:ext cx="6145456" cy="1682640"/>
          </a:xfrm>
          <a:prstGeom prst="rect">
            <a:avLst/>
          </a:prstGeom>
          <a:solidFill>
            <a:schemeClr val="accent1"/>
          </a:solidFill>
          <a:ln>
            <a:noFill/>
          </a:ln>
          <a:effectLst/>
        </p:spPr>
        <p:txBody>
          <a:bodyPr wrap="square" anchor="ctr">
            <a:spAutoFit/>
          </a:bodyPr>
          <a:lstStyle/>
          <a:p>
            <a:pPr>
              <a:lnSpc>
                <a:spcPct val="150000"/>
              </a:lnSpc>
              <a:defRPr/>
            </a:pPr>
            <a:r>
              <a:rPr lang="en-IE" sz="2400" b="1" dirty="0">
                <a:latin typeface="Lucida Sans Typewriter" panose="020B0509030504030204" pitchFamily="49" charset="77"/>
              </a:rPr>
              <a:t>Required methods </a:t>
            </a:r>
            <a:endParaRPr lang="en-IE" sz="2400" dirty="0">
              <a:latin typeface="Lucida Sans Typewriter" panose="020B0509030504030204" pitchFamily="49" charset="77"/>
            </a:endParaRPr>
          </a:p>
          <a:p>
            <a:pPr>
              <a:lnSpc>
                <a:spcPct val="150000"/>
              </a:lnSpc>
              <a:defRPr/>
            </a:pPr>
            <a:r>
              <a:rPr lang="en-US" sz="2400" dirty="0">
                <a:latin typeface="Lucida Sans Typewriter" charset="0"/>
              </a:rPr>
              <a:t>(==) :: Eq a =&gt; a –&gt;a-&gt; Boolean</a:t>
            </a:r>
          </a:p>
          <a:p>
            <a:pPr>
              <a:lnSpc>
                <a:spcPct val="150000"/>
              </a:lnSpc>
              <a:defRPr/>
            </a:pPr>
            <a:r>
              <a:rPr lang="en-US" sz="2400" dirty="0">
                <a:latin typeface="Lucida Sans Typewriter" charset="0"/>
              </a:rPr>
              <a:t>(/=) :: Eq a =&gt; </a:t>
            </a:r>
            <a:r>
              <a:rPr lang="en-US" sz="2400">
                <a:latin typeface="Lucida Sans Typewriter" charset="0"/>
              </a:rPr>
              <a:t>a –&gt;a-</a:t>
            </a:r>
            <a:r>
              <a:rPr lang="en-US" sz="2400" dirty="0">
                <a:latin typeface="Lucida Sans Typewriter" charset="0"/>
              </a:rPr>
              <a:t>&gt; Boolean</a:t>
            </a:r>
          </a:p>
        </p:txBody>
      </p:sp>
    </p:spTree>
    <p:extLst>
      <p:ext uri="{BB962C8B-B14F-4D97-AF65-F5344CB8AC3E}">
        <p14:creationId xmlns:p14="http://schemas.microsoft.com/office/powerpoint/2010/main" val="1752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41</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741219" y="964536"/>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Ord</a:t>
            </a:r>
          </a:p>
        </p:txBody>
      </p:sp>
      <p:sp>
        <p:nvSpPr>
          <p:cNvPr id="5" name="Text Box 2">
            <a:extLst>
              <a:ext uri="{FF2B5EF4-FFF2-40B4-BE49-F238E27FC236}">
                <a16:creationId xmlns:a16="http://schemas.microsoft.com/office/drawing/2014/main" id="{D316CB23-0F1B-6842-A0D5-35527A1C637F}"/>
              </a:ext>
            </a:extLst>
          </p:cNvPr>
          <p:cNvSpPr txBox="1">
            <a:spLocks noChangeArrowheads="1"/>
          </p:cNvSpPr>
          <p:nvPr/>
        </p:nvSpPr>
        <p:spPr bwMode="auto">
          <a:xfrm>
            <a:off x="1855787" y="2816192"/>
            <a:ext cx="8480425" cy="1815882"/>
          </a:xfrm>
          <a:prstGeom prst="rect">
            <a:avLst/>
          </a:prstGeom>
          <a:noFill/>
          <a:ln>
            <a:noFill/>
          </a:ln>
          <a:effectLst/>
        </p:spPr>
        <p:txBody>
          <a:bodyPr anchor="ctr">
            <a:spAutoFit/>
          </a:bodyPr>
          <a:lstStyle/>
          <a:p>
            <a:pPr marL="457200" indent="-457200">
              <a:buFont typeface="Arial" panose="020B0604020202020204" pitchFamily="34" charset="0"/>
              <a:buChar char="•"/>
            </a:pPr>
            <a:r>
              <a:rPr lang="en-IE" sz="2800" dirty="0">
                <a:latin typeface="+mj-lt"/>
              </a:rPr>
              <a:t>If a type instantiates Ord</a:t>
            </a:r>
            <a:r>
              <a:rPr lang="en-IE" sz="2800" b="1" dirty="0">
                <a:latin typeface="+mj-lt"/>
              </a:rPr>
              <a:t> </a:t>
            </a:r>
            <a:r>
              <a:rPr lang="en-IE" sz="2800" dirty="0">
                <a:latin typeface="+mj-lt"/>
              </a:rPr>
              <a:t>it means that we know a </a:t>
            </a:r>
            <a:r>
              <a:rPr lang="zh-CN" altLang="en-US" sz="2800" dirty="0">
                <a:latin typeface="+mj-lt"/>
              </a:rPr>
              <a:t>“</a:t>
            </a:r>
            <a:r>
              <a:rPr lang="en-IE" sz="2800" dirty="0">
                <a:latin typeface="+mj-lt"/>
              </a:rPr>
              <a:t>natural</a:t>
            </a:r>
            <a:r>
              <a:rPr lang="zh-CN" altLang="en-US" sz="2800" dirty="0">
                <a:latin typeface="+mj-lt"/>
              </a:rPr>
              <a:t>” </a:t>
            </a:r>
            <a:r>
              <a:rPr lang="en-IE" sz="2800" dirty="0">
                <a:latin typeface="+mj-lt"/>
              </a:rPr>
              <a:t>ordering of values of that type.</a:t>
            </a:r>
          </a:p>
          <a:p>
            <a:pPr marL="457200" indent="-457200">
              <a:buFont typeface="Arial" panose="020B0604020202020204" pitchFamily="34" charset="0"/>
              <a:buChar char="•"/>
            </a:pPr>
            <a:endParaRPr lang="en-IE" sz="2800" dirty="0">
              <a:latin typeface="+mj-lt"/>
            </a:endParaRPr>
          </a:p>
          <a:p>
            <a:endParaRPr lang="en-IE" sz="2800" dirty="0">
              <a:latin typeface="+mj-lt"/>
            </a:endParaRPr>
          </a:p>
        </p:txBody>
      </p:sp>
    </p:spTree>
    <p:extLst>
      <p:ext uri="{BB962C8B-B14F-4D97-AF65-F5344CB8AC3E}">
        <p14:creationId xmlns:p14="http://schemas.microsoft.com/office/powerpoint/2010/main" val="287052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42</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541925" y="753228"/>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Ord</a:t>
            </a:r>
          </a:p>
        </p:txBody>
      </p:sp>
      <p:sp>
        <p:nvSpPr>
          <p:cNvPr id="5" name="Text Box 5">
            <a:extLst>
              <a:ext uri="{FF2B5EF4-FFF2-40B4-BE49-F238E27FC236}">
                <a16:creationId xmlns:a16="http://schemas.microsoft.com/office/drawing/2014/main" id="{73E73D65-6955-134F-BA90-4C05E25DD653}"/>
              </a:ext>
            </a:extLst>
          </p:cNvPr>
          <p:cNvSpPr txBox="1">
            <a:spLocks noChangeArrowheads="1"/>
          </p:cNvSpPr>
          <p:nvPr/>
        </p:nvSpPr>
        <p:spPr bwMode="auto">
          <a:xfrm>
            <a:off x="1577839" y="2115053"/>
            <a:ext cx="8511348" cy="4452629"/>
          </a:xfrm>
          <a:prstGeom prst="rect">
            <a:avLst/>
          </a:prstGeom>
          <a:solidFill>
            <a:schemeClr val="accent1"/>
          </a:solidFill>
          <a:ln>
            <a:noFill/>
          </a:ln>
          <a:effectLst/>
        </p:spPr>
        <p:txBody>
          <a:bodyPr wrap="square" anchor="ctr">
            <a:spAutoFit/>
          </a:bodyPr>
          <a:lstStyle/>
          <a:p>
            <a:pPr>
              <a:lnSpc>
                <a:spcPct val="150000"/>
              </a:lnSpc>
              <a:defRPr/>
            </a:pPr>
            <a:r>
              <a:rPr lang="en-IE" sz="2400" b="1" dirty="0">
                <a:latin typeface="Lucida Sans Typewriter" panose="020B0509030504030204" pitchFamily="49" charset="77"/>
                <a:cs typeface="+mn-cs"/>
              </a:rPr>
              <a:t>Uses a</a:t>
            </a:r>
            <a:r>
              <a:rPr lang="en-IE" sz="2400" dirty="0">
                <a:latin typeface="Lucida Sans Typewriter" panose="020B0509030504030204" pitchFamily="49" charset="77"/>
                <a:cs typeface="+mn-cs"/>
              </a:rPr>
              <a:t> custom algebraic data type:</a:t>
            </a:r>
          </a:p>
          <a:p>
            <a:pPr>
              <a:lnSpc>
                <a:spcPct val="150000"/>
              </a:lnSpc>
              <a:defRPr/>
            </a:pPr>
            <a:r>
              <a:rPr lang="en-IE" sz="2400" dirty="0">
                <a:latin typeface="Lucida Sans Typewriter" panose="020B0509030504030204" pitchFamily="49" charset="77"/>
                <a:cs typeface="+mn-cs"/>
              </a:rPr>
              <a:t>data Ordering = LT | EQ | GT</a:t>
            </a:r>
            <a:br>
              <a:rPr lang="en-IE" dirty="0">
                <a:latin typeface="Lucida Sans Typewriter" panose="020B0509030504030204" pitchFamily="49" charset="77"/>
              </a:rPr>
            </a:br>
            <a:r>
              <a:rPr lang="en-IE" sz="2400" b="1" dirty="0">
                <a:latin typeface="Lucida Sans Typewriter" panose="020B0509030504030204" pitchFamily="49" charset="77"/>
              </a:rPr>
              <a:t>Required methods: </a:t>
            </a:r>
          </a:p>
          <a:p>
            <a:pPr>
              <a:lnSpc>
                <a:spcPct val="150000"/>
              </a:lnSpc>
              <a:defRPr/>
            </a:pPr>
            <a:r>
              <a:rPr lang="en-IE" sz="2400" dirty="0">
                <a:latin typeface="Lucida Sans Typewriter" panose="020B0509030504030204" pitchFamily="49" charset="77"/>
              </a:rPr>
              <a:t>compare :: Ord a =&gt; a -&gt; a -&gt; Ordering</a:t>
            </a:r>
          </a:p>
          <a:p>
            <a:pPr>
              <a:lnSpc>
                <a:spcPct val="150000"/>
              </a:lnSpc>
              <a:defRPr/>
            </a:pPr>
            <a:r>
              <a:rPr lang="en-IE" sz="2400" dirty="0">
                <a:latin typeface="Lucida Sans Typewriter" panose="020B0509030504030204" pitchFamily="49" charset="77"/>
              </a:rPr>
              <a:t> or </a:t>
            </a:r>
          </a:p>
          <a:p>
            <a:pPr>
              <a:lnSpc>
                <a:spcPct val="150000"/>
              </a:lnSpc>
              <a:defRPr/>
            </a:pPr>
            <a:r>
              <a:rPr lang="en-IE" sz="2400" dirty="0">
                <a:latin typeface="Lucida Sans Typewriter" panose="020B0509030504030204" pitchFamily="49" charset="77"/>
              </a:rPr>
              <a:t>(</a:t>
            </a:r>
            <a:r>
              <a:rPr lang="en-IE" sz="2400" b="1" dirty="0">
                <a:latin typeface="Lucida Sans Typewriter" panose="020B0509030504030204" pitchFamily="49" charset="77"/>
              </a:rPr>
              <a:t>&lt;=</a:t>
            </a:r>
            <a:r>
              <a:rPr lang="en-IE" sz="2400" dirty="0">
                <a:latin typeface="Lucida Sans Typewriter" panose="020B0509030504030204" pitchFamily="49" charset="77"/>
              </a:rPr>
              <a:t>) </a:t>
            </a:r>
            <a:r>
              <a:rPr lang="en-IE" sz="2400" b="1" dirty="0">
                <a:latin typeface="Lucida Sans Typewriter" panose="020B0509030504030204" pitchFamily="49" charset="77"/>
              </a:rPr>
              <a:t>:: </a:t>
            </a:r>
            <a:r>
              <a:rPr lang="en-IE" sz="2400" dirty="0">
                <a:latin typeface="Lucida Sans Typewriter" panose="020B0509030504030204" pitchFamily="49" charset="77"/>
              </a:rPr>
              <a:t>Ord</a:t>
            </a:r>
            <a:r>
              <a:rPr lang="en-IE" sz="2400" b="1" dirty="0">
                <a:latin typeface="Lucida Sans Typewriter" panose="020B0509030504030204" pitchFamily="49" charset="77"/>
              </a:rPr>
              <a:t> </a:t>
            </a:r>
            <a:r>
              <a:rPr lang="en-IE" sz="2400" dirty="0">
                <a:latin typeface="Lucida Sans Typewriter" panose="020B0509030504030204" pitchFamily="49" charset="77"/>
              </a:rPr>
              <a:t>a </a:t>
            </a:r>
            <a:r>
              <a:rPr lang="en-IE" sz="2400" b="1" dirty="0">
                <a:latin typeface="Lucida Sans Typewriter" panose="020B0509030504030204" pitchFamily="49" charset="77"/>
              </a:rPr>
              <a:t>=&gt; </a:t>
            </a:r>
            <a:r>
              <a:rPr lang="en-IE" sz="2400" dirty="0">
                <a:latin typeface="Lucida Sans Typewriter" panose="020B0509030504030204" pitchFamily="49" charset="77"/>
              </a:rPr>
              <a:t>a </a:t>
            </a:r>
            <a:r>
              <a:rPr lang="en-IE" sz="2400" b="1" dirty="0">
                <a:latin typeface="Lucida Sans Typewriter" panose="020B0509030504030204" pitchFamily="49" charset="77"/>
              </a:rPr>
              <a:t>-&gt; </a:t>
            </a:r>
            <a:r>
              <a:rPr lang="en-IE" sz="2400" dirty="0">
                <a:latin typeface="Lucida Sans Typewriter" panose="020B0509030504030204" pitchFamily="49" charset="77"/>
              </a:rPr>
              <a:t>a </a:t>
            </a:r>
            <a:r>
              <a:rPr lang="en-IE" sz="2400" b="1" dirty="0">
                <a:latin typeface="Lucida Sans Typewriter" panose="020B0509030504030204" pitchFamily="49" charset="77"/>
              </a:rPr>
              <a:t>-&gt; </a:t>
            </a:r>
            <a:r>
              <a:rPr lang="en-IE" sz="2400" dirty="0">
                <a:latin typeface="Lucida Sans Typewriter" panose="020B0509030504030204" pitchFamily="49" charset="77"/>
              </a:rPr>
              <a:t>Boolean </a:t>
            </a:r>
          </a:p>
          <a:p>
            <a:pPr>
              <a:lnSpc>
                <a:spcPct val="150000"/>
              </a:lnSpc>
              <a:defRPr/>
            </a:pPr>
            <a:r>
              <a:rPr lang="en-IE" sz="2400" dirty="0">
                <a:latin typeface="Lucida Sans Typewriter" panose="020B0509030504030204" pitchFamily="49" charset="77"/>
              </a:rPr>
              <a:t>(the standard’s default </a:t>
            </a:r>
            <a:r>
              <a:rPr lang="en-IE" sz="2400" i="1" dirty="0">
                <a:latin typeface="Lucida Sans Typewriter" panose="020B0509030504030204" pitchFamily="49" charset="77"/>
              </a:rPr>
              <a:t>compare</a:t>
            </a:r>
            <a:r>
              <a:rPr lang="en-IE" sz="2400" b="1" dirty="0">
                <a:latin typeface="Lucida Sans Typewriter" panose="020B0509030504030204" pitchFamily="49" charset="77"/>
              </a:rPr>
              <a:t> </a:t>
            </a:r>
            <a:r>
              <a:rPr lang="en-IE" sz="2400" dirty="0">
                <a:latin typeface="Lucida Sans Typewriter" panose="020B0509030504030204" pitchFamily="49" charset="77"/>
              </a:rPr>
              <a:t>method uses (</a:t>
            </a:r>
            <a:r>
              <a:rPr lang="en-IE" sz="2400" b="1" dirty="0">
                <a:latin typeface="Lucida Sans Typewriter" panose="020B0509030504030204" pitchFamily="49" charset="77"/>
              </a:rPr>
              <a:t>&lt;=</a:t>
            </a:r>
            <a:r>
              <a:rPr lang="en-IE" sz="2400" dirty="0">
                <a:latin typeface="Lucida Sans Typewriter" panose="020B0509030504030204" pitchFamily="49" charset="77"/>
              </a:rPr>
              <a:t>) in its implementation) </a:t>
            </a:r>
          </a:p>
        </p:txBody>
      </p:sp>
    </p:spTree>
    <p:extLst>
      <p:ext uri="{BB962C8B-B14F-4D97-AF65-F5344CB8AC3E}">
        <p14:creationId xmlns:p14="http://schemas.microsoft.com/office/powerpoint/2010/main" val="365346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500" fill="hold"/>
                                        <p:tgtEl>
                                          <p:spTgt spid="5">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
                                            <p:bg/>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 calcmode="lin" valueType="num">
                                      <p:cBhvr additive="base">
                                        <p:cTn id="2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 calcmode="lin" valueType="num">
                                      <p:cBhvr additive="base">
                                        <p:cTn id="3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43</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491837" y="753228"/>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Ord</a:t>
            </a:r>
          </a:p>
        </p:txBody>
      </p:sp>
      <p:sp>
        <p:nvSpPr>
          <p:cNvPr id="6" name="Text Box 5">
            <a:extLst>
              <a:ext uri="{FF2B5EF4-FFF2-40B4-BE49-F238E27FC236}">
                <a16:creationId xmlns:a16="http://schemas.microsoft.com/office/drawing/2014/main" id="{76B02677-D196-1946-8E9F-40C8FEE1C551}"/>
              </a:ext>
            </a:extLst>
          </p:cNvPr>
          <p:cNvSpPr txBox="1">
            <a:spLocks noChangeArrowheads="1"/>
          </p:cNvSpPr>
          <p:nvPr/>
        </p:nvSpPr>
        <p:spPr bwMode="auto">
          <a:xfrm>
            <a:off x="1735115" y="2084438"/>
            <a:ext cx="7692903" cy="4544962"/>
          </a:xfrm>
          <a:prstGeom prst="rect">
            <a:avLst/>
          </a:prstGeom>
          <a:solidFill>
            <a:schemeClr val="accent1"/>
          </a:solidFill>
          <a:ln>
            <a:noFill/>
          </a:ln>
          <a:effectLst/>
        </p:spPr>
        <p:txBody>
          <a:bodyPr wrap="square" anchor="ctr">
            <a:spAutoFit/>
          </a:bodyPr>
          <a:lstStyle/>
          <a:p>
            <a:pPr>
              <a:lnSpc>
                <a:spcPct val="150000"/>
              </a:lnSpc>
              <a:defRPr/>
            </a:pPr>
            <a:r>
              <a:rPr lang="en-IE" b="1" dirty="0">
                <a:latin typeface="Lucida Sans Typewriter" panose="020B0509030504030204" pitchFamily="49" charset="77"/>
              </a:rPr>
              <a:t>Defines</a:t>
            </a:r>
          </a:p>
          <a:p>
            <a:pPr>
              <a:lnSpc>
                <a:spcPct val="150000"/>
              </a:lnSpc>
              <a:defRPr/>
            </a:pPr>
            <a:r>
              <a:rPr lang="en-IE" sz="2400" dirty="0">
                <a:latin typeface="Lucida Sans Typewriter" charset="0"/>
                <a:cs typeface="+mn-cs"/>
              </a:rPr>
              <a:t>compare :: Ord a =&gt; a-&gt; a -&gt; Ordering</a:t>
            </a:r>
          </a:p>
          <a:p>
            <a:pPr>
              <a:lnSpc>
                <a:spcPct val="150000"/>
              </a:lnSpc>
              <a:defRPr/>
            </a:pPr>
            <a:r>
              <a:rPr lang="en-US" sz="2400" dirty="0">
                <a:latin typeface="Lucida Sans Typewriter" charset="0"/>
                <a:cs typeface="+mn-cs"/>
              </a:rPr>
              <a:t>(&lt;) :: Ord a =&gt; a –&gt;a-&gt; Boolean</a:t>
            </a:r>
          </a:p>
          <a:p>
            <a:pPr>
              <a:lnSpc>
                <a:spcPct val="150000"/>
              </a:lnSpc>
              <a:defRPr/>
            </a:pPr>
            <a:r>
              <a:rPr lang="en-US" sz="2400" dirty="0">
                <a:latin typeface="Lucida Sans Typewriter" charset="0"/>
                <a:cs typeface="+mn-cs"/>
              </a:rPr>
              <a:t>(&gt;=</a:t>
            </a:r>
            <a:r>
              <a:rPr lang="en-US" sz="2400" dirty="0">
                <a:latin typeface="Lucida Sans Typewriter" charset="0"/>
              </a:rPr>
              <a:t>) :: Ord a =&gt; a –&gt;a-&gt; Boolean</a:t>
            </a:r>
          </a:p>
          <a:p>
            <a:pPr>
              <a:lnSpc>
                <a:spcPct val="150000"/>
              </a:lnSpc>
              <a:defRPr/>
            </a:pPr>
            <a:r>
              <a:rPr lang="en-US" sz="2400" dirty="0">
                <a:latin typeface="Lucida Sans Typewriter" charset="0"/>
              </a:rPr>
              <a:t>(&lt;=) :: Ord a =&gt; a –&gt;a-&gt; Boolean</a:t>
            </a:r>
          </a:p>
          <a:p>
            <a:pPr>
              <a:lnSpc>
                <a:spcPct val="150000"/>
              </a:lnSpc>
              <a:defRPr/>
            </a:pPr>
            <a:r>
              <a:rPr lang="en-US" sz="2400" dirty="0">
                <a:latin typeface="Lucida Sans Typewriter" charset="0"/>
              </a:rPr>
              <a:t>(&gt;) :: Ord a =&gt; a –&gt;a-&gt; Boolean</a:t>
            </a:r>
          </a:p>
          <a:p>
            <a:pPr>
              <a:lnSpc>
                <a:spcPct val="150000"/>
              </a:lnSpc>
              <a:defRPr/>
            </a:pPr>
            <a:r>
              <a:rPr lang="en-US" sz="2400" dirty="0">
                <a:latin typeface="Lucida Sans Typewriter" charset="0"/>
                <a:cs typeface="+mn-cs"/>
              </a:rPr>
              <a:t>max :: Ord a =&gt; a-&gt; a -&gt; a</a:t>
            </a:r>
          </a:p>
          <a:p>
            <a:pPr>
              <a:lnSpc>
                <a:spcPct val="150000"/>
              </a:lnSpc>
              <a:defRPr/>
            </a:pPr>
            <a:r>
              <a:rPr lang="en-US" sz="2400" dirty="0">
                <a:latin typeface="Lucida Sans Typewriter" charset="0"/>
              </a:rPr>
              <a:t>min :: Ord a =&gt; a-&gt; a -&gt; a</a:t>
            </a:r>
          </a:p>
        </p:txBody>
      </p:sp>
    </p:spTree>
    <p:extLst>
      <p:ext uri="{BB962C8B-B14F-4D97-AF65-F5344CB8AC3E}">
        <p14:creationId xmlns:p14="http://schemas.microsoft.com/office/powerpoint/2010/main" val="209689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
                                            <p:bg/>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additive="base">
                                        <p:cTn id="1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 calcmode="lin" valueType="num">
                                      <p:cBhvr additive="base">
                                        <p:cTn id="2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anim calcmode="lin" valueType="num">
                                      <p:cBhvr additive="base">
                                        <p:cTn id="2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 calcmode="lin" valueType="num">
                                      <p:cBhvr additive="base">
                                        <p:cTn id="3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xEl>
                                              <p:pRg st="5" end="5"/>
                                            </p:txEl>
                                          </p:spTgt>
                                        </p:tgtEl>
                                        <p:attrNameLst>
                                          <p:attrName>style.visibility</p:attrName>
                                        </p:attrNameLst>
                                      </p:cBhvr>
                                      <p:to>
                                        <p:strVal val="visible"/>
                                      </p:to>
                                    </p:set>
                                    <p:anim calcmode="lin" valueType="num">
                                      <p:cBhvr additive="base">
                                        <p:cTn id="4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 calcmode="lin" valueType="num">
                                      <p:cBhvr additive="base">
                                        <p:cTn id="4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
                                            <p:txEl>
                                              <p:pRg st="7" end="7"/>
                                            </p:txEl>
                                          </p:spTgt>
                                        </p:tgtEl>
                                        <p:attrNameLst>
                                          <p:attrName>style.visibility</p:attrName>
                                        </p:attrNameLst>
                                      </p:cBhvr>
                                      <p:to>
                                        <p:strVal val="visible"/>
                                      </p:to>
                                    </p:set>
                                    <p:anim calcmode="lin" valueType="num">
                                      <p:cBhvr additive="base">
                                        <p:cTn id="5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44</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1004454" y="858881"/>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Num</a:t>
            </a:r>
          </a:p>
        </p:txBody>
      </p:sp>
      <p:sp>
        <p:nvSpPr>
          <p:cNvPr id="5" name="Text Box 2">
            <a:extLst>
              <a:ext uri="{FF2B5EF4-FFF2-40B4-BE49-F238E27FC236}">
                <a16:creationId xmlns:a16="http://schemas.microsoft.com/office/drawing/2014/main" id="{D316CB23-0F1B-6842-A0D5-35527A1C637F}"/>
              </a:ext>
            </a:extLst>
          </p:cNvPr>
          <p:cNvSpPr txBox="1">
            <a:spLocks noChangeArrowheads="1"/>
          </p:cNvSpPr>
          <p:nvPr/>
        </p:nvSpPr>
        <p:spPr bwMode="auto">
          <a:xfrm>
            <a:off x="1517073" y="2157645"/>
            <a:ext cx="8970818" cy="4401205"/>
          </a:xfrm>
          <a:prstGeom prst="rect">
            <a:avLst/>
          </a:prstGeom>
          <a:noFill/>
          <a:ln>
            <a:noFill/>
          </a:ln>
          <a:effectLst/>
        </p:spPr>
        <p:txBody>
          <a:bodyPr wrap="square" anchor="ctr">
            <a:spAutoFit/>
          </a:bodyPr>
          <a:lstStyle/>
          <a:p>
            <a:pPr marL="457200" indent="-457200">
              <a:buFont typeface="Arial" panose="020B0604020202020204" pitchFamily="34" charset="0"/>
              <a:buChar char="•"/>
            </a:pPr>
            <a:r>
              <a:rPr lang="en-IE" sz="2800" dirty="0"/>
              <a:t>The most general class for number types</a:t>
            </a:r>
          </a:p>
          <a:p>
            <a:pPr marL="457200" indent="-457200">
              <a:buFont typeface="Arial" panose="020B0604020202020204" pitchFamily="34" charset="0"/>
              <a:buChar char="•"/>
            </a:pPr>
            <a:endParaRPr lang="en-IE" sz="2800" dirty="0"/>
          </a:p>
          <a:p>
            <a:pPr marL="457200" indent="-457200">
              <a:buFont typeface="Arial" panose="020B0604020202020204" pitchFamily="34" charset="0"/>
              <a:buChar char="•"/>
            </a:pPr>
            <a:endParaRPr lang="en-IE" sz="2800" dirty="0"/>
          </a:p>
          <a:p>
            <a:pPr marL="457200" indent="-457200">
              <a:buFont typeface="Arial" panose="020B0604020202020204" pitchFamily="34" charset="0"/>
              <a:buChar char="•"/>
            </a:pPr>
            <a:r>
              <a:rPr lang="en-IE" sz="2800" dirty="0"/>
              <a:t>This class contains both </a:t>
            </a:r>
          </a:p>
          <a:p>
            <a:pPr marL="457200" indent="-457200">
              <a:buFont typeface="Arial" panose="020B0604020202020204" pitchFamily="34" charset="0"/>
              <a:buChar char="•"/>
            </a:pPr>
            <a:endParaRPr lang="en-IE" sz="2800" dirty="0"/>
          </a:p>
          <a:p>
            <a:pPr marL="914400" lvl="1" indent="-457200">
              <a:buFont typeface="Arial" panose="020B0604020202020204" pitchFamily="34" charset="0"/>
              <a:buChar char="•"/>
            </a:pPr>
            <a:r>
              <a:rPr lang="en-IE" sz="2800" dirty="0"/>
              <a:t>integral types </a:t>
            </a:r>
            <a:r>
              <a:rPr lang="en-IE" sz="2800" b="1" dirty="0" err="1"/>
              <a:t>Int</a:t>
            </a:r>
            <a:r>
              <a:rPr lang="en-IE" sz="2800" dirty="0"/>
              <a:t>, </a:t>
            </a:r>
            <a:r>
              <a:rPr lang="en-IE" sz="2800" b="1" dirty="0"/>
              <a:t>Integer</a:t>
            </a:r>
            <a:r>
              <a:rPr lang="en-IE" sz="2800" dirty="0"/>
              <a:t>, Word32 etc.) and </a:t>
            </a:r>
          </a:p>
          <a:p>
            <a:pPr marL="914400" lvl="1" indent="-457200">
              <a:buFont typeface="Arial" panose="020B0604020202020204" pitchFamily="34" charset="0"/>
              <a:buChar char="•"/>
            </a:pPr>
            <a:endParaRPr lang="en-IE" sz="2800" dirty="0"/>
          </a:p>
          <a:p>
            <a:pPr marL="914400" lvl="1" indent="-457200">
              <a:buFont typeface="Arial" panose="020B0604020202020204" pitchFamily="34" charset="0"/>
              <a:buChar char="•"/>
            </a:pPr>
            <a:r>
              <a:rPr lang="en-IE" sz="2800" dirty="0"/>
              <a:t>fractional types (</a:t>
            </a:r>
            <a:r>
              <a:rPr lang="en-IE" sz="2800" b="1" dirty="0"/>
              <a:t>Double</a:t>
            </a:r>
            <a:r>
              <a:rPr lang="en-IE" sz="2800" dirty="0"/>
              <a:t>, </a:t>
            </a:r>
            <a:r>
              <a:rPr lang="en-IE" sz="2800" b="1" dirty="0"/>
              <a:t>Rational</a:t>
            </a:r>
            <a:r>
              <a:rPr lang="en-IE" sz="2800" dirty="0"/>
              <a:t>, also complex numbers etc.) </a:t>
            </a:r>
          </a:p>
          <a:p>
            <a:endParaRPr lang="en-IE" sz="2800" dirty="0"/>
          </a:p>
        </p:txBody>
      </p:sp>
    </p:spTree>
    <p:extLst>
      <p:ext uri="{BB962C8B-B14F-4D97-AF65-F5344CB8AC3E}">
        <p14:creationId xmlns:p14="http://schemas.microsoft.com/office/powerpoint/2010/main" val="159577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 calcmode="lin" valueType="num">
                                      <p:cBhvr additive="base">
                                        <p:cTn id="2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45</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999125" y="971892"/>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Num</a:t>
            </a:r>
          </a:p>
        </p:txBody>
      </p:sp>
      <p:sp>
        <p:nvSpPr>
          <p:cNvPr id="5" name="Text Box 5">
            <a:extLst>
              <a:ext uri="{FF2B5EF4-FFF2-40B4-BE49-F238E27FC236}">
                <a16:creationId xmlns:a16="http://schemas.microsoft.com/office/drawing/2014/main" id="{73E73D65-6955-134F-BA90-4C05E25DD653}"/>
              </a:ext>
            </a:extLst>
          </p:cNvPr>
          <p:cNvSpPr txBox="1">
            <a:spLocks noChangeArrowheads="1"/>
          </p:cNvSpPr>
          <p:nvPr/>
        </p:nvSpPr>
        <p:spPr bwMode="auto">
          <a:xfrm>
            <a:off x="1435553" y="1851373"/>
            <a:ext cx="8617507" cy="5006627"/>
          </a:xfrm>
          <a:prstGeom prst="rect">
            <a:avLst/>
          </a:prstGeom>
          <a:solidFill>
            <a:schemeClr val="accent1"/>
          </a:solidFill>
          <a:ln>
            <a:noFill/>
          </a:ln>
          <a:effectLst/>
        </p:spPr>
        <p:txBody>
          <a:bodyPr wrap="square" anchor="ctr">
            <a:spAutoFit/>
          </a:bodyPr>
          <a:lstStyle/>
          <a:p>
            <a:pPr>
              <a:lnSpc>
                <a:spcPct val="150000"/>
              </a:lnSpc>
              <a:defRPr/>
            </a:pPr>
            <a:r>
              <a:rPr lang="en-IE" sz="2400" dirty="0">
                <a:latin typeface="Lucida Sans Typewriter" charset="0"/>
                <a:cs typeface="+mn-cs"/>
              </a:rPr>
              <a:t>Defines</a:t>
            </a:r>
          </a:p>
          <a:p>
            <a:pPr>
              <a:lnSpc>
                <a:spcPct val="150000"/>
              </a:lnSpc>
              <a:defRPr/>
            </a:pPr>
            <a:r>
              <a:rPr lang="en-IE" sz="2400" dirty="0">
                <a:latin typeface="Lucida Sans Typewriter" charset="0"/>
                <a:cs typeface="+mn-cs"/>
              </a:rPr>
              <a:t>fromInteger :: </a:t>
            </a:r>
            <a:r>
              <a:rPr lang="en-IE" sz="2400" dirty="0" err="1">
                <a:latin typeface="Lucida Sans Typewriter" charset="0"/>
                <a:cs typeface="+mn-cs"/>
              </a:rPr>
              <a:t>Num</a:t>
            </a:r>
            <a:r>
              <a:rPr lang="en-IE" sz="2400" dirty="0">
                <a:latin typeface="Lucida Sans Typewriter" charset="0"/>
                <a:cs typeface="+mn-cs"/>
              </a:rPr>
              <a:t> a=&gt; Integer -&gt; a</a:t>
            </a:r>
          </a:p>
          <a:p>
            <a:pPr>
              <a:lnSpc>
                <a:spcPct val="150000"/>
              </a:lnSpc>
              <a:defRPr/>
            </a:pPr>
            <a:r>
              <a:rPr lang="en-IE" sz="2400" dirty="0">
                <a:latin typeface="Lucida Sans Typewriter" charset="0"/>
                <a:cs typeface="+mn-cs"/>
              </a:rPr>
              <a:t>(Converts an integer to the general </a:t>
            </a:r>
            <a:r>
              <a:rPr lang="en-IE" sz="2400" dirty="0" err="1">
                <a:latin typeface="Lucida Sans Typewriter" charset="0"/>
                <a:cs typeface="+mn-cs"/>
              </a:rPr>
              <a:t>Num</a:t>
            </a:r>
            <a:r>
              <a:rPr lang="en-IE" sz="2400" dirty="0">
                <a:latin typeface="Lucida Sans Typewriter" charset="0"/>
                <a:cs typeface="+mn-cs"/>
              </a:rPr>
              <a:t> type)</a:t>
            </a:r>
            <a:br>
              <a:rPr lang="en-IE" sz="2400" dirty="0">
                <a:latin typeface="Lucida Sans Typewriter" charset="0"/>
                <a:cs typeface="+mn-cs"/>
              </a:rPr>
            </a:br>
            <a:r>
              <a:rPr lang="en-IE" sz="2400" dirty="0">
                <a:latin typeface="Lucida Sans Typewriter" charset="0"/>
                <a:cs typeface="+mn-cs"/>
              </a:rPr>
              <a:t>(+) :: </a:t>
            </a:r>
            <a:r>
              <a:rPr lang="en-IE" sz="2400" dirty="0" err="1">
                <a:latin typeface="Lucida Sans Typewriter" charset="0"/>
                <a:cs typeface="+mn-cs"/>
              </a:rPr>
              <a:t>Num</a:t>
            </a:r>
            <a:r>
              <a:rPr lang="en-IE" sz="2400" dirty="0">
                <a:latin typeface="Lucida Sans Typewriter" charset="0"/>
                <a:cs typeface="+mn-cs"/>
              </a:rPr>
              <a:t> a =&gt; a -&gt; a-&gt; a</a:t>
            </a:r>
          </a:p>
          <a:p>
            <a:pPr>
              <a:lnSpc>
                <a:spcPct val="150000"/>
              </a:lnSpc>
              <a:defRPr/>
            </a:pPr>
            <a:r>
              <a:rPr lang="en-IE" sz="2400" dirty="0">
                <a:latin typeface="Lucida Sans Typewriter" charset="0"/>
              </a:rPr>
              <a:t>(-) :: </a:t>
            </a:r>
            <a:r>
              <a:rPr lang="en-IE" sz="2400" dirty="0" err="1">
                <a:latin typeface="Lucida Sans Typewriter" charset="0"/>
              </a:rPr>
              <a:t>Num</a:t>
            </a:r>
            <a:r>
              <a:rPr lang="en-IE" sz="2400" dirty="0">
                <a:latin typeface="Lucida Sans Typewriter" charset="0"/>
              </a:rPr>
              <a:t> a =&gt; a -&gt; a-&gt; a</a:t>
            </a:r>
          </a:p>
          <a:p>
            <a:pPr>
              <a:lnSpc>
                <a:spcPct val="150000"/>
              </a:lnSpc>
              <a:defRPr/>
            </a:pPr>
            <a:r>
              <a:rPr lang="en-IE" sz="2400" dirty="0">
                <a:latin typeface="Lucida Sans Typewriter" charset="0"/>
              </a:rPr>
              <a:t>(*) :: </a:t>
            </a:r>
            <a:r>
              <a:rPr lang="en-IE" sz="2400" dirty="0" err="1">
                <a:latin typeface="Lucida Sans Typewriter" charset="0"/>
              </a:rPr>
              <a:t>Num</a:t>
            </a:r>
            <a:r>
              <a:rPr lang="en-IE" sz="2400" dirty="0">
                <a:latin typeface="Lucida Sans Typewriter" charset="0"/>
              </a:rPr>
              <a:t> a =&gt; a -&gt; a-&gt; a</a:t>
            </a:r>
          </a:p>
          <a:p>
            <a:pPr>
              <a:lnSpc>
                <a:spcPct val="150000"/>
              </a:lnSpc>
              <a:defRPr/>
            </a:pPr>
            <a:r>
              <a:rPr lang="en-IE" sz="2400" dirty="0">
                <a:latin typeface="Lucida Sans Typewriter" charset="0"/>
              </a:rPr>
              <a:t>negate :: </a:t>
            </a:r>
            <a:r>
              <a:rPr lang="en-IE" sz="2400" dirty="0" err="1">
                <a:latin typeface="Lucida Sans Typewriter" charset="0"/>
              </a:rPr>
              <a:t>Num</a:t>
            </a:r>
            <a:r>
              <a:rPr lang="en-IE" sz="2400" dirty="0">
                <a:latin typeface="Lucida Sans Typewriter" charset="0"/>
              </a:rPr>
              <a:t> a =&gt; a -&gt; a</a:t>
            </a:r>
          </a:p>
          <a:p>
            <a:pPr>
              <a:lnSpc>
                <a:spcPct val="150000"/>
              </a:lnSpc>
              <a:defRPr/>
            </a:pPr>
            <a:r>
              <a:rPr lang="en-IE" sz="2400" dirty="0">
                <a:latin typeface="Lucida Sans Typewriter" charset="0"/>
              </a:rPr>
              <a:t>abs :: </a:t>
            </a:r>
            <a:r>
              <a:rPr lang="en-IE" sz="2400" dirty="0" err="1">
                <a:latin typeface="Lucida Sans Typewriter" charset="0"/>
              </a:rPr>
              <a:t>Num</a:t>
            </a:r>
            <a:r>
              <a:rPr lang="en-IE" sz="2400" dirty="0">
                <a:latin typeface="Lucida Sans Typewriter" charset="0"/>
              </a:rPr>
              <a:t> a =&gt; a -&gt; a</a:t>
            </a:r>
          </a:p>
          <a:p>
            <a:pPr>
              <a:lnSpc>
                <a:spcPct val="150000"/>
              </a:lnSpc>
              <a:defRPr/>
            </a:pPr>
            <a:r>
              <a:rPr lang="en-IE" sz="2400" dirty="0">
                <a:latin typeface="Lucida Sans Typewriter" charset="0"/>
              </a:rPr>
              <a:t>signum :: </a:t>
            </a:r>
            <a:r>
              <a:rPr lang="en-IE" sz="2400" dirty="0" err="1">
                <a:latin typeface="Lucida Sans Typewriter" charset="0"/>
              </a:rPr>
              <a:t>Num</a:t>
            </a:r>
            <a:r>
              <a:rPr lang="en-IE" sz="2400" dirty="0">
                <a:latin typeface="Lucida Sans Typewriter" charset="0"/>
              </a:rPr>
              <a:t> a =&gt; a -&gt; a</a:t>
            </a:r>
          </a:p>
        </p:txBody>
      </p:sp>
    </p:spTree>
    <p:extLst>
      <p:ext uri="{BB962C8B-B14F-4D97-AF65-F5344CB8AC3E}">
        <p14:creationId xmlns:p14="http://schemas.microsoft.com/office/powerpoint/2010/main" val="216175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500" fill="hold"/>
                                        <p:tgtEl>
                                          <p:spTgt spid="5">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 calcmode="lin" valueType="num">
                                      <p:cBhvr additive="base">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 calcmode="lin" valueType="num">
                                      <p:cBhvr additive="base">
                                        <p:cTn id="3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anim calcmode="lin" valueType="num">
                                      <p:cBhvr additive="base">
                                        <p:cTn id="4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 calcmode="lin" valueType="num">
                                      <p:cBhvr additive="base">
                                        <p:cTn id="4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anim calcmode="lin" valueType="num">
                                      <p:cBhvr additive="base">
                                        <p:cTn id="5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46</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583489" y="858881"/>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Typeclasses in Haskell - Num</a:t>
            </a:r>
          </a:p>
        </p:txBody>
      </p:sp>
      <p:sp>
        <p:nvSpPr>
          <p:cNvPr id="5" name="Text Box 5">
            <a:extLst>
              <a:ext uri="{FF2B5EF4-FFF2-40B4-BE49-F238E27FC236}">
                <a16:creationId xmlns:a16="http://schemas.microsoft.com/office/drawing/2014/main" id="{73E73D65-6955-134F-BA90-4C05E25DD653}"/>
              </a:ext>
            </a:extLst>
          </p:cNvPr>
          <p:cNvSpPr txBox="1">
            <a:spLocks noChangeArrowheads="1"/>
          </p:cNvSpPr>
          <p:nvPr/>
        </p:nvSpPr>
        <p:spPr bwMode="auto">
          <a:xfrm>
            <a:off x="2206546" y="2604785"/>
            <a:ext cx="7618772" cy="1128001"/>
          </a:xfrm>
          <a:prstGeom prst="rect">
            <a:avLst/>
          </a:prstGeom>
          <a:solidFill>
            <a:schemeClr val="accent1"/>
          </a:solidFill>
          <a:ln>
            <a:noFill/>
          </a:ln>
          <a:effectLst/>
        </p:spPr>
        <p:txBody>
          <a:bodyPr wrap="square" anchor="ctr">
            <a:spAutoFit/>
          </a:bodyPr>
          <a:lstStyle/>
          <a:p>
            <a:pPr>
              <a:lnSpc>
                <a:spcPct val="150000"/>
              </a:lnSpc>
              <a:defRPr/>
            </a:pPr>
            <a:r>
              <a:rPr lang="en-IE" sz="2400" dirty="0">
                <a:latin typeface="Lucida Sans Typewriter" charset="0"/>
                <a:cs typeface="+mn-cs"/>
              </a:rPr>
              <a:t>See more at </a:t>
            </a:r>
            <a:r>
              <a:rPr lang="en-IE" sz="2400" dirty="0">
                <a:hlinkClick r:id="rId2"/>
              </a:rPr>
              <a:t>https://wiki.haskell.org/Converting_numbers</a:t>
            </a:r>
            <a:endParaRPr lang="en-IE" sz="2400" dirty="0">
              <a:latin typeface="Lucida Sans Typewriter" charset="0"/>
            </a:endParaRPr>
          </a:p>
        </p:txBody>
      </p:sp>
    </p:spTree>
    <p:extLst>
      <p:ext uri="{BB962C8B-B14F-4D97-AF65-F5344CB8AC3E}">
        <p14:creationId xmlns:p14="http://schemas.microsoft.com/office/powerpoint/2010/main" val="18483391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47</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308392" y="858881"/>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Derived Instances</a:t>
            </a:r>
          </a:p>
        </p:txBody>
      </p:sp>
      <p:sp>
        <p:nvSpPr>
          <p:cNvPr id="6" name="Text Box 2">
            <a:extLst>
              <a:ext uri="{FF2B5EF4-FFF2-40B4-BE49-F238E27FC236}">
                <a16:creationId xmlns:a16="http://schemas.microsoft.com/office/drawing/2014/main" id="{17BDEFED-6DD4-9A4D-BF37-0F8DCD70F005}"/>
              </a:ext>
            </a:extLst>
          </p:cNvPr>
          <p:cNvSpPr txBox="1">
            <a:spLocks noChangeArrowheads="1"/>
          </p:cNvSpPr>
          <p:nvPr/>
        </p:nvSpPr>
        <p:spPr bwMode="auto">
          <a:xfrm>
            <a:off x="1239983" y="2497780"/>
            <a:ext cx="8480425" cy="3970318"/>
          </a:xfrm>
          <a:prstGeom prst="rect">
            <a:avLst/>
          </a:prstGeom>
          <a:noFill/>
          <a:ln>
            <a:noFill/>
          </a:ln>
          <a:effectLst/>
        </p:spPr>
        <p:txBody>
          <a:bodyPr anchor="ctr">
            <a:spAutoFit/>
          </a:bodyPr>
          <a:lstStyle/>
          <a:p>
            <a:pPr marL="457200" indent="-457200">
              <a:buFont typeface="Arial" panose="020B0604020202020204" pitchFamily="34" charset="0"/>
              <a:buChar char="•"/>
            </a:pPr>
            <a:r>
              <a:rPr lang="en-IE" sz="2800" dirty="0"/>
              <a:t>When new types are declared, usually appropriate to make them instances of </a:t>
            </a:r>
          </a:p>
          <a:p>
            <a:pPr marL="914400" lvl="1" indent="-457200">
              <a:buFont typeface="Arial" panose="020B0604020202020204" pitchFamily="34" charset="0"/>
              <a:buChar char="•"/>
            </a:pPr>
            <a:r>
              <a:rPr lang="en-IE" sz="2800" dirty="0"/>
              <a:t>Eq</a:t>
            </a:r>
          </a:p>
          <a:p>
            <a:pPr marL="914400" lvl="1" indent="-457200">
              <a:buFont typeface="Arial" panose="020B0604020202020204" pitchFamily="34" charset="0"/>
              <a:buChar char="•"/>
            </a:pPr>
            <a:r>
              <a:rPr lang="en-IE" sz="2800" dirty="0"/>
              <a:t>Ord</a:t>
            </a:r>
          </a:p>
          <a:p>
            <a:pPr marL="914400" lvl="1" indent="-457200">
              <a:buFont typeface="Arial" panose="020B0604020202020204" pitchFamily="34" charset="0"/>
              <a:buChar char="•"/>
            </a:pPr>
            <a:r>
              <a:rPr lang="en-IE" sz="2800" dirty="0"/>
              <a:t>Show</a:t>
            </a:r>
          </a:p>
          <a:p>
            <a:pPr marL="914400" lvl="1" indent="-457200">
              <a:buFont typeface="Arial" panose="020B0604020202020204" pitchFamily="34" charset="0"/>
              <a:buChar char="•"/>
            </a:pPr>
            <a:r>
              <a:rPr lang="en-IE" sz="2800" dirty="0"/>
              <a:t>Read</a:t>
            </a:r>
          </a:p>
          <a:p>
            <a:pPr lvl="1"/>
            <a:r>
              <a:rPr lang="en-IE" sz="2800" dirty="0"/>
              <a:t>Using the deriving mechanism</a:t>
            </a:r>
          </a:p>
          <a:p>
            <a:endParaRPr lang="en-IE" sz="2800" dirty="0"/>
          </a:p>
          <a:p>
            <a:endParaRPr lang="en-IE" sz="2800" dirty="0"/>
          </a:p>
        </p:txBody>
      </p:sp>
    </p:spTree>
    <p:extLst>
      <p:ext uri="{BB962C8B-B14F-4D97-AF65-F5344CB8AC3E}">
        <p14:creationId xmlns:p14="http://schemas.microsoft.com/office/powerpoint/2010/main" val="407181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32E6F-EAD1-2349-A1F1-3B998A8EBFFB}"/>
              </a:ext>
            </a:extLst>
          </p:cNvPr>
          <p:cNvSpPr>
            <a:spLocks noGrp="1"/>
          </p:cNvSpPr>
          <p:nvPr>
            <p:ph type="sldNum" sz="quarter" idx="12"/>
          </p:nvPr>
        </p:nvSpPr>
        <p:spPr/>
        <p:txBody>
          <a:bodyPr/>
          <a:lstStyle/>
          <a:p>
            <a:pPr>
              <a:defRPr/>
            </a:pPr>
            <a:fld id="{BCAC36D0-0ED6-684D-8A07-95B77A62CED0}" type="slidenum">
              <a:rPr lang="en-US" smtClean="0"/>
              <a:pPr>
                <a:defRPr/>
              </a:pPr>
              <a:t>48</a:t>
            </a:fld>
            <a:endParaRPr lang="en-US"/>
          </a:p>
        </p:txBody>
      </p:sp>
      <p:sp>
        <p:nvSpPr>
          <p:cNvPr id="4" name="Rectangle 2">
            <a:extLst>
              <a:ext uri="{FF2B5EF4-FFF2-40B4-BE49-F238E27FC236}">
                <a16:creationId xmlns:a16="http://schemas.microsoft.com/office/drawing/2014/main" id="{CBC1B33E-E7D0-6447-83F5-7E1B954DF513}"/>
              </a:ext>
            </a:extLst>
          </p:cNvPr>
          <p:cNvSpPr txBox="1">
            <a:spLocks noChangeArrowheads="1"/>
          </p:cNvSpPr>
          <p:nvPr/>
        </p:nvSpPr>
        <p:spPr>
          <a:xfrm>
            <a:off x="971416" y="922923"/>
            <a:ext cx="7772400" cy="879481"/>
          </a:xfrm>
          <a:prstGeom prst="rect">
            <a:avLst/>
          </a:prstGeom>
        </p:spPr>
        <p:txBody>
          <a:bodyPr/>
          <a:lstStyle>
            <a:lvl1pPr algn="l" rtl="0" eaLnBrk="0" fontAlgn="base" hangingPunct="0">
              <a:spcBef>
                <a:spcPct val="0"/>
              </a:spcBef>
              <a:spcAft>
                <a:spcPct val="0"/>
              </a:spcAft>
              <a:defRPr kumimoji="1" sz="3600">
                <a:solidFill>
                  <a:schemeClr val="tx2"/>
                </a:solidFill>
                <a:latin typeface="+mj-lt"/>
                <a:ea typeface="+mj-ea"/>
                <a:cs typeface="ＭＳ Ｐゴシック" pitchFamily="-1" charset="-128"/>
              </a:defRPr>
            </a:lvl1pPr>
            <a:lvl2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2pPr>
            <a:lvl3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3pPr>
            <a:lvl4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4pPr>
            <a:lvl5pPr algn="l" rtl="0" eaLnBrk="0" fontAlgn="base" hangingPunct="0">
              <a:spcBef>
                <a:spcPct val="0"/>
              </a:spcBef>
              <a:spcAft>
                <a:spcPct val="0"/>
              </a:spcAft>
              <a:defRPr kumimoji="1" sz="3600">
                <a:solidFill>
                  <a:schemeClr val="tx2"/>
                </a:solidFill>
                <a:latin typeface="Arial Black" charset="0"/>
                <a:ea typeface="ＭＳ Ｐゴシック" charset="0"/>
                <a:cs typeface="ＭＳ Ｐゴシック" pitchFamily="-1" charset="-128"/>
              </a:defRPr>
            </a:lvl5pPr>
            <a:lvl6pPr marL="457200" algn="l" rtl="0" eaLnBrk="0" fontAlgn="base" hangingPunct="0">
              <a:spcBef>
                <a:spcPct val="0"/>
              </a:spcBef>
              <a:spcAft>
                <a:spcPct val="0"/>
              </a:spcAft>
              <a:defRPr kumimoji="1" sz="3600">
                <a:solidFill>
                  <a:schemeClr val="tx2"/>
                </a:solidFill>
                <a:latin typeface="Arial Black" charset="0"/>
                <a:ea typeface="ＭＳ Ｐゴシック" charset="0"/>
              </a:defRPr>
            </a:lvl6pPr>
            <a:lvl7pPr marL="914400" algn="l" rtl="0" eaLnBrk="0" fontAlgn="base" hangingPunct="0">
              <a:spcBef>
                <a:spcPct val="0"/>
              </a:spcBef>
              <a:spcAft>
                <a:spcPct val="0"/>
              </a:spcAft>
              <a:defRPr kumimoji="1" sz="3600">
                <a:solidFill>
                  <a:schemeClr val="tx2"/>
                </a:solidFill>
                <a:latin typeface="Arial Black" charset="0"/>
                <a:ea typeface="ＭＳ Ｐゴシック" charset="0"/>
              </a:defRPr>
            </a:lvl7pPr>
            <a:lvl8pPr marL="1371600" algn="l" rtl="0" eaLnBrk="0" fontAlgn="base" hangingPunct="0">
              <a:spcBef>
                <a:spcPct val="0"/>
              </a:spcBef>
              <a:spcAft>
                <a:spcPct val="0"/>
              </a:spcAft>
              <a:defRPr kumimoji="1" sz="3600">
                <a:solidFill>
                  <a:schemeClr val="tx2"/>
                </a:solidFill>
                <a:latin typeface="Arial Black" charset="0"/>
                <a:ea typeface="ＭＳ Ｐゴシック" charset="0"/>
              </a:defRPr>
            </a:lvl8pPr>
            <a:lvl9pPr marL="1828800" algn="l" rtl="0" eaLnBrk="0" fontAlgn="base" hangingPunct="0">
              <a:spcBef>
                <a:spcPct val="0"/>
              </a:spcBef>
              <a:spcAft>
                <a:spcPct val="0"/>
              </a:spcAft>
              <a:defRPr kumimoji="1" sz="3600">
                <a:solidFill>
                  <a:schemeClr val="tx2"/>
                </a:solidFill>
                <a:latin typeface="Arial Black" charset="0"/>
                <a:ea typeface="ＭＳ Ｐゴシック" charset="0"/>
              </a:defRPr>
            </a:lvl9pPr>
          </a:lstStyle>
          <a:p>
            <a:r>
              <a:rPr lang="en-US" kern="0" dirty="0">
                <a:latin typeface="Arial Black" charset="0"/>
                <a:ea typeface="ＭＳ Ｐゴシック" charset="0"/>
                <a:cs typeface="ＭＳ Ｐゴシック" charset="0"/>
              </a:rPr>
              <a:t>Derived Instances</a:t>
            </a:r>
          </a:p>
        </p:txBody>
      </p:sp>
      <p:sp>
        <p:nvSpPr>
          <p:cNvPr id="5" name="Text Box 5">
            <a:extLst>
              <a:ext uri="{FF2B5EF4-FFF2-40B4-BE49-F238E27FC236}">
                <a16:creationId xmlns:a16="http://schemas.microsoft.com/office/drawing/2014/main" id="{D2DB129E-9048-DF4B-966A-C8805689788F}"/>
              </a:ext>
            </a:extLst>
          </p:cNvPr>
          <p:cNvSpPr txBox="1">
            <a:spLocks noChangeArrowheads="1"/>
          </p:cNvSpPr>
          <p:nvPr/>
        </p:nvSpPr>
        <p:spPr bwMode="auto">
          <a:xfrm>
            <a:off x="1858107" y="2300358"/>
            <a:ext cx="8330282" cy="1128642"/>
          </a:xfrm>
          <a:prstGeom prst="rect">
            <a:avLst/>
          </a:prstGeom>
          <a:solidFill>
            <a:schemeClr val="accent1"/>
          </a:solidFill>
          <a:ln>
            <a:noFill/>
          </a:ln>
          <a:effectLst/>
        </p:spPr>
        <p:txBody>
          <a:bodyPr wrap="square" anchor="ctr">
            <a:spAutoFit/>
          </a:bodyPr>
          <a:lstStyle/>
          <a:p>
            <a:pPr>
              <a:lnSpc>
                <a:spcPct val="150000"/>
              </a:lnSpc>
              <a:defRPr/>
            </a:pPr>
            <a:r>
              <a:rPr lang="en-IE" sz="2400" dirty="0">
                <a:latin typeface="Lucida Sans Typewriter" charset="0"/>
                <a:cs typeface="+mn-cs"/>
              </a:rPr>
              <a:t>Data Bool = False | True</a:t>
            </a:r>
          </a:p>
          <a:p>
            <a:pPr>
              <a:lnSpc>
                <a:spcPct val="150000"/>
              </a:lnSpc>
              <a:defRPr/>
            </a:pPr>
            <a:r>
              <a:rPr lang="en-IE" sz="2400" dirty="0">
                <a:latin typeface="Lucida Sans Typewriter" charset="0"/>
                <a:cs typeface="+mn-cs"/>
              </a:rPr>
              <a:t>            deriving (Eq, Ord</a:t>
            </a:r>
            <a:r>
              <a:rPr lang="en-IE" sz="2400">
                <a:latin typeface="Lucida Sans Typewriter" charset="0"/>
                <a:cs typeface="+mn-cs"/>
              </a:rPr>
              <a:t>, Show)</a:t>
            </a:r>
            <a:endParaRPr lang="en-IE" sz="2400" dirty="0">
              <a:latin typeface="Lucida Sans Typewriter" charset="0"/>
              <a:cs typeface="+mn-cs"/>
            </a:endParaRPr>
          </a:p>
        </p:txBody>
      </p:sp>
      <p:sp>
        <p:nvSpPr>
          <p:cNvPr id="7" name="Text Box 5">
            <a:extLst>
              <a:ext uri="{FF2B5EF4-FFF2-40B4-BE49-F238E27FC236}">
                <a16:creationId xmlns:a16="http://schemas.microsoft.com/office/drawing/2014/main" id="{EE2BD527-E28D-2746-9A06-91BDBC5AA9E3}"/>
              </a:ext>
            </a:extLst>
          </p:cNvPr>
          <p:cNvSpPr txBox="1">
            <a:spLocks noChangeArrowheads="1"/>
          </p:cNvSpPr>
          <p:nvPr/>
        </p:nvSpPr>
        <p:spPr bwMode="auto">
          <a:xfrm>
            <a:off x="1858107" y="3817918"/>
            <a:ext cx="8330282" cy="1128642"/>
          </a:xfrm>
          <a:prstGeom prst="rect">
            <a:avLst/>
          </a:prstGeom>
          <a:solidFill>
            <a:schemeClr val="accent1"/>
          </a:solidFill>
          <a:ln>
            <a:noFill/>
          </a:ln>
          <a:effectLst/>
        </p:spPr>
        <p:txBody>
          <a:bodyPr wrap="square" anchor="ctr">
            <a:spAutoFit/>
          </a:bodyPr>
          <a:lstStyle/>
          <a:p>
            <a:pPr>
              <a:lnSpc>
                <a:spcPct val="150000"/>
              </a:lnSpc>
              <a:defRPr/>
            </a:pPr>
            <a:r>
              <a:rPr lang="en-IE" sz="2400" dirty="0">
                <a:latin typeface="Lucida Sans Typewriter" charset="0"/>
                <a:cs typeface="+mn-cs"/>
              </a:rPr>
              <a:t>&gt; False == False</a:t>
            </a:r>
          </a:p>
          <a:p>
            <a:pPr>
              <a:lnSpc>
                <a:spcPct val="150000"/>
              </a:lnSpc>
              <a:defRPr/>
            </a:pPr>
            <a:r>
              <a:rPr lang="en-IE" sz="2400" dirty="0">
                <a:latin typeface="Lucida Sans Typewriter" charset="0"/>
                <a:cs typeface="+mn-cs"/>
              </a:rPr>
              <a:t>True</a:t>
            </a:r>
          </a:p>
        </p:txBody>
      </p:sp>
      <p:sp>
        <p:nvSpPr>
          <p:cNvPr id="8" name="Text Box 5">
            <a:extLst>
              <a:ext uri="{FF2B5EF4-FFF2-40B4-BE49-F238E27FC236}">
                <a16:creationId xmlns:a16="http://schemas.microsoft.com/office/drawing/2014/main" id="{CEB4B737-290A-3D4C-91BA-F1025160063D}"/>
              </a:ext>
            </a:extLst>
          </p:cNvPr>
          <p:cNvSpPr txBox="1">
            <a:spLocks noChangeArrowheads="1"/>
          </p:cNvSpPr>
          <p:nvPr/>
        </p:nvSpPr>
        <p:spPr bwMode="auto">
          <a:xfrm>
            <a:off x="1858107" y="5582568"/>
            <a:ext cx="8330282" cy="1128642"/>
          </a:xfrm>
          <a:prstGeom prst="rect">
            <a:avLst/>
          </a:prstGeom>
          <a:solidFill>
            <a:schemeClr val="accent1"/>
          </a:solidFill>
          <a:ln>
            <a:noFill/>
          </a:ln>
          <a:effectLst/>
        </p:spPr>
        <p:txBody>
          <a:bodyPr wrap="square" anchor="ctr">
            <a:spAutoFit/>
          </a:bodyPr>
          <a:lstStyle/>
          <a:p>
            <a:pPr>
              <a:lnSpc>
                <a:spcPct val="150000"/>
              </a:lnSpc>
              <a:defRPr/>
            </a:pPr>
            <a:r>
              <a:rPr lang="en-IE" sz="2400" dirty="0">
                <a:latin typeface="Lucida Sans Typewriter" charset="0"/>
              </a:rPr>
              <a:t>&gt; False &lt; False</a:t>
            </a:r>
          </a:p>
          <a:p>
            <a:pPr>
              <a:lnSpc>
                <a:spcPct val="150000"/>
              </a:lnSpc>
              <a:defRPr/>
            </a:pPr>
            <a:r>
              <a:rPr lang="en-IE" sz="2400" dirty="0">
                <a:latin typeface="Lucida Sans Typewriter" charset="0"/>
              </a:rPr>
              <a:t>False</a:t>
            </a:r>
          </a:p>
        </p:txBody>
      </p:sp>
      <p:sp>
        <p:nvSpPr>
          <p:cNvPr id="3" name="Rectangular Callout 2">
            <a:extLst>
              <a:ext uri="{FF2B5EF4-FFF2-40B4-BE49-F238E27FC236}">
                <a16:creationId xmlns:a16="http://schemas.microsoft.com/office/drawing/2014/main" id="{5C853918-F49D-474A-A11B-BFF37D51F2D8}"/>
              </a:ext>
            </a:extLst>
          </p:cNvPr>
          <p:cNvSpPr/>
          <p:nvPr/>
        </p:nvSpPr>
        <p:spPr bwMode="auto">
          <a:xfrm>
            <a:off x="7168445" y="146790"/>
            <a:ext cx="2472267" cy="1200329"/>
          </a:xfrm>
          <a:prstGeom prst="wedgeRectCallout">
            <a:avLst>
              <a:gd name="adj1" fmla="val -16931"/>
              <a:gd name="adj2" fmla="val 190378"/>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1800" dirty="0"/>
              <a:t>Show needed when you want to print values of the type to the terminal</a:t>
            </a:r>
          </a:p>
        </p:txBody>
      </p:sp>
    </p:spTree>
    <p:extLst>
      <p:ext uri="{BB962C8B-B14F-4D97-AF65-F5344CB8AC3E}">
        <p14:creationId xmlns:p14="http://schemas.microsoft.com/office/powerpoint/2010/main" val="186192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41" descr="Text&#10;&#10;Description automatically generated">
            <a:extLst>
              <a:ext uri="{FF2B5EF4-FFF2-40B4-BE49-F238E27FC236}">
                <a16:creationId xmlns:a16="http://schemas.microsoft.com/office/drawing/2014/main" id="{141DDF3B-FD32-7F4E-952D-A3750E179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4954" y="2468166"/>
            <a:ext cx="4888706"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6" name="Slide Number Placeholder 2">
            <a:extLst>
              <a:ext uri="{FF2B5EF4-FFF2-40B4-BE49-F238E27FC236}">
                <a16:creationId xmlns:a16="http://schemas.microsoft.com/office/drawing/2014/main" id="{DB04C08F-80B4-4D43-87D0-CE4F7D455D5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kumimoji="1" sz="21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chemeClr val="accent2"/>
              </a:buClr>
              <a:buFont typeface="Monotype Sorts" pitchFamily="2" charset="2"/>
              <a:buChar char="y"/>
              <a:defRPr kumimoji="1" sz="18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chemeClr val="accent2"/>
              </a:buClr>
              <a:buFont typeface="Monotype Sorts" pitchFamily="2" charset="2"/>
              <a:buChar char="x"/>
              <a:defRPr kumimoji="1" sz="15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chemeClr val="accent2"/>
              </a:buClr>
              <a:buChar char="•"/>
              <a:defRPr kumimoji="1">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chemeClr val="accent2"/>
              </a:buClr>
              <a:buChar char="–"/>
              <a:defRPr kumimoji="1">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chemeClr val="accent2"/>
              </a:buClr>
              <a:buChar char="–"/>
              <a:defRPr kumimoji="1">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chemeClr val="accent2"/>
              </a:buClr>
              <a:buChar char="–"/>
              <a:defRPr kumimoji="1">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chemeClr val="accent2"/>
              </a:buClr>
              <a:buChar char="–"/>
              <a:defRPr kumimoji="1">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chemeClr val="accent2"/>
              </a:buClr>
              <a:buChar char="–"/>
              <a:defRPr kumimoji="1">
                <a:solidFill>
                  <a:schemeClr val="tx1"/>
                </a:solidFill>
                <a:latin typeface="Tahoma" panose="020B0604030504040204" pitchFamily="34" charset="0"/>
                <a:ea typeface="ＭＳ Ｐゴシック" panose="020B0600070205080204" pitchFamily="34" charset="-128"/>
              </a:defRPr>
            </a:lvl9pPr>
          </a:lstStyle>
          <a:p>
            <a:pPr>
              <a:spcBef>
                <a:spcPct val="0"/>
              </a:spcBef>
              <a:spcAft>
                <a:spcPts val="450"/>
              </a:spcAft>
              <a:buClrTx/>
              <a:buNone/>
            </a:pPr>
            <a:fld id="{350E24D9-8BBE-D14C-8545-85663EDC0EE7}" type="slidenum">
              <a:rPr kumimoji="0" lang="en-US" altLang="en-US" sz="1050"/>
              <a:pPr>
                <a:spcBef>
                  <a:spcPct val="0"/>
                </a:spcBef>
                <a:spcAft>
                  <a:spcPts val="450"/>
                </a:spcAft>
                <a:buClrTx/>
                <a:buNone/>
              </a:pPr>
              <a:t>49</a:t>
            </a:fld>
            <a:endParaRPr kumimoji="0" lang="en-US" altLang="en-US" sz="1050"/>
          </a:p>
        </p:txBody>
      </p:sp>
    </p:spTree>
    <p:extLst>
      <p:ext uri="{BB962C8B-B14F-4D97-AF65-F5344CB8AC3E}">
        <p14:creationId xmlns:p14="http://schemas.microsoft.com/office/powerpoint/2010/main" val="676614423"/>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a-functions</Template>
  <TotalTime>13567</TotalTime>
  <Words>2772</Words>
  <Application>Microsoft Macintosh PowerPoint</Application>
  <PresentationFormat>Widescreen</PresentationFormat>
  <Paragraphs>413</Paragraphs>
  <Slides>50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Arial Black</vt:lpstr>
      <vt:lpstr>Calibri</vt:lpstr>
      <vt:lpstr>Lucida Sans Typewriter</vt:lpstr>
      <vt:lpstr>Symbol</vt:lpstr>
      <vt:lpstr>Tahoma</vt:lpstr>
      <vt:lpstr>Times New Roman</vt:lpstr>
      <vt:lpstr>Trebuchet MS</vt:lpstr>
      <vt:lpstr>Wingdings</vt:lpstr>
      <vt:lpstr>Berlin</vt:lpstr>
      <vt:lpstr>PowerPoint Presentation</vt:lpstr>
      <vt:lpstr>Type Declarations</vt:lpstr>
      <vt:lpstr>Type Declarations</vt:lpstr>
      <vt:lpstr>Type Declarations</vt:lpstr>
      <vt:lpstr>Type Declarations</vt:lpstr>
      <vt:lpstr>Data Declarations</vt:lpstr>
      <vt:lpstr>PowerPoint Presentation</vt:lpstr>
      <vt:lpstr>Data Declarations</vt:lpstr>
      <vt:lpstr>Data Declarations</vt:lpstr>
      <vt:lpstr>PowerPoint Presentation</vt:lpstr>
      <vt:lpstr>PowerPoint Presentation</vt:lpstr>
      <vt:lpstr>PowerPoint Presentation</vt:lpstr>
      <vt:lpstr>PowerPoint Presentation</vt:lpstr>
      <vt:lpstr>Handy function with Either</vt:lpstr>
      <vt:lpstr>Example with partitionEithers</vt:lpstr>
      <vt:lpstr>Recursive Types</vt:lpstr>
      <vt:lpstr>Recursive Types</vt:lpstr>
      <vt:lpstr>PowerPoint Presentation</vt:lpstr>
      <vt:lpstr>Recursive Types</vt:lpstr>
      <vt:lpstr>Recursive Types</vt:lpstr>
      <vt:lpstr>Recursive Types</vt:lpstr>
      <vt:lpstr>Arithmetic Expressions</vt:lpstr>
      <vt:lpstr>Recursive Types</vt:lpstr>
      <vt:lpstr>Recursive Types</vt:lpstr>
      <vt:lpstr>PowerPoint Presentation</vt:lpstr>
      <vt:lpstr>Recursive Types</vt:lpstr>
      <vt:lpstr>Recursive Types</vt:lpstr>
      <vt:lpstr>PowerPoint Presentation</vt:lpstr>
      <vt:lpstr>PowerPoint Presentation</vt:lpstr>
      <vt:lpstr>PowerPoint Presentation</vt:lpstr>
      <vt:lpstr>Binary Trees</vt:lpstr>
      <vt:lpstr>Binary Trees</vt:lpstr>
      <vt:lpstr>Binary Trees</vt:lpstr>
      <vt:lpstr>PowerPoint Presentation</vt:lpstr>
      <vt:lpstr>PowerPoint Presentation</vt:lpstr>
      <vt:lpstr>newtypes</vt:lpstr>
      <vt:lpstr>newtypes</vt:lpstr>
      <vt:lpstr>Record Syntax with newtype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Nottingham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Programming</dc:title>
  <dc:creator>Dr. Graham Hutton</dc:creator>
  <cp:lastModifiedBy>Mairead Meagher</cp:lastModifiedBy>
  <cp:revision>922</cp:revision>
  <cp:lastPrinted>2020-03-19T14:47:38Z</cp:lastPrinted>
  <dcterms:created xsi:type="dcterms:W3CDTF">2000-11-20T11:40:19Z</dcterms:created>
  <dcterms:modified xsi:type="dcterms:W3CDTF">2026-03-19T11:42:23Z</dcterms:modified>
</cp:coreProperties>
</file>