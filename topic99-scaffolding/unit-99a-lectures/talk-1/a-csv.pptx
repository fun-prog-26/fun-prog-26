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4101" r:id="rId1"/>
  </p:sldMasterIdLst>
  <p:notesMasterIdLst>
    <p:notesMasterId r:id="rId20"/>
  </p:notesMasterIdLst>
  <p:handoutMasterIdLst>
    <p:handoutMasterId r:id="rId21"/>
  </p:handoutMasterIdLst>
  <p:sldIdLst>
    <p:sldId id="396" r:id="rId2"/>
    <p:sldId id="386" r:id="rId3"/>
    <p:sldId id="384" r:id="rId4"/>
    <p:sldId id="387" r:id="rId5"/>
    <p:sldId id="402" r:id="rId6"/>
    <p:sldId id="388" r:id="rId7"/>
    <p:sldId id="389" r:id="rId8"/>
    <p:sldId id="397" r:id="rId9"/>
    <p:sldId id="391" r:id="rId10"/>
    <p:sldId id="392" r:id="rId11"/>
    <p:sldId id="385" r:id="rId12"/>
    <p:sldId id="393" r:id="rId13"/>
    <p:sldId id="403" r:id="rId14"/>
    <p:sldId id="404" r:id="rId15"/>
    <p:sldId id="405" r:id="rId16"/>
    <p:sldId id="406" r:id="rId17"/>
    <p:sldId id="408" r:id="rId18"/>
    <p:sldId id="343" r:id="rId19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675"/>
    <p:restoredTop sz="93017"/>
  </p:normalViewPr>
  <p:slideViewPr>
    <p:cSldViewPr snapToGrid="0">
      <p:cViewPr varScale="1">
        <p:scale>
          <a:sx n="79" d="100"/>
          <a:sy n="79" d="100"/>
        </p:scale>
        <p:origin x="216" y="8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36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91A38DF2-8EBB-099A-FBCF-0DE6AED8E2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22FB1D6-0642-5871-A3EC-85EC7DCBAB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B6D0D779-49BE-AF46-E33E-6421ADAEE1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D3A248DD-6D2E-86CF-FD96-0AE5EFE0046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F85A59-C3F7-5641-8E0E-FB7C3D67F9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122">
            <a:extLst>
              <a:ext uri="{FF2B5EF4-FFF2-40B4-BE49-F238E27FC236}">
                <a16:creationId xmlns:a16="http://schemas.microsoft.com/office/drawing/2014/main" id="{1526F59F-74E3-C25A-CA38-3DC4213A63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3" name="Rectangle 5123">
            <a:extLst>
              <a:ext uri="{FF2B5EF4-FFF2-40B4-BE49-F238E27FC236}">
                <a16:creationId xmlns:a16="http://schemas.microsoft.com/office/drawing/2014/main" id="{824DD8D8-6D7C-6046-5C68-B8AB319D70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5124">
            <a:extLst>
              <a:ext uri="{FF2B5EF4-FFF2-40B4-BE49-F238E27FC236}">
                <a16:creationId xmlns:a16="http://schemas.microsoft.com/office/drawing/2014/main" id="{F6FB79E7-4BA3-14CD-E4AB-2CF7147AB0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125">
            <a:extLst>
              <a:ext uri="{FF2B5EF4-FFF2-40B4-BE49-F238E27FC236}">
                <a16:creationId xmlns:a16="http://schemas.microsoft.com/office/drawing/2014/main" id="{E45B9BB8-1B5A-5898-69FE-A8626806D67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5126">
            <a:extLst>
              <a:ext uri="{FF2B5EF4-FFF2-40B4-BE49-F238E27FC236}">
                <a16:creationId xmlns:a16="http://schemas.microsoft.com/office/drawing/2014/main" id="{BEAC0126-0DE7-549F-8767-2689A9E242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7" name="Rectangle 5127">
            <a:extLst>
              <a:ext uri="{FF2B5EF4-FFF2-40B4-BE49-F238E27FC236}">
                <a16:creationId xmlns:a16="http://schemas.microsoft.com/office/drawing/2014/main" id="{9BD0C182-730E-A220-A573-9C63012C2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1BB87CA-2FBB-524B-8C5E-9E4A7F13C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0977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D02909-9CFC-C14A-919B-48F1F135024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544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20712C01-E4EE-AB4C-B950-5D5AABE285F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991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23E617-923A-CA40-B12C-0BAC8AB2671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18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30309B-876A-E341-A650-EF22DD6913A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022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77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EBBAAC-16B4-A84C-A152-2766F70B08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84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1F1D1A-CC9A-E04D-80AA-17C37BEFD58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7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048B0F-6581-A84B-B4FB-A1560F64DC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68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4637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4123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529787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813050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84533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42579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931DA4-BE84-7445-803A-F2C431489C1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600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0FAFDD9A-AA4F-A94A-B2B3-2C31014535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04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A588D67-485E-F040-A8AF-99B4D59147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50251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05" r:id="rId4"/>
    <p:sldLayoutId id="2147484106" r:id="rId5"/>
    <p:sldLayoutId id="2147484107" r:id="rId6"/>
    <p:sldLayoutId id="2147484108" r:id="rId7"/>
    <p:sldLayoutId id="2147484109" r:id="rId8"/>
    <p:sldLayoutId id="2147484110" r:id="rId9"/>
    <p:sldLayoutId id="2147484111" r:id="rId10"/>
    <p:sldLayoutId id="2147484112" r:id="rId11"/>
    <p:sldLayoutId id="2147484113" r:id="rId12"/>
    <p:sldLayoutId id="2147484114" r:id="rId13"/>
    <p:sldLayoutId id="2147484115" r:id="rId14"/>
    <p:sldLayoutId id="2147484116" r:id="rId15"/>
    <p:sldLayoutId id="2147484117" r:id="rId16"/>
    <p:sldLayoutId id="2147484118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>
            <a:extLst>
              <a:ext uri="{FF2B5EF4-FFF2-40B4-BE49-F238E27FC236}">
                <a16:creationId xmlns:a16="http://schemas.microsoft.com/office/drawing/2014/main" id="{2171EC01-E55A-2312-B4C1-30984D15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fld id="{82908786-2CEC-1441-94BC-3CF211BD1EDA}" type="slidenum">
              <a:rPr lang="en-US" sz="1050"/>
              <a:pPr>
                <a:defRPr/>
              </a:pPr>
              <a:t>0</a:t>
            </a:fld>
            <a:endParaRPr lang="en-US" sz="1050"/>
          </a:p>
        </p:txBody>
      </p:sp>
      <p:sp>
        <p:nvSpPr>
          <p:cNvPr id="15362" name="Text Box 2">
            <a:extLst>
              <a:ext uri="{FF2B5EF4-FFF2-40B4-BE49-F238E27FC236}">
                <a16:creationId xmlns:a16="http://schemas.microsoft.com/office/drawing/2014/main" id="{103851B4-AEE8-9436-B3C8-A4C0D5974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1608138"/>
            <a:ext cx="66833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700" b="1" dirty="0">
                <a:solidFill>
                  <a:schemeClr val="tx2"/>
                </a:solidFill>
                <a:latin typeface="Arial Black" panose="020B0604020202020204" pitchFamily="34" charset="0"/>
              </a:rPr>
              <a:t>PROGRAMMING IN HASKELL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B615E6F-B1F3-3013-AD18-2AC6D0103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4730750"/>
            <a:ext cx="659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/>
              <a:t>Parsing CSV files using cassava</a:t>
            </a:r>
          </a:p>
        </p:txBody>
      </p:sp>
      <p:pic>
        <p:nvPicPr>
          <p:cNvPr id="15364" name="Picture 5" descr="2000px-Haskell-Logo.png">
            <a:extLst>
              <a:ext uri="{FF2B5EF4-FFF2-40B4-BE49-F238E27FC236}">
                <a16:creationId xmlns:a16="http://schemas.microsoft.com/office/drawing/2014/main" id="{07A84427-6497-4A17-62F8-C6D2F5606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2676525"/>
            <a:ext cx="21304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1">
            <a:extLst>
              <a:ext uri="{FF2B5EF4-FFF2-40B4-BE49-F238E27FC236}">
                <a16:creationId xmlns:a16="http://schemas.microsoft.com/office/drawing/2014/main" id="{7CA6436B-3564-C8A2-3FAD-6604A3E5B4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B12A75-86AC-F24C-BC56-1BF1BE1B918A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en-US" sz="1400"/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208836A1-C913-4649-1740-459CD6D5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2019239"/>
            <a:ext cx="10227165" cy="48320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dirty="0"/>
              <a:t>There are many library collections/packages in Haskell.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dirty="0"/>
              <a:t>There are many libraries to help us parse information: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dirty="0"/>
              <a:t>Parsing involves taking ‘flat’ information and returning structured data, e.g. </a:t>
            </a:r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sz="2400" dirty="0"/>
              <a:t>a sentence can be parsed into its component parts (verbs, nouns, etc.) </a:t>
            </a:r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sz="2400" dirty="0"/>
              <a:t>a program can be parsed into the various statement blocks (e.g. if .. else)</a:t>
            </a:r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sz="2400" dirty="0"/>
              <a:t>A csv file (which can be seen as one long String) can be parsed into a collection of a matching data type/model</a:t>
            </a:r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sz="2400" dirty="0"/>
              <a:t>a json file can similarly be parsed into a collection of matching data type/model</a:t>
            </a:r>
            <a:endParaRPr kumimoji="0" lang="en-US" altLang="en-US" dirty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8FFEF4-B3EB-25D5-334B-198E17C70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660" y="753228"/>
            <a:ext cx="7716837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Parsers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>
            <a:extLst>
              <a:ext uri="{FF2B5EF4-FFF2-40B4-BE49-F238E27FC236}">
                <a16:creationId xmlns:a16="http://schemas.microsoft.com/office/drawing/2014/main" id="{1319E958-47E1-4CFA-32BE-89734BDFF6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1B236B-7305-C743-BEA5-DC5CB7C4DD65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en-US" sz="1400"/>
          </a:p>
        </p:txBody>
      </p:sp>
      <p:sp>
        <p:nvSpPr>
          <p:cNvPr id="17411" name="Text Box 9">
            <a:extLst>
              <a:ext uri="{FF2B5EF4-FFF2-40B4-BE49-F238E27FC236}">
                <a16:creationId xmlns:a16="http://schemas.microsoft.com/office/drawing/2014/main" id="{A1B035D3-2D4F-F200-20E3-498C27415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533" y="2433251"/>
            <a:ext cx="8688387" cy="35385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dirty="0"/>
              <a:t>There are various libraries that help us parse csv files. 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en-US" dirty="0"/>
              <a:t>e.g.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endParaRPr kumimoji="0" lang="en-US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dirty="0" err="1"/>
              <a:t>Data.Csv</a:t>
            </a:r>
            <a:r>
              <a:rPr kumimoji="0" lang="en-US" altLang="en-US" dirty="0"/>
              <a:t>  (cassava is the name of the package)</a:t>
            </a:r>
          </a:p>
          <a:p>
            <a:pPr>
              <a:spcBef>
                <a:spcPct val="0"/>
              </a:spcBef>
              <a:buClrTx/>
              <a:buFont typeface="Monotype Sorts" pitchFamily="2" charset="2"/>
              <a:buNone/>
              <a:defRPr/>
            </a:pPr>
            <a:r>
              <a:rPr kumimoji="0" lang="en-US" altLang="en-US" dirty="0"/>
              <a:t> </a:t>
            </a:r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dirty="0"/>
              <a:t>parsec</a:t>
            </a:r>
          </a:p>
          <a:p>
            <a:pPr>
              <a:spcBef>
                <a:spcPct val="0"/>
              </a:spcBef>
              <a:buClrTx/>
              <a:buFont typeface="Monotype Sorts" pitchFamily="2" charset="2"/>
              <a:buNone/>
              <a:defRPr/>
            </a:pPr>
            <a:endParaRPr kumimoji="0" lang="en-US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kumimoji="0" lang="en-US" altLang="en-US" dirty="0"/>
              <a:t>csv-conduit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ACC86DF-D99D-78DF-B75A-2706E2F16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35" y="796925"/>
            <a:ext cx="7637462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csv parser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1">
            <a:extLst>
              <a:ext uri="{FF2B5EF4-FFF2-40B4-BE49-F238E27FC236}">
                <a16:creationId xmlns:a16="http://schemas.microsoft.com/office/drawing/2014/main" id="{16EDD685-96E5-B800-022D-7C863962F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893F80-C5C1-ED41-9705-329389BB27D0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en-US" sz="14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436FB02-161E-CEE4-9916-9294EC24B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45" y="753228"/>
            <a:ext cx="7831138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cassava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BE97A63-1A47-D701-4F68-84E56900C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244" y="2591845"/>
            <a:ext cx="10162179" cy="267765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altLang="en-US" dirty="0"/>
              <a:t>The two important functions are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endParaRPr lang="en-IE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lang="en-IE" altLang="en-US" dirty="0"/>
              <a:t>	</a:t>
            </a:r>
            <a:r>
              <a:rPr lang="en-IE" altLang="en-US" b="1" dirty="0"/>
              <a:t>encode</a:t>
            </a:r>
            <a:r>
              <a:rPr lang="en-IE" altLang="en-US" dirty="0"/>
              <a:t> – takes structured text and encodes it as csv</a:t>
            </a:r>
          </a:p>
          <a:p>
            <a:pPr>
              <a:spcBef>
                <a:spcPct val="0"/>
              </a:spcBef>
              <a:buClrTx/>
              <a:buNone/>
              <a:defRPr/>
            </a:pPr>
            <a:endParaRPr lang="en-IE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lang="en-IE" altLang="en-US" dirty="0"/>
              <a:t>	</a:t>
            </a:r>
            <a:r>
              <a:rPr lang="en-IE" altLang="en-US" b="1" dirty="0"/>
              <a:t>decode</a:t>
            </a:r>
            <a:r>
              <a:rPr lang="en-IE" altLang="en-US" dirty="0"/>
              <a:t> – takes csv format and returns structured data when possible (based on your defined structure)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1">
            <a:extLst>
              <a:ext uri="{FF2B5EF4-FFF2-40B4-BE49-F238E27FC236}">
                <a16:creationId xmlns:a16="http://schemas.microsoft.com/office/drawing/2014/main" id="{5DD57145-2C6F-3B49-8F7E-AB6424D83D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4326CA-BEB2-044F-85D7-1F0E0A69C83A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en-US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5BC95EDF-18C9-D793-C8CC-E7B07A2D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303" y="606426"/>
            <a:ext cx="7831138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cassava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D53F6DFA-49C7-35F8-73B0-7609E047E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2047876"/>
            <a:ext cx="11988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dirty="0"/>
              <a:t>The cassava library defines ‘Parser’ as 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89B6A61E-CF08-EC9B-2D1F-1E2CA9E57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3170238"/>
            <a:ext cx="9994900" cy="461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IE" altLang="en-US" sz="2400" dirty="0" err="1"/>
              <a:t>newtype</a:t>
            </a:r>
            <a:r>
              <a:rPr lang="en-IE" altLang="en-US" sz="2400" dirty="0"/>
              <a:t> Parser a = Parser { </a:t>
            </a:r>
            <a:r>
              <a:rPr lang="en-IE" altLang="en-US" sz="2400" dirty="0" err="1"/>
              <a:t>runParser</a:t>
            </a:r>
            <a:r>
              <a:rPr lang="en-IE" altLang="en-US" sz="2400" dirty="0"/>
              <a:t> :: </a:t>
            </a:r>
            <a:r>
              <a:rPr lang="en-IE" altLang="en-US" sz="2400" dirty="0" err="1"/>
              <a:t>ParseState</a:t>
            </a:r>
            <a:r>
              <a:rPr lang="en-IE" altLang="en-US" sz="2400" dirty="0"/>
              <a:t> -&gt; Either String a }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6499AC50-D227-6738-1451-1F0980522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3232299"/>
            <a:ext cx="11988800" cy="2923877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endParaRPr lang="en-IE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endParaRPr lang="en-IE" altLang="en-US" dirty="0"/>
          </a:p>
          <a:p>
            <a:pPr marL="457200" indent="-457200">
              <a:spcBef>
                <a:spcPct val="0"/>
              </a:spcBef>
              <a:buClrTx/>
              <a:defRPr/>
            </a:pPr>
            <a:r>
              <a:rPr lang="en-IE" altLang="en-US" dirty="0"/>
              <a:t>So by running </a:t>
            </a:r>
            <a:r>
              <a:rPr lang="en-IE" altLang="en-US" b="1" i="1" dirty="0" err="1"/>
              <a:t>runParser</a:t>
            </a:r>
            <a:r>
              <a:rPr lang="en-IE" altLang="en-US" dirty="0"/>
              <a:t> you will be given back either:</a:t>
            </a:r>
          </a:p>
          <a:p>
            <a:pPr>
              <a:spcBef>
                <a:spcPct val="0"/>
              </a:spcBef>
              <a:buClrTx/>
              <a:buNone/>
              <a:defRPr/>
            </a:pPr>
            <a:r>
              <a:rPr lang="en-IE" altLang="en-US" dirty="0"/>
              <a:t> </a:t>
            </a:r>
          </a:p>
          <a:p>
            <a:pPr marL="1200150" lvl="1" indent="-457200">
              <a:spcBef>
                <a:spcPct val="0"/>
              </a:spcBef>
              <a:buClrTx/>
              <a:defRPr/>
            </a:pPr>
            <a:r>
              <a:rPr lang="en-IE" altLang="en-US" dirty="0"/>
              <a:t>A string (usually to indicate an error)  or</a:t>
            </a:r>
          </a:p>
          <a:p>
            <a:pPr lvl="1" indent="0">
              <a:spcBef>
                <a:spcPct val="0"/>
              </a:spcBef>
              <a:buClrTx/>
              <a:buNone/>
              <a:defRPr/>
            </a:pPr>
            <a:endParaRPr lang="en-IE" altLang="en-US" dirty="0"/>
          </a:p>
          <a:p>
            <a:pPr marL="1200150" lvl="1" indent="-457200">
              <a:spcBef>
                <a:spcPct val="0"/>
              </a:spcBef>
              <a:buClrTx/>
              <a:defRPr/>
            </a:pPr>
            <a:r>
              <a:rPr lang="en-IE" altLang="en-US" dirty="0"/>
              <a:t>A result of type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1">
            <a:extLst>
              <a:ext uri="{FF2B5EF4-FFF2-40B4-BE49-F238E27FC236}">
                <a16:creationId xmlns:a16="http://schemas.microsoft.com/office/drawing/2014/main" id="{19C3DD9A-EC44-3B92-B8EF-8DE311FCB2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291AF7-3FDD-9841-B5AA-5683076E80C1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en-US" sz="14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FC62BF0-D01D-5155-8068-5A16C5DFB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63" y="638176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cassava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F8C2F-AF46-7A3F-A73F-E351BAA19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2039938"/>
            <a:ext cx="5448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Does the csv file have a header?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DAEED-2B32-4881-608E-0E08A0C76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8" y="1193800"/>
            <a:ext cx="2268537" cy="523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Use 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F24B-E326-E90F-03CA-BED18DC47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8" y="2227263"/>
            <a:ext cx="3030537" cy="9540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Use decodeByName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8DD596-479B-6460-BE1C-D839FB4E985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34113" y="1600200"/>
            <a:ext cx="1490662" cy="474663"/>
          </a:xfrm>
          <a:prstGeom prst="straightConnector1">
            <a:avLst/>
          </a:prstGeom>
          <a:noFill/>
          <a:ln w="57150" cap="sq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203C92-5732-9979-F2AB-5B084A571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5575" y="2852738"/>
            <a:ext cx="711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D63E2-5215-2348-DBB6-F19B5148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38" y="1160463"/>
            <a:ext cx="5794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no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09F6D7-FC2A-5396-D2AA-871A8D9623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00775" y="2413000"/>
            <a:ext cx="1524000" cy="490538"/>
          </a:xfrm>
          <a:prstGeom prst="straightConnector1">
            <a:avLst/>
          </a:prstGeom>
          <a:noFill/>
          <a:ln w="50800" cap="sq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4CB1D6-2E63-2EE0-7732-5B7888F44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3843338"/>
            <a:ext cx="3810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Does the csv file have exactly the same structure as your data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structure? 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A21CF-EA7E-F81B-0583-C33C4DEFB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0" y="3606800"/>
            <a:ext cx="5683250" cy="960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Use decode with generic </a:t>
            </a:r>
            <a:r>
              <a:rPr kumimoji="0" lang="en-US" altLang="en-US" dirty="0" err="1"/>
              <a:t>FromRecord</a:t>
            </a:r>
            <a:r>
              <a:rPr kumimoji="0" lang="en-US" altLang="en-US" dirty="0"/>
              <a:t>/</a:t>
            </a:r>
            <a:r>
              <a:rPr kumimoji="0" lang="en-US" altLang="en-US" dirty="0" err="1"/>
              <a:t>FromNamedRecord</a:t>
            </a:r>
            <a:endParaRPr kumimoji="0" lang="en-US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D2F53D-7331-B006-7980-041C3FB0E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663" y="4859338"/>
            <a:ext cx="5570537" cy="1816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Rewrite </a:t>
            </a:r>
            <a:r>
              <a:rPr kumimoji="0" lang="en-US" altLang="en-US" dirty="0" err="1"/>
              <a:t>FrommRecord</a:t>
            </a:r>
            <a:r>
              <a:rPr kumimoji="0" lang="en-US" altLang="en-US" dirty="0"/>
              <a:t>/</a:t>
            </a:r>
            <a:r>
              <a:rPr kumimoji="0" lang="en-US" altLang="en-US" dirty="0" err="1"/>
              <a:t>FromNamedRecord</a:t>
            </a:r>
            <a:r>
              <a:rPr kumimoji="0" lang="en-US" altLang="en-US" dirty="0"/>
              <a:t> </a:t>
            </a:r>
            <a:r>
              <a:rPr kumimoji="0" lang="en-US" altLang="en-US" dirty="0" err="1"/>
              <a:t>tp</a:t>
            </a:r>
            <a:r>
              <a:rPr kumimoji="0" lang="en-US" altLang="en-US" dirty="0"/>
              <a:t> reshape data for your data structure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F7D9F5-D879-50C3-7A9F-016533F281ED}"/>
              </a:ext>
            </a:extLst>
          </p:cNvPr>
          <p:cNvCxnSpPr>
            <a:cxnSpLocks/>
          </p:cNvCxnSpPr>
          <p:nvPr/>
        </p:nvCxnSpPr>
        <p:spPr bwMode="auto">
          <a:xfrm flipV="1">
            <a:off x="4656138" y="4114800"/>
            <a:ext cx="1422400" cy="236538"/>
          </a:xfrm>
          <a:prstGeom prst="straightConnector1">
            <a:avLst/>
          </a:prstGeom>
          <a:noFill/>
          <a:ln w="57150" cap="sq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8669B4-5FAD-4822-9BBF-5BD602955BD0}"/>
              </a:ext>
            </a:extLst>
          </p:cNvPr>
          <p:cNvCxnSpPr>
            <a:cxnSpLocks/>
          </p:cNvCxnSpPr>
          <p:nvPr/>
        </p:nvCxnSpPr>
        <p:spPr bwMode="auto">
          <a:xfrm>
            <a:off x="4622800" y="4691063"/>
            <a:ext cx="1608138" cy="879475"/>
          </a:xfrm>
          <a:prstGeom prst="straightConnector1">
            <a:avLst/>
          </a:prstGeom>
          <a:noFill/>
          <a:ln w="50800" cap="sq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5" name="TextBox 20">
            <a:extLst>
              <a:ext uri="{FF2B5EF4-FFF2-40B4-BE49-F238E27FC236}">
                <a16:creationId xmlns:a16="http://schemas.microsoft.com/office/drawing/2014/main" id="{F5210893-C447-2B1D-4F25-8FD274696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1338" y="1185863"/>
            <a:ext cx="1857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54E88-11A4-76ED-D70A-A0C24DD2A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0" y="5249863"/>
            <a:ext cx="581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no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BAA46A-EB0E-A70D-1310-BB19FF1A0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200" y="3454400"/>
            <a:ext cx="846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9" grpId="0" animBg="1"/>
      <p:bldP spid="7" grpId="0"/>
      <p:bldP spid="13" grpId="0"/>
      <p:bldP spid="16" grpId="0"/>
      <p:bldP spid="17" grpId="0" animBg="1"/>
      <p:bldP spid="18" grpId="0" animBg="1"/>
      <p:bldP spid="2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>
            <a:extLst>
              <a:ext uri="{FF2B5EF4-FFF2-40B4-BE49-F238E27FC236}">
                <a16:creationId xmlns:a16="http://schemas.microsoft.com/office/drawing/2014/main" id="{3AB5E865-2648-DBE0-2546-C84C4037BB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4AD175-159B-F640-9763-894AFE63EAD5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en-US" sz="1400"/>
          </a:p>
        </p:txBody>
      </p:sp>
      <p:sp>
        <p:nvSpPr>
          <p:cNvPr id="16389" name="Text Box 9">
            <a:extLst>
              <a:ext uri="{FF2B5EF4-FFF2-40B4-BE49-F238E27FC236}">
                <a16:creationId xmlns:a16="http://schemas.microsoft.com/office/drawing/2014/main" id="{ABF928D7-1383-A000-5CD8-97490F1FD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2064925"/>
            <a:ext cx="10974496" cy="89255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IE" altLang="en-US" dirty="0"/>
              <a:t>A good complete example is here : </a:t>
            </a:r>
          </a:p>
          <a:p>
            <a:pPr>
              <a:buFont typeface="Monotype Sorts" pitchFamily="2" charset="2"/>
              <a:buNone/>
            </a:pPr>
            <a:r>
              <a:rPr lang="en-IE" altLang="en-US" sz="2000" dirty="0"/>
              <a:t>https://</a:t>
            </a:r>
            <a:r>
              <a:rPr lang="en-IE" altLang="en-US" sz="2000" dirty="0" err="1"/>
              <a:t>www.stackbuilders.com</a:t>
            </a:r>
            <a:r>
              <a:rPr lang="en-IE" altLang="en-US" sz="2000" dirty="0"/>
              <a:t>/tutorials/</a:t>
            </a:r>
            <a:r>
              <a:rPr lang="en-IE" altLang="en-US" sz="2000" dirty="0" err="1"/>
              <a:t>haskell</a:t>
            </a:r>
            <a:r>
              <a:rPr lang="en-IE" altLang="en-US" sz="2000" dirty="0"/>
              <a:t>/csv-encoding-decoding/</a:t>
            </a: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2013BA3D-7F33-11D7-F02A-784FF3836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856638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Using </a:t>
            </a:r>
            <a:r>
              <a:rPr lang="en-IE" altLang="en-US" sz="3600" dirty="0" err="1">
                <a:solidFill>
                  <a:schemeClr val="tx2"/>
                </a:solidFill>
                <a:latin typeface="Arial Black" panose="020B0604020202020204" pitchFamily="34" charset="0"/>
              </a:rPr>
              <a:t>Data.Csv</a:t>
            </a: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 and cassava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02E53-4B6B-5964-A010-88D9F413F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644900"/>
            <a:ext cx="8393113" cy="29511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300" dirty="0" err="1">
                <a:latin typeface="Lucida Sans Typewriter" panose="020B0509030504030204" pitchFamily="49" charset="77"/>
              </a:rPr>
              <a:t>Item,Link,Type</a:t>
            </a:r>
            <a:r>
              <a:rPr kumimoji="0" lang="en-IE" altLang="en-US" sz="2300" dirty="0">
                <a:latin typeface="Lucida Sans Typewriter" panose="020B0509030504030204" pitchFamily="49" charset="77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 err="1"/>
              <a:t>Japan,http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www.data.go.jp</a:t>
            </a:r>
            <a:r>
              <a:rPr kumimoji="0" lang="en-IE" altLang="en-US" sz="2400" dirty="0"/>
              <a:t>/,International Country</a:t>
            </a:r>
            <a:endParaRPr kumimoji="0" lang="en-IE" altLang="en-US" sz="2300" dirty="0">
              <a:latin typeface="Lucida Sans Typewriter" panose="020B0509030504030204" pitchFamily="49" charset="77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/>
              <a:t>United </a:t>
            </a:r>
            <a:r>
              <a:rPr kumimoji="0" lang="en-IE" altLang="en-US" sz="2400" dirty="0" err="1"/>
              <a:t>Kingdom,http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data.gov.uk</a:t>
            </a:r>
            <a:r>
              <a:rPr kumimoji="0" lang="en-IE" altLang="en-US" sz="2400" dirty="0"/>
              <a:t>/,International Country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/>
              <a:t>United </a:t>
            </a:r>
            <a:r>
              <a:rPr kumimoji="0" lang="en-IE" altLang="en-US" sz="2400" dirty="0" err="1"/>
              <a:t>Nations,http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data.un.org</a:t>
            </a:r>
            <a:r>
              <a:rPr kumimoji="0" lang="en-IE" altLang="en-US" sz="2400" dirty="0"/>
              <a:t>/,International Regional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 err="1"/>
              <a:t>Uruguay,http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datos.gub.uy</a:t>
            </a:r>
            <a:r>
              <a:rPr kumimoji="0" lang="en-IE" altLang="en-US" sz="2400" dirty="0"/>
              <a:t>/,International Country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 err="1"/>
              <a:t>Utah,http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www.utah.gov</a:t>
            </a:r>
            <a:r>
              <a:rPr kumimoji="0" lang="en-IE" altLang="en-US" sz="2400" dirty="0"/>
              <a:t>/data/,US State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 err="1"/>
              <a:t>Vancouver,http</a:t>
            </a:r>
            <a:r>
              <a:rPr kumimoji="0" lang="en-IE" altLang="en-US" sz="2400" dirty="0"/>
              <a:t>://</a:t>
            </a:r>
            <a:r>
              <a:rPr kumimoji="0" lang="en-IE" altLang="en-US" sz="2400" dirty="0" err="1"/>
              <a:t>data.vancouver.ca</a:t>
            </a:r>
            <a:r>
              <a:rPr kumimoji="0" lang="en-IE" altLang="en-US" sz="2400" dirty="0"/>
              <a:t>/,International Regional</a:t>
            </a:r>
            <a:endParaRPr kumimoji="0" lang="en-US" altLang="en-US" sz="2300" dirty="0">
              <a:latin typeface="Lucida Sans Typewriter" panose="020B0509030504030204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35E79-FDE0-EDC6-ABE9-5298228B7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183" y="3122613"/>
            <a:ext cx="6303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The data is of the form (note heading)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nimBg="1"/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1">
            <a:extLst>
              <a:ext uri="{FF2B5EF4-FFF2-40B4-BE49-F238E27FC236}">
                <a16:creationId xmlns:a16="http://schemas.microsoft.com/office/drawing/2014/main" id="{B04AE5BA-255C-6C8F-D94A-EB588E535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861956-114F-6E47-B0C4-D4F507B1CD17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en-US" sz="1400"/>
          </a:p>
        </p:txBody>
      </p:sp>
      <p:sp>
        <p:nvSpPr>
          <p:cNvPr id="16388" name="Text Box 8">
            <a:extLst>
              <a:ext uri="{FF2B5EF4-FFF2-40B4-BE49-F238E27FC236}">
                <a16:creationId xmlns:a16="http://schemas.microsoft.com/office/drawing/2014/main" id="{377B2D8D-84CC-3E11-37E6-DFCB0558E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3557588"/>
            <a:ext cx="4632325" cy="27844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data Item =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Item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{ </a:t>
            </a:r>
            <a:r>
              <a:rPr kumimoji="0" lang="en-US" altLang="en-US" sz="2300" dirty="0" err="1">
                <a:latin typeface="Lucida Sans Typewriter" panose="020B0509030504030204" pitchFamily="49" charset="77"/>
              </a:rPr>
              <a:t>itemName</a:t>
            </a:r>
            <a:r>
              <a:rPr kumimoji="0" lang="en-US" altLang="en-US" sz="2300" dirty="0">
                <a:latin typeface="Lucida Sans Typewriter" panose="020B0509030504030204" pitchFamily="49" charset="77"/>
              </a:rPr>
              <a:t> :: Text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, </a:t>
            </a:r>
            <a:r>
              <a:rPr kumimoji="0" lang="en-US" altLang="en-US" sz="2300" dirty="0" err="1">
                <a:latin typeface="Lucida Sans Typewriter" panose="020B0509030504030204" pitchFamily="49" charset="77"/>
              </a:rPr>
              <a:t>itemLink</a:t>
            </a:r>
            <a:r>
              <a:rPr kumimoji="0" lang="en-US" altLang="en-US" sz="2300" dirty="0">
                <a:latin typeface="Lucida Sans Typewriter" panose="020B0509030504030204" pitchFamily="49" charset="77"/>
              </a:rPr>
              <a:t> :: Text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, </a:t>
            </a:r>
            <a:r>
              <a:rPr kumimoji="0" lang="en-US" altLang="en-US" sz="2300" dirty="0" err="1">
                <a:latin typeface="Lucida Sans Typewriter" panose="020B0509030504030204" pitchFamily="49" charset="77"/>
              </a:rPr>
              <a:t>itemType</a:t>
            </a:r>
            <a:r>
              <a:rPr kumimoji="0" lang="en-US" altLang="en-US" sz="2300" dirty="0">
                <a:latin typeface="Lucida Sans Typewriter" panose="020B0509030504030204" pitchFamily="49" charset="77"/>
              </a:rPr>
              <a:t> :: ItemType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}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deriving (</a:t>
            </a:r>
            <a:r>
              <a:rPr kumimoji="0" lang="en-US" altLang="en-US" sz="2300" dirty="0" err="1">
                <a:latin typeface="Lucida Sans Typewriter" panose="020B0509030504030204" pitchFamily="49" charset="77"/>
              </a:rPr>
              <a:t>Show,Eq</a:t>
            </a:r>
            <a:r>
              <a:rPr kumimoji="0" lang="en-US" altLang="en-US" sz="2300" dirty="0">
                <a:latin typeface="Lucida Sans Typewriter" panose="020B0509030504030204" pitchFamily="49" charset="77"/>
              </a:rPr>
              <a:t>)</a:t>
            </a:r>
          </a:p>
        </p:txBody>
      </p:sp>
      <p:sp>
        <p:nvSpPr>
          <p:cNvPr id="16389" name="Text Box 9">
            <a:extLst>
              <a:ext uri="{FF2B5EF4-FFF2-40B4-BE49-F238E27FC236}">
                <a16:creationId xmlns:a16="http://schemas.microsoft.com/office/drawing/2014/main" id="{536DD2C0-B581-1023-50F1-E88C64256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93" y="2437140"/>
            <a:ext cx="9627664" cy="5232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IE" altLang="en-US" dirty="0"/>
              <a:t>We  want to parse this data into a collection of Items: 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739057C8-69F6-5224-78C4-019AAF880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4" y="851185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Using </a:t>
            </a:r>
            <a:r>
              <a:rPr lang="en-IE" altLang="en-US" sz="3600" dirty="0" err="1">
                <a:solidFill>
                  <a:schemeClr val="tx2"/>
                </a:solidFill>
                <a:latin typeface="Arial Black" panose="020B0604020202020204" pitchFamily="34" charset="0"/>
              </a:rPr>
              <a:t>Data.Csv</a:t>
            </a: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 and cassava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CD8D3BC-E7A0-56CD-5B63-6D86B2A8B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750" y="4159250"/>
            <a:ext cx="3387725" cy="16160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data ItemType 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= Country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   | Other Text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en-US" sz="2300" dirty="0">
                <a:latin typeface="Lucida Sans Typewriter" panose="020B0509030504030204" pitchFamily="49" charset="77"/>
              </a:rPr>
              <a:t>deriving (</a:t>
            </a:r>
            <a:r>
              <a:rPr kumimoji="0" lang="en-US" altLang="en-US" sz="2300" dirty="0" err="1">
                <a:latin typeface="Lucida Sans Typewriter" panose="020B0509030504030204" pitchFamily="49" charset="77"/>
              </a:rPr>
              <a:t>Show,Eq</a:t>
            </a:r>
            <a:r>
              <a:rPr kumimoji="0" lang="en-US" altLang="en-US" sz="2300" dirty="0">
                <a:latin typeface="Lucida Sans Typewriter" panose="020B0509030504030204" pitchFamily="49" charset="77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1">
            <a:extLst>
              <a:ext uri="{FF2B5EF4-FFF2-40B4-BE49-F238E27FC236}">
                <a16:creationId xmlns:a16="http://schemas.microsoft.com/office/drawing/2014/main" id="{08EABB9D-D558-D794-E1E5-3C2A1DB6E5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2000E5-A25D-6343-8B9E-B29C410983DD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en-US" sz="1400"/>
          </a:p>
        </p:txBody>
      </p:sp>
      <p:sp>
        <p:nvSpPr>
          <p:cNvPr id="16388" name="Text Box 8">
            <a:extLst>
              <a:ext uri="{FF2B5EF4-FFF2-40B4-BE49-F238E27FC236}">
                <a16:creationId xmlns:a16="http://schemas.microsoft.com/office/drawing/2014/main" id="{A366E5E4-C114-F93D-7370-BAEB80D3E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2460625"/>
            <a:ext cx="9115425" cy="9953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/>
              <a:t>decodeByName </a:t>
            </a:r>
            <a:r>
              <a:rPr lang="en-IE" altLang="en-US"/>
              <a:t>::</a:t>
            </a:r>
            <a:r>
              <a:rPr lang="en-IE" altLang="en-US" sz="2400"/>
              <a:t> </a:t>
            </a:r>
            <a:r>
              <a:rPr lang="en-IE" altLang="en-US"/>
              <a:t>FromNamedRecord</a:t>
            </a:r>
            <a:r>
              <a:rPr lang="en-IE" altLang="en-US" sz="2400"/>
              <a:t> a </a:t>
            </a:r>
            <a:r>
              <a:rPr lang="en-IE" altLang="en-US"/>
              <a:t>=&gt;</a:t>
            </a:r>
            <a:r>
              <a:rPr lang="en-IE" altLang="en-US" sz="240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/>
              <a:t>		</a:t>
            </a:r>
            <a:r>
              <a:rPr lang="en-IE" altLang="en-US"/>
              <a:t>ByteString</a:t>
            </a:r>
            <a:r>
              <a:rPr lang="en-IE" altLang="en-US" sz="2400"/>
              <a:t> </a:t>
            </a:r>
            <a:r>
              <a:rPr lang="en-IE" altLang="en-US"/>
              <a:t>-&gt;</a:t>
            </a:r>
            <a:r>
              <a:rPr lang="en-IE" altLang="en-US" sz="2400"/>
              <a:t> </a:t>
            </a:r>
            <a:r>
              <a:rPr lang="en-IE" altLang="en-US"/>
              <a:t>Either</a:t>
            </a:r>
            <a:r>
              <a:rPr lang="en-IE" altLang="en-US" sz="2400"/>
              <a:t> </a:t>
            </a:r>
            <a:r>
              <a:rPr lang="en-IE" altLang="en-US"/>
              <a:t>String</a:t>
            </a:r>
            <a:r>
              <a:rPr lang="en-IE" altLang="en-US" sz="2400"/>
              <a:t> (</a:t>
            </a:r>
            <a:r>
              <a:rPr lang="en-IE" altLang="en-US"/>
              <a:t>Header</a:t>
            </a:r>
            <a:r>
              <a:rPr lang="en-IE" altLang="en-US" sz="2400"/>
              <a:t>, </a:t>
            </a:r>
            <a:r>
              <a:rPr lang="en-IE" altLang="en-US"/>
              <a:t>Vector</a:t>
            </a:r>
            <a:r>
              <a:rPr lang="en-IE" altLang="en-US" sz="2400"/>
              <a:t> a)</a:t>
            </a:r>
            <a:endParaRPr kumimoji="0" lang="en-US" altLang="en-US" sz="2300">
              <a:latin typeface="Lucida Sans Typewriter" panose="020B0509030504030204" pitchFamily="49" charset="77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609DD2E-7011-10CF-C0CC-478FB47E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" y="760412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 err="1">
                <a:solidFill>
                  <a:schemeClr val="tx2"/>
                </a:solidFill>
                <a:latin typeface="Arial Black" panose="020B0604020202020204" pitchFamily="34" charset="0"/>
              </a:rPr>
              <a:t>decodeByName</a:t>
            </a:r>
            <a:endParaRPr lang="en-IE" altLang="en-US" sz="3600" dirty="0">
              <a:solidFill>
                <a:schemeClr val="tx2"/>
              </a:solidFill>
              <a:latin typeface="Arial Black" panose="020B0604020202020204" pitchFamily="34" charset="0"/>
            </a:endParaRP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A00B3CEF-7BCE-1B09-0550-AFCDCA242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2888" y="244475"/>
            <a:ext cx="1547812" cy="1500188"/>
          </a:xfrm>
          <a:prstGeom prst="wedgeRectCallout">
            <a:avLst>
              <a:gd name="adj1" fmla="val -227473"/>
              <a:gd name="adj2" fmla="val 136883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The header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39ED3973-B4EB-46E8-0F8F-AB6BD1C2D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3144" y="4706938"/>
            <a:ext cx="1703388" cy="1906587"/>
          </a:xfrm>
          <a:prstGeom prst="wedgeRectCallout">
            <a:avLst>
              <a:gd name="adj1" fmla="val -92230"/>
              <a:gd name="adj2" fmla="val -126030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Collection of the parsed data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1B0F4A22-FE81-8DBE-97F7-8922ADE2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4511675"/>
            <a:ext cx="1547813" cy="1500188"/>
          </a:xfrm>
          <a:prstGeom prst="wedgeRectCallout">
            <a:avLst>
              <a:gd name="adj1" fmla="val 264113"/>
              <a:gd name="adj2" fmla="val -118214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Either to allow for errors</a:t>
            </a:r>
          </a:p>
        </p:txBody>
      </p:sp>
      <p:sp>
        <p:nvSpPr>
          <p:cNvPr id="10" name="Rectangular Callout 9">
            <a:extLst>
              <a:ext uri="{FF2B5EF4-FFF2-40B4-BE49-F238E27FC236}">
                <a16:creationId xmlns:a16="http://schemas.microsoft.com/office/drawing/2014/main" id="{850780A6-43FB-A473-9307-CF34275AB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2088" y="4748213"/>
            <a:ext cx="1687512" cy="1381125"/>
          </a:xfrm>
          <a:prstGeom prst="wedgeRectCallout">
            <a:avLst>
              <a:gd name="adj1" fmla="val -52412"/>
              <a:gd name="adj2" fmla="val -146864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/>
              <a:t>Error message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386D4189-4E42-0414-2E02-2F43A200C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3" y="0"/>
            <a:ext cx="2127250" cy="1998663"/>
          </a:xfrm>
          <a:prstGeom prst="wedgeRectCallout">
            <a:avLst>
              <a:gd name="adj1" fmla="val -117574"/>
              <a:gd name="adj2" fmla="val 78546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This can be default or defined by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1">
            <a:extLst>
              <a:ext uri="{FF2B5EF4-FFF2-40B4-BE49-F238E27FC236}">
                <a16:creationId xmlns:a16="http://schemas.microsoft.com/office/drawing/2014/main" id="{632E7015-AB03-81E2-29C4-E19CF8692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31D50B-F346-B549-8998-4F3C5815FE68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en-US" sz="14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AED0F25-1446-C748-3F7C-532D6FF1F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14" y="753228"/>
            <a:ext cx="7716837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 err="1">
                <a:solidFill>
                  <a:schemeClr val="tx2"/>
                </a:solidFill>
                <a:latin typeface="Arial Black" panose="020B0604020202020204" pitchFamily="34" charset="0"/>
              </a:rPr>
              <a:t>FromNamedRecord</a:t>
            </a:r>
            <a:endParaRPr lang="en-IE" altLang="en-US" sz="3600" dirty="0">
              <a:solidFill>
                <a:schemeClr val="tx2"/>
              </a:solidFill>
              <a:latin typeface="Arial Black" panose="020B0604020202020204" pitchFamily="34" charset="0"/>
            </a:endParaRPr>
          </a:p>
        </p:txBody>
      </p:sp>
      <p:sp>
        <p:nvSpPr>
          <p:cNvPr id="22532" name="TextBox 2">
            <a:extLst>
              <a:ext uri="{FF2B5EF4-FFF2-40B4-BE49-F238E27FC236}">
                <a16:creationId xmlns:a16="http://schemas.microsoft.com/office/drawing/2014/main" id="{61A731FC-9DED-B2CC-C1FC-BC3ABED5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62" y="2040867"/>
            <a:ext cx="11305352" cy="48323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dirty="0"/>
              <a:t>In order to decode one such record into a value of type Item,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dirty="0"/>
              <a:t>we need Item to be an instance of either </a:t>
            </a:r>
          </a:p>
          <a:p>
            <a:pPr marL="1200150" lvl="1" indent="-457200">
              <a:spcBef>
                <a:spcPct val="0"/>
              </a:spcBef>
              <a:buClrTx/>
              <a:defRPr/>
            </a:pPr>
            <a:r>
              <a:rPr lang="en-IE" b="1" i="1" dirty="0" err="1"/>
              <a:t>FromRecord</a:t>
            </a:r>
            <a:r>
              <a:rPr lang="en-IE" dirty="0"/>
              <a:t> (no header) or </a:t>
            </a:r>
          </a:p>
          <a:p>
            <a:pPr marL="1200150" lvl="1" indent="-457200">
              <a:spcBef>
                <a:spcPct val="0"/>
              </a:spcBef>
              <a:buClrTx/>
              <a:defRPr/>
            </a:pPr>
            <a:r>
              <a:rPr lang="en-IE" b="1" i="1" dirty="0" err="1"/>
              <a:t>FromNamedRecord</a:t>
            </a:r>
            <a:r>
              <a:rPr lang="en-IE" dirty="0"/>
              <a:t> (header),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dirty="0"/>
              <a:t>Cassava's type classes for decoding CSV records. 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endParaRPr lang="en-IE" dirty="0"/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dirty="0"/>
              <a:t>In this case, the CSV file has a header, so we need to  make 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IE" dirty="0"/>
              <a:t>Item an instance of </a:t>
            </a:r>
            <a:r>
              <a:rPr lang="en-IE" b="1" i="1" dirty="0" err="1"/>
              <a:t>FromNamedRecord</a:t>
            </a:r>
            <a:r>
              <a:rPr lang="en-IE" b="1" i="1" dirty="0"/>
              <a:t>.</a:t>
            </a:r>
          </a:p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0" lang="en-IE" altLang="en-US" dirty="0"/>
              <a:t>Also, in this case, the default parsing will not work (need the header names to be the same as field names of Item – this is not possible as the header names are Uppercase. )</a:t>
            </a:r>
            <a:endParaRPr kumimoji="0"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1">
            <a:extLst>
              <a:ext uri="{FF2B5EF4-FFF2-40B4-BE49-F238E27FC236}">
                <a16:creationId xmlns:a16="http://schemas.microsoft.com/office/drawing/2014/main" id="{F8972376-5D9A-B796-5DEE-04AFB9AD13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F6FA89-291A-1946-A960-CC88E0E06C9B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en-US" sz="14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1232660-C9E2-B0C8-0366-04D95E53A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92" y="694862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Instance </a:t>
            </a:r>
            <a:r>
              <a:rPr lang="en-IE" altLang="en-US" sz="3600" dirty="0" err="1">
                <a:solidFill>
                  <a:schemeClr val="tx2"/>
                </a:solidFill>
                <a:latin typeface="Arial Black" panose="020B0604020202020204" pitchFamily="34" charset="0"/>
              </a:rPr>
              <a:t>FromNamedRecord</a:t>
            </a:r>
            <a:endParaRPr lang="en-IE" altLang="en-US" sz="3600" dirty="0">
              <a:solidFill>
                <a:schemeClr val="tx2"/>
              </a:solidFill>
              <a:latin typeface="Arial Black" panose="020B0604020202020204" pitchFamily="34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E3B3F46-F400-CC2B-1119-4C022A92D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717" y="3520417"/>
            <a:ext cx="6986588" cy="28940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b="1" dirty="0"/>
              <a:t>instance</a:t>
            </a:r>
            <a:r>
              <a:rPr lang="en-IE" altLang="en-US" sz="2400" dirty="0"/>
              <a:t> </a:t>
            </a:r>
            <a:r>
              <a:rPr lang="en-IE" altLang="en-US" dirty="0" err="1"/>
              <a:t>FromNamedRecord</a:t>
            </a:r>
            <a:r>
              <a:rPr lang="en-IE" altLang="en-US" sz="2400" dirty="0"/>
              <a:t> </a:t>
            </a:r>
            <a:r>
              <a:rPr lang="en-IE" altLang="en-US" dirty="0"/>
              <a:t>Item</a:t>
            </a:r>
            <a:r>
              <a:rPr lang="en-IE" altLang="en-US" sz="2400" dirty="0"/>
              <a:t> </a:t>
            </a:r>
            <a:r>
              <a:rPr lang="en-IE" altLang="en-US" b="1" dirty="0"/>
              <a:t>where</a:t>
            </a:r>
            <a:r>
              <a:rPr lang="en-IE" altLang="en-US" sz="2400" dirty="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    </a:t>
            </a:r>
            <a:r>
              <a:rPr lang="en-IE" altLang="en-US" sz="2400" dirty="0" err="1"/>
              <a:t>parseNamedRecord</a:t>
            </a:r>
            <a:r>
              <a:rPr lang="en-IE" altLang="en-US" sz="2400" dirty="0"/>
              <a:t> m </a:t>
            </a:r>
            <a:r>
              <a:rPr lang="en-IE" altLang="en-US" dirty="0"/>
              <a:t>=</a:t>
            </a:r>
            <a:r>
              <a:rPr lang="en-IE" altLang="en-US" sz="2400" dirty="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         </a:t>
            </a:r>
            <a:r>
              <a:rPr lang="en-IE" altLang="en-US" dirty="0"/>
              <a:t>Item</a:t>
            </a:r>
            <a:r>
              <a:rPr lang="en-IE" altLang="en-US" sz="2400" dirty="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            </a:t>
            </a:r>
            <a:r>
              <a:rPr lang="en-IE" altLang="en-US" dirty="0"/>
              <a:t>&lt;$&gt;</a:t>
            </a:r>
            <a:r>
              <a:rPr lang="en-IE" altLang="en-US" sz="2400" dirty="0"/>
              <a:t> m </a:t>
            </a:r>
            <a:r>
              <a:rPr lang="en-IE" altLang="en-US" dirty="0"/>
              <a:t>.:</a:t>
            </a:r>
            <a:r>
              <a:rPr lang="en-IE" altLang="en-US" sz="2400" dirty="0"/>
              <a:t> </a:t>
            </a:r>
            <a:r>
              <a:rPr lang="en-IE" altLang="en-US" dirty="0"/>
              <a:t>"Item"</a:t>
            </a:r>
            <a:r>
              <a:rPr lang="en-IE" altLang="en-US" sz="2400" dirty="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            </a:t>
            </a:r>
            <a:r>
              <a:rPr lang="en-IE" altLang="en-US" dirty="0"/>
              <a:t>&lt;*&gt;</a:t>
            </a:r>
            <a:r>
              <a:rPr lang="en-IE" altLang="en-US" sz="2400" dirty="0"/>
              <a:t> m </a:t>
            </a:r>
            <a:r>
              <a:rPr lang="en-IE" altLang="en-US" dirty="0"/>
              <a:t>.:</a:t>
            </a:r>
            <a:r>
              <a:rPr lang="en-IE" altLang="en-US" sz="2400" dirty="0"/>
              <a:t> </a:t>
            </a:r>
            <a:r>
              <a:rPr lang="en-IE" altLang="en-US" dirty="0"/>
              <a:t>"Link"</a:t>
            </a:r>
            <a:r>
              <a:rPr lang="en-IE" altLang="en-US" sz="2400" dirty="0"/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            </a:t>
            </a:r>
            <a:r>
              <a:rPr lang="en-IE" altLang="en-US" dirty="0"/>
              <a:t>&lt;*&gt;</a:t>
            </a:r>
            <a:r>
              <a:rPr lang="en-IE" altLang="en-US" sz="2400" dirty="0"/>
              <a:t> m </a:t>
            </a:r>
            <a:r>
              <a:rPr lang="en-IE" altLang="en-US" dirty="0"/>
              <a:t>.:</a:t>
            </a:r>
            <a:r>
              <a:rPr lang="en-IE" altLang="en-US" sz="2400" dirty="0"/>
              <a:t> </a:t>
            </a:r>
            <a:r>
              <a:rPr lang="en-IE" altLang="en-US" dirty="0"/>
              <a:t>"Type”</a:t>
            </a:r>
            <a:endParaRPr kumimoji="0" lang="en-US" altLang="en-US" sz="2300" dirty="0">
              <a:latin typeface="Lucida Sans Typewriter" panose="020B0509030504030204" pitchFamily="49" charset="77"/>
            </a:endParaRP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FCED0FA2-D06F-38A7-84CE-1DA35037C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92" y="1861479"/>
            <a:ext cx="2855913" cy="1381125"/>
          </a:xfrm>
          <a:prstGeom prst="wedgeRectCallout">
            <a:avLst>
              <a:gd name="adj1" fmla="val 41514"/>
              <a:gd name="adj2" fmla="val 115593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/>
              <a:t>We need to implement parseNamedRecord to declare an instance of FromNamedRecord</a:t>
            </a:r>
          </a:p>
        </p:txBody>
      </p:sp>
      <p:sp>
        <p:nvSpPr>
          <p:cNvPr id="11" name="Rectangular Callout 10">
            <a:extLst>
              <a:ext uri="{FF2B5EF4-FFF2-40B4-BE49-F238E27FC236}">
                <a16:creationId xmlns:a16="http://schemas.microsoft.com/office/drawing/2014/main" id="{B9D59991-3E31-F0CF-A855-5E946B30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7330" y="1844017"/>
            <a:ext cx="2957512" cy="2178050"/>
          </a:xfrm>
          <a:prstGeom prst="wedgeRectCallout">
            <a:avLst>
              <a:gd name="adj1" fmla="val -193468"/>
              <a:gd name="adj2" fmla="val 101134"/>
            </a:avLst>
          </a:prstGeom>
          <a:solidFill>
            <a:srgbClr val="FFC000"/>
          </a:solidFill>
          <a:ln w="12700" cap="sq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/>
              <a:t>.: is a lookup operator so this looks for “Item” in the header and if it exists, we use that field to correspond to the first field of Item, </a:t>
            </a:r>
            <a:r>
              <a:rPr kumimoji="0" lang="en-US" altLang="en-US" sz="2000" dirty="0" err="1"/>
              <a:t>itemName</a:t>
            </a:r>
            <a:endParaRPr kumimoji="0" lang="en-US" alt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228A62-7D49-3CD3-5AFC-03FC15CCF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646" y="4810531"/>
            <a:ext cx="3128962" cy="125944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300" dirty="0" err="1">
                <a:latin typeface="Lucida Sans Typewriter" panose="020B0509030504030204" pitchFamily="49" charset="77"/>
              </a:rPr>
              <a:t>Item,Link,Type</a:t>
            </a:r>
            <a:r>
              <a:rPr kumimoji="0" lang="en-IE" altLang="en-US" sz="2300" dirty="0">
                <a:latin typeface="Lucida Sans Typewriter" panose="020B0509030504030204" pitchFamily="49" charset="77"/>
              </a:rPr>
              <a:t> 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 err="1"/>
              <a:t>Japan,http</a:t>
            </a:r>
            <a:r>
              <a:rPr kumimoji="0" lang="en-IE" altLang="en-US" sz="2400" dirty="0"/>
              <a:t>://www. …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IE" altLang="en-US" sz="2400" dirty="0">
                <a:latin typeface="Lucida Sans Typewriter" panose="020B0509030504030204" pitchFamily="49" charset="77"/>
              </a:rPr>
              <a:t>:</a:t>
            </a:r>
            <a:endParaRPr kumimoji="0" lang="en-IE" altLang="en-US" sz="2300" dirty="0">
              <a:latin typeface="Lucida Sans Typewriter" panose="020B0509030504030204" pitchFamily="49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4F8EA0-8F61-32B5-3705-9ACD8DBFE1FD}"/>
              </a:ext>
            </a:extLst>
          </p:cNvPr>
          <p:cNvCxnSpPr>
            <a:cxnSpLocks/>
          </p:cNvCxnSpPr>
          <p:nvPr/>
        </p:nvCxnSpPr>
        <p:spPr>
          <a:xfrm flipH="1">
            <a:off x="5132011" y="5297022"/>
            <a:ext cx="5040689" cy="459812"/>
          </a:xfrm>
          <a:prstGeom prst="straightConnector1">
            <a:avLst/>
          </a:prstGeom>
          <a:ln w="57150">
            <a:solidFill>
              <a:srgbClr val="FFC000">
                <a:alpha val="6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D60552-45C1-6DCC-C426-F4C7C8230201}"/>
              </a:ext>
            </a:extLst>
          </p:cNvPr>
          <p:cNvCxnSpPr>
            <a:cxnSpLocks/>
          </p:cNvCxnSpPr>
          <p:nvPr/>
        </p:nvCxnSpPr>
        <p:spPr>
          <a:xfrm flipH="1">
            <a:off x="5695950" y="5395913"/>
            <a:ext cx="5500688" cy="919625"/>
          </a:xfrm>
          <a:prstGeom prst="straightConnector1">
            <a:avLst/>
          </a:prstGeom>
          <a:ln w="57150">
            <a:solidFill>
              <a:srgbClr val="FFC000">
                <a:alpha val="6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154D84-A01B-4073-B92B-A0B0522268D6}"/>
              </a:ext>
            </a:extLst>
          </p:cNvPr>
          <p:cNvCxnSpPr>
            <a:cxnSpLocks/>
          </p:cNvCxnSpPr>
          <p:nvPr/>
        </p:nvCxnSpPr>
        <p:spPr>
          <a:xfrm flipH="1">
            <a:off x="5274886" y="5051462"/>
            <a:ext cx="3597652" cy="205544"/>
          </a:xfrm>
          <a:prstGeom prst="straightConnector1">
            <a:avLst/>
          </a:prstGeom>
          <a:ln w="57150">
            <a:solidFill>
              <a:srgbClr val="FFC000">
                <a:alpha val="6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1">
            <a:extLst>
              <a:ext uri="{FF2B5EF4-FFF2-40B4-BE49-F238E27FC236}">
                <a16:creationId xmlns:a16="http://schemas.microsoft.com/office/drawing/2014/main" id="{C876D4BD-1F02-3BB7-D7EE-07BF96BA6C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64BDB2-6548-0F40-B827-277CB904B166}" type="slidenum">
              <a:rPr kumimoji="0"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en-US" sz="14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52C89F2B-A570-F078-1282-ACC167B33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920" y="885709"/>
            <a:ext cx="77168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E" altLang="en-US" sz="3600" dirty="0">
                <a:solidFill>
                  <a:schemeClr val="tx2"/>
                </a:solidFill>
                <a:latin typeface="Arial Black" panose="020B0604020202020204" pitchFamily="34" charset="0"/>
              </a:rPr>
              <a:t>Parsing fields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F782D89-1065-FD26-8AFA-7628180C6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4931936"/>
            <a:ext cx="7416800" cy="5215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b="1" dirty="0"/>
              <a:t>import qualified </a:t>
            </a:r>
            <a:r>
              <a:rPr lang="en-IE" altLang="en-US" b="1" dirty="0" err="1"/>
              <a:t>Data.Vector</a:t>
            </a:r>
            <a:r>
              <a:rPr lang="en-IE" altLang="en-US" b="1" dirty="0"/>
              <a:t> as V</a:t>
            </a:r>
          </a:p>
        </p:txBody>
      </p:sp>
      <p:sp>
        <p:nvSpPr>
          <p:cNvPr id="26628" name="TextBox 2">
            <a:extLst>
              <a:ext uri="{FF2B5EF4-FFF2-40B4-BE49-F238E27FC236}">
                <a16:creationId xmlns:a16="http://schemas.microsoft.com/office/drawing/2014/main" id="{F489C90C-274D-7646-7E62-260D9B29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30" y="2001345"/>
            <a:ext cx="1030986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Usually the fields will be parsed by default if the parsing is standard, e.g.  for </a:t>
            </a:r>
            <a:r>
              <a:rPr kumimoji="0" lang="en-US" altLang="en-US" dirty="0" err="1"/>
              <a:t>itemName</a:t>
            </a:r>
            <a:r>
              <a:rPr kumimoji="0" lang="en-US" altLang="en-US" dirty="0"/>
              <a:t> and </a:t>
            </a:r>
            <a:r>
              <a:rPr kumimoji="0" lang="en-US" altLang="en-US" dirty="0" err="1"/>
              <a:t>ItemLink</a:t>
            </a:r>
            <a:r>
              <a:rPr kumimoji="0" lang="en-US" altLang="en-US" dirty="0"/>
              <a:t> (they are Text and cassava manages that).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dirty="0"/>
              <a:t>If you need to manage this, use </a:t>
            </a:r>
            <a:r>
              <a:rPr kumimoji="0" lang="en-US" altLang="en-US" dirty="0" err="1"/>
              <a:t>FromField</a:t>
            </a:r>
            <a:r>
              <a:rPr kumimoji="0" lang="en-US" altLang="en-US" dirty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D36E-8561-9A4B-FC98-AC5BBBD9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Using Vectors and Lists interchangeably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D0915-39C2-91DC-D6F9-5ECD45B0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D3E4E-7004-5E6C-D3BA-51D6E0F9C377}"/>
              </a:ext>
            </a:extLst>
          </p:cNvPr>
          <p:cNvSpPr txBox="1"/>
          <p:nvPr/>
        </p:nvSpPr>
        <p:spPr>
          <a:xfrm>
            <a:off x="680321" y="2571750"/>
            <a:ext cx="89729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cassava package returns a Vector of a data type (e.g. Lecturer)  </a:t>
            </a:r>
          </a:p>
          <a:p>
            <a:endParaRPr lang="en-US" sz="2400" dirty="0"/>
          </a:p>
          <a:p>
            <a:r>
              <a:rPr lang="en-US" sz="2400" dirty="0"/>
              <a:t>We are more used to dealing with lists and they are sufficient for our purposes. </a:t>
            </a:r>
          </a:p>
          <a:p>
            <a:endParaRPr lang="en-US" sz="2400" dirty="0"/>
          </a:p>
          <a:p>
            <a:r>
              <a:rPr lang="en-US" sz="2400" dirty="0"/>
              <a:t>To go from Vectors to Lists se use </a:t>
            </a:r>
          </a:p>
          <a:p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err="1"/>
              <a:t>toList</a:t>
            </a:r>
            <a:r>
              <a:rPr lang="en-US" sz="2400" dirty="0"/>
              <a:t>   ( takes a vector and returns a list)</a:t>
            </a:r>
          </a:p>
          <a:p>
            <a:r>
              <a:rPr lang="en-US" sz="2400" dirty="0"/>
              <a:t>		</a:t>
            </a:r>
            <a:r>
              <a:rPr lang="en-US" sz="2400" dirty="0" err="1"/>
              <a:t>fromList</a:t>
            </a:r>
            <a:r>
              <a:rPr lang="en-US" sz="2400" dirty="0"/>
              <a:t> (takes a list and returns a vector)</a:t>
            </a:r>
          </a:p>
        </p:txBody>
      </p:sp>
    </p:spTree>
    <p:extLst>
      <p:ext uri="{BB962C8B-B14F-4D97-AF65-F5344CB8AC3E}">
        <p14:creationId xmlns:p14="http://schemas.microsoft.com/office/powerpoint/2010/main" val="421394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9F72-B328-ADB0-0B3A-49265D10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Example of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toList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fromList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32D2-F7A4-CE33-98E2-F000C661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82310-6823-A4BF-F8EC-0D0035E49FB3}"/>
              </a:ext>
            </a:extLst>
          </p:cNvPr>
          <p:cNvSpPr txBox="1"/>
          <p:nvPr/>
        </p:nvSpPr>
        <p:spPr>
          <a:xfrm>
            <a:off x="3049929" y="32472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qualified </a:t>
            </a:r>
            <a:r>
              <a:rPr lang="en-US" dirty="0" err="1"/>
              <a:t>Data.Vector</a:t>
            </a:r>
            <a:r>
              <a:rPr lang="en-US" dirty="0"/>
              <a:t> as V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AF782D89-1065-FD26-8AFA-7628180C6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810" y="2312654"/>
            <a:ext cx="9316876" cy="417793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Char char="–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1800" kern="1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import qualified </a:t>
            </a:r>
            <a:r>
              <a:rPr lang="en-IE" altLang="en-US" sz="2400" dirty="0" err="1"/>
              <a:t>Data.Vector</a:t>
            </a:r>
            <a:r>
              <a:rPr lang="en-IE" altLang="en-US" sz="2400" dirty="0"/>
              <a:t> as V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IE" altLang="en-US" sz="2400" dirty="0"/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-- Example Vector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 err="1"/>
              <a:t>myVector</a:t>
            </a:r>
            <a:r>
              <a:rPr lang="en-IE" altLang="en-US" sz="2400" dirty="0"/>
              <a:t> :: </a:t>
            </a:r>
            <a:r>
              <a:rPr lang="en-IE" altLang="en-US" sz="2400" dirty="0" err="1"/>
              <a:t>V.Vector</a:t>
            </a:r>
            <a:r>
              <a:rPr lang="en-IE" altLang="en-US" sz="2400" dirty="0"/>
              <a:t> Int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 err="1"/>
              <a:t>myVector</a:t>
            </a:r>
            <a:r>
              <a:rPr lang="en-IE" altLang="en-US" sz="2400" dirty="0"/>
              <a:t> = </a:t>
            </a:r>
            <a:r>
              <a:rPr lang="en-IE" altLang="en-US" sz="2400" dirty="0" err="1"/>
              <a:t>V.fromList</a:t>
            </a:r>
            <a:r>
              <a:rPr lang="en-IE" altLang="en-US" sz="2400" dirty="0"/>
              <a:t> [1, 2, 3, 4, 5]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IE" altLang="en-US" sz="2400" dirty="0"/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/>
              <a:t>-- Convert Vector to List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 err="1"/>
              <a:t>myList</a:t>
            </a:r>
            <a:r>
              <a:rPr lang="en-IE" altLang="en-US" sz="2400" dirty="0"/>
              <a:t> :: [Int]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IE" altLang="en-US" sz="2400" dirty="0" err="1"/>
              <a:t>myList</a:t>
            </a:r>
            <a:r>
              <a:rPr lang="en-IE" altLang="en-US" sz="2400" dirty="0"/>
              <a:t> = </a:t>
            </a:r>
            <a:r>
              <a:rPr lang="en-IE" altLang="en-US" sz="2400" dirty="0" err="1"/>
              <a:t>V.toList</a:t>
            </a:r>
            <a:r>
              <a:rPr lang="en-IE" altLang="en-US" sz="2400" dirty="0"/>
              <a:t> </a:t>
            </a:r>
            <a:r>
              <a:rPr lang="en-IE" altLang="en-US" sz="2400" dirty="0" err="1"/>
              <a:t>myVector</a:t>
            </a:r>
            <a:endParaRPr lang="en-IE" altLang="en-US" sz="2400" dirty="0"/>
          </a:p>
          <a:p>
            <a:pPr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endParaRPr lang="en-IE" altLang="en-US" b="1" dirty="0"/>
          </a:p>
        </p:txBody>
      </p:sp>
    </p:spTree>
    <p:extLst>
      <p:ext uri="{BB962C8B-B14F-4D97-AF65-F5344CB8AC3E}">
        <p14:creationId xmlns:p14="http://schemas.microsoft.com/office/powerpoint/2010/main" val="123099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56F0-9B34-8150-82BF-D9614D82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More on use of the Parser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B237C-9B6A-A11C-2826-529D395B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3DC14-C385-7503-EB22-1F58E0F9E0B0}"/>
              </a:ext>
            </a:extLst>
          </p:cNvPr>
          <p:cNvSpPr txBox="1"/>
          <p:nvPr/>
        </p:nvSpPr>
        <p:spPr>
          <a:xfrm>
            <a:off x="680321" y="2073729"/>
            <a:ext cx="6561950" cy="208525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sz="2400" dirty="0" err="1">
                <a:latin typeface="Tahoma" panose="020B0604030504040204" pitchFamily="34" charset="0"/>
                <a:ea typeface="MS PGothic" panose="020B0600070205080204" pitchFamily="34" charset="-128"/>
              </a:rPr>
              <a:t>parseAge</a:t>
            </a:r>
            <a:r>
              <a:rPr kumimoji="1" 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:: Int -&gt; Parser Int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sz="2400" dirty="0" err="1">
                <a:latin typeface="Tahoma" panose="020B0604030504040204" pitchFamily="34" charset="0"/>
                <a:ea typeface="MS PGothic" panose="020B0600070205080204" pitchFamily="34" charset="-128"/>
              </a:rPr>
              <a:t>parseAge</a:t>
            </a:r>
            <a:r>
              <a:rPr kumimoji="1" 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a =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   if a &lt; 90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       then pure a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        else fail "Invalid age"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7864EC29-1325-18F3-DC55-879327E6ACD9}"/>
              </a:ext>
            </a:extLst>
          </p:cNvPr>
          <p:cNvSpPr/>
          <p:nvPr/>
        </p:nvSpPr>
        <p:spPr>
          <a:xfrm>
            <a:off x="8605157" y="2628900"/>
            <a:ext cx="1689025" cy="1453243"/>
          </a:xfrm>
          <a:prstGeom prst="wedgeRectCallout">
            <a:avLst>
              <a:gd name="adj1" fmla="val -131042"/>
              <a:gd name="adj2" fmla="val -941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 parsers for validating fields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33832-4CAE-F73D-C18F-F2739C1786E0}"/>
              </a:ext>
            </a:extLst>
          </p:cNvPr>
          <p:cNvSpPr txBox="1"/>
          <p:nvPr/>
        </p:nvSpPr>
        <p:spPr>
          <a:xfrm>
            <a:off x="680321" y="4702629"/>
            <a:ext cx="102108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E" sz="2800" dirty="0"/>
              <a:t>Here’s what happens: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800" dirty="0"/>
              <a:t>If the age is less than 90, the parser succeeds (pure 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800" dirty="0"/>
              <a:t>Otherwise, the parser fails (fail "Invalid age").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7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4A29-5F5D-B1C0-C236-C2FAE91D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D1C1-639E-7A43-5722-688AD7C9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More on use of the Parser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5A461-576B-036F-89BE-7F91811F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1C940-4E2A-06B8-A01C-5469456BE11D}"/>
              </a:ext>
            </a:extLst>
          </p:cNvPr>
          <p:cNvSpPr txBox="1"/>
          <p:nvPr/>
        </p:nvSpPr>
        <p:spPr>
          <a:xfrm>
            <a:off x="279721" y="2743200"/>
            <a:ext cx="116325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The Parser type allows you to handle validation and conversion explicitly. For instance:</a:t>
            </a:r>
          </a:p>
          <a:p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Ensuring integers fall within certain bounds.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Ensuring strings match a certain format.</a:t>
            </a:r>
          </a:p>
          <a:p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Providing clear error messages on failure.</a:t>
            </a:r>
            <a:endParaRPr lang="en-IE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71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0355-BE53-8C31-8CBE-A2155F82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parser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1DD4BF-35C9-EEA3-E7D6-D3D45E17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CA2C8-F1BF-7B4E-B764-43DFEC87AA80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F9C98-9D88-0A3E-CD0E-6B6E4D7E645E}"/>
              </a:ext>
            </a:extLst>
          </p:cNvPr>
          <p:cNvSpPr txBox="1"/>
          <p:nvPr/>
        </p:nvSpPr>
        <p:spPr>
          <a:xfrm>
            <a:off x="3312660" y="2234075"/>
            <a:ext cx="4935310" cy="189359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Student = Student</a:t>
            </a:r>
          </a:p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{ </a:t>
            </a:r>
            <a:r>
              <a:rPr lang="en-IE" sz="2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studentId</a:t>
            </a: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:: String</a:t>
            </a:r>
          </a:p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, name :: String</a:t>
            </a:r>
          </a:p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, age :: Int</a:t>
            </a:r>
          </a:p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, </a:t>
            </a:r>
            <a:r>
              <a:rPr lang="en-IE" sz="2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:: Double</a:t>
            </a:r>
          </a:p>
          <a:p>
            <a:pPr>
              <a:lnSpc>
                <a:spcPts val="2025"/>
              </a:lnSpc>
              <a:buNone/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, credits :: Int</a:t>
            </a:r>
          </a:p>
          <a:p>
            <a:pPr>
              <a:lnSpc>
                <a:spcPts val="2025"/>
              </a:lnSpc>
            </a:pPr>
            <a:r>
              <a:rPr lang="en-IE" sz="2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} deriving (Show, Generic)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124ED-D297-B82A-D1DF-C8F1CB55095F}"/>
              </a:ext>
            </a:extLst>
          </p:cNvPr>
          <p:cNvSpPr txBox="1"/>
          <p:nvPr/>
        </p:nvSpPr>
        <p:spPr>
          <a:xfrm>
            <a:off x="239450" y="4389081"/>
            <a:ext cx="5540865" cy="230832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instance </a:t>
            </a:r>
            <a:r>
              <a:rPr lang="en-US" dirty="0" err="1"/>
              <a:t>FromNamedRecord</a:t>
            </a:r>
            <a:r>
              <a:rPr lang="en-US" dirty="0"/>
              <a:t> Student where</a:t>
            </a:r>
          </a:p>
          <a:p>
            <a:r>
              <a:rPr lang="en-US" dirty="0"/>
              <a:t>    </a:t>
            </a:r>
            <a:r>
              <a:rPr lang="en-US" dirty="0" err="1"/>
              <a:t>parseNamedRecord</a:t>
            </a:r>
            <a:r>
              <a:rPr lang="en-US" dirty="0"/>
              <a:t> r = do</a:t>
            </a:r>
          </a:p>
          <a:p>
            <a:r>
              <a:rPr lang="en-US" dirty="0"/>
              <a:t>        </a:t>
            </a:r>
            <a:r>
              <a:rPr lang="en-US" dirty="0" err="1"/>
              <a:t>studentId</a:t>
            </a:r>
            <a:r>
              <a:rPr lang="en-US" dirty="0"/>
              <a:t>' &lt;- r .: "</a:t>
            </a:r>
            <a:r>
              <a:rPr lang="en-US" dirty="0" err="1"/>
              <a:t>studentId</a:t>
            </a:r>
            <a:r>
              <a:rPr lang="en-US" dirty="0"/>
              <a:t>"</a:t>
            </a:r>
          </a:p>
          <a:p>
            <a:r>
              <a:rPr lang="en-US" dirty="0"/>
              <a:t>        name'      &lt;- r .: "Name"</a:t>
            </a:r>
          </a:p>
          <a:p>
            <a:r>
              <a:rPr lang="en-US" dirty="0"/>
              <a:t>        age'       &lt;- r .: "age" &gt;&gt;= </a:t>
            </a:r>
            <a:r>
              <a:rPr lang="en-US" dirty="0" err="1"/>
              <a:t>parseAge</a:t>
            </a:r>
            <a:endParaRPr lang="en-US" dirty="0"/>
          </a:p>
          <a:p>
            <a:r>
              <a:rPr lang="en-US" dirty="0"/>
              <a:t>        avg'       &lt;- r .: "avg"</a:t>
            </a:r>
          </a:p>
          <a:p>
            <a:r>
              <a:rPr lang="en-US" dirty="0"/>
              <a:t>        credits'   &lt;- r .: "credits" </a:t>
            </a:r>
          </a:p>
          <a:p>
            <a:r>
              <a:rPr lang="en-US" dirty="0"/>
              <a:t>return $ Student </a:t>
            </a:r>
            <a:r>
              <a:rPr lang="en-US" dirty="0" err="1"/>
              <a:t>studentId</a:t>
            </a:r>
            <a:r>
              <a:rPr lang="en-US" dirty="0"/>
              <a:t>' name' age' avg' credits'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BC501-5AF0-15C7-2001-E3787CB55F47}"/>
              </a:ext>
            </a:extLst>
          </p:cNvPr>
          <p:cNvSpPr txBox="1"/>
          <p:nvPr/>
        </p:nvSpPr>
        <p:spPr>
          <a:xfrm>
            <a:off x="6948298" y="4527580"/>
            <a:ext cx="4935310" cy="203132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instance </a:t>
            </a:r>
            <a:r>
              <a:rPr lang="en-US" dirty="0" err="1"/>
              <a:t>FromNamedRecord</a:t>
            </a:r>
            <a:r>
              <a:rPr lang="en-US" dirty="0"/>
              <a:t> Student where</a:t>
            </a:r>
          </a:p>
          <a:p>
            <a:r>
              <a:rPr lang="en-US" dirty="0"/>
              <a:t>    </a:t>
            </a:r>
            <a:r>
              <a:rPr lang="en-US" dirty="0" err="1"/>
              <a:t>parseNamedRecord</a:t>
            </a:r>
            <a:r>
              <a:rPr lang="en-US" dirty="0"/>
              <a:t> r =</a:t>
            </a:r>
          </a:p>
          <a:p>
            <a:r>
              <a:rPr lang="en-US" dirty="0"/>
              <a:t>        Student &lt;$&gt; r .: "</a:t>
            </a:r>
            <a:r>
              <a:rPr lang="en-US" dirty="0" err="1"/>
              <a:t>studentId</a:t>
            </a:r>
            <a:r>
              <a:rPr lang="en-US" dirty="0"/>
              <a:t>"</a:t>
            </a:r>
          </a:p>
          <a:p>
            <a:r>
              <a:rPr lang="en-US" dirty="0"/>
              <a:t>                &lt;*&gt; r .: "Name"</a:t>
            </a:r>
          </a:p>
          <a:p>
            <a:r>
              <a:rPr lang="en-US" dirty="0"/>
              <a:t>                &lt;*&gt; (r .: "age" &gt;&gt;= </a:t>
            </a:r>
            <a:r>
              <a:rPr lang="en-US" dirty="0" err="1"/>
              <a:t>parseAge</a:t>
            </a:r>
            <a:r>
              <a:rPr lang="en-US" dirty="0"/>
              <a:t>)</a:t>
            </a:r>
          </a:p>
          <a:p>
            <a:r>
              <a:rPr lang="en-US" dirty="0"/>
              <a:t>                &lt;*&gt; r .: "avg"</a:t>
            </a:r>
          </a:p>
          <a:p>
            <a:r>
              <a:rPr lang="en-US" dirty="0"/>
              <a:t>                &lt;*&gt; r .: "credits")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3FF8FB-2F6D-D001-BDEA-156400590C89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2514600" y="3180873"/>
            <a:ext cx="798060" cy="1208208"/>
          </a:xfrm>
          <a:prstGeom prst="bentConnector2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AE6572E-96FE-C8A1-46BA-CE50BD35061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247970" y="3180873"/>
            <a:ext cx="683761" cy="1336857"/>
          </a:xfrm>
          <a:prstGeom prst="bentConnector2">
            <a:avLst/>
          </a:prstGeom>
          <a:ln w="539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4C47A8-9FEB-BE7A-7AA1-3DE964AA9CFB}"/>
              </a:ext>
            </a:extLst>
          </p:cNvPr>
          <p:cNvSpPr txBox="1"/>
          <p:nvPr/>
        </p:nvSpPr>
        <p:spPr>
          <a:xfrm>
            <a:off x="6096000" y="4931229"/>
            <a:ext cx="566057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2090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41" descr="Text&#10;&#10;Description automatically generated">
            <a:extLst>
              <a:ext uri="{FF2B5EF4-FFF2-40B4-BE49-F238E27FC236}">
                <a16:creationId xmlns:a16="http://schemas.microsoft.com/office/drawing/2014/main" id="{10D24D14-3B1A-EE8A-4988-A7BFB2882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805" y="2099310"/>
            <a:ext cx="6061996" cy="4606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6" name="Slide Number Placeholder 2">
            <a:extLst>
              <a:ext uri="{FF2B5EF4-FFF2-40B4-BE49-F238E27FC236}">
                <a16:creationId xmlns:a16="http://schemas.microsoft.com/office/drawing/2014/main" id="{D3295E8C-A0DE-455E-C594-339C94246A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97540" y="1143000"/>
            <a:ext cx="6096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z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y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x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fld id="{19D12646-6283-D04C-9503-ACD924D0FB60}" type="slidenum">
              <a:rPr kumimoji="0" lang="en-US" altLang="en-US" sz="1400" smtClean="0"/>
              <a:pPr>
                <a:spcBef>
                  <a:spcPct val="0"/>
                </a:spcBef>
                <a:spcAft>
                  <a:spcPts val="600"/>
                </a:spcAft>
                <a:buClrTx/>
                <a:buFontTx/>
                <a:buNone/>
              </a:pPr>
              <a:t>17</a:t>
            </a:fld>
            <a:r>
              <a:rPr kumimoji="0" lang="en-US" altLang="en-US" sz="1400" dirty="0" err="1"/>
              <a:t>á</a:t>
            </a:r>
            <a:endParaRPr kumimoji="0" lang="en-US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a-higher-order-functions</Template>
  <TotalTime>19727</TotalTime>
  <Words>1174</Words>
  <Application>Microsoft Macintosh PowerPoint</Application>
  <PresentationFormat>Widescreen</PresentationFormat>
  <Paragraphs>186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Calibri</vt:lpstr>
      <vt:lpstr>Lucida Sans Typewriter</vt:lpstr>
      <vt:lpstr>Monotype Sorts</vt:lpstr>
      <vt:lpstr>Tahoma</vt:lpstr>
      <vt:lpstr>Times New Roman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Vectors and Lists interchangeably</vt:lpstr>
      <vt:lpstr>Example of toList, fromList. </vt:lpstr>
      <vt:lpstr>More on use of the Parser type</vt:lpstr>
      <vt:lpstr>More on use of the Parser type</vt:lpstr>
      <vt:lpstr>Use of parser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285</cp:revision>
  <cp:lastPrinted>2019-04-04T05:42:26Z</cp:lastPrinted>
  <dcterms:created xsi:type="dcterms:W3CDTF">2000-11-20T11:40:19Z</dcterms:created>
  <dcterms:modified xsi:type="dcterms:W3CDTF">2025-03-31T21:12:51Z</dcterms:modified>
</cp:coreProperties>
</file>